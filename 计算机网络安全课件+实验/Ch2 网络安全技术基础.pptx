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97"/>
  </p:notesMasterIdLst>
  <p:handoutMasterIdLst>
    <p:handoutMasterId r:id="rId98"/>
  </p:handoutMasterIdLst>
  <p:sldIdLst>
    <p:sldId id="701" r:id="rId3"/>
    <p:sldId id="260" r:id="rId4"/>
    <p:sldId id="261" r:id="rId5"/>
    <p:sldId id="420" r:id="rId6"/>
    <p:sldId id="256" r:id="rId7"/>
    <p:sldId id="461" r:id="rId8"/>
    <p:sldId id="463" r:id="rId9"/>
    <p:sldId id="368" r:id="rId10"/>
    <p:sldId id="369" r:id="rId11"/>
    <p:sldId id="464" r:id="rId12"/>
    <p:sldId id="765" r:id="rId13"/>
    <p:sldId id="766" r:id="rId14"/>
    <p:sldId id="767" r:id="rId15"/>
    <p:sldId id="768" r:id="rId16"/>
    <p:sldId id="769" r:id="rId17"/>
    <p:sldId id="770" r:id="rId18"/>
    <p:sldId id="771" r:id="rId19"/>
    <p:sldId id="826" r:id="rId20"/>
    <p:sldId id="827" r:id="rId21"/>
    <p:sldId id="905" r:id="rId22"/>
    <p:sldId id="906" r:id="rId23"/>
    <p:sldId id="465" r:id="rId24"/>
    <p:sldId id="828" r:id="rId25"/>
    <p:sldId id="829" r:id="rId26"/>
    <p:sldId id="466" r:id="rId27"/>
    <p:sldId id="467" r:id="rId28"/>
    <p:sldId id="370" r:id="rId29"/>
    <p:sldId id="505" r:id="rId30"/>
    <p:sldId id="506" r:id="rId31"/>
    <p:sldId id="400" r:id="rId32"/>
    <p:sldId id="507" r:id="rId33"/>
    <p:sldId id="508" r:id="rId34"/>
    <p:sldId id="372" r:id="rId35"/>
    <p:sldId id="509" r:id="rId36"/>
    <p:sldId id="510" r:id="rId37"/>
    <p:sldId id="373" r:id="rId38"/>
    <p:sldId id="901" r:id="rId39"/>
    <p:sldId id="902" r:id="rId40"/>
    <p:sldId id="903" r:id="rId41"/>
    <p:sldId id="904" r:id="rId42"/>
    <p:sldId id="582" r:id="rId43"/>
    <p:sldId id="398" r:id="rId44"/>
    <p:sldId id="414" r:id="rId45"/>
    <p:sldId id="585" r:id="rId46"/>
    <p:sldId id="586" r:id="rId47"/>
    <p:sldId id="403" r:id="rId48"/>
    <p:sldId id="589" r:id="rId49"/>
    <p:sldId id="404" r:id="rId50"/>
    <p:sldId id="421" r:id="rId51"/>
    <p:sldId id="378" r:id="rId52"/>
    <p:sldId id="380" r:id="rId53"/>
    <p:sldId id="885" r:id="rId54"/>
    <p:sldId id="884" r:id="rId55"/>
    <p:sldId id="886" r:id="rId56"/>
    <p:sldId id="547" r:id="rId57"/>
    <p:sldId id="887" r:id="rId58"/>
    <p:sldId id="888" r:id="rId59"/>
    <p:sldId id="889" r:id="rId60"/>
    <p:sldId id="548" r:id="rId61"/>
    <p:sldId id="894" r:id="rId62"/>
    <p:sldId id="891" r:id="rId63"/>
    <p:sldId id="890" r:id="rId64"/>
    <p:sldId id="895" r:id="rId65"/>
    <p:sldId id="381" r:id="rId66"/>
    <p:sldId id="406" r:id="rId67"/>
    <p:sldId id="384" r:id="rId68"/>
    <p:sldId id="550" r:id="rId69"/>
    <p:sldId id="551" r:id="rId70"/>
    <p:sldId id="407" r:id="rId71"/>
    <p:sldId id="552" r:id="rId72"/>
    <p:sldId id="553" r:id="rId73"/>
    <p:sldId id="554" r:id="rId74"/>
    <p:sldId id="555" r:id="rId75"/>
    <p:sldId id="558" r:id="rId76"/>
    <p:sldId id="422" r:id="rId77"/>
    <p:sldId id="423" r:id="rId78"/>
    <p:sldId id="896" r:id="rId79"/>
    <p:sldId id="425" r:id="rId80"/>
    <p:sldId id="897" r:id="rId81"/>
    <p:sldId id="426" r:id="rId82"/>
    <p:sldId id="427" r:id="rId83"/>
    <p:sldId id="428" r:id="rId84"/>
    <p:sldId id="429" r:id="rId85"/>
    <p:sldId id="430" r:id="rId86"/>
    <p:sldId id="431" r:id="rId87"/>
    <p:sldId id="899" r:id="rId88"/>
    <p:sldId id="900" r:id="rId89"/>
    <p:sldId id="628" r:id="rId90"/>
    <p:sldId id="432" r:id="rId91"/>
    <p:sldId id="433" r:id="rId92"/>
    <p:sldId id="434" r:id="rId93"/>
    <p:sldId id="435" r:id="rId94"/>
    <p:sldId id="436" r:id="rId95"/>
    <p:sldId id="437" r:id="rId96"/>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3366FF"/>
    <a:srgbClr val="0000FF"/>
    <a:srgbClr val="990033"/>
    <a:srgbClr val="CC0066"/>
    <a:srgbClr val="FFFF99"/>
    <a:srgbClr val="CC00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24" autoAdjust="0"/>
    <p:restoredTop sz="94575" autoAdjust="0"/>
  </p:normalViewPr>
  <p:slideViewPr>
    <p:cSldViewPr>
      <p:cViewPr varScale="1">
        <p:scale>
          <a:sx n="115" d="100"/>
          <a:sy n="115" d="100"/>
        </p:scale>
        <p:origin x="1590" y="102"/>
      </p:cViewPr>
      <p:guideLst>
        <p:guide orient="horz" pos="2160"/>
        <p:guide pos="2816"/>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handoutMaster" Target="handoutMasters/handoutMaster1.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fld id="{0F9B84EA-7D68-4D60-9CB1-D50884785D1C}" type="datetimeFigureOut">
              <a:rPr lang="zh-CN" altLang="en-US"/>
              <a:t>2022/9/27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noProof="1"/>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sz="1200" b="1"/>
            </a:lvl1pPr>
          </a:lstStyle>
          <a:p>
            <a:fld id="{FE81AE3C-5091-4E10-AD2F-1313CD9D4CEE}" type="slidenum">
              <a:rPr lang="zh-CN" altLang="en-US"/>
              <a:t>‹#›</a:t>
            </a:fld>
            <a:endParaRPr lang="zh-CN" altLang="en-US">
              <a:latin typeface="Verdana" panose="020B060403050404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noProof="1" smtClean="0">
                <a:cs typeface="+mn-ea"/>
              </a:defRPr>
            </a:lvl1pPr>
          </a:lstStyle>
          <a:p>
            <a:pPr>
              <a:defRPr/>
            </a:pPr>
            <a:fld id="{D2A48B96-639E-45A3-A0BA-2464DFDB1FAA}" type="datetimeFigureOut">
              <a:rPr lang="zh-CN" altLang="en-US"/>
              <a:t>2022/9/27</a:t>
            </a:fld>
            <a:endParaRPr lang="zh-CN" altLang="en-US"/>
          </a:p>
        </p:txBody>
      </p:sp>
      <p:sp>
        <p:nvSpPr>
          <p:cNvPr id="15364" name="幻灯片图像占位符 3"/>
          <p:cNvSpPr>
            <a:spLocks noGrp="1" noRot="1" noChangeAspect="1" noChangeArrowheads="1"/>
          </p:cNvSpPr>
          <p:nvPr>
            <p:ph type="sldImg" idx="4294967295"/>
          </p:nvPr>
        </p:nvSpPr>
        <p:spPr bwMode="auto">
          <a:xfrm>
            <a:off x="1371600" y="1143000"/>
            <a:ext cx="4114800" cy="3086100"/>
          </a:xfrm>
          <a:prstGeom prst="rect">
            <a:avLst/>
          </a:prstGeom>
          <a:noFill/>
          <a:ln w="12700">
            <a:solidFill>
              <a:srgbClr val="000000"/>
            </a:solidFill>
            <a:round/>
          </a:ln>
        </p:spPr>
      </p:sp>
      <p:sp>
        <p:nvSpPr>
          <p:cNvPr id="3077" name="备注占位符 4"/>
          <p:cNvSpPr>
            <a:spLocks noGrp="1" noChangeArrowheads="1"/>
          </p:cNvSpPr>
          <p:nvPr>
            <p:ph type="body" sz="quarter" idx="9"/>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noProof="1"/>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EFC9F3FD-9240-4C50-9BD1-AD5500BC4BCA}"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幻灯片图像占位符 1"/>
          <p:cNvSpPr>
            <a:spLocks noGrp="1" noRot="1" noChangeAspect="1" noChangeArrowheads="1" noTextEdit="1"/>
          </p:cNvSpPr>
          <p:nvPr>
            <p:ph type="sldImg" idx="4294967295"/>
          </p:nvPr>
        </p:nvSpPr>
        <p:spPr/>
      </p:sp>
      <p:sp>
        <p:nvSpPr>
          <p:cNvPr id="8194" name="备注占位符 2"/>
          <p:cNvSpPr>
            <a:spLocks noGrp="1" noChangeArrowheads="1"/>
          </p:cNvSpPr>
          <p:nvPr>
            <p:ph type="body" idx="4294967295"/>
          </p:nvPr>
        </p:nvSpPr>
        <p:spPr/>
        <p:txBody>
          <a:bodyPr/>
          <a:lstStyle/>
          <a:p>
            <a:pPr eaLnBrk="1" hangingPunct="1">
              <a:spcBef>
                <a:spcPct val="0"/>
              </a:spcBef>
            </a:pPr>
            <a:endParaRPr lang="zh-CN" altLang="en-US" smtClean="0"/>
          </a:p>
        </p:txBody>
      </p:sp>
      <p:sp>
        <p:nvSpPr>
          <p:cNvPr id="8195" name="灯片编号占位符 3"/>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spcBef>
                <a:spcPct val="20000"/>
              </a:spcBef>
              <a:buFont typeface="Wingdings" panose="05000000000000000000" pitchFamily="2" charset="2"/>
              <a:buNone/>
            </a:pPr>
            <a:fld id="{BAB1510C-DF43-4B40-9F21-5AB28913E764}" type="slidenum">
              <a:rPr lang="zh-CN" altLang="en-US" sz="1200"/>
              <a:t>1</a:t>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719759C3-5FF0-4D65-9F39-A9D4A3EA38CA}"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F06F6F64-5175-4CBF-85DD-C2A3AAD73F3A}"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Rectangle 6"/>
          <p:cNvSpPr>
            <a:spLocks noGrp="1" noChangeArrowheads="1"/>
          </p:cNvSpPr>
          <p:nvPr>
            <p:ph type="sldNum" sz="quarter" idx="10"/>
          </p:nvPr>
        </p:nvSpPr>
        <p:spPr/>
        <p:txBody>
          <a:bodyPr/>
          <a:lstStyle>
            <a:lvl1pPr>
              <a:defRPr/>
            </a:lvl1pPr>
          </a:lstStyle>
          <a:p>
            <a:fld id="{5C907999-0965-4129-B812-2096DEFDC5DD}"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B0951F76-2A4B-4288-A511-A412E5810E77}"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74DB57CF-58DD-491B-98FD-C55BC68CADA6}"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79551D09-AB15-451B-87FF-B067C4D531F6}"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FB6EA29E-2C94-4880-8499-4E0E6A114839}"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80394B0A-D289-4154-A23B-E9A3C3FA53BF}"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2A28F977-206A-4C0D-B6B4-199F595300B0}"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4E00EAF9-0C98-45E8-AE64-C69AA753F1B2}"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591DCE9B-B9BC-44A0-9FF7-624321736025}"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43" descr="e_11p"/>
          <p:cNvPicPr>
            <a:picLocks noChangeAspect="1" noChangeArrowheads="1"/>
          </p:cNvPicPr>
          <p:nvPr/>
        </p:nvPicPr>
        <p:blipFill>
          <a:blip r:embed="rId13" cstate="print"/>
          <a:srcRect/>
          <a:stretch>
            <a:fillRect/>
          </a:stretch>
        </p:blipFill>
        <p:spPr bwMode="auto">
          <a:xfrm>
            <a:off x="0" y="0"/>
            <a:ext cx="9144000" cy="836613"/>
          </a:xfrm>
          <a:prstGeom prst="rect">
            <a:avLst/>
          </a:prstGeom>
          <a:noFill/>
          <a:ln w="9525">
            <a:noFill/>
            <a:miter lim="800000"/>
            <a:headEnd/>
            <a:tailEnd/>
          </a:ln>
        </p:spPr>
      </p:pic>
      <p:sp>
        <p:nvSpPr>
          <p:cNvPr id="1027"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p>
          <a:p>
            <a:pPr lvl="1"/>
            <a:r>
              <a:rPr lang="en-US" altLang="zh-CN" smtClean="0"/>
              <a:t>Second level</a:t>
            </a:r>
          </a:p>
          <a:p>
            <a:pPr lvl="2"/>
            <a:r>
              <a:rPr lang="en-US" altLang="zh-CN" smtClean="0"/>
              <a:t>Third level</a:t>
            </a:r>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0FCA04CD-0C54-4C04-9389-C36B3E399BA9}" type="slidenum">
              <a:rPr lang="zh-CN" altLang="en-US"/>
              <a:t>‹#›</a:t>
            </a:fld>
            <a:endParaRPr lang="zh-CN" altLang="en-US"/>
          </a:p>
        </p:txBody>
      </p:sp>
      <p:sp>
        <p:nvSpPr>
          <p:cNvPr id="1029"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fontAlgn="auto">
              <a:spcBef>
                <a:spcPts val="0"/>
              </a:spcBef>
              <a:spcAft>
                <a:spcPts val="0"/>
              </a:spcAft>
              <a:buFontTx/>
              <a:buNone/>
              <a:defRPr/>
            </a:pPr>
            <a:endParaRPr lang="en-US" altLang="zh-CN" sz="1000" b="1">
              <a:solidFill>
                <a:schemeClr val="bg1"/>
              </a:solidFill>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1" fontAlgn="base" hangingPunct="1">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1" fontAlgn="base" hangingPunct="1">
        <a:spcBef>
          <a:spcPct val="20000"/>
        </a:spcBef>
        <a:spcAft>
          <a:spcPct val="0"/>
        </a:spcAft>
        <a:buChar char="n"/>
        <a:defRPr sz="1600">
          <a:solidFill>
            <a:schemeClr val="tx1"/>
          </a:solidFill>
          <a:latin typeface="+mn-lt"/>
          <a:ea typeface="+mn-ea"/>
        </a:defRPr>
      </a:lvl4pPr>
      <a:lvl5pPr marL="2057400" indent="-228600" algn="l" rtl="0" eaLnBrk="1" fontAlgn="base" hangingPunct="1">
        <a:spcBef>
          <a:spcPct val="20000"/>
        </a:spcBef>
        <a:spcAft>
          <a:spcPct val="0"/>
        </a:spcAft>
        <a:buChar char="»"/>
        <a:defRPr sz="1400">
          <a:solidFill>
            <a:schemeClr val="tx1"/>
          </a:solidFill>
          <a:latin typeface="+mn-lt"/>
          <a:ea typeface="+mn-ea"/>
        </a:defRPr>
      </a:lvl5pPr>
      <a:lvl6pPr marL="2514600" indent="-228600" algn="l" rtl="0" eaLnBrk="1" fontAlgn="base" hangingPunct="1">
        <a:spcBef>
          <a:spcPct val="20000"/>
        </a:spcBef>
        <a:spcAft>
          <a:spcPct val="0"/>
        </a:spcAft>
        <a:buChar char="»"/>
        <a:defRPr sz="1400">
          <a:solidFill>
            <a:schemeClr val="tx1"/>
          </a:solidFill>
          <a:latin typeface="+mn-lt"/>
          <a:ea typeface="+mn-ea"/>
        </a:defRPr>
      </a:lvl6pPr>
      <a:lvl7pPr marL="2971800" indent="-228600" algn="l" rtl="0" eaLnBrk="1" fontAlgn="base" hangingPunct="1">
        <a:spcBef>
          <a:spcPct val="20000"/>
        </a:spcBef>
        <a:spcAft>
          <a:spcPct val="0"/>
        </a:spcAft>
        <a:buChar char="»"/>
        <a:defRPr sz="1400">
          <a:solidFill>
            <a:schemeClr val="tx1"/>
          </a:solidFill>
          <a:latin typeface="+mn-lt"/>
          <a:ea typeface="+mn-ea"/>
        </a:defRPr>
      </a:lvl7pPr>
      <a:lvl8pPr marL="3429000" indent="-228600" algn="l" rtl="0" eaLnBrk="1" fontAlgn="base" hangingPunct="1">
        <a:spcBef>
          <a:spcPct val="20000"/>
        </a:spcBef>
        <a:spcAft>
          <a:spcPct val="0"/>
        </a:spcAft>
        <a:buChar char="»"/>
        <a:defRPr sz="1400">
          <a:solidFill>
            <a:schemeClr val="tx1"/>
          </a:solidFill>
          <a:latin typeface="+mn-lt"/>
          <a:ea typeface="+mn-ea"/>
        </a:defRPr>
      </a:lvl8pPr>
      <a:lvl9pPr marL="3886200" indent="-228600" algn="l" rtl="0" eaLnBrk="1" fontAlgn="base" hangingPunct="1">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44" descr="e_12"/>
          <p:cNvPicPr>
            <a:picLocks noChangeAspect="1" noChangeArrowheads="1"/>
          </p:cNvPicPr>
          <p:nvPr/>
        </p:nvPicPr>
        <p:blipFill>
          <a:blip r:embed="rId13" cstate="print"/>
          <a:srcRect r="14461"/>
          <a:stretch>
            <a:fillRect/>
          </a:stretch>
        </p:blipFill>
        <p:spPr bwMode="auto">
          <a:xfrm>
            <a:off x="0" y="0"/>
            <a:ext cx="9144000" cy="5157788"/>
          </a:xfrm>
          <a:prstGeom prst="rect">
            <a:avLst/>
          </a:prstGeom>
          <a:noFill/>
          <a:ln w="9525">
            <a:noFill/>
            <a:miter lim="800000"/>
            <a:headEnd/>
            <a:tailEnd/>
          </a:ln>
        </p:spPr>
      </p:pic>
      <p:sp>
        <p:nvSpPr>
          <p:cNvPr id="8"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en-US" sz="2400">
              <a:latin typeface="+mn-lt"/>
              <a:ea typeface="+mn-ea"/>
            </a:endParaRPr>
          </a:p>
        </p:txBody>
      </p:sp>
      <p:sp>
        <p:nvSpPr>
          <p:cNvPr id="2052"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p>
          <a:p>
            <a:pPr lvl="1"/>
            <a:r>
              <a:rPr lang="en-US" altLang="zh-CN" smtClean="0"/>
              <a:t>Second level</a:t>
            </a:r>
          </a:p>
          <a:p>
            <a:pPr lvl="2"/>
            <a:r>
              <a:rPr lang="en-US" altLang="zh-CN" smtClean="0"/>
              <a:t>Third level</a:t>
            </a:r>
          </a:p>
        </p:txBody>
      </p:sp>
      <p:sp>
        <p:nvSpPr>
          <p:cNvPr id="2053"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n"/>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blog.csdn.net/wdscq1234/article/details/52677419"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6.emf"/></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0.png"/><Relationship Id="rId5" Type="http://schemas.openxmlformats.org/officeDocument/2006/relationships/hyperlink" Target="http://baike.baidu.com/view/64087.htm" TargetMode="External"/><Relationship Id="rId4" Type="http://schemas.openxmlformats.org/officeDocument/2006/relationships/image" Target="../media/image26.emf"/></Relationships>
</file>

<file path=ppt/slides/_rels/slide66.x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wmf"/><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8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WordArt 15"/>
          <p:cNvSpPr>
            <a:spLocks noChangeArrowheads="1" noChangeShapeType="1" noTextEdit="1"/>
          </p:cNvSpPr>
          <p:nvPr/>
        </p:nvSpPr>
        <p:spPr bwMode="auto">
          <a:xfrm>
            <a:off x="3235643" y="2296160"/>
            <a:ext cx="5649912" cy="1066800"/>
          </a:xfrm>
          <a:prstGeom prst="rect">
            <a:avLst/>
          </a:prstGeom>
        </p:spPr>
        <p:txBody>
          <a:bodyPr wrap="none" fromWordArt="1">
            <a:prstTxWarp prst="textPlain">
              <a:avLst>
                <a:gd name="adj" fmla="val 50000"/>
              </a:avLst>
            </a:prstTxWarp>
          </a:bodyPr>
          <a:lstStyle/>
          <a:p>
            <a:pPr algn="ctr"/>
            <a:r>
              <a:rPr lang="zh-CN" altLang="en-US" sz="3600" b="1"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rPr>
              <a:t>计算机网络安全</a:t>
            </a:r>
          </a:p>
        </p:txBody>
      </p:sp>
      <p:sp>
        <p:nvSpPr>
          <p:cNvPr id="7176" name="流程图: 过程 9"/>
          <p:cNvSpPr>
            <a:spLocks noChangeArrowheads="1"/>
          </p:cNvSpPr>
          <p:nvPr/>
        </p:nvSpPr>
        <p:spPr bwMode="auto">
          <a:xfrm>
            <a:off x="152400" y="1905000"/>
            <a:ext cx="2514600" cy="990600"/>
          </a:xfrm>
          <a:prstGeom prst="flowChartProcess">
            <a:avLst/>
          </a:prstGeom>
          <a:noFill/>
          <a:ln w="9525">
            <a:noFill/>
            <a:miter lim="800000"/>
          </a:ln>
        </p:spPr>
        <p:txBody>
          <a:bodyPr/>
          <a:lstStyle/>
          <a:p>
            <a:pPr algn="dist">
              <a:spcBef>
                <a:spcPct val="20000"/>
              </a:spcBef>
              <a:buFont typeface="Wingdings" panose="05000000000000000000" pitchFamily="2" charset="2"/>
              <a:buNone/>
            </a:pPr>
            <a:endParaRPr lang="zh-CN" altLang="en-US"/>
          </a:p>
        </p:txBody>
      </p:sp>
      <p:sp>
        <p:nvSpPr>
          <p:cNvPr id="4097" name="Rectangle 2"/>
          <p:cNvSpPr>
            <a:spLocks noGrp="1"/>
          </p:cNvSpPr>
          <p:nvPr/>
        </p:nvSpPr>
        <p:spPr>
          <a:xfrm>
            <a:off x="1691323" y="5400675"/>
            <a:ext cx="5761037" cy="762000"/>
          </a:xfrm>
          <a:prstGeom prst="rect">
            <a:avLst/>
          </a:prstGeom>
          <a:noFill/>
          <a:ln w="9525">
            <a:noFill/>
          </a:ln>
          <a:effectLst>
            <a:outerShdw dist="53882" dir="2699999" algn="ctr" rotWithShape="0">
              <a:schemeClr val="tx2">
                <a:alpha val="50000"/>
              </a:schemeClr>
            </a:outerShdw>
          </a:effectLst>
        </p:spPr>
        <p:txBody>
          <a:bodyPr anchor="ctr"/>
          <a:lstStyle>
            <a:lvl1pPr lvl="0">
              <a:buClrTx/>
              <a:buSzTx/>
              <a:buFontTx/>
              <a:defRPr/>
            </a:lvl1pPr>
          </a:lstStyle>
          <a:p>
            <a:r>
              <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章 网络安全技术基础</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3270250" y="228600"/>
            <a:ext cx="2159000" cy="533400"/>
          </a:xfrm>
        </p:spPr>
        <p:txBody>
          <a:bodyPr/>
          <a:lstStyle/>
          <a:p>
            <a:pPr eaLnBrk="1" hangingPunct="1">
              <a:defRPr/>
            </a:pPr>
            <a:r>
              <a:rPr lang="zh-CN" altLang="en-US" dirty="0">
                <a:effectLst>
                  <a:outerShdw blurRad="38100" dist="38100" dir="2700000" algn="tl">
                    <a:srgbClr val="C0C0C0"/>
                  </a:outerShdw>
                </a:effectLst>
              </a:rPr>
              <a:t>目    录</a:t>
            </a:r>
          </a:p>
        </p:txBody>
      </p:sp>
      <p:sp>
        <p:nvSpPr>
          <p:cNvPr id="18434" name="Text Box 3"/>
          <p:cNvSpPr txBox="1">
            <a:spLocks noChangeArrowheads="1"/>
          </p:cNvSpPr>
          <p:nvPr/>
        </p:nvSpPr>
        <p:spPr bwMode="auto">
          <a:xfrm>
            <a:off x="1660525" y="1146175"/>
            <a:ext cx="184150" cy="366713"/>
          </a:xfrm>
          <a:prstGeom prst="rect">
            <a:avLst/>
          </a:prstGeom>
          <a:noFill/>
          <a:ln w="9525">
            <a:noFill/>
            <a:miter lim="800000"/>
          </a:ln>
        </p:spPr>
        <p:txBody>
          <a:bodyPr wrap="none">
            <a:spAutoFit/>
          </a:bodyPr>
          <a:lstStyle/>
          <a:p>
            <a:endParaRPr lang="zh-CN" altLang="zh-CN">
              <a:solidFill>
                <a:schemeClr val="tx2"/>
              </a:solidFill>
              <a:latin typeface="宋体" panose="02010600030101010101" pitchFamily="2" charset="-122"/>
            </a:endParaRPr>
          </a:p>
        </p:txBody>
      </p:sp>
      <p:grpSp>
        <p:nvGrpSpPr>
          <p:cNvPr id="18435" name="Group 9"/>
          <p:cNvGrpSpPr/>
          <p:nvPr/>
        </p:nvGrpSpPr>
        <p:grpSpPr bwMode="auto">
          <a:xfrm>
            <a:off x="1908175" y="1989138"/>
            <a:ext cx="4724400" cy="792162"/>
            <a:chOff x="1296" y="1824"/>
            <a:chExt cx="2976" cy="432"/>
          </a:xfrm>
        </p:grpSpPr>
        <p:sp>
          <p:nvSpPr>
            <p:cNvPr id="2" name="AutoShape 10"/>
            <p:cNvSpPr>
              <a:spLocks noChangeArrowheads="1"/>
            </p:cNvSpPr>
            <p:nvPr/>
          </p:nvSpPr>
          <p:spPr bwMode="gray">
            <a:xfrm>
              <a:off x="1536" y="1899"/>
              <a:ext cx="2736" cy="287"/>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a:solidFill>
                  <a:schemeClr val="tx2"/>
                </a:solidFill>
                <a:latin typeface="+mn-lt"/>
                <a:ea typeface="+mn-ea"/>
              </a:endParaRPr>
            </a:p>
          </p:txBody>
        </p:sp>
        <p:sp>
          <p:nvSpPr>
            <p:cNvPr id="18437"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18438" name="Text Box 12"/>
            <p:cNvSpPr txBox="1">
              <a:spLocks noChangeArrowheads="1"/>
            </p:cNvSpPr>
            <p:nvPr/>
          </p:nvSpPr>
          <p:spPr bwMode="auto">
            <a:xfrm>
              <a:off x="1680" y="1934"/>
              <a:ext cx="2496" cy="201"/>
            </a:xfrm>
            <a:prstGeom prst="rect">
              <a:avLst/>
            </a:prstGeom>
            <a:noFill/>
            <a:ln w="9525">
              <a:noFill/>
              <a:miter lim="800000"/>
            </a:ln>
          </p:spPr>
          <p:txBody>
            <a:bodyPr>
              <a:spAutoFit/>
            </a:bodyPr>
            <a:lstStyle/>
            <a:p>
              <a:r>
                <a:rPr lang="en-US" altLang="zh-CN" b="1">
                  <a:solidFill>
                    <a:schemeClr val="tx2"/>
                  </a:solidFill>
                  <a:latin typeface="宋体" panose="02010600030101010101" pitchFamily="2" charset="-122"/>
                </a:rPr>
                <a:t>  </a:t>
              </a:r>
              <a:r>
                <a:rPr lang="en-US" altLang="zh-CN" b="1">
                  <a:solidFill>
                    <a:schemeClr val="tx2"/>
                  </a:solidFill>
                </a:rPr>
                <a:t>2.2  </a:t>
              </a:r>
              <a:r>
                <a:rPr lang="zh-CN" altLang="en-US" b="1">
                  <a:solidFill>
                    <a:schemeClr val="tx2"/>
                  </a:solidFill>
                </a:rPr>
                <a:t>虚拟专用网VPN技术</a:t>
              </a:r>
            </a:p>
          </p:txBody>
        </p:sp>
        <p:sp>
          <p:nvSpPr>
            <p:cNvPr id="18439" name="Text Box 13"/>
            <p:cNvSpPr txBox="1">
              <a:spLocks noChangeArrowheads="1"/>
            </p:cNvSpPr>
            <p:nvPr/>
          </p:nvSpPr>
          <p:spPr bwMode="auto">
            <a:xfrm>
              <a:off x="1393" y="1886"/>
              <a:ext cx="223" cy="250"/>
            </a:xfrm>
            <a:prstGeom prst="rect">
              <a:avLst/>
            </a:prstGeom>
            <a:noFill/>
            <a:ln w="9525">
              <a:noFill/>
              <a:miter lim="800000"/>
            </a:ln>
          </p:spPr>
          <p:txBody>
            <a:bodyPr>
              <a:spAutoFit/>
            </a:bodyPr>
            <a:lstStyle/>
            <a:p>
              <a:pPr algn="ctr" eaLnBrk="0" hangingPunct="0"/>
              <a:r>
                <a:rPr lang="en-US" altLang="zh-CN" sz="2400">
                  <a:solidFill>
                    <a:schemeClr val="tx2"/>
                  </a:solidFill>
                  <a:latin typeface="宋体" panose="02010600030101010101" pitchFamily="2" charset="-122"/>
                </a:rPr>
                <a:t>2</a:t>
              </a:r>
            </a:p>
          </p:txBody>
        </p:sp>
      </p:grpSp>
      <p:grpSp>
        <p:nvGrpSpPr>
          <p:cNvPr id="18440" name="Group 14"/>
          <p:cNvGrpSpPr/>
          <p:nvPr/>
        </p:nvGrpSpPr>
        <p:grpSpPr bwMode="auto">
          <a:xfrm>
            <a:off x="1908175" y="2781300"/>
            <a:ext cx="4886325" cy="792163"/>
            <a:chOff x="1296" y="1824"/>
            <a:chExt cx="3078" cy="432"/>
          </a:xfrm>
        </p:grpSpPr>
        <p:sp>
          <p:nvSpPr>
            <p:cNvPr id="4" name="AutoShape 15"/>
            <p:cNvSpPr>
              <a:spLocks noChangeArrowheads="1"/>
            </p:cNvSpPr>
            <p:nvPr/>
          </p:nvSpPr>
          <p:spPr bwMode="gray">
            <a:xfrm>
              <a:off x="1536" y="1899"/>
              <a:ext cx="2736" cy="287"/>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a:solidFill>
                  <a:schemeClr val="tx2"/>
                </a:solidFill>
                <a:latin typeface="+mn-lt"/>
                <a:ea typeface="+mn-ea"/>
              </a:endParaRPr>
            </a:p>
          </p:txBody>
        </p:sp>
        <p:sp>
          <p:nvSpPr>
            <p:cNvPr id="18442"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18443" name="Text Box 17"/>
            <p:cNvSpPr txBox="1">
              <a:spLocks noChangeArrowheads="1"/>
            </p:cNvSpPr>
            <p:nvPr/>
          </p:nvSpPr>
          <p:spPr bwMode="auto">
            <a:xfrm>
              <a:off x="1743" y="1936"/>
              <a:ext cx="2631" cy="201"/>
            </a:xfrm>
            <a:prstGeom prst="rect">
              <a:avLst/>
            </a:prstGeom>
            <a:noFill/>
            <a:ln w="9525">
              <a:noFill/>
              <a:miter lim="800000"/>
            </a:ln>
          </p:spPr>
          <p:txBody>
            <a:bodyPr>
              <a:spAutoFit/>
            </a:bodyPr>
            <a:lstStyle/>
            <a:p>
              <a:pPr eaLnBrk="0" hangingPunct="0"/>
              <a:r>
                <a:rPr lang="en-US" altLang="zh-CN" b="1">
                  <a:solidFill>
                    <a:schemeClr val="tx2"/>
                  </a:solidFill>
                </a:rPr>
                <a:t> 2.3 </a:t>
              </a:r>
              <a:r>
                <a:rPr lang="zh-CN" altLang="en-US" b="1">
                  <a:solidFill>
                    <a:schemeClr val="tx2"/>
                  </a:solidFill>
                </a:rPr>
                <a:t> 无线网络安全技术基础</a:t>
              </a:r>
            </a:p>
          </p:txBody>
        </p:sp>
        <p:sp>
          <p:nvSpPr>
            <p:cNvPr id="18444" name="Text Box 18"/>
            <p:cNvSpPr txBox="1">
              <a:spLocks noChangeArrowheads="1"/>
            </p:cNvSpPr>
            <p:nvPr/>
          </p:nvSpPr>
          <p:spPr bwMode="auto">
            <a:xfrm>
              <a:off x="1398" y="1885"/>
              <a:ext cx="212" cy="249"/>
            </a:xfrm>
            <a:prstGeom prst="rect">
              <a:avLst/>
            </a:prstGeom>
            <a:noFill/>
            <a:ln w="9525">
              <a:noFill/>
              <a:miter lim="800000"/>
            </a:ln>
          </p:spPr>
          <p:txBody>
            <a:bodyPr wrap="none">
              <a:spAutoFit/>
            </a:bodyPr>
            <a:lstStyle/>
            <a:p>
              <a:pPr algn="ctr" eaLnBrk="0" hangingPunct="0"/>
              <a:r>
                <a:rPr lang="en-US" altLang="zh-CN" sz="2400">
                  <a:solidFill>
                    <a:schemeClr val="tx2"/>
                  </a:solidFill>
                  <a:latin typeface="宋体" panose="02010600030101010101" pitchFamily="2" charset="-122"/>
                </a:rPr>
                <a:t>3</a:t>
              </a:r>
            </a:p>
          </p:txBody>
        </p:sp>
      </p:grpSp>
      <p:grpSp>
        <p:nvGrpSpPr>
          <p:cNvPr id="18445" name="Group 19"/>
          <p:cNvGrpSpPr/>
          <p:nvPr/>
        </p:nvGrpSpPr>
        <p:grpSpPr bwMode="auto">
          <a:xfrm>
            <a:off x="1908175" y="3500438"/>
            <a:ext cx="4714875" cy="865187"/>
            <a:chOff x="1296" y="1824"/>
            <a:chExt cx="2976" cy="432"/>
          </a:xfrm>
        </p:grpSpPr>
        <p:sp>
          <p:nvSpPr>
            <p:cNvPr id="64532"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a:solidFill>
                  <a:schemeClr val="tx2"/>
                </a:solidFill>
                <a:latin typeface="+mn-lt"/>
                <a:ea typeface="+mn-ea"/>
              </a:endParaRPr>
            </a:p>
          </p:txBody>
        </p:sp>
        <p:sp>
          <p:nvSpPr>
            <p:cNvPr id="18447"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18448" name="Text Box 22"/>
            <p:cNvSpPr txBox="1">
              <a:spLocks noChangeArrowheads="1"/>
            </p:cNvSpPr>
            <p:nvPr/>
          </p:nvSpPr>
          <p:spPr bwMode="auto">
            <a:xfrm>
              <a:off x="1742" y="1934"/>
              <a:ext cx="2440" cy="184"/>
            </a:xfrm>
            <a:prstGeom prst="rect">
              <a:avLst/>
            </a:prstGeom>
            <a:noFill/>
            <a:ln w="9525">
              <a:noFill/>
              <a:miter lim="800000"/>
            </a:ln>
          </p:spPr>
          <p:txBody>
            <a:bodyPr>
              <a:spAutoFit/>
            </a:bodyPr>
            <a:lstStyle/>
            <a:p>
              <a:pPr eaLnBrk="0" hangingPunct="0"/>
              <a:r>
                <a:rPr lang="en-US" altLang="zh-CN" b="1">
                  <a:solidFill>
                    <a:schemeClr val="tx2"/>
                  </a:solidFill>
                </a:rPr>
                <a:t> 2.4 </a:t>
              </a:r>
              <a:r>
                <a:rPr lang="zh-CN" altLang="en-US" b="1">
                  <a:solidFill>
                    <a:schemeClr val="tx2"/>
                  </a:solidFill>
                </a:rPr>
                <a:t>常用网络安全管理工具</a:t>
              </a:r>
            </a:p>
          </p:txBody>
        </p:sp>
        <p:sp>
          <p:nvSpPr>
            <p:cNvPr id="18449" name="Text Box 23"/>
            <p:cNvSpPr txBox="1">
              <a:spLocks noChangeArrowheads="1"/>
            </p:cNvSpPr>
            <p:nvPr/>
          </p:nvSpPr>
          <p:spPr bwMode="auto">
            <a:xfrm>
              <a:off x="1393" y="1886"/>
              <a:ext cx="223" cy="228"/>
            </a:xfrm>
            <a:prstGeom prst="rect">
              <a:avLst/>
            </a:prstGeom>
            <a:noFill/>
            <a:ln w="9525">
              <a:noFill/>
              <a:miter lim="800000"/>
            </a:ln>
          </p:spPr>
          <p:txBody>
            <a:bodyPr>
              <a:spAutoFit/>
            </a:bodyPr>
            <a:lstStyle/>
            <a:p>
              <a:pPr algn="ctr" eaLnBrk="0" hangingPunct="0"/>
              <a:r>
                <a:rPr lang="en-US" altLang="zh-CN" sz="2400">
                  <a:solidFill>
                    <a:schemeClr val="tx2"/>
                  </a:solidFill>
                  <a:latin typeface="宋体" panose="02010600030101010101" pitchFamily="2" charset="-122"/>
                </a:rPr>
                <a:t>4</a:t>
              </a:r>
            </a:p>
          </p:txBody>
        </p:sp>
      </p:grpSp>
      <p:sp>
        <p:nvSpPr>
          <p:cNvPr id="18450" name="Rectangle 51"/>
          <p:cNvSpPr>
            <a:spLocks noChangeArrowheads="1"/>
          </p:cNvSpPr>
          <p:nvPr/>
        </p:nvSpPr>
        <p:spPr bwMode="auto">
          <a:xfrm>
            <a:off x="2270125" y="4716463"/>
            <a:ext cx="4419600" cy="457200"/>
          </a:xfrm>
          <a:prstGeom prst="rect">
            <a:avLst/>
          </a:prstGeom>
          <a:noFill/>
          <a:ln w="9525">
            <a:noFill/>
            <a:miter lim="800000"/>
          </a:ln>
        </p:spPr>
        <p:txBody>
          <a:bodyPr>
            <a:spAutoFit/>
          </a:bodyPr>
          <a:lstStyle/>
          <a:p>
            <a:pPr algn="dist">
              <a:spcBef>
                <a:spcPct val="20000"/>
              </a:spcBef>
            </a:pPr>
            <a:r>
              <a:rPr lang="en-US" altLang="zh-CN" sz="2400">
                <a:solidFill>
                  <a:schemeClr val="tx2"/>
                </a:solidFill>
                <a:latin typeface="宋体" panose="02010600030101010101" pitchFamily="2" charset="-122"/>
              </a:rPr>
              <a:t> </a:t>
            </a:r>
          </a:p>
        </p:txBody>
      </p:sp>
      <p:grpSp>
        <p:nvGrpSpPr>
          <p:cNvPr id="18451" name="Group 4"/>
          <p:cNvGrpSpPr/>
          <p:nvPr/>
        </p:nvGrpSpPr>
        <p:grpSpPr bwMode="auto">
          <a:xfrm>
            <a:off x="1908175" y="1196975"/>
            <a:ext cx="4714875" cy="787400"/>
            <a:chOff x="1296" y="1824"/>
            <a:chExt cx="2970" cy="432"/>
          </a:xfrm>
        </p:grpSpPr>
        <p:sp>
          <p:nvSpPr>
            <p:cNvPr id="6"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a:solidFill>
                  <a:schemeClr val="tx2"/>
                </a:solidFill>
                <a:latin typeface="+mn-lt"/>
                <a:ea typeface="+mn-ea"/>
              </a:endParaRPr>
            </a:p>
          </p:txBody>
        </p:sp>
        <p:sp>
          <p:nvSpPr>
            <p:cNvPr id="18453"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18454" name="Text Box 7"/>
            <p:cNvSpPr txBox="1">
              <a:spLocks noChangeArrowheads="1"/>
            </p:cNvSpPr>
            <p:nvPr/>
          </p:nvSpPr>
          <p:spPr bwMode="auto">
            <a:xfrm>
              <a:off x="1746" y="1934"/>
              <a:ext cx="2160" cy="202"/>
            </a:xfrm>
            <a:prstGeom prst="rect">
              <a:avLst/>
            </a:prstGeom>
            <a:noFill/>
            <a:ln w="9525">
              <a:noFill/>
              <a:miter lim="800000"/>
            </a:ln>
          </p:spPr>
          <p:txBody>
            <a:bodyPr>
              <a:spAutoFit/>
            </a:bodyPr>
            <a:lstStyle/>
            <a:p>
              <a:pPr eaLnBrk="0" hangingPunct="0"/>
              <a:r>
                <a:rPr lang="en-US" altLang="zh-CN" b="1">
                  <a:solidFill>
                    <a:schemeClr val="tx2"/>
                  </a:solidFill>
                  <a:latin typeface="宋体" panose="02010600030101010101" pitchFamily="2" charset="-122"/>
                </a:rPr>
                <a:t> </a:t>
              </a:r>
              <a:r>
                <a:rPr lang="en-US" altLang="zh-CN" b="1">
                  <a:solidFill>
                    <a:schemeClr val="tx2"/>
                  </a:solidFill>
                </a:rPr>
                <a:t>2.1 </a:t>
              </a:r>
              <a:r>
                <a:rPr lang="zh-CN" altLang="en-US" b="1">
                  <a:solidFill>
                    <a:schemeClr val="tx2"/>
                  </a:solidFill>
                </a:rPr>
                <a:t>网络协议安全概述</a:t>
              </a:r>
            </a:p>
          </p:txBody>
        </p:sp>
        <p:sp>
          <p:nvSpPr>
            <p:cNvPr id="18455" name="Text Box 8"/>
            <p:cNvSpPr txBox="1">
              <a:spLocks noChangeArrowheads="1"/>
            </p:cNvSpPr>
            <p:nvPr/>
          </p:nvSpPr>
          <p:spPr bwMode="auto">
            <a:xfrm>
              <a:off x="1398" y="1886"/>
              <a:ext cx="212" cy="251"/>
            </a:xfrm>
            <a:prstGeom prst="rect">
              <a:avLst/>
            </a:prstGeom>
            <a:noFill/>
            <a:ln w="9525">
              <a:noFill/>
              <a:miter lim="800000"/>
            </a:ln>
          </p:spPr>
          <p:txBody>
            <a:bodyPr wrap="none">
              <a:spAutoFit/>
            </a:bodyPr>
            <a:lstStyle/>
            <a:p>
              <a:pPr algn="ctr" eaLnBrk="0" hangingPunct="0"/>
              <a:r>
                <a:rPr lang="en-US" altLang="zh-CN" sz="2400">
                  <a:solidFill>
                    <a:schemeClr val="tx2"/>
                  </a:solidFill>
                  <a:latin typeface="宋体" panose="02010600030101010101" pitchFamily="2" charset="-122"/>
                </a:rPr>
                <a:t>1</a:t>
              </a:r>
            </a:p>
          </p:txBody>
        </p:sp>
      </p:grpSp>
      <p:sp>
        <p:nvSpPr>
          <p:cNvPr id="18456" name="Rectangle 123"/>
          <p:cNvSpPr>
            <a:spLocks noChangeArrowheads="1"/>
          </p:cNvSpPr>
          <p:nvPr/>
        </p:nvSpPr>
        <p:spPr bwMode="auto">
          <a:xfrm>
            <a:off x="1736725" y="4911725"/>
            <a:ext cx="5068888" cy="457200"/>
          </a:xfrm>
          <a:prstGeom prst="rect">
            <a:avLst/>
          </a:prstGeom>
          <a:noFill/>
          <a:ln w="9525">
            <a:noFill/>
            <a:miter lim="800000"/>
          </a:ln>
        </p:spPr>
        <p:txBody>
          <a:bodyPr>
            <a:spAutoFit/>
          </a:bodyPr>
          <a:lstStyle/>
          <a:p>
            <a:pPr algn="dist">
              <a:spcBef>
                <a:spcPct val="20000"/>
              </a:spcBef>
            </a:pPr>
            <a:r>
              <a:rPr lang="en-US" altLang="zh-CN" sz="2400">
                <a:solidFill>
                  <a:schemeClr val="tx2"/>
                </a:solidFill>
                <a:latin typeface="宋体" panose="02010600030101010101" pitchFamily="2" charset="-122"/>
              </a:rPr>
              <a:t>    </a:t>
            </a:r>
          </a:p>
        </p:txBody>
      </p:sp>
      <p:pic>
        <p:nvPicPr>
          <p:cNvPr id="18457" name="Picture 25" descr="C:\Users\user\AppData\Local\Microsoft\Windows\Temporary Internet Files\Content.IE5\BRFJ06TV\MCj04114760000[1].wmf"/>
          <p:cNvPicPr>
            <a:picLocks noChangeAspect="1" noChangeArrowheads="1"/>
          </p:cNvPicPr>
          <p:nvPr/>
        </p:nvPicPr>
        <p:blipFill>
          <a:blip r:embed="rId2" cstate="print"/>
          <a:srcRect/>
          <a:stretch>
            <a:fillRect/>
          </a:stretch>
        </p:blipFill>
        <p:spPr bwMode="auto">
          <a:xfrm flipH="1">
            <a:off x="6732588" y="4581525"/>
            <a:ext cx="1887537" cy="1466850"/>
          </a:xfrm>
          <a:prstGeom prst="rect">
            <a:avLst/>
          </a:prstGeom>
          <a:noFill/>
          <a:ln w="9525">
            <a:noFill/>
            <a:miter lim="800000"/>
            <a:headEnd/>
            <a:tailEnd/>
          </a:ln>
        </p:spPr>
      </p:pic>
      <p:grpSp>
        <p:nvGrpSpPr>
          <p:cNvPr id="18458" name="Group 4"/>
          <p:cNvGrpSpPr/>
          <p:nvPr/>
        </p:nvGrpSpPr>
        <p:grpSpPr bwMode="auto">
          <a:xfrm>
            <a:off x="1908175" y="4365625"/>
            <a:ext cx="4714875" cy="787400"/>
            <a:chOff x="1296" y="1824"/>
            <a:chExt cx="2970" cy="432"/>
          </a:xfrm>
        </p:grpSpPr>
        <p:sp>
          <p:nvSpPr>
            <p:cNvPr id="5"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a:solidFill>
                  <a:schemeClr val="tx2"/>
                </a:solidFill>
                <a:latin typeface="+mn-lt"/>
                <a:ea typeface="+mn-ea"/>
              </a:endParaRPr>
            </a:p>
          </p:txBody>
        </p:sp>
        <p:sp>
          <p:nvSpPr>
            <p:cNvPr id="18460"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18461" name="Text Box 7"/>
            <p:cNvSpPr txBox="1">
              <a:spLocks noChangeArrowheads="1"/>
            </p:cNvSpPr>
            <p:nvPr/>
          </p:nvSpPr>
          <p:spPr bwMode="auto">
            <a:xfrm>
              <a:off x="1746" y="1934"/>
              <a:ext cx="2160" cy="202"/>
            </a:xfrm>
            <a:prstGeom prst="rect">
              <a:avLst/>
            </a:prstGeom>
            <a:noFill/>
            <a:ln w="9525">
              <a:noFill/>
              <a:miter lim="800000"/>
            </a:ln>
          </p:spPr>
          <p:txBody>
            <a:bodyPr>
              <a:spAutoFit/>
            </a:bodyPr>
            <a:lstStyle/>
            <a:p>
              <a:pPr eaLnBrk="0" hangingPunct="0"/>
              <a:r>
                <a:rPr lang="en-US" altLang="zh-CN" b="1">
                  <a:solidFill>
                    <a:schemeClr val="tx2"/>
                  </a:solidFill>
                  <a:latin typeface="宋体" panose="02010600030101010101" pitchFamily="2" charset="-122"/>
                </a:rPr>
                <a:t> </a:t>
              </a:r>
              <a:r>
                <a:rPr lang="en-US" altLang="zh-CN" b="1">
                  <a:solidFill>
                    <a:schemeClr val="tx2"/>
                  </a:solidFill>
                </a:rPr>
                <a:t>2.5 </a:t>
              </a:r>
              <a:r>
                <a:rPr lang="zh-CN" altLang="en-US" b="1">
                  <a:solidFill>
                    <a:schemeClr val="tx2"/>
                  </a:solidFill>
                </a:rPr>
                <a:t>实验</a:t>
              </a:r>
              <a:r>
                <a:rPr lang="en-US" altLang="zh-CN" b="1">
                  <a:solidFill>
                    <a:schemeClr val="tx2"/>
                  </a:solidFill>
                </a:rPr>
                <a:t>2</a:t>
              </a:r>
              <a:r>
                <a:rPr lang="zh-CN" altLang="en-US" b="1">
                  <a:solidFill>
                    <a:schemeClr val="tx2"/>
                  </a:solidFill>
                </a:rPr>
                <a:t> 无线网络安全设置</a:t>
              </a:r>
            </a:p>
          </p:txBody>
        </p:sp>
        <p:sp>
          <p:nvSpPr>
            <p:cNvPr id="18462" name="Text Box 8"/>
            <p:cNvSpPr txBox="1">
              <a:spLocks noChangeArrowheads="1"/>
            </p:cNvSpPr>
            <p:nvPr/>
          </p:nvSpPr>
          <p:spPr bwMode="auto">
            <a:xfrm>
              <a:off x="1398" y="1886"/>
              <a:ext cx="212" cy="251"/>
            </a:xfrm>
            <a:prstGeom prst="rect">
              <a:avLst/>
            </a:prstGeom>
            <a:noFill/>
            <a:ln w="9525">
              <a:noFill/>
              <a:miter lim="800000"/>
            </a:ln>
          </p:spPr>
          <p:txBody>
            <a:bodyPr wrap="none">
              <a:spAutoFit/>
            </a:bodyPr>
            <a:lstStyle/>
            <a:p>
              <a:pPr algn="ctr" eaLnBrk="0" hangingPunct="0"/>
              <a:r>
                <a:rPr lang="en-US" altLang="zh-CN" sz="2400">
                  <a:solidFill>
                    <a:schemeClr val="tx2"/>
                  </a:solidFill>
                  <a:latin typeface="宋体" panose="02010600030101010101" pitchFamily="2" charset="-122"/>
                </a:rPr>
                <a:t>5</a:t>
              </a:r>
            </a:p>
          </p:txBody>
        </p:sp>
      </p:grpSp>
      <p:grpSp>
        <p:nvGrpSpPr>
          <p:cNvPr id="18464" name="Group 9"/>
          <p:cNvGrpSpPr/>
          <p:nvPr/>
        </p:nvGrpSpPr>
        <p:grpSpPr bwMode="auto">
          <a:xfrm>
            <a:off x="1927225" y="5103813"/>
            <a:ext cx="4724400" cy="792162"/>
            <a:chOff x="1296" y="1824"/>
            <a:chExt cx="2976" cy="432"/>
          </a:xfrm>
        </p:grpSpPr>
        <p:sp>
          <p:nvSpPr>
            <p:cNvPr id="7" name="AutoShape 10"/>
            <p:cNvSpPr>
              <a:spLocks noChangeArrowheads="1"/>
            </p:cNvSpPr>
            <p:nvPr/>
          </p:nvSpPr>
          <p:spPr bwMode="gray">
            <a:xfrm>
              <a:off x="1536" y="1899"/>
              <a:ext cx="2736" cy="287"/>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a:solidFill>
                  <a:schemeClr val="tx2"/>
                </a:solidFill>
                <a:latin typeface="+mn-lt"/>
                <a:ea typeface="+mn-ea"/>
              </a:endParaRPr>
            </a:p>
          </p:txBody>
        </p:sp>
        <p:sp>
          <p:nvSpPr>
            <p:cNvPr id="18466"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a:solidFill>
                  <a:schemeClr val="tx2"/>
                </a:solidFill>
                <a:latin typeface="宋体" panose="02010600030101010101" pitchFamily="2" charset="-122"/>
              </a:endParaRPr>
            </a:p>
          </p:txBody>
        </p:sp>
        <p:sp>
          <p:nvSpPr>
            <p:cNvPr id="18467" name="Text Box 12"/>
            <p:cNvSpPr txBox="1">
              <a:spLocks noChangeArrowheads="1"/>
            </p:cNvSpPr>
            <p:nvPr/>
          </p:nvSpPr>
          <p:spPr bwMode="auto">
            <a:xfrm>
              <a:off x="1680" y="1934"/>
              <a:ext cx="2496" cy="201"/>
            </a:xfrm>
            <a:prstGeom prst="rect">
              <a:avLst/>
            </a:prstGeom>
            <a:noFill/>
            <a:ln w="9525">
              <a:noFill/>
              <a:miter lim="800000"/>
            </a:ln>
          </p:spPr>
          <p:txBody>
            <a:bodyPr>
              <a:spAutoFit/>
            </a:bodyPr>
            <a:lstStyle/>
            <a:p>
              <a:r>
                <a:rPr lang="en-US" altLang="zh-CN" b="1">
                  <a:solidFill>
                    <a:schemeClr val="tx2"/>
                  </a:solidFill>
                  <a:latin typeface="宋体" panose="02010600030101010101" pitchFamily="2" charset="-122"/>
                </a:rPr>
                <a:t>  </a:t>
              </a:r>
              <a:r>
                <a:rPr lang="en-US" altLang="zh-CN" b="1">
                  <a:solidFill>
                    <a:schemeClr val="tx2"/>
                  </a:solidFill>
                </a:rPr>
                <a:t>2.6  </a:t>
              </a:r>
              <a:r>
                <a:rPr lang="zh-CN" altLang="en-US" b="1">
                  <a:solidFill>
                    <a:schemeClr val="tx2"/>
                  </a:solidFill>
                </a:rPr>
                <a:t>本章小结</a:t>
              </a:r>
            </a:p>
          </p:txBody>
        </p:sp>
        <p:sp>
          <p:nvSpPr>
            <p:cNvPr id="18468" name="Text Box 13"/>
            <p:cNvSpPr txBox="1">
              <a:spLocks noChangeArrowheads="1"/>
            </p:cNvSpPr>
            <p:nvPr/>
          </p:nvSpPr>
          <p:spPr bwMode="auto">
            <a:xfrm>
              <a:off x="1393" y="1886"/>
              <a:ext cx="223" cy="251"/>
            </a:xfrm>
            <a:prstGeom prst="rect">
              <a:avLst/>
            </a:prstGeom>
            <a:noFill/>
            <a:ln w="9525">
              <a:noFill/>
              <a:miter lim="800000"/>
            </a:ln>
          </p:spPr>
          <p:txBody>
            <a:bodyPr>
              <a:spAutoFit/>
            </a:bodyPr>
            <a:lstStyle/>
            <a:p>
              <a:pPr algn="ctr" eaLnBrk="0" hangingPunct="0"/>
              <a:r>
                <a:rPr lang="en-US" altLang="zh-CN" sz="2400">
                  <a:solidFill>
                    <a:schemeClr val="tx2"/>
                  </a:solidFill>
                  <a:latin typeface="宋体" panose="02010600030101010101" pitchFamily="2" charset="-122"/>
                </a:rPr>
                <a:t>6</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idx="4294967295"/>
          </p:nvPr>
        </p:nvSpPr>
        <p:spPr>
          <a:xfrm>
            <a:off x="428625" y="161925"/>
            <a:ext cx="8178800" cy="533400"/>
          </a:xfrm>
        </p:spPr>
        <p:txBody>
          <a:bodyPr/>
          <a:lstStyle/>
          <a:p>
            <a:pPr eaLnBrk="1" hangingPunct="1"/>
            <a:r>
              <a:rPr lang="zh-CN" altLang="en-US" smtClean="0"/>
              <a:t>教学目标</a:t>
            </a:r>
            <a:endParaRPr lang="zh-CN" altLang="en-US" smtClean="0">
              <a:solidFill>
                <a:schemeClr val="accent1"/>
              </a:solidFill>
            </a:endParaRPr>
          </a:p>
        </p:txBody>
      </p:sp>
      <p:sp>
        <p:nvSpPr>
          <p:cNvPr id="19458"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a:latin typeface="宋体" panose="02010600030101010101" pitchFamily="2" charset="-122"/>
            </a:endParaRPr>
          </a:p>
        </p:txBody>
      </p:sp>
      <p:sp>
        <p:nvSpPr>
          <p:cNvPr id="12292" name="Text Box 7"/>
          <p:cNvSpPr txBox="1">
            <a:spLocks noChangeArrowheads="1"/>
          </p:cNvSpPr>
          <p:nvPr/>
        </p:nvSpPr>
        <p:spPr bwMode="gray">
          <a:xfrm>
            <a:off x="1019175" y="1227138"/>
            <a:ext cx="2619375" cy="631825"/>
          </a:xfrm>
          <a:prstGeom prst="rect">
            <a:avLst/>
          </a:prstGeom>
          <a:noFill/>
          <a:ln w="9525" algn="ctr">
            <a:noFill/>
            <a:miter lim="800000"/>
          </a:ln>
        </p:spPr>
        <p:txBody>
          <a:bodyPr>
            <a:spAutoFit/>
          </a:bodyPr>
          <a:lstStyle/>
          <a:p>
            <a:pPr>
              <a:lnSpc>
                <a:spcPct val="110000"/>
              </a:lnSpc>
              <a:spcBef>
                <a:spcPct val="25000"/>
              </a:spcBef>
              <a:buFont typeface="Wingdings" panose="05000000000000000000" pitchFamily="2" charset="2"/>
              <a:buNone/>
              <a:defRPr/>
            </a:pPr>
            <a:r>
              <a:rPr lang="en-US" altLang="zh-CN" sz="32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32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教学目标</a:t>
            </a:r>
            <a:endParaRPr lang="zh-CN" altLang="en-US" sz="3200" b="1" dirty="0"/>
          </a:p>
        </p:txBody>
      </p:sp>
      <p:sp>
        <p:nvSpPr>
          <p:cNvPr id="19460" name="AutoShape 11"/>
          <p:cNvSpPr>
            <a:spLocks noChangeArrowheads="1"/>
          </p:cNvSpPr>
          <p:nvPr/>
        </p:nvSpPr>
        <p:spPr bwMode="auto">
          <a:xfrm>
            <a:off x="919163" y="1227138"/>
            <a:ext cx="2568575" cy="631825"/>
          </a:xfrm>
          <a:prstGeom prst="flowChartAlternateProcess">
            <a:avLst/>
          </a:prstGeom>
          <a:noFill/>
          <a:ln w="34925">
            <a:solidFill>
              <a:srgbClr val="3366FF"/>
            </a:solidFill>
            <a:miter lim="800000"/>
          </a:ln>
        </p:spPr>
        <p:txBody>
          <a:bodyPr wrap="none" anchor="ctr"/>
          <a:lstStyle/>
          <a:p>
            <a:endParaRPr lang="zh-CN" altLang="en-US"/>
          </a:p>
        </p:txBody>
      </p:sp>
      <p:sp>
        <p:nvSpPr>
          <p:cNvPr id="2" name="AutoShape 5"/>
          <p:cNvSpPr>
            <a:spLocks noChangeArrowheads="1"/>
          </p:cNvSpPr>
          <p:nvPr/>
        </p:nvSpPr>
        <p:spPr bwMode="auto">
          <a:xfrm>
            <a:off x="3990975" y="3503613"/>
            <a:ext cx="1219200" cy="382587"/>
          </a:xfrm>
          <a:prstGeom prst="wedgeRoundRectCallout">
            <a:avLst>
              <a:gd name="adj1" fmla="val -62499"/>
              <a:gd name="adj2" fmla="val -26655"/>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1600" b="1">
                <a:solidFill>
                  <a:srgbClr val="FF0000"/>
                </a:solidFill>
                <a:effectLst>
                  <a:outerShdw blurRad="38100" dist="38100" dir="2700000" algn="tl">
                    <a:srgbClr val="000000"/>
                  </a:outerShdw>
                </a:effectLst>
                <a:latin typeface="Arial Black" panose="020B0A04020102020204" pitchFamily="34" charset="0"/>
              </a:rPr>
              <a:t>关键</a:t>
            </a:r>
          </a:p>
        </p:txBody>
      </p:sp>
      <p:sp>
        <p:nvSpPr>
          <p:cNvPr id="12293" name="AutoShape 5"/>
          <p:cNvSpPr>
            <a:spLocks noChangeArrowheads="1"/>
          </p:cNvSpPr>
          <p:nvPr/>
        </p:nvSpPr>
        <p:spPr bwMode="auto">
          <a:xfrm>
            <a:off x="4019550" y="2374900"/>
            <a:ext cx="1219200" cy="384175"/>
          </a:xfrm>
          <a:prstGeom prst="wedgeRoundRectCallout">
            <a:avLst>
              <a:gd name="adj1" fmla="val -67291"/>
              <a:gd name="adj2" fmla="val 20515"/>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1600" b="1">
                <a:solidFill>
                  <a:srgbClr val="FF0000"/>
                </a:solidFill>
                <a:effectLst>
                  <a:outerShdw blurRad="38100" dist="38100" dir="2700000" algn="tl">
                    <a:srgbClr val="000000"/>
                  </a:outerShdw>
                </a:effectLst>
                <a:latin typeface="Arial Black" panose="020B0A04020102020204" pitchFamily="34" charset="0"/>
              </a:rPr>
              <a:t>重点</a:t>
            </a:r>
          </a:p>
        </p:txBody>
      </p:sp>
      <p:pic>
        <p:nvPicPr>
          <p:cNvPr id="19463" name="Picture 9" descr="j0195384"/>
          <p:cNvPicPr>
            <a:picLocks noChangeAspect="1" noChangeArrowheads="1"/>
          </p:cNvPicPr>
          <p:nvPr/>
        </p:nvPicPr>
        <p:blipFill>
          <a:blip r:embed="rId2" cstate="print"/>
          <a:srcRect/>
          <a:stretch>
            <a:fillRect/>
          </a:stretch>
        </p:blipFill>
        <p:spPr bwMode="auto">
          <a:xfrm>
            <a:off x="6505575" y="4926013"/>
            <a:ext cx="1066800" cy="1089025"/>
          </a:xfrm>
          <a:prstGeom prst="rect">
            <a:avLst/>
          </a:prstGeom>
          <a:noFill/>
          <a:ln w="9525">
            <a:noFill/>
            <a:miter lim="800000"/>
            <a:headEnd/>
            <a:tailEnd/>
          </a:ln>
        </p:spPr>
      </p:pic>
      <p:graphicFrame>
        <p:nvGraphicFramePr>
          <p:cNvPr id="3" name="表格 2"/>
          <p:cNvGraphicFramePr/>
          <p:nvPr/>
        </p:nvGraphicFramePr>
        <p:xfrm>
          <a:off x="1152525" y="2049463"/>
          <a:ext cx="6607175" cy="3291840"/>
        </p:xfrm>
        <a:graphic>
          <a:graphicData uri="http://schemas.openxmlformats.org/drawingml/2006/table">
            <a:tbl>
              <a:tblPr firstRow="1" bandRow="1">
                <a:tableStyleId>{5940675A-B579-460E-94D1-54222C63F5DA}</a:tableStyleId>
              </a:tblPr>
              <a:tblGrid>
                <a:gridCol w="6607175">
                  <a:extLst>
                    <a:ext uri="{9D8B030D-6E8A-4147-A177-3AD203B41FA5}">
                      <a16:colId xmlns:a16="http://schemas.microsoft.com/office/drawing/2014/main" val="20000"/>
                    </a:ext>
                  </a:extLst>
                </a:gridCol>
              </a:tblGrid>
              <a:tr h="0">
                <a:tc>
                  <a:txBody>
                    <a:bodyPr/>
                    <a:lstStyle/>
                    <a:p>
                      <a:pPr indent="0">
                        <a:buNone/>
                      </a:pPr>
                      <a:r>
                        <a:rPr lang="en-US" sz="2400" b="1">
                          <a:solidFill>
                            <a:srgbClr val="FF0000"/>
                          </a:solidFill>
                          <a:latin typeface="黑体" panose="02010609060101010101" pitchFamily="49" charset="-122"/>
                          <a:ea typeface="黑体" panose="02010609060101010101" pitchFamily="49" charset="-122"/>
                          <a:cs typeface="黑体" panose="02010609060101010101" pitchFamily="49" charset="-122"/>
                        </a:rPr>
                        <a:t>    重点</a:t>
                      </a:r>
                      <a:r>
                        <a:rPr lang="en-US" sz="2400" b="1">
                          <a:latin typeface="宋体" panose="02010600030101010101" pitchFamily="2" charset="-122"/>
                          <a:ea typeface="宋体" panose="02010600030101010101" pitchFamily="2" charset="-122"/>
                          <a:cs typeface="宋体" panose="02010600030101010101" pitchFamily="2" charset="-122"/>
                        </a:rPr>
                        <a:t>：</a:t>
                      </a:r>
                      <a:r>
                        <a:rPr lang="en-US" sz="2400" b="1">
                          <a:latin typeface="Times New Roman" panose="02020603050405020304" pitchFamily="18" charset="0"/>
                          <a:cs typeface="Times New Roman" panose="02020603050405020304" pitchFamily="18" charset="0"/>
                        </a:rPr>
                        <a:t>无线局域网安全技术</a:t>
                      </a:r>
                      <a:r>
                        <a:rPr lang="en-US" sz="2400" b="1">
                          <a:latin typeface="楷体_GB2312" panose="02010609030101010101" pitchFamily="49" charset="-122"/>
                          <a:cs typeface="楷体_GB2312" panose="02010609030101010101" pitchFamily="49" charset="-122"/>
                        </a:rPr>
                        <a:t>，</a:t>
                      </a:r>
                      <a:r>
                        <a:rPr lang="en-US" sz="2400" b="1">
                          <a:latin typeface="Times New Roman" panose="02020603050405020304" pitchFamily="18" charset="0"/>
                          <a:cs typeface="Times New Roman" panose="02020603050405020304" pitchFamily="18" charset="0"/>
                        </a:rPr>
                        <a:t>常用的网络安全管理工具及应用</a:t>
                      </a:r>
                      <a:endParaRPr lang="en-US" altLang="en-US" sz="2400" b="1">
                        <a:solidFill>
                          <a:srgbClr val="FF0000"/>
                        </a:solidFill>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3510">
                <a:tc>
                  <a:txBody>
                    <a:bodyPr/>
                    <a:lstStyle/>
                    <a:p>
                      <a:pPr indent="0">
                        <a:buNone/>
                      </a:pPr>
                      <a:r>
                        <a:rPr lang="en-US" sz="2400" b="1">
                          <a:solidFill>
                            <a:srgbClr val="FF0000"/>
                          </a:solidFill>
                          <a:latin typeface="黑体" panose="02010609060101010101" pitchFamily="49" charset="-122"/>
                          <a:ea typeface="黑体" panose="02010609060101010101" pitchFamily="49" charset="-122"/>
                          <a:cs typeface="黑体" panose="02010609060101010101" pitchFamily="49" charset="-122"/>
                        </a:rPr>
                        <a:t>    难点</a:t>
                      </a:r>
                      <a:r>
                        <a:rPr lang="en-US" sz="2400" b="1">
                          <a:latin typeface="宋体" panose="02010600030101010101" pitchFamily="2" charset="-122"/>
                          <a:ea typeface="宋体" panose="02010600030101010101" pitchFamily="2" charset="-122"/>
                          <a:cs typeface="宋体" panose="02010600030101010101" pitchFamily="2" charset="-122"/>
                        </a:rPr>
                        <a:t>：</a:t>
                      </a:r>
                      <a:r>
                        <a:rPr lang="en-US" sz="2400" b="1">
                          <a:latin typeface="Times New Roman" panose="02020603050405020304" pitchFamily="18" charset="0"/>
                          <a:cs typeface="Times New Roman" panose="02020603050405020304" pitchFamily="18" charset="0"/>
                        </a:rPr>
                        <a:t>网络协议</a:t>
                      </a:r>
                      <a:r>
                        <a:rPr lang="en-US" sz="2400" b="1">
                          <a:latin typeface="楷体_GB2312" panose="02010609030101010101" pitchFamily="49" charset="-122"/>
                          <a:cs typeface="楷体_GB2312" panose="02010609030101010101" pitchFamily="49" charset="-122"/>
                        </a:rPr>
                        <a:t>的</a:t>
                      </a:r>
                      <a:r>
                        <a:rPr lang="en-US" sz="2400" b="1">
                          <a:latin typeface="Times New Roman" panose="02020603050405020304" pitchFamily="18" charset="0"/>
                          <a:cs typeface="Times New Roman" panose="02020603050405020304" pitchFamily="18" charset="0"/>
                        </a:rPr>
                        <a:t>安全</a:t>
                      </a:r>
                      <a:r>
                        <a:rPr lang="en-US" sz="2400" b="1">
                          <a:latin typeface="楷体_GB2312" panose="02010609030101010101" pitchFamily="49" charset="-122"/>
                          <a:cs typeface="楷体_GB2312" panose="02010609030101010101" pitchFamily="49" charset="-122"/>
                        </a:rPr>
                        <a:t>风险</a:t>
                      </a:r>
                      <a:r>
                        <a:rPr lang="en-US" sz="2400" b="1">
                          <a:latin typeface="Times New Roman" panose="02020603050405020304" pitchFamily="18" charset="0"/>
                          <a:cs typeface="Times New Roman" panose="02020603050405020304" pitchFamily="18" charset="0"/>
                        </a:rPr>
                        <a:t>及Ipv6的安全性</a:t>
                      </a:r>
                      <a:endParaRPr lang="en-US" altLang="en-US" sz="2400" b="1">
                        <a:solidFill>
                          <a:srgbClr val="FF0000"/>
                        </a:solidFill>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1520">
                <a:tc>
                  <a:txBody>
                    <a:bodyPr/>
                    <a:lstStyle/>
                    <a:p>
                      <a:pPr indent="0">
                        <a:buNone/>
                      </a:pPr>
                      <a:r>
                        <a:rPr lang="en-US" sz="2400" b="1">
                          <a:solidFill>
                            <a:srgbClr val="FF0000"/>
                          </a:solidFill>
                          <a:latin typeface="黑体" panose="02010609060101010101" pitchFamily="49" charset="-122"/>
                          <a:ea typeface="黑体" panose="02010609060101010101" pitchFamily="49" charset="-122"/>
                          <a:cs typeface="黑体" panose="02010609060101010101" pitchFamily="49" charset="-122"/>
                        </a:rPr>
                        <a:t>    关键</a:t>
                      </a:r>
                      <a:r>
                        <a:rPr lang="en-US" sz="2400" b="1">
                          <a:latin typeface="宋体" panose="02010600030101010101" pitchFamily="2" charset="-122"/>
                          <a:ea typeface="宋体" panose="02010600030101010101" pitchFamily="2" charset="-122"/>
                          <a:cs typeface="宋体" panose="02010600030101010101" pitchFamily="2" charset="-122"/>
                        </a:rPr>
                        <a:t>：</a:t>
                      </a:r>
                      <a:r>
                        <a:rPr lang="en-US" sz="2400" b="1">
                          <a:latin typeface="Times New Roman" panose="02020603050405020304" pitchFamily="18" charset="0"/>
                          <a:cs typeface="Times New Roman" panose="02020603050405020304" pitchFamily="18" charset="0"/>
                        </a:rPr>
                        <a:t>无线局域网安全技术</a:t>
                      </a:r>
                      <a:r>
                        <a:rPr lang="en-US" sz="2400" b="1">
                          <a:latin typeface="楷体_GB2312" panose="02010609030101010101" pitchFamily="49" charset="-122"/>
                          <a:cs typeface="楷体_GB2312" panose="02010609030101010101" pitchFamily="49" charset="-122"/>
                        </a:rPr>
                        <a:t>，</a:t>
                      </a:r>
                      <a:r>
                        <a:rPr lang="en-US" sz="2400" b="1">
                          <a:latin typeface="Times New Roman" panose="02020603050405020304" pitchFamily="18" charset="0"/>
                          <a:cs typeface="Times New Roman" panose="02020603050405020304" pitchFamily="18" charset="0"/>
                        </a:rPr>
                        <a:t>常用的网络安全管理工具及应用</a:t>
                      </a:r>
                      <a:endParaRPr lang="en-US" altLang="en-US" sz="2400" b="1">
                        <a:solidFill>
                          <a:srgbClr val="FF0000"/>
                        </a:solidFill>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indent="0">
                        <a:buNone/>
                      </a:pPr>
                      <a:r>
                        <a:rPr lang="en-US" sz="2400" b="1">
                          <a:solidFill>
                            <a:srgbClr val="FF0000"/>
                          </a:solidFill>
                          <a:latin typeface="黑体" panose="02010609060101010101" pitchFamily="49" charset="-122"/>
                          <a:ea typeface="黑体" panose="02010609060101010101" pitchFamily="49" charset="-122"/>
                          <a:cs typeface="黑体" panose="02010609060101010101" pitchFamily="49" charset="-122"/>
                        </a:rPr>
                        <a:t>    目标</a:t>
                      </a:r>
                      <a:r>
                        <a:rPr lang="en-US" sz="2400" b="1">
                          <a:latin typeface="宋体" panose="02010600030101010101" pitchFamily="2" charset="-122"/>
                          <a:ea typeface="宋体" panose="02010600030101010101" pitchFamily="2" charset="-122"/>
                          <a:cs typeface="宋体" panose="02010600030101010101" pitchFamily="2" charset="-122"/>
                        </a:rPr>
                        <a:t>：</a:t>
                      </a:r>
                      <a:r>
                        <a:rPr lang="en-US" sz="2400" b="1">
                          <a:latin typeface="Times New Roman" panose="02020603050405020304" pitchFamily="18" charset="0"/>
                          <a:cs typeface="Times New Roman" panose="02020603050405020304" pitchFamily="18" charset="0"/>
                        </a:rPr>
                        <a:t>了解网络协议</a:t>
                      </a:r>
                      <a:r>
                        <a:rPr lang="en-US" sz="2400" b="1">
                          <a:latin typeface="楷体_GB2312" panose="02010609030101010101" pitchFamily="49" charset="-122"/>
                          <a:cs typeface="楷体_GB2312" panose="02010609030101010101" pitchFamily="49" charset="-122"/>
                        </a:rPr>
                        <a:t>的</a:t>
                      </a:r>
                      <a:r>
                        <a:rPr lang="en-US" sz="2400" b="1">
                          <a:latin typeface="Times New Roman" panose="02020603050405020304" pitchFamily="18" charset="0"/>
                          <a:cs typeface="Times New Roman" panose="02020603050405020304" pitchFamily="18" charset="0"/>
                        </a:rPr>
                        <a:t>安全</a:t>
                      </a:r>
                      <a:r>
                        <a:rPr lang="en-US" sz="2400" b="1">
                          <a:latin typeface="楷体_GB2312" panose="02010609030101010101" pitchFamily="49" charset="-122"/>
                          <a:cs typeface="楷体_GB2312" panose="02010609030101010101" pitchFamily="49" charset="-122"/>
                        </a:rPr>
                        <a:t>风险</a:t>
                      </a:r>
                      <a:r>
                        <a:rPr lang="en-US" sz="2400" b="1">
                          <a:latin typeface="Times New Roman" panose="02020603050405020304" pitchFamily="18" charset="0"/>
                          <a:cs typeface="Times New Roman" panose="02020603050405020304" pitchFamily="18" charset="0"/>
                        </a:rPr>
                        <a:t>及Ipv6的安全性</a:t>
                      </a:r>
                      <a:r>
                        <a:rPr lang="en-US" sz="2400" b="1">
                          <a:latin typeface="楷体_GB2312" panose="02010609030101010101" pitchFamily="49" charset="-122"/>
                          <a:cs typeface="楷体_GB2312" panose="02010609030101010101" pitchFamily="49" charset="-122"/>
                        </a:rPr>
                        <a:t>，</a:t>
                      </a:r>
                      <a:r>
                        <a:rPr lang="en-US" sz="2400" b="1">
                          <a:latin typeface="Times New Roman" panose="02020603050405020304" pitchFamily="18" charset="0"/>
                          <a:cs typeface="Times New Roman" panose="02020603050405020304" pitchFamily="18" charset="0"/>
                        </a:rPr>
                        <a:t>掌握虚拟专用网（VPN）技术</a:t>
                      </a:r>
                      <a:r>
                        <a:rPr lang="en-US" sz="2400" b="1">
                          <a:latin typeface="楷体_GB2312" panose="02010609030101010101" pitchFamily="49" charset="-122"/>
                          <a:cs typeface="楷体_GB2312" panose="02010609030101010101" pitchFamily="49" charset="-122"/>
                        </a:rPr>
                        <a:t>特点及应用，</a:t>
                      </a:r>
                      <a:r>
                        <a:rPr lang="en-US" sz="2400" b="1">
                          <a:latin typeface="Times New Roman" panose="02020603050405020304" pitchFamily="18" charset="0"/>
                          <a:cs typeface="Times New Roman" panose="02020603050405020304" pitchFamily="18" charset="0"/>
                        </a:rPr>
                        <a:t>掌握无线局域网安全技术及安全设置实验</a:t>
                      </a:r>
                      <a:r>
                        <a:rPr lang="en-US" sz="2400" b="1">
                          <a:latin typeface="楷体_GB2312" panose="02010609030101010101" pitchFamily="49" charset="-122"/>
                          <a:cs typeface="楷体_GB2312" panose="02010609030101010101" pitchFamily="49" charset="-122"/>
                        </a:rPr>
                        <a:t>，</a:t>
                      </a:r>
                      <a:r>
                        <a:rPr lang="en-US" sz="2400" b="1">
                          <a:latin typeface="Times New Roman" panose="02020603050405020304" pitchFamily="18" charset="0"/>
                          <a:cs typeface="Times New Roman" panose="02020603050405020304" pitchFamily="18" charset="0"/>
                        </a:rPr>
                        <a:t> 掌握常用的网络安全管理工具及应用</a:t>
                      </a:r>
                      <a:r>
                        <a:rPr lang="en-US" sz="2400" b="1">
                          <a:latin typeface="楷体" panose="02010609060101010101" charset="-122"/>
                          <a:ea typeface="楷体" panose="02010609060101010101" charset="-122"/>
                          <a:cs typeface="楷体" panose="02010609060101010101" charset="-122"/>
                        </a:rPr>
                        <a:t>。</a:t>
                      </a:r>
                      <a:endParaRPr lang="en-US" altLang="en-US" sz="2400" b="1">
                        <a:solidFill>
                          <a:srgbClr val="FF0000"/>
                        </a:solidFill>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469900" y="1844675"/>
            <a:ext cx="8080375" cy="40100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125000"/>
              </a:lnSpc>
              <a:buFontTx/>
              <a:buNone/>
              <a:defRPr/>
            </a:pPr>
            <a:r>
              <a:rPr lang="zh-CN" altLang="en-US" sz="2800" b="1" dirty="0">
                <a:solidFill>
                  <a:schemeClr val="tx1"/>
                </a:solidFill>
                <a:latin typeface="Arial" panose="020B0604020202020204" pitchFamily="34" charset="0"/>
              </a:rPr>
              <a:t>                       </a:t>
            </a:r>
            <a:r>
              <a:rPr sz="2400" b="1" dirty="0">
                <a:solidFill>
                  <a:srgbClr val="C00000"/>
                </a:solidFill>
              </a:rPr>
              <a:t>网络协议等漏洞成为网络战攻防的重点。</a:t>
            </a:r>
            <a:r>
              <a:rPr lang="zh-CN" altLang="en-US" sz="2400" b="1" dirty="0"/>
              <a:t>网络安全专家指出传统战争核武器威力最大，而</a:t>
            </a:r>
            <a:r>
              <a:rPr lang="zh-CN" altLang="en-US" sz="2400" b="1" dirty="0">
                <a:solidFill>
                  <a:srgbClr val="FF0000"/>
                </a:solidFill>
              </a:rPr>
              <a:t>现代信息化时代最先进的是网络战</a:t>
            </a:r>
            <a:r>
              <a:rPr lang="zh-CN" altLang="en-US" sz="2400" b="1" dirty="0"/>
              <a:t>。网络交互传输广泛使用的TCP/IP协议簇存在着漏洞威胁，利用其攻防成为网络战中双方研究的重点。2003年美国借口伊拉克拥有大规模生化武器为由与英国组成联军进行进攻，率先侵入伊拉克军事系统窃取情报并通过破坏致使其瘫痪，快速攻破伊拉克。</a:t>
            </a:r>
          </a:p>
        </p:txBody>
      </p:sp>
      <p:sp>
        <p:nvSpPr>
          <p:cNvPr id="20482" name="内容占位符 13"/>
          <p:cNvSpPr>
            <a:spLocks noChangeArrowheads="1"/>
          </p:cNvSpPr>
          <p:nvPr/>
        </p:nvSpPr>
        <p:spPr bwMode="auto">
          <a:xfrm>
            <a:off x="395288" y="1196975"/>
            <a:ext cx="8153400" cy="4318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20483" name="内容占位符 13"/>
          <p:cNvSpPr>
            <a:spLocks noChangeArrowheads="1"/>
          </p:cNvSpPr>
          <p:nvPr/>
        </p:nvSpPr>
        <p:spPr bwMode="auto">
          <a:xfrm>
            <a:off x="250825" y="1543050"/>
            <a:ext cx="8153400" cy="541338"/>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en-US" altLang="zh-CN" b="1">
                <a:solidFill>
                  <a:srgbClr val="0000CC"/>
                </a:solidFill>
                <a:latin typeface="Times New Roman" panose="02020603050405020304" pitchFamily="18" charset="0"/>
              </a:rPr>
              <a:t> </a:t>
            </a: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pic>
        <p:nvPicPr>
          <p:cNvPr id="20484" name="Picture 5" descr="j0300520"/>
          <p:cNvPicPr>
            <a:picLocks noChangeAspect="1" noChangeArrowheads="1"/>
          </p:cNvPicPr>
          <p:nvPr/>
        </p:nvPicPr>
        <p:blipFill>
          <a:blip r:embed="rId2" cstate="print"/>
          <a:srcRect/>
          <a:stretch>
            <a:fillRect/>
          </a:stretch>
        </p:blipFill>
        <p:spPr bwMode="auto">
          <a:xfrm>
            <a:off x="6000750" y="5381625"/>
            <a:ext cx="1331913" cy="1146175"/>
          </a:xfrm>
          <a:prstGeom prst="rect">
            <a:avLst/>
          </a:prstGeom>
          <a:noFill/>
          <a:ln w="9525">
            <a:noFill/>
            <a:miter lim="800000"/>
            <a:headEnd/>
            <a:tailEnd/>
          </a:ln>
        </p:spPr>
      </p:pic>
      <p:sp>
        <p:nvSpPr>
          <p:cNvPr id="2048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zh-CN" altLang="zh-CN" sz="3200" b="1">
                <a:solidFill>
                  <a:schemeClr val="bg1"/>
                </a:solidFill>
                <a:latin typeface="黑体" panose="02010609060101010101" pitchFamily="49" charset="-122"/>
                <a:ea typeface="黑体" panose="02010609060101010101" pitchFamily="49" charset="-122"/>
              </a:rPr>
              <a:t>2.1 网络协议安全概述</a:t>
            </a:r>
          </a:p>
        </p:txBody>
      </p:sp>
      <p:sp>
        <p:nvSpPr>
          <p:cNvPr id="20486" name="内容占位符 13"/>
          <p:cNvSpPr>
            <a:spLocks noChangeArrowheads="1"/>
          </p:cNvSpPr>
          <p:nvPr/>
        </p:nvSpPr>
        <p:spPr bwMode="auto">
          <a:xfrm>
            <a:off x="468313" y="1114425"/>
            <a:ext cx="4373562" cy="514350"/>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None/>
            </a:pPr>
            <a:r>
              <a:rPr lang="zh-CN" altLang="en-US" sz="2400" b="1">
                <a:solidFill>
                  <a:srgbClr val="FF0000"/>
                </a:solidFill>
                <a:latin typeface="Times New Roman" panose="02020603050405020304" pitchFamily="18" charset="0"/>
              </a:rPr>
              <a:t> </a:t>
            </a:r>
            <a:r>
              <a:rPr lang="en-US" altLang="zh-CN" sz="2600" b="1">
                <a:solidFill>
                  <a:srgbClr val="FF0000"/>
                </a:solidFill>
                <a:latin typeface="宋体" panose="02010600030101010101" pitchFamily="2" charset="-122"/>
              </a:rPr>
              <a:t>2.1.1 </a:t>
            </a:r>
            <a:r>
              <a:rPr lang="zh-CN" altLang="en-US" sz="2600" b="1">
                <a:solidFill>
                  <a:srgbClr val="FF0000"/>
                </a:solidFill>
                <a:latin typeface="宋体" panose="02010600030101010101" pitchFamily="2" charset="-122"/>
              </a:rPr>
              <a:t>网络协议的安全风险</a:t>
            </a:r>
          </a:p>
        </p:txBody>
      </p:sp>
      <p:sp>
        <p:nvSpPr>
          <p:cNvPr id="13" name="圆角矩形 12"/>
          <p:cNvSpPr/>
          <p:nvPr/>
        </p:nvSpPr>
        <p:spPr bwMode="gray">
          <a:xfrm>
            <a:off x="1285875" y="1908175"/>
            <a:ext cx="1500188" cy="53975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2000" b="1" dirty="0" smtClean="0">
                <a:solidFill>
                  <a:srgbClr val="002060"/>
                </a:solidFill>
              </a:rPr>
              <a:t>案例</a:t>
            </a:r>
            <a:r>
              <a:rPr lang="en-US" altLang="zh-CN" sz="2000" b="1" dirty="0" smtClean="0">
                <a:solidFill>
                  <a:srgbClr val="002060"/>
                </a:solidFill>
              </a:rPr>
              <a:t>2-1</a:t>
            </a:r>
            <a:endParaRPr lang="zh-CN" altLang="en-US" sz="2000" b="1" dirty="0" smtClean="0">
              <a:solidFill>
                <a:srgbClr val="00206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419666" y="1628671"/>
            <a:ext cx="8305165" cy="468052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defRPr/>
            </a:pPr>
            <a:r>
              <a:rPr lang="zh-CN" altLang="en-US" sz="2200" b="1" noProof="1">
                <a:solidFill>
                  <a:srgbClr val="FF0000"/>
                </a:solidFill>
              </a:rPr>
              <a:t>网络协议（Protocol）</a:t>
            </a:r>
            <a:r>
              <a:rPr lang="zh-CN" altLang="en-US" sz="2200" b="1" noProof="1">
                <a:solidFill>
                  <a:schemeClr val="tx1"/>
                </a:solidFill>
              </a:rPr>
              <a:t>是实现网络功能的最基本机制和规则，是进行</a:t>
            </a:r>
            <a:r>
              <a:rPr lang="zh-CN" altLang="en-US" sz="2300" b="1" noProof="1">
                <a:solidFill>
                  <a:srgbClr val="0000FF"/>
                </a:solidFill>
                <a:effectLst>
                  <a:outerShdw blurRad="38100" dist="38100" dir="2700000" algn="tl">
                    <a:srgbClr val="000000">
                      <a:alpha val="43137"/>
                    </a:srgbClr>
                  </a:outerShdw>
                </a:effectLst>
              </a:rPr>
              <a:t>网络通信</a:t>
            </a:r>
            <a:r>
              <a:rPr lang="zh-CN" altLang="en-US" sz="2200" b="1" noProof="1">
                <a:solidFill>
                  <a:schemeClr val="tx1"/>
                </a:solidFill>
              </a:rPr>
              <a:t>和</a:t>
            </a:r>
            <a:r>
              <a:rPr lang="zh-CN" altLang="en-US" sz="2300" b="1" noProof="1">
                <a:solidFill>
                  <a:srgbClr val="0000FF"/>
                </a:solidFill>
                <a:effectLst>
                  <a:outerShdw blurRad="38100" dist="38100" dir="2700000" algn="tl">
                    <a:srgbClr val="000000">
                      <a:alpha val="43137"/>
                    </a:srgbClr>
                  </a:outerShdw>
                </a:effectLst>
              </a:rPr>
              <a:t>数据交换</a:t>
            </a:r>
            <a:r>
              <a:rPr lang="zh-CN" altLang="en-US" sz="2200" b="1" noProof="1">
                <a:solidFill>
                  <a:schemeClr val="tx1"/>
                </a:solidFill>
              </a:rPr>
              <a:t>而建立的</a:t>
            </a:r>
            <a:r>
              <a:rPr lang="zh-CN" altLang="en-US" sz="2200" b="1" noProof="1">
                <a:solidFill>
                  <a:srgbClr val="990033"/>
                </a:solidFill>
              </a:rPr>
              <a:t>规则、标准或约定</a:t>
            </a:r>
            <a:r>
              <a:rPr lang="zh-CN" altLang="en-US" sz="2200" b="1" noProof="1">
                <a:solidFill>
                  <a:schemeClr val="tx1"/>
                </a:solidFill>
              </a:rPr>
              <a:t>的集合，是一种特殊的软件。</a:t>
            </a:r>
          </a:p>
          <a:p>
            <a:pPr indent="457200" fontAlgn="auto">
              <a:spcBef>
                <a:spcPts val="0"/>
              </a:spcBef>
              <a:spcAft>
                <a:spcPts val="0"/>
              </a:spcAft>
              <a:defRPr/>
            </a:pPr>
            <a:r>
              <a:rPr lang="zh-CN" altLang="en-US" sz="2200" b="1" noProof="1">
                <a:solidFill>
                  <a:srgbClr val="FF0000"/>
                </a:solidFill>
              </a:rPr>
              <a:t>网络体系层次结构模型</a:t>
            </a:r>
            <a:r>
              <a:rPr lang="zh-CN" altLang="en-US" sz="2200" b="1" noProof="1">
                <a:solidFill>
                  <a:schemeClr val="tx1"/>
                </a:solidFill>
              </a:rPr>
              <a:t>主</a:t>
            </a:r>
            <a:r>
              <a:rPr lang="zh-CN" altLang="en-US" sz="2200" b="1" noProof="1">
                <a:solidFill>
                  <a:schemeClr val="tx1"/>
                </a:solidFill>
                <a:latin typeface="Times New Roman" panose="02020603050405020304" pitchFamily="18" charset="0"/>
                <a:cs typeface="Times New Roman" panose="02020603050405020304" pitchFamily="18" charset="0"/>
              </a:rPr>
              <a:t>要有</a:t>
            </a:r>
            <a:r>
              <a:rPr lang="zh-CN" altLang="en-US" sz="2200" b="1" noProof="1">
                <a:solidFill>
                  <a:srgbClr val="C00000"/>
                </a:solidFill>
                <a:latin typeface="Times New Roman" panose="02020603050405020304" pitchFamily="18" charset="0"/>
                <a:cs typeface="Times New Roman" panose="02020603050405020304" pitchFamily="18" charset="0"/>
              </a:rPr>
              <a:t>两种</a:t>
            </a:r>
            <a:r>
              <a:rPr lang="zh-CN" altLang="en-US" sz="2200" b="1" noProof="1">
                <a:solidFill>
                  <a:schemeClr val="tx1"/>
                </a:solidFill>
                <a:latin typeface="Times New Roman" panose="02020603050405020304" pitchFamily="18" charset="0"/>
                <a:cs typeface="Times New Roman" panose="02020603050405020304" pitchFamily="18" charset="0"/>
              </a:rPr>
              <a:t>：开放系统互连参考模型OSI（Open System Interconnection）模型和TCP/IP模型。国际标准化组织ISO的</a:t>
            </a:r>
            <a:r>
              <a:rPr lang="zh-CN" altLang="en-US" sz="2200" b="1" noProof="1">
                <a:solidFill>
                  <a:srgbClr val="FF0000"/>
                </a:solidFill>
                <a:latin typeface="Times New Roman" panose="02020603050405020304" pitchFamily="18" charset="0"/>
                <a:cs typeface="Times New Roman" panose="02020603050405020304" pitchFamily="18" charset="0"/>
              </a:rPr>
              <a:t>OSI模型共有七层</a:t>
            </a:r>
            <a:r>
              <a:rPr lang="zh-CN" altLang="en-US" sz="2200" b="1" noProof="1">
                <a:solidFill>
                  <a:schemeClr val="tx1"/>
                </a:solidFill>
                <a:latin typeface="Times New Roman" panose="02020603050405020304" pitchFamily="18" charset="0"/>
                <a:cs typeface="Times New Roman" panose="02020603050405020304" pitchFamily="18" charset="0"/>
              </a:rPr>
              <a:t>，由低到高依次是物理层、数据链路层、网络层、传输层、会话层、表示层和应用层。其设计之初是期望为网络体系与协议发展提供一种国际标准，后来由于</a:t>
            </a:r>
            <a:r>
              <a:rPr lang="zh-CN" altLang="en-US" sz="2200" b="1" noProof="1">
                <a:solidFill>
                  <a:srgbClr val="FF0000"/>
                </a:solidFill>
                <a:latin typeface="Times New Roman" panose="02020603050405020304" pitchFamily="18" charset="0"/>
                <a:cs typeface="Times New Roman" panose="02020603050405020304" pitchFamily="18" charset="0"/>
              </a:rPr>
              <a:t>其过于庞杂</a:t>
            </a:r>
            <a:r>
              <a:rPr lang="zh-CN" altLang="en-US" sz="2200" b="1" noProof="1">
                <a:solidFill>
                  <a:schemeClr val="tx1"/>
                </a:solidFill>
                <a:latin typeface="Times New Roman" panose="02020603050405020304" pitchFamily="18" charset="0"/>
                <a:cs typeface="Times New Roman" panose="02020603050405020304" pitchFamily="18" charset="0"/>
              </a:rPr>
              <a:t>，使</a:t>
            </a:r>
            <a:r>
              <a:rPr lang="zh-CN" altLang="en-US" sz="2200" b="1" noProof="1">
                <a:solidFill>
                  <a:srgbClr val="FF0000"/>
                </a:solidFill>
                <a:latin typeface="Times New Roman" panose="02020603050405020304" pitchFamily="18" charset="0"/>
                <a:cs typeface="Times New Roman" panose="02020603050405020304" pitchFamily="18" charset="0"/>
              </a:rPr>
              <a:t>TCP/IP协议</a:t>
            </a:r>
            <a:r>
              <a:rPr lang="zh-CN" altLang="en-US" sz="2200" b="1" noProof="1">
                <a:solidFill>
                  <a:schemeClr val="tx1"/>
                </a:solidFill>
                <a:latin typeface="Times New Roman" panose="02020603050405020304" pitchFamily="18" charset="0"/>
                <a:cs typeface="Times New Roman" panose="02020603050405020304" pitchFamily="18" charset="0"/>
              </a:rPr>
              <a:t>成为了Internet的基础协议和实际</a:t>
            </a:r>
            <a:r>
              <a:rPr lang="zh-CN" altLang="en-US" sz="2200" b="1" noProof="1">
                <a:solidFill>
                  <a:srgbClr val="FF0000"/>
                </a:solidFill>
                <a:latin typeface="Times New Roman" panose="02020603050405020304" pitchFamily="18" charset="0"/>
                <a:cs typeface="Times New Roman" panose="02020603050405020304" pitchFamily="18" charset="0"/>
              </a:rPr>
              <a:t>应用的“网络标准”</a:t>
            </a:r>
            <a:r>
              <a:rPr lang="zh-CN" altLang="en-US" sz="2200" b="1" noProof="1">
                <a:solidFill>
                  <a:schemeClr val="tx1"/>
                </a:solidFill>
                <a:latin typeface="Times New Roman" panose="02020603050405020304" pitchFamily="18" charset="0"/>
                <a:cs typeface="Times New Roman" panose="02020603050405020304" pitchFamily="18" charset="0"/>
              </a:rPr>
              <a:t>。</a:t>
            </a:r>
          </a:p>
          <a:p>
            <a:pPr indent="457200" fontAlgn="auto">
              <a:spcBef>
                <a:spcPts val="0"/>
              </a:spcBef>
              <a:spcAft>
                <a:spcPts val="0"/>
              </a:spcAft>
              <a:defRPr/>
            </a:pPr>
            <a:r>
              <a:rPr lang="zh-CN" altLang="en-US" sz="2200" b="1" noProof="1">
                <a:solidFill>
                  <a:schemeClr val="tx1"/>
                </a:solidFill>
                <a:latin typeface="Times New Roman" panose="02020603050405020304" pitchFamily="18" charset="0"/>
                <a:cs typeface="Times New Roman" panose="02020603050405020304" pitchFamily="18" charset="0"/>
              </a:rPr>
              <a:t>TCP/IP模型与OSI参考模型不同，由低到高依次由网络接口层、网络层、传输层和应用层4部分组成</a:t>
            </a:r>
            <a:r>
              <a:rPr lang="en-US" altLang="zh-CN" sz="2200" b="1" noProof="1">
                <a:solidFill>
                  <a:schemeClr val="tx1"/>
                </a:solidFill>
                <a:latin typeface="Times New Roman" panose="02020603050405020304" pitchFamily="18" charset="0"/>
                <a:cs typeface="Times New Roman" panose="02020603050405020304" pitchFamily="18" charset="0"/>
              </a:rPr>
              <a:t>.</a:t>
            </a:r>
            <a:r>
              <a:rPr lang="zh-CN" altLang="en-US" sz="2200" b="1" noProof="1">
                <a:solidFill>
                  <a:schemeClr val="tx1"/>
                </a:solidFill>
                <a:latin typeface="Times New Roman" panose="02020603050405020304" pitchFamily="18" charset="0"/>
                <a:cs typeface="Times New Roman" panose="02020603050405020304" pitchFamily="18" charset="0"/>
              </a:rPr>
              <a:t>其4层体系对应OSI</a:t>
            </a:r>
            <a:r>
              <a:rPr lang="zh-CN" altLang="en-US" sz="2200" b="1" noProof="1">
                <a:solidFill>
                  <a:schemeClr val="tx1"/>
                </a:solidFill>
              </a:rPr>
              <a:t>参考模型的7层体系</a:t>
            </a:r>
            <a:r>
              <a:rPr lang="en-US" altLang="zh-CN" sz="2200" b="1" noProof="1">
                <a:solidFill>
                  <a:schemeClr val="tx1"/>
                </a:solidFill>
              </a:rPr>
              <a:t>,</a:t>
            </a:r>
            <a:r>
              <a:rPr lang="zh-CN" altLang="en-US" sz="2200" b="1" noProof="1">
                <a:solidFill>
                  <a:srgbClr val="FF0000"/>
                </a:solidFill>
              </a:rPr>
              <a:t>同常用的相关协议的对应关系</a:t>
            </a:r>
            <a:r>
              <a:rPr lang="zh-CN" altLang="en-US" sz="2200" b="1" noProof="1">
                <a:solidFill>
                  <a:schemeClr val="tx1"/>
                </a:solidFill>
              </a:rPr>
              <a:t>如图2-1</a:t>
            </a:r>
            <a:r>
              <a:rPr lang="en-US" altLang="zh-CN" sz="2200" b="1" noProof="1">
                <a:solidFill>
                  <a:schemeClr val="tx1"/>
                </a:solidFill>
              </a:rPr>
              <a:t>.</a:t>
            </a:r>
            <a:endParaRPr lang="zh-CN" altLang="en-US" sz="2200" b="1" noProof="1">
              <a:solidFill>
                <a:schemeClr val="tx1"/>
              </a:solidFill>
            </a:endParaRPr>
          </a:p>
        </p:txBody>
      </p:sp>
      <p:sp>
        <p:nvSpPr>
          <p:cNvPr id="21506" name="内容占位符 13"/>
          <p:cNvSpPr>
            <a:spLocks noChangeArrowheads="1"/>
          </p:cNvSpPr>
          <p:nvPr/>
        </p:nvSpPr>
        <p:spPr bwMode="auto">
          <a:xfrm>
            <a:off x="468313" y="1114425"/>
            <a:ext cx="4373562" cy="514350"/>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None/>
            </a:pPr>
            <a:r>
              <a:rPr lang="zh-CN" altLang="en-US" sz="2400" b="1">
                <a:solidFill>
                  <a:srgbClr val="FF0000"/>
                </a:solidFill>
                <a:latin typeface="Times New Roman" panose="02020603050405020304" pitchFamily="18" charset="0"/>
              </a:rPr>
              <a:t> </a:t>
            </a:r>
            <a:r>
              <a:rPr lang="en-US" altLang="zh-CN" sz="2600" b="1">
                <a:solidFill>
                  <a:srgbClr val="FF0000"/>
                </a:solidFill>
                <a:latin typeface="宋体" panose="02010600030101010101" pitchFamily="2" charset="-122"/>
              </a:rPr>
              <a:t>2.1.1 </a:t>
            </a:r>
            <a:r>
              <a:rPr lang="zh-CN" altLang="en-US" sz="2600" b="1">
                <a:solidFill>
                  <a:srgbClr val="FF0000"/>
                </a:solidFill>
                <a:latin typeface="宋体" panose="02010600030101010101" pitchFamily="2" charset="-122"/>
              </a:rPr>
              <a:t>网络协议的安全风险</a:t>
            </a:r>
          </a:p>
        </p:txBody>
      </p:sp>
      <p:sp>
        <p:nvSpPr>
          <p:cNvPr id="21507" name="Rectangle 2"/>
          <p:cNvSpPr txBox="1">
            <a:spLocks noChangeArrowheads="1"/>
          </p:cNvSpPr>
          <p:nvPr/>
        </p:nvSpPr>
        <p:spPr bwMode="auto">
          <a:xfrm>
            <a:off x="468313" y="242888"/>
            <a:ext cx="7161212" cy="563562"/>
          </a:xfrm>
          <a:prstGeom prst="rect">
            <a:avLst/>
          </a:prstGeom>
          <a:noFill/>
          <a:ln w="9525">
            <a:noFill/>
            <a:miter lim="800000"/>
          </a:ln>
        </p:spPr>
        <p:txBody>
          <a:bodyPr anchor="ctr"/>
          <a:lstStyle/>
          <a:p>
            <a:pPr algn="ctr"/>
            <a:r>
              <a:rPr lang="zh-CN" altLang="zh-CN" sz="3200" b="1">
                <a:solidFill>
                  <a:schemeClr val="bg1"/>
                </a:solidFill>
                <a:latin typeface="黑体" panose="02010609060101010101" pitchFamily="49" charset="-122"/>
                <a:ea typeface="黑体" panose="02010609060101010101" pitchFamily="49" charset="-122"/>
              </a:rPr>
              <a:t>2.1 网络协议安全概述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内容占位符 -2147482613"/>
          <p:cNvPicPr>
            <a:picLocks noGrp="1" noChangeAspect="1" noChangeArrowheads="1"/>
          </p:cNvPicPr>
          <p:nvPr>
            <p:ph idx="1"/>
          </p:nvPr>
        </p:nvPicPr>
        <p:blipFill>
          <a:blip r:embed="rId2" cstate="print"/>
          <a:srcRect/>
          <a:stretch>
            <a:fillRect/>
          </a:stretch>
        </p:blipFill>
        <p:spPr>
          <a:xfrm>
            <a:off x="1331913" y="1566863"/>
            <a:ext cx="6169025" cy="2941637"/>
          </a:xfrm>
        </p:spPr>
      </p:pic>
      <p:sp>
        <p:nvSpPr>
          <p:cNvPr id="22530" name="文本框 99"/>
          <p:cNvSpPr txBox="1">
            <a:spLocks noChangeArrowheads="1"/>
          </p:cNvSpPr>
          <p:nvPr/>
        </p:nvSpPr>
        <p:spPr bwMode="auto">
          <a:xfrm>
            <a:off x="1979613" y="4437063"/>
            <a:ext cx="5080000" cy="336550"/>
          </a:xfrm>
          <a:prstGeom prst="rect">
            <a:avLst/>
          </a:prstGeom>
          <a:noFill/>
          <a:ln w="9525">
            <a:noFill/>
            <a:miter lim="800000"/>
          </a:ln>
        </p:spPr>
        <p:txBody>
          <a:bodyPr>
            <a:spAutoFit/>
          </a:bodyPr>
          <a:lstStyle/>
          <a:p>
            <a:pPr algn="ctr"/>
            <a:r>
              <a:rPr lang="zh-CN" altLang="en-US" sz="1600">
                <a:solidFill>
                  <a:srgbClr val="FF0000"/>
                </a:solidFill>
                <a:latin typeface="宋体" panose="02010600030101010101" pitchFamily="2" charset="-122"/>
              </a:rPr>
              <a:t>图</a:t>
            </a:r>
            <a:r>
              <a:rPr lang="en-US" altLang="zh-CN" sz="1600">
                <a:solidFill>
                  <a:srgbClr val="FF0000"/>
                </a:solidFill>
                <a:latin typeface="宋体" panose="02010600030101010101" pitchFamily="2" charset="-122"/>
              </a:rPr>
              <a:t>2-1 </a:t>
            </a:r>
            <a:r>
              <a:rPr lang="en-US" altLang="zh-CN" sz="1600">
                <a:solidFill>
                  <a:srgbClr val="FF0000"/>
                </a:solidFill>
                <a:latin typeface="Times New Roman" panose="02020603050405020304" pitchFamily="18" charset="0"/>
              </a:rPr>
              <a:t>OSI</a:t>
            </a:r>
            <a:r>
              <a:rPr lang="zh-CN" altLang="en-US" sz="1600">
                <a:solidFill>
                  <a:srgbClr val="FF0000"/>
                </a:solidFill>
                <a:latin typeface="宋体" panose="02010600030101010101" pitchFamily="2" charset="-122"/>
              </a:rPr>
              <a:t>模型和</a:t>
            </a:r>
            <a:r>
              <a:rPr lang="en-US" altLang="zh-CN" sz="1600">
                <a:solidFill>
                  <a:srgbClr val="FF0000"/>
                </a:solidFill>
                <a:latin typeface="宋体" panose="02010600030101010101" pitchFamily="2" charset="-122"/>
              </a:rPr>
              <a:t>TCP/IP</a:t>
            </a:r>
            <a:r>
              <a:rPr lang="zh-CN" altLang="en-US" sz="1600">
                <a:solidFill>
                  <a:srgbClr val="FF0000"/>
                </a:solidFill>
                <a:latin typeface="宋体" panose="02010600030101010101" pitchFamily="2" charset="-122"/>
              </a:rPr>
              <a:t>模型及协议对应关系</a:t>
            </a:r>
          </a:p>
        </p:txBody>
      </p:sp>
      <p:sp>
        <p:nvSpPr>
          <p:cNvPr id="22531" name="内容占位符 13"/>
          <p:cNvSpPr>
            <a:spLocks noGrp="1" noChangeArrowheads="1"/>
          </p:cNvSpPr>
          <p:nvPr/>
        </p:nvSpPr>
        <p:spPr bwMode="auto">
          <a:xfrm>
            <a:off x="395288" y="1052513"/>
            <a:ext cx="8040687" cy="514350"/>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None/>
            </a:pPr>
            <a:r>
              <a:rPr lang="zh-CN" altLang="en-US" sz="2400" b="1">
                <a:solidFill>
                  <a:srgbClr val="FF0000"/>
                </a:solidFill>
                <a:latin typeface="Times New Roman" panose="02020603050405020304" pitchFamily="18" charset="0"/>
              </a:rPr>
              <a:t> </a:t>
            </a:r>
            <a:r>
              <a:rPr lang="en-US" altLang="zh-CN" sz="2600" b="1">
                <a:solidFill>
                  <a:srgbClr val="FF0000"/>
                </a:solidFill>
                <a:latin typeface="宋体" panose="02010600030101010101" pitchFamily="2" charset="-122"/>
              </a:rPr>
              <a:t>2.1.1 </a:t>
            </a:r>
            <a:r>
              <a:rPr lang="zh-CN" altLang="en-US" sz="2600" b="1">
                <a:solidFill>
                  <a:srgbClr val="FF0000"/>
                </a:solidFill>
              </a:rPr>
              <a:t>网络协议的安全风险</a:t>
            </a:r>
            <a:endParaRPr lang="en-US" altLang="zh-CN" sz="2600" b="1">
              <a:solidFill>
                <a:srgbClr val="FF0000"/>
              </a:solidFill>
              <a:latin typeface="宋体" panose="02010600030101010101" pitchFamily="2" charset="-122"/>
            </a:endParaRPr>
          </a:p>
        </p:txBody>
      </p:sp>
      <p:sp>
        <p:nvSpPr>
          <p:cNvPr id="7" name=" 167"/>
          <p:cNvSpPr/>
          <p:nvPr/>
        </p:nvSpPr>
        <p:spPr>
          <a:xfrm>
            <a:off x="395531" y="4725144"/>
            <a:ext cx="8449181" cy="194441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defRPr/>
            </a:pPr>
            <a:r>
              <a:rPr lang="zh-CN" altLang="en-US" sz="2300" b="1" dirty="0"/>
              <a:t>各种网络依靠其协议实现互连结点之间的通信与数据交换，</a:t>
            </a:r>
            <a:r>
              <a:rPr lang="zh-CN" altLang="en-US" sz="2300" b="1" dirty="0">
                <a:solidFill>
                  <a:srgbClr val="C00000"/>
                </a:solidFill>
              </a:rPr>
              <a:t>网络协议</a:t>
            </a:r>
            <a:r>
              <a:rPr lang="zh-CN" altLang="en-US" sz="2300" b="1" dirty="0"/>
              <a:t>是网络实现</a:t>
            </a:r>
            <a:r>
              <a:rPr lang="zh-CN" altLang="en-US" sz="2300" b="1" dirty="0">
                <a:solidFill>
                  <a:srgbClr val="0000FF"/>
                </a:solidFill>
                <a:effectLst>
                  <a:outerShdw blurRad="38100" dist="38100" dir="2700000" algn="tl">
                    <a:srgbClr val="000000">
                      <a:alpha val="43137"/>
                    </a:srgbClr>
                  </a:outerShdw>
                </a:effectLst>
              </a:rPr>
              <a:t>连接</a:t>
            </a:r>
            <a:r>
              <a:rPr lang="zh-CN" altLang="en-US" sz="2300" b="1" dirty="0"/>
              <a:t>与</a:t>
            </a:r>
            <a:r>
              <a:rPr lang="zh-CN" altLang="en-US" sz="2300" b="1" dirty="0">
                <a:solidFill>
                  <a:srgbClr val="0000FF"/>
                </a:solidFill>
                <a:effectLst>
                  <a:outerShdw blurRad="38100" dist="38100" dir="2700000" algn="tl">
                    <a:srgbClr val="000000">
                      <a:alpha val="43137"/>
                    </a:srgbClr>
                  </a:outerShdw>
                </a:effectLst>
              </a:rPr>
              <a:t>交互</a:t>
            </a:r>
            <a:r>
              <a:rPr lang="zh-CN" altLang="en-US" sz="2300" b="1" dirty="0">
                <a:solidFill>
                  <a:srgbClr val="C00000"/>
                </a:solidFill>
              </a:rPr>
              <a:t>极为重要的组成部分</a:t>
            </a:r>
            <a:r>
              <a:rPr lang="zh-CN" altLang="en-US" sz="2300" b="1" dirty="0"/>
              <a:t>，在</a:t>
            </a:r>
            <a:r>
              <a:rPr lang="zh-CN" altLang="en-US" sz="2300" b="1" dirty="0">
                <a:solidFill>
                  <a:srgbClr val="990033"/>
                </a:solidFill>
              </a:rPr>
              <a:t>设计之初</a:t>
            </a:r>
            <a:r>
              <a:rPr lang="zh-CN" altLang="en-US" sz="2300" b="1" dirty="0"/>
              <a:t>只注重异构网互联，忽略安全性问题，网络各层协议是一个</a:t>
            </a:r>
            <a:r>
              <a:rPr lang="zh-CN" altLang="en-US" sz="2300" b="1" dirty="0">
                <a:solidFill>
                  <a:srgbClr val="990033"/>
                </a:solidFill>
              </a:rPr>
              <a:t>开放体系</a:t>
            </a:r>
            <a:r>
              <a:rPr lang="zh-CN" altLang="en-US" sz="2300" b="1" dirty="0"/>
              <a:t>，具有计算机网络及其部件所能够完成的基本功能，这种</a:t>
            </a:r>
            <a:r>
              <a:rPr lang="zh-CN" altLang="en-US" sz="2300" b="1" dirty="0">
                <a:solidFill>
                  <a:srgbClr val="990033"/>
                </a:solidFill>
              </a:rPr>
              <a:t>开放性及缺陷</a:t>
            </a:r>
            <a:r>
              <a:rPr lang="zh-CN" altLang="en-US" sz="2300" b="1" dirty="0"/>
              <a:t>将网络系统处于安全风险和隐患的环境。</a:t>
            </a:r>
          </a:p>
        </p:txBody>
      </p:sp>
      <p:sp>
        <p:nvSpPr>
          <p:cNvPr id="22533" name="Rectangle 2"/>
          <p:cNvSpPr txBox="1">
            <a:spLocks noChangeArrowheads="1"/>
          </p:cNvSpPr>
          <p:nvPr/>
        </p:nvSpPr>
        <p:spPr bwMode="auto">
          <a:xfrm>
            <a:off x="468313" y="242888"/>
            <a:ext cx="7161212" cy="563562"/>
          </a:xfrm>
          <a:prstGeom prst="rect">
            <a:avLst/>
          </a:prstGeom>
          <a:noFill/>
          <a:ln w="9525">
            <a:noFill/>
            <a:miter lim="800000"/>
          </a:ln>
        </p:spPr>
        <p:txBody>
          <a:bodyPr anchor="ctr"/>
          <a:lstStyle/>
          <a:p>
            <a:pPr algn="ctr"/>
            <a:r>
              <a:rPr lang="zh-CN" altLang="zh-CN" sz="3200" b="1">
                <a:solidFill>
                  <a:schemeClr val="bg1"/>
                </a:solidFill>
                <a:latin typeface="黑体" panose="02010609060101010101" pitchFamily="49" charset="-122"/>
                <a:ea typeface="黑体" panose="02010609060101010101" pitchFamily="49" charset="-122"/>
              </a:rPr>
              <a:t>2.1 网络协议安全概述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 167"/>
          <p:cNvSpPr/>
          <p:nvPr/>
        </p:nvSpPr>
        <p:spPr>
          <a:xfrm>
            <a:off x="620394" y="1773554"/>
            <a:ext cx="8065135" cy="291719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271780">
              <a:defRPr/>
            </a:pPr>
            <a:r>
              <a:rPr lang="zh-CN" altLang="en-US" sz="2400" b="1" dirty="0">
                <a:solidFill>
                  <a:srgbClr val="FF0000"/>
                </a:solidFill>
              </a:rPr>
              <a:t>网络协议的安全风险</a:t>
            </a:r>
            <a:r>
              <a:rPr lang="zh-CN" altLang="en-US" sz="2400" b="1" dirty="0"/>
              <a:t>可归结为</a:t>
            </a:r>
            <a:r>
              <a:rPr lang="en-US" altLang="zh-CN" sz="2400" b="1" dirty="0">
                <a:latin typeface="Times New Roman" panose="02020603050405020304" pitchFamily="18" charset="0"/>
                <a:cs typeface="Times New Roman" panose="02020603050405020304" pitchFamily="18" charset="0"/>
              </a:rPr>
              <a:t>3</a:t>
            </a:r>
            <a:r>
              <a:rPr lang="zh-CN" altLang="en-US" sz="2400" b="1" dirty="0"/>
              <a:t>个方面：</a:t>
            </a:r>
          </a:p>
          <a:p>
            <a:pPr indent="271780">
              <a:defRPr/>
            </a:pPr>
            <a:r>
              <a:rPr lang="en-US" altLang="zh-CN" sz="2000" b="1" dirty="0">
                <a:latin typeface="Times New Roman" panose="02020603050405020304" pitchFamily="18" charset="0"/>
                <a:cs typeface="Times New Roman" panose="02020603050405020304" pitchFamily="18" charset="0"/>
              </a:rPr>
              <a:t>1</a:t>
            </a:r>
            <a:r>
              <a:rPr lang="zh-CN" altLang="en-US" sz="2400" b="1" dirty="0"/>
              <a:t>）网络协议（软件）自身的</a:t>
            </a:r>
            <a:r>
              <a:rPr lang="zh-CN" altLang="en-US" sz="2400" b="1" dirty="0">
                <a:solidFill>
                  <a:srgbClr val="C00000"/>
                </a:solidFill>
              </a:rPr>
              <a:t>设计</a:t>
            </a:r>
            <a:r>
              <a:rPr lang="zh-CN" altLang="en-US" sz="2400" b="1" dirty="0">
                <a:solidFill>
                  <a:srgbClr val="990033"/>
                </a:solidFill>
              </a:rPr>
              <a:t>缺陷</a:t>
            </a:r>
            <a:r>
              <a:rPr lang="zh-CN" altLang="en-US" sz="2400" b="1" dirty="0"/>
              <a:t>和</a:t>
            </a:r>
            <a:r>
              <a:rPr lang="zh-CN" altLang="en-US" sz="2400" b="1" dirty="0">
                <a:solidFill>
                  <a:srgbClr val="C00000"/>
                </a:solidFill>
              </a:rPr>
              <a:t>实现</a:t>
            </a:r>
            <a:r>
              <a:rPr lang="zh-CN" altLang="en-US" sz="2400" b="1" dirty="0"/>
              <a:t>中存在的一些安全</a:t>
            </a:r>
            <a:r>
              <a:rPr lang="zh-CN" altLang="en-US" sz="2400" b="1" dirty="0">
                <a:solidFill>
                  <a:srgbClr val="990033"/>
                </a:solidFill>
              </a:rPr>
              <a:t>漏洞</a:t>
            </a:r>
            <a:r>
              <a:rPr lang="zh-CN" altLang="en-US" sz="2400" b="1" dirty="0"/>
              <a:t>，容易受到被不法者侵入和攻击。如碎片攻击、</a:t>
            </a:r>
            <a:r>
              <a:rPr lang="en-US" altLang="zh-CN" sz="2400" b="1" dirty="0"/>
              <a:t>Land</a:t>
            </a:r>
            <a:r>
              <a:rPr lang="zh-CN" altLang="en-US" sz="2400" b="1" dirty="0"/>
              <a:t>攻击</a:t>
            </a:r>
          </a:p>
          <a:p>
            <a:pPr indent="271780">
              <a:defRPr/>
            </a:pPr>
            <a:r>
              <a:rPr lang="en-US" altLang="zh-CN" sz="2000" b="1" dirty="0">
                <a:latin typeface="Times New Roman" panose="02020603050405020304" pitchFamily="18" charset="0"/>
                <a:cs typeface="Times New Roman" panose="02020603050405020304" pitchFamily="18" charset="0"/>
              </a:rPr>
              <a:t>2</a:t>
            </a:r>
            <a:r>
              <a:rPr lang="zh-CN" altLang="en-US" sz="2400" b="1" dirty="0"/>
              <a:t>）网络协议</a:t>
            </a:r>
            <a:r>
              <a:rPr lang="zh-CN" altLang="en-US" sz="2400" b="1" dirty="0">
                <a:solidFill>
                  <a:srgbClr val="990033"/>
                </a:solidFill>
              </a:rPr>
              <a:t>无有效认证</a:t>
            </a:r>
            <a:r>
              <a:rPr lang="zh-CN" altLang="en-US" sz="2400" b="1" dirty="0"/>
              <a:t>机制和</a:t>
            </a:r>
            <a:r>
              <a:rPr lang="zh-CN" altLang="en-US" sz="2400" b="1" dirty="0">
                <a:solidFill>
                  <a:srgbClr val="990033"/>
                </a:solidFill>
              </a:rPr>
              <a:t>验证</a:t>
            </a:r>
            <a:r>
              <a:rPr lang="zh-CN" altLang="en-US" sz="2400" b="1" dirty="0"/>
              <a:t>通信双方真实性的功能。</a:t>
            </a:r>
          </a:p>
          <a:p>
            <a:pPr indent="271780">
              <a:defRPr/>
            </a:pPr>
            <a:r>
              <a:rPr lang="en-US" altLang="zh-CN" sz="2000" b="1" dirty="0">
                <a:latin typeface="Times New Roman" panose="02020603050405020304" pitchFamily="18" charset="0"/>
                <a:cs typeface="Times New Roman" panose="02020603050405020304" pitchFamily="18" charset="0"/>
              </a:rPr>
              <a:t>3</a:t>
            </a:r>
            <a:r>
              <a:rPr lang="zh-CN" altLang="en-US" sz="2000" b="1" dirty="0"/>
              <a:t>）</a:t>
            </a:r>
            <a:r>
              <a:rPr lang="zh-CN" altLang="en-US" sz="2400" b="1" dirty="0"/>
              <a:t>网络协议</a:t>
            </a:r>
            <a:r>
              <a:rPr lang="zh-CN" altLang="en-US" sz="2400" b="1" dirty="0">
                <a:solidFill>
                  <a:srgbClr val="C00000"/>
                </a:solidFill>
              </a:rPr>
              <a:t>缺乏保密机制</a:t>
            </a:r>
            <a:r>
              <a:rPr lang="zh-CN" altLang="en-US" sz="2400" b="1" dirty="0"/>
              <a:t>，</a:t>
            </a:r>
            <a:r>
              <a:rPr lang="zh-CN" altLang="en-US" sz="2400" b="1" dirty="0">
                <a:solidFill>
                  <a:srgbClr val="990033"/>
                </a:solidFill>
              </a:rPr>
              <a:t>没有保护</a:t>
            </a:r>
            <a:r>
              <a:rPr lang="zh-CN" altLang="en-US" sz="2400" b="1" dirty="0"/>
              <a:t>网上数据机密性的功能。</a:t>
            </a:r>
          </a:p>
        </p:txBody>
      </p:sp>
      <p:pic>
        <p:nvPicPr>
          <p:cNvPr id="23554" name="Picture 24" descr="C:\Program Files\Microsoft Office\MEDIA\CAGCAT10\j0300520.gif"/>
          <p:cNvPicPr>
            <a:picLocks noChangeAspect="1" noChangeArrowheads="1"/>
          </p:cNvPicPr>
          <p:nvPr/>
        </p:nvPicPr>
        <p:blipFill>
          <a:blip r:embed="rId2" cstate="print"/>
          <a:srcRect/>
          <a:stretch>
            <a:fillRect/>
          </a:stretch>
        </p:blipFill>
        <p:spPr bwMode="auto">
          <a:xfrm>
            <a:off x="5435600" y="4822825"/>
            <a:ext cx="1171575" cy="1008063"/>
          </a:xfrm>
          <a:prstGeom prst="rect">
            <a:avLst/>
          </a:prstGeom>
          <a:noFill/>
          <a:ln w="9525">
            <a:noFill/>
            <a:miter lim="800000"/>
            <a:headEnd/>
            <a:tailEnd/>
          </a:ln>
        </p:spPr>
      </p:pic>
      <p:sp>
        <p:nvSpPr>
          <p:cNvPr id="23555" name="内容占位符 13"/>
          <p:cNvSpPr>
            <a:spLocks noChangeArrowheads="1"/>
          </p:cNvSpPr>
          <p:nvPr/>
        </p:nvSpPr>
        <p:spPr bwMode="auto">
          <a:xfrm>
            <a:off x="547688" y="1185863"/>
            <a:ext cx="4373562" cy="514350"/>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None/>
            </a:pPr>
            <a:r>
              <a:rPr lang="zh-CN" altLang="en-US" sz="2400" b="1">
                <a:solidFill>
                  <a:srgbClr val="FF0000"/>
                </a:solidFill>
                <a:latin typeface="Times New Roman" panose="02020603050405020304" pitchFamily="18" charset="0"/>
              </a:rPr>
              <a:t> </a:t>
            </a:r>
            <a:r>
              <a:rPr lang="en-US" altLang="zh-CN" sz="2600" b="1">
                <a:solidFill>
                  <a:srgbClr val="FF0000"/>
                </a:solidFill>
                <a:latin typeface="宋体" panose="02010600030101010101" pitchFamily="2" charset="-122"/>
              </a:rPr>
              <a:t>2.1.1 </a:t>
            </a:r>
            <a:r>
              <a:rPr lang="zh-CN" altLang="en-US" sz="2600" b="1">
                <a:solidFill>
                  <a:srgbClr val="FF0000"/>
                </a:solidFill>
                <a:latin typeface="宋体" panose="02010600030101010101" pitchFamily="2" charset="-122"/>
              </a:rPr>
              <a:t>网络协议的安全风险</a:t>
            </a:r>
          </a:p>
        </p:txBody>
      </p:sp>
      <p:sp>
        <p:nvSpPr>
          <p:cNvPr id="23556" name="Rectangle 2"/>
          <p:cNvSpPr txBox="1">
            <a:spLocks noChangeArrowheads="1"/>
          </p:cNvSpPr>
          <p:nvPr/>
        </p:nvSpPr>
        <p:spPr bwMode="auto">
          <a:xfrm>
            <a:off x="468313" y="242888"/>
            <a:ext cx="7161212" cy="563562"/>
          </a:xfrm>
          <a:prstGeom prst="rect">
            <a:avLst/>
          </a:prstGeom>
          <a:noFill/>
          <a:ln w="9525">
            <a:noFill/>
            <a:miter lim="800000"/>
          </a:ln>
        </p:spPr>
        <p:txBody>
          <a:bodyPr anchor="ctr"/>
          <a:lstStyle/>
          <a:p>
            <a:pPr algn="ctr"/>
            <a:r>
              <a:rPr lang="zh-CN" altLang="zh-CN" sz="3200" b="1">
                <a:solidFill>
                  <a:schemeClr val="bg1"/>
                </a:solidFill>
                <a:latin typeface="黑体" panose="02010609060101010101" pitchFamily="49" charset="-122"/>
                <a:ea typeface="黑体" panose="02010609060101010101" pitchFamily="49" charset="-122"/>
              </a:rPr>
              <a:t>2.1 网络协议安全概述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内容占位符 13"/>
          <p:cNvSpPr>
            <a:spLocks noGrp="1" noChangeArrowheads="1"/>
          </p:cNvSpPr>
          <p:nvPr>
            <p:ph idx="4294967295"/>
          </p:nvPr>
        </p:nvSpPr>
        <p:spPr>
          <a:xfrm>
            <a:off x="419100" y="1185863"/>
            <a:ext cx="8040688" cy="371475"/>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24578" name="内容占位符 13"/>
          <p:cNvSpPr>
            <a:spLocks noChangeArrowheads="1"/>
          </p:cNvSpPr>
          <p:nvPr/>
        </p:nvSpPr>
        <p:spPr bwMode="auto">
          <a:xfrm>
            <a:off x="395288" y="1196975"/>
            <a:ext cx="8153400" cy="1655763"/>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24579" name="内容占位符 13"/>
          <p:cNvSpPr>
            <a:spLocks noChangeArrowheads="1"/>
          </p:cNvSpPr>
          <p:nvPr/>
        </p:nvSpPr>
        <p:spPr bwMode="auto">
          <a:xfrm>
            <a:off x="539750" y="1773238"/>
            <a:ext cx="8153400" cy="1150937"/>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en-US" altLang="zh-CN" b="1">
                <a:solidFill>
                  <a:srgbClr val="0000CC"/>
                </a:solidFill>
                <a:latin typeface="Times New Roman" panose="02020603050405020304" pitchFamily="18" charset="0"/>
              </a:rPr>
              <a:t> </a:t>
            </a: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pic>
        <p:nvPicPr>
          <p:cNvPr id="24580" name="Picture 7"/>
          <p:cNvPicPr>
            <a:picLocks noChangeAspect="1" noChangeArrowheads="1"/>
          </p:cNvPicPr>
          <p:nvPr/>
        </p:nvPicPr>
        <p:blipFill>
          <a:blip r:embed="rId2" cstate="print">
            <a:lum bright="-12000" contrast="12000"/>
          </a:blip>
          <a:srcRect/>
          <a:stretch>
            <a:fillRect/>
          </a:stretch>
        </p:blipFill>
        <p:spPr bwMode="auto">
          <a:xfrm>
            <a:off x="1689100" y="2924175"/>
            <a:ext cx="6299200" cy="3667125"/>
          </a:xfrm>
          <a:prstGeom prst="rect">
            <a:avLst/>
          </a:prstGeom>
          <a:noFill/>
          <a:ln w="9525">
            <a:noFill/>
            <a:miter lim="800000"/>
            <a:headEnd/>
            <a:tailEnd/>
          </a:ln>
        </p:spPr>
      </p:pic>
      <p:sp>
        <p:nvSpPr>
          <p:cNvPr id="24581" name="Rectangle 8"/>
          <p:cNvSpPr>
            <a:spLocks noChangeArrowheads="1"/>
          </p:cNvSpPr>
          <p:nvPr/>
        </p:nvSpPr>
        <p:spPr bwMode="auto">
          <a:xfrm>
            <a:off x="2674938" y="6510338"/>
            <a:ext cx="3892550" cy="369887"/>
          </a:xfrm>
          <a:prstGeom prst="rect">
            <a:avLst/>
          </a:prstGeom>
          <a:noFill/>
          <a:ln w="9525">
            <a:noFill/>
            <a:miter lim="800000"/>
          </a:ln>
        </p:spPr>
        <p:txBody>
          <a:bodyPr anchor="ctr">
            <a:spAutoFit/>
          </a:bodyPr>
          <a:lstStyle/>
          <a:p>
            <a:r>
              <a:rPr lang="zh-CN" altLang="en-US">
                <a:solidFill>
                  <a:srgbClr val="FF0000"/>
                </a:solidFill>
              </a:rPr>
              <a:t>图</a:t>
            </a:r>
            <a:r>
              <a:rPr lang="en-US" altLang="zh-CN">
                <a:solidFill>
                  <a:srgbClr val="FF0000"/>
                </a:solidFill>
              </a:rPr>
              <a:t>2-2 TCP/IP</a:t>
            </a:r>
            <a:r>
              <a:rPr lang="zh-CN" altLang="en-US">
                <a:solidFill>
                  <a:srgbClr val="FF0000"/>
                </a:solidFill>
              </a:rPr>
              <a:t>网络安全技术层次体系 </a:t>
            </a:r>
          </a:p>
        </p:txBody>
      </p:sp>
      <p:sp>
        <p:nvSpPr>
          <p:cNvPr id="19" name="圆角矩形 18"/>
          <p:cNvSpPr/>
          <p:nvPr/>
        </p:nvSpPr>
        <p:spPr bwMode="gray">
          <a:xfrm>
            <a:off x="755650" y="1443038"/>
            <a:ext cx="8018463" cy="14097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5000"/>
              </a:spcBef>
              <a:spcAft>
                <a:spcPct val="25000"/>
              </a:spcAft>
              <a:buFontTx/>
              <a:buNone/>
              <a:defRPr/>
            </a:pPr>
            <a:r>
              <a:rPr lang="zh-CN" altLang="en-US" b="1" dirty="0">
                <a:solidFill>
                  <a:schemeClr val="tx2"/>
                </a:solidFill>
                <a:latin typeface="Arial" panose="020B0604020202020204" pitchFamily="34" charset="0"/>
              </a:rPr>
              <a:t>     </a:t>
            </a:r>
            <a:r>
              <a:rPr b="1" dirty="0">
                <a:solidFill>
                  <a:srgbClr val="C00000"/>
                </a:solidFill>
                <a:latin typeface="Arial" panose="020B0604020202020204" pitchFamily="34" charset="0"/>
              </a:rPr>
              <a:t>TCP/IP的安全性</a:t>
            </a:r>
            <a:r>
              <a:rPr b="1" dirty="0">
                <a:latin typeface="Arial" panose="020B0604020202020204" pitchFamily="34" charset="0"/>
              </a:rPr>
              <a:t>可分为多层</a:t>
            </a:r>
            <a:r>
              <a:rPr lang="en-US" b="1" dirty="0">
                <a:latin typeface="Arial" panose="020B0604020202020204" pitchFamily="34" charset="0"/>
              </a:rPr>
              <a:t>,</a:t>
            </a:r>
            <a:r>
              <a:rPr lang="zh-CN" altLang="en-US" b="1" dirty="0">
                <a:latin typeface="Arial" panose="020B0604020202020204" pitchFamily="34" charset="0"/>
              </a:rPr>
              <a:t>可通过多层保护的方式进行实现，</a:t>
            </a:r>
            <a:r>
              <a:rPr b="1" dirty="0">
                <a:latin typeface="Arial" panose="020B0604020202020204" pitchFamily="34" charset="0"/>
              </a:rPr>
              <a:t>在不同层次</a:t>
            </a:r>
            <a:r>
              <a:rPr b="1" dirty="0">
                <a:solidFill>
                  <a:srgbClr val="990033"/>
                </a:solidFill>
                <a:latin typeface="Arial" panose="020B0604020202020204" pitchFamily="34" charset="0"/>
              </a:rPr>
              <a:t>增加不同安全策略</a:t>
            </a:r>
            <a:r>
              <a:rPr b="1" dirty="0">
                <a:latin typeface="Arial" panose="020B0604020202020204" pitchFamily="34" charset="0"/>
              </a:rPr>
              <a:t>和</a:t>
            </a:r>
            <a:r>
              <a:rPr lang="zh-CN" altLang="en-US" b="1" dirty="0">
                <a:solidFill>
                  <a:srgbClr val="990033"/>
                </a:solidFill>
                <a:latin typeface="Arial" panose="020B0604020202020204" pitchFamily="34" charset="0"/>
              </a:rPr>
              <a:t>措施</a:t>
            </a:r>
            <a:r>
              <a:rPr lang="en-US" b="1" dirty="0">
                <a:latin typeface="Arial" panose="020B0604020202020204" pitchFamily="34" charset="0"/>
              </a:rPr>
              <a:t>.</a:t>
            </a:r>
            <a:r>
              <a:rPr b="1" dirty="0">
                <a:latin typeface="Arial" panose="020B0604020202020204" pitchFamily="34" charset="0"/>
              </a:rPr>
              <a:t>如在</a:t>
            </a:r>
            <a:r>
              <a:rPr b="1" dirty="0">
                <a:solidFill>
                  <a:srgbClr val="C00000"/>
                </a:solidFill>
                <a:latin typeface="Arial" panose="020B0604020202020204" pitchFamily="34" charset="0"/>
              </a:rPr>
              <a:t>传输层</a:t>
            </a:r>
            <a:r>
              <a:rPr b="1" dirty="0">
                <a:latin typeface="Arial" panose="020B0604020202020204" pitchFamily="34" charset="0"/>
              </a:rPr>
              <a:t>提供安全套接层服务SSL</a:t>
            </a:r>
            <a:r>
              <a:rPr lang="zh-CN" altLang="en-US" b="1" dirty="0">
                <a:latin typeface="Arial" panose="020B0604020202020204" pitchFamily="34" charset="0"/>
              </a:rPr>
              <a:t>和</a:t>
            </a:r>
            <a:r>
              <a:rPr b="1" dirty="0">
                <a:latin typeface="Arial" panose="020B0604020202020204" pitchFamily="34" charset="0"/>
              </a:rPr>
              <a:t>其继任者传输层安全TLS</a:t>
            </a:r>
            <a:r>
              <a:rPr lang="en-US" b="1" dirty="0">
                <a:latin typeface="Arial" panose="020B0604020202020204" pitchFamily="34" charset="0"/>
              </a:rPr>
              <a:t>,</a:t>
            </a:r>
            <a:r>
              <a:rPr b="1" dirty="0">
                <a:latin typeface="Arial" panose="020B0604020202020204" pitchFamily="34" charset="0"/>
              </a:rPr>
              <a:t>是为网络通信提供安全及数据完整性的一种安全协议</a:t>
            </a:r>
            <a:r>
              <a:rPr lang="en-US" altLang="zh-CN" b="1" dirty="0">
                <a:latin typeface="Arial" panose="020B0604020202020204" pitchFamily="34" charset="0"/>
              </a:rPr>
              <a:t>,</a:t>
            </a:r>
            <a:r>
              <a:rPr b="1" dirty="0">
                <a:latin typeface="Arial" panose="020B0604020202020204" pitchFamily="34" charset="0"/>
              </a:rPr>
              <a:t>在</a:t>
            </a:r>
            <a:r>
              <a:rPr b="1" dirty="0">
                <a:solidFill>
                  <a:srgbClr val="C00000"/>
                </a:solidFill>
                <a:latin typeface="Arial" panose="020B0604020202020204" pitchFamily="34" charset="0"/>
              </a:rPr>
              <a:t>网络层</a:t>
            </a:r>
            <a:r>
              <a:rPr b="1" dirty="0">
                <a:latin typeface="Arial" panose="020B0604020202020204" pitchFamily="34" charset="0"/>
              </a:rPr>
              <a:t>提供虚拟专用网VPN技术等</a:t>
            </a:r>
            <a:r>
              <a:rPr lang="en-US" b="1" dirty="0">
                <a:latin typeface="Arial" panose="020B0604020202020204" pitchFamily="34" charset="0"/>
              </a:rPr>
              <a:t>.</a:t>
            </a:r>
            <a:r>
              <a:rPr b="1" dirty="0">
                <a:solidFill>
                  <a:srgbClr val="FF0000"/>
                </a:solidFill>
                <a:latin typeface="Arial" panose="020B0604020202020204" pitchFamily="34" charset="0"/>
              </a:rPr>
              <a:t>TCP/IP网络安全技术层次体系</a:t>
            </a:r>
            <a:r>
              <a:rPr b="1" dirty="0">
                <a:latin typeface="Arial" panose="020B0604020202020204" pitchFamily="34" charset="0"/>
              </a:rPr>
              <a:t>如图2-2</a:t>
            </a:r>
            <a:r>
              <a:rPr sz="1600" b="1" dirty="0">
                <a:latin typeface="Arial" panose="020B0604020202020204" pitchFamily="34" charset="0"/>
              </a:rPr>
              <a:t>。</a:t>
            </a:r>
          </a:p>
        </p:txBody>
      </p:sp>
      <p:sp>
        <p:nvSpPr>
          <p:cNvPr id="4" name="内容占位符 13"/>
          <p:cNvSpPr/>
          <p:nvPr/>
        </p:nvSpPr>
        <p:spPr bwMode="auto">
          <a:xfrm>
            <a:off x="755650" y="1022350"/>
            <a:ext cx="4105275" cy="476250"/>
          </a:xfrm>
          <a:prstGeom prst="rect">
            <a:avLst/>
          </a:prstGeom>
          <a:noFill/>
          <a:ln>
            <a:noFill/>
          </a:ln>
        </p:spPr>
        <p:txBody>
          <a:bodyPr/>
          <a:lstStyle/>
          <a:p>
            <a:pPr marL="342900" indent="-342900">
              <a:spcBef>
                <a:spcPct val="20000"/>
              </a:spcBef>
              <a:spcAft>
                <a:spcPts val="600"/>
              </a:spcAft>
              <a:buClr>
                <a:schemeClr val="hlink"/>
              </a:buClr>
              <a:buFont typeface="Wingdings" panose="05000000000000000000" pitchFamily="2" charset="2"/>
              <a:buNone/>
              <a:defRPr/>
            </a:pPr>
            <a:r>
              <a:rPr lang="en-US" altLang="zh-CN" sz="2600" b="1" dirty="0">
                <a:solidFill>
                  <a:srgbClr val="FF0000"/>
                </a:solidFill>
                <a:effectLst>
                  <a:outerShdw blurRad="38100" dist="38100" dir="2700000" algn="tl">
                    <a:srgbClr val="C0C0C0"/>
                  </a:outerShdw>
                </a:effectLst>
                <a:latin typeface="宋体" panose="02010600030101010101" pitchFamily="2" charset="-122"/>
              </a:rPr>
              <a:t>2.1.2 TCP/IP</a:t>
            </a:r>
            <a:r>
              <a:rPr lang="zh-CN" altLang="en-US" sz="2600" b="1" dirty="0">
                <a:solidFill>
                  <a:srgbClr val="FF0000"/>
                </a:solidFill>
                <a:effectLst>
                  <a:outerShdw blurRad="38100" dist="38100" dir="2700000" algn="tl">
                    <a:srgbClr val="C0C0C0"/>
                  </a:outerShdw>
                </a:effectLst>
                <a:latin typeface="宋体" panose="02010600030101010101" pitchFamily="2" charset="-122"/>
              </a:rPr>
              <a:t>层次安全性</a:t>
            </a:r>
            <a:endParaRPr lang="zh-CN" altLang="en-US" sz="2600" b="1" dirty="0">
              <a:solidFill>
                <a:srgbClr val="CC0000"/>
              </a:solidFill>
              <a:effectLst>
                <a:outerShdw blurRad="38100" dist="38100" dir="2700000" algn="tl">
                  <a:srgbClr val="C0C0C0"/>
                </a:outerShdw>
              </a:effectLst>
              <a:latin typeface="宋体" panose="02010600030101010101" pitchFamily="2" charset="-122"/>
            </a:endParaRPr>
          </a:p>
        </p:txBody>
      </p:sp>
      <p:sp>
        <p:nvSpPr>
          <p:cNvPr id="24584"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内容占位符 13"/>
          <p:cNvSpPr>
            <a:spLocks noGrp="1" noChangeArrowheads="1"/>
          </p:cNvSpPr>
          <p:nvPr>
            <p:ph idx="4294967295"/>
          </p:nvPr>
        </p:nvSpPr>
        <p:spPr>
          <a:xfrm>
            <a:off x="419100" y="1185863"/>
            <a:ext cx="8040688" cy="3322637"/>
          </a:xfrm>
        </p:spPr>
        <p:txBody>
          <a:bodyPr/>
          <a:lstStyle/>
          <a:p>
            <a:pPr>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25602" name="Rectangle 9"/>
          <p:cNvSpPr>
            <a:spLocks noChangeArrowheads="1"/>
          </p:cNvSpPr>
          <p:nvPr/>
        </p:nvSpPr>
        <p:spPr bwMode="auto">
          <a:xfrm>
            <a:off x="1187450" y="1252538"/>
            <a:ext cx="4608513" cy="460375"/>
          </a:xfrm>
          <a:prstGeom prst="rect">
            <a:avLst/>
          </a:prstGeom>
          <a:noFill/>
          <a:ln w="9525">
            <a:noFill/>
            <a:miter lim="800000"/>
          </a:ln>
        </p:spPr>
        <p:txBody>
          <a:bodyPr anchor="ctr">
            <a:spAutoFit/>
          </a:bodyPr>
          <a:lstStyle/>
          <a:p>
            <a:r>
              <a:rPr lang="en-US" altLang="zh-CN" sz="2400" b="1">
                <a:solidFill>
                  <a:srgbClr val="CC0000"/>
                </a:solidFill>
              </a:rPr>
              <a:t>1.</a:t>
            </a:r>
            <a:r>
              <a:rPr lang="zh-CN" altLang="en-US" sz="2400" b="1">
                <a:solidFill>
                  <a:srgbClr val="CC0000"/>
                </a:solidFill>
              </a:rPr>
              <a:t>TCP/IP物理层的安全性</a:t>
            </a:r>
            <a:r>
              <a:rPr lang="zh-CN" altLang="en-US">
                <a:solidFill>
                  <a:srgbClr val="CC0000"/>
                </a:solidFill>
              </a:rPr>
              <a:t> </a:t>
            </a:r>
          </a:p>
        </p:txBody>
      </p:sp>
      <p:sp>
        <p:nvSpPr>
          <p:cNvPr id="167" name=" 167"/>
          <p:cNvSpPr/>
          <p:nvPr/>
        </p:nvSpPr>
        <p:spPr>
          <a:xfrm>
            <a:off x="755576" y="1844824"/>
            <a:ext cx="7848600" cy="412496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p>
            <a:pPr indent="457200">
              <a:defRPr/>
            </a:pPr>
            <a:r>
              <a:rPr sz="2400" b="1" noProof="1">
                <a:ea typeface="仿宋_GB2312" panose="02010609030101010101" pitchFamily="49" charset="-122"/>
                <a:sym typeface="+mn-ea"/>
              </a:rPr>
              <a:t>TCP/IP模型的网络接口层对应着OSI模型的物理层和数据链路层。</a:t>
            </a:r>
            <a:r>
              <a:rPr sz="2400" b="1" noProof="1">
                <a:solidFill>
                  <a:srgbClr val="C00000"/>
                </a:solidFill>
                <a:ea typeface="仿宋_GB2312" panose="02010609030101010101" pitchFamily="49" charset="-122"/>
                <a:sym typeface="+mn-ea"/>
              </a:rPr>
              <a:t>物理层安全问题</a:t>
            </a:r>
            <a:r>
              <a:rPr sz="2400" b="1" noProof="1">
                <a:ea typeface="仿宋_GB2312" panose="02010609030101010101" pitchFamily="49" charset="-122"/>
                <a:sym typeface="+mn-ea"/>
              </a:rPr>
              <a:t>是指由网络环境及物理特性产生的网络设施和线路安全性，致使</a:t>
            </a:r>
            <a:r>
              <a:rPr sz="2400" b="1" noProof="1">
                <a:solidFill>
                  <a:srgbClr val="990033"/>
                </a:solidFill>
                <a:ea typeface="仿宋_GB2312" panose="02010609030101010101" pitchFamily="49" charset="-122"/>
                <a:sym typeface="+mn-ea"/>
              </a:rPr>
              <a:t>网络系统出现安全风险</a:t>
            </a:r>
            <a:r>
              <a:rPr sz="2400" b="1" noProof="1">
                <a:ea typeface="仿宋_GB2312" panose="02010609030101010101" pitchFamily="49" charset="-122"/>
                <a:sym typeface="+mn-ea"/>
              </a:rPr>
              <a:t>，如设备</a:t>
            </a:r>
            <a:r>
              <a:rPr lang="zh-CN" altLang="en-US" sz="2400" b="1" noProof="1">
                <a:ea typeface="仿宋_GB2312" panose="02010609030101010101" pitchFamily="49" charset="-122"/>
                <a:sym typeface="+mn-ea"/>
              </a:rPr>
              <a:t>问题</a:t>
            </a:r>
            <a:r>
              <a:rPr sz="2400" b="1" noProof="1">
                <a:ea typeface="仿宋_GB2312" panose="02010609030101010101" pitchFamily="49" charset="-122"/>
                <a:sym typeface="+mn-ea"/>
              </a:rPr>
              <a:t>、意外故障、信息探测与窃听等。由于以太网上存在交换设备并采用广播方式</a:t>
            </a:r>
            <a:r>
              <a:rPr lang="en-US" sz="2400" b="1" noProof="1">
                <a:ea typeface="仿宋_GB2312" panose="02010609030101010101" pitchFamily="49" charset="-122"/>
                <a:sym typeface="+mn-ea"/>
              </a:rPr>
              <a:t>,</a:t>
            </a:r>
            <a:r>
              <a:rPr sz="2400" b="1" noProof="1">
                <a:ea typeface="仿宋_GB2312" panose="02010609030101010101" pitchFamily="49" charset="-122"/>
                <a:sym typeface="+mn-ea"/>
              </a:rPr>
              <a:t>可能在某个广播域中侦听、窃取并分析信息。为此，保护链路上的设施安全极为重要</a:t>
            </a:r>
            <a:r>
              <a:rPr lang="en-US" sz="2400" b="1" noProof="1">
                <a:ea typeface="仿宋_GB2312" panose="02010609030101010101" pitchFamily="49" charset="-122"/>
                <a:sym typeface="+mn-ea"/>
              </a:rPr>
              <a:t>,</a:t>
            </a:r>
            <a:r>
              <a:rPr sz="2400" b="1" noProof="1">
                <a:solidFill>
                  <a:srgbClr val="C00000"/>
                </a:solidFill>
                <a:ea typeface="仿宋_GB2312" panose="02010609030101010101" pitchFamily="49" charset="-122"/>
                <a:sym typeface="+mn-ea"/>
              </a:rPr>
              <a:t>物理层的安全措施</a:t>
            </a:r>
            <a:r>
              <a:rPr sz="2400" b="1" noProof="1">
                <a:ea typeface="仿宋_GB2312" panose="02010609030101010101" pitchFamily="49" charset="-122"/>
                <a:sym typeface="+mn-ea"/>
              </a:rPr>
              <a:t>相对较少，最好采用“隔离技术”将每两个网络保证在逻辑上能够连通，同时从物理上隔断，并加强实体安全管理与维护。</a:t>
            </a:r>
            <a:endParaRPr lang="zh-CN" altLang="en-US" sz="2400" b="1" noProof="1">
              <a:solidFill>
                <a:srgbClr val="FFFFFF"/>
              </a:solidFill>
              <a:ea typeface="仿宋_GB2312" panose="02010609030101010101" pitchFamily="49" charset="-122"/>
              <a:sym typeface="+mn-ea"/>
            </a:endParaRPr>
          </a:p>
        </p:txBody>
      </p:sp>
      <p:pic>
        <p:nvPicPr>
          <p:cNvPr id="25604" name="Picture 8" descr="j0300520"/>
          <p:cNvPicPr>
            <a:picLocks noChangeAspect="1" noChangeArrowheads="1"/>
          </p:cNvPicPr>
          <p:nvPr/>
        </p:nvPicPr>
        <p:blipFill>
          <a:blip r:embed="rId2" cstate="print"/>
          <a:srcRect/>
          <a:stretch>
            <a:fillRect/>
          </a:stretch>
        </p:blipFill>
        <p:spPr bwMode="auto">
          <a:xfrm>
            <a:off x="6372225" y="5589588"/>
            <a:ext cx="1306513" cy="1122362"/>
          </a:xfrm>
          <a:prstGeom prst="rect">
            <a:avLst/>
          </a:prstGeom>
          <a:noFill/>
          <a:ln w="9525">
            <a:noFill/>
            <a:miter lim="800000"/>
            <a:headEnd/>
            <a:tailEnd/>
          </a:ln>
        </p:spPr>
      </p:pic>
      <p:sp>
        <p:nvSpPr>
          <p:cNvPr id="25605" name="Rectangle 2"/>
          <p:cNvSpPr txBox="1">
            <a:spLocks noChangeArrowheads="1"/>
          </p:cNvSpPr>
          <p:nvPr/>
        </p:nvSpPr>
        <p:spPr bwMode="auto">
          <a:xfrm>
            <a:off x="468313" y="242888"/>
            <a:ext cx="7161212" cy="563562"/>
          </a:xfrm>
          <a:prstGeom prst="rect">
            <a:avLst/>
          </a:prstGeom>
          <a:noFill/>
          <a:ln w="9525">
            <a:noFill/>
            <a:miter lim="800000"/>
          </a:ln>
        </p:spPr>
        <p:txBody>
          <a:bodyPr anchor="ctr"/>
          <a:lstStyle/>
          <a:p>
            <a:pPr algn="ctr"/>
            <a:r>
              <a:rPr lang="zh-CN" altLang="zh-CN" sz="3200" b="1">
                <a:solidFill>
                  <a:schemeClr val="bg1"/>
                </a:solidFill>
                <a:latin typeface="黑体" panose="02010609060101010101" pitchFamily="49" charset="-122"/>
                <a:ea typeface="黑体" panose="02010609060101010101" pitchFamily="49" charset="-122"/>
              </a:rPr>
              <a:t>2.1 网络协议安全概述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en-US" altLang="zh-CN" sz="2400" b="1">
                <a:solidFill>
                  <a:srgbClr val="CC0000"/>
                </a:solidFill>
              </a:rPr>
              <a:t>2.</a:t>
            </a:r>
            <a:r>
              <a:rPr lang="zh-CN" altLang="en-US" sz="2400" b="1">
                <a:solidFill>
                  <a:srgbClr val="CC0000"/>
                </a:solidFill>
              </a:rPr>
              <a:t>TCP/IP网络层的安全性</a:t>
            </a:r>
          </a:p>
        </p:txBody>
      </p:sp>
      <p:sp>
        <p:nvSpPr>
          <p:cNvPr id="19" name="圆角矩形 18"/>
          <p:cNvSpPr/>
          <p:nvPr/>
        </p:nvSpPr>
        <p:spPr bwMode="gray">
          <a:xfrm>
            <a:off x="469900" y="1733550"/>
            <a:ext cx="8304213" cy="4148138"/>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zh-CN" altLang="en-US" sz="2400" b="1" smtClean="0">
                <a:solidFill>
                  <a:srgbClr val="C00000"/>
                </a:solidFill>
                <a:ea typeface="仿宋_GB2312" panose="02010609030101010101" pitchFamily="49" charset="-122"/>
              </a:rPr>
              <a:t>网络层的主要功能</a:t>
            </a:r>
            <a:r>
              <a:rPr lang="zh-CN" altLang="en-US" sz="2400" b="1" smtClean="0">
                <a:ea typeface="仿宋_GB2312" panose="02010609030101010101" pitchFamily="49" charset="-122"/>
              </a:rPr>
              <a:t>主要用于数据包的网络传输，其中IP协议是整个TCP/IP协议体系结构的重要基础，TCP/IP中所有协议的数据都以IP数据包形式进行传输。</a:t>
            </a:r>
          </a:p>
          <a:p>
            <a:pPr>
              <a:defRPr/>
            </a:pPr>
            <a:r>
              <a:rPr lang="zh-CN" altLang="en-US" sz="2400" b="1" smtClean="0">
                <a:solidFill>
                  <a:srgbClr val="C00000"/>
                </a:solidFill>
                <a:ea typeface="仿宋_GB2312" panose="02010609030101010101" pitchFamily="49" charset="-122"/>
              </a:rPr>
              <a:t>TCP/IP协议族</a:t>
            </a:r>
            <a:r>
              <a:rPr lang="zh-CN" altLang="en-US" sz="2400" b="1" smtClean="0">
                <a:ea typeface="仿宋_GB2312" panose="02010609030101010101" pitchFamily="49" charset="-122"/>
              </a:rPr>
              <a:t>常用的两种IP版本是IPv4和</a:t>
            </a:r>
            <a:r>
              <a:rPr lang="zh-CN" altLang="en-US" sz="2400" b="1" u="sng" smtClean="0">
                <a:ea typeface="仿宋_GB2312" panose="02010609030101010101" pitchFamily="49" charset="-122"/>
              </a:rPr>
              <a:t>IPv6。IPv4在设计之初</a:t>
            </a:r>
            <a:r>
              <a:rPr lang="zh-CN" altLang="en-US" sz="2400" b="1" smtClean="0">
                <a:ea typeface="仿宋_GB2312" panose="02010609030101010101" pitchFamily="49" charset="-122"/>
              </a:rPr>
              <a:t>根本没有考虑到网络安全问题，</a:t>
            </a:r>
            <a:r>
              <a:rPr lang="zh-CN" altLang="en-US" sz="2400" b="1" u="sng" smtClean="0">
                <a:ea typeface="仿宋_GB2312" panose="02010609030101010101" pitchFamily="49" charset="-122"/>
              </a:rPr>
              <a:t>IP包本身不具有任何安全特性</a:t>
            </a:r>
            <a:r>
              <a:rPr lang="zh-CN" altLang="en-US" sz="2400" b="1" smtClean="0">
                <a:ea typeface="仿宋_GB2312" panose="02010609030101010101" pitchFamily="49" charset="-122"/>
              </a:rPr>
              <a:t>，从而导致在网络上传输的数据包很容易泄漏或受到攻击，IP欺骗和ICMP攻击都是针对IP层的攻击手段。如伪造IP包地址、拦截、窃取、篡改、重播等。因此，通信双方无法保证收到IP数据包的真实性。IPv6简化了IPv4中的IP头结构，并增加了对安全性的设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419735" y="1735455"/>
            <a:ext cx="8304530" cy="476567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2400" b="1">
                <a:solidFill>
                  <a:srgbClr val="CC0000"/>
                </a:solidFill>
                <a:sym typeface="+mn-ea"/>
              </a:rPr>
              <a:t>IPsec</a:t>
            </a:r>
            <a:r>
              <a:rPr lang="zh-CN" altLang="en-US" sz="2400" b="1" smtClean="0">
                <a:ea typeface="仿宋_GB2312" panose="02010609030101010101" pitchFamily="49" charset="-122"/>
                <a:sym typeface="+mn-ea"/>
              </a:rPr>
              <a:t>就是</a:t>
            </a:r>
            <a:r>
              <a:rPr lang="en-US" altLang="zh-CN" sz="2400" b="1" smtClean="0">
                <a:ea typeface="仿宋_GB2312" panose="02010609030101010101" pitchFamily="49" charset="-122"/>
                <a:sym typeface="+mn-ea"/>
              </a:rPr>
              <a:t>IP security</a:t>
            </a:r>
            <a:r>
              <a:rPr lang="zh-CN" altLang="en-US" sz="2400" b="1" smtClean="0">
                <a:ea typeface="仿宋_GB2312" panose="02010609030101010101" pitchFamily="49" charset="-122"/>
                <a:sym typeface="+mn-ea"/>
              </a:rPr>
              <a:t>的缩写，</a:t>
            </a:r>
            <a:r>
              <a:rPr lang="en-US" altLang="zh-CN" sz="2400" b="1" smtClean="0">
                <a:ea typeface="仿宋_GB2312" panose="02010609030101010101" pitchFamily="49" charset="-122"/>
                <a:sym typeface="+mn-ea"/>
              </a:rPr>
              <a:t>IPsec</a:t>
            </a:r>
            <a:r>
              <a:rPr lang="zh-CN" altLang="en-US" sz="2400" b="1" smtClean="0">
                <a:ea typeface="仿宋_GB2312" panose="02010609030101010101" pitchFamily="49" charset="-122"/>
                <a:sym typeface="+mn-ea"/>
              </a:rPr>
              <a:t>并不是一个单一的协议，而是能够在</a:t>
            </a:r>
            <a:r>
              <a:rPr lang="en-US" altLang="zh-CN" sz="2400" b="1" smtClean="0">
                <a:ea typeface="仿宋_GB2312" panose="02010609030101010101" pitchFamily="49" charset="-122"/>
                <a:sym typeface="+mn-ea"/>
              </a:rPr>
              <a:t>IP</a:t>
            </a:r>
            <a:r>
              <a:rPr lang="zh-CN" altLang="en-US" sz="2400" b="1" smtClean="0">
                <a:ea typeface="仿宋_GB2312" panose="02010609030101010101" pitchFamily="49" charset="-122"/>
                <a:sym typeface="+mn-ea"/>
              </a:rPr>
              <a:t>层提供互联网通信安全的</a:t>
            </a:r>
            <a:r>
              <a:rPr lang="zh-CN" altLang="en-US" sz="2400" b="1" smtClean="0">
                <a:solidFill>
                  <a:srgbClr val="FF0000"/>
                </a:solidFill>
                <a:ea typeface="仿宋_GB2312" panose="02010609030101010101" pitchFamily="49" charset="-122"/>
                <a:sym typeface="+mn-ea"/>
              </a:rPr>
              <a:t>协议族</a:t>
            </a:r>
            <a:r>
              <a:rPr lang="zh-CN" altLang="en-US" sz="2400" b="1" smtClean="0">
                <a:ea typeface="仿宋_GB2312" panose="02010609030101010101" pitchFamily="49" charset="-122"/>
              </a:rPr>
              <a:t>。</a:t>
            </a:r>
          </a:p>
          <a:p>
            <a:pPr>
              <a:defRPr/>
            </a:pPr>
            <a:r>
              <a:rPr lang="zh-CN" altLang="en-US" sz="2400" b="1" smtClean="0">
                <a:ea typeface="仿宋_GB2312" panose="02010609030101010101" pitchFamily="49" charset="-122"/>
              </a:rPr>
              <a:t>IPsec 协议族组成 ：</a:t>
            </a:r>
          </a:p>
          <a:p>
            <a:pPr>
              <a:defRPr/>
            </a:pPr>
            <a:r>
              <a:rPr lang="zh-CN" altLang="en-US" sz="2400" b="1" smtClean="0">
                <a:ea typeface="仿宋_GB2312" panose="02010609030101010101" pitchFamily="49" charset="-122"/>
              </a:rPr>
              <a:t>① IP 安全数据报格式 协议 :</a:t>
            </a:r>
          </a:p>
          <a:p>
            <a:pPr>
              <a:defRPr/>
            </a:pPr>
            <a:r>
              <a:rPr lang="zh-CN" altLang="en-US" sz="2400" b="1" smtClean="0">
                <a:ea typeface="仿宋_GB2312" panose="02010609030101010101" pitchFamily="49" charset="-122"/>
              </a:rPr>
              <a:t>鉴别首部协议 ( AH , Authentication Header ) : 支持 源点鉴别 , 数据完整性 , 不支持数据保密 ;</a:t>
            </a:r>
          </a:p>
          <a:p>
            <a:pPr>
              <a:defRPr/>
            </a:pPr>
            <a:r>
              <a:rPr lang="zh-CN" altLang="en-US" sz="2400" b="1" smtClean="0">
                <a:ea typeface="仿宋_GB2312" panose="02010609030101010101" pitchFamily="49" charset="-122"/>
              </a:rPr>
              <a:t>封装有效载荷协议 ( ESP , Encapsulation Security Payload ) : 支持 </a:t>
            </a:r>
            <a:r>
              <a:rPr lang="zh-CN" altLang="en-US" sz="2400" b="1" smtClean="0">
                <a:solidFill>
                  <a:srgbClr val="FF0000"/>
                </a:solidFill>
                <a:ea typeface="仿宋_GB2312" panose="02010609030101010101" pitchFamily="49" charset="-122"/>
              </a:rPr>
              <a:t>源点鉴别 , 数据完整性 , 数据保密</a:t>
            </a:r>
            <a:r>
              <a:rPr lang="zh-CN" altLang="en-US" sz="2400" b="1" smtClean="0">
                <a:ea typeface="仿宋_GB2312" panose="02010609030101010101" pitchFamily="49" charset="-122"/>
              </a:rPr>
              <a:t> ;</a:t>
            </a:r>
          </a:p>
          <a:p>
            <a:pPr>
              <a:defRPr/>
            </a:pPr>
            <a:r>
              <a:rPr lang="zh-CN" altLang="en-US" sz="2400" b="1" smtClean="0">
                <a:ea typeface="仿宋_GB2312" panose="02010609030101010101" pitchFamily="49" charset="-122"/>
              </a:rPr>
              <a:t>② 加密算法协议</a:t>
            </a:r>
          </a:p>
          <a:p>
            <a:pPr>
              <a:defRPr/>
            </a:pPr>
            <a:r>
              <a:rPr lang="zh-CN" altLang="en-US" sz="2400" b="1" smtClean="0">
                <a:ea typeface="仿宋_GB2312" panose="02010609030101010101" pitchFamily="49" charset="-122"/>
              </a:rPr>
              <a:t>③ 互联网密钥交换协议 ( IKE , Internet Key Exchange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419735" y="1735455"/>
            <a:ext cx="8304530" cy="476567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sz="2400" b="1"/>
              <a:t>IP 安全数据报 : 使用 ESP 或 AH 协议的 IP 数据报称为 </a:t>
            </a:r>
            <a:r>
              <a:rPr sz="2400" b="1">
                <a:solidFill>
                  <a:srgbClr val="FF0000"/>
                </a:solidFill>
              </a:rPr>
              <a:t>IP 安全数据报</a:t>
            </a:r>
            <a:r>
              <a:rPr sz="2400" b="1"/>
              <a:t> , 又称为 </a:t>
            </a:r>
            <a:r>
              <a:rPr sz="2400" b="1">
                <a:solidFill>
                  <a:srgbClr val="FF0000"/>
                </a:solidFill>
              </a:rPr>
              <a:t>IPsec 数据报 </a:t>
            </a:r>
            <a:r>
              <a:rPr sz="2400" b="1"/>
              <a:t>;</a:t>
            </a:r>
          </a:p>
          <a:p>
            <a:pPr>
              <a:defRPr/>
            </a:pPr>
            <a:endParaRPr sz="2400" b="1"/>
          </a:p>
          <a:p>
            <a:pPr>
              <a:defRPr/>
            </a:pPr>
            <a:r>
              <a:rPr sz="2400" b="1"/>
              <a:t>支持的 IP 协议版本 : IPsec 支持 IPv4 和 IPv6 两个版本的 IP 协议 ;</a:t>
            </a:r>
          </a:p>
          <a:p>
            <a:pPr>
              <a:defRPr/>
            </a:pPr>
            <a:endParaRPr sz="2400" b="1"/>
          </a:p>
          <a:p>
            <a:pPr>
              <a:defRPr/>
            </a:pPr>
            <a:r>
              <a:rPr sz="2400" b="1"/>
              <a:t>包含关系 : ESP 协议包含 AH 协议功能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81710" y="110585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360045" y="1566545"/>
            <a:ext cx="8304530" cy="5227622"/>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sz="2400" b="1" dirty="0"/>
              <a:t>IP </a:t>
            </a:r>
            <a:r>
              <a:rPr sz="2400" b="1" dirty="0" err="1"/>
              <a:t>安全数据</a:t>
            </a:r>
            <a:r>
              <a:rPr lang="zh-CN" sz="2400" b="1" dirty="0"/>
              <a:t>报有两种不同的</a:t>
            </a:r>
            <a:r>
              <a:rPr sz="2400" b="1" dirty="0" err="1"/>
              <a:t>工作方式</a:t>
            </a:r>
            <a:r>
              <a:rPr sz="2400" b="1" dirty="0"/>
              <a:t> :</a:t>
            </a:r>
          </a:p>
          <a:p>
            <a:pPr>
              <a:defRPr/>
            </a:pPr>
            <a:r>
              <a:rPr sz="2400" b="1" dirty="0"/>
              <a:t>① </a:t>
            </a:r>
            <a:r>
              <a:rPr sz="2400" b="1" dirty="0" err="1"/>
              <a:t>运输方式</a:t>
            </a:r>
            <a:r>
              <a:rPr sz="2400" b="1" dirty="0"/>
              <a:t> ( Transport Mod</a:t>
            </a:r>
            <a:r>
              <a:rPr lang="en-US" sz="2400" b="1" dirty="0"/>
              <a:t>e</a:t>
            </a:r>
            <a:r>
              <a:rPr sz="2400" b="1" dirty="0"/>
              <a:t>) :</a:t>
            </a:r>
          </a:p>
          <a:p>
            <a:pPr>
              <a:defRPr/>
            </a:pPr>
            <a:r>
              <a:rPr lang="zh-CN" altLang="en-US" sz="2400" dirty="0"/>
              <a:t>只是传输层数据被用来计算</a:t>
            </a:r>
            <a:r>
              <a:rPr lang="en-US" altLang="zh-CN" sz="2400" dirty="0"/>
              <a:t>AH</a:t>
            </a:r>
            <a:r>
              <a:rPr lang="zh-CN" altLang="en-US" sz="2400" dirty="0"/>
              <a:t>或</a:t>
            </a:r>
            <a:r>
              <a:rPr lang="en-US" altLang="zh-CN" sz="2400" dirty="0"/>
              <a:t>ESP</a:t>
            </a:r>
            <a:r>
              <a:rPr lang="zh-CN" altLang="en-US" sz="2400" dirty="0"/>
              <a:t>头，</a:t>
            </a:r>
            <a:r>
              <a:rPr lang="en-US" altLang="zh-CN" sz="2400" dirty="0"/>
              <a:t>AH</a:t>
            </a:r>
            <a:r>
              <a:rPr lang="zh-CN" altLang="en-US" sz="2400" dirty="0"/>
              <a:t>或</a:t>
            </a:r>
            <a:r>
              <a:rPr lang="en-US" altLang="zh-CN" sz="2400" dirty="0"/>
              <a:t>ESP</a:t>
            </a:r>
            <a:r>
              <a:rPr lang="zh-CN" altLang="en-US" sz="2400" dirty="0"/>
              <a:t>头以及</a:t>
            </a:r>
            <a:r>
              <a:rPr lang="en-US" altLang="zh-CN" sz="2400" dirty="0"/>
              <a:t>ESP</a:t>
            </a:r>
            <a:r>
              <a:rPr lang="zh-CN" altLang="en-US" sz="2400" dirty="0"/>
              <a:t>加密的用户数据被放置在原</a:t>
            </a:r>
            <a:r>
              <a:rPr lang="en-US" altLang="zh-CN" sz="2400" dirty="0"/>
              <a:t>IP</a:t>
            </a:r>
            <a:r>
              <a:rPr lang="zh-CN" altLang="en-US" sz="2400" dirty="0"/>
              <a:t>包头后面。通常</a:t>
            </a:r>
            <a:r>
              <a:rPr lang="zh-CN" altLang="en-US" sz="2400" dirty="0" smtClean="0"/>
              <a:t>，</a:t>
            </a:r>
            <a:r>
              <a:rPr lang="zh-CN" altLang="en-US" sz="2400" dirty="0"/>
              <a:t>运输</a:t>
            </a:r>
            <a:r>
              <a:rPr lang="zh-CN" altLang="en-US" sz="2400" dirty="0" smtClean="0"/>
              <a:t>模式</a:t>
            </a:r>
            <a:r>
              <a:rPr lang="zh-CN" altLang="en-US" sz="2400" dirty="0"/>
              <a:t>应用在两台主机之间的</a:t>
            </a:r>
            <a:r>
              <a:rPr lang="zh-CN" altLang="en-US" sz="2400" dirty="0" smtClean="0"/>
              <a:t>通讯或</a:t>
            </a:r>
            <a:r>
              <a:rPr lang="zh-CN" altLang="en-US" sz="2400" dirty="0"/>
              <a:t>一台主机和一个安全网关之间的通讯。</a:t>
            </a:r>
            <a:endParaRPr sz="2400" b="1" dirty="0"/>
          </a:p>
          <a:p>
            <a:pPr>
              <a:defRPr/>
            </a:pPr>
            <a:endParaRPr sz="2400" b="1" dirty="0"/>
          </a:p>
          <a:p>
            <a:pPr>
              <a:defRPr/>
            </a:pPr>
            <a:endParaRPr sz="2400" b="1" dirty="0"/>
          </a:p>
          <a:p>
            <a:pPr>
              <a:defRPr/>
            </a:pPr>
            <a:endParaRPr sz="2400" b="1" dirty="0"/>
          </a:p>
          <a:p>
            <a:pPr>
              <a:defRPr/>
            </a:pPr>
            <a:endParaRPr sz="2400" b="1" dirty="0"/>
          </a:p>
          <a:p>
            <a:pPr>
              <a:defRPr/>
            </a:pPr>
            <a:endParaRPr sz="2400" b="1" dirty="0"/>
          </a:p>
          <a:p>
            <a:pPr>
              <a:defRPr/>
            </a:pPr>
            <a:endParaRPr sz="2400" b="1" dirty="0"/>
          </a:p>
        </p:txBody>
      </p:sp>
      <p:sp>
        <p:nvSpPr>
          <p:cNvPr id="4" name="文本框 3"/>
          <p:cNvSpPr txBox="1"/>
          <p:nvPr/>
        </p:nvSpPr>
        <p:spPr>
          <a:xfrm>
            <a:off x="1043608" y="3927400"/>
            <a:ext cx="2736304" cy="2585323"/>
          </a:xfrm>
          <a:prstGeom prst="rect">
            <a:avLst/>
          </a:prstGeom>
          <a:noFill/>
        </p:spPr>
        <p:txBody>
          <a:bodyPr wrap="square" rtlCol="0">
            <a:spAutoFit/>
          </a:bodyPr>
          <a:lstStyle/>
          <a:p>
            <a:r>
              <a:rPr lang="zh-CN" altLang="en-US" dirty="0"/>
              <a:t>TCP-IP详解：AH(Authentication Header)</a:t>
            </a:r>
          </a:p>
          <a:p>
            <a:r>
              <a:rPr lang="zh-CN" altLang="en-US" dirty="0">
                <a:hlinkClick r:id="rId2"/>
              </a:rPr>
              <a:t>https://blog.csdn.net/wdscq1234/article/details/</a:t>
            </a:r>
            <a:r>
              <a:rPr lang="zh-CN" altLang="en-US" dirty="0" smtClean="0">
                <a:hlinkClick r:id="rId2"/>
              </a:rPr>
              <a:t>52677419</a:t>
            </a:r>
            <a:endParaRPr lang="en-US" altLang="zh-CN" dirty="0" smtClean="0"/>
          </a:p>
          <a:p>
            <a:r>
              <a:rPr lang="en-US" altLang="zh-CN" b="1" dirty="0" err="1"/>
              <a:t>Ipsec</a:t>
            </a:r>
            <a:r>
              <a:rPr lang="en-US" altLang="zh-CN" b="1" dirty="0"/>
              <a:t> </a:t>
            </a:r>
            <a:r>
              <a:rPr lang="zh-CN" altLang="en-US" b="1" dirty="0"/>
              <a:t>的</a:t>
            </a:r>
            <a:r>
              <a:rPr lang="en-US" altLang="zh-CN" b="1" dirty="0"/>
              <a:t>SPD</a:t>
            </a:r>
            <a:r>
              <a:rPr lang="zh-CN" altLang="en-US" b="1" dirty="0"/>
              <a:t>和</a:t>
            </a:r>
            <a:r>
              <a:rPr lang="en-US" altLang="zh-CN" b="1" dirty="0"/>
              <a:t>SAD</a:t>
            </a:r>
            <a:r>
              <a:rPr lang="zh-CN" altLang="en-US" b="1" dirty="0"/>
              <a:t>详解</a:t>
            </a:r>
          </a:p>
          <a:p>
            <a:r>
              <a:rPr lang="en-US" altLang="zh-CN" dirty="0"/>
              <a:t>https://</a:t>
            </a:r>
            <a:r>
              <a:rPr lang="en-US" altLang="zh-CN" dirty="0" smtClean="0"/>
              <a:t>blog.csdn.net/bytxl/article/details/4961537</a:t>
            </a:r>
            <a:endParaRPr lang="zh-CN" altLang="en-US" dirty="0"/>
          </a:p>
        </p:txBody>
      </p:sp>
      <p:pic>
        <p:nvPicPr>
          <p:cNvPr id="2" name="图片 1"/>
          <p:cNvPicPr>
            <a:picLocks noChangeAspect="1"/>
          </p:cNvPicPr>
          <p:nvPr/>
        </p:nvPicPr>
        <p:blipFill>
          <a:blip r:embed="rId3"/>
          <a:stretch>
            <a:fillRect/>
          </a:stretch>
        </p:blipFill>
        <p:spPr>
          <a:xfrm>
            <a:off x="4067944" y="3708698"/>
            <a:ext cx="4382915" cy="2808312"/>
          </a:xfrm>
          <a:prstGeom prst="rect">
            <a:avLst/>
          </a:prstGeom>
        </p:spPr>
      </p:pic>
      <p:sp>
        <p:nvSpPr>
          <p:cNvPr id="5" name="文本框 4"/>
          <p:cNvSpPr txBox="1"/>
          <p:nvPr/>
        </p:nvSpPr>
        <p:spPr>
          <a:xfrm>
            <a:off x="4932040" y="6517168"/>
            <a:ext cx="3312368" cy="276999"/>
          </a:xfrm>
          <a:prstGeom prst="rect">
            <a:avLst/>
          </a:prstGeom>
          <a:noFill/>
        </p:spPr>
        <p:txBody>
          <a:bodyPr wrap="square" rtlCol="0">
            <a:spAutoFit/>
          </a:bodyPr>
          <a:lstStyle/>
          <a:p>
            <a:r>
              <a:rPr lang="zh-CN" altLang="en-US" sz="1200" dirty="0" smtClean="0">
                <a:solidFill>
                  <a:schemeClr val="tx2"/>
                </a:solidFill>
              </a:rPr>
              <a:t>运输模式下的</a:t>
            </a:r>
            <a:r>
              <a:rPr lang="en-US" altLang="zh-CN" sz="1200" dirty="0" smtClean="0">
                <a:solidFill>
                  <a:schemeClr val="tx2"/>
                </a:solidFill>
              </a:rPr>
              <a:t>AH-IP</a:t>
            </a:r>
            <a:r>
              <a:rPr lang="zh-CN" altLang="en-US" sz="1200" dirty="0" smtClean="0">
                <a:solidFill>
                  <a:schemeClr val="tx2"/>
                </a:solidFill>
              </a:rPr>
              <a:t>安全数据报</a:t>
            </a:r>
            <a:endParaRPr lang="zh-CN" altLang="en-US" sz="1200" dirty="0">
              <a:solidFill>
                <a:schemeClr val="tx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211455" y="1735455"/>
            <a:ext cx="8701405" cy="476567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sz="2400" b="1" dirty="0">
                <a:sym typeface="+mn-ea"/>
              </a:rPr>
              <a:t>② </a:t>
            </a:r>
            <a:r>
              <a:rPr sz="2400" b="1" dirty="0" err="1">
                <a:sym typeface="+mn-ea"/>
              </a:rPr>
              <a:t>隧道方式</a:t>
            </a:r>
            <a:r>
              <a:rPr sz="2400" b="1" dirty="0">
                <a:sym typeface="+mn-ea"/>
              </a:rPr>
              <a:t> ( Tunnel Mode ) :</a:t>
            </a:r>
            <a:endParaRPr sz="2400" b="1" dirty="0"/>
          </a:p>
          <a:p>
            <a:pPr>
              <a:defRPr/>
            </a:pPr>
            <a:r>
              <a:rPr lang="zh-CN" altLang="en-US" sz="2400" b="1" dirty="0">
                <a:sym typeface="+mn-ea"/>
              </a:rPr>
              <a:t>用户的整个</a:t>
            </a:r>
            <a:r>
              <a:rPr lang="en-US" altLang="zh-CN" sz="2400" b="1" dirty="0">
                <a:sym typeface="+mn-ea"/>
              </a:rPr>
              <a:t>IP</a:t>
            </a:r>
            <a:r>
              <a:rPr lang="zh-CN" altLang="en-US" sz="2400" b="1" dirty="0" smtClean="0">
                <a:sym typeface="+mn-ea"/>
              </a:rPr>
              <a:t>数据报被</a:t>
            </a:r>
            <a:r>
              <a:rPr lang="zh-CN" altLang="en-US" sz="2400" b="1" dirty="0">
                <a:sym typeface="+mn-ea"/>
              </a:rPr>
              <a:t>用来计算</a:t>
            </a:r>
            <a:r>
              <a:rPr lang="en-US" altLang="zh-CN" sz="2400" b="1" dirty="0">
                <a:sym typeface="+mn-ea"/>
              </a:rPr>
              <a:t>AH</a:t>
            </a:r>
            <a:r>
              <a:rPr lang="zh-CN" altLang="en-US" sz="2400" b="1" dirty="0">
                <a:sym typeface="+mn-ea"/>
              </a:rPr>
              <a:t>或</a:t>
            </a:r>
            <a:r>
              <a:rPr lang="en-US" altLang="zh-CN" sz="2400" b="1" dirty="0">
                <a:sym typeface="+mn-ea"/>
              </a:rPr>
              <a:t>ESP</a:t>
            </a:r>
            <a:r>
              <a:rPr lang="zh-CN" altLang="en-US" sz="2400" b="1" dirty="0">
                <a:sym typeface="+mn-ea"/>
              </a:rPr>
              <a:t>头，</a:t>
            </a:r>
            <a:r>
              <a:rPr lang="en-US" altLang="zh-CN" sz="2400" b="1" dirty="0">
                <a:sym typeface="+mn-ea"/>
              </a:rPr>
              <a:t>AH</a:t>
            </a:r>
            <a:r>
              <a:rPr lang="zh-CN" altLang="en-US" sz="2400" b="1" dirty="0">
                <a:sym typeface="+mn-ea"/>
              </a:rPr>
              <a:t>或</a:t>
            </a:r>
            <a:r>
              <a:rPr lang="en-US" altLang="zh-CN" sz="2400" b="1" dirty="0">
                <a:sym typeface="+mn-ea"/>
              </a:rPr>
              <a:t>ESP</a:t>
            </a:r>
            <a:r>
              <a:rPr lang="zh-CN" altLang="en-US" sz="2400" b="1" dirty="0">
                <a:sym typeface="+mn-ea"/>
              </a:rPr>
              <a:t>头以及</a:t>
            </a:r>
            <a:r>
              <a:rPr lang="en-US" altLang="zh-CN" sz="2400" b="1" dirty="0">
                <a:sym typeface="+mn-ea"/>
              </a:rPr>
              <a:t>ESP</a:t>
            </a:r>
            <a:r>
              <a:rPr lang="zh-CN" altLang="en-US" sz="2400" b="1" dirty="0">
                <a:sym typeface="+mn-ea"/>
              </a:rPr>
              <a:t>加密的用户数据被封装在一个新的</a:t>
            </a:r>
            <a:r>
              <a:rPr lang="en-US" altLang="zh-CN" sz="2400" b="1" dirty="0">
                <a:sym typeface="+mn-ea"/>
              </a:rPr>
              <a:t>IP</a:t>
            </a:r>
            <a:r>
              <a:rPr lang="zh-CN" altLang="en-US" sz="2400" b="1" dirty="0" smtClean="0">
                <a:sym typeface="+mn-ea"/>
              </a:rPr>
              <a:t>数据报中</a:t>
            </a:r>
            <a:r>
              <a:rPr lang="zh-CN" altLang="en-US" sz="2400" b="1" dirty="0">
                <a:sym typeface="+mn-ea"/>
              </a:rPr>
              <a:t>。通常，隧道模式应用在两个安全网关之间的</a:t>
            </a:r>
            <a:r>
              <a:rPr lang="zh-CN" altLang="en-US" sz="2400" b="1" dirty="0" smtClean="0">
                <a:sym typeface="+mn-ea"/>
              </a:rPr>
              <a:t>通讯。</a:t>
            </a:r>
            <a:endParaRPr lang="zh-CN" altLang="en-US" sz="2400" b="1" dirty="0">
              <a:sym typeface="+mn-ea"/>
            </a:endParaRPr>
          </a:p>
          <a:p>
            <a:pPr>
              <a:defRPr/>
            </a:pPr>
            <a:r>
              <a:rPr sz="2400" b="1" dirty="0" err="1" smtClean="0">
                <a:sym typeface="+mn-ea"/>
              </a:rPr>
              <a:t>常用用途</a:t>
            </a:r>
            <a:r>
              <a:rPr sz="2400" b="1" dirty="0" smtClean="0">
                <a:sym typeface="+mn-ea"/>
              </a:rPr>
              <a:t> </a:t>
            </a:r>
            <a:r>
              <a:rPr sz="2400" b="1" dirty="0">
                <a:sym typeface="+mn-ea"/>
              </a:rPr>
              <a:t>: </a:t>
            </a:r>
            <a:r>
              <a:rPr sz="2400" b="1" dirty="0" err="1">
                <a:sym typeface="+mn-ea"/>
              </a:rPr>
              <a:t>虚拟专用网</a:t>
            </a:r>
            <a:r>
              <a:rPr sz="2400" b="1" dirty="0">
                <a:sym typeface="+mn-ea"/>
              </a:rPr>
              <a:t> VPN ;</a:t>
            </a:r>
          </a:p>
          <a:p>
            <a:pPr>
              <a:defRPr/>
            </a:pPr>
            <a:r>
              <a:rPr lang="zh-CN" sz="2400" b="1" dirty="0">
                <a:solidFill>
                  <a:srgbClr val="0070C0"/>
                </a:solidFill>
              </a:rPr>
              <a:t>无论采用哪种方式：</a:t>
            </a:r>
            <a:endParaRPr sz="2400" b="1" dirty="0"/>
          </a:p>
          <a:p>
            <a:pPr>
              <a:defRPr/>
            </a:pPr>
            <a:r>
              <a:rPr sz="2400" b="1" dirty="0">
                <a:solidFill>
                  <a:srgbClr val="FF0000"/>
                </a:solidFill>
              </a:rPr>
              <a:t>IP </a:t>
            </a:r>
            <a:r>
              <a:rPr sz="2400" b="1" dirty="0" err="1">
                <a:solidFill>
                  <a:srgbClr val="FF0000"/>
                </a:solidFill>
              </a:rPr>
              <a:t>首部是不能加密的</a:t>
            </a:r>
            <a:r>
              <a:rPr sz="2400" b="1" dirty="0"/>
              <a:t> : </a:t>
            </a:r>
            <a:r>
              <a:rPr sz="2400" b="1" dirty="0" err="1"/>
              <a:t>因为</a:t>
            </a:r>
            <a:r>
              <a:rPr sz="2400" b="1" dirty="0"/>
              <a:t> </a:t>
            </a:r>
            <a:r>
              <a:rPr sz="2400" b="1" dirty="0" err="1"/>
              <a:t>途径的路由器</a:t>
            </a:r>
            <a:r>
              <a:rPr sz="2400" b="1" dirty="0"/>
              <a:t> </a:t>
            </a:r>
            <a:r>
              <a:rPr sz="2400" b="1" dirty="0" err="1"/>
              <a:t>都需要根据该</a:t>
            </a:r>
            <a:r>
              <a:rPr sz="2400" b="1" dirty="0"/>
              <a:t> IP </a:t>
            </a:r>
            <a:r>
              <a:rPr sz="2400" b="1" dirty="0" err="1"/>
              <a:t>首部查找下一跳路由</a:t>
            </a:r>
            <a:r>
              <a:rPr sz="2400" b="1" dirty="0"/>
              <a:t> ;</a:t>
            </a:r>
          </a:p>
          <a:p>
            <a:pPr>
              <a:defRPr/>
            </a:pPr>
            <a:r>
              <a:rPr sz="2400" b="1" dirty="0" err="1">
                <a:solidFill>
                  <a:srgbClr val="FF0000"/>
                </a:solidFill>
              </a:rPr>
              <a:t>数据部分是</a:t>
            </a:r>
            <a:r>
              <a:rPr lang="zh-CN" sz="2400" b="1" dirty="0">
                <a:solidFill>
                  <a:srgbClr val="FF0000"/>
                </a:solidFill>
              </a:rPr>
              <a:t>可鉴别或可</a:t>
            </a:r>
            <a:r>
              <a:rPr sz="2400" b="1" dirty="0" err="1">
                <a:solidFill>
                  <a:srgbClr val="FF0000"/>
                </a:solidFill>
              </a:rPr>
              <a:t>加密的</a:t>
            </a:r>
            <a:r>
              <a:rPr sz="2400" b="1" dirty="0"/>
              <a:t> : IPsec </a:t>
            </a:r>
            <a:r>
              <a:rPr sz="2400" b="1" dirty="0" err="1"/>
              <a:t>数据报</a:t>
            </a:r>
            <a:r>
              <a:rPr sz="2400" b="1" dirty="0"/>
              <a:t> 的 </a:t>
            </a:r>
            <a:r>
              <a:rPr sz="2400" b="1" dirty="0" err="1"/>
              <a:t>数据部分是</a:t>
            </a:r>
            <a:r>
              <a:rPr lang="zh-CN" sz="2400" b="1" dirty="0"/>
              <a:t>可</a:t>
            </a:r>
            <a:r>
              <a:rPr sz="2400" b="1" dirty="0" err="1"/>
              <a:t>加密的</a:t>
            </a:r>
            <a:r>
              <a:rPr sz="2400" b="1" dirty="0"/>
              <a:t> , </a:t>
            </a:r>
            <a:r>
              <a:rPr sz="2400" b="1" dirty="0" err="1"/>
              <a:t>并且可以被鉴别</a:t>
            </a:r>
            <a:r>
              <a:rPr sz="2400" b="1" dirty="0"/>
              <a:t> ;</a:t>
            </a:r>
          </a:p>
          <a:p>
            <a:pPr>
              <a:defRPr/>
            </a:pPr>
            <a:r>
              <a:rPr sz="2400" b="1" dirty="0" err="1">
                <a:solidFill>
                  <a:srgbClr val="FF0000"/>
                </a:solidFill>
              </a:rPr>
              <a:t>有效载荷</a:t>
            </a:r>
            <a:r>
              <a:rPr sz="2400" b="1" dirty="0"/>
              <a:t> : IPsec </a:t>
            </a:r>
            <a:r>
              <a:rPr sz="2400" b="1" dirty="0" err="1"/>
              <a:t>数据报中的数据部分称为有效载荷</a:t>
            </a:r>
            <a:r>
              <a:rPr sz="2400" b="1"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419735" y="1735455"/>
            <a:ext cx="8304530" cy="476567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sz="2000" b="1"/>
              <a:t>安全关联 ( SA , Security Association ) : 发送 IP 安全数据报 前 , 在发送端 和 接收端 之间 , 建立一条 逻辑连接 ;</a:t>
            </a:r>
          </a:p>
          <a:p>
            <a:pPr>
              <a:defRPr/>
            </a:pPr>
            <a:r>
              <a:rPr sz="2000" b="1"/>
              <a:t>IPsec 协议将 </a:t>
            </a:r>
            <a:r>
              <a:rPr sz="2000" b="1">
                <a:solidFill>
                  <a:srgbClr val="FF0000"/>
                </a:solidFill>
              </a:rPr>
              <a:t>无连接</a:t>
            </a:r>
            <a:r>
              <a:rPr sz="2000" b="1"/>
              <a:t> 的网络层 , 转为 </a:t>
            </a:r>
            <a:r>
              <a:rPr sz="2000" b="1">
                <a:solidFill>
                  <a:srgbClr val="FF0000"/>
                </a:solidFill>
              </a:rPr>
              <a:t>有逻辑连接</a:t>
            </a:r>
            <a:r>
              <a:rPr sz="2000" b="1"/>
              <a:t> 的网络层 ;</a:t>
            </a:r>
          </a:p>
          <a:p>
            <a:pPr>
              <a:defRPr/>
            </a:pPr>
            <a:r>
              <a:rPr sz="2000" b="1"/>
              <a:t>安全关联 ( SA , Security Association ) 特点 :</a:t>
            </a:r>
          </a:p>
          <a:p>
            <a:pPr>
              <a:defRPr/>
            </a:pPr>
            <a:r>
              <a:rPr sz="2000" b="1"/>
              <a:t>① 单向连接 : SA 是 单向的 , 其作用是提供 安全的数据传输服务 ;</a:t>
            </a:r>
          </a:p>
          <a:p>
            <a:pPr>
              <a:defRPr/>
            </a:pPr>
            <a:r>
              <a:rPr sz="2000" b="1"/>
              <a:t>② 传输数据 : SA 主要作用是传输 IP 安全数据报 ;</a:t>
            </a:r>
          </a:p>
          <a:p>
            <a:pPr>
              <a:defRPr/>
            </a:pPr>
            <a:r>
              <a:rPr sz="2000" b="1"/>
              <a:t>③ 双向 SA : 在 往返两个方向都建立 SA , 即可进行 双向安全通信 ;</a:t>
            </a:r>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p:txBody>
      </p:sp>
      <p:pic>
        <p:nvPicPr>
          <p:cNvPr id="3" name="图片 2"/>
          <p:cNvPicPr>
            <a:picLocks noChangeAspect="1"/>
          </p:cNvPicPr>
          <p:nvPr/>
        </p:nvPicPr>
        <p:blipFill>
          <a:blip r:embed="rId2"/>
          <a:stretch>
            <a:fillRect/>
          </a:stretch>
        </p:blipFill>
        <p:spPr>
          <a:xfrm>
            <a:off x="1262380" y="4625340"/>
            <a:ext cx="6718300" cy="2006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419735" y="1735455"/>
            <a:ext cx="8304530" cy="476567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sz="2000" b="1"/>
              <a:t>建立安全关联 ( SA , Security Association ) 的双方需要维护的 状态信息 : </a:t>
            </a:r>
          </a:p>
          <a:p>
            <a:pPr>
              <a:defRPr/>
            </a:pPr>
            <a:r>
              <a:rPr sz="2000" b="1"/>
              <a:t>① 安全参数索引 ( SPI , Security Parameter Index ) : 32 位 的 连接标识符 ;</a:t>
            </a:r>
            <a:r>
              <a:rPr lang="zh-CN" sz="2000" b="1"/>
              <a:t>不同的</a:t>
            </a:r>
            <a:r>
              <a:rPr lang="en-US" altLang="zh-CN" sz="2000" b="1"/>
              <a:t>SPI</a:t>
            </a:r>
            <a:r>
              <a:rPr lang="zh-CN" altLang="en-US" sz="2000" b="1"/>
              <a:t>代表不同的</a:t>
            </a:r>
            <a:r>
              <a:rPr lang="en-US" altLang="zh-CN" sz="2000" b="1"/>
              <a:t>SA</a:t>
            </a:r>
            <a:r>
              <a:rPr lang="zh-CN" altLang="en-US" sz="2000" b="1"/>
              <a:t>；</a:t>
            </a:r>
            <a:endParaRPr sz="2000" b="1"/>
          </a:p>
          <a:p>
            <a:pPr>
              <a:defRPr/>
            </a:pPr>
            <a:r>
              <a:rPr sz="2000" b="1"/>
              <a:t>② IP 地址 : SA 关联的 发送端 和 接收端 IP 地址 ;</a:t>
            </a:r>
          </a:p>
          <a:p>
            <a:pPr>
              <a:defRPr/>
            </a:pPr>
            <a:r>
              <a:rPr sz="2000" b="1"/>
              <a:t>③ 加密类型 : IPsec 数据报使用的加密类型 , DES / AES ;</a:t>
            </a:r>
          </a:p>
          <a:p>
            <a:pPr>
              <a:defRPr/>
            </a:pPr>
            <a:r>
              <a:rPr sz="2000" b="1"/>
              <a:t>④ 密钥 : 加密使用的密钥 ;</a:t>
            </a:r>
          </a:p>
          <a:p>
            <a:pPr>
              <a:defRPr/>
            </a:pPr>
            <a:r>
              <a:rPr sz="2000" b="1"/>
              <a:t>⑤ 完整性检查类型 </a:t>
            </a:r>
            <a:r>
              <a:rPr lang="zh-CN" sz="2000" b="1"/>
              <a:t>，如使用</a:t>
            </a:r>
            <a:r>
              <a:rPr sz="2000" b="1"/>
              <a:t>MD5</a:t>
            </a:r>
            <a:r>
              <a:rPr lang="zh-CN" sz="2000" b="1"/>
              <a:t>或</a:t>
            </a:r>
            <a:r>
              <a:rPr sz="2000" b="1"/>
              <a:t>SHA-1</a:t>
            </a:r>
            <a:r>
              <a:rPr lang="zh-CN" sz="2000" b="1"/>
              <a:t>的报文鉴别码</a:t>
            </a:r>
            <a:r>
              <a:rPr lang="en-US" altLang="zh-CN" sz="2000" b="1"/>
              <a:t>MAC</a:t>
            </a:r>
            <a:r>
              <a:rPr sz="2000" b="1"/>
              <a:t> </a:t>
            </a:r>
            <a:r>
              <a:rPr lang="zh-CN" sz="2000" b="1">
                <a:solidFill>
                  <a:srgbClr val="0070C0"/>
                </a:solidFill>
              </a:rPr>
              <a:t>（从报文</a:t>
            </a:r>
            <a:r>
              <a:rPr lang="en-US" altLang="zh-CN" sz="2000" b="1">
                <a:solidFill>
                  <a:srgbClr val="0070C0"/>
                </a:solidFill>
              </a:rPr>
              <a:t>X</a:t>
            </a:r>
            <a:r>
              <a:rPr lang="zh-CN" altLang="en-US" sz="2000" b="1">
                <a:solidFill>
                  <a:srgbClr val="0070C0"/>
                </a:solidFill>
              </a:rPr>
              <a:t>经过散列函数运算得出散列</a:t>
            </a:r>
            <a:r>
              <a:rPr lang="en-US" altLang="zh-CN" sz="2000" b="1">
                <a:solidFill>
                  <a:srgbClr val="0070C0"/>
                </a:solidFill>
              </a:rPr>
              <a:t>H</a:t>
            </a:r>
            <a:r>
              <a:rPr lang="zh-CN" altLang="en-US" sz="2000" b="1">
                <a:solidFill>
                  <a:srgbClr val="0070C0"/>
                </a:solidFill>
              </a:rPr>
              <a:t>后，对</a:t>
            </a:r>
            <a:r>
              <a:rPr lang="en-US" altLang="zh-CN" sz="2000" b="1">
                <a:solidFill>
                  <a:srgbClr val="0070C0"/>
                </a:solidFill>
              </a:rPr>
              <a:t>H</a:t>
            </a:r>
            <a:r>
              <a:rPr lang="zh-CN" altLang="en-US" sz="2000" b="1">
                <a:solidFill>
                  <a:srgbClr val="0070C0"/>
                </a:solidFill>
              </a:rPr>
              <a:t>再使用秘钥</a:t>
            </a:r>
            <a:r>
              <a:rPr lang="en-US" altLang="zh-CN" sz="2000" b="1">
                <a:solidFill>
                  <a:srgbClr val="0070C0"/>
                </a:solidFill>
              </a:rPr>
              <a:t>K</a:t>
            </a:r>
            <a:r>
              <a:rPr lang="zh-CN" altLang="en-US" sz="2000" b="1">
                <a:solidFill>
                  <a:srgbClr val="0070C0"/>
                </a:solidFill>
              </a:rPr>
              <a:t>进行加密得到的结果叫做报文鉴别码</a:t>
            </a:r>
            <a:r>
              <a:rPr lang="en-US" altLang="zh-CN" sz="2000" b="1">
                <a:solidFill>
                  <a:srgbClr val="0070C0"/>
                </a:solidFill>
              </a:rPr>
              <a:t>Message Authentication Code</a:t>
            </a:r>
            <a:r>
              <a:rPr lang="zh-CN" sz="2000" b="1">
                <a:solidFill>
                  <a:srgbClr val="0070C0"/>
                </a:solidFill>
              </a:rPr>
              <a:t>）</a:t>
            </a:r>
            <a:r>
              <a:rPr sz="2000" b="1"/>
              <a:t>;</a:t>
            </a:r>
          </a:p>
          <a:p>
            <a:pPr>
              <a:defRPr/>
            </a:pPr>
            <a:r>
              <a:rPr sz="2000" b="1"/>
              <a:t>⑥ 鉴别</a:t>
            </a:r>
            <a:r>
              <a:rPr lang="zh-CN" sz="2000" b="1"/>
              <a:t>使用的</a:t>
            </a:r>
            <a:r>
              <a:rPr sz="2000" b="1"/>
              <a:t>密钥 ;</a:t>
            </a:r>
          </a:p>
          <a:p>
            <a:pPr>
              <a:defRPr/>
            </a:pPr>
            <a:r>
              <a:rPr lang="zh-CN" sz="2000" b="1"/>
              <a:t>当路由器</a:t>
            </a:r>
            <a:r>
              <a:rPr lang="en-US" altLang="zh-CN" sz="2000" b="1"/>
              <a:t>R1</a:t>
            </a:r>
            <a:r>
              <a:rPr lang="zh-CN" altLang="en-US" sz="2000" b="1"/>
              <a:t>要通过安全关联发送</a:t>
            </a:r>
            <a:r>
              <a:rPr lang="en-US" altLang="zh-CN" sz="2000" b="1"/>
              <a:t>IPsec</a:t>
            </a:r>
            <a:r>
              <a:rPr lang="zh-CN" altLang="en-US" sz="2000" b="1"/>
              <a:t>数据报时，就必须读取</a:t>
            </a:r>
            <a:r>
              <a:rPr lang="en-US" altLang="zh-CN" sz="2000" b="1"/>
              <a:t>SA</a:t>
            </a:r>
            <a:r>
              <a:rPr lang="zh-CN" altLang="en-US" sz="2000" b="1"/>
              <a:t>的这些状态信息，以便知道如何把</a:t>
            </a:r>
            <a:r>
              <a:rPr lang="en-US" altLang="zh-CN" sz="2000" b="1"/>
              <a:t>IP</a:t>
            </a:r>
            <a:r>
              <a:rPr lang="zh-CN" altLang="en-US" sz="2000" b="1"/>
              <a:t>数据报进行加密和鉴别。</a:t>
            </a:r>
            <a:endParaRPr sz="2000" b="1"/>
          </a:p>
          <a:p>
            <a:pPr>
              <a:defRPr/>
            </a:pPr>
            <a:endParaRPr sz="20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419735" y="1735455"/>
            <a:ext cx="8304530" cy="476567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sz="2000" b="1"/>
              <a:t>IP</a:t>
            </a:r>
            <a:r>
              <a:rPr lang="en-US" sz="2000" b="1"/>
              <a:t>sec</a:t>
            </a:r>
            <a:r>
              <a:rPr sz="2000" b="1"/>
              <a:t>数据报格式</a:t>
            </a:r>
            <a:r>
              <a:rPr lang="en-US" sz="2000" b="1"/>
              <a:t>(</a:t>
            </a:r>
            <a:r>
              <a:rPr lang="zh-CN" altLang="en-US" sz="2000" b="1"/>
              <a:t>以隧道方式为例</a:t>
            </a:r>
            <a:r>
              <a:rPr lang="en-US" sz="2000" b="1"/>
              <a:t>)</a:t>
            </a:r>
            <a:r>
              <a:rPr sz="2000" b="1"/>
              <a:t> :</a:t>
            </a:r>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a:p>
            <a:pPr>
              <a:defRPr/>
            </a:pPr>
            <a:endParaRPr sz="2000" b="1"/>
          </a:p>
        </p:txBody>
      </p:sp>
      <p:pic>
        <p:nvPicPr>
          <p:cNvPr id="3" name="图片 2" descr="20200924103251263"/>
          <p:cNvPicPr>
            <a:picLocks noChangeAspect="1"/>
          </p:cNvPicPr>
          <p:nvPr/>
        </p:nvPicPr>
        <p:blipFill>
          <a:blip r:embed="rId2"/>
          <a:stretch>
            <a:fillRect/>
          </a:stretch>
        </p:blipFill>
        <p:spPr>
          <a:xfrm>
            <a:off x="548005" y="2217420"/>
            <a:ext cx="8047355" cy="38017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419735" y="1735455"/>
            <a:ext cx="8304530" cy="476567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sz="2000" b="1">
                <a:sym typeface="+mn-ea"/>
              </a:rPr>
              <a:t>I</a:t>
            </a:r>
            <a:r>
              <a:rPr sz="2000" b="1">
                <a:sym typeface="+mn-ea"/>
              </a:rPr>
              <a:t>P</a:t>
            </a:r>
            <a:r>
              <a:rPr lang="en-US" sz="2000" b="1">
                <a:sym typeface="+mn-ea"/>
              </a:rPr>
              <a:t>sec</a:t>
            </a:r>
            <a:r>
              <a:rPr sz="2000" b="1">
                <a:sym typeface="+mn-ea"/>
              </a:rPr>
              <a:t>数据报</a:t>
            </a:r>
            <a:r>
              <a:rPr lang="zh-CN" sz="2000" b="1">
                <a:sym typeface="+mn-ea"/>
              </a:rPr>
              <a:t>生成过程：</a:t>
            </a:r>
          </a:p>
          <a:p>
            <a:pPr>
              <a:defRPr/>
            </a:pPr>
            <a:r>
              <a:rPr lang="en-US" altLang="zh-CN" sz="2000" b="1">
                <a:sym typeface="+mn-ea"/>
              </a:rPr>
              <a:t>1</a:t>
            </a:r>
            <a:r>
              <a:rPr lang="zh-CN" altLang="en-US" sz="2000" b="1">
                <a:sym typeface="+mn-ea"/>
              </a:rPr>
              <a:t>、在原始的 IP 数据报后面 添加 ESP 尾部 , ESP 尾部分为三个字段 :</a:t>
            </a:r>
          </a:p>
          <a:p>
            <a:pPr>
              <a:defRPr/>
            </a:pPr>
            <a:r>
              <a:rPr lang="zh-CN" altLang="en-US" sz="2000" b="1">
                <a:sym typeface="+mn-ea"/>
              </a:rPr>
              <a:t>填充字段 : 目的是 保证数据块长度是 若干字节 整数倍 ;因为加密通常都要求数据块的长度是若干字节的整数倍</a:t>
            </a:r>
          </a:p>
          <a:p>
            <a:pPr>
              <a:defRPr/>
            </a:pPr>
            <a:r>
              <a:rPr lang="zh-CN" altLang="en-US" sz="2000" b="1">
                <a:sym typeface="+mn-ea"/>
              </a:rPr>
              <a:t>填充长度 : 占</a:t>
            </a:r>
            <a:r>
              <a:rPr lang="en-US" altLang="zh-CN" sz="2000" b="1">
                <a:sym typeface="+mn-ea"/>
              </a:rPr>
              <a:t>8</a:t>
            </a:r>
            <a:r>
              <a:rPr lang="zh-CN" altLang="en-US" sz="2000" b="1">
                <a:sym typeface="+mn-ea"/>
              </a:rPr>
              <a:t>位，指出填充字段长度 ;</a:t>
            </a:r>
          </a:p>
          <a:p>
            <a:pPr>
              <a:defRPr/>
            </a:pPr>
            <a:r>
              <a:rPr lang="zh-CN" altLang="en-US" sz="2000" b="1">
                <a:sym typeface="+mn-ea"/>
              </a:rPr>
              <a:t>下一首部 : 占</a:t>
            </a:r>
            <a:r>
              <a:rPr lang="en-US" altLang="zh-CN" sz="2000" b="1">
                <a:sym typeface="+mn-ea"/>
              </a:rPr>
              <a:t>8</a:t>
            </a:r>
            <a:r>
              <a:rPr lang="zh-CN" altLang="en-US" sz="2000" b="1">
                <a:sym typeface="+mn-ea"/>
              </a:rPr>
              <a:t>位，下一个要处理的首部 , 指的是 </a:t>
            </a:r>
            <a:r>
              <a:rPr lang="en-US" altLang="zh-CN" sz="2000" b="1">
                <a:sym typeface="+mn-ea"/>
              </a:rPr>
              <a:t>ESP</a:t>
            </a:r>
            <a:r>
              <a:rPr lang="zh-CN" altLang="en-US" sz="2000" b="1">
                <a:sym typeface="+mn-ea"/>
              </a:rPr>
              <a:t>有效载荷 中的原始 IP 首部 ，隧道方式下值是</a:t>
            </a:r>
            <a:r>
              <a:rPr lang="en-US" altLang="zh-CN" sz="2000" b="1">
                <a:sym typeface="+mn-ea"/>
              </a:rPr>
              <a:t>4</a:t>
            </a:r>
            <a:r>
              <a:rPr lang="zh-CN" altLang="en-US" sz="2000" b="1">
                <a:sym typeface="+mn-ea"/>
              </a:rPr>
              <a:t>；运输方式下</a:t>
            </a:r>
            <a:r>
              <a:rPr lang="en-US" altLang="zh-CN" sz="2000" b="1">
                <a:sym typeface="+mn-ea"/>
              </a:rPr>
              <a:t>ESP</a:t>
            </a:r>
            <a:r>
              <a:rPr lang="zh-CN" altLang="en-US" sz="2000" b="1">
                <a:sym typeface="+mn-ea"/>
              </a:rPr>
              <a:t>有效载荷就是</a:t>
            </a:r>
            <a:r>
              <a:rPr lang="en-US" altLang="zh-CN" sz="2000" b="1">
                <a:sym typeface="+mn-ea"/>
              </a:rPr>
              <a:t>TCP</a:t>
            </a:r>
            <a:r>
              <a:rPr lang="zh-CN" altLang="en-US" sz="2000" b="1">
                <a:sym typeface="+mn-ea"/>
              </a:rPr>
              <a:t>或</a:t>
            </a:r>
            <a:r>
              <a:rPr lang="en-US" altLang="zh-CN" sz="2000" b="1">
                <a:sym typeface="+mn-ea"/>
              </a:rPr>
              <a:t>UDP</a:t>
            </a:r>
            <a:r>
              <a:rPr lang="zh-CN" altLang="en-US" sz="2000" b="1">
                <a:sym typeface="+mn-ea"/>
              </a:rPr>
              <a:t>报文段，其值为另外的值</a:t>
            </a:r>
          </a:p>
          <a:p>
            <a:pPr>
              <a:defRPr/>
            </a:pPr>
            <a:r>
              <a:rPr lang="en-US" altLang="zh-CN" sz="2000" b="1">
                <a:sym typeface="+mn-ea"/>
              </a:rPr>
              <a:t>2</a:t>
            </a:r>
            <a:r>
              <a:rPr lang="zh-CN" altLang="en-US" sz="2000" b="1">
                <a:sym typeface="+mn-ea"/>
              </a:rPr>
              <a:t>、按照安全关联</a:t>
            </a:r>
            <a:r>
              <a:rPr lang="en-US" altLang="zh-CN" sz="2000" b="1">
                <a:sym typeface="+mn-ea"/>
              </a:rPr>
              <a:t>SA</a:t>
            </a:r>
            <a:r>
              <a:rPr lang="zh-CN" altLang="en-US" sz="2000" b="1">
                <a:sym typeface="+mn-ea"/>
              </a:rPr>
              <a:t>指明的加密算法和秘钥，对</a:t>
            </a:r>
            <a:r>
              <a:rPr lang="en-US" altLang="zh-CN" sz="2000" b="1">
                <a:sym typeface="+mn-ea"/>
              </a:rPr>
              <a:t>“ESP</a:t>
            </a:r>
            <a:r>
              <a:rPr lang="zh-CN" altLang="en-US" sz="2000" b="1">
                <a:sym typeface="+mn-ea"/>
              </a:rPr>
              <a:t>有效载荷</a:t>
            </a:r>
            <a:r>
              <a:rPr lang="en-US" altLang="zh-CN" sz="2000" b="1">
                <a:sym typeface="+mn-ea"/>
              </a:rPr>
              <a:t>+ESP</a:t>
            </a:r>
            <a:r>
              <a:rPr lang="zh-CN" altLang="en-US" sz="2000" b="1">
                <a:sym typeface="+mn-ea"/>
              </a:rPr>
              <a:t>尾部</a:t>
            </a:r>
            <a:r>
              <a:rPr lang="en-US" altLang="zh-CN" sz="2000" b="1">
                <a:sym typeface="+mn-ea"/>
              </a:rPr>
              <a:t>”</a:t>
            </a:r>
            <a:r>
              <a:rPr lang="zh-CN" altLang="en-US" sz="2000" b="1">
                <a:sym typeface="+mn-ea"/>
              </a:rPr>
              <a:t>进行加密</a:t>
            </a:r>
          </a:p>
          <a:p>
            <a:pPr>
              <a:defRPr/>
            </a:pPr>
            <a:r>
              <a:rPr lang="en-US" altLang="zh-CN" sz="2000" b="1">
                <a:sym typeface="+mn-ea"/>
              </a:rPr>
              <a:t>3</a:t>
            </a:r>
            <a:r>
              <a:rPr lang="zh-CN" altLang="en-US" sz="2000" b="1">
                <a:sym typeface="+mn-ea"/>
              </a:rPr>
              <a:t>、添加ESP 首部 : 32 位的 安全参数索引 ( SPI , Security Parameter Index ) ;</a:t>
            </a:r>
            <a:r>
              <a:rPr lang="en-US" altLang="zh-CN" sz="2000" b="1">
                <a:sym typeface="+mn-ea"/>
              </a:rPr>
              <a:t>32</a:t>
            </a:r>
            <a:r>
              <a:rPr lang="zh-CN" altLang="en-US" sz="2000" b="1">
                <a:sym typeface="+mn-ea"/>
              </a:rPr>
              <a:t>位的序号，该序号用来防止重放攻击，分组重传时序号不重复</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419735" y="1735455"/>
            <a:ext cx="8304530" cy="476567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sz="2000" b="1" dirty="0" err="1">
                <a:sym typeface="+mn-ea"/>
              </a:rPr>
              <a:t>I</a:t>
            </a:r>
            <a:r>
              <a:rPr sz="2000" b="1" dirty="0" err="1">
                <a:sym typeface="+mn-ea"/>
              </a:rPr>
              <a:t>P</a:t>
            </a:r>
            <a:r>
              <a:rPr lang="en-US" sz="2000" b="1" dirty="0" err="1">
                <a:sym typeface="+mn-ea"/>
              </a:rPr>
              <a:t>sec</a:t>
            </a:r>
            <a:r>
              <a:rPr sz="2000" b="1" dirty="0" err="1">
                <a:sym typeface="+mn-ea"/>
              </a:rPr>
              <a:t>数据报</a:t>
            </a:r>
            <a:r>
              <a:rPr lang="zh-CN" sz="2000" b="1" dirty="0">
                <a:sym typeface="+mn-ea"/>
              </a:rPr>
              <a:t>生成过程：</a:t>
            </a:r>
          </a:p>
          <a:p>
            <a:pPr>
              <a:defRPr/>
            </a:pPr>
            <a:r>
              <a:rPr lang="en-US" altLang="zh-CN" sz="2000" b="1" dirty="0">
                <a:sym typeface="+mn-ea"/>
              </a:rPr>
              <a:t>4</a:t>
            </a:r>
            <a:r>
              <a:rPr lang="zh-CN" altLang="en-US" sz="2000" b="1" dirty="0">
                <a:sym typeface="+mn-ea"/>
              </a:rPr>
              <a:t>、按照</a:t>
            </a:r>
            <a:r>
              <a:rPr lang="en-US" altLang="zh-CN" sz="2000" b="1" dirty="0">
                <a:sym typeface="+mn-ea"/>
              </a:rPr>
              <a:t>SA</a:t>
            </a:r>
            <a:r>
              <a:rPr lang="zh-CN" altLang="en-US" sz="2000" b="1" dirty="0">
                <a:sym typeface="+mn-ea"/>
              </a:rPr>
              <a:t>指明的算法和秘钥，</a:t>
            </a:r>
            <a:r>
              <a:rPr lang="zh-CN" sz="2000" b="1" dirty="0">
                <a:sym typeface="+mn-ea"/>
              </a:rPr>
              <a:t>对</a:t>
            </a:r>
            <a:r>
              <a:rPr lang="en-US" altLang="zh-CN" sz="2000" b="1" dirty="0">
                <a:sym typeface="+mn-ea"/>
              </a:rPr>
              <a:t>“</a:t>
            </a:r>
            <a:r>
              <a:rPr lang="zh-CN" sz="2000" b="1" dirty="0">
                <a:sym typeface="+mn-ea"/>
              </a:rPr>
              <a:t>鉴别的部分</a:t>
            </a:r>
            <a:r>
              <a:rPr lang="en-US" altLang="zh-CN" sz="2000" b="1" dirty="0">
                <a:sym typeface="+mn-ea"/>
              </a:rPr>
              <a:t>”</a:t>
            </a:r>
            <a:r>
              <a:rPr lang="zh-CN" sz="2000" b="1" dirty="0">
                <a:sym typeface="+mn-ea"/>
              </a:rPr>
              <a:t>生成报文鉴别码</a:t>
            </a:r>
            <a:r>
              <a:rPr lang="en-US" altLang="zh-CN" sz="2000" b="1" dirty="0">
                <a:sym typeface="+mn-ea"/>
              </a:rPr>
              <a:t>MAC</a:t>
            </a:r>
            <a:endParaRPr lang="zh-CN" altLang="en-US" sz="2000" b="1" dirty="0">
              <a:sym typeface="+mn-ea"/>
            </a:endParaRPr>
          </a:p>
          <a:p>
            <a:pPr>
              <a:defRPr/>
            </a:pPr>
            <a:r>
              <a:rPr lang="en-US" altLang="zh-CN" sz="2000" b="1" dirty="0">
                <a:sym typeface="+mn-ea"/>
              </a:rPr>
              <a:t>5</a:t>
            </a:r>
            <a:r>
              <a:rPr lang="zh-CN" altLang="en-US" sz="2000" b="1" dirty="0">
                <a:sym typeface="+mn-ea"/>
              </a:rPr>
              <a:t>、</a:t>
            </a:r>
            <a:r>
              <a:rPr lang="zh-CN" sz="2000" b="1" dirty="0">
                <a:sym typeface="+mn-ea"/>
              </a:rPr>
              <a:t>把报文报文鉴别码</a:t>
            </a:r>
            <a:r>
              <a:rPr lang="en-US" altLang="zh-CN" sz="2000" b="1" dirty="0">
                <a:sym typeface="+mn-ea"/>
              </a:rPr>
              <a:t>MAC</a:t>
            </a:r>
            <a:r>
              <a:rPr lang="zh-CN" altLang="en-US" sz="2000" b="1" dirty="0">
                <a:sym typeface="+mn-ea"/>
              </a:rPr>
              <a:t>添加到鉴别部分的尾部；构成</a:t>
            </a:r>
            <a:r>
              <a:rPr lang="en-US" altLang="zh-CN" sz="2000" b="1" dirty="0">
                <a:sym typeface="+mn-ea"/>
              </a:rPr>
              <a:t>IP</a:t>
            </a:r>
            <a:r>
              <a:rPr lang="zh-CN" altLang="en-US" sz="2000" b="1" dirty="0">
                <a:sym typeface="+mn-ea"/>
              </a:rPr>
              <a:t>安全数据报的有效载荷；</a:t>
            </a:r>
          </a:p>
          <a:p>
            <a:pPr>
              <a:defRPr/>
            </a:pPr>
            <a:r>
              <a:rPr lang="en-US" altLang="zh-CN" sz="2000" b="1" dirty="0">
                <a:sym typeface="+mn-ea"/>
              </a:rPr>
              <a:t>6</a:t>
            </a:r>
            <a:r>
              <a:rPr lang="zh-CN" altLang="en-US" sz="2000" b="1" dirty="0">
                <a:sym typeface="+mn-ea"/>
              </a:rPr>
              <a:t>、生成新的</a:t>
            </a:r>
            <a:r>
              <a:rPr lang="en-US" altLang="zh-CN" sz="2000" b="1" dirty="0">
                <a:sym typeface="+mn-ea"/>
              </a:rPr>
              <a:t>IP</a:t>
            </a:r>
            <a:r>
              <a:rPr lang="zh-CN" altLang="en-US" sz="2000" b="1" dirty="0">
                <a:sym typeface="+mn-ea"/>
              </a:rPr>
              <a:t>首部，通常为</a:t>
            </a:r>
            <a:r>
              <a:rPr lang="en-US" altLang="zh-CN" sz="2000" b="1" dirty="0">
                <a:sym typeface="+mn-ea"/>
              </a:rPr>
              <a:t>20</a:t>
            </a:r>
            <a:r>
              <a:rPr lang="zh-CN" altLang="en-US" sz="2000" b="1" dirty="0">
                <a:sym typeface="+mn-ea"/>
              </a:rPr>
              <a:t>字节，和普通的</a:t>
            </a:r>
            <a:r>
              <a:rPr lang="en-US" altLang="zh-CN" sz="2000" b="1" dirty="0">
                <a:sym typeface="+mn-ea"/>
              </a:rPr>
              <a:t>IP</a:t>
            </a:r>
            <a:r>
              <a:rPr lang="zh-CN" altLang="en-US" sz="2000" b="1" dirty="0">
                <a:sym typeface="+mn-ea"/>
              </a:rPr>
              <a:t>数据报的格式一样，首部中的协议字段值是</a:t>
            </a:r>
            <a:r>
              <a:rPr lang="en-US" altLang="zh-CN" sz="2000" b="1" dirty="0">
                <a:sym typeface="+mn-ea"/>
              </a:rPr>
              <a:t>50</a:t>
            </a:r>
            <a:r>
              <a:rPr lang="zh-CN" altLang="en-US" sz="2000" b="1" dirty="0">
                <a:sym typeface="+mn-ea"/>
              </a:rPr>
              <a:t>，</a:t>
            </a:r>
            <a:r>
              <a:rPr lang="zh-CN" altLang="en-US" sz="2000" b="1" dirty="0" smtClean="0">
                <a:sym typeface="+mn-ea"/>
              </a:rPr>
              <a:t>表明在</a:t>
            </a:r>
            <a:r>
              <a:rPr lang="zh-CN" altLang="en-US" sz="2000" b="1" dirty="0">
                <a:sym typeface="+mn-ea"/>
              </a:rPr>
              <a:t>接收端，首部后的有效载荷应交给</a:t>
            </a:r>
            <a:r>
              <a:rPr lang="en-US" altLang="zh-CN" sz="2000" b="1" dirty="0">
                <a:sym typeface="+mn-ea"/>
              </a:rPr>
              <a:t>ESP</a:t>
            </a:r>
            <a:r>
              <a:rPr lang="zh-CN" altLang="en-US" sz="2000" b="1" dirty="0">
                <a:sym typeface="+mn-ea"/>
              </a:rPr>
              <a:t>协议来处理。</a:t>
            </a:r>
          </a:p>
          <a:p>
            <a:pPr>
              <a:defRPr/>
            </a:pPr>
            <a:endParaRPr lang="zh-CN" altLang="en-US" sz="2000" b="1" dirty="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419734" y="1735455"/>
            <a:ext cx="8472745" cy="493390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endParaRPr lang="zh-CN" altLang="en-US" sz="2000" b="1" dirty="0">
              <a:sym typeface="+mn-ea"/>
            </a:endParaRPr>
          </a:p>
        </p:txBody>
      </p:sp>
      <p:pic>
        <p:nvPicPr>
          <p:cNvPr id="2" name="图片 1"/>
          <p:cNvPicPr>
            <a:picLocks noChangeAspect="1"/>
          </p:cNvPicPr>
          <p:nvPr/>
        </p:nvPicPr>
        <p:blipFill>
          <a:blip r:embed="rId2"/>
          <a:stretch>
            <a:fillRect/>
          </a:stretch>
        </p:blipFill>
        <p:spPr>
          <a:xfrm>
            <a:off x="1115616" y="1790140"/>
            <a:ext cx="4680520" cy="2166529"/>
          </a:xfrm>
          <a:prstGeom prst="rect">
            <a:avLst/>
          </a:prstGeom>
        </p:spPr>
      </p:pic>
      <p:pic>
        <p:nvPicPr>
          <p:cNvPr id="3" name="图片 2"/>
          <p:cNvPicPr>
            <a:picLocks noChangeAspect="1"/>
          </p:cNvPicPr>
          <p:nvPr/>
        </p:nvPicPr>
        <p:blipFill>
          <a:blip r:embed="rId3"/>
          <a:stretch>
            <a:fillRect/>
          </a:stretch>
        </p:blipFill>
        <p:spPr>
          <a:xfrm>
            <a:off x="1005855" y="4149080"/>
            <a:ext cx="4790281" cy="2218972"/>
          </a:xfrm>
          <a:prstGeom prst="rect">
            <a:avLst/>
          </a:prstGeom>
        </p:spPr>
      </p:pic>
      <p:sp>
        <p:nvSpPr>
          <p:cNvPr id="4" name="文本框 3"/>
          <p:cNvSpPr txBox="1"/>
          <p:nvPr/>
        </p:nvSpPr>
        <p:spPr>
          <a:xfrm>
            <a:off x="5868144" y="2636912"/>
            <a:ext cx="2376264" cy="369332"/>
          </a:xfrm>
          <a:prstGeom prst="rect">
            <a:avLst/>
          </a:prstGeom>
          <a:noFill/>
        </p:spPr>
        <p:txBody>
          <a:bodyPr wrap="square" rtlCol="0">
            <a:spAutoFit/>
          </a:bodyPr>
          <a:lstStyle/>
          <a:p>
            <a:r>
              <a:rPr lang="zh-CN" altLang="en-US" dirty="0" smtClean="0"/>
              <a:t>运输方式下的</a:t>
            </a:r>
            <a:r>
              <a:rPr lang="en-US" altLang="zh-CN" dirty="0" smtClean="0"/>
              <a:t>AH</a:t>
            </a:r>
            <a:r>
              <a:rPr lang="zh-CN" altLang="en-US" dirty="0" smtClean="0"/>
              <a:t>协议</a:t>
            </a:r>
            <a:endParaRPr lang="zh-CN" altLang="en-US" dirty="0"/>
          </a:p>
        </p:txBody>
      </p:sp>
      <p:sp>
        <p:nvSpPr>
          <p:cNvPr id="8" name="文本框 7"/>
          <p:cNvSpPr txBox="1"/>
          <p:nvPr/>
        </p:nvSpPr>
        <p:spPr>
          <a:xfrm>
            <a:off x="5861462" y="5258566"/>
            <a:ext cx="2526962" cy="369332"/>
          </a:xfrm>
          <a:prstGeom prst="rect">
            <a:avLst/>
          </a:prstGeom>
          <a:noFill/>
        </p:spPr>
        <p:txBody>
          <a:bodyPr wrap="square" rtlCol="0">
            <a:spAutoFit/>
          </a:bodyPr>
          <a:lstStyle/>
          <a:p>
            <a:r>
              <a:rPr lang="zh-CN" altLang="en-US" dirty="0" smtClean="0"/>
              <a:t>运输方式下的</a:t>
            </a:r>
            <a:r>
              <a:rPr lang="en-US" altLang="zh-CN" dirty="0" smtClean="0"/>
              <a:t>ESP</a:t>
            </a:r>
            <a:r>
              <a:rPr lang="zh-CN" altLang="en-US" dirty="0" smtClean="0"/>
              <a:t>协议</a:t>
            </a:r>
            <a:endParaRPr lang="zh-CN" altLang="en-US" dirty="0"/>
          </a:p>
        </p:txBody>
      </p:sp>
    </p:spTree>
    <p:extLst>
      <p:ext uri="{BB962C8B-B14F-4D97-AF65-F5344CB8AC3E}">
        <p14:creationId xmlns:p14="http://schemas.microsoft.com/office/powerpoint/2010/main" val="3183085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6626" name="Rectangle 9"/>
          <p:cNvSpPr>
            <a:spLocks noChangeArrowheads="1"/>
          </p:cNvSpPr>
          <p:nvPr/>
        </p:nvSpPr>
        <p:spPr bwMode="auto">
          <a:xfrm>
            <a:off x="971550" y="1274763"/>
            <a:ext cx="4608513" cy="460375"/>
          </a:xfrm>
          <a:prstGeom prst="rect">
            <a:avLst/>
          </a:prstGeom>
          <a:noFill/>
          <a:ln w="9525">
            <a:noFill/>
            <a:miter lim="800000"/>
          </a:ln>
        </p:spPr>
        <p:txBody>
          <a:bodyPr anchor="ctr">
            <a:spAutoFit/>
          </a:bodyPr>
          <a:lstStyle/>
          <a:p>
            <a:r>
              <a:rPr lang="zh-CN" sz="2400" b="1">
                <a:solidFill>
                  <a:srgbClr val="CC0000"/>
                </a:solidFill>
              </a:rPr>
              <a:t>【扩展】网络层安全协议</a:t>
            </a:r>
            <a:r>
              <a:rPr lang="en-US" altLang="zh-CN" sz="2400" b="1">
                <a:solidFill>
                  <a:srgbClr val="CC0000"/>
                </a:solidFill>
              </a:rPr>
              <a:t>IPsec</a:t>
            </a:r>
          </a:p>
        </p:txBody>
      </p:sp>
      <p:sp>
        <p:nvSpPr>
          <p:cNvPr id="19" name="圆角矩形 18"/>
          <p:cNvSpPr/>
          <p:nvPr/>
        </p:nvSpPr>
        <p:spPr bwMode="gray">
          <a:xfrm>
            <a:off x="419734" y="1735455"/>
            <a:ext cx="8472745" cy="4933905"/>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endParaRPr lang="zh-CN" altLang="en-US" sz="2000" b="1" dirty="0">
              <a:sym typeface="+mn-ea"/>
            </a:endParaRPr>
          </a:p>
        </p:txBody>
      </p:sp>
      <p:sp>
        <p:nvSpPr>
          <p:cNvPr id="4" name="文本框 3"/>
          <p:cNvSpPr txBox="1"/>
          <p:nvPr/>
        </p:nvSpPr>
        <p:spPr>
          <a:xfrm>
            <a:off x="5868144" y="2636912"/>
            <a:ext cx="2376264" cy="369332"/>
          </a:xfrm>
          <a:prstGeom prst="rect">
            <a:avLst/>
          </a:prstGeom>
          <a:noFill/>
        </p:spPr>
        <p:txBody>
          <a:bodyPr wrap="square" rtlCol="0">
            <a:spAutoFit/>
          </a:bodyPr>
          <a:lstStyle/>
          <a:p>
            <a:r>
              <a:rPr lang="zh-CN" altLang="en-US" dirty="0" smtClean="0"/>
              <a:t>隧道方式下的</a:t>
            </a:r>
            <a:r>
              <a:rPr lang="en-US" altLang="zh-CN" dirty="0" smtClean="0"/>
              <a:t>AH</a:t>
            </a:r>
            <a:r>
              <a:rPr lang="zh-CN" altLang="en-US" dirty="0" smtClean="0"/>
              <a:t>协议</a:t>
            </a:r>
            <a:endParaRPr lang="zh-CN" altLang="en-US" dirty="0"/>
          </a:p>
        </p:txBody>
      </p:sp>
      <p:sp>
        <p:nvSpPr>
          <p:cNvPr id="8" name="文本框 7"/>
          <p:cNvSpPr txBox="1"/>
          <p:nvPr/>
        </p:nvSpPr>
        <p:spPr>
          <a:xfrm>
            <a:off x="5868144" y="5260810"/>
            <a:ext cx="2526962" cy="369332"/>
          </a:xfrm>
          <a:prstGeom prst="rect">
            <a:avLst/>
          </a:prstGeom>
          <a:noFill/>
        </p:spPr>
        <p:txBody>
          <a:bodyPr wrap="square" rtlCol="0">
            <a:spAutoFit/>
          </a:bodyPr>
          <a:lstStyle/>
          <a:p>
            <a:r>
              <a:rPr lang="zh-CN" altLang="en-US" dirty="0"/>
              <a:t>隧道</a:t>
            </a:r>
            <a:r>
              <a:rPr lang="zh-CN" altLang="en-US" dirty="0" smtClean="0"/>
              <a:t>方式下的</a:t>
            </a:r>
            <a:r>
              <a:rPr lang="en-US" altLang="zh-CN" dirty="0" smtClean="0"/>
              <a:t>ESP</a:t>
            </a:r>
            <a:r>
              <a:rPr lang="zh-CN" altLang="en-US" dirty="0" smtClean="0"/>
              <a:t>协议</a:t>
            </a:r>
            <a:endParaRPr lang="zh-CN" altLang="en-US" dirty="0"/>
          </a:p>
        </p:txBody>
      </p:sp>
      <p:pic>
        <p:nvPicPr>
          <p:cNvPr id="5" name="图片 4"/>
          <p:cNvPicPr>
            <a:picLocks noChangeAspect="1"/>
          </p:cNvPicPr>
          <p:nvPr/>
        </p:nvPicPr>
        <p:blipFill>
          <a:blip r:embed="rId2"/>
          <a:stretch>
            <a:fillRect/>
          </a:stretch>
        </p:blipFill>
        <p:spPr>
          <a:xfrm>
            <a:off x="945609" y="1933972"/>
            <a:ext cx="4778520" cy="1943685"/>
          </a:xfrm>
          <a:prstGeom prst="rect">
            <a:avLst/>
          </a:prstGeom>
        </p:spPr>
      </p:pic>
      <p:pic>
        <p:nvPicPr>
          <p:cNvPr id="6" name="图片 5"/>
          <p:cNvPicPr>
            <a:picLocks noChangeAspect="1"/>
          </p:cNvPicPr>
          <p:nvPr/>
        </p:nvPicPr>
        <p:blipFill>
          <a:blip r:embed="rId3"/>
          <a:stretch>
            <a:fillRect/>
          </a:stretch>
        </p:blipFill>
        <p:spPr>
          <a:xfrm>
            <a:off x="1082579" y="4076174"/>
            <a:ext cx="4608513" cy="2387045"/>
          </a:xfrm>
          <a:prstGeom prst="rect">
            <a:avLst/>
          </a:prstGeom>
        </p:spPr>
      </p:pic>
    </p:spTree>
    <p:extLst>
      <p:ext uri="{BB962C8B-B14F-4D97-AF65-F5344CB8AC3E}">
        <p14:creationId xmlns:p14="http://schemas.microsoft.com/office/powerpoint/2010/main" val="3790276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txBox="1">
            <a:spLocks noChangeArrowheads="1"/>
          </p:cNvSpPr>
          <p:nvPr/>
        </p:nvSpPr>
        <p:spPr bwMode="auto">
          <a:xfrm>
            <a:off x="419100"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7650" name="Rectangle 9"/>
          <p:cNvSpPr>
            <a:spLocks noChangeArrowheads="1"/>
          </p:cNvSpPr>
          <p:nvPr/>
        </p:nvSpPr>
        <p:spPr bwMode="auto">
          <a:xfrm>
            <a:off x="1116013" y="1233488"/>
            <a:ext cx="4608512" cy="460375"/>
          </a:xfrm>
          <a:prstGeom prst="rect">
            <a:avLst/>
          </a:prstGeom>
          <a:noFill/>
          <a:ln w="9525">
            <a:noFill/>
            <a:miter lim="800000"/>
          </a:ln>
        </p:spPr>
        <p:txBody>
          <a:bodyPr anchor="ctr">
            <a:spAutoFit/>
          </a:bodyPr>
          <a:lstStyle/>
          <a:p>
            <a:r>
              <a:rPr lang="en-US" altLang="zh-CN" sz="2400" b="1">
                <a:solidFill>
                  <a:srgbClr val="CC0000"/>
                </a:solidFill>
              </a:rPr>
              <a:t>3.</a:t>
            </a:r>
            <a:r>
              <a:rPr lang="zh-CN" altLang="en-US" sz="2400" b="1">
                <a:solidFill>
                  <a:srgbClr val="CC0000"/>
                </a:solidFill>
              </a:rPr>
              <a:t>TCP/IP传输层的安全性</a:t>
            </a:r>
          </a:p>
        </p:txBody>
      </p:sp>
      <p:sp>
        <p:nvSpPr>
          <p:cNvPr id="19" name="圆角矩形 18"/>
          <p:cNvSpPr/>
          <p:nvPr/>
        </p:nvSpPr>
        <p:spPr bwMode="gray">
          <a:xfrm>
            <a:off x="419100" y="1692275"/>
            <a:ext cx="8305800" cy="4237038"/>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zh-CN" altLang="en-US" sz="2200" b="1" smtClean="0">
                <a:solidFill>
                  <a:srgbClr val="C00000"/>
                </a:solidFill>
                <a:ea typeface="仿宋_GB2312" panose="02010609030101010101" pitchFamily="49" charset="-122"/>
              </a:rPr>
              <a:t>TCP/IP传输层</a:t>
            </a:r>
            <a:r>
              <a:rPr lang="zh-CN" altLang="en-US" sz="2200" b="1" smtClean="0">
                <a:ea typeface="仿宋_GB2312" panose="02010609030101010101" pitchFamily="49" charset="-122"/>
              </a:rPr>
              <a:t>主要包括传输控制协议TCP和用户数据报协议UDP</a:t>
            </a:r>
            <a:r>
              <a:rPr lang="en-US" altLang="zh-CN" sz="2200" b="1" smtClean="0">
                <a:ea typeface="仿宋_GB2312" panose="02010609030101010101" pitchFamily="49" charset="-122"/>
              </a:rPr>
              <a:t>,</a:t>
            </a:r>
            <a:r>
              <a:rPr lang="zh-CN" altLang="en-US" sz="2200" b="1" smtClean="0">
                <a:ea typeface="仿宋_GB2312" panose="02010609030101010101" pitchFamily="49" charset="-122"/>
              </a:rPr>
              <a:t>其安全措施主要取决于具体的协议</a:t>
            </a:r>
            <a:r>
              <a:rPr lang="en-US" altLang="zh-CN" sz="2200" b="1" smtClean="0">
                <a:ea typeface="仿宋_GB2312" panose="02010609030101010101" pitchFamily="49" charset="-122"/>
              </a:rPr>
              <a:t>.</a:t>
            </a:r>
            <a:r>
              <a:rPr lang="zh-CN" altLang="en-US" sz="2200" b="1" smtClean="0">
                <a:solidFill>
                  <a:srgbClr val="FF0000"/>
                </a:solidFill>
                <a:ea typeface="仿宋_GB2312" panose="02010609030101010101" pitchFamily="49" charset="-122"/>
              </a:rPr>
              <a:t>传输层的安全</a:t>
            </a:r>
            <a:r>
              <a:rPr lang="zh-CN" altLang="en-US" sz="2200" b="1" smtClean="0">
                <a:ea typeface="仿宋_GB2312" panose="02010609030101010101" pitchFamily="49" charset="-122"/>
              </a:rPr>
              <a:t>主要包括</a:t>
            </a:r>
            <a:r>
              <a:rPr lang="en-US" altLang="zh-CN" sz="2200" b="1" smtClean="0">
                <a:ea typeface="仿宋_GB2312" panose="02010609030101010101" pitchFamily="49" charset="-122"/>
              </a:rPr>
              <a:t>:</a:t>
            </a:r>
            <a:r>
              <a:rPr lang="zh-CN" altLang="en-US" sz="2200" b="1" smtClean="0">
                <a:latin typeface="Times New Roman" panose="02020603050405020304" pitchFamily="18" charset="0"/>
                <a:ea typeface="仿宋_GB2312" panose="02010609030101010101" pitchFamily="49" charset="-122"/>
              </a:rPr>
              <a:t>传输与控制安全、数据交换与认证安全、数据保密性与完整性等</a:t>
            </a:r>
            <a:r>
              <a:rPr lang="en-US" altLang="zh-CN" sz="2200" b="1" smtClean="0">
                <a:latin typeface="Times New Roman" panose="02020603050405020304" pitchFamily="18" charset="0"/>
                <a:ea typeface="仿宋_GB2312" panose="02010609030101010101" pitchFamily="49" charset="-122"/>
              </a:rPr>
              <a:t>.</a:t>
            </a:r>
            <a:r>
              <a:rPr lang="zh-CN" altLang="en-US" sz="2200" b="1" smtClean="0">
                <a:latin typeface="Times New Roman" panose="02020603050405020304" pitchFamily="18" charset="0"/>
                <a:ea typeface="仿宋_GB2312" panose="02010609030101010101" pitchFamily="49" charset="-122"/>
              </a:rPr>
              <a:t>TCP是一面向连接协议</a:t>
            </a:r>
            <a:r>
              <a:rPr lang="en-US" altLang="zh-CN" sz="2200" b="1" smtClean="0">
                <a:latin typeface="Times New Roman" panose="02020603050405020304" pitchFamily="18" charset="0"/>
                <a:ea typeface="仿宋_GB2312" panose="02010609030101010101" pitchFamily="49" charset="-122"/>
              </a:rPr>
              <a:t>,</a:t>
            </a:r>
            <a:r>
              <a:rPr lang="zh-CN" altLang="en-US" sz="2200" b="1" smtClean="0">
                <a:latin typeface="Times New Roman" panose="02020603050405020304" pitchFamily="18" charset="0"/>
                <a:ea typeface="仿宋_GB2312" panose="02010609030101010101" pitchFamily="49" charset="-122"/>
              </a:rPr>
              <a:t>用于多数互联网服务</a:t>
            </a:r>
            <a:r>
              <a:rPr lang="en-US" altLang="zh-CN" sz="2200" b="1" smtClean="0">
                <a:latin typeface="Times New Roman" panose="02020603050405020304" pitchFamily="18" charset="0"/>
                <a:ea typeface="仿宋_GB2312" panose="02010609030101010101" pitchFamily="49" charset="-122"/>
              </a:rPr>
              <a:t>:</a:t>
            </a:r>
            <a:r>
              <a:rPr lang="zh-CN" altLang="en-US" sz="2200" b="1" smtClean="0">
                <a:latin typeface="Times New Roman" panose="02020603050405020304" pitchFamily="18" charset="0"/>
                <a:ea typeface="仿宋_GB2312" panose="02010609030101010101" pitchFamily="49" charset="-122"/>
              </a:rPr>
              <a:t>HTTP、FTP和SMTP</a:t>
            </a:r>
            <a:r>
              <a:rPr lang="en-US" altLang="zh-CN" sz="2200" b="1" smtClean="0">
                <a:latin typeface="Times New Roman" panose="02020603050405020304" pitchFamily="18" charset="0"/>
                <a:ea typeface="仿宋_GB2312" panose="02010609030101010101" pitchFamily="49" charset="-122"/>
              </a:rPr>
              <a:t>.</a:t>
            </a:r>
            <a:r>
              <a:rPr lang="zh-CN" altLang="en-US" sz="2200" b="1" smtClean="0">
                <a:latin typeface="Times New Roman" panose="02020603050405020304" pitchFamily="18" charset="0"/>
                <a:ea typeface="仿宋_GB2312" panose="02010609030101010101" pitchFamily="49" charset="-122"/>
              </a:rPr>
              <a:t>为了保证传输层的安全设计了安全套接层协议SSL</a:t>
            </a:r>
            <a:r>
              <a:rPr lang="en-US" altLang="zh-CN" sz="2200" b="1" smtClean="0">
                <a:latin typeface="Times New Roman" panose="02020603050405020304" pitchFamily="18" charset="0"/>
                <a:ea typeface="仿宋_GB2312" panose="02010609030101010101" pitchFamily="49" charset="-122"/>
              </a:rPr>
              <a:t>(</a:t>
            </a:r>
            <a:r>
              <a:rPr lang="zh-CN" altLang="en-US" sz="2200" b="1" smtClean="0">
                <a:latin typeface="Times New Roman" panose="02020603050405020304" pitchFamily="18" charset="0"/>
                <a:ea typeface="仿宋_GB2312" panose="02010609030101010101" pitchFamily="49" charset="-122"/>
              </a:rPr>
              <a:t>Secure Socket Layer</a:t>
            </a:r>
            <a:r>
              <a:rPr lang="en-US" altLang="zh-CN" sz="2200" b="1" smtClean="0">
                <a:latin typeface="Times New Roman" panose="02020603050405020304" pitchFamily="18" charset="0"/>
                <a:ea typeface="仿宋_GB2312" panose="02010609030101010101" pitchFamily="49" charset="-122"/>
              </a:rPr>
              <a:t>),</a:t>
            </a:r>
            <a:r>
              <a:rPr lang="zh-CN" altLang="en-US" sz="2200" b="1" smtClean="0">
                <a:latin typeface="Times New Roman" panose="02020603050405020304" pitchFamily="18" charset="0"/>
                <a:ea typeface="仿宋_GB2312" panose="02010609030101010101" pitchFamily="49" charset="-122"/>
              </a:rPr>
              <a:t>现更名传输层协议TLS</a:t>
            </a:r>
            <a:r>
              <a:rPr lang="en-US" altLang="zh-CN" sz="2200" b="1" smtClean="0">
                <a:latin typeface="Times New Roman" panose="02020603050405020304" pitchFamily="18" charset="0"/>
                <a:ea typeface="仿宋_GB2312" panose="02010609030101010101" pitchFamily="49" charset="-122"/>
              </a:rPr>
              <a:t>(</a:t>
            </a:r>
            <a:r>
              <a:rPr lang="zh-CN" altLang="en-US" sz="2200" b="1" smtClean="0">
                <a:latin typeface="Times New Roman" panose="02020603050405020304" pitchFamily="18" charset="0"/>
                <a:ea typeface="仿宋_GB2312" panose="02010609030101010101" pitchFamily="49" charset="-122"/>
              </a:rPr>
              <a:t>Transport Layer Security</a:t>
            </a:r>
            <a:r>
              <a:rPr lang="en-US" altLang="zh-CN" sz="2200" b="1" smtClean="0">
                <a:latin typeface="Times New Roman" panose="02020603050405020304" pitchFamily="18" charset="0"/>
                <a:ea typeface="仿宋_GB2312" panose="02010609030101010101" pitchFamily="49" charset="-122"/>
              </a:rPr>
              <a:t>),</a:t>
            </a:r>
            <a:r>
              <a:rPr lang="zh-CN" altLang="en-US" sz="2200" b="1" smtClean="0">
                <a:latin typeface="Times New Roman" panose="02020603050405020304" pitchFamily="18" charset="0"/>
                <a:ea typeface="仿宋_GB2312" panose="02010609030101010101" pitchFamily="49" charset="-122"/>
              </a:rPr>
              <a:t>主要包括SSL握手</a:t>
            </a:r>
            <a:r>
              <a:rPr lang="zh-CN" altLang="en-US" sz="2200" b="1" smtClean="0">
                <a:ea typeface="仿宋_GB2312" panose="02010609030101010101" pitchFamily="49" charset="-122"/>
              </a:rPr>
              <a:t>协议和记录协议。</a:t>
            </a:r>
          </a:p>
          <a:p>
            <a:pPr>
              <a:defRPr/>
            </a:pPr>
            <a:r>
              <a:rPr lang="zh-CN" altLang="en-US" sz="2200" b="1" smtClean="0">
                <a:solidFill>
                  <a:srgbClr val="C00000"/>
                </a:solidFill>
                <a:ea typeface="仿宋_GB2312" panose="02010609030101010101" pitchFamily="49" charset="-122"/>
              </a:rPr>
              <a:t>SSL协议</a:t>
            </a:r>
            <a:r>
              <a:rPr lang="zh-CN" altLang="en-US" sz="2200" b="1" smtClean="0">
                <a:ea typeface="仿宋_GB2312" panose="02010609030101010101" pitchFamily="49" charset="-122"/>
              </a:rPr>
              <a:t>用于数据认证和数据加密的过程，利用多种有效密钥交换算法和机制。SSL记录协议对应用程序提供的信息分段、压缩、认证和加密</a:t>
            </a:r>
            <a:r>
              <a:rPr lang="en-US" altLang="zh-CN" sz="2200" b="1" smtClean="0">
                <a:ea typeface="仿宋_GB2312" panose="02010609030101010101" pitchFamily="49" charset="-122"/>
              </a:rPr>
              <a:t>.</a:t>
            </a:r>
            <a:r>
              <a:rPr lang="zh-CN" altLang="en-US" sz="2200" b="1" smtClean="0">
                <a:ea typeface="仿宋_GB2312" panose="02010609030101010101" pitchFamily="49" charset="-122"/>
              </a:rPr>
              <a:t>此协议提供了身份验证、完整性检验和保密性服务</a:t>
            </a:r>
            <a:r>
              <a:rPr lang="en-US" altLang="zh-CN" sz="2200" b="1" smtClean="0">
                <a:ea typeface="仿宋_GB2312" panose="02010609030101010101" pitchFamily="49" charset="-122"/>
              </a:rPr>
              <a:t>,</a:t>
            </a:r>
            <a:r>
              <a:rPr lang="zh-CN" altLang="en-US" sz="2200" b="1" smtClean="0">
                <a:ea typeface="仿宋_GB2312" panose="02010609030101010101" pitchFamily="49" charset="-122"/>
              </a:rPr>
              <a:t>密钥管理的安全服务可为各种传输协议重复使用。</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txBox="1">
            <a:spLocks noChangeArrowheads="1"/>
          </p:cNvSpPr>
          <p:nvPr/>
        </p:nvSpPr>
        <p:spPr bwMode="auto">
          <a:xfrm>
            <a:off x="419100"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7650" name="Rectangle 9"/>
          <p:cNvSpPr>
            <a:spLocks noChangeArrowheads="1"/>
          </p:cNvSpPr>
          <p:nvPr/>
        </p:nvSpPr>
        <p:spPr bwMode="auto">
          <a:xfrm>
            <a:off x="539115" y="1231900"/>
            <a:ext cx="7609205" cy="460375"/>
          </a:xfrm>
          <a:prstGeom prst="rect">
            <a:avLst/>
          </a:prstGeom>
          <a:noFill/>
          <a:ln w="9525">
            <a:noFill/>
            <a:miter lim="800000"/>
          </a:ln>
        </p:spPr>
        <p:txBody>
          <a:bodyPr wrap="square" anchor="ctr">
            <a:spAutoFit/>
          </a:bodyPr>
          <a:lstStyle/>
          <a:p>
            <a:r>
              <a:rPr lang="zh-CN" sz="2400" b="1">
                <a:solidFill>
                  <a:srgbClr val="CC0000"/>
                </a:solidFill>
                <a:sym typeface="+mn-ea"/>
              </a:rPr>
              <a:t>【扩展】</a:t>
            </a:r>
            <a:r>
              <a:rPr sz="2400" b="1">
                <a:solidFill>
                  <a:srgbClr val="CC0000"/>
                </a:solidFill>
                <a:sym typeface="+mn-ea"/>
              </a:rPr>
              <a:t>安全套接字</a:t>
            </a:r>
            <a:r>
              <a:rPr lang="zh-CN" sz="2400" b="1">
                <a:solidFill>
                  <a:srgbClr val="CC0000"/>
                </a:solidFill>
                <a:sym typeface="+mn-ea"/>
              </a:rPr>
              <a:t>层</a:t>
            </a:r>
            <a:r>
              <a:rPr sz="2400" b="1">
                <a:solidFill>
                  <a:srgbClr val="CC0000"/>
                </a:solidFill>
                <a:sym typeface="+mn-ea"/>
              </a:rPr>
              <a:t>（Secure Socket Layer，SSL）</a:t>
            </a:r>
          </a:p>
        </p:txBody>
      </p:sp>
      <p:sp>
        <p:nvSpPr>
          <p:cNvPr id="19" name="圆角矩形 18"/>
          <p:cNvSpPr/>
          <p:nvPr/>
        </p:nvSpPr>
        <p:spPr bwMode="gray">
          <a:xfrm>
            <a:off x="419100" y="1692275"/>
            <a:ext cx="8305800" cy="4237038"/>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2200" b="1" smtClean="0">
                <a:ea typeface="仿宋_GB2312" panose="02010609030101010101" pitchFamily="49" charset="-122"/>
              </a:rPr>
              <a:t>SSL</a:t>
            </a:r>
            <a:r>
              <a:rPr lang="zh-CN" altLang="en-US" sz="2200" b="1" smtClean="0">
                <a:ea typeface="仿宋_GB2312" panose="02010609030101010101" pitchFamily="49" charset="-122"/>
              </a:rPr>
              <a:t>协议是</a:t>
            </a:r>
            <a:r>
              <a:rPr lang="en-US" altLang="zh-CN" sz="2200" b="1" smtClean="0">
                <a:ea typeface="仿宋_GB2312" panose="02010609030101010101" pitchFamily="49" charset="-122"/>
              </a:rPr>
              <a:t>Netscape</a:t>
            </a:r>
            <a:r>
              <a:rPr lang="zh-CN" altLang="en-US" sz="2200" b="1" smtClean="0">
                <a:ea typeface="仿宋_GB2312" panose="02010609030101010101" pitchFamily="49" charset="-122"/>
              </a:rPr>
              <a:t>公司在</a:t>
            </a:r>
            <a:r>
              <a:rPr lang="en-US" altLang="zh-CN" sz="2200" b="1" smtClean="0">
                <a:ea typeface="仿宋_GB2312" panose="02010609030101010101" pitchFamily="49" charset="-122"/>
              </a:rPr>
              <a:t>1994</a:t>
            </a:r>
            <a:r>
              <a:rPr lang="zh-CN" altLang="en-US" sz="2200" b="1" smtClean="0">
                <a:ea typeface="仿宋_GB2312" panose="02010609030101010101" pitchFamily="49" charset="-122"/>
              </a:rPr>
              <a:t>年开发的安全协议，广泛用于基于万维网的各种网络应用（不限于万维网）。</a:t>
            </a:r>
            <a:r>
              <a:rPr lang="en-US" altLang="zh-CN" sz="2200" b="1" smtClean="0">
                <a:ea typeface="仿宋_GB2312" panose="02010609030101010101" pitchFamily="49" charset="-122"/>
              </a:rPr>
              <a:t>SSL</a:t>
            </a:r>
            <a:r>
              <a:rPr lang="zh-CN" altLang="en-US" sz="2200" b="1" smtClean="0">
                <a:ea typeface="仿宋_GB2312" panose="02010609030101010101" pitchFamily="49" charset="-122"/>
              </a:rPr>
              <a:t>位于</a:t>
            </a:r>
            <a:r>
              <a:rPr lang="en-US" altLang="zh-CN" sz="2200" b="1" smtClean="0">
                <a:ea typeface="仿宋_GB2312" panose="02010609030101010101" pitchFamily="49" charset="-122"/>
              </a:rPr>
              <a:t>传输层协议（如：TCP）之上，应用层（如：HTTP）之下。使用TCP来提供一种可靠的端到端的安全服务，它是客户/服务器应用之间的通信不被攻击窃听，并且始终对服务器进行认证，还可以选择对客户进行认证。</a:t>
            </a:r>
          </a:p>
          <a:p>
            <a:pPr>
              <a:defRPr/>
            </a:pPr>
            <a:r>
              <a:rPr lang="en-US" altLang="zh-CN" sz="2200" b="1" smtClean="0">
                <a:ea typeface="仿宋_GB2312" panose="02010609030101010101" pitchFamily="49" charset="-122"/>
              </a:rPr>
              <a:t>SSL</a:t>
            </a:r>
            <a:r>
              <a:rPr lang="zh-CN" altLang="en-US" sz="2200" b="1" smtClean="0">
                <a:ea typeface="仿宋_GB2312" panose="02010609030101010101" pitchFamily="49" charset="-122"/>
              </a:rPr>
              <a:t>在</a:t>
            </a:r>
            <a:r>
              <a:rPr lang="en-US" altLang="zh-CN" sz="2200" b="1" smtClean="0">
                <a:ea typeface="仿宋_GB2312" panose="02010609030101010101" pitchFamily="49" charset="-122"/>
              </a:rPr>
              <a:t>1995</a:t>
            </a:r>
            <a:r>
              <a:rPr lang="zh-CN" altLang="en-US" sz="2200" b="1" smtClean="0">
                <a:ea typeface="仿宋_GB2312" panose="02010609030101010101" pitchFamily="49" charset="-122"/>
              </a:rPr>
              <a:t>年转交给</a:t>
            </a:r>
            <a:r>
              <a:rPr lang="en-US" altLang="zh-CN" sz="2200" b="1" smtClean="0">
                <a:ea typeface="仿宋_GB2312" panose="02010609030101010101" pitchFamily="49" charset="-122"/>
              </a:rPr>
              <a:t>IETF</a:t>
            </a:r>
            <a:r>
              <a:rPr lang="zh-CN" altLang="en-US" sz="2200" b="1" smtClean="0">
                <a:ea typeface="仿宋_GB2312" panose="02010609030101010101" pitchFamily="49" charset="-122"/>
              </a:rPr>
              <a:t>，</a:t>
            </a:r>
            <a:r>
              <a:rPr lang="en-US" altLang="zh-CN" sz="2200" b="1" smtClean="0">
                <a:ea typeface="仿宋_GB2312" panose="02010609030101010101" pitchFamily="49" charset="-122"/>
                <a:sym typeface="+mn-ea"/>
              </a:rPr>
              <a:t>IETF</a:t>
            </a:r>
            <a:r>
              <a:rPr lang="zh-CN" altLang="en-US" sz="2200" b="1" smtClean="0">
                <a:ea typeface="仿宋_GB2312" panose="02010609030101010101" pitchFamily="49" charset="-122"/>
                <a:sym typeface="+mn-ea"/>
              </a:rPr>
              <a:t>在</a:t>
            </a:r>
            <a:r>
              <a:rPr lang="en-US" altLang="zh-CN" sz="2200" b="1" smtClean="0">
                <a:ea typeface="仿宋_GB2312" panose="02010609030101010101" pitchFamily="49" charset="-122"/>
                <a:sym typeface="+mn-ea"/>
              </a:rPr>
              <a:t>SSL3.0</a:t>
            </a:r>
            <a:r>
              <a:rPr lang="zh-CN" altLang="en-US" sz="2200" b="1" smtClean="0">
                <a:ea typeface="仿宋_GB2312" panose="02010609030101010101" pitchFamily="49" charset="-122"/>
                <a:sym typeface="+mn-ea"/>
              </a:rPr>
              <a:t>的基础上设计了</a:t>
            </a:r>
            <a:r>
              <a:rPr lang="en-US" altLang="zh-CN" sz="2200" b="1" smtClean="0">
                <a:ea typeface="仿宋_GB2312" panose="02010609030101010101" pitchFamily="49" charset="-122"/>
                <a:sym typeface="+mn-ea"/>
              </a:rPr>
              <a:t>TLS</a:t>
            </a:r>
            <a:r>
              <a:rPr lang="zh-CN" altLang="en-US" sz="2200" b="1" smtClean="0">
                <a:ea typeface="仿宋_GB2312" panose="02010609030101010101" pitchFamily="49" charset="-122"/>
                <a:sym typeface="+mn-ea"/>
              </a:rPr>
              <a:t>（</a:t>
            </a:r>
            <a:r>
              <a:rPr lang="en-US" altLang="zh-CN" sz="2200" b="1" smtClean="0">
                <a:ea typeface="仿宋_GB2312" panose="02010609030101010101" pitchFamily="49" charset="-122"/>
                <a:sym typeface="+mn-ea"/>
              </a:rPr>
              <a:t>Transport Layer Security</a:t>
            </a:r>
            <a:r>
              <a:rPr lang="zh-CN" altLang="en-US" sz="2200" b="1" smtClean="0">
                <a:ea typeface="仿宋_GB2312" panose="02010609030101010101" pitchFamily="49" charset="-122"/>
                <a:sym typeface="+mn-ea"/>
              </a:rPr>
              <a:t>），为所有基于</a:t>
            </a:r>
            <a:r>
              <a:rPr lang="en-US" altLang="zh-CN" sz="2200" b="1" smtClean="0">
                <a:ea typeface="仿宋_GB2312" panose="02010609030101010101" pitchFamily="49" charset="-122"/>
                <a:sym typeface="+mn-ea"/>
              </a:rPr>
              <a:t>TCP</a:t>
            </a:r>
            <a:r>
              <a:rPr lang="zh-CN" altLang="en-US" sz="2200" b="1" smtClean="0">
                <a:ea typeface="仿宋_GB2312" panose="02010609030101010101" pitchFamily="49" charset="-122"/>
                <a:sym typeface="+mn-ea"/>
              </a:rPr>
              <a:t>的网络应用提供安全数据传输服务。</a:t>
            </a:r>
          </a:p>
          <a:p>
            <a:pPr>
              <a:defRPr/>
            </a:pPr>
            <a:r>
              <a:rPr lang="zh-CN" altLang="en-US" sz="2200" b="1" smtClean="0">
                <a:ea typeface="仿宋_GB2312" panose="02010609030101010101" pitchFamily="49" charset="-122"/>
                <a:sym typeface="+mn-ea"/>
              </a:rPr>
              <a:t>安全套接字（Secure Socket Layer，SSL）协议是一种常用于Web浏览器与Web服务器之间安全交换信息的加密协议，提供三个基本的安全服务：完整性、保密性、认证性。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txBox="1">
            <a:spLocks noChangeArrowheads="1"/>
          </p:cNvSpPr>
          <p:nvPr/>
        </p:nvSpPr>
        <p:spPr bwMode="auto">
          <a:xfrm>
            <a:off x="419100"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pic>
        <p:nvPicPr>
          <p:cNvPr id="2" name="图片 1" descr="20180622174627696"/>
          <p:cNvPicPr>
            <a:picLocks noChangeAspect="1"/>
          </p:cNvPicPr>
          <p:nvPr/>
        </p:nvPicPr>
        <p:blipFill>
          <a:blip r:embed="rId2"/>
          <a:stretch>
            <a:fillRect/>
          </a:stretch>
        </p:blipFill>
        <p:spPr>
          <a:xfrm>
            <a:off x="167640" y="131445"/>
            <a:ext cx="7873365" cy="6595110"/>
          </a:xfrm>
          <a:prstGeom prst="rect">
            <a:avLst/>
          </a:prstGeom>
        </p:spPr>
      </p:pic>
      <p:sp>
        <p:nvSpPr>
          <p:cNvPr id="3" name="文本框 2"/>
          <p:cNvSpPr txBox="1"/>
          <p:nvPr/>
        </p:nvSpPr>
        <p:spPr>
          <a:xfrm>
            <a:off x="8432800" y="1283335"/>
            <a:ext cx="459740" cy="3145790"/>
          </a:xfrm>
          <a:prstGeom prst="rect">
            <a:avLst/>
          </a:prstGeom>
          <a:noFill/>
        </p:spPr>
        <p:txBody>
          <a:bodyPr vert="eaVert" wrap="square" rtlCol="0">
            <a:spAutoFit/>
          </a:bodyPr>
          <a:lstStyle/>
          <a:p>
            <a:r>
              <a:rPr lang="en-US" altLang="zh-CN" b="1">
                <a:solidFill>
                  <a:srgbClr val="FF0000"/>
                </a:solidFill>
              </a:rPr>
              <a:t>SSL</a:t>
            </a:r>
            <a:r>
              <a:rPr lang="zh-CN" altLang="en-US" b="1">
                <a:solidFill>
                  <a:srgbClr val="FF0000"/>
                </a:solidFill>
              </a:rPr>
              <a:t>建立安全回话简要过程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txBox="1">
            <a:spLocks noChangeArrowheads="1"/>
          </p:cNvSpPr>
          <p:nvPr/>
        </p:nvSpPr>
        <p:spPr bwMode="auto">
          <a:xfrm>
            <a:off x="419100"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28674" name="Rectangle 9"/>
          <p:cNvSpPr>
            <a:spLocks noChangeArrowheads="1"/>
          </p:cNvSpPr>
          <p:nvPr/>
        </p:nvSpPr>
        <p:spPr bwMode="auto">
          <a:xfrm>
            <a:off x="1258888" y="1169988"/>
            <a:ext cx="4608512" cy="460375"/>
          </a:xfrm>
          <a:prstGeom prst="rect">
            <a:avLst/>
          </a:prstGeom>
          <a:noFill/>
          <a:ln w="9525">
            <a:noFill/>
            <a:miter lim="800000"/>
          </a:ln>
        </p:spPr>
        <p:txBody>
          <a:bodyPr anchor="ctr">
            <a:spAutoFit/>
          </a:bodyPr>
          <a:lstStyle/>
          <a:p>
            <a:r>
              <a:rPr lang="en-US" altLang="zh-CN" sz="2400" b="1">
                <a:solidFill>
                  <a:srgbClr val="CC0000"/>
                </a:solidFill>
              </a:rPr>
              <a:t>4.</a:t>
            </a:r>
            <a:r>
              <a:rPr lang="zh-CN" altLang="en-US" sz="2400" b="1">
                <a:solidFill>
                  <a:srgbClr val="CC0000"/>
                </a:solidFill>
              </a:rPr>
              <a:t>TCP/IP应用层的安全性</a:t>
            </a:r>
          </a:p>
        </p:txBody>
      </p:sp>
      <p:sp>
        <p:nvSpPr>
          <p:cNvPr id="19" name="圆角矩形 18"/>
          <p:cNvSpPr/>
          <p:nvPr/>
        </p:nvSpPr>
        <p:spPr bwMode="gray">
          <a:xfrm>
            <a:off x="419100" y="1700213"/>
            <a:ext cx="8401050" cy="4824412"/>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zh-CN" altLang="en-US" sz="2000" b="1" dirty="0" smtClean="0">
                <a:solidFill>
                  <a:srgbClr val="FF0000"/>
                </a:solidFill>
                <a:ea typeface="仿宋_GB2312" panose="02010609030101010101" pitchFamily="49" charset="-122"/>
              </a:rPr>
              <a:t>网络安全性问题</a:t>
            </a:r>
            <a:r>
              <a:rPr lang="zh-CN" altLang="en-US" sz="2000" b="1" dirty="0" smtClean="0">
                <a:solidFill>
                  <a:srgbClr val="990033"/>
                </a:solidFill>
                <a:ea typeface="仿宋_GB2312" panose="02010609030101010101" pitchFamily="49" charset="-122"/>
              </a:rPr>
              <a:t>主要重点解决的常用应用系统（协议）</a:t>
            </a:r>
            <a:r>
              <a:rPr lang="zh-CN" altLang="en-US" sz="2000" b="1" dirty="0" smtClean="0">
                <a:ea typeface="仿宋_GB2312" panose="02010609030101010101" pitchFamily="49" charset="-122"/>
              </a:rPr>
              <a:t>，包括HTTP、FTP、SMTP、DNS、Telnet等。</a:t>
            </a:r>
          </a:p>
          <a:p>
            <a:pPr>
              <a:defRPr/>
            </a:pPr>
            <a:r>
              <a:rPr lang="zh-CN" altLang="en-US" sz="2000" b="1" dirty="0" smtClean="0">
                <a:ea typeface="仿宋_GB2312" panose="02010609030101010101" pitchFamily="49" charset="-122"/>
              </a:rPr>
              <a:t>1）超文本传输协议（HTTP）安全</a:t>
            </a:r>
          </a:p>
          <a:p>
            <a:pPr>
              <a:defRPr/>
            </a:pPr>
            <a:r>
              <a:rPr lang="zh-CN" altLang="en-US" sz="2000" b="1" dirty="0" smtClean="0">
                <a:solidFill>
                  <a:srgbClr val="C00000"/>
                </a:solidFill>
                <a:ea typeface="仿宋_GB2312" panose="02010609030101010101" pitchFamily="49" charset="-122"/>
              </a:rPr>
              <a:t>HTTP是互联网上应用最广泛的协议</a:t>
            </a:r>
            <a:r>
              <a:rPr lang="zh-CN" altLang="en-US" sz="2000" b="1" dirty="0" smtClean="0">
                <a:ea typeface="仿宋_GB2312" panose="02010609030101010101" pitchFamily="49" charset="-122"/>
              </a:rPr>
              <a:t>。使用80端口建立连接</a:t>
            </a:r>
            <a:r>
              <a:rPr lang="en-US" altLang="zh-CN" sz="2000" b="1" dirty="0" smtClean="0">
                <a:ea typeface="仿宋_GB2312" panose="02010609030101010101" pitchFamily="49" charset="-122"/>
              </a:rPr>
              <a:t>,</a:t>
            </a:r>
            <a:r>
              <a:rPr lang="zh-CN" altLang="en-US" sz="2000" b="1" dirty="0" smtClean="0">
                <a:ea typeface="仿宋_GB2312" panose="02010609030101010101" pitchFamily="49" charset="-122"/>
              </a:rPr>
              <a:t>进行浏览、数据传输和对外服务</a:t>
            </a:r>
            <a:r>
              <a:rPr lang="en-US" altLang="zh-CN" sz="2000" b="1" dirty="0" smtClean="0">
                <a:ea typeface="仿宋_GB2312" panose="02010609030101010101" pitchFamily="49" charset="-122"/>
              </a:rPr>
              <a:t>.</a:t>
            </a:r>
            <a:r>
              <a:rPr lang="zh-CN" altLang="en-US" sz="2000" b="1" dirty="0" smtClean="0">
                <a:ea typeface="仿宋_GB2312" panose="02010609030101010101" pitchFamily="49" charset="-122"/>
              </a:rPr>
              <a:t>其客户端使用浏览器访问并接受从服务器返回的Web网页</a:t>
            </a:r>
            <a:r>
              <a:rPr lang="en-US" altLang="zh-CN" sz="2000" b="1" dirty="0" smtClean="0">
                <a:ea typeface="仿宋_GB2312" panose="02010609030101010101" pitchFamily="49" charset="-122"/>
              </a:rPr>
              <a:t>.</a:t>
            </a:r>
            <a:r>
              <a:rPr lang="zh-CN" altLang="en-US" sz="2000" b="1" dirty="0" smtClean="0">
                <a:ea typeface="仿宋_GB2312" panose="02010609030101010101" pitchFamily="49" charset="-122"/>
              </a:rPr>
              <a:t>下载破坏性的控件或插件</a:t>
            </a:r>
            <a:r>
              <a:rPr lang="en-US" altLang="zh-CN" sz="2000" b="1" dirty="0" smtClean="0">
                <a:ea typeface="仿宋_GB2312" panose="02010609030101010101" pitchFamily="49" charset="-122"/>
              </a:rPr>
              <a:t>,</a:t>
            </a:r>
            <a:r>
              <a:rPr lang="zh-CN" altLang="en-US" sz="2000" b="1" dirty="0" smtClean="0">
                <a:ea typeface="仿宋_GB2312" panose="02010609030101010101" pitchFamily="49" charset="-122"/>
              </a:rPr>
              <a:t>在用户的终端上运行并含有恶意代码、病毒或特洛伊木马，注意不下载未经过检验的程序。</a:t>
            </a:r>
          </a:p>
          <a:p>
            <a:pPr>
              <a:defRPr/>
            </a:pPr>
            <a:r>
              <a:rPr lang="zh-CN" altLang="en-US" sz="2000" b="1" dirty="0" smtClean="0">
                <a:ea typeface="仿宋_GB2312" panose="02010609030101010101" pitchFamily="49" charset="-122"/>
              </a:rPr>
              <a:t>2）文件传输协议（FTP）安全</a:t>
            </a:r>
          </a:p>
          <a:p>
            <a:pPr>
              <a:defRPr/>
            </a:pPr>
            <a:r>
              <a:rPr lang="zh-CN" altLang="en-US" sz="2000" b="1" dirty="0" smtClean="0">
                <a:solidFill>
                  <a:srgbClr val="C00000"/>
                </a:solidFill>
                <a:ea typeface="仿宋_GB2312" panose="02010609030101010101" pitchFamily="49" charset="-122"/>
              </a:rPr>
              <a:t>FTP是建立在TCP/IP连接上的文件发送与接受协议</a:t>
            </a:r>
            <a:r>
              <a:rPr lang="zh-CN" altLang="en-US" sz="2000" b="1" dirty="0" smtClean="0">
                <a:ea typeface="仿宋_GB2312" panose="02010609030101010101" pitchFamily="49" charset="-122"/>
              </a:rPr>
              <a:t>。由服务器和客户端组成，每个TCP/IP主机都有内置的FTP客户端，且多数服务器都有FTP程序。FTP通常</a:t>
            </a:r>
            <a:r>
              <a:rPr lang="zh-CN" altLang="en-US" sz="2000" b="1" dirty="0" smtClean="0">
                <a:solidFill>
                  <a:srgbClr val="C00000"/>
                </a:solidFill>
                <a:ea typeface="仿宋_GB2312" panose="02010609030101010101" pitchFamily="49" charset="-122"/>
              </a:rPr>
              <a:t>使用20和21两个端口</a:t>
            </a:r>
            <a:r>
              <a:rPr lang="zh-CN" altLang="en-US" sz="2000" b="1" dirty="0" smtClean="0">
                <a:ea typeface="仿宋_GB2312" panose="02010609030101010101" pitchFamily="49" charset="-122"/>
              </a:rPr>
              <a:t>，由21端口建立连接，使连接端口在整个FTP会话中保持开放，用于在客户端和服务器之间发送控制信息和客户端命令</a:t>
            </a:r>
            <a:r>
              <a:rPr lang="en-US" altLang="zh-CN" sz="2000" b="1" dirty="0" smtClean="0">
                <a:ea typeface="仿宋_GB2312" panose="02010609030101010101" pitchFamily="49" charset="-122"/>
              </a:rPr>
              <a:t>.</a:t>
            </a:r>
            <a:r>
              <a:rPr lang="zh-CN" altLang="en-US" sz="2000" b="1" dirty="0" smtClean="0">
                <a:ea typeface="仿宋_GB2312" panose="02010609030101010101" pitchFamily="49" charset="-122"/>
              </a:rPr>
              <a:t>在FTP主动模式下</a:t>
            </a:r>
            <a:r>
              <a:rPr lang="en-US" altLang="zh-CN" sz="2000" b="1" dirty="0" smtClean="0">
                <a:ea typeface="仿宋_GB2312" panose="02010609030101010101" pitchFamily="49" charset="-122"/>
              </a:rPr>
              <a:t>,</a:t>
            </a:r>
            <a:r>
              <a:rPr lang="zh-CN" altLang="en-US" sz="2000" b="1" dirty="0" smtClean="0">
                <a:ea typeface="仿宋_GB2312" panose="02010609030101010101" pitchFamily="49" charset="-122"/>
              </a:rPr>
              <a:t>常用20端口数据传输，在客户端和服务器之间每传输一个文件都要建立一个数据连接。</a:t>
            </a:r>
          </a:p>
        </p:txBody>
      </p:sp>
      <p:pic>
        <p:nvPicPr>
          <p:cNvPr id="28676" name="Picture 6"/>
          <p:cNvPicPr>
            <a:picLocks noChangeAspect="1" noChangeArrowheads="1"/>
          </p:cNvPicPr>
          <p:nvPr/>
        </p:nvPicPr>
        <p:blipFill>
          <a:blip r:embed="rId2" cstate="print"/>
          <a:srcRect/>
          <a:stretch>
            <a:fillRect/>
          </a:stretch>
        </p:blipFill>
        <p:spPr bwMode="auto">
          <a:xfrm>
            <a:off x="5292725" y="2276475"/>
            <a:ext cx="2781300" cy="585788"/>
          </a:xfrm>
          <a:prstGeom prst="rect">
            <a:avLst/>
          </a:prstGeom>
          <a:noFill/>
          <a:ln w="9525">
            <a:solidFill>
              <a:srgbClr val="0000FF"/>
            </a:solidFill>
            <a:miter lim="800000"/>
            <a:headEnd/>
            <a:tailEnd/>
          </a:ln>
        </p:spPr>
      </p:pic>
      <p:sp>
        <p:nvSpPr>
          <p:cNvPr id="2" name="椭圆 1"/>
          <p:cNvSpPr/>
          <p:nvPr/>
        </p:nvSpPr>
        <p:spPr bwMode="gray">
          <a:xfrm>
            <a:off x="6084168" y="2276475"/>
            <a:ext cx="144016" cy="292894"/>
          </a:xfrm>
          <a:prstGeom prst="ellipse">
            <a:avLst/>
          </a:prstGeom>
          <a:noFill/>
          <a:ln w="19050" algn="ctr">
            <a:solidFill>
              <a:srgbClr val="FF0000"/>
            </a:solidFill>
            <a:round/>
          </a:ln>
        </p:spPr>
        <p:txBody>
          <a:bodyPr wrap="none" rtlCol="0" anchor="ctr"/>
          <a:lstStyle/>
          <a:p>
            <a:pPr algn="dist">
              <a:spcBef>
                <a:spcPct val="20000"/>
              </a:spcBef>
              <a:buFont typeface="Wingdings" panose="05000000000000000000" pitchFamily="2" charset="2"/>
              <a:buNone/>
            </a:pPr>
            <a:endParaRPr lang="zh-CN" altLang="en-US" sz="240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txBox="1">
            <a:spLocks noChangeArrowheads="1"/>
          </p:cNvSpPr>
          <p:nvPr/>
        </p:nvSpPr>
        <p:spPr bwMode="auto">
          <a:xfrm>
            <a:off x="419100"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167" name=" 167"/>
          <p:cNvSpPr/>
          <p:nvPr/>
        </p:nvSpPr>
        <p:spPr>
          <a:xfrm>
            <a:off x="419098" y="1279525"/>
            <a:ext cx="8305165" cy="5173811"/>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zh-CN" altLang="en-US" sz="2000" b="1" noProof="1" smtClean="0">
                <a:solidFill>
                  <a:schemeClr val="tx1"/>
                </a:solidFill>
              </a:rPr>
              <a:t>3</a:t>
            </a:r>
            <a:r>
              <a:rPr lang="zh-CN" altLang="en-US" sz="2000" b="1" noProof="1">
                <a:solidFill>
                  <a:schemeClr val="tx1"/>
                </a:solidFill>
              </a:rPr>
              <a:t>) 简单邮件传输协议（SMTP）</a:t>
            </a:r>
            <a:r>
              <a:rPr lang="zh-CN" altLang="en-US" sz="2000" b="1" noProof="1" smtClean="0">
                <a:solidFill>
                  <a:schemeClr val="tx1"/>
                </a:solidFill>
              </a:rPr>
              <a:t>安全。不法分子</a:t>
            </a:r>
            <a:r>
              <a:rPr lang="zh-CN" altLang="en-US" sz="2000" b="1" noProof="1">
                <a:solidFill>
                  <a:schemeClr val="tx1"/>
                </a:solidFill>
              </a:rPr>
              <a:t>可以利用SMTP</a:t>
            </a:r>
            <a:r>
              <a:rPr lang="zh-CN" altLang="en-US" sz="2000" b="1" noProof="1">
                <a:solidFill>
                  <a:srgbClr val="C00000"/>
                </a:solidFill>
              </a:rPr>
              <a:t>对E-mail服务器</a:t>
            </a:r>
            <a:r>
              <a:rPr lang="zh-CN" altLang="en-US" sz="2000" b="1" noProof="1">
                <a:solidFill>
                  <a:schemeClr val="tx1"/>
                </a:solidFill>
              </a:rPr>
              <a:t>进行</a:t>
            </a:r>
            <a:r>
              <a:rPr lang="zh-CN" altLang="en-US" sz="2000" b="1" noProof="1">
                <a:solidFill>
                  <a:srgbClr val="990033"/>
                </a:solidFill>
              </a:rPr>
              <a:t>干扰和破坏</a:t>
            </a:r>
            <a:r>
              <a:rPr lang="zh-CN" altLang="en-US" sz="2000" b="1" noProof="1">
                <a:solidFill>
                  <a:schemeClr val="tx1"/>
                </a:solidFill>
              </a:rPr>
              <a:t>。如通过SMTP对E-mail服务器发送大量的垃圾邮件和聚集数据包，致使服务器不能正常处理合法用户的使用请求，导致拒绝服务。目前，绝大部分的计算机病毒基本都是通过邮件或其附件进行传播的。因此，SMTP服务器应增加过滤、扫描及设置拒绝指定邮件等功能。</a:t>
            </a:r>
          </a:p>
          <a:p>
            <a:pPr indent="457200" eaLnBrk="1" fontAlgn="auto" hangingPunct="1">
              <a:spcBef>
                <a:spcPts val="0"/>
              </a:spcBef>
              <a:spcAft>
                <a:spcPts val="0"/>
              </a:spcAft>
              <a:defRPr/>
            </a:pPr>
            <a:r>
              <a:rPr lang="zh-CN" altLang="en-US" sz="2000" b="1" noProof="1" smtClean="0">
                <a:solidFill>
                  <a:schemeClr val="tx1"/>
                </a:solidFill>
              </a:rPr>
              <a:t>4</a:t>
            </a:r>
            <a:r>
              <a:rPr lang="zh-CN" altLang="en-US" sz="2000" b="1" noProof="1">
                <a:solidFill>
                  <a:schemeClr val="tx1"/>
                </a:solidFill>
              </a:rPr>
              <a:t>) 域名系统（DNS）</a:t>
            </a:r>
            <a:r>
              <a:rPr lang="zh-CN" altLang="en-US" sz="2000" b="1" noProof="1" smtClean="0">
                <a:solidFill>
                  <a:schemeClr val="tx1"/>
                </a:solidFill>
              </a:rPr>
              <a:t>安全。网络</a:t>
            </a:r>
            <a:r>
              <a:rPr lang="zh-CN" altLang="en-US" sz="2000" b="1" noProof="1">
                <a:solidFill>
                  <a:schemeClr val="tx1"/>
                </a:solidFill>
              </a:rPr>
              <a:t>通过DNS在解析域名请求时使用其</a:t>
            </a:r>
            <a:r>
              <a:rPr lang="zh-CN" altLang="en-US" sz="2000" b="1" noProof="1">
                <a:solidFill>
                  <a:srgbClr val="990033"/>
                </a:solidFill>
              </a:rPr>
              <a:t>53端</a:t>
            </a:r>
            <a:r>
              <a:rPr lang="zh-CN" altLang="en-US" sz="2000" b="1" noProof="1" smtClean="0">
                <a:solidFill>
                  <a:srgbClr val="990033"/>
                </a:solidFill>
              </a:rPr>
              <a:t>口</a:t>
            </a:r>
            <a:r>
              <a:rPr lang="zh-CN" altLang="en-US" sz="2000" b="1" noProof="1" smtClean="0">
                <a:solidFill>
                  <a:schemeClr val="tx1"/>
                </a:solidFill>
              </a:rPr>
              <a:t>。</a:t>
            </a:r>
            <a:r>
              <a:rPr lang="zh-CN" altLang="en-US" sz="2000" b="1" noProof="1">
                <a:solidFill>
                  <a:schemeClr val="tx1"/>
                </a:solidFill>
              </a:rPr>
              <a:t>黑客可以进行</a:t>
            </a:r>
            <a:r>
              <a:rPr lang="zh-CN" altLang="en-US" sz="2000" b="1" noProof="1">
                <a:solidFill>
                  <a:srgbClr val="990033"/>
                </a:solidFill>
              </a:rPr>
              <a:t>区域传输</a:t>
            </a:r>
            <a:r>
              <a:rPr lang="zh-CN" altLang="en-US" sz="2000" b="1" noProof="1">
                <a:solidFill>
                  <a:schemeClr val="tx1"/>
                </a:solidFill>
              </a:rPr>
              <a:t>或利用攻击DNS服务器</a:t>
            </a:r>
            <a:r>
              <a:rPr lang="zh-CN" altLang="en-US" sz="2000" b="1" noProof="1">
                <a:solidFill>
                  <a:srgbClr val="990033"/>
                </a:solidFill>
              </a:rPr>
              <a:t>窃取区域文件</a:t>
            </a:r>
            <a:r>
              <a:rPr lang="zh-CN" altLang="en-US" sz="2000" b="1" noProof="1">
                <a:solidFill>
                  <a:schemeClr val="tx1"/>
                </a:solidFill>
              </a:rPr>
              <a:t>，并从中</a:t>
            </a:r>
            <a:r>
              <a:rPr lang="zh-CN" altLang="en-US" sz="2000" b="1" noProof="1">
                <a:solidFill>
                  <a:srgbClr val="990033"/>
                </a:solidFill>
              </a:rPr>
              <a:t>窃取</a:t>
            </a:r>
            <a:r>
              <a:rPr lang="zh-CN" altLang="en-US" sz="2000" b="1" noProof="1">
                <a:solidFill>
                  <a:schemeClr val="tx1"/>
                </a:solidFill>
              </a:rPr>
              <a:t>区域中所有系统的IP地址和主机名。可采用防火墙保护DNS服务器并阻止各种区域传输，还可通过配置系统限制接受特定主机的区域传输</a:t>
            </a:r>
            <a:r>
              <a:rPr lang="zh-CN" altLang="en-US" sz="2000" b="1" noProof="1" smtClean="0">
                <a:solidFill>
                  <a:schemeClr val="tx1"/>
                </a:solidFill>
              </a:rPr>
              <a:t>。</a:t>
            </a:r>
          </a:p>
          <a:p>
            <a:pPr indent="457200" eaLnBrk="1" fontAlgn="auto" hangingPunct="1">
              <a:spcBef>
                <a:spcPts val="0"/>
              </a:spcBef>
              <a:spcAft>
                <a:spcPts val="0"/>
              </a:spcAft>
              <a:defRPr/>
            </a:pPr>
            <a:r>
              <a:rPr lang="zh-CN" altLang="en-US" sz="2000" b="1" noProof="1" smtClean="0">
                <a:solidFill>
                  <a:schemeClr val="tx1"/>
                </a:solidFill>
              </a:rPr>
              <a:t>5) 远程登录协议（Telnet）安全。</a:t>
            </a:r>
            <a:r>
              <a:rPr lang="zh-CN" altLang="en-US" sz="2000" b="1" noProof="1" smtClean="0">
                <a:solidFill>
                  <a:srgbClr val="990033"/>
                </a:solidFill>
              </a:rPr>
              <a:t>Telnet的功能</a:t>
            </a:r>
            <a:r>
              <a:rPr lang="zh-CN" altLang="en-US" sz="2000" b="1" noProof="1" smtClean="0">
                <a:solidFill>
                  <a:schemeClr val="tx1"/>
                </a:solidFill>
              </a:rPr>
              <a:t>是进行远程终端登录访问，曾用于管理UNIX设备。允许远程用户登录是产生Telnet安全问题的主要问题，另外，Telnet以明文方式发送所有用户名和密码，给非法者以可乘之机，只要利用一个Telnet会话即可远程作案，现已成为防范重点。</a:t>
            </a:r>
            <a:endParaRPr lang="zh-CN" altLang="en-US" sz="2000" b="1" noProof="1">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内容占位符 13"/>
          <p:cNvSpPr>
            <a:spLocks noGrp="1"/>
          </p:cNvSpPr>
          <p:nvPr>
            <p:ph idx="4294967295"/>
          </p:nvPr>
        </p:nvSpPr>
        <p:spPr>
          <a:xfrm>
            <a:off x="550863" y="1003300"/>
            <a:ext cx="8040687" cy="603250"/>
          </a:xfrm>
        </p:spPr>
        <p:txBody>
          <a:bodyPr/>
          <a:lstStyle/>
          <a:p>
            <a:pPr>
              <a:defRPr/>
            </a:pPr>
            <a:r>
              <a:rPr lang="en-US" altLang="zh-CN" sz="2600" noProof="1" smtClean="0">
                <a:solidFill>
                  <a:srgbClr val="FF0000"/>
                </a:solidFill>
              </a:rPr>
              <a:t> 2.1.3 IPv6</a:t>
            </a:r>
            <a:r>
              <a:rPr lang="zh-CN" altLang="en-US" sz="2600" noProof="1">
                <a:solidFill>
                  <a:srgbClr val="FF0000"/>
                </a:solidFill>
              </a:rPr>
              <a:t>的安全性</a:t>
            </a:r>
            <a:r>
              <a:rPr lang="zh-CN" altLang="en-US" sz="2600" noProof="1" smtClean="0">
                <a:solidFill>
                  <a:srgbClr val="FF0000"/>
                </a:solidFill>
              </a:rPr>
              <a:t>概述</a:t>
            </a:r>
            <a:endParaRPr lang="en-US" altLang="zh-CN" sz="2600" noProof="1" smtClean="0">
              <a:solidFill>
                <a:srgbClr val="FF0000"/>
              </a:solidFill>
            </a:endParaRPr>
          </a:p>
          <a:p>
            <a:pPr>
              <a:defRPr/>
            </a:pPr>
            <a:r>
              <a:rPr lang="en-US" altLang="zh-CN" sz="2400" noProof="1" smtClean="0">
                <a:solidFill>
                  <a:srgbClr val="FF0000"/>
                </a:solidFill>
              </a:rPr>
              <a:t>  1.</a:t>
            </a:r>
            <a:r>
              <a:rPr sz="2400" noProof="1" smtClean="0">
                <a:solidFill>
                  <a:srgbClr val="FF0000"/>
                </a:solidFill>
              </a:rPr>
              <a:t>IPv6</a:t>
            </a:r>
            <a:r>
              <a:rPr sz="2400" noProof="1">
                <a:solidFill>
                  <a:srgbClr val="FF0000"/>
                </a:solidFill>
              </a:rPr>
              <a:t>的优势及特点</a:t>
            </a:r>
          </a:p>
          <a:p>
            <a:pPr marL="0" indent="457200">
              <a:spcBef>
                <a:spcPts val="0"/>
              </a:spcBef>
              <a:buFont typeface="Wingdings" panose="05000000000000000000" pitchFamily="2" charset="2"/>
              <a:buNone/>
              <a:defRPr/>
            </a:pPr>
            <a:r>
              <a:rPr lang="en-US" sz="2000" noProof="1" smtClean="0">
                <a:solidFill>
                  <a:srgbClr val="C00000"/>
                </a:solidFill>
              </a:rPr>
              <a:t> </a:t>
            </a:r>
            <a:r>
              <a:rPr sz="2000" noProof="1" smtClean="0">
                <a:solidFill>
                  <a:srgbClr val="C00000"/>
                </a:solidFill>
              </a:rPr>
              <a:t>1</a:t>
            </a:r>
            <a:r>
              <a:rPr sz="2000" noProof="1">
                <a:solidFill>
                  <a:srgbClr val="C00000"/>
                </a:solidFill>
              </a:rPr>
              <a:t>) 扩展地址空间及应用</a:t>
            </a:r>
            <a:r>
              <a:rPr sz="2000" noProof="1"/>
              <a:t>。IPv6设计之初主要是解决互联网迅速发展使IPv4</a:t>
            </a:r>
            <a:r>
              <a:rPr sz="2000" noProof="1" smtClean="0"/>
              <a:t>地址空间将被耗尽问题</a:t>
            </a:r>
            <a:r>
              <a:rPr lang="en-US" sz="2000" noProof="1" smtClean="0"/>
              <a:t>,</a:t>
            </a:r>
            <a:r>
              <a:rPr sz="2000" noProof="1" smtClean="0"/>
              <a:t>以免影响整个互联网进一步扩展</a:t>
            </a:r>
            <a:r>
              <a:rPr sz="2000" noProof="1"/>
              <a:t>。由于IPv4采用32</a:t>
            </a:r>
            <a:r>
              <a:rPr sz="2000" noProof="1" smtClean="0"/>
              <a:t>位地址长度</a:t>
            </a:r>
            <a:r>
              <a:rPr lang="en-US" sz="2000" noProof="1" smtClean="0"/>
              <a:t>,</a:t>
            </a:r>
            <a:r>
              <a:rPr sz="2000" noProof="1" smtClean="0"/>
              <a:t>大约只有</a:t>
            </a:r>
            <a:r>
              <a:rPr sz="2000" noProof="1"/>
              <a:t>43亿个地址，而IPv6采用128位地址长度，极大地扩展了IP地址空间。</a:t>
            </a:r>
          </a:p>
          <a:p>
            <a:pPr marL="0" indent="457200">
              <a:spcBef>
                <a:spcPts val="0"/>
              </a:spcBef>
              <a:buFont typeface="Wingdings" panose="05000000000000000000" pitchFamily="2" charset="2"/>
              <a:buNone/>
              <a:defRPr/>
            </a:pPr>
            <a:r>
              <a:rPr sz="2000" noProof="1"/>
              <a:t>IPv6的研发还</a:t>
            </a:r>
            <a:r>
              <a:rPr sz="2000" noProof="1">
                <a:solidFill>
                  <a:srgbClr val="990033"/>
                </a:solidFill>
              </a:rPr>
              <a:t>解决了</a:t>
            </a:r>
            <a:r>
              <a:rPr sz="2000" noProof="1"/>
              <a:t>IPv4的</a:t>
            </a:r>
            <a:r>
              <a:rPr sz="2000" noProof="1">
                <a:solidFill>
                  <a:srgbClr val="990033"/>
                </a:solidFill>
              </a:rPr>
              <a:t>其他多种问题</a:t>
            </a:r>
            <a:r>
              <a:rPr sz="2000" noProof="1"/>
              <a:t>，如安全性、端到端IP连接、服务质量（QoS）、多播、移动性和即插即用等功效。IPv6</a:t>
            </a:r>
            <a:r>
              <a:rPr sz="2000" noProof="1" smtClean="0"/>
              <a:t>还对报头进行重新设计</a:t>
            </a:r>
            <a:r>
              <a:rPr lang="en-US" sz="2000" noProof="1" smtClean="0"/>
              <a:t>,</a:t>
            </a:r>
            <a:r>
              <a:rPr sz="2000" noProof="1" smtClean="0"/>
              <a:t>由一个简化长度固定的基本报头和多个可选的扩展报头</a:t>
            </a:r>
            <a:r>
              <a:rPr sz="2000" noProof="1" smtClean="0">
                <a:solidFill>
                  <a:srgbClr val="C00000"/>
                </a:solidFill>
              </a:rPr>
              <a:t>组成</a:t>
            </a:r>
            <a:r>
              <a:rPr sz="2000" noProof="1"/>
              <a:t>。既可加快路由速度，又能灵活地支持多种应用，便于扩展新的应用。IPv4和IPv6的报头如图2-3和图2-4所示。</a:t>
            </a:r>
          </a:p>
        </p:txBody>
      </p:sp>
      <p:pic>
        <p:nvPicPr>
          <p:cNvPr id="30722" name="Picture 7"/>
          <p:cNvPicPr>
            <a:picLocks noChangeAspect="1" noChangeArrowheads="1"/>
          </p:cNvPicPr>
          <p:nvPr/>
        </p:nvPicPr>
        <p:blipFill>
          <a:blip r:embed="rId2" cstate="print">
            <a:lum bright="-18000" contrast="30000"/>
          </a:blip>
          <a:srcRect/>
          <a:stretch>
            <a:fillRect/>
          </a:stretch>
        </p:blipFill>
        <p:spPr bwMode="auto">
          <a:xfrm>
            <a:off x="827088" y="4581525"/>
            <a:ext cx="3384550" cy="2016125"/>
          </a:xfrm>
          <a:prstGeom prst="rect">
            <a:avLst/>
          </a:prstGeom>
          <a:noFill/>
          <a:ln w="9525">
            <a:noFill/>
            <a:miter lim="800000"/>
            <a:headEnd/>
            <a:tailEnd/>
          </a:ln>
        </p:spPr>
      </p:pic>
      <p:pic>
        <p:nvPicPr>
          <p:cNvPr id="30723" name="Picture 8"/>
          <p:cNvPicPr>
            <a:picLocks noChangeAspect="1" noChangeArrowheads="1"/>
          </p:cNvPicPr>
          <p:nvPr/>
        </p:nvPicPr>
        <p:blipFill>
          <a:blip r:embed="rId3" cstate="print"/>
          <a:srcRect/>
          <a:stretch>
            <a:fillRect/>
          </a:stretch>
        </p:blipFill>
        <p:spPr bwMode="auto">
          <a:xfrm>
            <a:off x="4572000" y="4603750"/>
            <a:ext cx="3648075" cy="2016125"/>
          </a:xfrm>
          <a:prstGeom prst="rect">
            <a:avLst/>
          </a:prstGeom>
          <a:noFill/>
          <a:ln w="9525">
            <a:noFill/>
            <a:miter lim="800000"/>
            <a:headEnd/>
            <a:tailEnd/>
          </a:ln>
        </p:spPr>
      </p:pic>
      <p:sp>
        <p:nvSpPr>
          <p:cNvPr id="30724"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9" name=" 167"/>
          <p:cNvSpPr/>
          <p:nvPr/>
        </p:nvSpPr>
        <p:spPr>
          <a:xfrm>
            <a:off x="468313" y="1484313"/>
            <a:ext cx="8304212" cy="5246687"/>
          </a:xfrm>
          <a:prstGeom prst="roundRect">
            <a:avLst/>
          </a:prstGeom>
          <a:noFill/>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endParaRPr lang="zh-CN" altLang="en-US" sz="2000" b="1" noProof="1">
              <a:solidFill>
                <a:schemeClr val="tx1"/>
              </a:solidFill>
            </a:endParaRPr>
          </a:p>
        </p:txBody>
      </p:sp>
      <p:sp>
        <p:nvSpPr>
          <p:cNvPr id="30726" name="Rectangle 9"/>
          <p:cNvSpPr>
            <a:spLocks noChangeArrowheads="1"/>
          </p:cNvSpPr>
          <p:nvPr/>
        </p:nvSpPr>
        <p:spPr bwMode="auto">
          <a:xfrm>
            <a:off x="1331913" y="6491288"/>
            <a:ext cx="2592387" cy="366712"/>
          </a:xfrm>
          <a:prstGeom prst="rect">
            <a:avLst/>
          </a:prstGeom>
          <a:noFill/>
          <a:ln w="9525">
            <a:noFill/>
            <a:miter lim="800000"/>
          </a:ln>
        </p:spPr>
        <p:txBody>
          <a:bodyPr anchor="ctr">
            <a:spAutoFit/>
          </a:bodyPr>
          <a:lstStyle/>
          <a:p>
            <a:r>
              <a:rPr lang="zh-CN" altLang="en-US" sz="1600" b="1">
                <a:solidFill>
                  <a:srgbClr val="990033"/>
                </a:solidFill>
              </a:rPr>
              <a:t>图</a:t>
            </a:r>
            <a:r>
              <a:rPr lang="en-US" altLang="zh-CN" sz="1600" b="1">
                <a:solidFill>
                  <a:srgbClr val="990033"/>
                </a:solidFill>
              </a:rPr>
              <a:t>2-3 IPV4</a:t>
            </a:r>
            <a:r>
              <a:rPr lang="zh-CN" altLang="en-US" sz="1600" b="1">
                <a:solidFill>
                  <a:srgbClr val="990033"/>
                </a:solidFill>
              </a:rPr>
              <a:t>的</a:t>
            </a:r>
            <a:r>
              <a:rPr lang="en-US" altLang="zh-CN" sz="1600" b="1">
                <a:solidFill>
                  <a:srgbClr val="990033"/>
                </a:solidFill>
              </a:rPr>
              <a:t>IP</a:t>
            </a:r>
            <a:r>
              <a:rPr lang="zh-CN" altLang="en-US" sz="1600" b="1">
                <a:solidFill>
                  <a:srgbClr val="990033"/>
                </a:solidFill>
              </a:rPr>
              <a:t>报头</a:t>
            </a:r>
            <a:r>
              <a:rPr lang="zh-CN" altLang="en-US"/>
              <a:t> </a:t>
            </a:r>
          </a:p>
        </p:txBody>
      </p:sp>
      <p:sp>
        <p:nvSpPr>
          <p:cNvPr id="30727" name="Rectangle 10"/>
          <p:cNvSpPr>
            <a:spLocks noChangeArrowheads="1"/>
          </p:cNvSpPr>
          <p:nvPr/>
        </p:nvSpPr>
        <p:spPr bwMode="auto">
          <a:xfrm>
            <a:off x="4895850" y="6491288"/>
            <a:ext cx="3384550" cy="366712"/>
          </a:xfrm>
          <a:prstGeom prst="rect">
            <a:avLst/>
          </a:prstGeom>
          <a:noFill/>
          <a:ln w="9525">
            <a:noFill/>
            <a:miter lim="800000"/>
          </a:ln>
        </p:spPr>
        <p:txBody>
          <a:bodyPr anchor="ctr">
            <a:spAutoFit/>
          </a:bodyPr>
          <a:lstStyle/>
          <a:p>
            <a:r>
              <a:rPr lang="zh-CN" altLang="en-US" sz="1600" b="1">
                <a:solidFill>
                  <a:srgbClr val="990033"/>
                </a:solidFill>
              </a:rPr>
              <a:t> 图</a:t>
            </a:r>
            <a:r>
              <a:rPr lang="en-US" altLang="zh-CN" sz="1600" b="1">
                <a:solidFill>
                  <a:srgbClr val="990033"/>
                </a:solidFill>
              </a:rPr>
              <a:t>2-4 IPV6</a:t>
            </a:r>
            <a:r>
              <a:rPr lang="zh-CN" altLang="en-US" sz="1600" b="1">
                <a:solidFill>
                  <a:srgbClr val="990033"/>
                </a:solidFill>
              </a:rPr>
              <a:t>基本报头</a:t>
            </a:r>
            <a:r>
              <a:rPr lang="zh-CN" altLang="en-US"/>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31746" name="文本框 1"/>
          <p:cNvSpPr txBox="1">
            <a:spLocks noChangeArrowheads="1"/>
          </p:cNvSpPr>
          <p:nvPr/>
        </p:nvSpPr>
        <p:spPr bwMode="auto">
          <a:xfrm>
            <a:off x="395288" y="1484313"/>
            <a:ext cx="8347075" cy="4094162"/>
          </a:xfrm>
          <a:prstGeom prst="rect">
            <a:avLst/>
          </a:prstGeom>
          <a:noFill/>
          <a:ln w="9525">
            <a:noFill/>
            <a:miter lim="800000"/>
          </a:ln>
        </p:spPr>
        <p:txBody>
          <a:bodyPr>
            <a:spAutoFit/>
          </a:bodyPr>
          <a:lstStyle/>
          <a:p>
            <a:pPr indent="457200"/>
            <a:r>
              <a:rPr lang="zh-CN" altLang="en-US" sz="2000" b="1">
                <a:solidFill>
                  <a:srgbClr val="C00000"/>
                </a:solidFill>
              </a:rPr>
              <a:t>2) 提高网络整体性能</a:t>
            </a:r>
            <a:r>
              <a:rPr lang="zh-CN" altLang="en-US" sz="2000" b="1">
                <a:solidFill>
                  <a:schemeClr val="tx2"/>
                </a:solidFill>
              </a:rPr>
              <a:t>。IPv6的数据包增大</a:t>
            </a:r>
            <a:r>
              <a:rPr lang="en-US" altLang="zh-CN" sz="2000" b="1">
                <a:solidFill>
                  <a:schemeClr val="tx2"/>
                </a:solidFill>
              </a:rPr>
              <a:t>,</a:t>
            </a:r>
            <a:r>
              <a:rPr lang="zh-CN" altLang="en-US" sz="2000" b="1">
                <a:solidFill>
                  <a:schemeClr val="tx2"/>
                </a:solidFill>
              </a:rPr>
              <a:t>使应用程序可用最大传输单元MTU获得更快、更可靠的数据传输，并在设计上改进选路结构，采用简化的报头定长结构和更合理的分段方法，使路由器加快数据包处理速度，从而提高了转发效率，并提高了网络的整体吞吐量等性能。</a:t>
            </a:r>
          </a:p>
          <a:p>
            <a:pPr indent="457200"/>
            <a:r>
              <a:rPr lang="zh-CN" altLang="en-US" sz="2000" b="1">
                <a:solidFill>
                  <a:srgbClr val="C00000"/>
                </a:solidFill>
              </a:rPr>
              <a:t> 3) 加强网络安全性能</a:t>
            </a:r>
            <a:r>
              <a:rPr lang="zh-CN" altLang="en-US" sz="2000" b="1">
                <a:solidFill>
                  <a:schemeClr val="tx2"/>
                </a:solidFill>
              </a:rPr>
              <a:t>。IPv6用</a:t>
            </a:r>
            <a:r>
              <a:rPr lang="zh-CN" altLang="en-US" sz="2000" b="1">
                <a:solidFill>
                  <a:srgbClr val="C00000"/>
                </a:solidFill>
              </a:rPr>
              <a:t>内嵌安全机制</a:t>
            </a:r>
            <a:r>
              <a:rPr lang="zh-CN" altLang="en-US" sz="2000" b="1">
                <a:solidFill>
                  <a:schemeClr val="tx2"/>
                </a:solidFill>
              </a:rPr>
              <a:t>要求强制实现IP安全协议IPSec</a:t>
            </a:r>
            <a:r>
              <a:rPr lang="en-US" altLang="zh-CN" sz="2000" b="1">
                <a:solidFill>
                  <a:schemeClr val="tx2"/>
                </a:solidFill>
              </a:rPr>
              <a:t>,</a:t>
            </a:r>
            <a:r>
              <a:rPr lang="zh-CN" altLang="en-US" sz="2000" b="1">
                <a:solidFill>
                  <a:schemeClr val="tx2"/>
                </a:solidFill>
              </a:rPr>
              <a:t>提供支持数据源发认证、完整性和保密性能力</a:t>
            </a:r>
            <a:r>
              <a:rPr lang="en-US" altLang="zh-CN" sz="2000" b="1">
                <a:solidFill>
                  <a:schemeClr val="tx2"/>
                </a:solidFill>
              </a:rPr>
              <a:t>,</a:t>
            </a:r>
            <a:r>
              <a:rPr lang="zh-CN" altLang="en-US" sz="2000" b="1">
                <a:solidFill>
                  <a:schemeClr val="tx2"/>
                </a:solidFill>
              </a:rPr>
              <a:t>同时可抗重放攻击</a:t>
            </a:r>
            <a:r>
              <a:rPr lang="en-US" altLang="zh-CN" sz="2000" b="1">
                <a:solidFill>
                  <a:schemeClr val="tx2"/>
                </a:solidFill>
              </a:rPr>
              <a:t>.</a:t>
            </a:r>
            <a:r>
              <a:rPr lang="zh-CN" altLang="en-US" sz="2000" b="1">
                <a:solidFill>
                  <a:srgbClr val="C00000"/>
                </a:solidFill>
              </a:rPr>
              <a:t>安全机制</a:t>
            </a:r>
            <a:r>
              <a:rPr lang="zh-CN" altLang="en-US" sz="2000" b="1">
                <a:solidFill>
                  <a:schemeClr val="tx2"/>
                </a:solidFill>
              </a:rPr>
              <a:t>主要由两个扩展报头实现</a:t>
            </a:r>
            <a:r>
              <a:rPr lang="en-US" altLang="zh-CN" sz="2000" b="1">
                <a:solidFill>
                  <a:schemeClr val="tx2"/>
                </a:solidFill>
              </a:rPr>
              <a:t>:</a:t>
            </a:r>
            <a:r>
              <a:rPr lang="zh-CN" altLang="en-US" sz="2000" b="1">
                <a:solidFill>
                  <a:schemeClr val="tx2"/>
                </a:solidFill>
              </a:rPr>
              <a:t>认证头AH和封装安全载荷ESP</a:t>
            </a:r>
            <a:r>
              <a:rPr lang="en-US" altLang="zh-CN" sz="2000" b="1">
                <a:solidFill>
                  <a:schemeClr val="tx2"/>
                </a:solidFill>
              </a:rPr>
              <a:t>.</a:t>
            </a:r>
            <a:r>
              <a:rPr lang="zh-CN" altLang="en-US" sz="2000" b="1">
                <a:solidFill>
                  <a:schemeClr val="tx2"/>
                </a:solidFill>
              </a:rPr>
              <a:t> </a:t>
            </a:r>
            <a:endParaRPr lang="en-US" altLang="zh-CN" sz="2000" b="1">
              <a:solidFill>
                <a:schemeClr val="tx2"/>
              </a:solidFill>
            </a:endParaRPr>
          </a:p>
          <a:p>
            <a:pPr indent="457200"/>
            <a:r>
              <a:rPr lang="zh-CN" altLang="en-US" sz="2000" b="1">
                <a:solidFill>
                  <a:srgbClr val="C00000"/>
                </a:solidFill>
              </a:rPr>
              <a:t>4) 提供更好服务质量</a:t>
            </a:r>
            <a:r>
              <a:rPr lang="zh-CN" altLang="en-US" sz="2000" b="1">
                <a:solidFill>
                  <a:schemeClr val="tx2"/>
                </a:solidFill>
              </a:rPr>
              <a:t>。IPv6在分组的头部中定义业务流类别字段和流标签字段两个重要参数，以提供对服务质量（QoS）的支持。业务流类别字段将IP分组的优先级分为16个等级。对于需要特殊QoS的业务，可在IP数据包中设置相应的优先级</a:t>
            </a:r>
            <a:r>
              <a:rPr lang="en-US" altLang="zh-CN" sz="2000" b="1">
                <a:solidFill>
                  <a:schemeClr val="tx2"/>
                </a:solidFill>
              </a:rPr>
              <a:t>,</a:t>
            </a:r>
            <a:r>
              <a:rPr lang="zh-CN" altLang="en-US" sz="2000" b="1">
                <a:solidFill>
                  <a:schemeClr val="tx2"/>
                </a:solidFill>
              </a:rPr>
              <a:t>路由器根据IP包的优先级来分别对这些数据进行不同处理。流标签用于定义任意一个传输的数据流，以便网络中各结点可对此数据进行识别与特殊处理。</a:t>
            </a:r>
          </a:p>
        </p:txBody>
      </p:sp>
      <p:sp>
        <p:nvSpPr>
          <p:cNvPr id="5" name=" 167"/>
          <p:cNvSpPr/>
          <p:nvPr/>
        </p:nvSpPr>
        <p:spPr>
          <a:xfrm>
            <a:off x="323850" y="1268413"/>
            <a:ext cx="8448675" cy="4392612"/>
          </a:xfrm>
          <a:prstGeom prst="roundRect">
            <a:avLst/>
          </a:prstGeom>
          <a:noFill/>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endParaRPr lang="zh-CN" altLang="en-US" sz="2000" b="1" noProof="1">
              <a:solidFill>
                <a:schemeClr val="tx1"/>
              </a:solidFill>
            </a:endParaRPr>
          </a:p>
        </p:txBody>
      </p:sp>
      <p:pic>
        <p:nvPicPr>
          <p:cNvPr id="31748" name="Picture 24" descr="C:\Program Files\Microsoft Office\MEDIA\CAGCAT10\j0300520.gif"/>
          <p:cNvPicPr>
            <a:picLocks noChangeAspect="1" noChangeArrowheads="1"/>
          </p:cNvPicPr>
          <p:nvPr/>
        </p:nvPicPr>
        <p:blipFill>
          <a:blip r:embed="rId2" cstate="print"/>
          <a:srcRect/>
          <a:stretch>
            <a:fillRect/>
          </a:stretch>
        </p:blipFill>
        <p:spPr bwMode="auto">
          <a:xfrm>
            <a:off x="5832475" y="5373688"/>
            <a:ext cx="1079500" cy="928687"/>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32770" name="文本框 1"/>
          <p:cNvSpPr txBox="1">
            <a:spLocks noChangeArrowheads="1"/>
          </p:cNvSpPr>
          <p:nvPr/>
        </p:nvSpPr>
        <p:spPr bwMode="auto">
          <a:xfrm>
            <a:off x="395288" y="1484313"/>
            <a:ext cx="8280400" cy="4308872"/>
          </a:xfrm>
          <a:prstGeom prst="rect">
            <a:avLst/>
          </a:prstGeom>
          <a:noFill/>
          <a:ln w="9525">
            <a:noFill/>
            <a:miter lim="800000"/>
          </a:ln>
        </p:spPr>
        <p:txBody>
          <a:bodyPr>
            <a:spAutoFit/>
          </a:bodyPr>
          <a:lstStyle/>
          <a:p>
            <a:pPr indent="457200"/>
            <a:r>
              <a:rPr lang="zh-CN" altLang="en-US" dirty="0">
                <a:solidFill>
                  <a:srgbClr val="C00000"/>
                </a:solidFill>
              </a:rPr>
              <a:t> </a:t>
            </a:r>
            <a:r>
              <a:rPr lang="zh-CN" altLang="en-US" sz="2000" b="1" dirty="0">
                <a:solidFill>
                  <a:srgbClr val="C00000"/>
                </a:solidFill>
              </a:rPr>
              <a:t>5) 实现更好地组播功能</a:t>
            </a:r>
            <a:r>
              <a:rPr lang="zh-CN" altLang="en-US" sz="2000" b="1" dirty="0">
                <a:solidFill>
                  <a:schemeClr val="tx2"/>
                </a:solidFill>
              </a:rPr>
              <a:t>。组播是一种将信息传递给已登记且计划接收该消息的主机功能，可同时给大量用户传递数据，传递过程只占用一些公共或专用带宽开销而不在整个网络广播，以减少带宽。IPv6还具有限制组播传递范围的一些特性，组播消息可被限于一特定区域、公司、位置或其他约定范围，从而减少带宽的使用并提高安全性。</a:t>
            </a:r>
          </a:p>
          <a:p>
            <a:pPr indent="457200"/>
            <a:r>
              <a:rPr lang="zh-CN" altLang="en-US" sz="2000" b="1" dirty="0">
                <a:solidFill>
                  <a:srgbClr val="C00000"/>
                </a:solidFill>
              </a:rPr>
              <a:t>6) 支持即插即用和移动性</a:t>
            </a:r>
            <a:r>
              <a:rPr lang="zh-CN" altLang="en-US" sz="2000" b="1" dirty="0">
                <a:solidFill>
                  <a:schemeClr val="tx2"/>
                </a:solidFill>
              </a:rPr>
              <a:t>。当联网设备接入网络后，以自动配置可自动获取IP地址和必要的参数，实现即插即用，简化了网络管理，易于支持移动结点。IPv6不仅从IPv4中借鉴了很多概念和术语，还提供了移动IPv6所需的新功能。</a:t>
            </a:r>
          </a:p>
          <a:p>
            <a:pPr indent="457200"/>
            <a:r>
              <a:rPr lang="zh-CN" altLang="en-US" sz="2000" b="1" dirty="0">
                <a:solidFill>
                  <a:srgbClr val="C00000"/>
                </a:solidFill>
              </a:rPr>
              <a:t>7) 提供必选的资源预留协议</a:t>
            </a:r>
            <a:r>
              <a:rPr lang="zh-CN" altLang="en-US" sz="2000" b="1" dirty="0">
                <a:solidFill>
                  <a:schemeClr val="tx2"/>
                </a:solidFill>
              </a:rPr>
              <a:t>（Resource Reservation Protocol，RSVP）功能，用户可在从源点到目的地的路由器上预留带宽，以便提供确保服务质量的图像和其他实时业务</a:t>
            </a:r>
            <a:r>
              <a:rPr lang="zh-CN" altLang="en-US" sz="2000" b="1" dirty="0" smtClean="0">
                <a:solidFill>
                  <a:schemeClr val="tx2"/>
                </a:solidFill>
              </a:rPr>
              <a:t>。</a:t>
            </a:r>
            <a:endParaRPr lang="en-US" altLang="zh-CN" sz="2000" b="1" dirty="0" smtClean="0">
              <a:solidFill>
                <a:schemeClr val="tx2"/>
              </a:solidFill>
            </a:endParaRPr>
          </a:p>
          <a:p>
            <a:pPr indent="457200"/>
            <a:r>
              <a:rPr lang="zh-CN" altLang="en-US" sz="1400" b="1" dirty="0" smtClean="0"/>
              <a:t>更多关于</a:t>
            </a:r>
            <a:r>
              <a:rPr lang="en-US" altLang="zh-CN" sz="1400" b="1" dirty="0" smtClean="0"/>
              <a:t>IPV6</a:t>
            </a:r>
            <a:r>
              <a:rPr lang="zh-CN" altLang="en-US" sz="1400" b="1" dirty="0" smtClean="0"/>
              <a:t>协议，参考</a:t>
            </a:r>
            <a:r>
              <a:rPr lang="en-US" altLang="zh-CN" sz="1400" b="1" dirty="0"/>
              <a:t>https://blog.csdn.net/snlying/article/details/4238365</a:t>
            </a:r>
            <a:endParaRPr lang="zh-CN" altLang="en-US" sz="1400" b="1" dirty="0"/>
          </a:p>
          <a:p>
            <a:pPr indent="457200"/>
            <a:endParaRPr lang="zh-CN" altLang="en-US" sz="2000" b="1" dirty="0">
              <a:solidFill>
                <a:schemeClr val="tx2"/>
              </a:solidFill>
            </a:endParaRPr>
          </a:p>
        </p:txBody>
      </p:sp>
      <p:sp>
        <p:nvSpPr>
          <p:cNvPr id="4" name="圆角矩形 3"/>
          <p:cNvSpPr/>
          <p:nvPr/>
        </p:nvSpPr>
        <p:spPr bwMode="gray">
          <a:xfrm>
            <a:off x="323850" y="1196975"/>
            <a:ext cx="8569325" cy="44640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32772" name="Picture 5" descr="j0285750"/>
          <p:cNvPicPr>
            <a:picLocks noChangeAspect="1" noChangeArrowheads="1"/>
          </p:cNvPicPr>
          <p:nvPr/>
        </p:nvPicPr>
        <p:blipFill>
          <a:blip r:embed="rId2" cstate="print"/>
          <a:srcRect/>
          <a:stretch>
            <a:fillRect/>
          </a:stretch>
        </p:blipFill>
        <p:spPr bwMode="auto">
          <a:xfrm>
            <a:off x="7369175" y="5256669"/>
            <a:ext cx="1524000" cy="93662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内容占位符 13"/>
          <p:cNvSpPr>
            <a:spLocks noGrp="1" noChangeArrowheads="1"/>
          </p:cNvSpPr>
          <p:nvPr>
            <p:ph idx="4294967295"/>
          </p:nvPr>
        </p:nvSpPr>
        <p:spPr>
          <a:xfrm>
            <a:off x="419100" y="1185863"/>
            <a:ext cx="8040688" cy="3322637"/>
          </a:xfrm>
        </p:spPr>
        <p:txBody>
          <a:bodyPr/>
          <a:lstStyle/>
          <a:p>
            <a:pPr>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552450" y="1323975"/>
            <a:ext cx="8221663" cy="44735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2. IPv4</a:t>
            </a:r>
            <a:r>
              <a:rPr lang="zh-CN" altLang="en-US" sz="2400" b="1" dirty="0">
                <a:solidFill>
                  <a:srgbClr val="CC0000"/>
                </a:solidFill>
                <a:latin typeface="Arial" panose="020B0604020202020204" pitchFamily="34" charset="0"/>
              </a:rPr>
              <a:t>与</a:t>
            </a:r>
            <a:r>
              <a:rPr lang="en-US" altLang="zh-CN" sz="2400" b="1" dirty="0">
                <a:solidFill>
                  <a:srgbClr val="CC0000"/>
                </a:solidFill>
                <a:latin typeface="Arial" panose="020B0604020202020204" pitchFamily="34" charset="0"/>
              </a:rPr>
              <a:t>IPv6</a:t>
            </a:r>
            <a:r>
              <a:rPr lang="zh-CN" altLang="en-US" sz="2400" b="1" dirty="0">
                <a:solidFill>
                  <a:srgbClr val="CC0000"/>
                </a:solidFill>
                <a:latin typeface="Arial" panose="020B0604020202020204" pitchFamily="34" charset="0"/>
              </a:rPr>
              <a:t>安全问题比较</a:t>
            </a:r>
            <a:r>
              <a:rPr lang="zh-CN" altLang="en-US" sz="2400" b="1" dirty="0">
                <a:solidFill>
                  <a:schemeClr val="tx2"/>
                </a:solidFill>
                <a:latin typeface="Arial" panose="020B0604020202020204" pitchFamily="34" charset="0"/>
              </a:rPr>
              <a:t> </a:t>
            </a:r>
          </a:p>
          <a:p>
            <a:pPr indent="457200">
              <a:defRPr/>
            </a:pPr>
            <a:r>
              <a:rPr sz="2100" b="1" dirty="0">
                <a:solidFill>
                  <a:schemeClr val="tx2"/>
                </a:solidFill>
                <a:latin typeface="Arial" panose="020B0604020202020204" pitchFamily="34" charset="0"/>
              </a:rPr>
              <a:t>比较IPv4和IPv6下的安全问题，有些</a:t>
            </a:r>
            <a:r>
              <a:rPr sz="2100" b="1" dirty="0">
                <a:solidFill>
                  <a:srgbClr val="C00000"/>
                </a:solidFill>
                <a:latin typeface="Arial" panose="020B0604020202020204" pitchFamily="34" charset="0"/>
              </a:rPr>
              <a:t>安全问题的原理和特征</a:t>
            </a:r>
            <a:r>
              <a:rPr sz="2100" b="1" dirty="0">
                <a:solidFill>
                  <a:schemeClr val="tx2"/>
                </a:solidFill>
                <a:latin typeface="Arial" panose="020B0604020202020204" pitchFamily="34" charset="0"/>
              </a:rPr>
              <a:t>基本无变化，有的</a:t>
            </a:r>
            <a:r>
              <a:rPr sz="2100" b="1" dirty="0">
                <a:solidFill>
                  <a:srgbClr val="C00000"/>
                </a:solidFill>
                <a:latin typeface="Arial" panose="020B0604020202020204" pitchFamily="34" charset="0"/>
              </a:rPr>
              <a:t>却发生很大变化</a:t>
            </a:r>
            <a:r>
              <a:rPr sz="2100" b="1" dirty="0">
                <a:solidFill>
                  <a:schemeClr val="tx2"/>
                </a:solidFill>
                <a:latin typeface="Arial" panose="020B0604020202020204" pitchFamily="34" charset="0"/>
              </a:rPr>
              <a:t>。主要包括： </a:t>
            </a:r>
          </a:p>
          <a:p>
            <a:pPr indent="457200">
              <a:defRPr/>
            </a:pPr>
            <a:r>
              <a:rPr sz="2100" b="1" dirty="0">
                <a:solidFill>
                  <a:schemeClr val="tx2"/>
                </a:solidFill>
                <a:latin typeface="Arial" panose="020B0604020202020204" pitchFamily="34" charset="0"/>
              </a:rPr>
              <a:t>1) 与IPv4下的情况比较，</a:t>
            </a:r>
            <a:r>
              <a:rPr sz="2100" b="1" u="sng" dirty="0">
                <a:solidFill>
                  <a:srgbClr val="0000FF"/>
                </a:solidFill>
                <a:latin typeface="Arial" panose="020B0604020202020204" pitchFamily="34" charset="0"/>
              </a:rPr>
              <a:t>原理和特征</a:t>
            </a:r>
            <a:r>
              <a:rPr sz="2100" b="1" dirty="0">
                <a:solidFill>
                  <a:srgbClr val="C00000"/>
                </a:solidFill>
                <a:latin typeface="Arial" panose="020B0604020202020204" pitchFamily="34" charset="0"/>
              </a:rPr>
              <a:t>基本未发生变化</a:t>
            </a:r>
            <a:r>
              <a:rPr sz="2100" b="1" dirty="0">
                <a:solidFill>
                  <a:schemeClr val="tx2"/>
                </a:solidFill>
                <a:latin typeface="Arial" panose="020B0604020202020204" pitchFamily="34" charset="0"/>
              </a:rPr>
              <a:t>的安全问题</a:t>
            </a:r>
            <a:r>
              <a:rPr sz="2100" b="1" dirty="0">
                <a:solidFill>
                  <a:srgbClr val="C00000"/>
                </a:solidFill>
                <a:latin typeface="Arial" panose="020B0604020202020204" pitchFamily="34" charset="0"/>
              </a:rPr>
              <a:t>可划分为三类</a:t>
            </a:r>
            <a:r>
              <a:rPr sz="2100" b="1" dirty="0">
                <a:solidFill>
                  <a:schemeClr val="tx2"/>
                </a:solidFill>
                <a:latin typeface="Arial" panose="020B0604020202020204" pitchFamily="34" charset="0"/>
              </a:rPr>
              <a:t>：网络层以上的安全问题；与网络层数据保密性和完整性相关的安全问题和与网络层可用性相关的安全问题。如窃听攻击、应用层攻击、中间人攻击、洪泛攻击等。 </a:t>
            </a:r>
          </a:p>
          <a:p>
            <a:pPr indent="457200">
              <a:defRPr/>
            </a:pPr>
            <a:r>
              <a:rPr sz="2100" b="1" dirty="0">
                <a:solidFill>
                  <a:schemeClr val="tx2"/>
                </a:solidFill>
                <a:latin typeface="Arial" panose="020B0604020202020204" pitchFamily="34" charset="0"/>
              </a:rPr>
              <a:t>2) 网络层以上的安全问题：主要是各种应用层的攻击，其原理和特征无任何变化。 </a:t>
            </a:r>
          </a:p>
          <a:p>
            <a:pPr indent="457200">
              <a:defRPr/>
            </a:pPr>
            <a:r>
              <a:rPr sz="2100" b="1" dirty="0">
                <a:solidFill>
                  <a:schemeClr val="tx2"/>
                </a:solidFill>
                <a:latin typeface="Arial" panose="020B0604020202020204" pitchFamily="34" charset="0"/>
              </a:rPr>
              <a:t>3) 网络层数据保密性和完整性相关的安全问题：主要是窃听和中间人攻击。由于IPSec没有解决大规模密钥分配和管理的难点，缺乏广泛的部署，在IPv6网络中，仍可存在相同安全问题。 </a:t>
            </a:r>
          </a:p>
        </p:txBody>
      </p:sp>
      <p:sp>
        <p:nvSpPr>
          <p:cNvPr id="33795"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
        <p:nvSpPr>
          <p:cNvPr id="167" name=" 167"/>
          <p:cNvSpPr/>
          <p:nvPr/>
        </p:nvSpPr>
        <p:spPr>
          <a:xfrm>
            <a:off x="467994" y="1379851"/>
            <a:ext cx="8306435" cy="430847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zh-CN" altLang="en-US" sz="2300" b="1" noProof="1">
                <a:solidFill>
                  <a:schemeClr val="tx2"/>
                </a:solidFill>
              </a:rPr>
              <a:t>4) 同网络层可用性相关安全问题：主要是指网络系统的洪泛攻击，如TCP SYN flooding攻击等。</a:t>
            </a:r>
          </a:p>
          <a:p>
            <a:pPr indent="457200" eaLnBrk="1" fontAlgn="auto" hangingPunct="1">
              <a:spcBef>
                <a:spcPts val="0"/>
              </a:spcBef>
              <a:spcAft>
                <a:spcPts val="0"/>
              </a:spcAft>
              <a:defRPr/>
            </a:pPr>
            <a:r>
              <a:rPr lang="zh-CN" altLang="en-US" sz="2300" b="1" noProof="1">
                <a:solidFill>
                  <a:schemeClr val="tx2"/>
                </a:solidFill>
              </a:rPr>
              <a:t>5) </a:t>
            </a:r>
            <a:r>
              <a:rPr lang="zh-CN" altLang="en-US" sz="2300" b="1" u="sng" noProof="1">
                <a:solidFill>
                  <a:srgbClr val="0000FF"/>
                </a:solidFill>
              </a:rPr>
              <a:t>原理和特征</a:t>
            </a:r>
            <a:r>
              <a:rPr lang="zh-CN" altLang="en-US" sz="2300" b="1" noProof="1">
                <a:solidFill>
                  <a:srgbClr val="C00000"/>
                </a:solidFill>
              </a:rPr>
              <a:t>发生明显变化的安全问</a:t>
            </a:r>
            <a:r>
              <a:rPr lang="zh-CN" altLang="en-US" sz="2300" b="1" noProof="1" smtClean="0">
                <a:solidFill>
                  <a:srgbClr val="C00000"/>
                </a:solidFill>
              </a:rPr>
              <a:t>题</a:t>
            </a:r>
            <a:r>
              <a:rPr lang="en-US" altLang="zh-CN" sz="2300" b="1" noProof="1" smtClean="0">
                <a:solidFill>
                  <a:schemeClr val="tx2"/>
                </a:solidFill>
              </a:rPr>
              <a:t>,</a:t>
            </a:r>
            <a:r>
              <a:rPr lang="zh-CN" altLang="en-US" sz="2300" b="1" noProof="1" smtClean="0">
                <a:solidFill>
                  <a:schemeClr val="tx2"/>
                </a:solidFill>
              </a:rPr>
              <a:t>主要4</a:t>
            </a:r>
            <a:r>
              <a:rPr lang="zh-CN" altLang="en-US" sz="2300" b="1" noProof="1">
                <a:solidFill>
                  <a:schemeClr val="tx2"/>
                </a:solidFill>
              </a:rPr>
              <a:t>个方</a:t>
            </a:r>
            <a:r>
              <a:rPr lang="zh-CN" altLang="en-US" sz="2300" b="1" noProof="1" smtClean="0">
                <a:solidFill>
                  <a:schemeClr val="tx2"/>
                </a:solidFill>
              </a:rPr>
              <a:t>面</a:t>
            </a:r>
            <a:r>
              <a:rPr lang="en-US" altLang="zh-CN" sz="2300" b="1" noProof="1" smtClean="0">
                <a:solidFill>
                  <a:schemeClr val="tx2"/>
                </a:solidFill>
              </a:rPr>
              <a:t>:</a:t>
            </a:r>
            <a:r>
              <a:rPr lang="zh-CN" altLang="en-US" sz="2300" b="1" noProof="1" smtClean="0">
                <a:solidFill>
                  <a:schemeClr val="tx2"/>
                </a:solidFill>
              </a:rPr>
              <a:t> </a:t>
            </a:r>
            <a:endParaRPr lang="zh-CN" altLang="en-US" sz="2300" b="1" noProof="1">
              <a:solidFill>
                <a:schemeClr val="tx2"/>
              </a:solidFill>
            </a:endParaRPr>
          </a:p>
          <a:p>
            <a:pPr indent="457200" eaLnBrk="1" fontAlgn="auto" hangingPunct="1">
              <a:spcBef>
                <a:spcPts val="0"/>
              </a:spcBef>
              <a:spcAft>
                <a:spcPts val="0"/>
              </a:spcAft>
              <a:defRPr/>
            </a:pPr>
            <a:r>
              <a:rPr lang="zh-CN" altLang="en-US" sz="2300" b="1" noProof="1">
                <a:solidFill>
                  <a:srgbClr val="C00000"/>
                </a:solidFill>
              </a:rPr>
              <a:t>① 侦测</a:t>
            </a:r>
            <a:r>
              <a:rPr lang="zh-CN" altLang="en-US" sz="2300" b="1" noProof="1">
                <a:solidFill>
                  <a:schemeClr val="tx2"/>
                </a:solidFill>
              </a:rPr>
              <a:t>。是一种基本攻击方式，也是其他网络攻击方式的初始步骤。黑客为攻击得手，需要获得被攻击网络地址、服务、应用等尽可能多的情报。IPv4协议的子网地址空间只有</a:t>
            </a:r>
            <a:r>
              <a:rPr lang="zh-CN" altLang="en-US" sz="2300" b="1" noProof="1" smtClean="0">
                <a:solidFill>
                  <a:schemeClr val="tx2"/>
                </a:solidFill>
              </a:rPr>
              <a:t>2</a:t>
            </a:r>
            <a:r>
              <a:rPr lang="en-US" altLang="zh-CN" sz="2300" b="1" noProof="1">
                <a:solidFill>
                  <a:schemeClr val="tx2"/>
                </a:solidFill>
              </a:rPr>
              <a:t>^</a:t>
            </a:r>
            <a:r>
              <a:rPr lang="zh-CN" altLang="en-US" sz="2300" b="1" noProof="1" smtClean="0">
                <a:solidFill>
                  <a:schemeClr val="tx2"/>
                </a:solidFill>
              </a:rPr>
              <a:t>8</a:t>
            </a:r>
            <a:r>
              <a:rPr lang="zh-CN" altLang="en-US" sz="2300" b="1" noProof="1">
                <a:solidFill>
                  <a:schemeClr val="tx2"/>
                </a:solidFill>
              </a:rPr>
              <a:t>位容易被侦测，IPv6的</a:t>
            </a:r>
            <a:r>
              <a:rPr lang="zh-CN" altLang="en-US" sz="2300" b="1" noProof="1">
                <a:solidFill>
                  <a:srgbClr val="C00000"/>
                </a:solidFill>
              </a:rPr>
              <a:t>默认子网地址空间</a:t>
            </a:r>
            <a:r>
              <a:rPr lang="zh-CN" altLang="en-US" sz="2300" b="1" noProof="1">
                <a:solidFill>
                  <a:schemeClr val="tx2"/>
                </a:solidFill>
              </a:rPr>
              <a:t>为</a:t>
            </a:r>
            <a:r>
              <a:rPr lang="zh-CN" altLang="en-US" sz="2300" b="1" noProof="1" smtClean="0">
                <a:solidFill>
                  <a:schemeClr val="tx2"/>
                </a:solidFill>
              </a:rPr>
              <a:t>2</a:t>
            </a:r>
            <a:r>
              <a:rPr lang="en-US" altLang="zh-CN" sz="2300" b="1" noProof="1" smtClean="0">
                <a:solidFill>
                  <a:schemeClr val="tx2"/>
                </a:solidFill>
              </a:rPr>
              <a:t>^</a:t>
            </a:r>
            <a:r>
              <a:rPr lang="zh-CN" altLang="en-US" sz="2300" b="1" noProof="1" smtClean="0">
                <a:solidFill>
                  <a:schemeClr val="tx2"/>
                </a:solidFill>
              </a:rPr>
              <a:t>64</a:t>
            </a:r>
            <a:r>
              <a:rPr lang="zh-CN" altLang="en-US" sz="2300" b="1" noProof="1">
                <a:solidFill>
                  <a:schemeClr val="tx2"/>
                </a:solidFill>
              </a:rPr>
              <a:t>位天文数字安全很多。 </a:t>
            </a:r>
          </a:p>
          <a:p>
            <a:pPr indent="457200" eaLnBrk="1" fontAlgn="auto" hangingPunct="1">
              <a:spcBef>
                <a:spcPts val="0"/>
              </a:spcBef>
              <a:spcAft>
                <a:spcPts val="0"/>
              </a:spcAft>
              <a:defRPr/>
            </a:pPr>
            <a:r>
              <a:rPr lang="zh-CN" altLang="en-US" sz="2300" b="1" noProof="1">
                <a:solidFill>
                  <a:srgbClr val="C00000"/>
                </a:solidFill>
              </a:rPr>
              <a:t>② 非授权访问</a:t>
            </a:r>
            <a:r>
              <a:rPr lang="zh-CN" altLang="en-US" sz="2300" b="1" noProof="1">
                <a:solidFill>
                  <a:schemeClr val="tx2"/>
                </a:solidFill>
              </a:rPr>
              <a:t>。IPv6下的访问控制同IPv4下情形类似，依赖防火墙或路由器访问控制表(ACL)等控制策略，由地址、端口等信息实施控</a:t>
            </a:r>
            <a:r>
              <a:rPr lang="zh-CN" altLang="en-US" sz="2300" b="1" noProof="1" smtClean="0">
                <a:solidFill>
                  <a:schemeClr val="tx2"/>
                </a:solidFill>
              </a:rPr>
              <a:t>制。 </a:t>
            </a:r>
            <a:endParaRPr lang="zh-CN" altLang="en-US" sz="2300" b="1" noProof="1">
              <a:solidFill>
                <a:schemeClr val="tx2"/>
              </a:solidFill>
            </a:endParaRPr>
          </a:p>
        </p:txBody>
      </p:sp>
      <p:pic>
        <p:nvPicPr>
          <p:cNvPr id="34819" name="Picture 24" descr="C:\Program Files\Microsoft Office\MEDIA\CAGCAT10\j0300520.gif"/>
          <p:cNvPicPr>
            <a:picLocks noChangeAspect="1" noChangeArrowheads="1"/>
          </p:cNvPicPr>
          <p:nvPr/>
        </p:nvPicPr>
        <p:blipFill>
          <a:blip r:embed="rId2" cstate="print"/>
          <a:srcRect/>
          <a:stretch>
            <a:fillRect/>
          </a:stretch>
        </p:blipFill>
        <p:spPr bwMode="auto">
          <a:xfrm>
            <a:off x="5219700" y="5589588"/>
            <a:ext cx="1079500" cy="928687"/>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710562" y="1348105"/>
            <a:ext cx="8063865" cy="409702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zh-CN" altLang="en-US" sz="2300" b="1" noProof="1">
                <a:solidFill>
                  <a:srgbClr val="C00000"/>
                </a:solidFill>
              </a:rPr>
              <a:t>③ 篡改分组头部和分段信息</a:t>
            </a:r>
            <a:r>
              <a:rPr lang="zh-CN" altLang="en-US" sz="2300" b="1" noProof="1">
                <a:solidFill>
                  <a:schemeClr val="tx2"/>
                </a:solidFill>
              </a:rPr>
              <a:t>。在IPv4网络中的设备和端系统都可对分组进行分片，分片攻击通常用于两种情形：一是利用分片逃避网络监控设备，如防火墙和IDS。二是直接利用网络设备中协议栈实现的漏洞，以错误的分片分组头部信息直接对网络设备发动攻击</a:t>
            </a:r>
            <a:r>
              <a:rPr lang="zh-CN" altLang="en-US" sz="2300" b="1" noProof="1" smtClean="0">
                <a:solidFill>
                  <a:schemeClr val="tx2"/>
                </a:solidFill>
              </a:rPr>
              <a:t>。</a:t>
            </a:r>
            <a:endParaRPr lang="zh-CN" altLang="en-US" sz="2300" b="1" noProof="1">
              <a:solidFill>
                <a:schemeClr val="tx2"/>
              </a:solidFill>
            </a:endParaRPr>
          </a:p>
          <a:p>
            <a:pPr indent="457200" eaLnBrk="1" fontAlgn="auto" hangingPunct="1">
              <a:spcBef>
                <a:spcPts val="0"/>
              </a:spcBef>
              <a:spcAft>
                <a:spcPts val="0"/>
              </a:spcAft>
              <a:defRPr/>
            </a:pPr>
            <a:r>
              <a:rPr lang="zh-CN" altLang="en-US" sz="2300" b="1" noProof="1">
                <a:solidFill>
                  <a:srgbClr val="C00000"/>
                </a:solidFill>
              </a:rPr>
              <a:t>④ 伪造源地址</a:t>
            </a:r>
            <a:r>
              <a:rPr lang="zh-CN" altLang="en-US" sz="2300" b="1" noProof="1">
                <a:solidFill>
                  <a:schemeClr val="tx2"/>
                </a:solidFill>
              </a:rPr>
              <a:t>。IPv4网络的源地址伪造的攻击很多，如SYN Flooding、UDP Flood Smurf等攻击。对其防范主要有两类方法：一是基于事前预防的过滤类方法，如准入过滤等；二是基于事后追查的回溯类方</a:t>
            </a:r>
            <a:r>
              <a:rPr lang="zh-CN" altLang="en-US" sz="2300" b="1" noProof="1" smtClean="0">
                <a:solidFill>
                  <a:schemeClr val="tx2"/>
                </a:solidFill>
              </a:rPr>
              <a:t>法。</a:t>
            </a:r>
            <a:r>
              <a:rPr lang="zh-CN" altLang="en-US" sz="2300" b="1" noProof="1">
                <a:solidFill>
                  <a:schemeClr val="tx2"/>
                </a:solidFill>
              </a:rPr>
              <a:t>实际上，这些方案都存在部署困难等缺陷，由于存在网络地址转换(NAT)，使攻击后追踪更难</a:t>
            </a:r>
            <a:r>
              <a:rPr lang="zh-CN" altLang="en-US" sz="2300" b="1" noProof="1" smtClean="0">
                <a:solidFill>
                  <a:schemeClr val="tx2"/>
                </a:solidFill>
              </a:rPr>
              <a:t>。</a:t>
            </a:r>
            <a:endParaRPr lang="zh-CN" altLang="en-US" sz="2300" b="1" noProof="1">
              <a:solidFill>
                <a:schemeClr val="tx2"/>
              </a:solidFill>
            </a:endParaRPr>
          </a:p>
        </p:txBody>
      </p:sp>
      <p:sp>
        <p:nvSpPr>
          <p:cNvPr id="35842"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pic>
        <p:nvPicPr>
          <p:cNvPr id="35843" name="Picture 5" descr="j0285750"/>
          <p:cNvPicPr>
            <a:picLocks noChangeAspect="1" noChangeArrowheads="1"/>
          </p:cNvPicPr>
          <p:nvPr/>
        </p:nvPicPr>
        <p:blipFill>
          <a:blip r:embed="rId2" cstate="print"/>
          <a:srcRect/>
          <a:stretch>
            <a:fillRect/>
          </a:stretch>
        </p:blipFill>
        <p:spPr bwMode="auto">
          <a:xfrm>
            <a:off x="5148263" y="5445125"/>
            <a:ext cx="1524000" cy="93662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内容占位符 13"/>
          <p:cNvSpPr>
            <a:spLocks noGrp="1" noChangeArrowheads="1"/>
          </p:cNvSpPr>
          <p:nvPr>
            <p:ph idx="4294967295"/>
          </p:nvPr>
        </p:nvSpPr>
        <p:spPr>
          <a:xfrm>
            <a:off x="419100" y="1185863"/>
            <a:ext cx="8040688" cy="3322637"/>
          </a:xfrm>
        </p:spPr>
        <p:txBody>
          <a:bodyPr/>
          <a:lstStyle/>
          <a:p>
            <a:pPr>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323850" y="1196975"/>
            <a:ext cx="8521700" cy="53403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solidFill>
                  <a:srgbClr val="CC0000"/>
                </a:solidFill>
                <a:latin typeface="Arial" panose="020B0604020202020204" pitchFamily="34" charset="0"/>
              </a:rPr>
              <a:t>     3. IPv6</a:t>
            </a:r>
            <a:r>
              <a:rPr lang="zh-CN" altLang="en-US" sz="2400" b="1" dirty="0">
                <a:solidFill>
                  <a:srgbClr val="CC0000"/>
                </a:solidFill>
                <a:latin typeface="Arial" panose="020B0604020202020204" pitchFamily="34" charset="0"/>
              </a:rPr>
              <a:t>的安全机制</a:t>
            </a:r>
          </a:p>
          <a:p>
            <a:pPr indent="457200">
              <a:defRPr/>
            </a:pPr>
            <a:r>
              <a:rPr lang="zh-CN" altLang="en-US" sz="2200" b="1" dirty="0">
                <a:solidFill>
                  <a:schemeClr val="tx2"/>
                </a:solidFill>
                <a:latin typeface="Arial" panose="020B0604020202020204" pitchFamily="34" charset="0"/>
              </a:rPr>
              <a:t> </a:t>
            </a:r>
            <a:r>
              <a:rPr sz="2200" b="1" dirty="0">
                <a:solidFill>
                  <a:schemeClr val="tx2"/>
                </a:solidFill>
                <a:latin typeface="Arial" panose="020B0604020202020204" pitchFamily="34" charset="0"/>
              </a:rPr>
              <a:t>1) 协议安全。如上所述，在协议安全层面，IPv6全面支持认证头AH认证和封装安全有效载荷ESP扩展头。支持数据源发认证、完整性和抗重放攻击等。</a:t>
            </a:r>
          </a:p>
          <a:p>
            <a:pPr indent="457200">
              <a:defRPr/>
            </a:pPr>
            <a:r>
              <a:rPr sz="2200" b="1" dirty="0">
                <a:solidFill>
                  <a:schemeClr val="tx2"/>
                </a:solidFill>
                <a:latin typeface="Arial" panose="020B0604020202020204" pitchFamily="34" charset="0"/>
              </a:rPr>
              <a:t>2) 网络安全。</a:t>
            </a:r>
            <a:r>
              <a:rPr sz="2200" b="1" dirty="0">
                <a:solidFill>
                  <a:srgbClr val="FF0000"/>
                </a:solidFill>
                <a:latin typeface="Arial" panose="020B0604020202020204" pitchFamily="34" charset="0"/>
              </a:rPr>
              <a:t>IPv6安全主要体现</a:t>
            </a:r>
            <a:r>
              <a:rPr sz="2200" b="1" dirty="0">
                <a:solidFill>
                  <a:schemeClr val="tx2"/>
                </a:solidFill>
                <a:latin typeface="Arial" panose="020B0604020202020204" pitchFamily="34" charset="0"/>
              </a:rPr>
              <a:t>在4个方面：</a:t>
            </a:r>
          </a:p>
          <a:p>
            <a:pPr indent="457200">
              <a:defRPr/>
            </a:pPr>
            <a:r>
              <a:rPr sz="2200" b="1" dirty="0">
                <a:solidFill>
                  <a:schemeClr val="tx2"/>
                </a:solidFill>
                <a:latin typeface="Arial" panose="020B0604020202020204" pitchFamily="34" charset="0"/>
              </a:rPr>
              <a:t>① </a:t>
            </a:r>
            <a:r>
              <a:rPr sz="2200" b="1" dirty="0" err="1">
                <a:solidFill>
                  <a:schemeClr val="tx2"/>
                </a:solidFill>
                <a:latin typeface="Arial" panose="020B0604020202020204" pitchFamily="34" charset="0"/>
              </a:rPr>
              <a:t>实现端到端安全</a:t>
            </a:r>
            <a:r>
              <a:rPr sz="2200" b="1" dirty="0">
                <a:solidFill>
                  <a:schemeClr val="tx2"/>
                </a:solidFill>
                <a:latin typeface="Arial" panose="020B0604020202020204" pitchFamily="34" charset="0"/>
              </a:rPr>
              <a:t>。两端主机对报文IPSec封装</a:t>
            </a:r>
            <a:r>
              <a:rPr lang="en-US" sz="2200" b="1" dirty="0">
                <a:solidFill>
                  <a:schemeClr val="tx2"/>
                </a:solidFill>
                <a:latin typeface="Arial" panose="020B0604020202020204" pitchFamily="34" charset="0"/>
              </a:rPr>
              <a:t>,</a:t>
            </a:r>
            <a:r>
              <a:rPr sz="2200" b="1" dirty="0">
                <a:solidFill>
                  <a:schemeClr val="tx2"/>
                </a:solidFill>
                <a:latin typeface="Arial" panose="020B0604020202020204" pitchFamily="34" charset="0"/>
              </a:rPr>
              <a:t>中间路由器实现对有IPSec扩展头IPv6报文封装传输</a:t>
            </a:r>
            <a:r>
              <a:rPr lang="zh-CN" altLang="en-US" sz="2200" b="1" dirty="0">
                <a:solidFill>
                  <a:schemeClr val="tx2"/>
                </a:solidFill>
                <a:latin typeface="Arial" panose="020B0604020202020204" pitchFamily="34" charset="0"/>
              </a:rPr>
              <a:t>即</a:t>
            </a:r>
            <a:r>
              <a:rPr sz="2200" b="1" dirty="0" err="1">
                <a:solidFill>
                  <a:schemeClr val="tx2"/>
                </a:solidFill>
                <a:latin typeface="Arial" panose="020B0604020202020204" pitchFamily="34" charset="0"/>
              </a:rPr>
              <a:t>可实现</a:t>
            </a:r>
            <a:r>
              <a:rPr lang="en-US" sz="2200" b="1" dirty="0">
                <a:solidFill>
                  <a:schemeClr val="tx2"/>
                </a:solidFill>
                <a:latin typeface="Arial" panose="020B0604020202020204" pitchFamily="34" charset="0"/>
              </a:rPr>
              <a:t>.</a:t>
            </a:r>
            <a:endParaRPr sz="2200" b="1" dirty="0">
              <a:solidFill>
                <a:schemeClr val="tx2"/>
              </a:solidFill>
              <a:latin typeface="Arial" panose="020B0604020202020204" pitchFamily="34" charset="0"/>
            </a:endParaRPr>
          </a:p>
          <a:p>
            <a:pPr indent="457200">
              <a:defRPr/>
            </a:pPr>
            <a:r>
              <a:rPr sz="2200" b="1" dirty="0">
                <a:solidFill>
                  <a:schemeClr val="tx2"/>
                </a:solidFill>
                <a:latin typeface="Arial" panose="020B0604020202020204" pitchFamily="34" charset="0"/>
              </a:rPr>
              <a:t>② 提供内网安全。</a:t>
            </a:r>
            <a:r>
              <a:rPr sz="2200" b="1" dirty="0" err="1">
                <a:solidFill>
                  <a:schemeClr val="tx2"/>
                </a:solidFill>
                <a:latin typeface="Arial" panose="020B0604020202020204" pitchFamily="34" charset="0"/>
              </a:rPr>
              <a:t>当内部主机与Internet其他主机通信时</a:t>
            </a:r>
            <a:r>
              <a:rPr lang="en-US" sz="2200" b="1" dirty="0" err="1">
                <a:solidFill>
                  <a:schemeClr val="tx2"/>
                </a:solidFill>
                <a:latin typeface="Arial" panose="020B0604020202020204" pitchFamily="34" charset="0"/>
              </a:rPr>
              <a:t>,</a:t>
            </a:r>
            <a:r>
              <a:rPr sz="2200" b="1" dirty="0" err="1">
                <a:solidFill>
                  <a:schemeClr val="tx2"/>
                </a:solidFill>
                <a:latin typeface="Arial" panose="020B0604020202020204" pitchFamily="34" charset="0"/>
              </a:rPr>
              <a:t>可通过配置IPSec网关实现内网安全</a:t>
            </a:r>
            <a:r>
              <a:rPr sz="2200" b="1" dirty="0">
                <a:solidFill>
                  <a:schemeClr val="tx2"/>
                </a:solidFill>
                <a:latin typeface="Arial" panose="020B0604020202020204" pitchFamily="34" charset="0"/>
              </a:rPr>
              <a:t>。</a:t>
            </a:r>
          </a:p>
          <a:p>
            <a:pPr indent="457200">
              <a:defRPr/>
            </a:pPr>
            <a:r>
              <a:rPr sz="2200" b="1" dirty="0">
                <a:solidFill>
                  <a:schemeClr val="tx2"/>
                </a:solidFill>
                <a:latin typeface="Arial" panose="020B0604020202020204" pitchFamily="34" charset="0"/>
              </a:rPr>
              <a:t>③ 由安全隧道构建安全VPN。通过IPv6的IPSec隧道实现的VPN，可在路由器之间建立IPSec安全隧道。</a:t>
            </a:r>
            <a:endParaRPr lang="en-US" sz="2200" b="1" dirty="0">
              <a:solidFill>
                <a:schemeClr val="tx2"/>
              </a:solidFill>
              <a:latin typeface="Arial" panose="020B0604020202020204" pitchFamily="34" charset="0"/>
            </a:endParaRPr>
          </a:p>
          <a:p>
            <a:pPr indent="457200" fontAlgn="auto">
              <a:spcBef>
                <a:spcPts val="0"/>
              </a:spcBef>
              <a:spcAft>
                <a:spcPts val="0"/>
              </a:spcAft>
              <a:defRPr/>
            </a:pPr>
            <a:r>
              <a:rPr lang="zh-CN" altLang="en-US" sz="2200" b="1" noProof="1">
                <a:solidFill>
                  <a:schemeClr val="tx2"/>
                </a:solidFill>
              </a:rPr>
              <a:t>④ 以隧道嵌套实现网络安全。</a:t>
            </a:r>
          </a:p>
          <a:p>
            <a:pPr indent="457200" fontAlgn="auto">
              <a:spcBef>
                <a:spcPts val="0"/>
              </a:spcBef>
              <a:spcAft>
                <a:spcPts val="0"/>
              </a:spcAft>
              <a:defRPr/>
            </a:pPr>
            <a:r>
              <a:rPr lang="zh-CN" altLang="en-US" sz="2200" b="1" noProof="1">
                <a:solidFill>
                  <a:schemeClr val="tx2"/>
                </a:solidFill>
                <a:latin typeface="Arial" panose="020B0604020202020204" pitchFamily="34" charset="0"/>
              </a:rPr>
              <a:t>3）</a:t>
            </a:r>
            <a:r>
              <a:rPr lang="zh-CN" altLang="en-US" sz="2200" b="1" noProof="1">
                <a:solidFill>
                  <a:schemeClr val="tx2"/>
                </a:solidFill>
              </a:rPr>
              <a:t>其他安全保障。由于网络的安全威胁为多层且分布于各层之间。对物理层的安全隐患，可通过配置冗余设备、冗余线路、安全供电、保障电磁兼容环境和加强安全管理进行防护。</a:t>
            </a:r>
          </a:p>
        </p:txBody>
      </p:sp>
      <p:sp>
        <p:nvSpPr>
          <p:cNvPr id="36867"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467544" y="1268759"/>
            <a:ext cx="8496935" cy="475230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defRPr/>
            </a:pPr>
            <a:r>
              <a:rPr lang="en-US" altLang="zh-CN" sz="2400" b="1" noProof="1">
                <a:solidFill>
                  <a:srgbClr val="FF0000"/>
                </a:solidFill>
              </a:rPr>
              <a:t>4.</a:t>
            </a:r>
            <a:r>
              <a:rPr lang="zh-CN" altLang="en-US" sz="2400" b="1" noProof="1">
                <a:solidFill>
                  <a:srgbClr val="FF0000"/>
                </a:solidFill>
              </a:rPr>
              <a:t>移动IPv6的安全性</a:t>
            </a:r>
          </a:p>
          <a:p>
            <a:pPr indent="457200" fontAlgn="auto">
              <a:spcBef>
                <a:spcPts val="0"/>
              </a:spcBef>
              <a:spcAft>
                <a:spcPts val="0"/>
              </a:spcAft>
              <a:defRPr/>
            </a:pPr>
            <a:r>
              <a:rPr lang="zh-CN" altLang="en-US" sz="2200" b="1" noProof="1">
                <a:solidFill>
                  <a:schemeClr val="tx2"/>
                </a:solidFill>
              </a:rPr>
              <a:t>(1) 移动IPv6的特性 </a:t>
            </a:r>
          </a:p>
          <a:p>
            <a:pPr indent="457200" fontAlgn="auto">
              <a:spcBef>
                <a:spcPts val="0"/>
              </a:spcBef>
              <a:spcAft>
                <a:spcPts val="0"/>
              </a:spcAft>
              <a:defRPr/>
            </a:pPr>
            <a:r>
              <a:rPr lang="zh-CN" altLang="en-US" sz="2200" b="1" noProof="1">
                <a:solidFill>
                  <a:schemeClr val="tx2"/>
                </a:solidFill>
              </a:rPr>
              <a:t>从IPv4到IPv6使移动IP技术发生根本性变化，IPv6的许多新特性也为</a:t>
            </a:r>
            <a:r>
              <a:rPr lang="zh-CN" altLang="en-US" sz="2200" b="1" noProof="1">
                <a:solidFill>
                  <a:srgbClr val="C00000"/>
                </a:solidFill>
              </a:rPr>
              <a:t>结点移动性</a:t>
            </a:r>
            <a:r>
              <a:rPr lang="zh-CN" altLang="en-US" sz="2200" b="1" noProof="1">
                <a:solidFill>
                  <a:schemeClr val="tx2"/>
                </a:solidFill>
              </a:rPr>
              <a:t>提供更好支持</a:t>
            </a:r>
            <a:r>
              <a:rPr lang="en-US" altLang="zh-CN" sz="2200" b="1" noProof="1">
                <a:solidFill>
                  <a:schemeClr val="tx2"/>
                </a:solidFill>
              </a:rPr>
              <a:t>.</a:t>
            </a:r>
            <a:r>
              <a:rPr lang="zh-CN" altLang="en-US" sz="2200" b="1" noProof="1">
                <a:solidFill>
                  <a:schemeClr val="tx2"/>
                </a:solidFill>
              </a:rPr>
              <a:t>IPv6组网技术极大简化网络重组</a:t>
            </a:r>
            <a:r>
              <a:rPr lang="en-US" altLang="zh-CN" sz="2200" b="1" noProof="1">
                <a:solidFill>
                  <a:schemeClr val="tx2"/>
                </a:solidFill>
              </a:rPr>
              <a:t>,</a:t>
            </a:r>
            <a:r>
              <a:rPr lang="zh-CN" altLang="en-US" sz="2200" b="1" noProof="1">
                <a:solidFill>
                  <a:schemeClr val="tx2"/>
                </a:solidFill>
              </a:rPr>
              <a:t>更有效促进因特网移动性。</a:t>
            </a:r>
            <a:endParaRPr lang="en-US" altLang="zh-CN" sz="2200" b="1" noProof="1">
              <a:solidFill>
                <a:schemeClr val="tx2"/>
              </a:solidFill>
            </a:endParaRPr>
          </a:p>
          <a:p>
            <a:pPr indent="457200" fontAlgn="auto">
              <a:spcBef>
                <a:spcPts val="0"/>
              </a:spcBef>
              <a:spcAft>
                <a:spcPts val="0"/>
              </a:spcAft>
              <a:defRPr/>
            </a:pPr>
            <a:r>
              <a:rPr lang="zh-CN" altLang="en-US" sz="2200" b="1" noProof="1">
                <a:solidFill>
                  <a:schemeClr val="tx2"/>
                </a:solidFill>
              </a:rPr>
              <a:t>(2) 移动IPv6面临的安全威胁 </a:t>
            </a:r>
          </a:p>
          <a:p>
            <a:pPr indent="457200" fontAlgn="auto">
              <a:spcBef>
                <a:spcPts val="0"/>
              </a:spcBef>
              <a:spcAft>
                <a:spcPts val="0"/>
              </a:spcAft>
              <a:defRPr/>
            </a:pPr>
            <a:r>
              <a:rPr lang="zh-CN" altLang="en-US" sz="2200" b="1" noProof="1">
                <a:solidFill>
                  <a:srgbClr val="C00000"/>
                </a:solidFill>
              </a:rPr>
              <a:t>移动IPv6基本工作流程</a:t>
            </a:r>
            <a:r>
              <a:rPr lang="zh-CN" altLang="en-US" sz="2200" b="1" noProof="1">
                <a:solidFill>
                  <a:schemeClr val="tx2"/>
                </a:solidFill>
              </a:rPr>
              <a:t>只针对于理想状态的互联网，并未考虑现实网络的安全问题。且移动性的引入也会</a:t>
            </a:r>
            <a:r>
              <a:rPr lang="zh-CN" altLang="en-US" sz="2200" b="1" noProof="1">
                <a:solidFill>
                  <a:srgbClr val="C00000"/>
                </a:solidFill>
              </a:rPr>
              <a:t>带来新安全威胁</a:t>
            </a:r>
            <a:r>
              <a:rPr lang="zh-CN" altLang="en-US" sz="2200" b="1" noProof="1">
                <a:solidFill>
                  <a:schemeClr val="tx2"/>
                </a:solidFill>
              </a:rPr>
              <a:t>，如对报文窃听、篡改和拒绝服务攻击等。因此</a:t>
            </a:r>
            <a:r>
              <a:rPr lang="en-US" altLang="zh-CN" sz="2200" b="1" noProof="1">
                <a:solidFill>
                  <a:schemeClr val="tx2"/>
                </a:solidFill>
              </a:rPr>
              <a:t>,</a:t>
            </a:r>
            <a:r>
              <a:rPr lang="zh-CN" altLang="en-US" sz="2200" b="1" noProof="1">
                <a:solidFill>
                  <a:schemeClr val="tx2"/>
                </a:solidFill>
              </a:rPr>
              <a:t>在移动IPv6的具体实施中须谨慎处理这些安全威胁</a:t>
            </a:r>
            <a:r>
              <a:rPr lang="en-US" altLang="zh-CN" sz="2200" b="1" noProof="1">
                <a:solidFill>
                  <a:schemeClr val="tx2"/>
                </a:solidFill>
              </a:rPr>
              <a:t>,</a:t>
            </a:r>
            <a:r>
              <a:rPr lang="zh-CN" altLang="en-US" sz="2200" b="1" noProof="1">
                <a:solidFill>
                  <a:schemeClr val="tx2"/>
                </a:solidFill>
              </a:rPr>
              <a:t>以免降低网络安全级别。</a:t>
            </a:r>
          </a:p>
          <a:p>
            <a:pPr indent="457200" fontAlgn="auto">
              <a:spcBef>
                <a:spcPts val="0"/>
              </a:spcBef>
              <a:spcAft>
                <a:spcPts val="0"/>
              </a:spcAft>
              <a:defRPr/>
            </a:pPr>
            <a:r>
              <a:rPr lang="zh-CN" altLang="en-US" sz="2200" b="1" noProof="1">
                <a:solidFill>
                  <a:schemeClr val="tx2"/>
                </a:solidFill>
              </a:rPr>
              <a:t>移动IP</a:t>
            </a:r>
            <a:r>
              <a:rPr lang="zh-CN" altLang="en-US" sz="2200" b="1" noProof="1">
                <a:solidFill>
                  <a:srgbClr val="C00000"/>
                </a:solidFill>
              </a:rPr>
              <a:t>主要用于</a:t>
            </a:r>
            <a:r>
              <a:rPr lang="zh-CN" altLang="en-US" sz="2200" b="1" noProof="1">
                <a:solidFill>
                  <a:schemeClr val="tx2"/>
                </a:solidFill>
              </a:rPr>
              <a:t>无线网络，不仅要面对无线网络所有的安全威胁，还要处理由移动性带来的</a:t>
            </a:r>
            <a:r>
              <a:rPr lang="zh-CN" altLang="en-US" sz="2200" b="1" noProof="1">
                <a:solidFill>
                  <a:srgbClr val="C00000"/>
                </a:solidFill>
              </a:rPr>
              <a:t>新安全问题</a:t>
            </a:r>
            <a:r>
              <a:rPr lang="zh-CN" altLang="en-US" sz="2200" b="1" noProof="1">
                <a:solidFill>
                  <a:schemeClr val="tx2"/>
                </a:solidFill>
              </a:rPr>
              <a:t>，所以，移动IP相对有线网络更脆弱和复杂。 </a:t>
            </a:r>
          </a:p>
        </p:txBody>
      </p:sp>
      <p:sp>
        <p:nvSpPr>
          <p:cNvPr id="37890" name="Rectangle 2"/>
          <p:cNvSpPr txBox="1">
            <a:spLocks noChangeArrowheads="1"/>
          </p:cNvSpPr>
          <p:nvPr/>
        </p:nvSpPr>
        <p:spPr bwMode="auto">
          <a:xfrm>
            <a:off x="468313" y="260350"/>
            <a:ext cx="8305800" cy="563563"/>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pic>
        <p:nvPicPr>
          <p:cNvPr id="37891" name="Picture 24" descr="C:\Program Files\Microsoft Office\MEDIA\CAGCAT10\j0300520.gif"/>
          <p:cNvPicPr>
            <a:picLocks noChangeAspect="1" noChangeArrowheads="1"/>
          </p:cNvPicPr>
          <p:nvPr/>
        </p:nvPicPr>
        <p:blipFill>
          <a:blip r:embed="rId2" cstate="print"/>
          <a:srcRect/>
          <a:stretch>
            <a:fillRect/>
          </a:stretch>
        </p:blipFill>
        <p:spPr bwMode="auto">
          <a:xfrm>
            <a:off x="5219700" y="5589588"/>
            <a:ext cx="1079500" cy="928687"/>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8"/>
          <p:cNvSpPr>
            <a:spLocks noChangeArrowheads="1"/>
          </p:cNvSpPr>
          <p:nvPr/>
        </p:nvSpPr>
        <p:spPr bwMode="gray">
          <a:xfrm>
            <a:off x="1238250" y="4933950"/>
            <a:ext cx="6667500" cy="1160463"/>
          </a:xfrm>
          <a:prstGeom prst="roundRect">
            <a:avLst>
              <a:gd name="adj" fmla="val 16667"/>
            </a:avLst>
          </a:prstGeom>
          <a:solidFill>
            <a:srgbClr val="FFFF99"/>
          </a:solidFill>
          <a:ln w="25400" algn="ctr">
            <a:solidFill>
              <a:schemeClr val="tx1"/>
            </a:solidFill>
            <a:round/>
          </a:ln>
        </p:spPr>
        <p:txBody>
          <a:bodyPr anchor="ctr"/>
          <a:lstStyle/>
          <a:p>
            <a:pPr>
              <a:buFontTx/>
              <a:buNone/>
              <a:defRPr/>
            </a:pPr>
            <a:r>
              <a:rPr lang="zh-CN" altLang="en-US" sz="20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20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讨论思考：</a:t>
            </a:r>
          </a:p>
          <a:p>
            <a:pPr>
              <a:buFontTx/>
              <a:buNone/>
              <a:defRPr/>
            </a:pPr>
            <a:r>
              <a:rPr b="1" dirty="0">
                <a:effectLst>
                  <a:outerShdw blurRad="38100" dist="38100" dir="2700000" algn="tl">
                    <a:srgbClr val="000000"/>
                  </a:outerShdw>
                </a:effectLst>
                <a:latin typeface="楷体" panose="02010609060101010101" charset="-122"/>
                <a:ea typeface="楷体" panose="02010609060101010101" charset="-122"/>
              </a:rPr>
              <a:t> 1）网络协议的安全风险有哪些？ </a:t>
            </a:r>
          </a:p>
          <a:p>
            <a:pPr>
              <a:buFontTx/>
              <a:buNone/>
              <a:defRPr/>
            </a:pPr>
            <a:r>
              <a:rPr b="1" dirty="0">
                <a:effectLst>
                  <a:outerShdw blurRad="38100" dist="38100" dir="2700000" algn="tl">
                    <a:srgbClr val="000000"/>
                  </a:outerShdw>
                </a:effectLst>
                <a:latin typeface="楷体" panose="02010609060101010101" charset="-122"/>
                <a:ea typeface="楷体" panose="02010609060101010101" charset="-122"/>
              </a:rPr>
              <a:t> 2）概述TCP/IP应用层的安全性？</a:t>
            </a:r>
          </a:p>
          <a:p>
            <a:pPr>
              <a:buFontTx/>
              <a:buNone/>
              <a:defRPr/>
            </a:pPr>
            <a:r>
              <a:rPr b="1" dirty="0">
                <a:effectLst>
                  <a:outerShdw blurRad="38100" dist="38100" dir="2700000" algn="tl">
                    <a:srgbClr val="000000"/>
                  </a:outerShdw>
                </a:effectLst>
                <a:latin typeface="楷体" panose="02010609060101010101" charset="-122"/>
                <a:ea typeface="楷体" panose="02010609060101010101" charset="-122"/>
              </a:rPr>
              <a:t> 3）移动IPv6面临的安全威胁有哪些？</a:t>
            </a:r>
          </a:p>
        </p:txBody>
      </p:sp>
      <p:sp>
        <p:nvSpPr>
          <p:cNvPr id="167" name=" 167"/>
          <p:cNvSpPr/>
          <p:nvPr/>
        </p:nvSpPr>
        <p:spPr>
          <a:xfrm>
            <a:off x="611504" y="1209675"/>
            <a:ext cx="7920990" cy="360172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defRPr/>
            </a:pPr>
            <a:r>
              <a:rPr lang="en-US" altLang="zh-CN" sz="2400" b="1" noProof="1">
                <a:solidFill>
                  <a:srgbClr val="FF0000"/>
                </a:solidFill>
              </a:rPr>
              <a:t>5.</a:t>
            </a:r>
            <a:r>
              <a:rPr lang="zh-CN" altLang="en-US" sz="2400" b="1" noProof="1">
                <a:solidFill>
                  <a:srgbClr val="FF0000"/>
                </a:solidFill>
              </a:rPr>
              <a:t>移动IPv6的安全机制</a:t>
            </a:r>
          </a:p>
          <a:p>
            <a:pPr indent="457200" fontAlgn="auto">
              <a:spcBef>
                <a:spcPts val="0"/>
              </a:spcBef>
              <a:spcAft>
                <a:spcPts val="0"/>
              </a:spcAft>
              <a:defRPr/>
            </a:pPr>
            <a:r>
              <a:rPr lang="zh-CN" altLang="en-US" sz="2200" b="1" noProof="1">
                <a:solidFill>
                  <a:schemeClr val="tx2"/>
                </a:solidFill>
              </a:rPr>
              <a:t>移动IPv6协议针对上述安全威胁，</a:t>
            </a:r>
            <a:r>
              <a:rPr lang="zh-CN" altLang="en-US" sz="2200" b="1" noProof="1">
                <a:solidFill>
                  <a:srgbClr val="C00000"/>
                </a:solidFill>
              </a:rPr>
              <a:t>在注册消息中</a:t>
            </a:r>
            <a:r>
              <a:rPr lang="zh-CN" altLang="en-US" sz="2200" b="1" noProof="1">
                <a:solidFill>
                  <a:schemeClr val="tx2"/>
                </a:solidFill>
              </a:rPr>
              <a:t>通过添加序列号以防范重放攻击，并</a:t>
            </a:r>
            <a:r>
              <a:rPr lang="zh-CN" altLang="en-US" sz="2200" b="1" noProof="1">
                <a:solidFill>
                  <a:srgbClr val="C00000"/>
                </a:solidFill>
              </a:rPr>
              <a:t>在协议报文中</a:t>
            </a:r>
            <a:r>
              <a:rPr lang="zh-CN" altLang="en-US" sz="2200" b="1" noProof="1">
                <a:solidFill>
                  <a:schemeClr val="tx2"/>
                </a:solidFill>
              </a:rPr>
              <a:t>引入时间随机数。</a:t>
            </a:r>
          </a:p>
          <a:p>
            <a:pPr indent="457200" fontAlgn="auto">
              <a:spcBef>
                <a:spcPts val="0"/>
              </a:spcBef>
              <a:spcAft>
                <a:spcPts val="0"/>
              </a:spcAft>
              <a:defRPr/>
            </a:pPr>
            <a:r>
              <a:rPr lang="zh-CN" altLang="en-US" sz="2200" b="1" noProof="1">
                <a:solidFill>
                  <a:schemeClr val="tx2"/>
                </a:solidFill>
              </a:rPr>
              <a:t>对其他形式攻击</a:t>
            </a:r>
            <a:r>
              <a:rPr lang="en-US" altLang="zh-CN" sz="2200" b="1" noProof="1">
                <a:solidFill>
                  <a:schemeClr val="tx2"/>
                </a:solidFill>
              </a:rPr>
              <a:t>,</a:t>
            </a:r>
            <a:r>
              <a:rPr lang="zh-CN" altLang="en-US" sz="2200" b="1" noProof="1">
                <a:solidFill>
                  <a:schemeClr val="tx2"/>
                </a:solidFill>
              </a:rPr>
              <a:t>可用&lt;</a:t>
            </a:r>
            <a:r>
              <a:rPr lang="zh-CN" altLang="en-US" sz="2200" b="1" noProof="1">
                <a:solidFill>
                  <a:schemeClr val="tx2"/>
                </a:solidFill>
                <a:ea typeface="楷体" panose="02010609060101010101" charset="-122"/>
              </a:rPr>
              <a:t>移动结点，通信结点</a:t>
            </a:r>
            <a:r>
              <a:rPr lang="zh-CN" altLang="en-US" sz="2200" b="1" noProof="1">
                <a:solidFill>
                  <a:schemeClr val="tx2"/>
                </a:solidFill>
              </a:rPr>
              <a:t>&gt; 和 &lt;</a:t>
            </a:r>
            <a:r>
              <a:rPr lang="zh-CN" altLang="en-US" sz="2200" b="1" noProof="1">
                <a:solidFill>
                  <a:schemeClr val="tx2"/>
                </a:solidFill>
                <a:ea typeface="楷体" panose="02010609060101010101" charset="-122"/>
              </a:rPr>
              <a:t>移动结点，归属代理</a:t>
            </a:r>
            <a:r>
              <a:rPr lang="zh-CN" altLang="en-US" sz="2200" b="1" noProof="1">
                <a:solidFill>
                  <a:schemeClr val="tx2"/>
                </a:solidFill>
              </a:rPr>
              <a:t>&gt;之间</a:t>
            </a:r>
            <a:r>
              <a:rPr lang="zh-CN" altLang="en-US" sz="2200" b="1" noProof="1">
                <a:solidFill>
                  <a:srgbClr val="C00000"/>
                </a:solidFill>
              </a:rPr>
              <a:t>信令消息传递</a:t>
            </a:r>
            <a:r>
              <a:rPr lang="zh-CN" altLang="en-US" sz="2200" b="1" noProof="1">
                <a:solidFill>
                  <a:schemeClr val="tx2"/>
                </a:solidFill>
              </a:rPr>
              <a:t>进行有效防范。移动结点和归属代理之间可通过</a:t>
            </a:r>
            <a:r>
              <a:rPr lang="zh-CN" altLang="en-US" sz="2200" b="1" noProof="1">
                <a:solidFill>
                  <a:srgbClr val="C00000"/>
                </a:solidFill>
              </a:rPr>
              <a:t>建立IPSec安全联盟</a:t>
            </a:r>
            <a:r>
              <a:rPr lang="zh-CN" altLang="en-US" sz="2200" b="1" noProof="1">
                <a:solidFill>
                  <a:schemeClr val="tx2"/>
                </a:solidFill>
              </a:rPr>
              <a:t>，以保护信令消息和业务流量。由于移动结点归属地址和归属代理为已知，所以可以预先为移动结点和归属代理配置安全联盟，并使用IPSec AH和ESP建立安全隧道，提供数据源认证、完整性检查、数据加密和重放攻击防护。</a:t>
            </a:r>
          </a:p>
        </p:txBody>
      </p:sp>
      <p:sp>
        <p:nvSpPr>
          <p:cNvPr id="38915" name="Rectangle 2"/>
          <p:cNvSpPr txBox="1">
            <a:spLocks noChangeArrowheads="1"/>
          </p:cNvSpPr>
          <p:nvPr/>
        </p:nvSpPr>
        <p:spPr bwMode="auto">
          <a:xfrm>
            <a:off x="419100" y="274638"/>
            <a:ext cx="8305800" cy="563562"/>
          </a:xfrm>
          <a:prstGeom prst="rect">
            <a:avLst/>
          </a:prstGeom>
          <a:noFill/>
          <a:ln w="9525">
            <a:noFill/>
            <a:miter lim="800000"/>
          </a:ln>
        </p:spPr>
        <p:txBody>
          <a:bodyPr anchor="ctr"/>
          <a:lstStyle/>
          <a:p>
            <a:pPr algn="ctr"/>
            <a:r>
              <a:rPr lang="en-US" altLang="zh-CN" sz="3200" b="1">
                <a:solidFill>
                  <a:schemeClr val="bg1"/>
                </a:solidFill>
                <a:latin typeface="黑体" panose="02010609060101010101" pitchFamily="49" charset="-122"/>
                <a:ea typeface="黑体" panose="02010609060101010101" pitchFamily="49" charset="-122"/>
              </a:rPr>
              <a:t>2.1 </a:t>
            </a:r>
            <a:r>
              <a:rPr lang="zh-CN" altLang="en-US" sz="3200" b="1">
                <a:solidFill>
                  <a:schemeClr val="bg1"/>
                </a:solidFill>
                <a:latin typeface="黑体" panose="02010609060101010101" pitchFamily="49" charset="-122"/>
                <a:ea typeface="黑体" panose="02010609060101010101" pitchFamily="49" charset="-122"/>
              </a:rPr>
              <a:t>网络协议安全概述</a:t>
            </a:r>
            <a:r>
              <a:rPr lang="zh-CN" altLang="en-US" sz="3200">
                <a:latin typeface="黑体" panose="02010609060101010101" pitchFamily="49" charset="-122"/>
                <a:ea typeface="黑体" panose="02010609060101010101" pitchFamily="49" charset="-122"/>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r>
              <a:rPr lang="zh-CN" altLang="en-US"/>
              <a:t> </a:t>
            </a:r>
          </a:p>
        </p:txBody>
      </p:sp>
      <p:sp>
        <p:nvSpPr>
          <p:cNvPr id="39938" name="内容占位符 13"/>
          <p:cNvSpPr>
            <a:spLocks noChangeArrowheads="1"/>
          </p:cNvSpPr>
          <p:nvPr/>
        </p:nvSpPr>
        <p:spPr bwMode="auto">
          <a:xfrm>
            <a:off x="395288" y="1196975"/>
            <a:ext cx="8153400" cy="3311525"/>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39939" name="文本框 4"/>
          <p:cNvSpPr txBox="1">
            <a:spLocks noChangeArrowheads="1"/>
          </p:cNvSpPr>
          <p:nvPr/>
        </p:nvSpPr>
        <p:spPr bwMode="auto">
          <a:xfrm>
            <a:off x="557213" y="1289050"/>
            <a:ext cx="7991475" cy="4784725"/>
          </a:xfrm>
          <a:prstGeom prst="rect">
            <a:avLst/>
          </a:prstGeom>
          <a:noFill/>
          <a:ln w="9525">
            <a:noFill/>
            <a:miter lim="800000"/>
          </a:ln>
        </p:spPr>
        <p:txBody>
          <a:bodyPr>
            <a:spAutoFit/>
          </a:bodyPr>
          <a:lstStyle/>
          <a:p>
            <a:r>
              <a:rPr lang="en-US" altLang="zh-CN" sz="2500" b="1" dirty="0">
                <a:solidFill>
                  <a:srgbClr val="FF0000"/>
                </a:solidFill>
              </a:rPr>
              <a:t>2.2.1</a:t>
            </a:r>
            <a:r>
              <a:rPr lang="zh-CN" altLang="en-US" sz="2500" b="1" dirty="0">
                <a:solidFill>
                  <a:srgbClr val="FF0000"/>
                </a:solidFill>
              </a:rPr>
              <a:t> VPN的概念和结构</a:t>
            </a:r>
          </a:p>
          <a:p>
            <a:r>
              <a:rPr lang="zh-CN" altLang="en-US" b="1" dirty="0">
                <a:solidFill>
                  <a:schemeClr val="tx2"/>
                </a:solidFill>
              </a:rPr>
              <a:t>       </a:t>
            </a:r>
            <a:r>
              <a:rPr lang="zh-CN" altLang="en-US" sz="2000" b="1" dirty="0">
                <a:solidFill>
                  <a:srgbClr val="FF0000"/>
                </a:solidFill>
              </a:rPr>
              <a:t>虚拟专用网（Virtual Private Network，VPN）</a:t>
            </a:r>
            <a:r>
              <a:rPr lang="zh-CN" altLang="en-US" sz="2000" b="1" dirty="0">
                <a:solidFill>
                  <a:schemeClr val="tx2"/>
                </a:solidFill>
              </a:rPr>
              <a:t>是利用Internet等公共网络的基础设施，通过隧道技术，为用户提供的与专用网络具有相同通信功能的安全数据通道。“</a:t>
            </a:r>
            <a:r>
              <a:rPr lang="zh-CN" altLang="en-US" sz="2000" b="1" dirty="0">
                <a:solidFill>
                  <a:srgbClr val="FF0000"/>
                </a:solidFill>
              </a:rPr>
              <a:t>虚拟</a:t>
            </a:r>
            <a:r>
              <a:rPr lang="zh-CN" altLang="en-US" sz="2000" b="1" dirty="0">
                <a:solidFill>
                  <a:schemeClr val="tx2"/>
                </a:solidFill>
              </a:rPr>
              <a:t>”是指用户无需建立各自专用的物理线路，而利用Internet等公共网络资源和设备建立一条</a:t>
            </a:r>
            <a:r>
              <a:rPr lang="zh-CN" altLang="en-US" sz="2000" b="1" dirty="0">
                <a:solidFill>
                  <a:srgbClr val="0000FF"/>
                </a:solidFill>
              </a:rPr>
              <a:t>逻辑上的专用数据通道</a:t>
            </a:r>
            <a:r>
              <a:rPr lang="zh-CN" altLang="en-US" sz="2000" b="1" dirty="0">
                <a:solidFill>
                  <a:schemeClr val="tx2"/>
                </a:solidFill>
              </a:rPr>
              <a:t>，并实现与专用数据通道相同的通信功能。“</a:t>
            </a:r>
            <a:r>
              <a:rPr lang="zh-CN" altLang="en-US" sz="2000" b="1" dirty="0">
                <a:solidFill>
                  <a:srgbClr val="FF0000"/>
                </a:solidFill>
              </a:rPr>
              <a:t>专用网络</a:t>
            </a:r>
            <a:r>
              <a:rPr lang="zh-CN" altLang="en-US" sz="2000" b="1" dirty="0">
                <a:solidFill>
                  <a:schemeClr val="tx2"/>
                </a:solidFill>
              </a:rPr>
              <a:t>”是指虚拟出来的网络并非任何连接在公共网络上的用户都能使用，只有经过授权的用户才可使用。</a:t>
            </a:r>
          </a:p>
          <a:p>
            <a:r>
              <a:rPr lang="zh-CN" altLang="en-US" sz="2000" b="1" dirty="0">
                <a:solidFill>
                  <a:schemeClr val="tx2"/>
                </a:solidFill>
              </a:rPr>
              <a:t>     该通道内传输数据经过加密和认证</a:t>
            </a:r>
            <a:r>
              <a:rPr lang="en-US" altLang="zh-CN" sz="2000" b="1" dirty="0">
                <a:solidFill>
                  <a:schemeClr val="tx2"/>
                </a:solidFill>
              </a:rPr>
              <a:t>,</a:t>
            </a:r>
            <a:r>
              <a:rPr lang="zh-CN" altLang="en-US" sz="2000" b="1" dirty="0">
                <a:solidFill>
                  <a:schemeClr val="tx2"/>
                </a:solidFill>
              </a:rPr>
              <a:t>可保</a:t>
            </a:r>
            <a:endParaRPr lang="en-US" altLang="zh-CN" sz="2000" b="1" dirty="0">
              <a:solidFill>
                <a:schemeClr val="tx2"/>
              </a:solidFill>
            </a:endParaRPr>
          </a:p>
          <a:p>
            <a:r>
              <a:rPr lang="zh-CN" altLang="en-US" sz="2000" b="1" dirty="0">
                <a:solidFill>
                  <a:schemeClr val="tx2"/>
                </a:solidFill>
              </a:rPr>
              <a:t>证传输内容的完整性和机密性</a:t>
            </a:r>
            <a:r>
              <a:rPr lang="en-US" altLang="zh-CN" sz="2000" b="1" dirty="0">
                <a:solidFill>
                  <a:schemeClr val="tx2"/>
                </a:solidFill>
              </a:rPr>
              <a:t>.</a:t>
            </a:r>
            <a:r>
              <a:rPr lang="zh-CN" altLang="en-US" sz="2000" b="1" dirty="0">
                <a:solidFill>
                  <a:schemeClr val="tx2"/>
                </a:solidFill>
              </a:rPr>
              <a:t>IETF对</a:t>
            </a:r>
            <a:r>
              <a:rPr lang="zh-CN" altLang="en-US" sz="2000" b="1" dirty="0">
                <a:solidFill>
                  <a:srgbClr val="FF0000"/>
                </a:solidFill>
              </a:rPr>
              <a:t>基于</a:t>
            </a:r>
            <a:endParaRPr lang="en-US" altLang="zh-CN" sz="2000" b="1" dirty="0">
              <a:solidFill>
                <a:srgbClr val="FF0000"/>
              </a:solidFill>
            </a:endParaRPr>
          </a:p>
          <a:p>
            <a:r>
              <a:rPr lang="zh-CN" altLang="en-US" sz="2000" b="1" dirty="0">
                <a:solidFill>
                  <a:srgbClr val="FF0000"/>
                </a:solidFill>
              </a:rPr>
              <a:t>IP网络的定义的VPN</a:t>
            </a:r>
            <a:r>
              <a:rPr lang="zh-CN" altLang="en-US" sz="2000" b="1" dirty="0">
                <a:solidFill>
                  <a:schemeClr val="tx2"/>
                </a:solidFill>
              </a:rPr>
              <a:t>为</a:t>
            </a:r>
            <a:r>
              <a:rPr lang="en-US" altLang="zh-CN" sz="2000" b="1" dirty="0">
                <a:solidFill>
                  <a:schemeClr val="tx2"/>
                </a:solidFill>
              </a:rPr>
              <a:t>:</a:t>
            </a:r>
            <a:r>
              <a:rPr lang="zh-CN" altLang="en-US" sz="2000" b="1" dirty="0">
                <a:solidFill>
                  <a:schemeClr val="tx2"/>
                </a:solidFill>
              </a:rPr>
              <a:t>利用IP机制模拟的</a:t>
            </a:r>
            <a:endParaRPr lang="en-US" altLang="zh-CN" sz="2000" b="1" dirty="0">
              <a:solidFill>
                <a:schemeClr val="tx2"/>
              </a:solidFill>
            </a:endParaRPr>
          </a:p>
          <a:p>
            <a:r>
              <a:rPr lang="zh-CN" altLang="en-US" sz="2000" b="1" dirty="0">
                <a:solidFill>
                  <a:schemeClr val="tx2"/>
                </a:solidFill>
              </a:rPr>
              <a:t>一个专用广域网</a:t>
            </a:r>
            <a:r>
              <a:rPr lang="en-US" altLang="zh-CN" sz="2000" b="1" dirty="0">
                <a:solidFill>
                  <a:schemeClr val="tx2"/>
                </a:solidFill>
              </a:rPr>
              <a:t>.</a:t>
            </a:r>
            <a:r>
              <a:rPr lang="zh-CN" altLang="en-US" sz="2000" b="1" dirty="0">
                <a:solidFill>
                  <a:schemeClr val="tx2"/>
                </a:solidFill>
              </a:rPr>
              <a:t>VPN可通过特殊加密通信</a:t>
            </a:r>
            <a:endParaRPr lang="en-US" altLang="zh-CN" sz="2000" b="1" dirty="0">
              <a:solidFill>
                <a:schemeClr val="tx2"/>
              </a:solidFill>
            </a:endParaRPr>
          </a:p>
          <a:p>
            <a:r>
              <a:rPr lang="zh-CN" altLang="en-US" sz="2000" b="1" dirty="0">
                <a:solidFill>
                  <a:schemeClr val="tx2"/>
                </a:solidFill>
              </a:rPr>
              <a:t>协议为Internet上异地企业内网之间建立一</a:t>
            </a:r>
            <a:endParaRPr lang="en-US" altLang="zh-CN" sz="2000" b="1" dirty="0">
              <a:solidFill>
                <a:schemeClr val="tx2"/>
              </a:solidFill>
            </a:endParaRPr>
          </a:p>
          <a:p>
            <a:r>
              <a:rPr lang="zh-CN" altLang="en-US" sz="2000" b="1" dirty="0">
                <a:solidFill>
                  <a:schemeClr val="tx2"/>
                </a:solidFill>
              </a:rPr>
              <a:t>条专用通信线路</a:t>
            </a:r>
            <a:r>
              <a:rPr lang="en-US" altLang="zh-CN" sz="2000" b="1" dirty="0">
                <a:solidFill>
                  <a:schemeClr val="tx2"/>
                </a:solidFill>
              </a:rPr>
              <a:t>,</a:t>
            </a:r>
            <a:r>
              <a:rPr lang="zh-CN" altLang="en-US" sz="2000" b="1" dirty="0">
                <a:solidFill>
                  <a:schemeClr val="tx2"/>
                </a:solidFill>
              </a:rPr>
              <a:t>而无需铺设光缆等物理线</a:t>
            </a:r>
            <a:endParaRPr lang="en-US" altLang="zh-CN" sz="2000" b="1" dirty="0">
              <a:solidFill>
                <a:schemeClr val="tx2"/>
              </a:solidFill>
            </a:endParaRPr>
          </a:p>
          <a:p>
            <a:r>
              <a:rPr lang="zh-CN" altLang="en-US" sz="2000" b="1" dirty="0">
                <a:solidFill>
                  <a:schemeClr val="tx2"/>
                </a:solidFill>
              </a:rPr>
              <a:t>路。</a:t>
            </a:r>
            <a:r>
              <a:rPr lang="zh-CN" altLang="en-US" sz="2000" b="1" dirty="0">
                <a:solidFill>
                  <a:srgbClr val="FF0000"/>
                </a:solidFill>
              </a:rPr>
              <a:t>系统结构</a:t>
            </a:r>
            <a:r>
              <a:rPr lang="zh-CN" altLang="en-US" sz="2000" b="1" dirty="0">
                <a:solidFill>
                  <a:schemeClr val="tx2"/>
                </a:solidFill>
              </a:rPr>
              <a:t>如图2-5所示。</a:t>
            </a:r>
          </a:p>
        </p:txBody>
      </p:sp>
      <p:pic>
        <p:nvPicPr>
          <p:cNvPr id="39940" name="图片 1073743633"/>
          <p:cNvPicPr>
            <a:picLocks noChangeAspect="1" noChangeArrowheads="1"/>
          </p:cNvPicPr>
          <p:nvPr/>
        </p:nvPicPr>
        <p:blipFill>
          <a:blip r:embed="rId2" cstate="print"/>
          <a:srcRect/>
          <a:stretch>
            <a:fillRect/>
          </a:stretch>
        </p:blipFill>
        <p:spPr bwMode="auto">
          <a:xfrm>
            <a:off x="5508625" y="3789363"/>
            <a:ext cx="3294063" cy="2209800"/>
          </a:xfrm>
          <a:prstGeom prst="rect">
            <a:avLst/>
          </a:prstGeom>
          <a:noFill/>
          <a:ln w="9525">
            <a:noFill/>
            <a:miter lim="800000"/>
            <a:headEnd/>
            <a:tailEnd/>
          </a:ln>
        </p:spPr>
      </p:pic>
      <p:sp>
        <p:nvSpPr>
          <p:cNvPr id="39941" name="文本框 5"/>
          <p:cNvSpPr txBox="1">
            <a:spLocks noChangeArrowheads="1"/>
          </p:cNvSpPr>
          <p:nvPr/>
        </p:nvSpPr>
        <p:spPr bwMode="auto">
          <a:xfrm>
            <a:off x="5651500" y="6021388"/>
            <a:ext cx="3146425" cy="366712"/>
          </a:xfrm>
          <a:prstGeom prst="rect">
            <a:avLst/>
          </a:prstGeom>
          <a:noFill/>
          <a:ln w="9525">
            <a:noFill/>
            <a:miter lim="800000"/>
          </a:ln>
        </p:spPr>
        <p:txBody>
          <a:bodyPr>
            <a:spAutoFit/>
          </a:bodyPr>
          <a:lstStyle/>
          <a:p>
            <a:pPr algn="ctr"/>
            <a:r>
              <a:rPr lang="zh-CN" altLang="en-US" sz="1600">
                <a:solidFill>
                  <a:srgbClr val="FF0000"/>
                </a:solidFill>
              </a:rPr>
              <a:t>图2-5 VPN系统结构</a:t>
            </a:r>
            <a:r>
              <a:rPr lang="zh-CN" altLang="en-US"/>
              <a:t> </a:t>
            </a:r>
          </a:p>
        </p:txBody>
      </p:sp>
      <p:sp>
        <p:nvSpPr>
          <p:cNvPr id="9" name="圆角矩形 8"/>
          <p:cNvSpPr/>
          <p:nvPr/>
        </p:nvSpPr>
        <p:spPr bwMode="gray">
          <a:xfrm>
            <a:off x="323850" y="1196975"/>
            <a:ext cx="8569325" cy="51117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r>
              <a:rPr lang="zh-CN" altLang="en-US"/>
              <a:t> </a:t>
            </a:r>
          </a:p>
        </p:txBody>
      </p:sp>
      <p:sp>
        <p:nvSpPr>
          <p:cNvPr id="39938" name="内容占位符 13"/>
          <p:cNvSpPr>
            <a:spLocks noChangeArrowheads="1"/>
          </p:cNvSpPr>
          <p:nvPr/>
        </p:nvSpPr>
        <p:spPr bwMode="auto">
          <a:xfrm>
            <a:off x="395288" y="1196975"/>
            <a:ext cx="8153400" cy="3311525"/>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39939" name="文本框 4"/>
          <p:cNvSpPr txBox="1">
            <a:spLocks noChangeArrowheads="1"/>
          </p:cNvSpPr>
          <p:nvPr/>
        </p:nvSpPr>
        <p:spPr bwMode="auto">
          <a:xfrm>
            <a:off x="557213" y="1289050"/>
            <a:ext cx="7991475" cy="6047809"/>
          </a:xfrm>
          <a:prstGeom prst="rect">
            <a:avLst/>
          </a:prstGeom>
          <a:noFill/>
          <a:ln w="9525">
            <a:noFill/>
            <a:miter lim="800000"/>
          </a:ln>
        </p:spPr>
        <p:txBody>
          <a:bodyPr>
            <a:spAutoFit/>
          </a:bodyPr>
          <a:lstStyle/>
          <a:p>
            <a:r>
              <a:rPr lang="en-US" altLang="zh-CN" sz="2500" b="1" dirty="0">
                <a:solidFill>
                  <a:srgbClr val="FF0000"/>
                </a:solidFill>
              </a:rPr>
              <a:t>2.2.1</a:t>
            </a:r>
            <a:r>
              <a:rPr lang="zh-CN" altLang="en-US" sz="2500" b="1" dirty="0">
                <a:solidFill>
                  <a:srgbClr val="FF0000"/>
                </a:solidFill>
              </a:rPr>
              <a:t> VPN的概念和结构</a:t>
            </a:r>
          </a:p>
          <a:p>
            <a:r>
              <a:rPr lang="zh-CN" altLang="en-US" b="1" dirty="0" smtClean="0">
                <a:solidFill>
                  <a:schemeClr val="tx2"/>
                </a:solidFill>
              </a:rPr>
              <a:t>       </a:t>
            </a:r>
            <a:r>
              <a:rPr lang="en-US" altLang="zh-CN" b="1" dirty="0">
                <a:solidFill>
                  <a:srgbClr val="FF0000"/>
                </a:solidFill>
              </a:rPr>
              <a:t>VPN</a:t>
            </a:r>
            <a:r>
              <a:rPr lang="zh-CN" altLang="en-US" b="1" dirty="0">
                <a:solidFill>
                  <a:srgbClr val="FF0000"/>
                </a:solidFill>
              </a:rPr>
              <a:t>的</a:t>
            </a:r>
            <a:r>
              <a:rPr lang="zh-CN" altLang="en-US" b="1" dirty="0" smtClean="0">
                <a:solidFill>
                  <a:srgbClr val="FF0000"/>
                </a:solidFill>
              </a:rPr>
              <a:t>需求</a:t>
            </a:r>
            <a:r>
              <a:rPr lang="zh-CN" altLang="en-US" b="1" dirty="0" smtClean="0">
                <a:solidFill>
                  <a:schemeClr val="tx2"/>
                </a:solidFill>
              </a:rPr>
              <a:t>：经常</a:t>
            </a:r>
            <a:r>
              <a:rPr lang="zh-CN" altLang="en-US" b="1" dirty="0">
                <a:solidFill>
                  <a:schemeClr val="tx2"/>
                </a:solidFill>
              </a:rPr>
              <a:t>很多时候需要在异地连接网络。例如企业员工在外出差或在家里需要连接公司服务器；或者有第三方需要接入公司服务器</a:t>
            </a:r>
            <a:r>
              <a:rPr lang="en-US" altLang="zh-CN" b="1" dirty="0">
                <a:solidFill>
                  <a:schemeClr val="tx2"/>
                </a:solidFill>
              </a:rPr>
              <a:t>(</a:t>
            </a:r>
            <a:r>
              <a:rPr lang="zh-CN" altLang="en-US" b="1" dirty="0">
                <a:solidFill>
                  <a:schemeClr val="tx2"/>
                </a:solidFill>
              </a:rPr>
              <a:t>如电子商务</a:t>
            </a:r>
            <a:r>
              <a:rPr lang="en-US" altLang="zh-CN" b="1" dirty="0">
                <a:solidFill>
                  <a:schemeClr val="tx2"/>
                </a:solidFill>
              </a:rPr>
              <a:t>)</a:t>
            </a:r>
            <a:r>
              <a:rPr lang="zh-CN" altLang="en-US" b="1" dirty="0">
                <a:solidFill>
                  <a:schemeClr val="tx2"/>
                </a:solidFill>
              </a:rPr>
              <a:t>；或者企业数据需要进行异地灾备；还有的企业分支机构需要连接总公司等</a:t>
            </a:r>
            <a:r>
              <a:rPr lang="zh-CN" altLang="en-US" b="1" dirty="0" smtClean="0">
                <a:solidFill>
                  <a:schemeClr val="tx2"/>
                </a:solidFill>
              </a:rPr>
              <a:t>。</a:t>
            </a:r>
            <a:endParaRPr lang="en-US" altLang="zh-CN" b="1" dirty="0" smtClean="0">
              <a:solidFill>
                <a:schemeClr val="tx2"/>
              </a:solidFill>
            </a:endParaRPr>
          </a:p>
          <a:p>
            <a:r>
              <a:rPr lang="en-US" altLang="zh-CN" b="1" dirty="0" smtClean="0">
                <a:solidFill>
                  <a:schemeClr val="tx2"/>
                </a:solidFill>
              </a:rPr>
              <a:t>     </a:t>
            </a:r>
            <a:r>
              <a:rPr lang="zh-CN" altLang="en-US" b="1" dirty="0" smtClean="0">
                <a:solidFill>
                  <a:schemeClr val="tx2"/>
                </a:solidFill>
              </a:rPr>
              <a:t>这时候最便捷的方式就是使用</a:t>
            </a:r>
            <a:r>
              <a:rPr lang="en-US" altLang="zh-CN" b="1" dirty="0" smtClean="0">
                <a:solidFill>
                  <a:schemeClr val="tx2"/>
                </a:solidFill>
              </a:rPr>
              <a:t>VPN</a:t>
            </a:r>
            <a:r>
              <a:rPr lang="zh-CN" altLang="en-US" b="1" dirty="0" smtClean="0">
                <a:solidFill>
                  <a:schemeClr val="tx2"/>
                </a:solidFill>
              </a:rPr>
              <a:t>进行连接。可以形象地称</a:t>
            </a:r>
            <a:r>
              <a:rPr lang="en-US" altLang="zh-CN" b="1" dirty="0" smtClean="0">
                <a:solidFill>
                  <a:schemeClr val="tx2"/>
                </a:solidFill>
              </a:rPr>
              <a:t>VPN</a:t>
            </a:r>
            <a:r>
              <a:rPr lang="zh-CN" altLang="en-US" b="1" dirty="0" smtClean="0">
                <a:solidFill>
                  <a:schemeClr val="tx2"/>
                </a:solidFill>
              </a:rPr>
              <a:t>为“</a:t>
            </a:r>
            <a:r>
              <a:rPr lang="zh-CN" altLang="en-US" b="1" dirty="0" smtClean="0">
                <a:solidFill>
                  <a:srgbClr val="FF0000"/>
                </a:solidFill>
              </a:rPr>
              <a:t>网络中的网络</a:t>
            </a:r>
            <a:r>
              <a:rPr lang="zh-CN" altLang="en-US" b="1" dirty="0" smtClean="0">
                <a:solidFill>
                  <a:schemeClr val="tx2"/>
                </a:solidFill>
              </a:rPr>
              <a:t>”，而保证数据安全传输的关键就在于</a:t>
            </a:r>
            <a:r>
              <a:rPr lang="en-US" altLang="zh-CN" b="1" dirty="0" smtClean="0">
                <a:solidFill>
                  <a:schemeClr val="tx2"/>
                </a:solidFill>
              </a:rPr>
              <a:t>VPN</a:t>
            </a:r>
            <a:r>
              <a:rPr lang="zh-CN" altLang="en-US" b="1" dirty="0" smtClean="0">
                <a:solidFill>
                  <a:schemeClr val="tx2"/>
                </a:solidFill>
              </a:rPr>
              <a:t>使用了</a:t>
            </a:r>
            <a:r>
              <a:rPr lang="zh-CN" altLang="en-US" b="1" dirty="0" smtClean="0">
                <a:solidFill>
                  <a:srgbClr val="FF0000"/>
                </a:solidFill>
              </a:rPr>
              <a:t>隧道协议</a:t>
            </a:r>
            <a:r>
              <a:rPr lang="zh-CN" altLang="en-US" b="1" dirty="0" smtClean="0">
                <a:solidFill>
                  <a:schemeClr val="tx2"/>
                </a:solidFill>
              </a:rPr>
              <a:t>。</a:t>
            </a:r>
            <a:endParaRPr lang="en-US" altLang="zh-CN" b="1" dirty="0" smtClean="0">
              <a:solidFill>
                <a:schemeClr val="tx2"/>
              </a:solidFill>
            </a:endParaRPr>
          </a:p>
          <a:p>
            <a:r>
              <a:rPr lang="en-US" altLang="zh-CN" b="1" dirty="0" smtClean="0">
                <a:solidFill>
                  <a:srgbClr val="FF0000"/>
                </a:solidFill>
              </a:rPr>
              <a:t>    VPN</a:t>
            </a:r>
            <a:r>
              <a:rPr lang="zh-CN" altLang="en-US" b="1" dirty="0">
                <a:solidFill>
                  <a:srgbClr val="FF0000"/>
                </a:solidFill>
              </a:rPr>
              <a:t>的隧道协议</a:t>
            </a:r>
            <a:r>
              <a:rPr lang="zh-CN" altLang="en-US" b="1" dirty="0">
                <a:solidFill>
                  <a:schemeClr val="tx2"/>
                </a:solidFill>
              </a:rPr>
              <a:t>主要有三种，</a:t>
            </a:r>
            <a:r>
              <a:rPr lang="en-US" altLang="zh-CN" b="1" dirty="0" smtClean="0">
                <a:solidFill>
                  <a:schemeClr val="tx2"/>
                </a:solidFill>
              </a:rPr>
              <a:t>PPTP(Point to Point Tunneling Protocol)</a:t>
            </a:r>
            <a:r>
              <a:rPr lang="zh-CN" altLang="en-US" b="1" dirty="0" smtClean="0">
                <a:solidFill>
                  <a:schemeClr val="tx2"/>
                </a:solidFill>
              </a:rPr>
              <a:t>、</a:t>
            </a:r>
            <a:r>
              <a:rPr lang="en-US" altLang="zh-CN" b="1" dirty="0" smtClean="0">
                <a:solidFill>
                  <a:schemeClr val="tx2"/>
                </a:solidFill>
              </a:rPr>
              <a:t>L2TP</a:t>
            </a:r>
            <a:r>
              <a:rPr lang="zh-CN" altLang="en-US" b="1" dirty="0" smtClean="0">
                <a:solidFill>
                  <a:schemeClr val="tx2"/>
                </a:solidFill>
              </a:rPr>
              <a:t>（</a:t>
            </a:r>
            <a:r>
              <a:rPr lang="en-US" altLang="zh-CN" b="1" dirty="0" smtClean="0">
                <a:solidFill>
                  <a:schemeClr val="tx2"/>
                </a:solidFill>
              </a:rPr>
              <a:t>Layer 2 Forwarding </a:t>
            </a:r>
            <a:r>
              <a:rPr lang="en-US" altLang="zh-CN" b="1" dirty="0">
                <a:solidFill>
                  <a:schemeClr val="tx2"/>
                </a:solidFill>
              </a:rPr>
              <a:t>Tunneling Protocol </a:t>
            </a:r>
            <a:r>
              <a:rPr lang="zh-CN" altLang="en-US" b="1" dirty="0" smtClean="0">
                <a:solidFill>
                  <a:schemeClr val="tx2"/>
                </a:solidFill>
              </a:rPr>
              <a:t>）和</a:t>
            </a:r>
            <a:r>
              <a:rPr lang="en-US" altLang="zh-CN" b="1" dirty="0" err="1">
                <a:solidFill>
                  <a:schemeClr val="tx2"/>
                </a:solidFill>
              </a:rPr>
              <a:t>IPSec</a:t>
            </a:r>
            <a:r>
              <a:rPr lang="zh-CN" altLang="en-US" b="1" dirty="0">
                <a:solidFill>
                  <a:schemeClr val="tx2"/>
                </a:solidFill>
              </a:rPr>
              <a:t>，其中</a:t>
            </a:r>
            <a:r>
              <a:rPr lang="en-US" altLang="zh-CN" b="1" dirty="0">
                <a:solidFill>
                  <a:schemeClr val="tx2"/>
                </a:solidFill>
              </a:rPr>
              <a:t>PPTP</a:t>
            </a:r>
            <a:r>
              <a:rPr lang="zh-CN" altLang="en-US" b="1" dirty="0">
                <a:solidFill>
                  <a:schemeClr val="tx2"/>
                </a:solidFill>
              </a:rPr>
              <a:t>和</a:t>
            </a:r>
            <a:r>
              <a:rPr lang="en-US" altLang="zh-CN" b="1" dirty="0">
                <a:solidFill>
                  <a:schemeClr val="tx2"/>
                </a:solidFill>
              </a:rPr>
              <a:t>L2TP</a:t>
            </a:r>
            <a:r>
              <a:rPr lang="zh-CN" altLang="en-US" b="1" dirty="0">
                <a:solidFill>
                  <a:schemeClr val="tx2"/>
                </a:solidFill>
              </a:rPr>
              <a:t>协议工作在</a:t>
            </a:r>
            <a:r>
              <a:rPr lang="en-US" altLang="zh-CN" b="1" dirty="0">
                <a:solidFill>
                  <a:schemeClr val="tx2"/>
                </a:solidFill>
              </a:rPr>
              <a:t>OSI</a:t>
            </a:r>
            <a:r>
              <a:rPr lang="zh-CN" altLang="en-US" b="1" dirty="0">
                <a:solidFill>
                  <a:schemeClr val="tx2"/>
                </a:solidFill>
              </a:rPr>
              <a:t>模型的第二层，又称为二层隧道协议；</a:t>
            </a:r>
            <a:r>
              <a:rPr lang="en-US" altLang="zh-CN" b="1" dirty="0" err="1">
                <a:solidFill>
                  <a:schemeClr val="tx2"/>
                </a:solidFill>
              </a:rPr>
              <a:t>IPSec</a:t>
            </a:r>
            <a:r>
              <a:rPr lang="zh-CN" altLang="en-US" b="1" dirty="0">
                <a:solidFill>
                  <a:schemeClr val="tx2"/>
                </a:solidFill>
              </a:rPr>
              <a:t>是第三层隧道协议。</a:t>
            </a:r>
          </a:p>
          <a:p>
            <a:r>
              <a:rPr lang="zh-CN" altLang="en-US" b="1" dirty="0" smtClean="0">
                <a:solidFill>
                  <a:schemeClr val="tx2"/>
                </a:solidFill>
              </a:rPr>
              <a:t>    还有</a:t>
            </a:r>
            <a:r>
              <a:rPr lang="zh-CN" altLang="en-US" b="1" dirty="0">
                <a:solidFill>
                  <a:schemeClr val="tx2"/>
                </a:solidFill>
              </a:rPr>
              <a:t>一种基于</a:t>
            </a:r>
            <a:r>
              <a:rPr lang="en-US" altLang="zh-CN" b="1" dirty="0">
                <a:solidFill>
                  <a:schemeClr val="tx2"/>
                </a:solidFill>
              </a:rPr>
              <a:t>SSL</a:t>
            </a:r>
            <a:r>
              <a:rPr lang="zh-CN" altLang="en-US" b="1" dirty="0">
                <a:solidFill>
                  <a:schemeClr val="tx2"/>
                </a:solidFill>
              </a:rPr>
              <a:t>的</a:t>
            </a:r>
            <a:r>
              <a:rPr lang="en-US" altLang="zh-CN" b="1" dirty="0">
                <a:solidFill>
                  <a:schemeClr val="tx2"/>
                </a:solidFill>
              </a:rPr>
              <a:t>VPN</a:t>
            </a:r>
            <a:r>
              <a:rPr lang="zh-CN" altLang="en-US" b="1" dirty="0">
                <a:solidFill>
                  <a:schemeClr val="tx2"/>
                </a:solidFill>
              </a:rPr>
              <a:t>技术</a:t>
            </a:r>
            <a:r>
              <a:rPr lang="zh-CN" altLang="en-US" b="1" dirty="0" smtClean="0">
                <a:solidFill>
                  <a:schemeClr val="tx2"/>
                </a:solidFill>
              </a:rPr>
              <a:t>。</a:t>
            </a:r>
            <a:endParaRPr lang="en-US" altLang="zh-CN" b="1" dirty="0" smtClean="0">
              <a:solidFill>
                <a:schemeClr val="tx2"/>
              </a:solidFill>
            </a:endParaRPr>
          </a:p>
          <a:p>
            <a:r>
              <a:rPr lang="zh-CN" altLang="en-US" b="1" dirty="0" smtClean="0">
                <a:solidFill>
                  <a:schemeClr val="tx2"/>
                </a:solidFill>
              </a:rPr>
              <a:t>    </a:t>
            </a:r>
            <a:endParaRPr lang="en-US" altLang="zh-CN" b="1" dirty="0" smtClean="0">
              <a:solidFill>
                <a:schemeClr val="tx2"/>
              </a:solidFill>
            </a:endParaRPr>
          </a:p>
          <a:p>
            <a:r>
              <a:rPr lang="en-US" altLang="zh-CN" b="1" dirty="0">
                <a:solidFill>
                  <a:schemeClr val="tx2"/>
                </a:solidFill>
              </a:rPr>
              <a:t> </a:t>
            </a:r>
            <a:r>
              <a:rPr lang="en-US" altLang="zh-CN" b="1" dirty="0" smtClean="0">
                <a:solidFill>
                  <a:schemeClr val="tx2"/>
                </a:solidFill>
              </a:rPr>
              <a:t>    </a:t>
            </a:r>
            <a:r>
              <a:rPr lang="zh-CN" altLang="en-US" b="1" dirty="0" smtClean="0">
                <a:solidFill>
                  <a:schemeClr val="tx2"/>
                </a:solidFill>
              </a:rPr>
              <a:t>根据</a:t>
            </a:r>
            <a:r>
              <a:rPr lang="en-US" altLang="zh-CN" b="1" dirty="0">
                <a:solidFill>
                  <a:schemeClr val="tx2"/>
                </a:solidFill>
              </a:rPr>
              <a:t>VPN</a:t>
            </a:r>
            <a:r>
              <a:rPr lang="zh-CN" altLang="en-US" b="1" dirty="0">
                <a:solidFill>
                  <a:schemeClr val="tx2"/>
                </a:solidFill>
              </a:rPr>
              <a:t>网络的应用可以将</a:t>
            </a:r>
            <a:r>
              <a:rPr lang="en-US" altLang="zh-CN" b="1" dirty="0">
                <a:solidFill>
                  <a:schemeClr val="tx2"/>
                </a:solidFill>
              </a:rPr>
              <a:t>VPN</a:t>
            </a:r>
            <a:r>
              <a:rPr lang="zh-CN" altLang="en-US" b="1" dirty="0">
                <a:solidFill>
                  <a:schemeClr val="tx2"/>
                </a:solidFill>
              </a:rPr>
              <a:t>分为三类：</a:t>
            </a:r>
            <a:r>
              <a:rPr lang="en-US" altLang="zh-CN" b="1" dirty="0">
                <a:solidFill>
                  <a:schemeClr val="tx2"/>
                </a:solidFill>
              </a:rPr>
              <a:t>Client</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a:t>
            </a:r>
            <a:r>
              <a:rPr lang="en-US" altLang="zh-CN" b="1" dirty="0">
                <a:solidFill>
                  <a:schemeClr val="tx2"/>
                </a:solidFill>
              </a:rPr>
              <a:t>LAN</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a:t>
            </a:r>
            <a:r>
              <a:rPr lang="en-US" altLang="zh-CN" b="1" dirty="0">
                <a:solidFill>
                  <a:schemeClr val="tx2"/>
                </a:solidFill>
              </a:rPr>
              <a:t>Extranet VPN</a:t>
            </a:r>
            <a:r>
              <a:rPr lang="zh-CN" altLang="en-US" b="1" dirty="0">
                <a:solidFill>
                  <a:schemeClr val="tx2"/>
                </a:solidFill>
              </a:rPr>
              <a:t>类型。</a:t>
            </a:r>
          </a:p>
          <a:p>
            <a:endParaRPr lang="en-US" altLang="zh-CN" b="1" dirty="0" smtClean="0">
              <a:solidFill>
                <a:schemeClr val="tx2"/>
              </a:solidFill>
            </a:endParaRPr>
          </a:p>
          <a:p>
            <a:endParaRPr lang="en-US" altLang="zh-CN" b="1" dirty="0" smtClean="0">
              <a:solidFill>
                <a:schemeClr val="tx2"/>
              </a:solidFill>
            </a:endParaRPr>
          </a:p>
          <a:p>
            <a:endParaRPr lang="en-US" altLang="zh-CN" b="1" dirty="0" smtClean="0">
              <a:solidFill>
                <a:schemeClr val="tx2"/>
              </a:solidFill>
            </a:endParaRPr>
          </a:p>
          <a:p>
            <a:endParaRPr lang="en-US" altLang="zh-CN" b="1" dirty="0" smtClean="0">
              <a:solidFill>
                <a:schemeClr val="tx2"/>
              </a:solidFill>
            </a:endParaRPr>
          </a:p>
          <a:p>
            <a:endParaRPr lang="zh-CN" altLang="en-US" b="1" dirty="0">
              <a:solidFill>
                <a:schemeClr val="tx2"/>
              </a:solidFill>
            </a:endParaRPr>
          </a:p>
          <a:p>
            <a:endParaRPr lang="zh-CN" altLang="en-US" sz="2000" b="1" dirty="0">
              <a:solidFill>
                <a:schemeClr val="tx2"/>
              </a:solidFill>
            </a:endParaRPr>
          </a:p>
        </p:txBody>
      </p:sp>
      <p:sp>
        <p:nvSpPr>
          <p:cNvPr id="9" name="圆角矩形 8"/>
          <p:cNvSpPr/>
          <p:nvPr/>
        </p:nvSpPr>
        <p:spPr bwMode="gray">
          <a:xfrm>
            <a:off x="323850" y="1196975"/>
            <a:ext cx="8569325" cy="51117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spTree>
    <p:extLst>
      <p:ext uri="{BB962C8B-B14F-4D97-AF65-F5344CB8AC3E}">
        <p14:creationId xmlns:p14="http://schemas.microsoft.com/office/powerpoint/2010/main" val="1102915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r>
              <a:rPr lang="zh-CN" altLang="en-US"/>
              <a:t> </a:t>
            </a:r>
          </a:p>
        </p:txBody>
      </p:sp>
      <p:sp>
        <p:nvSpPr>
          <p:cNvPr id="39938" name="内容占位符 13"/>
          <p:cNvSpPr>
            <a:spLocks noChangeArrowheads="1"/>
          </p:cNvSpPr>
          <p:nvPr/>
        </p:nvSpPr>
        <p:spPr bwMode="auto">
          <a:xfrm>
            <a:off x="395288" y="1196975"/>
            <a:ext cx="8153400" cy="3311525"/>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39939" name="文本框 4"/>
          <p:cNvSpPr txBox="1">
            <a:spLocks noChangeArrowheads="1"/>
          </p:cNvSpPr>
          <p:nvPr/>
        </p:nvSpPr>
        <p:spPr bwMode="auto">
          <a:xfrm>
            <a:off x="557213" y="1289050"/>
            <a:ext cx="7991475" cy="3277820"/>
          </a:xfrm>
          <a:prstGeom prst="rect">
            <a:avLst/>
          </a:prstGeom>
          <a:noFill/>
          <a:ln w="9525">
            <a:noFill/>
            <a:miter lim="800000"/>
          </a:ln>
        </p:spPr>
        <p:txBody>
          <a:bodyPr>
            <a:spAutoFit/>
          </a:bodyPr>
          <a:lstStyle/>
          <a:p>
            <a:r>
              <a:rPr lang="en-US" altLang="zh-CN" sz="2500" b="1" dirty="0">
                <a:solidFill>
                  <a:srgbClr val="FF0000"/>
                </a:solidFill>
              </a:rPr>
              <a:t>2.2.1</a:t>
            </a:r>
            <a:r>
              <a:rPr lang="zh-CN" altLang="en-US" sz="2500" b="1" dirty="0">
                <a:solidFill>
                  <a:srgbClr val="FF0000"/>
                </a:solidFill>
              </a:rPr>
              <a:t> VPN的概念和结构</a:t>
            </a:r>
          </a:p>
          <a:p>
            <a:r>
              <a:rPr lang="zh-CN" altLang="en-US" b="1" dirty="0" smtClean="0">
                <a:solidFill>
                  <a:schemeClr val="tx2"/>
                </a:solidFill>
              </a:rPr>
              <a:t>    根据</a:t>
            </a:r>
            <a:r>
              <a:rPr lang="en-US" altLang="zh-CN" b="1" dirty="0">
                <a:solidFill>
                  <a:schemeClr val="tx2"/>
                </a:solidFill>
              </a:rPr>
              <a:t>VPN</a:t>
            </a:r>
            <a:r>
              <a:rPr lang="zh-CN" altLang="en-US" b="1" dirty="0">
                <a:solidFill>
                  <a:schemeClr val="tx2"/>
                </a:solidFill>
              </a:rPr>
              <a:t>网络的应用可以将</a:t>
            </a:r>
            <a:r>
              <a:rPr lang="en-US" altLang="zh-CN" b="1" dirty="0">
                <a:solidFill>
                  <a:schemeClr val="tx2"/>
                </a:solidFill>
              </a:rPr>
              <a:t>VPN</a:t>
            </a:r>
            <a:r>
              <a:rPr lang="zh-CN" altLang="en-US" b="1" dirty="0">
                <a:solidFill>
                  <a:schemeClr val="tx2"/>
                </a:solidFill>
              </a:rPr>
              <a:t>分为三类：</a:t>
            </a:r>
            <a:r>
              <a:rPr lang="en-US" altLang="zh-CN" b="1" dirty="0">
                <a:solidFill>
                  <a:schemeClr val="tx2"/>
                </a:solidFill>
              </a:rPr>
              <a:t>Client</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a:t>
            </a:r>
            <a:r>
              <a:rPr lang="en-US" altLang="zh-CN" b="1" dirty="0">
                <a:solidFill>
                  <a:schemeClr val="tx2"/>
                </a:solidFill>
              </a:rPr>
              <a:t>LAN</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a:t>
            </a:r>
            <a:r>
              <a:rPr lang="en-US" altLang="zh-CN" b="1" dirty="0">
                <a:solidFill>
                  <a:schemeClr val="tx2"/>
                </a:solidFill>
              </a:rPr>
              <a:t>Extranet VPN</a:t>
            </a:r>
            <a:r>
              <a:rPr lang="zh-CN" altLang="en-US" b="1" dirty="0">
                <a:solidFill>
                  <a:schemeClr val="tx2"/>
                </a:solidFill>
              </a:rPr>
              <a:t>类型。</a:t>
            </a:r>
          </a:p>
          <a:p>
            <a:r>
              <a:rPr lang="en-US" altLang="zh-CN" b="1" dirty="0">
                <a:solidFill>
                  <a:schemeClr val="tx2"/>
                </a:solidFill>
              </a:rPr>
              <a:t>(1) Client</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类型的</a:t>
            </a:r>
            <a:r>
              <a:rPr lang="en-US" altLang="zh-CN" b="1" dirty="0">
                <a:solidFill>
                  <a:schemeClr val="tx2"/>
                </a:solidFill>
              </a:rPr>
              <a:t>VPN</a:t>
            </a:r>
            <a:r>
              <a:rPr lang="zh-CN" altLang="en-US" b="1" dirty="0">
                <a:solidFill>
                  <a:schemeClr val="tx2"/>
                </a:solidFill>
              </a:rPr>
              <a:t>也称为 </a:t>
            </a:r>
            <a:r>
              <a:rPr lang="en-US" altLang="zh-CN" b="1" dirty="0">
                <a:solidFill>
                  <a:schemeClr val="tx2"/>
                </a:solidFill>
              </a:rPr>
              <a:t>Access VPN</a:t>
            </a:r>
            <a:r>
              <a:rPr lang="zh-CN" altLang="en-US" b="1" dirty="0">
                <a:solidFill>
                  <a:schemeClr val="tx2"/>
                </a:solidFill>
              </a:rPr>
              <a:t>（远程接入</a:t>
            </a:r>
            <a:r>
              <a:rPr lang="en-US" altLang="zh-CN" b="1" dirty="0">
                <a:solidFill>
                  <a:schemeClr val="tx2"/>
                </a:solidFill>
              </a:rPr>
              <a:t>VPN</a:t>
            </a:r>
            <a:r>
              <a:rPr lang="zh-CN" altLang="en-US" b="1" dirty="0">
                <a:solidFill>
                  <a:schemeClr val="tx2"/>
                </a:solidFill>
              </a:rPr>
              <a:t>），即远程访问方式的</a:t>
            </a:r>
            <a:r>
              <a:rPr lang="en-US" altLang="zh-CN" b="1" dirty="0">
                <a:solidFill>
                  <a:schemeClr val="tx2"/>
                </a:solidFill>
              </a:rPr>
              <a:t>VPN</a:t>
            </a:r>
            <a:r>
              <a:rPr lang="zh-CN" altLang="en-US" b="1" dirty="0">
                <a:solidFill>
                  <a:schemeClr val="tx2"/>
                </a:solidFill>
              </a:rPr>
              <a:t>。</a:t>
            </a:r>
          </a:p>
          <a:p>
            <a:endParaRPr lang="en-US" altLang="zh-CN" b="1" dirty="0" smtClean="0">
              <a:solidFill>
                <a:schemeClr val="tx2"/>
              </a:solidFill>
            </a:endParaRPr>
          </a:p>
          <a:p>
            <a:endParaRPr lang="en-US" altLang="zh-CN" b="1" dirty="0" smtClean="0">
              <a:solidFill>
                <a:schemeClr val="tx2"/>
              </a:solidFill>
            </a:endParaRPr>
          </a:p>
          <a:p>
            <a:endParaRPr lang="en-US" altLang="zh-CN" b="1" dirty="0" smtClean="0">
              <a:solidFill>
                <a:schemeClr val="tx2"/>
              </a:solidFill>
            </a:endParaRPr>
          </a:p>
          <a:p>
            <a:endParaRPr lang="en-US" altLang="zh-CN" b="1" dirty="0" smtClean="0">
              <a:solidFill>
                <a:schemeClr val="tx2"/>
              </a:solidFill>
            </a:endParaRPr>
          </a:p>
          <a:p>
            <a:endParaRPr lang="zh-CN" altLang="en-US" b="1" dirty="0">
              <a:solidFill>
                <a:schemeClr val="tx2"/>
              </a:solidFill>
            </a:endParaRPr>
          </a:p>
          <a:p>
            <a:endParaRPr lang="zh-CN" altLang="en-US" sz="2000" b="1" dirty="0">
              <a:solidFill>
                <a:schemeClr val="tx2"/>
              </a:solidFill>
            </a:endParaRPr>
          </a:p>
        </p:txBody>
      </p:sp>
      <p:sp>
        <p:nvSpPr>
          <p:cNvPr id="9" name="圆角矩形 8"/>
          <p:cNvSpPr/>
          <p:nvPr/>
        </p:nvSpPr>
        <p:spPr bwMode="gray">
          <a:xfrm>
            <a:off x="323850" y="1196975"/>
            <a:ext cx="8569325" cy="51117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6"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3530" y="3068960"/>
            <a:ext cx="6049963"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59469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r>
              <a:rPr lang="zh-CN" altLang="en-US"/>
              <a:t> </a:t>
            </a:r>
          </a:p>
        </p:txBody>
      </p:sp>
      <p:sp>
        <p:nvSpPr>
          <p:cNvPr id="39938" name="内容占位符 13"/>
          <p:cNvSpPr>
            <a:spLocks noChangeArrowheads="1"/>
          </p:cNvSpPr>
          <p:nvPr/>
        </p:nvSpPr>
        <p:spPr bwMode="auto">
          <a:xfrm>
            <a:off x="395288" y="1196975"/>
            <a:ext cx="8153400" cy="3311525"/>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39939" name="文本框 4"/>
          <p:cNvSpPr txBox="1">
            <a:spLocks noChangeArrowheads="1"/>
          </p:cNvSpPr>
          <p:nvPr/>
        </p:nvSpPr>
        <p:spPr bwMode="auto">
          <a:xfrm>
            <a:off x="557213" y="1289050"/>
            <a:ext cx="7991475" cy="3277820"/>
          </a:xfrm>
          <a:prstGeom prst="rect">
            <a:avLst/>
          </a:prstGeom>
          <a:noFill/>
          <a:ln w="9525">
            <a:noFill/>
            <a:miter lim="800000"/>
          </a:ln>
        </p:spPr>
        <p:txBody>
          <a:bodyPr>
            <a:spAutoFit/>
          </a:bodyPr>
          <a:lstStyle/>
          <a:p>
            <a:r>
              <a:rPr lang="en-US" altLang="zh-CN" sz="2500" b="1" dirty="0">
                <a:solidFill>
                  <a:srgbClr val="FF0000"/>
                </a:solidFill>
              </a:rPr>
              <a:t>2.2.1</a:t>
            </a:r>
            <a:r>
              <a:rPr lang="zh-CN" altLang="en-US" sz="2500" b="1" dirty="0">
                <a:solidFill>
                  <a:srgbClr val="FF0000"/>
                </a:solidFill>
              </a:rPr>
              <a:t> VPN的概念和结构</a:t>
            </a:r>
          </a:p>
          <a:p>
            <a:r>
              <a:rPr lang="zh-CN" altLang="en-US" b="1" dirty="0" smtClean="0">
                <a:solidFill>
                  <a:schemeClr val="tx2"/>
                </a:solidFill>
              </a:rPr>
              <a:t>    根据</a:t>
            </a:r>
            <a:r>
              <a:rPr lang="en-US" altLang="zh-CN" b="1" dirty="0">
                <a:solidFill>
                  <a:schemeClr val="tx2"/>
                </a:solidFill>
              </a:rPr>
              <a:t>VPN</a:t>
            </a:r>
            <a:r>
              <a:rPr lang="zh-CN" altLang="en-US" b="1" dirty="0">
                <a:solidFill>
                  <a:schemeClr val="tx2"/>
                </a:solidFill>
              </a:rPr>
              <a:t>网络的应用可以将</a:t>
            </a:r>
            <a:r>
              <a:rPr lang="en-US" altLang="zh-CN" b="1" dirty="0">
                <a:solidFill>
                  <a:schemeClr val="tx2"/>
                </a:solidFill>
              </a:rPr>
              <a:t>VPN</a:t>
            </a:r>
            <a:r>
              <a:rPr lang="zh-CN" altLang="en-US" b="1" dirty="0">
                <a:solidFill>
                  <a:schemeClr val="tx2"/>
                </a:solidFill>
              </a:rPr>
              <a:t>分为三类：</a:t>
            </a:r>
            <a:r>
              <a:rPr lang="en-US" altLang="zh-CN" b="1" dirty="0">
                <a:solidFill>
                  <a:schemeClr val="tx2"/>
                </a:solidFill>
              </a:rPr>
              <a:t>Client</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a:t>
            </a:r>
            <a:r>
              <a:rPr lang="en-US" altLang="zh-CN" b="1" dirty="0">
                <a:solidFill>
                  <a:schemeClr val="tx2"/>
                </a:solidFill>
              </a:rPr>
              <a:t>LAN</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a:t>
            </a:r>
            <a:r>
              <a:rPr lang="en-US" altLang="zh-CN" b="1" dirty="0">
                <a:solidFill>
                  <a:schemeClr val="tx2"/>
                </a:solidFill>
              </a:rPr>
              <a:t>Extranet VPN</a:t>
            </a:r>
            <a:r>
              <a:rPr lang="zh-CN" altLang="en-US" b="1" dirty="0">
                <a:solidFill>
                  <a:schemeClr val="tx2"/>
                </a:solidFill>
              </a:rPr>
              <a:t>类型。</a:t>
            </a:r>
          </a:p>
          <a:p>
            <a:r>
              <a:rPr lang="en-US" altLang="zh-CN" b="1" dirty="0">
                <a:solidFill>
                  <a:schemeClr val="tx2"/>
                </a:solidFill>
              </a:rPr>
              <a:t>(2) LAN</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类型的</a:t>
            </a:r>
            <a:r>
              <a:rPr lang="en-US" altLang="zh-CN" b="1" dirty="0">
                <a:solidFill>
                  <a:schemeClr val="tx2"/>
                </a:solidFill>
              </a:rPr>
              <a:t>VPN</a:t>
            </a:r>
            <a:r>
              <a:rPr lang="zh-CN" altLang="en-US" b="1" dirty="0">
                <a:solidFill>
                  <a:schemeClr val="tx2"/>
                </a:solidFill>
              </a:rPr>
              <a:t>，也称为</a:t>
            </a:r>
            <a:r>
              <a:rPr lang="en-US" altLang="zh-CN" b="1" dirty="0">
                <a:solidFill>
                  <a:schemeClr val="tx2"/>
                </a:solidFill>
              </a:rPr>
              <a:t>Intranet VPN</a:t>
            </a:r>
            <a:r>
              <a:rPr lang="zh-CN" altLang="en-US" b="1" dirty="0">
                <a:solidFill>
                  <a:schemeClr val="tx2"/>
                </a:solidFill>
              </a:rPr>
              <a:t>（内联网</a:t>
            </a:r>
            <a:r>
              <a:rPr lang="en-US" altLang="zh-CN" b="1" dirty="0">
                <a:solidFill>
                  <a:schemeClr val="tx2"/>
                </a:solidFill>
              </a:rPr>
              <a:t>VPN</a:t>
            </a:r>
            <a:r>
              <a:rPr lang="zh-CN" altLang="en-US" b="1" dirty="0">
                <a:solidFill>
                  <a:schemeClr val="tx2"/>
                </a:solidFill>
              </a:rPr>
              <a:t>），网关到网关，通过公司的网络架构连接来自同公司的资源。</a:t>
            </a:r>
          </a:p>
          <a:p>
            <a:endParaRPr lang="en-US" altLang="zh-CN" b="1" dirty="0" smtClean="0">
              <a:solidFill>
                <a:schemeClr val="tx2"/>
              </a:solidFill>
            </a:endParaRPr>
          </a:p>
          <a:p>
            <a:endParaRPr lang="en-US" altLang="zh-CN" b="1" dirty="0" smtClean="0">
              <a:solidFill>
                <a:schemeClr val="tx2"/>
              </a:solidFill>
            </a:endParaRPr>
          </a:p>
          <a:p>
            <a:endParaRPr lang="en-US" altLang="zh-CN" b="1" dirty="0" smtClean="0">
              <a:solidFill>
                <a:schemeClr val="tx2"/>
              </a:solidFill>
            </a:endParaRPr>
          </a:p>
          <a:p>
            <a:endParaRPr lang="en-US" altLang="zh-CN" b="1" dirty="0" smtClean="0">
              <a:solidFill>
                <a:schemeClr val="tx2"/>
              </a:solidFill>
            </a:endParaRPr>
          </a:p>
          <a:p>
            <a:endParaRPr lang="zh-CN" altLang="en-US" b="1" dirty="0">
              <a:solidFill>
                <a:schemeClr val="tx2"/>
              </a:solidFill>
            </a:endParaRPr>
          </a:p>
          <a:p>
            <a:endParaRPr lang="zh-CN" altLang="en-US" sz="2000" b="1" dirty="0">
              <a:solidFill>
                <a:schemeClr val="tx2"/>
              </a:solidFill>
            </a:endParaRPr>
          </a:p>
        </p:txBody>
      </p:sp>
      <p:sp>
        <p:nvSpPr>
          <p:cNvPr id="9" name="圆角矩形 8"/>
          <p:cNvSpPr/>
          <p:nvPr/>
        </p:nvSpPr>
        <p:spPr bwMode="gray">
          <a:xfrm>
            <a:off x="323850" y="1196975"/>
            <a:ext cx="8569325" cy="51117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7"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2924175"/>
            <a:ext cx="6697662"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79411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r>
              <a:rPr lang="zh-CN" altLang="en-US"/>
              <a:t> </a:t>
            </a:r>
          </a:p>
        </p:txBody>
      </p:sp>
      <p:sp>
        <p:nvSpPr>
          <p:cNvPr id="39938" name="内容占位符 13"/>
          <p:cNvSpPr>
            <a:spLocks noChangeArrowheads="1"/>
          </p:cNvSpPr>
          <p:nvPr/>
        </p:nvSpPr>
        <p:spPr bwMode="auto">
          <a:xfrm>
            <a:off x="395288" y="1196975"/>
            <a:ext cx="8153400" cy="3311525"/>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39939" name="文本框 4"/>
          <p:cNvSpPr txBox="1">
            <a:spLocks noChangeArrowheads="1"/>
          </p:cNvSpPr>
          <p:nvPr/>
        </p:nvSpPr>
        <p:spPr bwMode="auto">
          <a:xfrm>
            <a:off x="557213" y="1289050"/>
            <a:ext cx="7991475" cy="3277820"/>
          </a:xfrm>
          <a:prstGeom prst="rect">
            <a:avLst/>
          </a:prstGeom>
          <a:noFill/>
          <a:ln w="9525">
            <a:noFill/>
            <a:miter lim="800000"/>
          </a:ln>
        </p:spPr>
        <p:txBody>
          <a:bodyPr>
            <a:spAutoFit/>
          </a:bodyPr>
          <a:lstStyle/>
          <a:p>
            <a:r>
              <a:rPr lang="en-US" altLang="zh-CN" sz="2500" b="1" dirty="0">
                <a:solidFill>
                  <a:srgbClr val="FF0000"/>
                </a:solidFill>
              </a:rPr>
              <a:t>2.2.1</a:t>
            </a:r>
            <a:r>
              <a:rPr lang="zh-CN" altLang="en-US" sz="2500" b="1" dirty="0">
                <a:solidFill>
                  <a:srgbClr val="FF0000"/>
                </a:solidFill>
              </a:rPr>
              <a:t> VPN的概念和结构</a:t>
            </a:r>
          </a:p>
          <a:p>
            <a:r>
              <a:rPr lang="zh-CN" altLang="en-US" b="1" dirty="0" smtClean="0">
                <a:solidFill>
                  <a:schemeClr val="tx2"/>
                </a:solidFill>
              </a:rPr>
              <a:t>    根据</a:t>
            </a:r>
            <a:r>
              <a:rPr lang="en-US" altLang="zh-CN" b="1" dirty="0">
                <a:solidFill>
                  <a:schemeClr val="tx2"/>
                </a:solidFill>
              </a:rPr>
              <a:t>VPN</a:t>
            </a:r>
            <a:r>
              <a:rPr lang="zh-CN" altLang="en-US" b="1" dirty="0">
                <a:solidFill>
                  <a:schemeClr val="tx2"/>
                </a:solidFill>
              </a:rPr>
              <a:t>网络的应用可以将</a:t>
            </a:r>
            <a:r>
              <a:rPr lang="en-US" altLang="zh-CN" b="1" dirty="0">
                <a:solidFill>
                  <a:schemeClr val="tx2"/>
                </a:solidFill>
              </a:rPr>
              <a:t>VPN</a:t>
            </a:r>
            <a:r>
              <a:rPr lang="zh-CN" altLang="en-US" b="1" dirty="0">
                <a:solidFill>
                  <a:schemeClr val="tx2"/>
                </a:solidFill>
              </a:rPr>
              <a:t>分为三类：</a:t>
            </a:r>
            <a:r>
              <a:rPr lang="en-US" altLang="zh-CN" b="1" dirty="0">
                <a:solidFill>
                  <a:schemeClr val="tx2"/>
                </a:solidFill>
              </a:rPr>
              <a:t>Client</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a:t>
            </a:r>
            <a:r>
              <a:rPr lang="en-US" altLang="zh-CN" b="1" dirty="0">
                <a:solidFill>
                  <a:schemeClr val="tx2"/>
                </a:solidFill>
              </a:rPr>
              <a:t>LAN</a:t>
            </a:r>
            <a:r>
              <a:rPr lang="zh-CN" altLang="en-US" b="1" dirty="0">
                <a:solidFill>
                  <a:schemeClr val="tx2"/>
                </a:solidFill>
              </a:rPr>
              <a:t>－</a:t>
            </a:r>
            <a:r>
              <a:rPr lang="en-US" altLang="zh-CN" b="1" dirty="0">
                <a:solidFill>
                  <a:schemeClr val="tx2"/>
                </a:solidFill>
              </a:rPr>
              <a:t>LAN</a:t>
            </a:r>
            <a:r>
              <a:rPr lang="zh-CN" altLang="en-US" b="1" dirty="0">
                <a:solidFill>
                  <a:schemeClr val="tx2"/>
                </a:solidFill>
              </a:rPr>
              <a:t>类型、</a:t>
            </a:r>
            <a:r>
              <a:rPr lang="en-US" altLang="zh-CN" b="1" dirty="0">
                <a:solidFill>
                  <a:schemeClr val="tx2"/>
                </a:solidFill>
              </a:rPr>
              <a:t>Extranet VPN</a:t>
            </a:r>
            <a:r>
              <a:rPr lang="zh-CN" altLang="en-US" b="1" dirty="0">
                <a:solidFill>
                  <a:schemeClr val="tx2"/>
                </a:solidFill>
              </a:rPr>
              <a:t>类型。</a:t>
            </a:r>
          </a:p>
          <a:p>
            <a:r>
              <a:rPr lang="en-US" altLang="zh-CN" b="1" dirty="0" smtClean="0">
                <a:solidFill>
                  <a:schemeClr val="tx2"/>
                </a:solidFill>
              </a:rPr>
              <a:t>(3</a:t>
            </a:r>
            <a:r>
              <a:rPr lang="en-US" altLang="zh-CN" b="1" dirty="0">
                <a:solidFill>
                  <a:schemeClr val="tx2"/>
                </a:solidFill>
              </a:rPr>
              <a:t> )</a:t>
            </a:r>
            <a:r>
              <a:rPr lang="en-US" altLang="zh-CN" b="1" dirty="0" smtClean="0">
                <a:solidFill>
                  <a:schemeClr val="tx2"/>
                </a:solidFill>
              </a:rPr>
              <a:t>Extranet </a:t>
            </a:r>
            <a:r>
              <a:rPr lang="en-US" altLang="zh-CN" b="1" dirty="0">
                <a:solidFill>
                  <a:schemeClr val="tx2"/>
                </a:solidFill>
              </a:rPr>
              <a:t>VPN </a:t>
            </a:r>
            <a:r>
              <a:rPr lang="en-US" altLang="zh-CN" b="1" dirty="0" smtClean="0">
                <a:solidFill>
                  <a:schemeClr val="tx2"/>
                </a:solidFill>
              </a:rPr>
              <a:t>(</a:t>
            </a:r>
            <a:r>
              <a:rPr lang="zh-CN" altLang="en-US" b="1" dirty="0" smtClean="0">
                <a:solidFill>
                  <a:schemeClr val="tx2"/>
                </a:solidFill>
              </a:rPr>
              <a:t>外联网</a:t>
            </a:r>
            <a:r>
              <a:rPr lang="en-US" altLang="zh-CN" b="1" dirty="0" smtClean="0">
                <a:solidFill>
                  <a:schemeClr val="tx2"/>
                </a:solidFill>
              </a:rPr>
              <a:t>VPN)</a:t>
            </a:r>
            <a:r>
              <a:rPr lang="zh-CN" altLang="en-US" b="1" dirty="0" smtClean="0">
                <a:solidFill>
                  <a:schemeClr val="tx2"/>
                </a:solidFill>
              </a:rPr>
              <a:t>，即与合作伙伴企业网构成</a:t>
            </a:r>
            <a:r>
              <a:rPr lang="en-US" altLang="zh-CN" b="1" dirty="0" smtClean="0">
                <a:solidFill>
                  <a:schemeClr val="tx2"/>
                </a:solidFill>
              </a:rPr>
              <a:t>Extranet</a:t>
            </a:r>
            <a:r>
              <a:rPr lang="zh-CN" altLang="en-US" b="1" dirty="0" smtClean="0">
                <a:solidFill>
                  <a:schemeClr val="tx2"/>
                </a:solidFill>
              </a:rPr>
              <a:t>，将一个公司与另一个公司的资源进行连接，这和第一种</a:t>
            </a:r>
            <a:r>
              <a:rPr lang="en-US" altLang="zh-CN" b="1" dirty="0" smtClean="0">
                <a:solidFill>
                  <a:schemeClr val="tx2"/>
                </a:solidFill>
              </a:rPr>
              <a:t>VPN</a:t>
            </a:r>
            <a:r>
              <a:rPr lang="zh-CN" altLang="en-US" b="1" dirty="0" smtClean="0">
                <a:solidFill>
                  <a:schemeClr val="tx2"/>
                </a:solidFill>
              </a:rPr>
              <a:t>类似。</a:t>
            </a:r>
            <a:endParaRPr lang="zh-CN" altLang="en-US" b="1" dirty="0">
              <a:solidFill>
                <a:schemeClr val="tx2"/>
              </a:solidFill>
            </a:endParaRPr>
          </a:p>
          <a:p>
            <a:endParaRPr lang="en-US" altLang="zh-CN" b="1" dirty="0" smtClean="0">
              <a:solidFill>
                <a:schemeClr val="tx2"/>
              </a:solidFill>
            </a:endParaRPr>
          </a:p>
          <a:p>
            <a:endParaRPr lang="en-US" altLang="zh-CN" b="1" dirty="0" smtClean="0">
              <a:solidFill>
                <a:schemeClr val="tx2"/>
              </a:solidFill>
            </a:endParaRPr>
          </a:p>
          <a:p>
            <a:endParaRPr lang="en-US" altLang="zh-CN" b="1" dirty="0" smtClean="0">
              <a:solidFill>
                <a:schemeClr val="tx2"/>
              </a:solidFill>
            </a:endParaRPr>
          </a:p>
          <a:p>
            <a:endParaRPr lang="en-US" altLang="zh-CN" b="1" dirty="0" smtClean="0">
              <a:solidFill>
                <a:schemeClr val="tx2"/>
              </a:solidFill>
            </a:endParaRPr>
          </a:p>
          <a:p>
            <a:endParaRPr lang="zh-CN" altLang="en-US" b="1" dirty="0">
              <a:solidFill>
                <a:schemeClr val="tx2"/>
              </a:solidFill>
            </a:endParaRPr>
          </a:p>
          <a:p>
            <a:endParaRPr lang="zh-CN" altLang="en-US" sz="2000" b="1" dirty="0">
              <a:solidFill>
                <a:schemeClr val="tx2"/>
              </a:solidFill>
            </a:endParaRPr>
          </a:p>
        </p:txBody>
      </p:sp>
      <p:sp>
        <p:nvSpPr>
          <p:cNvPr id="9" name="圆角矩形 8"/>
          <p:cNvSpPr/>
          <p:nvPr/>
        </p:nvSpPr>
        <p:spPr bwMode="gray">
          <a:xfrm>
            <a:off x="323850" y="1196975"/>
            <a:ext cx="8569325" cy="5111750"/>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8"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82510" y="3035127"/>
            <a:ext cx="4340879" cy="3005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95254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r>
              <a:rPr lang="zh-CN" altLang="en-US"/>
              <a:t> </a:t>
            </a:r>
          </a:p>
        </p:txBody>
      </p:sp>
      <p:sp>
        <p:nvSpPr>
          <p:cNvPr id="38915" name="文本框 1"/>
          <p:cNvSpPr txBox="1"/>
          <p:nvPr/>
        </p:nvSpPr>
        <p:spPr>
          <a:xfrm>
            <a:off x="468313" y="1196975"/>
            <a:ext cx="8410575" cy="5308600"/>
          </a:xfrm>
          <a:prstGeom prst="rect">
            <a:avLst/>
          </a:prstGeom>
          <a:noFill/>
          <a:ln w="9525">
            <a:noFill/>
          </a:ln>
        </p:spPr>
        <p:txBody>
          <a:bodyPr>
            <a:spAutoFit/>
          </a:bodyPr>
          <a:lstStyle/>
          <a:p>
            <a:r>
              <a:rPr lang="zh-CN" altLang="en-US" sz="2400" b="1" noProof="1" smtClean="0">
                <a:solidFill>
                  <a:srgbClr val="FF0000"/>
                </a:solidFill>
              </a:rPr>
              <a:t> 2</a:t>
            </a:r>
            <a:r>
              <a:rPr lang="zh-CN" altLang="en-US" sz="2400" b="1" noProof="1">
                <a:solidFill>
                  <a:srgbClr val="FF0000"/>
                </a:solidFill>
              </a:rPr>
              <a:t>.</a:t>
            </a:r>
            <a:r>
              <a:rPr lang="en-US" altLang="zh-CN" sz="2400" b="1" noProof="1">
                <a:solidFill>
                  <a:srgbClr val="FF0000"/>
                </a:solidFill>
              </a:rPr>
              <a:t>2.2</a:t>
            </a:r>
            <a:r>
              <a:rPr lang="zh-CN" altLang="en-US" sz="2400" b="1" noProof="1">
                <a:solidFill>
                  <a:srgbClr val="FF0000"/>
                </a:solidFill>
              </a:rPr>
              <a:t> VPN的技术特点</a:t>
            </a:r>
          </a:p>
          <a:p>
            <a:pPr indent="457200"/>
            <a:r>
              <a:rPr lang="zh-CN" altLang="en-US" sz="2100" b="1" noProof="1">
                <a:solidFill>
                  <a:schemeClr val="tx2"/>
                </a:solidFill>
              </a:rPr>
              <a:t>1) </a:t>
            </a:r>
            <a:r>
              <a:rPr lang="zh-CN" altLang="en-US" sz="2100" b="1" noProof="1">
                <a:solidFill>
                  <a:srgbClr val="C00000"/>
                </a:solidFill>
              </a:rPr>
              <a:t>安全性高</a:t>
            </a:r>
            <a:r>
              <a:rPr lang="zh-CN" altLang="en-US" sz="2100" b="1" noProof="1">
                <a:solidFill>
                  <a:schemeClr val="tx2"/>
                </a:solidFill>
              </a:rPr>
              <a:t>。VPN使用通信协议、身份验证和数据加密三方面技术保证了通信的安全性。当客户机向VPN服务器发出请求时，该服务器响应请求并向客户机发出身份质询，然后客户机将加密的响应信息发送到VPN服务端，该服务器根据数据库检查该响应。</a:t>
            </a:r>
          </a:p>
          <a:p>
            <a:pPr indent="457200"/>
            <a:r>
              <a:rPr lang="zh-CN" altLang="en-US" sz="2100" b="1" noProof="1">
                <a:solidFill>
                  <a:schemeClr val="tx2"/>
                </a:solidFill>
              </a:rPr>
              <a:t>2) </a:t>
            </a:r>
            <a:r>
              <a:rPr lang="zh-CN" altLang="en-US" sz="2100" b="1" noProof="1">
                <a:solidFill>
                  <a:srgbClr val="C00000"/>
                </a:solidFill>
              </a:rPr>
              <a:t>费用低廉</a:t>
            </a:r>
            <a:r>
              <a:rPr lang="zh-CN" altLang="en-US" sz="2100" b="1" noProof="1">
                <a:solidFill>
                  <a:schemeClr val="tx2"/>
                </a:solidFill>
              </a:rPr>
              <a:t>。远程用户可用VPN通过Internet访问公司局域网，费用仅是原一部分，且企业可节省购买和维护通信设备的费用。</a:t>
            </a:r>
          </a:p>
          <a:p>
            <a:pPr indent="457200"/>
            <a:r>
              <a:rPr lang="zh-CN" altLang="en-US" sz="2100" b="1" noProof="1">
                <a:solidFill>
                  <a:schemeClr val="tx2"/>
                </a:solidFill>
              </a:rPr>
              <a:t>3) </a:t>
            </a:r>
            <a:r>
              <a:rPr lang="zh-CN" altLang="en-US" sz="2100" b="1" noProof="1">
                <a:solidFill>
                  <a:srgbClr val="C00000"/>
                </a:solidFill>
              </a:rPr>
              <a:t>管理便利</a:t>
            </a:r>
            <a:r>
              <a:rPr lang="zh-CN" altLang="en-US" sz="2100" b="1" noProof="1">
                <a:solidFill>
                  <a:schemeClr val="tx2"/>
                </a:solidFill>
              </a:rPr>
              <a:t>。构建VPN不仅只需很少的网络设备及物理线路，而且网络管理变得简单方便。不论分公司或远程访问用户，都只需要通过一个公用网络端口或Internet路径即可进入企业网络。关键是获得所需的带宽，网络管理的主要工作将由公用网承担。</a:t>
            </a:r>
          </a:p>
          <a:p>
            <a:pPr indent="457200"/>
            <a:r>
              <a:rPr lang="zh-CN" altLang="en-US" sz="2100" b="1" noProof="1">
                <a:solidFill>
                  <a:schemeClr val="tx2"/>
                </a:solidFill>
              </a:rPr>
              <a:t>4) </a:t>
            </a:r>
            <a:r>
              <a:rPr lang="zh-CN" altLang="en-US" sz="2100" b="1" noProof="1">
                <a:solidFill>
                  <a:srgbClr val="C00000"/>
                </a:solidFill>
              </a:rPr>
              <a:t>灵活性强</a:t>
            </a:r>
            <a:r>
              <a:rPr lang="zh-CN" altLang="en-US" sz="2100" b="1" noProof="1">
                <a:solidFill>
                  <a:schemeClr val="tx2"/>
                </a:solidFill>
              </a:rPr>
              <a:t>。可支持通过各种网络的任何类型数据流，支持多种类型的传输媒介</a:t>
            </a:r>
            <a:r>
              <a:rPr lang="en-US" altLang="zh-CN" sz="2100" b="1" noProof="1">
                <a:solidFill>
                  <a:schemeClr val="tx2"/>
                </a:solidFill>
              </a:rPr>
              <a:t>,</a:t>
            </a:r>
            <a:r>
              <a:rPr lang="zh-CN" altLang="en-US" sz="2100" b="1" noProof="1">
                <a:solidFill>
                  <a:schemeClr val="tx2"/>
                </a:solidFill>
              </a:rPr>
              <a:t>可以同时满足传输语音、图像和数据等的需求。</a:t>
            </a:r>
          </a:p>
          <a:p>
            <a:pPr indent="457200"/>
            <a:r>
              <a:rPr lang="zh-CN" altLang="en-US" sz="2100" b="1" noProof="1">
                <a:solidFill>
                  <a:schemeClr val="tx2"/>
                </a:solidFill>
              </a:rPr>
              <a:t>5) </a:t>
            </a:r>
            <a:r>
              <a:rPr lang="zh-CN" altLang="en-US" sz="2100" b="1" noProof="1">
                <a:solidFill>
                  <a:srgbClr val="C00000"/>
                </a:solidFill>
              </a:rPr>
              <a:t>服务质量佳</a:t>
            </a:r>
            <a:r>
              <a:rPr lang="zh-CN" altLang="en-US" sz="2100" b="1" noProof="1">
                <a:solidFill>
                  <a:schemeClr val="tx2"/>
                </a:solidFill>
              </a:rPr>
              <a:t>。为企业提供不同等级的服务质量保证。不同用户和业务对服务质量保证的要求差别较大，对于拥有众多分支机构的专线VPN</a:t>
            </a:r>
            <a:r>
              <a:rPr lang="en-US" altLang="zh-CN" sz="2100" b="1" noProof="1">
                <a:solidFill>
                  <a:schemeClr val="tx2"/>
                </a:solidFill>
              </a:rPr>
              <a:t>,</a:t>
            </a:r>
            <a:r>
              <a:rPr lang="zh-CN" altLang="en-US" sz="2100" b="1" noProof="1">
                <a:solidFill>
                  <a:schemeClr val="tx2"/>
                </a:solidFill>
              </a:rPr>
              <a:t>交互式内部企业网应用则要求网络能提供良好的稳定性。</a:t>
            </a:r>
          </a:p>
        </p:txBody>
      </p:sp>
      <p:sp>
        <p:nvSpPr>
          <p:cNvPr id="4" name="圆角矩形 3"/>
          <p:cNvSpPr/>
          <p:nvPr/>
        </p:nvSpPr>
        <p:spPr bwMode="gray">
          <a:xfrm>
            <a:off x="323850" y="1196975"/>
            <a:ext cx="8640763" cy="5400675"/>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p>
        </p:txBody>
      </p:sp>
      <p:sp>
        <p:nvSpPr>
          <p:cNvPr id="41986" name="内容占位符 13"/>
          <p:cNvSpPr>
            <a:spLocks noGrp="1" noChangeArrowheads="1"/>
          </p:cNvSpPr>
          <p:nvPr>
            <p:ph idx="4294967295"/>
          </p:nvPr>
        </p:nvSpPr>
        <p:spPr>
          <a:xfrm>
            <a:off x="419100" y="1185863"/>
            <a:ext cx="8040688" cy="3322637"/>
          </a:xfrm>
        </p:spPr>
        <p:txBody>
          <a:bodyPr/>
          <a:lstStyle/>
          <a:p>
            <a:pPr>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506413" y="1790700"/>
            <a:ext cx="8207375" cy="364966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Tx/>
              <a:buNone/>
              <a:defRPr/>
            </a:pPr>
            <a:r>
              <a:rPr lang="en-US" altLang="zh-CN" sz="2200" b="1" dirty="0">
                <a:solidFill>
                  <a:srgbClr val="990033"/>
                </a:solidFill>
                <a:latin typeface="Arial" panose="020B0604020202020204" pitchFamily="34" charset="0"/>
              </a:rPr>
              <a:t>       VPN</a:t>
            </a:r>
            <a:r>
              <a:rPr lang="zh-CN" altLang="en-US" sz="2200" b="1" dirty="0">
                <a:solidFill>
                  <a:schemeClr val="tx2"/>
                </a:solidFill>
                <a:latin typeface="Arial" panose="020B0604020202020204" pitchFamily="34" charset="0"/>
              </a:rPr>
              <a:t>是在</a:t>
            </a:r>
            <a:r>
              <a:rPr lang="en-US" altLang="zh-CN" sz="2200" b="1" dirty="0">
                <a:solidFill>
                  <a:schemeClr val="tx2"/>
                </a:solidFill>
                <a:latin typeface="Arial" panose="020B0604020202020204" pitchFamily="34" charset="0"/>
              </a:rPr>
              <a:t>Internet</a:t>
            </a:r>
            <a:r>
              <a:rPr lang="zh-CN" altLang="en-US" sz="2200" b="1" dirty="0">
                <a:solidFill>
                  <a:schemeClr val="tx2"/>
                </a:solidFill>
                <a:latin typeface="Arial" panose="020B0604020202020204" pitchFamily="34" charset="0"/>
              </a:rPr>
              <a:t>等公共网络基础上，</a:t>
            </a:r>
            <a:r>
              <a:rPr lang="zh-CN" altLang="en-US" sz="2200" b="1" dirty="0">
                <a:solidFill>
                  <a:srgbClr val="0000FF"/>
                </a:solidFill>
                <a:latin typeface="Arial" panose="020B0604020202020204" pitchFamily="34" charset="0"/>
              </a:rPr>
              <a:t>综合利用</a:t>
            </a:r>
            <a:r>
              <a:rPr lang="zh-CN" altLang="en-US" sz="2200" b="1" dirty="0">
                <a:solidFill>
                  <a:schemeClr val="tx2"/>
                </a:solidFill>
                <a:latin typeface="Arial" panose="020B0604020202020204" pitchFamily="34" charset="0"/>
              </a:rPr>
              <a:t>隧道技术、加解密技术、密钥管理技术和身份认证技术</a:t>
            </a:r>
            <a:r>
              <a:rPr lang="zh-CN" altLang="en-US" sz="2200" b="1" dirty="0">
                <a:solidFill>
                  <a:srgbClr val="0000FF"/>
                </a:solidFill>
                <a:latin typeface="Arial" panose="020B0604020202020204" pitchFamily="34" charset="0"/>
              </a:rPr>
              <a:t>实现的</a:t>
            </a:r>
            <a:r>
              <a:rPr lang="zh-CN" altLang="en-US" sz="2200" b="1" dirty="0">
                <a:solidFill>
                  <a:schemeClr val="tx2"/>
                </a:solidFill>
                <a:latin typeface="Arial" panose="020B0604020202020204" pitchFamily="34" charset="0"/>
              </a:rPr>
              <a:t>。</a:t>
            </a:r>
          </a:p>
          <a:p>
            <a:pPr>
              <a:buFontTx/>
              <a:buNone/>
              <a:defRPr/>
            </a:pPr>
            <a:r>
              <a:rPr lang="en-US" altLang="zh-CN" sz="2200" b="1" dirty="0">
                <a:solidFill>
                  <a:srgbClr val="990033"/>
                </a:solidFill>
                <a:latin typeface="Arial" panose="020B0604020202020204" pitchFamily="34" charset="0"/>
              </a:rPr>
              <a:t>        </a:t>
            </a:r>
            <a:r>
              <a:rPr lang="en-US" altLang="zh-CN" sz="2200" b="1" dirty="0">
                <a:solidFill>
                  <a:srgbClr val="C00000"/>
                </a:solidFill>
                <a:latin typeface="Arial" panose="020B0604020202020204" pitchFamily="34" charset="0"/>
              </a:rPr>
              <a:t>1.</a:t>
            </a:r>
            <a:r>
              <a:rPr lang="zh-CN" altLang="en-US" sz="2200" b="1" dirty="0">
                <a:solidFill>
                  <a:srgbClr val="C00000"/>
                </a:solidFill>
                <a:latin typeface="Arial" panose="020B0604020202020204" pitchFamily="34" charset="0"/>
              </a:rPr>
              <a:t>隧道技术</a:t>
            </a:r>
            <a:endParaRPr lang="zh-CN" altLang="en-US" sz="2200" b="1" dirty="0">
              <a:solidFill>
                <a:srgbClr val="990033"/>
              </a:solidFill>
              <a:latin typeface="Arial" panose="020B0604020202020204" pitchFamily="34" charset="0"/>
            </a:endParaRPr>
          </a:p>
          <a:p>
            <a:pPr indent="457200">
              <a:buFontTx/>
              <a:buNone/>
              <a:defRPr/>
            </a:pPr>
            <a:r>
              <a:rPr lang="zh-CN" altLang="en-US" sz="2200" b="1" dirty="0">
                <a:solidFill>
                  <a:schemeClr val="tx2"/>
                </a:solidFill>
                <a:latin typeface="Arial" panose="020B0604020202020204" pitchFamily="34" charset="0"/>
              </a:rPr>
              <a:t> </a:t>
            </a:r>
            <a:r>
              <a:rPr sz="2200" b="1" dirty="0">
                <a:solidFill>
                  <a:srgbClr val="FF0000"/>
                </a:solidFill>
                <a:latin typeface="Arial" panose="020B0604020202020204" pitchFamily="34" charset="0"/>
              </a:rPr>
              <a:t>隧道技术是VPN的</a:t>
            </a:r>
            <a:r>
              <a:rPr sz="2200" b="1" u="sng" dirty="0">
                <a:solidFill>
                  <a:srgbClr val="FF0000"/>
                </a:solidFill>
                <a:latin typeface="Arial" panose="020B0604020202020204" pitchFamily="34" charset="0"/>
              </a:rPr>
              <a:t>核心技术</a:t>
            </a:r>
            <a:r>
              <a:rPr lang="en-US" sz="2200" b="1" dirty="0">
                <a:solidFill>
                  <a:schemeClr val="tx2"/>
                </a:solidFill>
                <a:latin typeface="Arial" panose="020B0604020202020204" pitchFamily="34" charset="0"/>
              </a:rPr>
              <a:t>,</a:t>
            </a:r>
            <a:r>
              <a:rPr sz="2200" b="1" dirty="0">
                <a:solidFill>
                  <a:schemeClr val="tx2"/>
                </a:solidFill>
                <a:latin typeface="Arial" panose="020B0604020202020204" pitchFamily="34" charset="0"/>
              </a:rPr>
              <a:t>为一种隐式传输数据的方法</a:t>
            </a:r>
            <a:r>
              <a:rPr lang="en-US" sz="2200" b="1" dirty="0">
                <a:solidFill>
                  <a:schemeClr val="tx2"/>
                </a:solidFill>
                <a:latin typeface="Arial" panose="020B0604020202020204" pitchFamily="34" charset="0"/>
              </a:rPr>
              <a:t>.</a:t>
            </a:r>
            <a:r>
              <a:rPr sz="2200" b="1" dirty="0">
                <a:solidFill>
                  <a:schemeClr val="tx2"/>
                </a:solidFill>
                <a:latin typeface="Arial" panose="020B0604020202020204" pitchFamily="34" charset="0"/>
              </a:rPr>
              <a:t>主要利用已有的Internet等公共网络数据通信方式</a:t>
            </a:r>
            <a:r>
              <a:rPr lang="en-US" sz="2200" b="1" dirty="0">
                <a:solidFill>
                  <a:schemeClr val="tx2"/>
                </a:solidFill>
                <a:latin typeface="Arial" panose="020B0604020202020204" pitchFamily="34" charset="0"/>
              </a:rPr>
              <a:t>,</a:t>
            </a:r>
            <a:r>
              <a:rPr sz="2200" b="1" dirty="0">
                <a:solidFill>
                  <a:schemeClr val="tx2"/>
                </a:solidFill>
                <a:latin typeface="Arial" panose="020B0604020202020204" pitchFamily="34" charset="0"/>
              </a:rPr>
              <a:t>在</a:t>
            </a:r>
            <a:r>
              <a:rPr sz="2200" b="1" dirty="0">
                <a:solidFill>
                  <a:srgbClr val="C00000"/>
                </a:solidFill>
                <a:latin typeface="Arial" panose="020B0604020202020204" pitchFamily="34" charset="0"/>
              </a:rPr>
              <a:t>隧道</a:t>
            </a:r>
            <a:r>
              <a:rPr sz="2200" b="1" dirty="0">
                <a:solidFill>
                  <a:schemeClr val="tx2"/>
                </a:solidFill>
                <a:latin typeface="Arial" panose="020B0604020202020204" pitchFamily="34" charset="0"/>
              </a:rPr>
              <a:t>（虚拟通道）一端将数据进行</a:t>
            </a:r>
            <a:r>
              <a:rPr sz="2200" b="1" dirty="0">
                <a:solidFill>
                  <a:srgbClr val="3366FF"/>
                </a:solidFill>
                <a:latin typeface="Arial" panose="020B0604020202020204" pitchFamily="34" charset="0"/>
              </a:rPr>
              <a:t>封装</a:t>
            </a:r>
            <a:r>
              <a:rPr sz="2200" b="1" dirty="0">
                <a:solidFill>
                  <a:schemeClr val="tx2"/>
                </a:solidFill>
                <a:latin typeface="Arial" panose="020B0604020202020204" pitchFamily="34" charset="0"/>
              </a:rPr>
              <a:t>，然后通过已建立的隧道进行传输。</a:t>
            </a:r>
            <a:r>
              <a:rPr sz="2200" b="1" dirty="0" err="1">
                <a:solidFill>
                  <a:schemeClr val="tx2"/>
                </a:solidFill>
                <a:latin typeface="Arial" panose="020B0604020202020204" pitchFamily="34" charset="0"/>
              </a:rPr>
              <a:t>在隧道另一端，进行</a:t>
            </a:r>
            <a:r>
              <a:rPr sz="2200" b="1" dirty="0" err="1">
                <a:solidFill>
                  <a:srgbClr val="3366FF"/>
                </a:solidFill>
                <a:latin typeface="Arial" panose="020B0604020202020204" pitchFamily="34" charset="0"/>
              </a:rPr>
              <a:t>解封装</a:t>
            </a:r>
            <a:r>
              <a:rPr sz="2200" b="1" dirty="0" err="1">
                <a:solidFill>
                  <a:schemeClr val="tx2"/>
                </a:solidFill>
                <a:latin typeface="Arial" panose="020B0604020202020204" pitchFamily="34" charset="0"/>
              </a:rPr>
              <a:t>并将还原的原始数据交给端设备</a:t>
            </a:r>
            <a:r>
              <a:rPr sz="2200" b="1" dirty="0">
                <a:solidFill>
                  <a:schemeClr val="tx2"/>
                </a:solidFill>
                <a:latin typeface="Arial" panose="020B0604020202020204" pitchFamily="34" charset="0"/>
              </a:rPr>
              <a:t>。在VPN连接中，可根据需要创建不同类型的VPN隧道，包括自愿隧道和强制隧道两种。</a:t>
            </a:r>
          </a:p>
          <a:p>
            <a:pPr indent="457200">
              <a:buFontTx/>
              <a:buNone/>
              <a:defRPr/>
            </a:pPr>
            <a:r>
              <a:rPr lang="zh-CN" altLang="en-US" sz="2200" b="1" dirty="0">
                <a:solidFill>
                  <a:schemeClr val="tx2"/>
                </a:solidFill>
                <a:latin typeface="Arial" panose="020B0604020202020204" pitchFamily="34" charset="0"/>
              </a:rPr>
              <a:t>网络隧道协议可以</a:t>
            </a:r>
            <a:r>
              <a:rPr lang="zh-CN" altLang="en-US" sz="2200" b="1" dirty="0">
                <a:solidFill>
                  <a:srgbClr val="C00000"/>
                </a:solidFill>
                <a:latin typeface="Arial" panose="020B0604020202020204" pitchFamily="34" charset="0"/>
              </a:rPr>
              <a:t>建立在</a:t>
            </a:r>
            <a:r>
              <a:rPr lang="zh-CN" altLang="en-US" sz="2200" b="1" dirty="0">
                <a:solidFill>
                  <a:schemeClr val="tx2"/>
                </a:solidFill>
                <a:latin typeface="Arial" panose="020B0604020202020204" pitchFamily="34" charset="0"/>
              </a:rPr>
              <a:t>网络体系结构的第二层或第三层。</a:t>
            </a:r>
            <a:endParaRPr lang="zh-CN" altLang="en-US" sz="2200" dirty="0">
              <a:solidFill>
                <a:schemeClr val="tx2"/>
              </a:solidFill>
              <a:latin typeface="Arial" panose="020B0604020202020204" pitchFamily="34" charset="0"/>
            </a:endParaRPr>
          </a:p>
        </p:txBody>
      </p:sp>
      <p:sp>
        <p:nvSpPr>
          <p:cNvPr id="41988" name="内容占位符 13"/>
          <p:cNvSpPr>
            <a:spLocks noChangeArrowheads="1"/>
          </p:cNvSpPr>
          <p:nvPr/>
        </p:nvSpPr>
        <p:spPr bwMode="auto">
          <a:xfrm>
            <a:off x="419100" y="1185863"/>
            <a:ext cx="8153400" cy="947737"/>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en-US" altLang="zh-CN" b="1">
                <a:solidFill>
                  <a:srgbClr val="0000CC"/>
                </a:solidFill>
                <a:latin typeface="Times New Roman" panose="02020603050405020304" pitchFamily="18" charset="0"/>
              </a:rPr>
              <a:t> </a:t>
            </a: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41989" name="Rectangle 8"/>
          <p:cNvSpPr>
            <a:spLocks noChangeArrowheads="1"/>
          </p:cNvSpPr>
          <p:nvPr/>
        </p:nvSpPr>
        <p:spPr bwMode="auto">
          <a:xfrm>
            <a:off x="604838" y="1185863"/>
            <a:ext cx="3348037" cy="492125"/>
          </a:xfrm>
          <a:prstGeom prst="rect">
            <a:avLst/>
          </a:prstGeom>
          <a:noFill/>
          <a:ln w="9525">
            <a:noFill/>
            <a:miter lim="800000"/>
          </a:ln>
        </p:spPr>
        <p:txBody>
          <a:bodyPr wrap="none">
            <a:spAutoFit/>
          </a:bodyPr>
          <a:lstStyle/>
          <a:p>
            <a:r>
              <a:rPr lang="en-US" altLang="zh-CN" sz="2600" b="1">
                <a:solidFill>
                  <a:srgbClr val="FF0000"/>
                </a:solidFill>
              </a:rPr>
              <a:t>2.2.3 VPN</a:t>
            </a:r>
            <a:r>
              <a:rPr lang="zh-CN" altLang="en-US" sz="2600" b="1">
                <a:solidFill>
                  <a:srgbClr val="FF0000"/>
                </a:solidFill>
              </a:rPr>
              <a:t>的实现技术</a:t>
            </a:r>
          </a:p>
        </p:txBody>
      </p:sp>
      <p:pic>
        <p:nvPicPr>
          <p:cNvPr id="41990" name="Picture 24" descr="C:\Program Files\Microsoft Office\MEDIA\CAGCAT10\j0300520.gif"/>
          <p:cNvPicPr>
            <a:picLocks noChangeAspect="1" noChangeArrowheads="1"/>
          </p:cNvPicPr>
          <p:nvPr/>
        </p:nvPicPr>
        <p:blipFill>
          <a:blip r:embed="rId2" cstate="print"/>
          <a:srcRect/>
          <a:stretch>
            <a:fillRect/>
          </a:stretch>
        </p:blipFill>
        <p:spPr bwMode="auto">
          <a:xfrm>
            <a:off x="5743575" y="5554663"/>
            <a:ext cx="1079500" cy="928687"/>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p>
        </p:txBody>
      </p:sp>
      <p:sp>
        <p:nvSpPr>
          <p:cNvPr id="43010" name="内容占位符 13"/>
          <p:cNvSpPr>
            <a:spLocks noGrp="1" noChangeArrowheads="1"/>
          </p:cNvSpPr>
          <p:nvPr>
            <p:ph idx="4294967295"/>
          </p:nvPr>
        </p:nvSpPr>
        <p:spPr>
          <a:xfrm>
            <a:off x="395288" y="1196975"/>
            <a:ext cx="8040687" cy="3322638"/>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57200" y="1143000"/>
            <a:ext cx="8367713" cy="52546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200" b="1" dirty="0">
                <a:solidFill>
                  <a:srgbClr val="990033"/>
                </a:solidFill>
                <a:latin typeface="Arial" panose="020B0604020202020204" pitchFamily="34" charset="0"/>
              </a:rPr>
              <a:t>       </a:t>
            </a:r>
            <a:r>
              <a:rPr lang="en-US" altLang="zh-CN" sz="2200" b="1" dirty="0">
                <a:solidFill>
                  <a:srgbClr val="C00000"/>
                </a:solidFill>
                <a:latin typeface="Arial" panose="020B0604020202020204" pitchFamily="34" charset="0"/>
              </a:rPr>
              <a:t>2. </a:t>
            </a:r>
            <a:r>
              <a:rPr lang="zh-CN" altLang="en-US" sz="2200" b="1" dirty="0">
                <a:solidFill>
                  <a:srgbClr val="C00000"/>
                </a:solidFill>
                <a:latin typeface="Arial" panose="020B0604020202020204" pitchFamily="34" charset="0"/>
              </a:rPr>
              <a:t>常用加解密技术</a:t>
            </a:r>
            <a:endParaRPr lang="zh-CN" altLang="en-US" sz="2200" b="1" dirty="0">
              <a:solidFill>
                <a:srgbClr val="990033"/>
              </a:solidFill>
              <a:latin typeface="Arial" panose="020B0604020202020204" pitchFamily="34" charset="0"/>
            </a:endParaRPr>
          </a:p>
          <a:p>
            <a:pPr>
              <a:defRPr/>
            </a:pPr>
            <a:r>
              <a:rPr lang="zh-CN" altLang="en-US" sz="2200" b="1" dirty="0">
                <a:solidFill>
                  <a:srgbClr val="006600"/>
                </a:solidFill>
                <a:latin typeface="Arial" panose="020B0604020202020204" pitchFamily="34" charset="0"/>
              </a:rPr>
              <a:t>       </a:t>
            </a:r>
            <a:r>
              <a:rPr sz="2200" b="1" dirty="0">
                <a:solidFill>
                  <a:schemeClr val="tx2"/>
                </a:solidFill>
                <a:latin typeface="Arial" panose="020B0604020202020204" pitchFamily="34" charset="0"/>
              </a:rPr>
              <a:t>为了重要数据在公共网络传输的安全，VPN采用了加密机制。</a:t>
            </a:r>
            <a:r>
              <a:rPr sz="2200" b="1" dirty="0" err="1">
                <a:solidFill>
                  <a:srgbClr val="FF0000"/>
                </a:solidFill>
                <a:latin typeface="Arial" panose="020B0604020202020204" pitchFamily="34" charset="0"/>
              </a:rPr>
              <a:t>常用的信息加密体系</a:t>
            </a:r>
            <a:r>
              <a:rPr sz="2200" b="1" dirty="0" err="1">
                <a:solidFill>
                  <a:schemeClr val="tx2"/>
                </a:solidFill>
                <a:latin typeface="Arial" panose="020B0604020202020204" pitchFamily="34" charset="0"/>
              </a:rPr>
              <a:t>主要包括非对称加密体系和对称加密体系两类</a:t>
            </a:r>
            <a:r>
              <a:rPr sz="2200" b="1" dirty="0">
                <a:solidFill>
                  <a:schemeClr val="tx2"/>
                </a:solidFill>
                <a:latin typeface="Arial" panose="020B0604020202020204" pitchFamily="34" charset="0"/>
              </a:rPr>
              <a:t>。</a:t>
            </a:r>
            <a:r>
              <a:rPr sz="2200" b="1" dirty="0" err="1">
                <a:solidFill>
                  <a:schemeClr val="tx2"/>
                </a:solidFill>
                <a:latin typeface="Arial" panose="020B0604020202020204" pitchFamily="34" charset="0"/>
              </a:rPr>
              <a:t>实际上一般是将二者混合使用，利用非对称加密技术进行密钥协商和交换，利用对称加密技术进行数据加密</a:t>
            </a:r>
            <a:r>
              <a:rPr sz="2200" b="1" dirty="0">
                <a:solidFill>
                  <a:schemeClr val="tx2"/>
                </a:solidFill>
                <a:latin typeface="Arial" panose="020B0604020202020204" pitchFamily="34" charset="0"/>
              </a:rPr>
              <a:t>。</a:t>
            </a:r>
          </a:p>
          <a:p>
            <a:pPr>
              <a:defRPr/>
            </a:pPr>
            <a:r>
              <a:rPr lang="en-US" altLang="zh-CN" sz="2200" b="1" dirty="0">
                <a:solidFill>
                  <a:schemeClr val="tx2"/>
                </a:solidFill>
                <a:latin typeface="Arial" panose="020B0604020202020204" pitchFamily="34" charset="0"/>
              </a:rPr>
              <a:t>       </a:t>
            </a:r>
            <a:r>
              <a:rPr sz="2200" b="1" dirty="0">
                <a:solidFill>
                  <a:schemeClr val="tx2"/>
                </a:solidFill>
                <a:latin typeface="Arial" panose="020B0604020202020204" pitchFamily="34" charset="0"/>
              </a:rPr>
              <a:t>1) </a:t>
            </a:r>
            <a:r>
              <a:rPr sz="2200" b="1" dirty="0" err="1">
                <a:solidFill>
                  <a:schemeClr val="tx2"/>
                </a:solidFill>
                <a:latin typeface="Arial" panose="020B0604020202020204" pitchFamily="34" charset="0"/>
              </a:rPr>
              <a:t>对称密钥加密</a:t>
            </a:r>
            <a:r>
              <a:rPr lang="zh-CN" altLang="en-US" sz="2200" b="1" dirty="0">
                <a:solidFill>
                  <a:schemeClr val="tx2"/>
                </a:solidFill>
                <a:latin typeface="Arial" panose="020B0604020202020204" pitchFamily="34" charset="0"/>
              </a:rPr>
              <a:t>。</a:t>
            </a:r>
            <a:r>
              <a:rPr sz="2200" b="1" dirty="0" err="1">
                <a:solidFill>
                  <a:srgbClr val="FF0000"/>
                </a:solidFill>
                <a:latin typeface="Arial" panose="020B0604020202020204" pitchFamily="34" charset="0"/>
              </a:rPr>
              <a:t>对称密钥加密</a:t>
            </a:r>
            <a:r>
              <a:rPr sz="2200" b="1" dirty="0" err="1">
                <a:solidFill>
                  <a:schemeClr val="tx2"/>
                </a:solidFill>
                <a:latin typeface="Arial" panose="020B0604020202020204" pitchFamily="34" charset="0"/>
              </a:rPr>
              <a:t>也称</a:t>
            </a:r>
            <a:endParaRPr lang="en-US" sz="2200" b="1" dirty="0">
              <a:solidFill>
                <a:schemeClr val="tx2"/>
              </a:solidFill>
              <a:latin typeface="Arial" panose="020B0604020202020204" pitchFamily="34" charset="0"/>
            </a:endParaRPr>
          </a:p>
          <a:p>
            <a:pPr>
              <a:defRPr/>
            </a:pPr>
            <a:r>
              <a:rPr sz="2200" b="1" dirty="0" err="1">
                <a:solidFill>
                  <a:srgbClr val="FF0000"/>
                </a:solidFill>
                <a:latin typeface="Arial" panose="020B0604020202020204" pitchFamily="34" charset="0"/>
              </a:rPr>
              <a:t>共享密钥加密</a:t>
            </a:r>
            <a:r>
              <a:rPr lang="en-US" sz="2200" b="1" dirty="0" err="1">
                <a:solidFill>
                  <a:schemeClr val="tx2"/>
                </a:solidFill>
                <a:latin typeface="Arial" panose="020B0604020202020204" pitchFamily="34" charset="0"/>
              </a:rPr>
              <a:t>,</a:t>
            </a:r>
            <a:r>
              <a:rPr sz="2200" b="1" dirty="0" err="1">
                <a:solidFill>
                  <a:schemeClr val="tx2"/>
                </a:solidFill>
                <a:latin typeface="Arial" panose="020B0604020202020204" pitchFamily="34" charset="0"/>
              </a:rPr>
              <a:t>是指加密和解密以相同密钥</a:t>
            </a:r>
            <a:endParaRPr lang="en-US" sz="2200" b="1" dirty="0">
              <a:solidFill>
                <a:schemeClr val="tx2"/>
              </a:solidFill>
              <a:latin typeface="Arial" panose="020B0604020202020204" pitchFamily="34" charset="0"/>
            </a:endParaRPr>
          </a:p>
          <a:p>
            <a:pPr>
              <a:defRPr/>
            </a:pPr>
            <a:r>
              <a:rPr sz="2200" b="1" dirty="0" err="1">
                <a:solidFill>
                  <a:schemeClr val="tx2"/>
                </a:solidFill>
                <a:latin typeface="Arial" panose="020B0604020202020204" pitchFamily="34" charset="0"/>
              </a:rPr>
              <a:t>完成</a:t>
            </a:r>
            <a:r>
              <a:rPr lang="en-US" sz="2200" b="1" dirty="0" err="1">
                <a:solidFill>
                  <a:schemeClr val="tx2"/>
                </a:solidFill>
                <a:latin typeface="Arial" panose="020B0604020202020204" pitchFamily="34" charset="0"/>
              </a:rPr>
              <a:t>,</a:t>
            </a:r>
            <a:r>
              <a:rPr sz="2200" b="1" dirty="0" err="1">
                <a:solidFill>
                  <a:schemeClr val="tx2"/>
                </a:solidFill>
                <a:latin typeface="Arial" panose="020B0604020202020204" pitchFamily="34" charset="0"/>
              </a:rPr>
              <a:t>数据的发送者和接收者拥有共同的密</a:t>
            </a:r>
            <a:endParaRPr lang="en-US" sz="2200" b="1" dirty="0">
              <a:solidFill>
                <a:schemeClr val="tx2"/>
              </a:solidFill>
              <a:latin typeface="Arial" panose="020B0604020202020204" pitchFamily="34" charset="0"/>
            </a:endParaRPr>
          </a:p>
          <a:p>
            <a:pPr>
              <a:defRPr/>
            </a:pPr>
            <a:r>
              <a:rPr sz="2200" b="1" dirty="0" err="1">
                <a:solidFill>
                  <a:schemeClr val="tx2"/>
                </a:solidFill>
                <a:latin typeface="Arial" panose="020B0604020202020204" pitchFamily="34" charset="0"/>
              </a:rPr>
              <a:t>钥。发送者先将要传输的数据用密钥加密</a:t>
            </a:r>
            <a:endParaRPr lang="en-US" sz="2200" b="1" dirty="0">
              <a:solidFill>
                <a:schemeClr val="tx2"/>
              </a:solidFill>
              <a:latin typeface="Arial" panose="020B0604020202020204" pitchFamily="34" charset="0"/>
            </a:endParaRPr>
          </a:p>
          <a:p>
            <a:pPr>
              <a:defRPr/>
            </a:pPr>
            <a:r>
              <a:rPr sz="2200" b="1" dirty="0">
                <a:solidFill>
                  <a:schemeClr val="tx2"/>
                </a:solidFill>
                <a:latin typeface="Arial" panose="020B0604020202020204" pitchFamily="34" charset="0"/>
              </a:rPr>
              <a:t>为密文</a:t>
            </a:r>
            <a:r>
              <a:rPr lang="en-US" sz="2200" b="1" dirty="0">
                <a:solidFill>
                  <a:schemeClr val="tx2"/>
                </a:solidFill>
                <a:latin typeface="Arial" panose="020B0604020202020204" pitchFamily="34" charset="0"/>
              </a:rPr>
              <a:t>,</a:t>
            </a:r>
            <a:r>
              <a:rPr sz="2200" b="1" dirty="0">
                <a:solidFill>
                  <a:schemeClr val="tx2"/>
                </a:solidFill>
                <a:latin typeface="Arial" panose="020B0604020202020204" pitchFamily="34" charset="0"/>
              </a:rPr>
              <a:t>然后在公共信道上传输</a:t>
            </a:r>
            <a:r>
              <a:rPr lang="en-US" sz="2200" b="1" dirty="0">
                <a:solidFill>
                  <a:schemeClr val="tx2"/>
                </a:solidFill>
                <a:latin typeface="Arial" panose="020B0604020202020204" pitchFamily="34" charset="0"/>
              </a:rPr>
              <a:t>,</a:t>
            </a:r>
            <a:r>
              <a:rPr sz="2200" b="1" dirty="0">
                <a:solidFill>
                  <a:schemeClr val="tx2"/>
                </a:solidFill>
                <a:latin typeface="Arial" panose="020B0604020202020204" pitchFamily="34" charset="0"/>
              </a:rPr>
              <a:t>接收者收到</a:t>
            </a:r>
          </a:p>
          <a:p>
            <a:pPr>
              <a:defRPr/>
            </a:pPr>
            <a:r>
              <a:rPr sz="2200" b="1" dirty="0">
                <a:solidFill>
                  <a:schemeClr val="tx2"/>
                </a:solidFill>
                <a:latin typeface="Arial" panose="020B0604020202020204" pitchFamily="34" charset="0"/>
              </a:rPr>
              <a:t>密文后用相样的密钥解密成明文。</a:t>
            </a:r>
            <a:r>
              <a:rPr sz="2200" b="1" dirty="0" smtClean="0">
                <a:solidFill>
                  <a:schemeClr val="tx2"/>
                </a:solidFill>
                <a:latin typeface="Arial" panose="020B0604020202020204" pitchFamily="34" charset="0"/>
              </a:rPr>
              <a:t>由于加密和解密密钥相同</a:t>
            </a:r>
            <a:r>
              <a:rPr sz="2200" b="1" dirty="0">
                <a:solidFill>
                  <a:schemeClr val="tx2"/>
                </a:solidFill>
                <a:latin typeface="Arial" panose="020B0604020202020204" pitchFamily="34" charset="0"/>
              </a:rPr>
              <a:t>，所以此加密算法安全性的关键在于密钥获得者是否授权。密钥一旦泄露，无论其算法与设计如何，密文仍可被轻易破解。此加密方法的</a:t>
            </a:r>
            <a:r>
              <a:rPr sz="2200" b="1" dirty="0">
                <a:solidFill>
                  <a:srgbClr val="FF0000"/>
                </a:solidFill>
                <a:latin typeface="Arial" panose="020B0604020202020204" pitchFamily="34" charset="0"/>
              </a:rPr>
              <a:t>优点</a:t>
            </a:r>
            <a:r>
              <a:rPr sz="2200" b="1" dirty="0">
                <a:solidFill>
                  <a:schemeClr val="tx2"/>
                </a:solidFill>
                <a:latin typeface="Arial" panose="020B0604020202020204" pitchFamily="34" charset="0"/>
              </a:rPr>
              <a:t>是运算相对简单、速度快，适合于加密大量数据的情况。</a:t>
            </a:r>
            <a:r>
              <a:rPr sz="2200" b="1" dirty="0">
                <a:solidFill>
                  <a:srgbClr val="FF0000"/>
                </a:solidFill>
                <a:latin typeface="Arial" panose="020B0604020202020204" pitchFamily="34" charset="0"/>
              </a:rPr>
              <a:t>缺点</a:t>
            </a:r>
            <a:r>
              <a:rPr sz="2200" b="1" dirty="0">
                <a:solidFill>
                  <a:schemeClr val="tx2"/>
                </a:solidFill>
                <a:latin typeface="Arial" panose="020B0604020202020204" pitchFamily="34" charset="0"/>
              </a:rPr>
              <a:t>是密钥的管理较为复杂。</a:t>
            </a:r>
            <a:endParaRPr lang="en-US" altLang="zh-CN" dirty="0">
              <a:solidFill>
                <a:schemeClr val="tx2"/>
              </a:solidFill>
              <a:latin typeface="Arial" panose="020B0604020202020204" pitchFamily="34" charset="0"/>
            </a:endParaRPr>
          </a:p>
        </p:txBody>
      </p:sp>
      <p:pic>
        <p:nvPicPr>
          <p:cNvPr id="43012" name="Picture 7"/>
          <p:cNvPicPr>
            <a:picLocks noChangeAspect="1" noChangeArrowheads="1"/>
          </p:cNvPicPr>
          <p:nvPr/>
        </p:nvPicPr>
        <p:blipFill>
          <a:blip r:embed="rId2" cstate="print"/>
          <a:srcRect/>
          <a:stretch>
            <a:fillRect/>
          </a:stretch>
        </p:blipFill>
        <p:spPr bwMode="auto">
          <a:xfrm>
            <a:off x="6000750" y="3013075"/>
            <a:ext cx="2824163" cy="155892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p>
        </p:txBody>
      </p:sp>
      <p:sp>
        <p:nvSpPr>
          <p:cNvPr id="167" name=" 167"/>
          <p:cNvSpPr/>
          <p:nvPr/>
        </p:nvSpPr>
        <p:spPr>
          <a:xfrm>
            <a:off x="457200" y="1196975"/>
            <a:ext cx="8306435" cy="472948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zh-CN" altLang="en-US" sz="2000" b="1" noProof="1" smtClean="0">
                <a:solidFill>
                  <a:schemeClr val="tx2"/>
                </a:solidFill>
              </a:rPr>
              <a:t>2</a:t>
            </a:r>
            <a:r>
              <a:rPr lang="zh-CN" altLang="en-US" sz="2000" b="1" noProof="1">
                <a:solidFill>
                  <a:schemeClr val="tx2"/>
                </a:solidFill>
              </a:rPr>
              <a:t>)</a:t>
            </a:r>
            <a:r>
              <a:rPr lang="zh-CN" altLang="en-US" sz="2000" b="1" noProof="1" smtClean="0">
                <a:solidFill>
                  <a:srgbClr val="FF0000"/>
                </a:solidFill>
              </a:rPr>
              <a:t>非对称</a:t>
            </a:r>
            <a:r>
              <a:rPr lang="zh-CN" altLang="en-US" sz="2000" b="1" noProof="1">
                <a:solidFill>
                  <a:srgbClr val="FF0000"/>
                </a:solidFill>
              </a:rPr>
              <a:t>密钥加密</a:t>
            </a:r>
            <a:r>
              <a:rPr lang="en-US" altLang="zh-CN" sz="2000" b="1" noProof="1">
                <a:solidFill>
                  <a:srgbClr val="FF0000"/>
                </a:solidFill>
              </a:rPr>
              <a:t>.</a:t>
            </a:r>
            <a:r>
              <a:rPr lang="zh-CN" altLang="en-US" sz="2000" b="1" noProof="1">
                <a:solidFill>
                  <a:schemeClr val="tx2"/>
                </a:solidFill>
              </a:rPr>
              <a:t>是指加密和解密采用不同的密钥完成，数据的发送者和接收者拥有不同的两个密钥，一个公钥一个私钥。其算法也称</a:t>
            </a:r>
            <a:r>
              <a:rPr lang="zh-CN" altLang="en-US" sz="2000" b="1" noProof="1">
                <a:solidFill>
                  <a:srgbClr val="FF0000"/>
                </a:solidFill>
              </a:rPr>
              <a:t>公钥加密</a:t>
            </a:r>
            <a:r>
              <a:rPr lang="zh-CN" altLang="en-US" sz="2000" b="1" noProof="1">
                <a:solidFill>
                  <a:schemeClr val="tx2"/>
                </a:solidFill>
              </a:rPr>
              <a:t>。公钥可以在通信双方之间公开传递，或在公共网络上发布，但相关的私钥必须保密。利用公钥加密的数据只有使用私钥才可解密，而私钥加密的数据只有使用公钥才可认证。</a:t>
            </a:r>
          </a:p>
          <a:p>
            <a:pPr indent="457200" eaLnBrk="1" fontAlgn="auto" hangingPunct="1">
              <a:spcBef>
                <a:spcPts val="0"/>
              </a:spcBef>
              <a:spcAft>
                <a:spcPts val="0"/>
              </a:spcAft>
              <a:defRPr/>
            </a:pPr>
            <a:r>
              <a:rPr lang="zh-CN" altLang="en-US" sz="2000" b="1" noProof="1">
                <a:solidFill>
                  <a:srgbClr val="FF0000"/>
                </a:solidFill>
              </a:rPr>
              <a:t>注意</a:t>
            </a:r>
            <a:r>
              <a:rPr lang="zh-CN" altLang="en-US" sz="2000" b="1" noProof="1">
                <a:solidFill>
                  <a:schemeClr val="tx2"/>
                </a:solidFill>
              </a:rPr>
              <a:t>：</a:t>
            </a:r>
            <a:r>
              <a:rPr lang="zh-CN" altLang="en-US" sz="2000" b="1" noProof="1">
                <a:solidFill>
                  <a:schemeClr val="tx2"/>
                </a:solidFill>
                <a:latin typeface="楷体" panose="02010609060101010101" charset="-122"/>
                <a:ea typeface="楷体" panose="02010609060101010101" charset="-122"/>
              </a:rPr>
              <a:t>非对称算法采用复杂的算法处理，占用更多的处理器资源，运算速度较慢。非对称算法不适合加密大量数据，而是经常用于对关键数据的加密，如对称密钥在密钥分发时采用非对称算法。非对称加密算法和散列算法结合使用，可生成数字签名</a:t>
            </a:r>
            <a:r>
              <a:rPr lang="zh-CN" altLang="en-US" sz="2000" b="1" noProof="1">
                <a:solidFill>
                  <a:schemeClr val="tx2"/>
                </a:solidFill>
              </a:rPr>
              <a:t>。</a:t>
            </a:r>
          </a:p>
          <a:p>
            <a:pPr indent="457200" eaLnBrk="1" fontAlgn="auto" hangingPunct="1">
              <a:spcBef>
                <a:spcPts val="0"/>
              </a:spcBef>
              <a:spcAft>
                <a:spcPts val="0"/>
              </a:spcAft>
              <a:defRPr/>
            </a:pPr>
            <a:r>
              <a:rPr lang="en-US" altLang="zh-CN" sz="2300" b="1" noProof="1" smtClean="0">
                <a:solidFill>
                  <a:srgbClr val="C00000"/>
                </a:solidFill>
              </a:rPr>
              <a:t>3.</a:t>
            </a:r>
            <a:r>
              <a:rPr lang="zh-CN" altLang="en-US" sz="2300" b="1" noProof="1" smtClean="0">
                <a:solidFill>
                  <a:srgbClr val="C00000"/>
                </a:solidFill>
              </a:rPr>
              <a:t>密钥管理</a:t>
            </a:r>
            <a:r>
              <a:rPr lang="zh-CN" altLang="en-US" sz="2300" b="1" noProof="1">
                <a:solidFill>
                  <a:srgbClr val="C00000"/>
                </a:solidFill>
              </a:rPr>
              <a:t>技术</a:t>
            </a:r>
            <a:endParaRPr lang="zh-CN" altLang="en-US" sz="2400" b="1" noProof="1">
              <a:solidFill>
                <a:srgbClr val="FF0000"/>
              </a:solidFill>
            </a:endParaRPr>
          </a:p>
          <a:p>
            <a:pPr indent="457200" eaLnBrk="1" fontAlgn="auto" hangingPunct="1">
              <a:spcBef>
                <a:spcPts val="0"/>
              </a:spcBef>
              <a:spcAft>
                <a:spcPts val="0"/>
              </a:spcAft>
              <a:defRPr/>
            </a:pPr>
            <a:r>
              <a:rPr lang="zh-CN" altLang="en-US" sz="2000" b="1" noProof="1">
                <a:solidFill>
                  <a:srgbClr val="FF0000"/>
                </a:solidFill>
              </a:rPr>
              <a:t>密钥的管理极为重要</a:t>
            </a:r>
            <a:r>
              <a:rPr lang="zh-CN" altLang="en-US" sz="2000" b="1" noProof="1">
                <a:solidFill>
                  <a:schemeClr val="tx2"/>
                </a:solidFill>
              </a:rPr>
              <a:t>。密钥的分发采用手工配置和采用密钥交换协议动态分发两种方式。手工配置要求密钥更新不宜频繁，否则增加大量管理工作量，所以，它只适合简单网络。软件方式动态生成密钥可用于密钥交换协议，以保证密钥在公共网络上安全传输，适合于复杂网络，且密钥可快速更新，极大提高VPN应用安全。</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p>
        </p:txBody>
      </p:sp>
      <p:sp>
        <p:nvSpPr>
          <p:cNvPr id="167" name=" 167"/>
          <p:cNvSpPr/>
          <p:nvPr/>
        </p:nvSpPr>
        <p:spPr>
          <a:xfrm>
            <a:off x="457200" y="1268730"/>
            <a:ext cx="8305800" cy="373888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en-US" altLang="zh-CN" sz="2400" b="1" noProof="1" smtClean="0">
                <a:solidFill>
                  <a:srgbClr val="FF0000"/>
                </a:solidFill>
              </a:rPr>
              <a:t>4.</a:t>
            </a:r>
            <a:r>
              <a:rPr lang="zh-CN" altLang="en-US" sz="2400" b="1" noProof="1" smtClean="0">
                <a:solidFill>
                  <a:srgbClr val="FF0000"/>
                </a:solidFill>
              </a:rPr>
              <a:t>身份</a:t>
            </a:r>
            <a:r>
              <a:rPr lang="zh-CN" altLang="en-US" sz="2400" b="1" noProof="1">
                <a:solidFill>
                  <a:srgbClr val="FF0000"/>
                </a:solidFill>
              </a:rPr>
              <a:t>认证技术</a:t>
            </a:r>
          </a:p>
          <a:p>
            <a:pPr indent="457200" eaLnBrk="1" fontAlgn="auto" hangingPunct="1">
              <a:spcBef>
                <a:spcPts val="0"/>
              </a:spcBef>
              <a:spcAft>
                <a:spcPts val="0"/>
              </a:spcAft>
              <a:defRPr/>
            </a:pPr>
            <a:r>
              <a:rPr lang="zh-CN" altLang="en-US" sz="2200" b="1" noProof="1">
                <a:solidFill>
                  <a:schemeClr val="tx2"/>
                </a:solidFill>
                <a:latin typeface="Times New Roman" panose="02020603050405020304" pitchFamily="18" charset="0"/>
                <a:cs typeface="Times New Roman" panose="02020603050405020304" pitchFamily="18" charset="0"/>
              </a:rPr>
              <a:t>在VPN实际应用中，</a:t>
            </a:r>
            <a:r>
              <a:rPr lang="zh-CN" altLang="en-US" sz="2200" b="1" noProof="1">
                <a:solidFill>
                  <a:srgbClr val="3366FF"/>
                </a:solidFill>
                <a:latin typeface="Times New Roman" panose="02020603050405020304" pitchFamily="18" charset="0"/>
                <a:cs typeface="Times New Roman" panose="02020603050405020304" pitchFamily="18" charset="0"/>
              </a:rPr>
              <a:t>身份认证技术</a:t>
            </a:r>
            <a:r>
              <a:rPr lang="zh-CN" altLang="en-US" sz="2200" b="1" noProof="1">
                <a:solidFill>
                  <a:srgbClr val="C00000"/>
                </a:solidFill>
                <a:latin typeface="Times New Roman" panose="02020603050405020304" pitchFamily="18" charset="0"/>
                <a:cs typeface="Times New Roman" panose="02020603050405020304" pitchFamily="18" charset="0"/>
              </a:rPr>
              <a:t>包括</a:t>
            </a:r>
            <a:r>
              <a:rPr lang="zh-CN" altLang="en-US" sz="2200" b="1" noProof="1">
                <a:solidFill>
                  <a:schemeClr val="tx2"/>
                </a:solidFill>
                <a:latin typeface="Times New Roman" panose="02020603050405020304" pitchFamily="18" charset="0"/>
                <a:cs typeface="Times New Roman" panose="02020603050405020304" pitchFamily="18" charset="0"/>
              </a:rPr>
              <a:t>信息认证和用户身份认证。</a:t>
            </a:r>
            <a:r>
              <a:rPr lang="zh-CN" altLang="en-US" sz="2200" b="1" noProof="1">
                <a:solidFill>
                  <a:srgbClr val="C00000"/>
                </a:solidFill>
                <a:latin typeface="Times New Roman" panose="02020603050405020304" pitchFamily="18" charset="0"/>
                <a:cs typeface="Times New Roman" panose="02020603050405020304" pitchFamily="18" charset="0"/>
              </a:rPr>
              <a:t>信息认证</a:t>
            </a:r>
            <a:r>
              <a:rPr lang="zh-CN" altLang="en-US" sz="2200" b="1" noProof="1">
                <a:solidFill>
                  <a:schemeClr val="tx2"/>
                </a:solidFill>
                <a:latin typeface="Times New Roman" panose="02020603050405020304" pitchFamily="18" charset="0"/>
                <a:cs typeface="Times New Roman" panose="02020603050405020304" pitchFamily="18" charset="0"/>
              </a:rPr>
              <a:t>用于保证信息的完整性和通信双方的不可抵赖性，</a:t>
            </a:r>
            <a:r>
              <a:rPr lang="zh-CN" altLang="en-US" sz="2200" b="1" noProof="1">
                <a:solidFill>
                  <a:srgbClr val="C00000"/>
                </a:solidFill>
                <a:latin typeface="Times New Roman" panose="02020603050405020304" pitchFamily="18" charset="0"/>
                <a:cs typeface="Times New Roman" panose="02020603050405020304" pitchFamily="18" charset="0"/>
              </a:rPr>
              <a:t>用户身份认证</a:t>
            </a:r>
            <a:r>
              <a:rPr lang="zh-CN" altLang="en-US" sz="2200" b="1" noProof="1">
                <a:solidFill>
                  <a:schemeClr val="tx2"/>
                </a:solidFill>
                <a:latin typeface="Times New Roman" panose="02020603050405020304" pitchFamily="18" charset="0"/>
                <a:cs typeface="Times New Roman" panose="02020603050405020304" pitchFamily="18" charset="0"/>
              </a:rPr>
              <a:t>用于鉴别用户身份真实性。采用身份认证技术主要有PKI体系和非PKI体系。PKI体系主要用于信息认证，非PKI体系主要用于用户身份认证。PKI体系通过数字证书认证中心CA（Certificate Authority</a:t>
            </a:r>
            <a:r>
              <a:rPr lang="zh-CN" altLang="en-US" sz="2200" b="1" noProof="1" smtClean="0">
                <a:solidFill>
                  <a:schemeClr val="tx2"/>
                </a:solidFill>
                <a:latin typeface="Times New Roman" panose="02020603050405020304" pitchFamily="18" charset="0"/>
                <a:cs typeface="Times New Roman" panose="02020603050405020304" pitchFamily="18" charset="0"/>
              </a:rPr>
              <a:t>）</a:t>
            </a:r>
            <a:r>
              <a:rPr lang="en-US" altLang="zh-CN" sz="2200" b="1" noProof="1" smtClean="0">
                <a:solidFill>
                  <a:schemeClr val="tx2"/>
                </a:solidFill>
                <a:latin typeface="Times New Roman" panose="02020603050405020304" pitchFamily="18" charset="0"/>
                <a:cs typeface="Times New Roman" panose="02020603050405020304" pitchFamily="18" charset="0"/>
              </a:rPr>
              <a:t>,</a:t>
            </a:r>
            <a:r>
              <a:rPr lang="zh-CN" altLang="en-US" sz="2200" b="1" noProof="1" smtClean="0">
                <a:solidFill>
                  <a:schemeClr val="tx2"/>
                </a:solidFill>
                <a:latin typeface="Times New Roman" panose="02020603050405020304" pitchFamily="18" charset="0"/>
                <a:cs typeface="Times New Roman" panose="02020603050405020304" pitchFamily="18" charset="0"/>
              </a:rPr>
              <a:t>采用</a:t>
            </a:r>
            <a:r>
              <a:rPr lang="zh-CN" altLang="en-US" sz="2200" b="1" noProof="1">
                <a:solidFill>
                  <a:schemeClr val="tx2"/>
                </a:solidFill>
                <a:latin typeface="Times New Roman" panose="02020603050405020304" pitchFamily="18" charset="0"/>
                <a:cs typeface="Times New Roman" panose="02020603050405020304" pitchFamily="18" charset="0"/>
              </a:rPr>
              <a:t>数字签名和哈希函数保证信息的可靠性和完整性。如SSL VPN是利用PKI支持的SSL协议实现应用层VPN安全通信。非PKI体系一般采用“用户名+口令”的</a:t>
            </a:r>
            <a:r>
              <a:rPr lang="zh-CN" altLang="en-US" sz="2200" b="1" noProof="1" smtClean="0">
                <a:solidFill>
                  <a:schemeClr val="tx2"/>
                </a:solidFill>
                <a:latin typeface="Times New Roman" panose="02020603050405020304" pitchFamily="18" charset="0"/>
                <a:cs typeface="Times New Roman" panose="02020603050405020304" pitchFamily="18" charset="0"/>
              </a:rPr>
              <a:t>模式</a:t>
            </a:r>
            <a:r>
              <a:rPr lang="en-US" altLang="zh-CN" sz="2200" b="1" noProof="1" smtClean="0">
                <a:solidFill>
                  <a:schemeClr val="tx2"/>
                </a:solidFill>
                <a:latin typeface="Times New Roman" panose="02020603050405020304" pitchFamily="18" charset="0"/>
                <a:cs typeface="Times New Roman" panose="02020603050405020304" pitchFamily="18" charset="0"/>
              </a:rPr>
              <a:t>,</a:t>
            </a:r>
            <a:r>
              <a:rPr lang="zh-CN" altLang="en-US" sz="2200" b="1" noProof="1" smtClean="0">
                <a:solidFill>
                  <a:schemeClr val="tx2"/>
                </a:solidFill>
                <a:latin typeface="Times New Roman" panose="02020603050405020304" pitchFamily="18" charset="0"/>
                <a:cs typeface="Times New Roman" panose="02020603050405020304" pitchFamily="18" charset="0"/>
              </a:rPr>
              <a:t> VPN</a:t>
            </a:r>
            <a:r>
              <a:rPr lang="zh-CN" altLang="en-US" sz="2200" b="1" noProof="1">
                <a:solidFill>
                  <a:schemeClr val="tx2"/>
                </a:solidFill>
                <a:latin typeface="Times New Roman" panose="02020603050405020304" pitchFamily="18" charset="0"/>
                <a:cs typeface="Times New Roman" panose="02020603050405020304" pitchFamily="18" charset="0"/>
              </a:rPr>
              <a:t>采用的非PKI体系认证</a:t>
            </a:r>
            <a:r>
              <a:rPr lang="zh-CN" altLang="en-US" sz="2200" b="1" noProof="1" smtClean="0">
                <a:solidFill>
                  <a:schemeClr val="tx2"/>
                </a:solidFill>
                <a:latin typeface="Times New Roman" panose="02020603050405020304" pitchFamily="18" charset="0"/>
                <a:cs typeface="Times New Roman" panose="02020603050405020304" pitchFamily="18" charset="0"/>
              </a:rPr>
              <a:t>方式有6种</a:t>
            </a:r>
            <a:r>
              <a:rPr lang="en-US" altLang="zh-CN" sz="2200" b="1" noProof="1" smtClean="0">
                <a:solidFill>
                  <a:schemeClr val="tx2"/>
                </a:solidFill>
                <a:latin typeface="Times New Roman" panose="02020603050405020304" pitchFamily="18" charset="0"/>
                <a:cs typeface="Times New Roman" panose="02020603050405020304" pitchFamily="18" charset="0"/>
              </a:rPr>
              <a:t>(</a:t>
            </a:r>
            <a:r>
              <a:rPr lang="zh-CN" altLang="en-US" sz="2200" b="1" noProof="1" smtClean="0">
                <a:solidFill>
                  <a:schemeClr val="tx2"/>
                </a:solidFill>
                <a:latin typeface="Times New Roman" panose="02020603050405020304" pitchFamily="18" charset="0"/>
                <a:cs typeface="Times New Roman" panose="02020603050405020304" pitchFamily="18" charset="0"/>
              </a:rPr>
              <a:t>略</a:t>
            </a:r>
            <a:r>
              <a:rPr lang="en-US" altLang="zh-CN" sz="2200" b="1" noProof="1" smtClean="0">
                <a:solidFill>
                  <a:schemeClr val="tx2"/>
                </a:solidFill>
                <a:latin typeface="Times New Roman" panose="02020603050405020304" pitchFamily="18" charset="0"/>
                <a:cs typeface="Times New Roman" panose="02020603050405020304" pitchFamily="18" charset="0"/>
              </a:rPr>
              <a:t>).</a:t>
            </a:r>
            <a:endParaRPr lang="zh-CN" altLang="en-US" sz="2200" b="1" noProof="1">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p>
        </p:txBody>
      </p:sp>
      <p:sp>
        <p:nvSpPr>
          <p:cNvPr id="46082" name="内容占位符 13"/>
          <p:cNvSpPr>
            <a:spLocks noGrp="1" noChangeArrowheads="1"/>
          </p:cNvSpPr>
          <p:nvPr>
            <p:ph idx="4294967295"/>
          </p:nvPr>
        </p:nvSpPr>
        <p:spPr>
          <a:xfrm>
            <a:off x="1042988" y="1125538"/>
            <a:ext cx="4610100" cy="514350"/>
          </a:xfrm>
        </p:spPr>
        <p:txBody>
          <a:bodyPr/>
          <a:lstStyle/>
          <a:p>
            <a:pPr algn="just" eaLnBrk="1" hangingPunct="1">
              <a:buFont typeface="Wingdings" panose="05000000000000000000" pitchFamily="2" charset="2"/>
              <a:buNone/>
            </a:pPr>
            <a:r>
              <a:rPr lang="en-US" altLang="zh-CN" sz="2800" smtClean="0">
                <a:solidFill>
                  <a:srgbClr val="FF0000"/>
                </a:solidFill>
              </a:rPr>
              <a:t>2.2.4 VPN</a:t>
            </a:r>
            <a:r>
              <a:rPr lang="zh-CN" altLang="en-US" sz="2800" smtClean="0">
                <a:solidFill>
                  <a:srgbClr val="FF0000"/>
                </a:solidFill>
              </a:rPr>
              <a:t>技术的实际应用</a:t>
            </a:r>
            <a:endParaRPr lang="en-US" altLang="zh-CN" sz="2800" smtClean="0">
              <a:solidFill>
                <a:srgbClr val="FF0000"/>
              </a:solidFill>
            </a:endParaRPr>
          </a:p>
        </p:txBody>
      </p:sp>
      <p:sp>
        <p:nvSpPr>
          <p:cNvPr id="19" name="圆角矩形 18"/>
          <p:cNvSpPr/>
          <p:nvPr/>
        </p:nvSpPr>
        <p:spPr bwMode="gray">
          <a:xfrm>
            <a:off x="468313" y="1773238"/>
            <a:ext cx="8208962" cy="4464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buFontTx/>
              <a:buNone/>
              <a:defRPr/>
            </a:pPr>
            <a:r>
              <a:rPr lang="en-US" altLang="zh-CN" sz="2000" b="1" dirty="0">
                <a:solidFill>
                  <a:srgbClr val="FF0000"/>
                </a:solidFill>
                <a:latin typeface="Arial" panose="020B0604020202020204" pitchFamily="34" charset="0"/>
              </a:rPr>
              <a:t>VPN技术实际应用</a:t>
            </a:r>
            <a:r>
              <a:rPr lang="en-US" altLang="zh-CN" sz="2000" b="1" dirty="0">
                <a:solidFill>
                  <a:schemeClr val="tx2"/>
                </a:solidFill>
                <a:latin typeface="Arial" panose="020B0604020202020204" pitchFamily="34" charset="0"/>
              </a:rPr>
              <a:t>中,对不同网络用户应提供不同解决方案。</a:t>
            </a:r>
            <a:r>
              <a:rPr lang="en-US" altLang="zh-CN" sz="2000" b="1" dirty="0">
                <a:solidFill>
                  <a:srgbClr val="3366FF"/>
                </a:solidFill>
                <a:latin typeface="Arial" panose="020B0604020202020204" pitchFamily="34" charset="0"/>
              </a:rPr>
              <a:t>解决方案</a:t>
            </a:r>
            <a:r>
              <a:rPr lang="en-US" altLang="zh-CN" sz="2000" b="1" dirty="0">
                <a:solidFill>
                  <a:srgbClr val="C00000"/>
                </a:solidFill>
                <a:latin typeface="Arial" panose="020B0604020202020204" pitchFamily="34" charset="0"/>
              </a:rPr>
              <a:t>主要分为3种</a:t>
            </a:r>
            <a:r>
              <a:rPr lang="en-US" altLang="zh-CN" sz="2000" b="1" dirty="0">
                <a:solidFill>
                  <a:schemeClr val="tx2"/>
                </a:solidFill>
                <a:latin typeface="Arial" panose="020B0604020202020204" pitchFamily="34" charset="0"/>
              </a:rPr>
              <a:t>：远程访问虚拟网（Access </a:t>
            </a:r>
            <a:r>
              <a:rPr lang="en-US" altLang="zh-CN" sz="2000" b="1" dirty="0" err="1">
                <a:solidFill>
                  <a:schemeClr val="tx2"/>
                </a:solidFill>
                <a:latin typeface="Arial" panose="020B0604020202020204" pitchFamily="34" charset="0"/>
              </a:rPr>
              <a:t>VPN）、企业内部虚拟网（Intranet</a:t>
            </a:r>
            <a:r>
              <a:rPr lang="en-US" altLang="zh-CN" sz="2000" b="1" dirty="0">
                <a:solidFill>
                  <a:schemeClr val="tx2"/>
                </a:solidFill>
                <a:latin typeface="Arial" panose="020B0604020202020204" pitchFamily="34" charset="0"/>
              </a:rPr>
              <a:t> </a:t>
            </a:r>
            <a:r>
              <a:rPr lang="en-US" altLang="zh-CN" sz="2000" b="1" dirty="0" err="1">
                <a:solidFill>
                  <a:schemeClr val="tx2"/>
                </a:solidFill>
                <a:latin typeface="Arial" panose="020B0604020202020204" pitchFamily="34" charset="0"/>
              </a:rPr>
              <a:t>VPN）和企业扩展虚拟网（Extranet</a:t>
            </a:r>
            <a:r>
              <a:rPr lang="en-US" altLang="zh-CN" sz="2000" b="1" dirty="0">
                <a:solidFill>
                  <a:schemeClr val="tx2"/>
                </a:solidFill>
                <a:latin typeface="Arial" panose="020B0604020202020204" pitchFamily="34" charset="0"/>
              </a:rPr>
              <a:t> VPN）。</a:t>
            </a:r>
          </a:p>
          <a:p>
            <a:pPr indent="457200">
              <a:buFontTx/>
              <a:buNone/>
              <a:defRPr/>
            </a:pPr>
            <a:r>
              <a:rPr lang="en-US" altLang="zh-CN" sz="2400" b="1" dirty="0">
                <a:solidFill>
                  <a:srgbClr val="FF0000"/>
                </a:solidFill>
                <a:latin typeface="Arial" panose="020B0604020202020204" pitchFamily="34" charset="0"/>
              </a:rPr>
              <a:t>1. </a:t>
            </a:r>
            <a:r>
              <a:rPr lang="en-US" altLang="zh-CN" sz="2400" b="1" dirty="0" err="1">
                <a:solidFill>
                  <a:srgbClr val="FF0000"/>
                </a:solidFill>
                <a:latin typeface="Arial" panose="020B0604020202020204" pitchFamily="34" charset="0"/>
              </a:rPr>
              <a:t>远程访问虚拟网</a:t>
            </a:r>
            <a:endParaRPr lang="en-US" altLang="zh-CN" sz="2400" b="1" dirty="0">
              <a:solidFill>
                <a:srgbClr val="FF0000"/>
              </a:solidFill>
              <a:latin typeface="Arial" panose="020B0604020202020204" pitchFamily="34" charset="0"/>
            </a:endParaRPr>
          </a:p>
          <a:p>
            <a:pPr indent="457200">
              <a:buFontTx/>
              <a:buNone/>
              <a:defRPr/>
            </a:pPr>
            <a:r>
              <a:rPr lang="en-US" altLang="zh-CN" sz="2200" b="1" dirty="0" err="1">
                <a:solidFill>
                  <a:schemeClr val="tx2"/>
                </a:solidFill>
                <a:latin typeface="Arial" panose="020B0604020202020204" pitchFamily="34" charset="0"/>
              </a:rPr>
              <a:t>通过一个与专用网相同策略的共享基础设施，可提供对企业内网或外网的</a:t>
            </a:r>
            <a:r>
              <a:rPr lang="en-US" altLang="zh-CN" sz="2200" b="1" dirty="0" err="1">
                <a:solidFill>
                  <a:srgbClr val="C00000"/>
                </a:solidFill>
                <a:latin typeface="Arial" panose="020B0604020202020204" pitchFamily="34" charset="0"/>
              </a:rPr>
              <a:t>远程访问服务</a:t>
            </a:r>
            <a:r>
              <a:rPr lang="en-US" altLang="zh-CN" sz="2200" b="1" dirty="0" err="1">
                <a:solidFill>
                  <a:schemeClr val="tx2"/>
                </a:solidFill>
                <a:latin typeface="Arial" panose="020B0604020202020204" pitchFamily="34" charset="0"/>
              </a:rPr>
              <a:t>，使用户随时以所需方式访问企业资源</a:t>
            </a:r>
            <a:r>
              <a:rPr lang="en-US" altLang="zh-CN" sz="2200" b="1" dirty="0">
                <a:solidFill>
                  <a:schemeClr val="tx2"/>
                </a:solidFill>
                <a:latin typeface="Arial" panose="020B0604020202020204" pitchFamily="34" charset="0"/>
              </a:rPr>
              <a:t>。</a:t>
            </a:r>
            <a:r>
              <a:rPr lang="en-US" altLang="zh-CN" sz="2200" b="1" dirty="0" err="1">
                <a:solidFill>
                  <a:schemeClr val="tx2"/>
                </a:solidFill>
                <a:latin typeface="Arial" panose="020B0604020202020204" pitchFamily="34" charset="0"/>
              </a:rPr>
              <a:t>如模拟、拨号、ISDN、数字用户线路（xDSL）、移动IP和电缆技术等，可安全地连接移动用户、远程工作者或分支机构</a:t>
            </a:r>
            <a:r>
              <a:rPr lang="en-US" altLang="zh-CN" sz="2200" b="1" dirty="0">
                <a:solidFill>
                  <a:schemeClr val="tx2"/>
                </a:solidFill>
                <a:latin typeface="Arial" panose="020B0604020202020204" pitchFamily="34" charset="0"/>
              </a:rPr>
              <a:t>。这种VPN适用于拥有移动用户或有远程办公需要的机构，以及需要提供与消费者安全访问服务的企业。远程验证拨号用户服务RADIUS服务器可对</a:t>
            </a:r>
            <a:r>
              <a:rPr lang="en-US" altLang="zh-CN" sz="2200" b="1" dirty="0">
                <a:solidFill>
                  <a:srgbClr val="C00000"/>
                </a:solidFill>
                <a:latin typeface="Arial" panose="020B0604020202020204" pitchFamily="34" charset="0"/>
              </a:rPr>
              <a:t>异地分支机构</a:t>
            </a:r>
            <a:r>
              <a:rPr lang="en-US" altLang="zh-CN" sz="2200" b="1" dirty="0">
                <a:solidFill>
                  <a:schemeClr val="tx2"/>
                </a:solidFill>
                <a:latin typeface="Arial" panose="020B0604020202020204" pitchFamily="34" charset="0"/>
              </a:rPr>
              <a:t>或</a:t>
            </a:r>
            <a:r>
              <a:rPr lang="en-US" altLang="zh-CN" sz="2200" b="1" dirty="0">
                <a:solidFill>
                  <a:srgbClr val="C00000"/>
                </a:solidFill>
                <a:latin typeface="Arial" panose="020B0604020202020204" pitchFamily="34" charset="0"/>
              </a:rPr>
              <a:t>出差外地的员工</a:t>
            </a:r>
            <a:r>
              <a:rPr lang="en-US" altLang="zh-CN" sz="2200" b="1" dirty="0">
                <a:solidFill>
                  <a:schemeClr val="tx2"/>
                </a:solidFill>
                <a:latin typeface="Arial" panose="020B0604020202020204" pitchFamily="34" charset="0"/>
              </a:rPr>
              <a:t>进行验证和授权，保证连接安全且降低电话费用。</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p>
        </p:txBody>
      </p:sp>
      <p:sp>
        <p:nvSpPr>
          <p:cNvPr id="167" name=" 167"/>
          <p:cNvSpPr/>
          <p:nvPr/>
        </p:nvSpPr>
        <p:spPr>
          <a:xfrm>
            <a:off x="457200" y="1340485"/>
            <a:ext cx="8305165" cy="388366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en-US" altLang="zh-CN" sz="2800" b="1" noProof="1" smtClean="0">
                <a:solidFill>
                  <a:srgbClr val="FF0000"/>
                </a:solidFill>
              </a:rPr>
              <a:t>2.</a:t>
            </a:r>
            <a:r>
              <a:rPr lang="zh-CN" altLang="en-US" sz="2800" b="1" noProof="1" smtClean="0">
                <a:solidFill>
                  <a:srgbClr val="FF0000"/>
                </a:solidFill>
              </a:rPr>
              <a:t>企业</a:t>
            </a:r>
            <a:r>
              <a:rPr lang="zh-CN" altLang="en-US" sz="2800" b="1" noProof="1">
                <a:solidFill>
                  <a:srgbClr val="FF0000"/>
                </a:solidFill>
              </a:rPr>
              <a:t>内部虚拟网</a:t>
            </a:r>
          </a:p>
          <a:p>
            <a:pPr indent="457200" eaLnBrk="1" fontAlgn="auto" hangingPunct="1">
              <a:spcBef>
                <a:spcPts val="0"/>
              </a:spcBef>
              <a:spcAft>
                <a:spcPts val="0"/>
              </a:spcAft>
              <a:defRPr/>
            </a:pPr>
            <a:r>
              <a:rPr lang="zh-CN" altLang="en-US" sz="2200" b="1" noProof="1">
                <a:solidFill>
                  <a:schemeClr val="tx2"/>
                </a:solidFill>
                <a:latin typeface="Times New Roman" panose="02020603050405020304" pitchFamily="18" charset="0"/>
                <a:cs typeface="Times New Roman" panose="02020603050405020304" pitchFamily="18" charset="0"/>
              </a:rPr>
              <a:t>利用Intranet VPN方式可在Internet上构建全</a:t>
            </a:r>
            <a:r>
              <a:rPr lang="zh-CN" altLang="en-US" sz="2200" b="1" noProof="1" smtClean="0">
                <a:solidFill>
                  <a:schemeClr val="tx2"/>
                </a:solidFill>
                <a:latin typeface="Times New Roman" panose="02020603050405020304" pitchFamily="18" charset="0"/>
                <a:cs typeface="Times New Roman" panose="02020603050405020304" pitchFamily="18" charset="0"/>
              </a:rPr>
              <a:t>球Intranet VPN</a:t>
            </a:r>
            <a:r>
              <a:rPr lang="en-US" altLang="zh-CN" sz="2200" b="1" noProof="1" smtClean="0">
                <a:solidFill>
                  <a:schemeClr val="tx2"/>
                </a:solidFill>
                <a:latin typeface="Times New Roman" panose="02020603050405020304" pitchFamily="18" charset="0"/>
                <a:cs typeface="Times New Roman" panose="02020603050405020304" pitchFamily="18" charset="0"/>
              </a:rPr>
              <a:t>,</a:t>
            </a:r>
            <a:r>
              <a:rPr lang="zh-CN" altLang="en-US" sz="2200" b="1" noProof="1" smtClean="0">
                <a:solidFill>
                  <a:schemeClr val="tx2"/>
                </a:solidFill>
                <a:latin typeface="Times New Roman" panose="02020603050405020304" pitchFamily="18" charset="0"/>
                <a:cs typeface="Times New Roman" panose="02020603050405020304" pitchFamily="18" charset="0"/>
              </a:rPr>
              <a:t>企</a:t>
            </a:r>
            <a:r>
              <a:rPr lang="zh-CN" altLang="en-US" sz="2200" b="1" noProof="1">
                <a:solidFill>
                  <a:schemeClr val="tx2"/>
                </a:solidFill>
                <a:latin typeface="Times New Roman" panose="02020603050405020304" pitchFamily="18" charset="0"/>
                <a:cs typeface="Times New Roman" panose="02020603050405020304" pitchFamily="18" charset="0"/>
              </a:rPr>
              <a:t>业内部资源用户只需连入本地ISP的接入服务提供点POP（Point Of Presence）即可相互通信，而实现传统WAN组建技术均需要有专线。利用该VPN线路不仅可保证网络的互联性，而且，可利用隧道、加密等VPN特性保证在整个VPN上的信息安全传输。这种 VPN通过一个使用专用连接的共享基础设施，连接企业总部和分支机构，企业拥有与专用网络的相同政策，包括安全、服务质量可管理性和可靠性，</a:t>
            </a:r>
            <a:r>
              <a:rPr lang="zh-CN" altLang="en-US" sz="2200" b="1" noProof="1">
                <a:solidFill>
                  <a:schemeClr val="tx2"/>
                </a:solidFill>
              </a:rPr>
              <a:t>如</a:t>
            </a:r>
            <a:r>
              <a:rPr lang="zh-CN" altLang="en-US" sz="2200" b="1" noProof="1">
                <a:solidFill>
                  <a:srgbClr val="C00000"/>
                </a:solidFill>
              </a:rPr>
              <a:t>总公司与分公司构建的企业内部VPN</a:t>
            </a:r>
            <a:r>
              <a:rPr lang="zh-CN" altLang="en-US" sz="2200" b="1" noProof="1">
                <a:solidFill>
                  <a:schemeClr val="tx2"/>
                </a:solidFill>
              </a:rPr>
              <a:t>。</a:t>
            </a:r>
          </a:p>
        </p:txBody>
      </p:sp>
      <p:pic>
        <p:nvPicPr>
          <p:cNvPr id="47107" name="Picture 7" descr="MC900056674[1]"/>
          <p:cNvPicPr>
            <a:picLocks noChangeAspect="1" noChangeArrowheads="1"/>
          </p:cNvPicPr>
          <p:nvPr/>
        </p:nvPicPr>
        <p:blipFill>
          <a:blip r:embed="rId2" cstate="print"/>
          <a:srcRect/>
          <a:stretch>
            <a:fillRect/>
          </a:stretch>
        </p:blipFill>
        <p:spPr bwMode="auto">
          <a:xfrm>
            <a:off x="5418138" y="4833938"/>
            <a:ext cx="2119312" cy="1343025"/>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2.2 </a:t>
            </a:r>
            <a:r>
              <a:rPr lang="zh-CN" altLang="en-US" sz="3200" b="1">
                <a:solidFill>
                  <a:schemeClr val="bg1"/>
                </a:solidFill>
              </a:rPr>
              <a:t>虚拟专用网</a:t>
            </a:r>
            <a:r>
              <a:rPr lang="en-US" altLang="zh-CN" sz="3200" b="1">
                <a:solidFill>
                  <a:schemeClr val="bg1"/>
                </a:solidFill>
              </a:rPr>
              <a:t>VPN</a:t>
            </a:r>
            <a:r>
              <a:rPr lang="zh-CN" altLang="en-US" sz="3200" b="1">
                <a:solidFill>
                  <a:schemeClr val="bg1"/>
                </a:solidFill>
              </a:rPr>
              <a:t>技术</a:t>
            </a:r>
          </a:p>
        </p:txBody>
      </p:sp>
      <p:sp>
        <p:nvSpPr>
          <p:cNvPr id="19" name="圆角矩形 18"/>
          <p:cNvSpPr/>
          <p:nvPr/>
        </p:nvSpPr>
        <p:spPr bwMode="gray">
          <a:xfrm>
            <a:off x="457200" y="1181100"/>
            <a:ext cx="8351838" cy="34194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buFontTx/>
              <a:buNone/>
              <a:defRPr/>
            </a:pPr>
            <a:r>
              <a:rPr lang="en-US" altLang="zh-CN" sz="2300" b="1" dirty="0">
                <a:solidFill>
                  <a:srgbClr val="FF0000"/>
                </a:solidFill>
                <a:latin typeface="Arial" panose="020B0604020202020204" pitchFamily="34" charset="0"/>
              </a:rPr>
              <a:t>3.</a:t>
            </a:r>
            <a:r>
              <a:rPr lang="en-US" altLang="zh-CN" sz="2300" b="1" dirty="0" err="1">
                <a:solidFill>
                  <a:srgbClr val="FF0000"/>
                </a:solidFill>
                <a:latin typeface="Arial" panose="020B0604020202020204" pitchFamily="34" charset="0"/>
              </a:rPr>
              <a:t>企业扩展虚拟网</a:t>
            </a:r>
            <a:endParaRPr lang="en-US" altLang="zh-CN" sz="2300" b="1" dirty="0">
              <a:solidFill>
                <a:srgbClr val="FF0000"/>
              </a:solidFill>
              <a:latin typeface="Arial" panose="020B0604020202020204" pitchFamily="34" charset="0"/>
            </a:endParaRPr>
          </a:p>
          <a:p>
            <a:pPr indent="457200">
              <a:buFontTx/>
              <a:buNone/>
              <a:defRPr/>
            </a:pPr>
            <a:r>
              <a:rPr lang="en-US" altLang="zh-CN" sz="2100" b="1" dirty="0" err="1">
                <a:solidFill>
                  <a:schemeClr val="tx2"/>
                </a:solidFill>
                <a:latin typeface="Arial" panose="020B0604020202020204" pitchFamily="34" charset="0"/>
              </a:rPr>
              <a:t>主要用于</a:t>
            </a:r>
            <a:r>
              <a:rPr lang="en-US" altLang="zh-CN" sz="2100" b="1" dirty="0" err="1">
                <a:solidFill>
                  <a:srgbClr val="C00000"/>
                </a:solidFill>
                <a:latin typeface="Arial" panose="020B0604020202020204" pitchFamily="34" charset="0"/>
              </a:rPr>
              <a:t>企业之间的互连及安全访问服务</a:t>
            </a:r>
            <a:r>
              <a:rPr lang="en-US" altLang="zh-CN" sz="2100" b="1" dirty="0">
                <a:solidFill>
                  <a:schemeClr val="tx2"/>
                </a:solidFill>
                <a:latin typeface="Arial" panose="020B0604020202020204" pitchFamily="34" charset="0"/>
              </a:rPr>
              <a:t>。</a:t>
            </a:r>
            <a:r>
              <a:rPr lang="en-US" altLang="zh-CN" sz="2100" b="1" dirty="0" err="1">
                <a:solidFill>
                  <a:schemeClr val="tx2"/>
                </a:solidFill>
                <a:latin typeface="Arial" panose="020B0604020202020204" pitchFamily="34" charset="0"/>
              </a:rPr>
              <a:t>可通过专用连接的共享基础设施，将客户、供应商、合作伙伴或相关群体连接到企业内部网</a:t>
            </a:r>
            <a:r>
              <a:rPr lang="en-US" altLang="zh-CN" sz="2100" b="1" dirty="0">
                <a:solidFill>
                  <a:schemeClr val="tx2"/>
                </a:solidFill>
                <a:latin typeface="Arial" panose="020B0604020202020204" pitchFamily="34" charset="0"/>
              </a:rPr>
              <a:t>。</a:t>
            </a:r>
            <a:r>
              <a:rPr lang="en-US" altLang="zh-CN" sz="2100" b="1" dirty="0" err="1">
                <a:solidFill>
                  <a:schemeClr val="tx2"/>
                </a:solidFill>
                <a:latin typeface="Arial" panose="020B0604020202020204" pitchFamily="34" charset="0"/>
              </a:rPr>
              <a:t>企业拥有与专用网络相同的安全、服务质量等政策</a:t>
            </a:r>
            <a:r>
              <a:rPr lang="en-US" altLang="zh-CN" sz="2100" b="1" dirty="0">
                <a:solidFill>
                  <a:schemeClr val="tx2"/>
                </a:solidFill>
                <a:latin typeface="Arial" panose="020B0604020202020204" pitchFamily="34" charset="0"/>
              </a:rPr>
              <a:t>。可简便地对外部网进行部署和管理，外部网的连接可使用与部署内部网和远端访问VPN相同的架构和协议进行部署,主要是接入许可不同。</a:t>
            </a:r>
          </a:p>
          <a:p>
            <a:pPr indent="457200">
              <a:buFontTx/>
              <a:buNone/>
              <a:defRPr/>
            </a:pPr>
            <a:r>
              <a:rPr lang="en-US" altLang="zh-CN" sz="2100" b="1" dirty="0">
                <a:solidFill>
                  <a:schemeClr val="tx2"/>
                </a:solidFill>
                <a:latin typeface="Arial" panose="020B0604020202020204" pitchFamily="34" charset="0"/>
              </a:rPr>
              <a:t>对于企业一些国内外客户，涉及订单时常需要访问企业的ERP系统，查询其订单的处理进度等。客户是上帝，可以使用VPN技术实现企业扩展虚拟局域网，让客户也能够访问公司企业内部的ERP服务器。</a:t>
            </a:r>
            <a:r>
              <a:rPr lang="en-US" altLang="zh-CN" sz="2100" b="1" dirty="0" err="1">
                <a:solidFill>
                  <a:schemeClr val="tx2"/>
                </a:solidFill>
                <a:latin typeface="Arial" panose="020B0604020202020204" pitchFamily="34" charset="0"/>
              </a:rPr>
              <a:t>但应注意数据过滤及访问权限限制</a:t>
            </a:r>
            <a:r>
              <a:rPr lang="en-US" altLang="zh-CN" sz="2100" b="1" dirty="0">
                <a:solidFill>
                  <a:schemeClr val="tx2"/>
                </a:solidFill>
                <a:latin typeface="Arial" panose="020B0604020202020204" pitchFamily="34" charset="0"/>
              </a:rPr>
              <a:t>。</a:t>
            </a:r>
          </a:p>
        </p:txBody>
      </p:sp>
      <p:sp>
        <p:nvSpPr>
          <p:cNvPr id="4" name="圆角矩形 18"/>
          <p:cNvSpPr>
            <a:spLocks noChangeArrowheads="1"/>
          </p:cNvSpPr>
          <p:nvPr/>
        </p:nvSpPr>
        <p:spPr bwMode="gray">
          <a:xfrm>
            <a:off x="1044575" y="4668838"/>
            <a:ext cx="7131050" cy="1687512"/>
          </a:xfrm>
          <a:prstGeom prst="roundRect">
            <a:avLst>
              <a:gd name="adj" fmla="val 16667"/>
            </a:avLst>
          </a:prstGeom>
          <a:solidFill>
            <a:srgbClr val="FFFF99"/>
          </a:solidFill>
          <a:ln w="25400" algn="ctr">
            <a:solidFill>
              <a:schemeClr val="tx1"/>
            </a:solidFill>
            <a:round/>
          </a:ln>
        </p:spPr>
        <p:txBody>
          <a:bodyPr anchor="ctr"/>
          <a:lstStyle/>
          <a:p>
            <a:pPr>
              <a:buFontTx/>
              <a:buNone/>
              <a:defRPr/>
            </a:pPr>
            <a:r>
              <a:rPr lang="zh-CN" altLang="en-US" sz="23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23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讨论思考</a:t>
            </a:r>
            <a:r>
              <a:rPr lang="zh-CN" altLang="en-US" sz="2000" b="1" dirty="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a:t>
            </a:r>
          </a:p>
          <a:p>
            <a:pPr>
              <a:lnSpc>
                <a:spcPct val="110000"/>
              </a:lnSpc>
              <a:spcBef>
                <a:spcPct val="15000"/>
              </a:spcBef>
              <a:buFontTx/>
              <a:buNone/>
              <a:defRPr/>
            </a:pPr>
            <a:r>
              <a:rPr sz="2000" b="1" dirty="0">
                <a:effectLst>
                  <a:outerShdw blurRad="38100" dist="38100" dir="2700000" algn="tl">
                    <a:srgbClr val="000000"/>
                  </a:outerShdw>
                </a:effectLst>
              </a:rPr>
              <a:t>  1）什么是虚拟专用网VPN的基本概念？</a:t>
            </a:r>
          </a:p>
          <a:p>
            <a:pPr>
              <a:lnSpc>
                <a:spcPct val="110000"/>
              </a:lnSpc>
              <a:spcBef>
                <a:spcPct val="15000"/>
              </a:spcBef>
              <a:buFontTx/>
              <a:buNone/>
              <a:defRPr/>
            </a:pPr>
            <a:r>
              <a:rPr sz="2000" b="1" dirty="0">
                <a:effectLst>
                  <a:outerShdw blurRad="38100" dist="38100" dir="2700000" algn="tl">
                    <a:srgbClr val="000000"/>
                  </a:outerShdw>
                </a:effectLst>
              </a:rPr>
              <a:t>  2）虚拟专用网的技术特点和实现技术有哪些？</a:t>
            </a:r>
          </a:p>
          <a:p>
            <a:pPr>
              <a:lnSpc>
                <a:spcPct val="110000"/>
              </a:lnSpc>
              <a:spcBef>
                <a:spcPct val="15000"/>
              </a:spcBef>
              <a:buFontTx/>
              <a:buNone/>
              <a:defRPr/>
            </a:pPr>
            <a:r>
              <a:rPr sz="2000" b="1" dirty="0">
                <a:effectLst>
                  <a:outerShdw blurRad="38100" dist="38100" dir="2700000" algn="tl">
                    <a:srgbClr val="000000"/>
                  </a:outerShdw>
                </a:effectLst>
              </a:rPr>
              <a:t>  3）VPN技术的实际应用具体有哪些？</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txBox="1">
            <a:spLocks noChangeArrowheads="1"/>
          </p:cNvSpPr>
          <p:nvPr/>
        </p:nvSpPr>
        <p:spPr bwMode="auto">
          <a:xfrm>
            <a:off x="419100" y="204788"/>
            <a:ext cx="8305800" cy="563562"/>
          </a:xfrm>
          <a:prstGeom prst="rect">
            <a:avLst/>
          </a:prstGeom>
          <a:noFill/>
          <a:ln w="9525">
            <a:noFill/>
            <a:miter lim="800000"/>
          </a:ln>
        </p:spPr>
        <p:txBody>
          <a:bodyPr anchor="ctr"/>
          <a:lstStyle/>
          <a:p>
            <a:pPr algn="ctr"/>
            <a:r>
              <a:rPr lang="en-US" altLang="zh-CN" sz="3200" b="1">
                <a:solidFill>
                  <a:schemeClr val="bg1"/>
                </a:solidFill>
              </a:rPr>
              <a:t>2.3 </a:t>
            </a:r>
            <a:r>
              <a:rPr lang="zh-CN" altLang="en-US" sz="3200" b="1">
                <a:solidFill>
                  <a:schemeClr val="bg1"/>
                </a:solidFill>
                <a:latin typeface="方正粗黑宋简体" panose="02000000000000000000" charset="-122"/>
                <a:ea typeface="方正粗黑宋简体" panose="02000000000000000000" charset="-122"/>
              </a:rPr>
              <a:t>无线网络安全技术基础</a:t>
            </a:r>
            <a:endParaRPr lang="en-US" altLang="zh-CN" sz="3200" b="1">
              <a:solidFill>
                <a:schemeClr val="bg1"/>
              </a:solidFill>
              <a:latin typeface="方正粗黑宋简体" panose="02000000000000000000" charset="-122"/>
              <a:ea typeface="方正粗黑宋简体" panose="02000000000000000000" charset="-122"/>
            </a:endParaRPr>
          </a:p>
        </p:txBody>
      </p:sp>
      <p:sp>
        <p:nvSpPr>
          <p:cNvPr id="49154" name="内容占位符 13"/>
          <p:cNvSpPr>
            <a:spLocks noGrp="1" noChangeArrowheads="1"/>
          </p:cNvSpPr>
          <p:nvPr>
            <p:ph idx="4294967295"/>
          </p:nvPr>
        </p:nvSpPr>
        <p:spPr>
          <a:xfrm>
            <a:off x="1042988" y="1257300"/>
            <a:ext cx="5449887" cy="587375"/>
          </a:xfrm>
        </p:spPr>
        <p:txBody>
          <a:bodyPr/>
          <a:lstStyle/>
          <a:p>
            <a:pPr eaLnBrk="1" hangingPunct="1">
              <a:buFont typeface="Wingdings" panose="05000000000000000000" pitchFamily="2" charset="2"/>
              <a:buNone/>
            </a:pPr>
            <a:r>
              <a:rPr lang="en-US" altLang="zh-CN" sz="2800" smtClean="0">
                <a:solidFill>
                  <a:srgbClr val="FF0000"/>
                </a:solidFill>
              </a:rPr>
              <a:t>2.3.1</a:t>
            </a:r>
            <a:r>
              <a:rPr lang="zh-CN" altLang="en-US" sz="2800" smtClean="0">
                <a:solidFill>
                  <a:srgbClr val="FF0000"/>
                </a:solidFill>
              </a:rPr>
              <a:t>无线网络的安全风险和隐患</a:t>
            </a:r>
            <a:r>
              <a:rPr lang="zh-CN" altLang="en-US" smtClean="0">
                <a:solidFill>
                  <a:srgbClr val="FF0000"/>
                </a:solidFill>
              </a:rPr>
              <a:t> </a:t>
            </a:r>
            <a:endParaRPr lang="en-US" altLang="zh-CN" smtClean="0">
              <a:solidFill>
                <a:srgbClr val="FF0000"/>
              </a:solidFill>
            </a:endParaRPr>
          </a:p>
        </p:txBody>
      </p:sp>
      <p:sp>
        <p:nvSpPr>
          <p:cNvPr id="19" name="圆角矩形 18"/>
          <p:cNvSpPr/>
          <p:nvPr/>
        </p:nvSpPr>
        <p:spPr bwMode="gray">
          <a:xfrm>
            <a:off x="611188" y="1916113"/>
            <a:ext cx="7920037" cy="36385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en-US" altLang="zh-CN" sz="2400" b="1" dirty="0"/>
              <a:t>            </a:t>
            </a:r>
            <a:r>
              <a:rPr altLang="zh-CN" sz="2400" b="1" dirty="0">
                <a:solidFill>
                  <a:srgbClr val="FF0000"/>
                </a:solidFill>
              </a:rPr>
              <a:t>万豪国际集团</a:t>
            </a:r>
            <a:r>
              <a:rPr altLang="zh-CN" sz="2400" b="1" dirty="0"/>
              <a:t>官方发布声明称，其旗下喜达屋酒店的客房预订数据库被黑客入侵，在2018年9月10日或之前曾在该酒店预订的最多</a:t>
            </a:r>
            <a:r>
              <a:rPr altLang="zh-CN" sz="2400" b="1" dirty="0">
                <a:solidFill>
                  <a:srgbClr val="C00000"/>
                </a:solidFill>
              </a:rPr>
              <a:t>约5亿名客人的信息或被泄露</a:t>
            </a:r>
            <a:r>
              <a:rPr altLang="zh-CN" sz="2400" b="1" dirty="0"/>
              <a:t>。专家称2021年网络安全对全球经济带来的损失将高达</a:t>
            </a:r>
            <a:r>
              <a:rPr altLang="zh-CN" sz="2400" b="1" dirty="0">
                <a:solidFill>
                  <a:srgbClr val="3366FF"/>
                </a:solidFill>
              </a:rPr>
              <a:t>1万亿美元</a:t>
            </a:r>
            <a:r>
              <a:rPr altLang="zh-CN" sz="2400" b="1" dirty="0"/>
              <a:t>，特别是手机网络的广泛应用，很多用户都在手机内储存各式各样的隐私信息，包括：密码、身份证号、家庭住址和联系方式，甚至钥匙照片等，如果手机被盗或是中木马病毒等，就可能泄露并带来安全隐患。</a:t>
            </a:r>
            <a:endParaRPr lang="en-US" altLang="zh-CN" sz="2400" b="1" dirty="0">
              <a:solidFill>
                <a:schemeClr val="tx1"/>
              </a:solidFill>
              <a:latin typeface="Arial" panose="020B0604020202020204" pitchFamily="34" charset="0"/>
            </a:endParaRPr>
          </a:p>
        </p:txBody>
      </p:sp>
      <p:sp>
        <p:nvSpPr>
          <p:cNvPr id="13" name="圆角矩形 12"/>
          <p:cNvSpPr/>
          <p:nvPr/>
        </p:nvSpPr>
        <p:spPr bwMode="gray">
          <a:xfrm>
            <a:off x="1460500" y="1844675"/>
            <a:ext cx="1143000" cy="53975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2000" b="1" dirty="0" smtClean="0">
                <a:solidFill>
                  <a:srgbClr val="002060"/>
                </a:solidFill>
              </a:rPr>
              <a:t>案例</a:t>
            </a:r>
            <a:r>
              <a:rPr lang="en-US" altLang="zh-CN" sz="2000" b="1" dirty="0" smtClean="0">
                <a:solidFill>
                  <a:srgbClr val="002060"/>
                </a:solidFill>
              </a:rPr>
              <a:t>2-2</a:t>
            </a:r>
            <a:endParaRPr lang="zh-CN" altLang="en-US" sz="2000" b="1" dirty="0" smtClean="0">
              <a:solidFill>
                <a:srgbClr val="002060"/>
              </a:solidFill>
            </a:endParaRPr>
          </a:p>
        </p:txBody>
      </p:sp>
      <p:pic>
        <p:nvPicPr>
          <p:cNvPr id="49157" name="Picture 25" descr="C:\Users\user\AppData\Local\Microsoft\Windows\Temporary Internet Files\Content.IE5\BRFJ06TV\MCj04114760000[1].wmf"/>
          <p:cNvPicPr>
            <a:picLocks noChangeAspect="1" noChangeArrowheads="1"/>
          </p:cNvPicPr>
          <p:nvPr/>
        </p:nvPicPr>
        <p:blipFill>
          <a:blip r:embed="rId2" cstate="print"/>
          <a:srcRect/>
          <a:stretch>
            <a:fillRect/>
          </a:stretch>
        </p:blipFill>
        <p:spPr bwMode="auto">
          <a:xfrm flipH="1">
            <a:off x="5219700" y="5013325"/>
            <a:ext cx="1600200" cy="146685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2.3 </a:t>
            </a:r>
            <a:r>
              <a:rPr lang="zh-CN" altLang="en-US" sz="3200" b="1">
                <a:solidFill>
                  <a:schemeClr val="bg1"/>
                </a:solidFill>
              </a:rPr>
              <a:t>无线网络安全技术基础</a:t>
            </a:r>
          </a:p>
        </p:txBody>
      </p:sp>
      <p:sp>
        <p:nvSpPr>
          <p:cNvPr id="19" name="圆角矩形 18"/>
          <p:cNvSpPr/>
          <p:nvPr/>
        </p:nvSpPr>
        <p:spPr bwMode="gray">
          <a:xfrm>
            <a:off x="457200" y="1196975"/>
            <a:ext cx="8074025" cy="42926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sz="2400" b="1" dirty="0">
                <a:solidFill>
                  <a:schemeClr val="tx2"/>
                </a:solidFill>
                <a:latin typeface="Arial" panose="020B0604020202020204" pitchFamily="34" charset="0"/>
              </a:rPr>
              <a:t>       随着</a:t>
            </a:r>
            <a:r>
              <a:rPr lang="zh-CN" altLang="en-US" sz="2400" b="1" dirty="0">
                <a:solidFill>
                  <a:srgbClr val="990033"/>
                </a:solidFill>
                <a:latin typeface="Arial" panose="020B0604020202020204" pitchFamily="34" charset="0"/>
              </a:rPr>
              <a:t>无线网络技术</a:t>
            </a:r>
            <a:r>
              <a:rPr lang="zh-CN" altLang="en-US" sz="2400" b="1" dirty="0">
                <a:solidFill>
                  <a:schemeClr val="tx2"/>
                </a:solidFill>
                <a:latin typeface="Arial" panose="020B0604020202020204" pitchFamily="34" charset="0"/>
              </a:rPr>
              <a:t>广泛应用</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其</a:t>
            </a:r>
            <a:r>
              <a:rPr lang="zh-CN" altLang="en-US" sz="2400" b="1" dirty="0">
                <a:solidFill>
                  <a:srgbClr val="990033"/>
                </a:solidFill>
                <a:latin typeface="Arial" panose="020B0604020202020204" pitchFamily="34" charset="0"/>
              </a:rPr>
              <a:t>安全性</a:t>
            </a:r>
            <a:r>
              <a:rPr lang="zh-CN" altLang="en-US" sz="2400" b="1" dirty="0">
                <a:solidFill>
                  <a:schemeClr val="tx2"/>
                </a:solidFill>
                <a:latin typeface="Arial" panose="020B0604020202020204" pitchFamily="34" charset="0"/>
              </a:rPr>
              <a:t>越来越引起关注</a:t>
            </a:r>
            <a:r>
              <a:rPr lang="en-US" altLang="zh-CN" sz="2400" b="1" dirty="0">
                <a:solidFill>
                  <a:schemeClr val="tx2"/>
                </a:solidFill>
                <a:latin typeface="Arial" panose="020B0604020202020204" pitchFamily="34" charset="0"/>
              </a:rPr>
              <a:t>.</a:t>
            </a:r>
            <a:r>
              <a:rPr lang="en-US" altLang="zh-CN" sz="2400" b="1" u="sng" dirty="0" err="1">
                <a:solidFill>
                  <a:srgbClr val="FF0000"/>
                </a:solidFill>
                <a:latin typeface="Arial" panose="020B0604020202020204" pitchFamily="34" charset="0"/>
              </a:rPr>
              <a:t>无线网络的安全</a:t>
            </a:r>
            <a:r>
              <a:rPr lang="zh-CN" altLang="en-US" sz="2400" b="1" u="sng" dirty="0">
                <a:solidFill>
                  <a:srgbClr val="FF0000"/>
                </a:solidFill>
                <a:latin typeface="Arial" panose="020B0604020202020204" pitchFamily="34" charset="0"/>
              </a:rPr>
              <a:t>主要有</a:t>
            </a:r>
            <a:r>
              <a:rPr lang="zh-CN" altLang="en-US" sz="2400" b="1" dirty="0">
                <a:solidFill>
                  <a:srgbClr val="0066FF"/>
                </a:solidFill>
                <a:latin typeface="Arial" panose="020B0604020202020204" pitchFamily="34" charset="0"/>
              </a:rPr>
              <a:t>访问控制</a:t>
            </a:r>
            <a:r>
              <a:rPr lang="zh-CN" altLang="en-US" sz="2400" b="1" dirty="0">
                <a:solidFill>
                  <a:schemeClr val="tx2"/>
                </a:solidFill>
                <a:latin typeface="Arial" panose="020B0604020202020204" pitchFamily="34" charset="0"/>
              </a:rPr>
              <a:t>和</a:t>
            </a:r>
            <a:r>
              <a:rPr lang="zh-CN" altLang="en-US" sz="2400" b="1" dirty="0">
                <a:solidFill>
                  <a:srgbClr val="0066FF"/>
                </a:solidFill>
                <a:latin typeface="Arial" panose="020B0604020202020204" pitchFamily="34" charset="0"/>
              </a:rPr>
              <a:t>数据加密</a:t>
            </a:r>
            <a:r>
              <a:rPr lang="en-US" altLang="zh-CN" sz="2400" b="1" dirty="0">
                <a:solidFill>
                  <a:schemeClr val="tx2"/>
                </a:solidFill>
                <a:latin typeface="Arial" panose="020B0604020202020204" pitchFamily="34" charset="0"/>
              </a:rPr>
              <a:t>,</a:t>
            </a:r>
            <a:r>
              <a:rPr lang="zh-CN" altLang="en-US" sz="2400" b="1" dirty="0">
                <a:solidFill>
                  <a:srgbClr val="990033"/>
                </a:solidFill>
                <a:latin typeface="Arial" panose="020B0604020202020204" pitchFamily="34" charset="0"/>
              </a:rPr>
              <a:t>访问控制</a:t>
            </a:r>
            <a:r>
              <a:rPr lang="zh-CN" altLang="en-US" sz="2400" b="1" dirty="0">
                <a:solidFill>
                  <a:schemeClr val="tx2"/>
                </a:solidFill>
                <a:latin typeface="Arial" panose="020B0604020202020204" pitchFamily="34" charset="0"/>
              </a:rPr>
              <a:t>保证机密数据只能由授权用户</a:t>
            </a:r>
            <a:r>
              <a:rPr lang="zh-CN" altLang="en-US" sz="2400" b="1" u="sng" dirty="0">
                <a:solidFill>
                  <a:schemeClr val="tx1"/>
                </a:solidFill>
                <a:latin typeface="Arial" panose="020B0604020202020204" pitchFamily="34" charset="0"/>
              </a:rPr>
              <a:t>访问</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而</a:t>
            </a:r>
            <a:r>
              <a:rPr lang="zh-CN" altLang="en-US" sz="2400" b="1" dirty="0">
                <a:solidFill>
                  <a:srgbClr val="990033"/>
                </a:solidFill>
                <a:latin typeface="Arial" panose="020B0604020202020204" pitchFamily="34" charset="0"/>
              </a:rPr>
              <a:t>数据加密</a:t>
            </a:r>
            <a:r>
              <a:rPr lang="zh-CN" altLang="en-US" sz="2400" b="1" dirty="0">
                <a:solidFill>
                  <a:schemeClr val="tx2"/>
                </a:solidFill>
                <a:latin typeface="Arial" panose="020B0604020202020204" pitchFamily="34" charset="0"/>
              </a:rPr>
              <a:t>则要求发送的数据只能被授权用户所</a:t>
            </a:r>
            <a:r>
              <a:rPr lang="zh-CN" altLang="en-US" sz="2400" b="1" u="sng" dirty="0">
                <a:solidFill>
                  <a:schemeClr val="tx1"/>
                </a:solidFill>
                <a:latin typeface="Arial" panose="020B0604020202020204" pitchFamily="34" charset="0"/>
              </a:rPr>
              <a:t>接受和使用</a:t>
            </a:r>
            <a:r>
              <a:rPr lang="zh-CN" altLang="en-US" sz="2400" b="1" dirty="0">
                <a:solidFill>
                  <a:schemeClr val="tx2"/>
                </a:solidFill>
                <a:latin typeface="Arial" panose="020B0604020202020204" pitchFamily="34" charset="0"/>
              </a:rPr>
              <a:t>。</a:t>
            </a:r>
          </a:p>
          <a:p>
            <a:pPr>
              <a:defRPr/>
            </a:pPr>
            <a:r>
              <a:rPr lang="zh-CN" altLang="en-US" sz="2400" b="1" dirty="0">
                <a:solidFill>
                  <a:schemeClr val="tx2"/>
                </a:solidFill>
                <a:latin typeface="Arial" panose="020B0604020202020204" pitchFamily="34" charset="0"/>
              </a:rPr>
              <a:t>       </a:t>
            </a:r>
            <a:r>
              <a:rPr lang="zh-CN" altLang="en-US" sz="2400" b="1" dirty="0">
                <a:solidFill>
                  <a:srgbClr val="990033"/>
                </a:solidFill>
                <a:latin typeface="Arial" panose="020B0604020202020204" pitchFamily="34" charset="0"/>
              </a:rPr>
              <a:t>无线网络</a:t>
            </a:r>
            <a:r>
              <a:rPr lang="zh-CN" altLang="en-US" sz="2400" b="1" dirty="0">
                <a:solidFill>
                  <a:schemeClr val="tx2"/>
                </a:solidFill>
                <a:latin typeface="Arial" panose="020B0604020202020204" pitchFamily="34" charset="0"/>
              </a:rPr>
              <a:t>在数据</a:t>
            </a:r>
            <a:r>
              <a:rPr lang="zh-CN" altLang="en-US" sz="2400" b="1" dirty="0">
                <a:solidFill>
                  <a:srgbClr val="0000FF"/>
                </a:solidFill>
                <a:latin typeface="Arial" panose="020B0604020202020204" pitchFamily="34" charset="0"/>
              </a:rPr>
              <a:t>传输时</a:t>
            </a:r>
            <a:r>
              <a:rPr lang="zh-CN" altLang="en-US" sz="2400" b="1" dirty="0">
                <a:solidFill>
                  <a:srgbClr val="990033"/>
                </a:solidFill>
                <a:latin typeface="Arial" panose="020B0604020202020204" pitchFamily="34" charset="0"/>
              </a:rPr>
              <a:t>以微波</a:t>
            </a:r>
            <a:r>
              <a:rPr lang="zh-CN" altLang="en-US" sz="2400" b="1" dirty="0">
                <a:solidFill>
                  <a:srgbClr val="0000FF"/>
                </a:solidFill>
                <a:latin typeface="Arial" panose="020B0604020202020204" pitchFamily="34" charset="0"/>
              </a:rPr>
              <a:t>进行辐射传播</a:t>
            </a:r>
            <a:r>
              <a:rPr lang="zh-CN" altLang="en-US" sz="2400" b="1" dirty="0">
                <a:solidFill>
                  <a:schemeClr val="tx2"/>
                </a:solidFill>
                <a:latin typeface="Arial" panose="020B0604020202020204" pitchFamily="34" charset="0"/>
              </a:rPr>
              <a:t>，只要在</a:t>
            </a:r>
            <a:r>
              <a:rPr lang="zh-CN" altLang="en-US" sz="2400" b="1" u="sng" dirty="0">
                <a:solidFill>
                  <a:srgbClr val="CC0000"/>
                </a:solidFill>
                <a:latin typeface="Arial" panose="020B0604020202020204" pitchFamily="34" charset="0"/>
              </a:rPr>
              <a:t>无线接入点</a:t>
            </a:r>
            <a:r>
              <a:rPr lang="en-US" altLang="zh-CN" sz="2400" b="1" u="sng" dirty="0">
                <a:solidFill>
                  <a:srgbClr val="CC0000"/>
                </a:solidFill>
                <a:latin typeface="Arial" panose="020B0604020202020204" pitchFamily="34" charset="0"/>
              </a:rPr>
              <a:t>AP</a:t>
            </a:r>
            <a:r>
              <a:rPr lang="zh-CN" altLang="en-US" sz="2400" b="1" dirty="0">
                <a:solidFill>
                  <a:schemeClr val="tx2"/>
                </a:solidFill>
                <a:latin typeface="Arial" panose="020B0604020202020204" pitchFamily="34" charset="0"/>
              </a:rPr>
              <a:t>（</a:t>
            </a:r>
            <a:r>
              <a:rPr lang="en-US" altLang="zh-CN" sz="2400" b="1" dirty="0">
                <a:solidFill>
                  <a:schemeClr val="tx2"/>
                </a:solidFill>
                <a:latin typeface="Arial" panose="020B0604020202020204" pitchFamily="34" charset="0"/>
              </a:rPr>
              <a:t>Access Point</a:t>
            </a:r>
            <a:r>
              <a:rPr lang="zh-CN" altLang="en-US" sz="2400" b="1" dirty="0">
                <a:solidFill>
                  <a:schemeClr val="tx2"/>
                </a:solidFill>
                <a:latin typeface="Arial" panose="020B0604020202020204" pitchFamily="34" charset="0"/>
              </a:rPr>
              <a:t>）覆盖范围内</a:t>
            </a:r>
            <a:r>
              <a:rPr lang="en-US" altLang="zh-CN" sz="2400" b="1" dirty="0">
                <a:solidFill>
                  <a:schemeClr val="tx2"/>
                </a:solidFill>
                <a:latin typeface="Arial" panose="020B0604020202020204" pitchFamily="34" charset="0"/>
              </a:rPr>
              <a:t>,</a:t>
            </a:r>
            <a:r>
              <a:rPr lang="zh-CN" altLang="en-US" sz="2400" b="1" dirty="0">
                <a:solidFill>
                  <a:schemeClr val="tx2"/>
                </a:solidFill>
                <a:latin typeface="Arial" panose="020B0604020202020204" pitchFamily="34" charset="0"/>
              </a:rPr>
              <a:t>所有</a:t>
            </a:r>
            <a:r>
              <a:rPr lang="zh-CN" altLang="en-US" sz="2400" b="1" dirty="0">
                <a:solidFill>
                  <a:srgbClr val="006600"/>
                </a:solidFill>
                <a:latin typeface="Arial" panose="020B0604020202020204" pitchFamily="34" charset="0"/>
              </a:rPr>
              <a:t>无线终端</a:t>
            </a:r>
            <a:r>
              <a:rPr lang="zh-CN" altLang="en-US" sz="2400" b="1" dirty="0">
                <a:solidFill>
                  <a:schemeClr val="tx2"/>
                </a:solidFill>
                <a:latin typeface="Arial" panose="020B0604020202020204" pitchFamily="34" charset="0"/>
              </a:rPr>
              <a:t>都可能</a:t>
            </a:r>
            <a:r>
              <a:rPr lang="zh-CN" altLang="en-US" sz="2400" b="1" dirty="0">
                <a:solidFill>
                  <a:srgbClr val="0000FF"/>
                </a:solidFill>
                <a:latin typeface="Arial" panose="020B0604020202020204" pitchFamily="34" charset="0"/>
              </a:rPr>
              <a:t>接收到</a:t>
            </a:r>
            <a:r>
              <a:rPr lang="zh-CN" altLang="en-US" sz="2400" b="1" dirty="0">
                <a:solidFill>
                  <a:schemeClr val="tx2"/>
                </a:solidFill>
                <a:latin typeface="Arial" panose="020B0604020202020204" pitchFamily="34" charset="0"/>
              </a:rPr>
              <a:t>无线信号。</a:t>
            </a:r>
            <a:r>
              <a:rPr lang="en-US" altLang="zh-CN" sz="2400" b="1" dirty="0">
                <a:solidFill>
                  <a:schemeClr val="tx2"/>
                </a:solidFill>
                <a:latin typeface="Arial" panose="020B0604020202020204" pitchFamily="34" charset="0"/>
              </a:rPr>
              <a:t>AP</a:t>
            </a:r>
            <a:r>
              <a:rPr lang="zh-CN" altLang="en-US" sz="2400" b="1" dirty="0">
                <a:solidFill>
                  <a:schemeClr val="tx2"/>
                </a:solidFill>
                <a:latin typeface="Arial" panose="020B0604020202020204" pitchFamily="34" charset="0"/>
              </a:rPr>
              <a:t>无法将无线信号</a:t>
            </a:r>
            <a:r>
              <a:rPr lang="zh-CN" altLang="en-US" sz="2400" b="1" dirty="0">
                <a:solidFill>
                  <a:srgbClr val="0000FF"/>
                </a:solidFill>
                <a:latin typeface="Arial" panose="020B0604020202020204" pitchFamily="34" charset="0"/>
              </a:rPr>
              <a:t>定向到</a:t>
            </a:r>
            <a:r>
              <a:rPr lang="zh-CN" altLang="en-US" sz="2400" b="1" dirty="0">
                <a:solidFill>
                  <a:schemeClr val="tx2"/>
                </a:solidFill>
                <a:latin typeface="Arial" panose="020B0604020202020204" pitchFamily="34" charset="0"/>
              </a:rPr>
              <a:t>一个特定的接受设备，时常有</a:t>
            </a:r>
            <a:r>
              <a:rPr lang="zh-CN" altLang="en-US" sz="2400" b="1" dirty="0">
                <a:solidFill>
                  <a:srgbClr val="006600"/>
                </a:solidFill>
                <a:latin typeface="Arial" panose="020B0604020202020204" pitchFamily="34" charset="0"/>
              </a:rPr>
              <a:t>无线网络用户</a:t>
            </a:r>
            <a:r>
              <a:rPr lang="zh-CN" altLang="en-US" sz="2400" b="1" dirty="0">
                <a:solidFill>
                  <a:schemeClr val="tx2"/>
                </a:solidFill>
                <a:latin typeface="Arial" panose="020B0604020202020204" pitchFamily="34" charset="0"/>
              </a:rPr>
              <a:t>被他人免费蹭网接入、盗号或泄密等，因此，无线网络的安全威胁、风险和隐患更加突出。</a:t>
            </a:r>
          </a:p>
          <a:p>
            <a:pPr>
              <a:defRPr/>
            </a:pPr>
            <a:r>
              <a:rPr lang="zh-CN" altLang="en-US" sz="2400" b="1" dirty="0">
                <a:solidFill>
                  <a:schemeClr val="tx2"/>
                </a:solidFill>
                <a:latin typeface="Arial" panose="020B0604020202020204" pitchFamily="34" charset="0"/>
              </a:rPr>
              <a:t>     </a:t>
            </a:r>
            <a:r>
              <a:rPr lang="zh-CN" altLang="en-US" sz="2400" b="1" dirty="0">
                <a:solidFill>
                  <a:srgbClr val="CC0000"/>
                </a:solidFill>
                <a:latin typeface="Arial" panose="020B0604020202020204" pitchFamily="34" charset="0"/>
              </a:rPr>
              <a:t>无线网络安全风险及隐患</a:t>
            </a:r>
            <a:r>
              <a:rPr lang="zh-CN" altLang="en-US" sz="2400" b="1" dirty="0">
                <a:solidFill>
                  <a:schemeClr val="tx2"/>
                </a:solidFill>
                <a:latin typeface="Arial" panose="020B0604020202020204" pitchFamily="34" charset="0"/>
              </a:rPr>
              <a:t>，如图</a:t>
            </a:r>
            <a:r>
              <a:rPr lang="en-US" altLang="zh-CN" sz="2400" b="1" dirty="0">
                <a:solidFill>
                  <a:schemeClr val="tx2"/>
                </a:solidFill>
                <a:latin typeface="Arial" panose="020B0604020202020204" pitchFamily="34" charset="0"/>
              </a:rPr>
              <a:t>2-5</a:t>
            </a:r>
            <a:r>
              <a:rPr lang="zh-CN" altLang="en-US" sz="2400" b="1" dirty="0">
                <a:solidFill>
                  <a:schemeClr val="tx2"/>
                </a:solidFill>
                <a:latin typeface="Arial" panose="020B0604020202020204" pitchFamily="34" charset="0"/>
              </a:rPr>
              <a:t>所示。</a:t>
            </a:r>
            <a:endParaRPr lang="en-US" altLang="zh-CN" sz="2400" b="1" dirty="0">
              <a:solidFill>
                <a:schemeClr val="tx2"/>
              </a:solidFill>
              <a:latin typeface="Arial" panose="020B0604020202020204" pitchFamily="34" charset="0"/>
            </a:endParaRPr>
          </a:p>
        </p:txBody>
      </p:sp>
      <p:graphicFrame>
        <p:nvGraphicFramePr>
          <p:cNvPr id="50179" name="对象 1"/>
          <p:cNvGraphicFramePr>
            <a:graphicFrameLocks noChangeAspect="1"/>
          </p:cNvGraphicFramePr>
          <p:nvPr/>
        </p:nvGraphicFramePr>
        <p:xfrm>
          <a:off x="2454275" y="5561013"/>
          <a:ext cx="3705225" cy="935037"/>
        </p:xfrm>
        <a:graphic>
          <a:graphicData uri="http://schemas.openxmlformats.org/presentationml/2006/ole">
            <mc:AlternateContent xmlns:mc="http://schemas.openxmlformats.org/markup-compatibility/2006">
              <mc:Choice xmlns:v="urn:schemas-microsoft-com:vml" Requires="v">
                <p:oleObj spid="_x0000_s2125" r:id="rId3" imgW="5133340" imgH="1598295" progId="">
                  <p:embed/>
                </p:oleObj>
              </mc:Choice>
              <mc:Fallback>
                <p:oleObj r:id="rId3" imgW="5133340" imgH="1598295" progId="">
                  <p:embed/>
                  <p:pic>
                    <p:nvPicPr>
                      <p:cNvPr id="0" name="对象 1"/>
                      <p:cNvPicPr>
                        <a:picLocks noChangeAspect="1"/>
                      </p:cNvPicPr>
                      <p:nvPr/>
                    </p:nvPicPr>
                    <p:blipFill>
                      <a:blip r:embed="rId4"/>
                      <a:stretch>
                        <a:fillRect/>
                      </a:stretch>
                    </p:blipFill>
                    <p:spPr>
                      <a:xfrm>
                        <a:off x="2454275" y="5561013"/>
                        <a:ext cx="3705225" cy="935037"/>
                      </a:xfrm>
                      <a:prstGeom prst="rect">
                        <a:avLst/>
                      </a:prstGeom>
                      <a:noFill/>
                      <a:ln w="38100">
                        <a:noFill/>
                      </a:ln>
                    </p:spPr>
                  </p:pic>
                </p:oleObj>
              </mc:Fallback>
            </mc:AlternateContent>
          </a:graphicData>
        </a:graphic>
      </p:graphicFrame>
      <p:sp>
        <p:nvSpPr>
          <p:cNvPr id="2" name="椭圆 1"/>
          <p:cNvSpPr/>
          <p:nvPr/>
        </p:nvSpPr>
        <p:spPr bwMode="gray">
          <a:xfrm>
            <a:off x="3707904" y="5373217"/>
            <a:ext cx="1224136" cy="1224136"/>
          </a:xfrm>
          <a:prstGeom prst="ellipse">
            <a:avLst/>
          </a:prstGeom>
          <a:noFill/>
          <a:ln w="19050" algn="ctr">
            <a:solidFill>
              <a:srgbClr val="FF0000"/>
            </a:solidFill>
            <a:prstDash val="dashDot"/>
            <a:round/>
          </a:ln>
        </p:spPr>
        <p:txBody>
          <a:bodyPr wrap="none" rtlCol="0" anchor="ctr"/>
          <a:lstStyle/>
          <a:p>
            <a:pPr algn="dist">
              <a:spcBef>
                <a:spcPct val="20000"/>
              </a:spcBef>
              <a:buFont typeface="Wingdings" panose="05000000000000000000" pitchFamily="2" charset="2"/>
              <a:buNone/>
            </a:pPr>
            <a:endParaRPr lang="zh-CN" altLang="en-US" sz="2400">
              <a:solidFill>
                <a:schemeClr val="tx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2.3 </a:t>
            </a:r>
            <a:r>
              <a:rPr lang="zh-CN" altLang="en-US" sz="3200" b="1">
                <a:solidFill>
                  <a:schemeClr val="bg1"/>
                </a:solidFill>
              </a:rPr>
              <a:t>无线网络安全技术基础</a:t>
            </a:r>
          </a:p>
        </p:txBody>
      </p:sp>
      <p:sp>
        <p:nvSpPr>
          <p:cNvPr id="51202" name="内容占位符 13"/>
          <p:cNvSpPr>
            <a:spLocks noGrp="1" noChangeArrowheads="1"/>
          </p:cNvSpPr>
          <p:nvPr>
            <p:ph idx="4294967295"/>
          </p:nvPr>
        </p:nvSpPr>
        <p:spPr>
          <a:xfrm>
            <a:off x="419100" y="1185863"/>
            <a:ext cx="4945063" cy="371475"/>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51203" name="内容占位符 13"/>
          <p:cNvSpPr>
            <a:spLocks noChangeArrowheads="1"/>
          </p:cNvSpPr>
          <p:nvPr/>
        </p:nvSpPr>
        <p:spPr bwMode="auto">
          <a:xfrm>
            <a:off x="688975" y="1030288"/>
            <a:ext cx="5180013" cy="576262"/>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2.3.2 </a:t>
            </a:r>
            <a:r>
              <a:rPr lang="zh-CN" altLang="en-US" sz="2800" b="1">
                <a:solidFill>
                  <a:srgbClr val="FF0000"/>
                </a:solidFill>
                <a:latin typeface="宋体" panose="02010600030101010101" pitchFamily="2" charset="-122"/>
              </a:rPr>
              <a:t>无线网络</a:t>
            </a:r>
            <a:r>
              <a:rPr lang="en-US" altLang="zh-CN" sz="2800" b="1">
                <a:solidFill>
                  <a:srgbClr val="FF0000"/>
                </a:solidFill>
                <a:latin typeface="宋体" panose="02010600030101010101" pitchFamily="2" charset="-122"/>
              </a:rPr>
              <a:t>AP</a:t>
            </a:r>
            <a:r>
              <a:rPr lang="zh-CN" altLang="en-US" sz="2800" b="1">
                <a:solidFill>
                  <a:srgbClr val="FF0000"/>
                </a:solidFill>
                <a:latin typeface="宋体" panose="02010600030101010101" pitchFamily="2" charset="-122"/>
              </a:rPr>
              <a:t>及路由安全</a:t>
            </a:r>
            <a:r>
              <a:rPr lang="zh-CN" altLang="en-US" sz="2400">
                <a:solidFill>
                  <a:schemeClr val="tx2"/>
                </a:solidFill>
                <a:latin typeface="宋体" panose="02010600030101010101" pitchFamily="2" charset="-122"/>
              </a:rPr>
              <a:t> </a:t>
            </a:r>
            <a:endParaRPr lang="en-US" altLang="zh-CN" b="1">
              <a:solidFill>
                <a:schemeClr val="tx2"/>
              </a:solidFill>
              <a:latin typeface="宋体" panose="02010600030101010101" pitchFamily="2" charset="-122"/>
            </a:endParaRPr>
          </a:p>
        </p:txBody>
      </p:sp>
      <p:sp>
        <p:nvSpPr>
          <p:cNvPr id="51204" name="文本框 1"/>
          <p:cNvSpPr txBox="1">
            <a:spLocks noChangeArrowheads="1"/>
          </p:cNvSpPr>
          <p:nvPr/>
        </p:nvSpPr>
        <p:spPr bwMode="auto">
          <a:xfrm>
            <a:off x="468313" y="1628775"/>
            <a:ext cx="8305800" cy="1953260"/>
          </a:xfrm>
          <a:prstGeom prst="rect">
            <a:avLst/>
          </a:prstGeom>
          <a:noFill/>
          <a:ln w="9525">
            <a:noFill/>
            <a:miter lim="800000"/>
          </a:ln>
        </p:spPr>
        <p:txBody>
          <a:bodyPr>
            <a:spAutoFit/>
          </a:bodyPr>
          <a:lstStyle/>
          <a:p>
            <a:pPr indent="457200"/>
            <a:r>
              <a:rPr lang="en-US" altLang="zh-CN" sz="2100" b="1" dirty="0">
                <a:solidFill>
                  <a:srgbClr val="FF0000"/>
                </a:solidFill>
              </a:rPr>
              <a:t>1.</a:t>
            </a:r>
            <a:r>
              <a:rPr lang="zh-CN" altLang="en-US" sz="2100" b="1" dirty="0">
                <a:solidFill>
                  <a:srgbClr val="FF0000"/>
                </a:solidFill>
              </a:rPr>
              <a:t>无线接入点安全</a:t>
            </a:r>
          </a:p>
          <a:p>
            <a:pPr indent="457200"/>
            <a:r>
              <a:rPr lang="zh-CN" altLang="en-US" sz="2000" b="1" dirty="0">
                <a:solidFill>
                  <a:srgbClr val="FF0000"/>
                </a:solidFill>
              </a:rPr>
              <a:t>无线接入点AP</a:t>
            </a:r>
            <a:r>
              <a:rPr lang="zh-CN" altLang="en-US" sz="2000" b="1" dirty="0">
                <a:solidFill>
                  <a:schemeClr val="tx2"/>
                </a:solidFill>
              </a:rPr>
              <a:t>用于</a:t>
            </a:r>
            <a:r>
              <a:rPr lang="zh-CN" altLang="en-US" sz="2000" b="1" dirty="0" smtClean="0">
                <a:solidFill>
                  <a:schemeClr val="tx2"/>
                </a:solidFill>
              </a:rPr>
              <a:t>实现客户端</a:t>
            </a:r>
            <a:r>
              <a:rPr lang="zh-CN" altLang="en-US" sz="2000" b="1" dirty="0">
                <a:solidFill>
                  <a:schemeClr val="tx2"/>
                </a:solidFill>
              </a:rPr>
              <a:t>之间信号互联和中继</a:t>
            </a:r>
            <a:r>
              <a:rPr lang="en-US" altLang="zh-CN" sz="2000" b="1" dirty="0">
                <a:solidFill>
                  <a:schemeClr val="tx2"/>
                </a:solidFill>
              </a:rPr>
              <a:t>,</a:t>
            </a:r>
            <a:r>
              <a:rPr lang="zh-CN" altLang="en-US" sz="2000" b="1" dirty="0">
                <a:solidFill>
                  <a:srgbClr val="FF0000"/>
                </a:solidFill>
              </a:rPr>
              <a:t>安全措施</a:t>
            </a:r>
            <a:r>
              <a:rPr lang="en-US" altLang="zh-CN" sz="2000" b="1" dirty="0">
                <a:solidFill>
                  <a:schemeClr val="tx2"/>
                </a:solidFill>
              </a:rPr>
              <a:t>:</a:t>
            </a:r>
            <a:endParaRPr lang="zh-CN" altLang="en-US" sz="2000" b="1" dirty="0">
              <a:solidFill>
                <a:schemeClr val="tx2"/>
              </a:solidFill>
            </a:endParaRPr>
          </a:p>
          <a:p>
            <a:pPr indent="457200"/>
            <a:r>
              <a:rPr lang="zh-CN" altLang="en-US" sz="2000" b="1" dirty="0">
                <a:solidFill>
                  <a:schemeClr val="tx2"/>
                </a:solidFill>
              </a:rPr>
              <a:t>1) </a:t>
            </a:r>
            <a:r>
              <a:rPr lang="zh-CN" altLang="en-US" sz="2000" b="1" dirty="0">
                <a:solidFill>
                  <a:srgbClr val="C00000"/>
                </a:solidFill>
              </a:rPr>
              <a:t>修改admin密码</a:t>
            </a:r>
            <a:r>
              <a:rPr lang="zh-CN" altLang="en-US" sz="2000" b="1" dirty="0">
                <a:solidFill>
                  <a:schemeClr val="tx2"/>
                </a:solidFill>
              </a:rPr>
              <a:t>。无线AP与其他网络设备一样，也提供了初始的管理员用户名和密码，其</a:t>
            </a:r>
            <a:r>
              <a:rPr lang="zh-CN" altLang="en-US" sz="2000" b="1" dirty="0">
                <a:solidFill>
                  <a:srgbClr val="C00000"/>
                </a:solidFill>
              </a:rPr>
              <a:t>默认用户名admin或空</a:t>
            </a:r>
            <a:r>
              <a:rPr lang="zh-CN" altLang="en-US" sz="2000" b="1" dirty="0">
                <a:solidFill>
                  <a:schemeClr val="tx2"/>
                </a:solidFill>
              </a:rPr>
              <a:t>。如果不修改将给不法之徒以可乘之机。</a:t>
            </a:r>
          </a:p>
          <a:p>
            <a:pPr indent="457200"/>
            <a:endParaRPr lang="zh-CN" altLang="en-US" sz="2000" b="1" dirty="0">
              <a:solidFill>
                <a:schemeClr val="tx2"/>
              </a:solidFill>
            </a:endParaRPr>
          </a:p>
        </p:txBody>
      </p:sp>
      <p:sp>
        <p:nvSpPr>
          <p:cNvPr id="7" name="圆角矩形 6"/>
          <p:cNvSpPr/>
          <p:nvPr/>
        </p:nvSpPr>
        <p:spPr bwMode="gray">
          <a:xfrm>
            <a:off x="325755" y="1557655"/>
            <a:ext cx="8569325" cy="5042535"/>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2" name="图片 1"/>
          <p:cNvPicPr>
            <a:picLocks noChangeAspect="1"/>
          </p:cNvPicPr>
          <p:nvPr>
            <p:custDataLst>
              <p:tags r:id="rId1"/>
            </p:custDataLst>
          </p:nvPr>
        </p:nvPicPr>
        <p:blipFill>
          <a:blip r:embed="rId3"/>
          <a:stretch>
            <a:fillRect/>
          </a:stretch>
        </p:blipFill>
        <p:spPr>
          <a:xfrm>
            <a:off x="899795" y="3213100"/>
            <a:ext cx="7471410" cy="32067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2.3 </a:t>
            </a:r>
            <a:r>
              <a:rPr lang="zh-CN" altLang="en-US" sz="3200" b="1">
                <a:solidFill>
                  <a:schemeClr val="bg1"/>
                </a:solidFill>
              </a:rPr>
              <a:t>无线网络安全技术基础</a:t>
            </a:r>
          </a:p>
        </p:txBody>
      </p:sp>
      <p:sp>
        <p:nvSpPr>
          <p:cNvPr id="51202" name="内容占位符 13"/>
          <p:cNvSpPr>
            <a:spLocks noGrp="1" noChangeArrowheads="1"/>
          </p:cNvSpPr>
          <p:nvPr>
            <p:ph idx="4294967295"/>
          </p:nvPr>
        </p:nvSpPr>
        <p:spPr>
          <a:xfrm>
            <a:off x="419100" y="1185863"/>
            <a:ext cx="4945063" cy="371475"/>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51203" name="内容占位符 13"/>
          <p:cNvSpPr>
            <a:spLocks noChangeArrowheads="1"/>
          </p:cNvSpPr>
          <p:nvPr/>
        </p:nvSpPr>
        <p:spPr bwMode="auto">
          <a:xfrm>
            <a:off x="688975" y="1030288"/>
            <a:ext cx="5180013" cy="576262"/>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2.3.2 </a:t>
            </a:r>
            <a:r>
              <a:rPr lang="zh-CN" altLang="en-US" sz="2800" b="1">
                <a:solidFill>
                  <a:srgbClr val="FF0000"/>
                </a:solidFill>
                <a:latin typeface="宋体" panose="02010600030101010101" pitchFamily="2" charset="-122"/>
              </a:rPr>
              <a:t>无线网络</a:t>
            </a:r>
            <a:r>
              <a:rPr lang="en-US" altLang="zh-CN" sz="2800" b="1">
                <a:solidFill>
                  <a:srgbClr val="FF0000"/>
                </a:solidFill>
                <a:latin typeface="宋体" panose="02010600030101010101" pitchFamily="2" charset="-122"/>
              </a:rPr>
              <a:t>AP</a:t>
            </a:r>
            <a:r>
              <a:rPr lang="zh-CN" altLang="en-US" sz="2800" b="1">
                <a:solidFill>
                  <a:srgbClr val="FF0000"/>
                </a:solidFill>
                <a:latin typeface="宋体" panose="02010600030101010101" pitchFamily="2" charset="-122"/>
              </a:rPr>
              <a:t>及路由安全</a:t>
            </a:r>
            <a:r>
              <a:rPr lang="zh-CN" altLang="en-US" sz="2400">
                <a:solidFill>
                  <a:schemeClr val="tx2"/>
                </a:solidFill>
                <a:latin typeface="宋体" panose="02010600030101010101" pitchFamily="2" charset="-122"/>
              </a:rPr>
              <a:t> </a:t>
            </a:r>
            <a:endParaRPr lang="en-US" altLang="zh-CN" b="1">
              <a:solidFill>
                <a:schemeClr val="tx2"/>
              </a:solidFill>
              <a:latin typeface="宋体" panose="02010600030101010101" pitchFamily="2" charset="-122"/>
            </a:endParaRPr>
          </a:p>
        </p:txBody>
      </p:sp>
      <p:sp>
        <p:nvSpPr>
          <p:cNvPr id="51204" name="文本框 1"/>
          <p:cNvSpPr txBox="1">
            <a:spLocks noChangeArrowheads="1"/>
          </p:cNvSpPr>
          <p:nvPr/>
        </p:nvSpPr>
        <p:spPr bwMode="auto">
          <a:xfrm>
            <a:off x="468313" y="1628775"/>
            <a:ext cx="8305800" cy="1953260"/>
          </a:xfrm>
          <a:prstGeom prst="rect">
            <a:avLst/>
          </a:prstGeom>
          <a:noFill/>
          <a:ln w="9525">
            <a:noFill/>
            <a:miter lim="800000"/>
          </a:ln>
        </p:spPr>
        <p:txBody>
          <a:bodyPr>
            <a:spAutoFit/>
          </a:bodyPr>
          <a:lstStyle/>
          <a:p>
            <a:pPr indent="457200"/>
            <a:r>
              <a:rPr lang="en-US" altLang="zh-CN" sz="2100" b="1" dirty="0">
                <a:solidFill>
                  <a:srgbClr val="FF0000"/>
                </a:solidFill>
              </a:rPr>
              <a:t>1.</a:t>
            </a:r>
            <a:r>
              <a:rPr lang="zh-CN" altLang="en-US" sz="2100" b="1" dirty="0">
                <a:solidFill>
                  <a:srgbClr val="FF0000"/>
                </a:solidFill>
              </a:rPr>
              <a:t>无线接入点安全</a:t>
            </a:r>
          </a:p>
          <a:p>
            <a:pPr indent="457200"/>
            <a:r>
              <a:rPr lang="zh-CN" altLang="en-US" sz="2000" b="1" dirty="0">
                <a:solidFill>
                  <a:srgbClr val="FF0000"/>
                </a:solidFill>
              </a:rPr>
              <a:t>无线接入点AP</a:t>
            </a:r>
            <a:r>
              <a:rPr lang="zh-CN" altLang="en-US" sz="2000" b="1" dirty="0">
                <a:solidFill>
                  <a:schemeClr val="tx2"/>
                </a:solidFill>
              </a:rPr>
              <a:t>用于</a:t>
            </a:r>
            <a:r>
              <a:rPr lang="zh-CN" altLang="en-US" sz="2000" b="1" dirty="0" smtClean="0">
                <a:solidFill>
                  <a:schemeClr val="tx2"/>
                </a:solidFill>
              </a:rPr>
              <a:t>实现客户端</a:t>
            </a:r>
            <a:r>
              <a:rPr lang="zh-CN" altLang="en-US" sz="2000" b="1" dirty="0">
                <a:solidFill>
                  <a:schemeClr val="tx2"/>
                </a:solidFill>
              </a:rPr>
              <a:t>之间信号互联和中继</a:t>
            </a:r>
            <a:r>
              <a:rPr lang="en-US" altLang="zh-CN" sz="2000" b="1" dirty="0">
                <a:solidFill>
                  <a:schemeClr val="tx2"/>
                </a:solidFill>
              </a:rPr>
              <a:t>,</a:t>
            </a:r>
            <a:r>
              <a:rPr lang="zh-CN" altLang="en-US" sz="2000" b="1" dirty="0">
                <a:solidFill>
                  <a:srgbClr val="FF0000"/>
                </a:solidFill>
              </a:rPr>
              <a:t>安全措施</a:t>
            </a:r>
            <a:r>
              <a:rPr lang="en-US" altLang="zh-CN" sz="2000" b="1" dirty="0">
                <a:solidFill>
                  <a:schemeClr val="tx2"/>
                </a:solidFill>
              </a:rPr>
              <a:t>:</a:t>
            </a:r>
            <a:endParaRPr lang="zh-CN" altLang="en-US" sz="2000" b="1" dirty="0">
              <a:solidFill>
                <a:schemeClr val="tx2"/>
              </a:solidFill>
            </a:endParaRPr>
          </a:p>
          <a:p>
            <a:pPr indent="457200"/>
            <a:r>
              <a:rPr lang="zh-CN" altLang="en-US" sz="2000" b="1" dirty="0">
                <a:solidFill>
                  <a:schemeClr val="tx2"/>
                </a:solidFill>
              </a:rPr>
              <a:t>1) </a:t>
            </a:r>
            <a:r>
              <a:rPr lang="zh-CN" altLang="en-US" sz="2000" b="1" dirty="0">
                <a:solidFill>
                  <a:srgbClr val="C00000"/>
                </a:solidFill>
              </a:rPr>
              <a:t>修改admin密码</a:t>
            </a:r>
            <a:r>
              <a:rPr lang="zh-CN" altLang="en-US" sz="2000" b="1" dirty="0">
                <a:solidFill>
                  <a:schemeClr val="tx2"/>
                </a:solidFill>
              </a:rPr>
              <a:t>。无线AP与其他网络设备一样，也提供了初始的管理员用户名和密码，其</a:t>
            </a:r>
            <a:r>
              <a:rPr lang="zh-CN" altLang="en-US" sz="2000" b="1" dirty="0">
                <a:solidFill>
                  <a:srgbClr val="C00000"/>
                </a:solidFill>
              </a:rPr>
              <a:t>默认用户名admin或空</a:t>
            </a:r>
            <a:r>
              <a:rPr lang="zh-CN" altLang="en-US" sz="2000" b="1" dirty="0">
                <a:solidFill>
                  <a:schemeClr val="tx2"/>
                </a:solidFill>
              </a:rPr>
              <a:t>。如果不修改将给不法之徒以可乘之机。</a:t>
            </a:r>
          </a:p>
          <a:p>
            <a:pPr indent="457200"/>
            <a:endParaRPr lang="zh-CN" altLang="en-US" sz="2000" b="1" dirty="0">
              <a:solidFill>
                <a:schemeClr val="tx2"/>
              </a:solidFill>
            </a:endParaRPr>
          </a:p>
        </p:txBody>
      </p:sp>
      <p:sp>
        <p:nvSpPr>
          <p:cNvPr id="7" name="圆角矩形 6"/>
          <p:cNvSpPr/>
          <p:nvPr/>
        </p:nvSpPr>
        <p:spPr bwMode="gray">
          <a:xfrm>
            <a:off x="325755" y="1557655"/>
            <a:ext cx="8569325" cy="5042535"/>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3" name="图片 2"/>
          <p:cNvPicPr>
            <a:picLocks noChangeAspect="1"/>
          </p:cNvPicPr>
          <p:nvPr/>
        </p:nvPicPr>
        <p:blipFill>
          <a:blip r:embed="rId2"/>
          <a:stretch>
            <a:fillRect/>
          </a:stretch>
        </p:blipFill>
        <p:spPr>
          <a:xfrm>
            <a:off x="1043940" y="3068955"/>
            <a:ext cx="6419215" cy="34264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2.3 </a:t>
            </a:r>
            <a:r>
              <a:rPr lang="zh-CN" altLang="en-US" sz="3200" b="1">
                <a:solidFill>
                  <a:schemeClr val="bg1"/>
                </a:solidFill>
              </a:rPr>
              <a:t>无线网络安全技术基础</a:t>
            </a:r>
          </a:p>
        </p:txBody>
      </p:sp>
      <p:sp>
        <p:nvSpPr>
          <p:cNvPr id="51202" name="内容占位符 13"/>
          <p:cNvSpPr>
            <a:spLocks noGrp="1" noChangeArrowheads="1"/>
          </p:cNvSpPr>
          <p:nvPr>
            <p:ph idx="4294967295"/>
          </p:nvPr>
        </p:nvSpPr>
        <p:spPr>
          <a:xfrm>
            <a:off x="419100" y="1185863"/>
            <a:ext cx="4945063" cy="371475"/>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51203" name="内容占位符 13"/>
          <p:cNvSpPr>
            <a:spLocks noChangeArrowheads="1"/>
          </p:cNvSpPr>
          <p:nvPr/>
        </p:nvSpPr>
        <p:spPr bwMode="auto">
          <a:xfrm>
            <a:off x="688975" y="1030288"/>
            <a:ext cx="5180013" cy="576262"/>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2.3.2 </a:t>
            </a:r>
            <a:r>
              <a:rPr lang="zh-CN" altLang="en-US" sz="2800" b="1">
                <a:solidFill>
                  <a:srgbClr val="FF0000"/>
                </a:solidFill>
                <a:latin typeface="宋体" panose="02010600030101010101" pitchFamily="2" charset="-122"/>
              </a:rPr>
              <a:t>无线网络</a:t>
            </a:r>
            <a:r>
              <a:rPr lang="en-US" altLang="zh-CN" sz="2800" b="1">
                <a:solidFill>
                  <a:srgbClr val="FF0000"/>
                </a:solidFill>
                <a:latin typeface="宋体" panose="02010600030101010101" pitchFamily="2" charset="-122"/>
              </a:rPr>
              <a:t>AP</a:t>
            </a:r>
            <a:r>
              <a:rPr lang="zh-CN" altLang="en-US" sz="2800" b="1">
                <a:solidFill>
                  <a:srgbClr val="FF0000"/>
                </a:solidFill>
                <a:latin typeface="宋体" panose="02010600030101010101" pitchFamily="2" charset="-122"/>
              </a:rPr>
              <a:t>及路由安全</a:t>
            </a:r>
            <a:r>
              <a:rPr lang="zh-CN" altLang="en-US" sz="2400">
                <a:solidFill>
                  <a:schemeClr val="tx2"/>
                </a:solidFill>
                <a:latin typeface="宋体" panose="02010600030101010101" pitchFamily="2" charset="-122"/>
              </a:rPr>
              <a:t> </a:t>
            </a:r>
            <a:endParaRPr lang="en-US" altLang="zh-CN" b="1">
              <a:solidFill>
                <a:schemeClr val="tx2"/>
              </a:solidFill>
              <a:latin typeface="宋体" panose="02010600030101010101" pitchFamily="2" charset="-122"/>
            </a:endParaRPr>
          </a:p>
        </p:txBody>
      </p:sp>
      <p:sp>
        <p:nvSpPr>
          <p:cNvPr id="51204" name="文本框 1"/>
          <p:cNvSpPr txBox="1">
            <a:spLocks noChangeArrowheads="1"/>
          </p:cNvSpPr>
          <p:nvPr/>
        </p:nvSpPr>
        <p:spPr bwMode="auto">
          <a:xfrm>
            <a:off x="468313" y="1628775"/>
            <a:ext cx="8305800" cy="3184525"/>
          </a:xfrm>
          <a:prstGeom prst="rect">
            <a:avLst/>
          </a:prstGeom>
          <a:noFill/>
          <a:ln w="9525">
            <a:noFill/>
            <a:miter lim="800000"/>
          </a:ln>
        </p:spPr>
        <p:txBody>
          <a:bodyPr>
            <a:spAutoFit/>
          </a:bodyPr>
          <a:lstStyle/>
          <a:p>
            <a:pPr indent="457200"/>
            <a:r>
              <a:rPr lang="en-US" altLang="zh-CN" sz="2100" b="1" dirty="0">
                <a:solidFill>
                  <a:srgbClr val="FF0000"/>
                </a:solidFill>
              </a:rPr>
              <a:t>1.</a:t>
            </a:r>
            <a:r>
              <a:rPr lang="zh-CN" altLang="en-US" sz="2100" b="1" dirty="0">
                <a:solidFill>
                  <a:srgbClr val="FF0000"/>
                </a:solidFill>
              </a:rPr>
              <a:t>无线接入点安全</a:t>
            </a:r>
          </a:p>
          <a:p>
            <a:pPr indent="457200"/>
            <a:r>
              <a:rPr lang="zh-CN" altLang="en-US" sz="2000" b="1" dirty="0">
                <a:solidFill>
                  <a:schemeClr val="tx2"/>
                </a:solidFill>
              </a:rPr>
              <a:t>2) </a:t>
            </a:r>
            <a:r>
              <a:rPr lang="zh-CN" altLang="en-US" sz="2000" b="1" dirty="0">
                <a:solidFill>
                  <a:srgbClr val="C00000"/>
                </a:solidFill>
              </a:rPr>
              <a:t>WEP加密传输</a:t>
            </a:r>
            <a:r>
              <a:rPr lang="zh-CN" altLang="en-US" sz="2000" b="1" dirty="0">
                <a:solidFill>
                  <a:schemeClr val="tx2"/>
                </a:solidFill>
              </a:rPr>
              <a:t>。</a:t>
            </a:r>
            <a:r>
              <a:rPr lang="zh-CN" altLang="en-US" sz="2000" b="1" dirty="0">
                <a:solidFill>
                  <a:srgbClr val="FF0000"/>
                </a:solidFill>
              </a:rPr>
              <a:t>数据加密是实现网络安全一项重要技术</a:t>
            </a:r>
            <a:r>
              <a:rPr lang="zh-CN" altLang="en-US" sz="2000" b="1" dirty="0">
                <a:solidFill>
                  <a:schemeClr val="tx2"/>
                </a:solidFill>
              </a:rPr>
              <a:t>，可通过协议WEP进行。WEP是IEEE 802.11b协议中最基本的无线安全加密措施，是所有经过</a:t>
            </a:r>
            <a:r>
              <a:rPr lang="zh-CN" altLang="en-US" sz="2000" b="1" u="sng" dirty="0">
                <a:solidFill>
                  <a:srgbClr val="FF0000"/>
                </a:solidFill>
              </a:rPr>
              <a:t>WiFiTM</a:t>
            </a:r>
            <a:r>
              <a:rPr lang="zh-CN" altLang="en-US" sz="2000" b="1" dirty="0">
                <a:solidFill>
                  <a:schemeClr val="tx2"/>
                </a:solidFill>
              </a:rPr>
              <a:t>认证的无线局域网产品所支持的一项标准功能，</a:t>
            </a:r>
            <a:r>
              <a:rPr lang="zh-CN" altLang="en-US" sz="2000" b="1" dirty="0">
                <a:solidFill>
                  <a:srgbClr val="FF0000"/>
                </a:solidFill>
              </a:rPr>
              <a:t>主要用途</a:t>
            </a:r>
            <a:r>
              <a:rPr lang="zh-CN" altLang="en-US" sz="2000" b="1" dirty="0">
                <a:solidFill>
                  <a:schemeClr val="tx2"/>
                </a:solidFill>
              </a:rPr>
              <a:t>为：防止数据被黑客途中恶意篡改或伪造；用WEP加密算法对数据进行加密，防止数据被黑客窃听；利用接入控制，防止未授权用户对其网络进行访问。</a:t>
            </a:r>
          </a:p>
          <a:p>
            <a:pPr indent="457200"/>
            <a:r>
              <a:rPr lang="zh-CN" altLang="en-US" sz="2000" b="1" dirty="0">
                <a:solidFill>
                  <a:schemeClr val="tx2"/>
                </a:solidFill>
              </a:rPr>
              <a:t> 3) </a:t>
            </a:r>
            <a:r>
              <a:rPr lang="zh-CN" altLang="en-US" sz="2000" b="1" dirty="0">
                <a:solidFill>
                  <a:srgbClr val="C00000"/>
                </a:solidFill>
              </a:rPr>
              <a:t>禁用DHCP服务</a:t>
            </a:r>
            <a:r>
              <a:rPr lang="zh-CN" altLang="en-US" sz="2000" b="1" dirty="0">
                <a:solidFill>
                  <a:schemeClr val="tx2"/>
                </a:solidFill>
              </a:rPr>
              <a:t>。启用无线AP的DHCP时，黑客可自动获取IP地址接入无线网络。若禁用此功能，则黑客将只能以猜测破译IP地址、子网掩码、默认网关等，以增加其安全性。</a:t>
            </a:r>
          </a:p>
        </p:txBody>
      </p:sp>
      <p:sp>
        <p:nvSpPr>
          <p:cNvPr id="7" name="圆角矩形 6"/>
          <p:cNvSpPr/>
          <p:nvPr/>
        </p:nvSpPr>
        <p:spPr bwMode="gray">
          <a:xfrm>
            <a:off x="325438" y="1557338"/>
            <a:ext cx="8569325" cy="45672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sp>
        <p:nvSpPr>
          <p:cNvPr id="51206" name="矩形 7"/>
          <p:cNvSpPr>
            <a:spLocks noChangeArrowheads="1"/>
          </p:cNvSpPr>
          <p:nvPr/>
        </p:nvSpPr>
        <p:spPr bwMode="auto">
          <a:xfrm>
            <a:off x="5940425" y="2780348"/>
            <a:ext cx="1031875" cy="260350"/>
          </a:xfrm>
          <a:prstGeom prst="rect">
            <a:avLst/>
          </a:prstGeom>
          <a:noFill/>
          <a:ln w="9525">
            <a:noFill/>
            <a:miter lim="800000"/>
          </a:ln>
        </p:spPr>
        <p:txBody>
          <a:bodyPr wrap="none">
            <a:spAutoFit/>
          </a:bodyPr>
          <a:lstStyle/>
          <a:p>
            <a:r>
              <a:rPr lang="zh-CN" altLang="en-US" sz="1100"/>
              <a:t>有线等效保密</a:t>
            </a:r>
          </a:p>
        </p:txBody>
      </p:sp>
      <p:sp>
        <p:nvSpPr>
          <p:cNvPr id="51207" name="矩形 8"/>
          <p:cNvSpPr>
            <a:spLocks noChangeArrowheads="1"/>
          </p:cNvSpPr>
          <p:nvPr/>
        </p:nvSpPr>
        <p:spPr bwMode="auto">
          <a:xfrm>
            <a:off x="1980004" y="3644900"/>
            <a:ext cx="1312862" cy="260350"/>
          </a:xfrm>
          <a:prstGeom prst="rect">
            <a:avLst/>
          </a:prstGeom>
          <a:noFill/>
          <a:ln w="9525">
            <a:noFill/>
            <a:miter lim="800000"/>
          </a:ln>
        </p:spPr>
        <p:txBody>
          <a:bodyPr wrap="none">
            <a:spAutoFit/>
          </a:bodyPr>
          <a:lstStyle/>
          <a:p>
            <a:r>
              <a:rPr lang="zh-CN" altLang="en-US" sz="1100" dirty="0"/>
              <a:t>动态主机设置协议</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rPr>
              <a:t>2.3 </a:t>
            </a:r>
            <a:r>
              <a:rPr lang="zh-CN" altLang="en-US" sz="3200" b="1">
                <a:solidFill>
                  <a:schemeClr val="bg1"/>
                </a:solidFill>
              </a:rPr>
              <a:t>无线网络安全技术基础</a:t>
            </a:r>
          </a:p>
        </p:txBody>
      </p:sp>
      <p:sp>
        <p:nvSpPr>
          <p:cNvPr id="51202" name="内容占位符 13"/>
          <p:cNvSpPr>
            <a:spLocks noGrp="1" noChangeArrowheads="1"/>
          </p:cNvSpPr>
          <p:nvPr>
            <p:ph idx="4294967295"/>
          </p:nvPr>
        </p:nvSpPr>
        <p:spPr>
          <a:xfrm>
            <a:off x="419100" y="1185863"/>
            <a:ext cx="4945063" cy="371475"/>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51203" name="内容占位符 13"/>
          <p:cNvSpPr>
            <a:spLocks noChangeArrowheads="1"/>
          </p:cNvSpPr>
          <p:nvPr/>
        </p:nvSpPr>
        <p:spPr bwMode="auto">
          <a:xfrm>
            <a:off x="688975" y="1030288"/>
            <a:ext cx="5180013" cy="576262"/>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2.3.2 </a:t>
            </a:r>
            <a:r>
              <a:rPr lang="zh-CN" altLang="en-US" sz="2800" b="1">
                <a:solidFill>
                  <a:srgbClr val="FF0000"/>
                </a:solidFill>
                <a:latin typeface="宋体" panose="02010600030101010101" pitchFamily="2" charset="-122"/>
              </a:rPr>
              <a:t>无线网络</a:t>
            </a:r>
            <a:r>
              <a:rPr lang="en-US" altLang="zh-CN" sz="2800" b="1">
                <a:solidFill>
                  <a:srgbClr val="FF0000"/>
                </a:solidFill>
                <a:latin typeface="宋体" panose="02010600030101010101" pitchFamily="2" charset="-122"/>
              </a:rPr>
              <a:t>AP</a:t>
            </a:r>
            <a:r>
              <a:rPr lang="zh-CN" altLang="en-US" sz="2800" b="1">
                <a:solidFill>
                  <a:srgbClr val="FF0000"/>
                </a:solidFill>
                <a:latin typeface="宋体" panose="02010600030101010101" pitchFamily="2" charset="-122"/>
              </a:rPr>
              <a:t>及路由安全</a:t>
            </a:r>
            <a:r>
              <a:rPr lang="zh-CN" altLang="en-US" sz="2400">
                <a:solidFill>
                  <a:schemeClr val="tx2"/>
                </a:solidFill>
                <a:latin typeface="宋体" panose="02010600030101010101" pitchFamily="2" charset="-122"/>
              </a:rPr>
              <a:t> </a:t>
            </a:r>
            <a:endParaRPr lang="en-US" altLang="zh-CN" b="1">
              <a:solidFill>
                <a:schemeClr val="tx2"/>
              </a:solidFill>
              <a:latin typeface="宋体" panose="02010600030101010101" pitchFamily="2" charset="-122"/>
            </a:endParaRPr>
          </a:p>
        </p:txBody>
      </p:sp>
      <p:sp>
        <p:nvSpPr>
          <p:cNvPr id="51204" name="文本框 1"/>
          <p:cNvSpPr txBox="1">
            <a:spLocks noChangeArrowheads="1"/>
          </p:cNvSpPr>
          <p:nvPr/>
        </p:nvSpPr>
        <p:spPr bwMode="auto">
          <a:xfrm>
            <a:off x="468313" y="1628775"/>
            <a:ext cx="8305800" cy="721995"/>
          </a:xfrm>
          <a:prstGeom prst="rect">
            <a:avLst/>
          </a:prstGeom>
          <a:noFill/>
          <a:ln w="9525">
            <a:noFill/>
            <a:miter lim="800000"/>
          </a:ln>
        </p:spPr>
        <p:txBody>
          <a:bodyPr>
            <a:spAutoFit/>
          </a:bodyPr>
          <a:lstStyle/>
          <a:p>
            <a:pPr indent="457200"/>
            <a:r>
              <a:rPr lang="en-US" altLang="zh-CN" sz="2100" b="1" dirty="0">
                <a:solidFill>
                  <a:srgbClr val="FF0000"/>
                </a:solidFill>
              </a:rPr>
              <a:t>1.</a:t>
            </a:r>
            <a:r>
              <a:rPr lang="zh-CN" altLang="en-US" sz="2100" b="1" dirty="0">
                <a:solidFill>
                  <a:srgbClr val="FF0000"/>
                </a:solidFill>
              </a:rPr>
              <a:t>无线接入点安全</a:t>
            </a:r>
          </a:p>
          <a:p>
            <a:pPr indent="457200"/>
            <a:endParaRPr lang="zh-CN" altLang="en-US" sz="2000" b="1" dirty="0">
              <a:solidFill>
                <a:schemeClr val="tx2"/>
              </a:solidFill>
            </a:endParaRPr>
          </a:p>
        </p:txBody>
      </p:sp>
      <p:sp>
        <p:nvSpPr>
          <p:cNvPr id="7" name="圆角矩形 6"/>
          <p:cNvSpPr/>
          <p:nvPr/>
        </p:nvSpPr>
        <p:spPr bwMode="gray">
          <a:xfrm>
            <a:off x="325438" y="1557338"/>
            <a:ext cx="8569325" cy="45672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2" name="图片 1"/>
          <p:cNvPicPr>
            <a:picLocks noChangeAspect="1"/>
          </p:cNvPicPr>
          <p:nvPr/>
        </p:nvPicPr>
        <p:blipFill>
          <a:blip r:embed="rId2"/>
          <a:stretch>
            <a:fillRect/>
          </a:stretch>
        </p:blipFill>
        <p:spPr>
          <a:xfrm>
            <a:off x="539750" y="2060575"/>
            <a:ext cx="8020050" cy="381762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52226" name="文本框 1"/>
          <p:cNvSpPr txBox="1">
            <a:spLocks noChangeArrowheads="1"/>
          </p:cNvSpPr>
          <p:nvPr/>
        </p:nvSpPr>
        <p:spPr bwMode="auto">
          <a:xfrm>
            <a:off x="509588" y="1224803"/>
            <a:ext cx="8253412" cy="1783715"/>
          </a:xfrm>
          <a:prstGeom prst="rect">
            <a:avLst/>
          </a:prstGeom>
          <a:noFill/>
          <a:ln w="9525">
            <a:noFill/>
            <a:miter lim="800000"/>
          </a:ln>
        </p:spPr>
        <p:txBody>
          <a:bodyPr>
            <a:spAutoFit/>
          </a:bodyPr>
          <a:lstStyle/>
          <a:p>
            <a:pPr indent="457200"/>
            <a:r>
              <a:rPr lang="zh-CN" altLang="en-US" sz="2200" b="1" dirty="0">
                <a:solidFill>
                  <a:schemeClr val="tx2"/>
                </a:solidFill>
              </a:rPr>
              <a:t>4) </a:t>
            </a:r>
            <a:r>
              <a:rPr lang="zh-CN" altLang="en-US" sz="2200" b="1" dirty="0">
                <a:solidFill>
                  <a:srgbClr val="C00000"/>
                </a:solidFill>
              </a:rPr>
              <a:t>修改SNMP字符串</a:t>
            </a:r>
            <a:r>
              <a:rPr lang="zh-CN" altLang="en-US" sz="2200" b="1" dirty="0">
                <a:solidFill>
                  <a:schemeClr val="tx2"/>
                </a:solidFill>
              </a:rPr>
              <a:t>。必要时应禁用无线AP支持的SNMP功能，特别对无专用网络管理软件且规模较小的网络。</a:t>
            </a:r>
            <a:endParaRPr lang="en-US" altLang="zh-CN" sz="2200" b="1" dirty="0">
              <a:solidFill>
                <a:schemeClr val="tx2"/>
              </a:solidFill>
            </a:endParaRPr>
          </a:p>
          <a:p>
            <a:pPr indent="457200"/>
            <a:r>
              <a:rPr lang="zh-CN" altLang="en-US" sz="2200" b="1" dirty="0">
                <a:solidFill>
                  <a:schemeClr val="tx2"/>
                </a:solidFill>
              </a:rPr>
              <a:t>5) </a:t>
            </a:r>
            <a:r>
              <a:rPr lang="zh-CN" altLang="en-US" sz="2200" b="1" dirty="0">
                <a:solidFill>
                  <a:srgbClr val="C00000"/>
                </a:solidFill>
              </a:rPr>
              <a:t>禁止远程管理</a:t>
            </a:r>
            <a:r>
              <a:rPr lang="zh-CN" altLang="en-US" sz="2200" b="1" dirty="0">
                <a:solidFill>
                  <a:schemeClr val="tx2"/>
                </a:solidFill>
              </a:rPr>
              <a:t>。较小网络直接登录到无线AP管理，无需开启AP的远程管理功能。</a:t>
            </a:r>
          </a:p>
          <a:p>
            <a:pPr indent="457200"/>
            <a:endParaRPr lang="zh-CN" altLang="en-US" sz="2200" b="1" dirty="0">
              <a:solidFill>
                <a:schemeClr val="tx2"/>
              </a:solidFill>
            </a:endParaRPr>
          </a:p>
        </p:txBody>
      </p:sp>
      <p:sp>
        <p:nvSpPr>
          <p:cNvPr id="4" name="圆角矩形 3"/>
          <p:cNvSpPr/>
          <p:nvPr/>
        </p:nvSpPr>
        <p:spPr bwMode="gray">
          <a:xfrm>
            <a:off x="457201" y="1196975"/>
            <a:ext cx="8305800" cy="50403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2" name="图片 1"/>
          <p:cNvPicPr>
            <a:picLocks noChangeAspect="1"/>
          </p:cNvPicPr>
          <p:nvPr/>
        </p:nvPicPr>
        <p:blipFill>
          <a:blip r:embed="rId2"/>
          <a:stretch>
            <a:fillRect/>
          </a:stretch>
        </p:blipFill>
        <p:spPr>
          <a:xfrm>
            <a:off x="683895" y="2636520"/>
            <a:ext cx="7609840" cy="342138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52226" name="文本框 1"/>
          <p:cNvSpPr txBox="1">
            <a:spLocks noChangeArrowheads="1"/>
          </p:cNvSpPr>
          <p:nvPr/>
        </p:nvSpPr>
        <p:spPr bwMode="auto">
          <a:xfrm>
            <a:off x="509588" y="1224803"/>
            <a:ext cx="8253412" cy="3476625"/>
          </a:xfrm>
          <a:prstGeom prst="rect">
            <a:avLst/>
          </a:prstGeom>
          <a:noFill/>
          <a:ln w="9525">
            <a:noFill/>
            <a:miter lim="800000"/>
          </a:ln>
        </p:spPr>
        <p:txBody>
          <a:bodyPr>
            <a:spAutoFit/>
          </a:bodyPr>
          <a:lstStyle/>
          <a:p>
            <a:pPr indent="457200"/>
            <a:r>
              <a:rPr lang="zh-CN" altLang="en-US" sz="2200" b="1" dirty="0">
                <a:solidFill>
                  <a:schemeClr val="tx2"/>
                </a:solidFill>
              </a:rPr>
              <a:t>6) </a:t>
            </a:r>
            <a:r>
              <a:rPr lang="zh-CN" altLang="en-US" sz="2200" b="1" dirty="0">
                <a:solidFill>
                  <a:srgbClr val="C00000"/>
                </a:solidFill>
              </a:rPr>
              <a:t>修改SSID标识</a:t>
            </a:r>
            <a:r>
              <a:rPr lang="zh-CN" altLang="en-US" sz="2200" b="1" dirty="0">
                <a:solidFill>
                  <a:schemeClr val="tx2"/>
                </a:solidFill>
              </a:rPr>
              <a:t>。无线AP厂商可利用SSID（初始化字符串），在默认状态下检验登录无线网络结点的连接请求，检验一通过即可连接到无线网络。由于同一厂商的产品都使用相同的SSID名称，从而给黑客提供了可乘之机，使之以非授权连接对无线网络带来威胁。所以，在安装无线局域网之初，就应尽快登录到结点的管理页面，修改默认的SSID。</a:t>
            </a:r>
          </a:p>
          <a:p>
            <a:pPr indent="457200"/>
            <a:r>
              <a:rPr lang="zh-CN" altLang="en-US" sz="2200" b="1" dirty="0">
                <a:solidFill>
                  <a:schemeClr val="tx2"/>
                </a:solidFill>
              </a:rPr>
              <a:t>7) </a:t>
            </a:r>
            <a:r>
              <a:rPr lang="zh-CN" altLang="en-US" sz="2200" b="1" dirty="0">
                <a:solidFill>
                  <a:srgbClr val="C00000"/>
                </a:solidFill>
              </a:rPr>
              <a:t>禁止SSID广播</a:t>
            </a:r>
            <a:r>
              <a:rPr lang="zh-CN" altLang="en-US" sz="2200" b="1" dirty="0">
                <a:solidFill>
                  <a:schemeClr val="tx2"/>
                </a:solidFill>
              </a:rPr>
              <a:t>。为了保证无线网络安全，应当禁用SSID通知客户端所采用的默认广播方式。可使非授权客户端无法通过广播获得SSID，即无法连接到无线网络。否则，再复杂的SSID设置也无安全可言。</a:t>
            </a:r>
          </a:p>
        </p:txBody>
      </p:sp>
      <p:sp>
        <p:nvSpPr>
          <p:cNvPr id="4" name="圆角矩形 3"/>
          <p:cNvSpPr/>
          <p:nvPr/>
        </p:nvSpPr>
        <p:spPr bwMode="gray">
          <a:xfrm>
            <a:off x="457201" y="1196975"/>
            <a:ext cx="8305800" cy="50403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4" name="圆角矩形 3"/>
          <p:cNvSpPr/>
          <p:nvPr/>
        </p:nvSpPr>
        <p:spPr bwMode="gray">
          <a:xfrm>
            <a:off x="457201" y="1196975"/>
            <a:ext cx="8305800" cy="50403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2" name="图片 1" descr="360截图20210923111454010"/>
          <p:cNvPicPr>
            <a:picLocks noChangeAspect="1"/>
          </p:cNvPicPr>
          <p:nvPr/>
        </p:nvPicPr>
        <p:blipFill>
          <a:blip r:embed="rId2"/>
          <a:stretch>
            <a:fillRect/>
          </a:stretch>
        </p:blipFill>
        <p:spPr>
          <a:xfrm>
            <a:off x="539115" y="1412875"/>
            <a:ext cx="8029575" cy="443801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4" name="圆角矩形 3"/>
          <p:cNvSpPr/>
          <p:nvPr/>
        </p:nvSpPr>
        <p:spPr bwMode="gray">
          <a:xfrm>
            <a:off x="457201" y="1196975"/>
            <a:ext cx="8305800" cy="50403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3" name="图片 2"/>
          <p:cNvPicPr>
            <a:picLocks noChangeAspect="1"/>
          </p:cNvPicPr>
          <p:nvPr/>
        </p:nvPicPr>
        <p:blipFill>
          <a:blip r:embed="rId2"/>
          <a:stretch>
            <a:fillRect/>
          </a:stretch>
        </p:blipFill>
        <p:spPr>
          <a:xfrm>
            <a:off x="323850" y="1628775"/>
            <a:ext cx="8568690" cy="372300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txBox="1">
            <a:spLocks noChangeArrowheads="1"/>
          </p:cNvSpPr>
          <p:nvPr/>
        </p:nvSpPr>
        <p:spPr bwMode="auto">
          <a:xfrm>
            <a:off x="419100" y="128588"/>
            <a:ext cx="8305800" cy="563562"/>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53250" name="文本框 1"/>
          <p:cNvSpPr txBox="1">
            <a:spLocks noChangeArrowheads="1"/>
          </p:cNvSpPr>
          <p:nvPr/>
        </p:nvSpPr>
        <p:spPr bwMode="auto">
          <a:xfrm>
            <a:off x="468313" y="1341438"/>
            <a:ext cx="8305800" cy="5170646"/>
          </a:xfrm>
          <a:prstGeom prst="rect">
            <a:avLst/>
          </a:prstGeom>
          <a:noFill/>
          <a:ln w="9525">
            <a:noFill/>
            <a:miter lim="800000"/>
          </a:ln>
        </p:spPr>
        <p:txBody>
          <a:bodyPr>
            <a:spAutoFit/>
          </a:bodyPr>
          <a:lstStyle/>
          <a:p>
            <a:pPr indent="457200"/>
            <a:r>
              <a:rPr lang="zh-CN" altLang="en-US" sz="2200" b="1" dirty="0">
                <a:solidFill>
                  <a:schemeClr val="tx2"/>
                </a:solidFill>
              </a:rPr>
              <a:t>8) </a:t>
            </a:r>
            <a:r>
              <a:rPr lang="zh-CN" altLang="en-US" sz="2200" b="1" dirty="0">
                <a:solidFill>
                  <a:srgbClr val="C00000"/>
                </a:solidFill>
              </a:rPr>
              <a:t>过滤MAC</a:t>
            </a:r>
            <a:r>
              <a:rPr lang="zh-CN" altLang="en-US" sz="2200" b="1" dirty="0" smtClean="0">
                <a:solidFill>
                  <a:srgbClr val="C00000"/>
                </a:solidFill>
              </a:rPr>
              <a:t>地址。</a:t>
            </a:r>
            <a:r>
              <a:rPr lang="zh-CN" altLang="en-US" sz="2200" b="1" dirty="0" smtClean="0">
                <a:solidFill>
                  <a:schemeClr val="tx2"/>
                </a:solidFill>
              </a:rPr>
              <a:t>利用</a:t>
            </a:r>
            <a:r>
              <a:rPr lang="zh-CN" altLang="en-US" sz="2200" b="1" dirty="0">
                <a:solidFill>
                  <a:schemeClr val="tx2"/>
                </a:solidFill>
              </a:rPr>
              <a:t>无线AP的访问列表功能可精确限制连接到结点工作站。对不在访问列表中的</a:t>
            </a:r>
            <a:r>
              <a:rPr lang="zh-CN" altLang="en-US" sz="2200" b="1" dirty="0" smtClean="0">
                <a:solidFill>
                  <a:schemeClr val="tx2"/>
                </a:solidFill>
              </a:rPr>
              <a:t>工作站</a:t>
            </a:r>
            <a:r>
              <a:rPr lang="en-US" altLang="zh-CN" sz="2200" b="1" dirty="0" smtClean="0">
                <a:solidFill>
                  <a:schemeClr val="tx2"/>
                </a:solidFill>
              </a:rPr>
              <a:t>,</a:t>
            </a:r>
            <a:r>
              <a:rPr lang="zh-CN" altLang="en-US" sz="2200" b="1" dirty="0" smtClean="0">
                <a:solidFill>
                  <a:schemeClr val="tx2"/>
                </a:solidFill>
              </a:rPr>
              <a:t>无权</a:t>
            </a:r>
            <a:r>
              <a:rPr lang="zh-CN" altLang="en-US" sz="2200" b="1" dirty="0">
                <a:solidFill>
                  <a:schemeClr val="tx2"/>
                </a:solidFill>
              </a:rPr>
              <a:t>访问无线网络。无线网卡都有</a:t>
            </a:r>
            <a:r>
              <a:rPr lang="zh-CN" altLang="en-US" sz="2200" b="1" dirty="0" smtClean="0">
                <a:solidFill>
                  <a:schemeClr val="tx2"/>
                </a:solidFill>
              </a:rPr>
              <a:t>各自MAC地址</a:t>
            </a:r>
            <a:r>
              <a:rPr lang="en-US" altLang="zh-CN" sz="2200" b="1" dirty="0" smtClean="0">
                <a:solidFill>
                  <a:schemeClr val="tx2"/>
                </a:solidFill>
              </a:rPr>
              <a:t>,</a:t>
            </a:r>
            <a:r>
              <a:rPr lang="zh-CN" altLang="en-US" sz="2200" b="1" dirty="0" smtClean="0">
                <a:solidFill>
                  <a:schemeClr val="tx2"/>
                </a:solidFill>
              </a:rPr>
              <a:t>可</a:t>
            </a:r>
            <a:r>
              <a:rPr lang="zh-CN" altLang="en-US" sz="2200" b="1" dirty="0">
                <a:solidFill>
                  <a:schemeClr val="tx2"/>
                </a:solidFill>
              </a:rPr>
              <a:t>在结点设备中创建一张“MAC访问控制列表”，将合法网卡的MAC地址输入到此列表中。</a:t>
            </a:r>
            <a:r>
              <a:rPr lang="zh-CN" altLang="en-US" sz="2200" b="1" dirty="0" smtClean="0">
                <a:solidFill>
                  <a:schemeClr val="tx2"/>
                </a:solidFill>
              </a:rPr>
              <a:t>使只有</a:t>
            </a:r>
            <a:r>
              <a:rPr lang="zh-CN" altLang="en-US" sz="2200" b="1" dirty="0">
                <a:solidFill>
                  <a:schemeClr val="tx2"/>
                </a:solidFill>
              </a:rPr>
              <a:t>“MAC访问控制列表”中显示的MAC地址才能进入到无线网络。</a:t>
            </a:r>
          </a:p>
          <a:p>
            <a:pPr indent="457200"/>
            <a:r>
              <a:rPr lang="zh-CN" altLang="en-US" sz="2200" b="1" dirty="0">
                <a:solidFill>
                  <a:schemeClr val="tx2"/>
                </a:solidFill>
              </a:rPr>
              <a:t>9) </a:t>
            </a:r>
            <a:r>
              <a:rPr lang="zh-CN" altLang="en-US" sz="2200" b="1" dirty="0">
                <a:solidFill>
                  <a:srgbClr val="C00000"/>
                </a:solidFill>
              </a:rPr>
              <a:t>合理放置无线</a:t>
            </a:r>
            <a:r>
              <a:rPr lang="zh-CN" altLang="en-US" sz="2200" b="1" dirty="0" smtClean="0">
                <a:solidFill>
                  <a:srgbClr val="C00000"/>
                </a:solidFill>
              </a:rPr>
              <a:t>AP。</a:t>
            </a:r>
            <a:r>
              <a:rPr lang="zh-CN" altLang="en-US" sz="2200" b="1" dirty="0" smtClean="0">
                <a:solidFill>
                  <a:schemeClr val="tx2"/>
                </a:solidFill>
              </a:rPr>
              <a:t>将</a:t>
            </a:r>
            <a:r>
              <a:rPr lang="zh-CN" altLang="en-US" sz="2200" b="1" dirty="0">
                <a:solidFill>
                  <a:schemeClr val="tx2"/>
                </a:solidFill>
              </a:rPr>
              <a:t>无线AP放置在一个合适的位置非常重要。由于无线AP的放置位置不仅能决定无线局域网的信号传输速度、通信信号强弱，还影响网络通信安全。另外，在放置天线前，应先确定无线信号覆盖范围，并根据范围大小将其到其他用户无法触及的位置，将</a:t>
            </a:r>
            <a:r>
              <a:rPr lang="en-US" altLang="zh-CN" sz="2200" b="1" dirty="0">
                <a:solidFill>
                  <a:schemeClr val="tx2"/>
                </a:solidFill>
              </a:rPr>
              <a:t>AP</a:t>
            </a:r>
            <a:r>
              <a:rPr lang="zh-CN" altLang="en-US" sz="2200" b="1" dirty="0">
                <a:solidFill>
                  <a:schemeClr val="tx2"/>
                </a:solidFill>
              </a:rPr>
              <a:t>放在房间正中间。</a:t>
            </a:r>
          </a:p>
          <a:p>
            <a:pPr indent="457200"/>
            <a:r>
              <a:rPr lang="zh-CN" altLang="en-US" sz="2200" b="1" dirty="0" smtClean="0">
                <a:solidFill>
                  <a:schemeClr val="tx2"/>
                </a:solidFill>
              </a:rPr>
              <a:t>10) </a:t>
            </a:r>
            <a:r>
              <a:rPr lang="zh-CN" altLang="en-US" sz="2200" b="1" dirty="0" smtClean="0">
                <a:solidFill>
                  <a:srgbClr val="C00000"/>
                </a:solidFill>
              </a:rPr>
              <a:t>WPA用户认证。</a:t>
            </a:r>
            <a:r>
              <a:rPr lang="zh-CN" altLang="en-US" sz="2200" b="1" dirty="0" smtClean="0">
                <a:solidFill>
                  <a:schemeClr val="tx2"/>
                </a:solidFill>
              </a:rPr>
              <a:t>WPA（Wi-Fi Protected Access）利用一种暂时密钥完整性协议TKIP处理WEP所不能解决的各设备共用一个密钥的安全问题。</a:t>
            </a:r>
            <a:r>
              <a:rPr lang="zh-CN" altLang="en-US" sz="1600" b="1" dirty="0" smtClean="0"/>
              <a:t>参考“</a:t>
            </a:r>
            <a:r>
              <a:rPr lang="en-US" altLang="zh-CN" sz="1600" b="1" dirty="0"/>
              <a:t>WEP/WPA/WPA2</a:t>
            </a:r>
            <a:r>
              <a:rPr lang="zh-CN" altLang="en-US" sz="1600" b="1" dirty="0"/>
              <a:t>加密标准有什么区别？</a:t>
            </a:r>
            <a:r>
              <a:rPr lang="zh-CN" altLang="en-US" sz="1600" b="1" dirty="0" smtClean="0"/>
              <a:t>”</a:t>
            </a:r>
            <a:r>
              <a:rPr lang="en-US" altLang="zh-CN" sz="1600" b="1" dirty="0"/>
              <a:t> http://www.xitongzhijia.net/xtjc/20170103/90078.html</a:t>
            </a:r>
            <a:endParaRPr lang="en-US" altLang="zh-CN" sz="1600" b="1" dirty="0" smtClean="0"/>
          </a:p>
          <a:p>
            <a:pPr indent="457200"/>
            <a:endParaRPr lang="zh-CN" altLang="en-US" sz="2200" b="1" dirty="0">
              <a:solidFill>
                <a:schemeClr val="tx2"/>
              </a:solidFill>
            </a:endParaRPr>
          </a:p>
        </p:txBody>
      </p:sp>
      <p:sp>
        <p:nvSpPr>
          <p:cNvPr id="4" name="圆角矩形 3"/>
          <p:cNvSpPr/>
          <p:nvPr/>
        </p:nvSpPr>
        <p:spPr bwMode="gray">
          <a:xfrm>
            <a:off x="323850" y="1125538"/>
            <a:ext cx="8569325" cy="5543822"/>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53252" name="Picture 24" descr="C:\Program Files\Microsoft Office\MEDIA\CAGCAT10\j0300520.gif"/>
          <p:cNvPicPr>
            <a:picLocks noChangeAspect="1" noChangeArrowheads="1"/>
          </p:cNvPicPr>
          <p:nvPr/>
        </p:nvPicPr>
        <p:blipFill>
          <a:blip r:embed="rId2" cstate="print"/>
          <a:srcRect/>
          <a:stretch>
            <a:fillRect/>
          </a:stretch>
        </p:blipFill>
        <p:spPr bwMode="auto">
          <a:xfrm>
            <a:off x="7694613" y="5916973"/>
            <a:ext cx="1079500" cy="928687"/>
          </a:xfrm>
          <a:prstGeom prst="rect">
            <a:avLst/>
          </a:prstGeom>
          <a:noFill/>
          <a:ln w="9525">
            <a:noFill/>
            <a:miter lim="800000"/>
            <a:headEnd/>
            <a:tailEnd/>
          </a:ln>
        </p:spPr>
      </p:pic>
      <p:sp>
        <p:nvSpPr>
          <p:cNvPr id="53253" name="矩形标注 5"/>
          <p:cNvSpPr>
            <a:spLocks noChangeArrowheads="1"/>
          </p:cNvSpPr>
          <p:nvPr/>
        </p:nvSpPr>
        <p:spPr bwMode="auto">
          <a:xfrm>
            <a:off x="1655389" y="982663"/>
            <a:ext cx="1368425" cy="358775"/>
          </a:xfrm>
          <a:prstGeom prst="wedgeRectCallout">
            <a:avLst>
              <a:gd name="adj1" fmla="val -32095"/>
              <a:gd name="adj2" fmla="val 65733"/>
            </a:avLst>
          </a:prstGeom>
          <a:solidFill>
            <a:srgbClr val="FFFF00"/>
          </a:solidFill>
          <a:ln w="12700">
            <a:solidFill>
              <a:srgbClr val="0000FF"/>
            </a:solidFill>
            <a:round/>
          </a:ln>
        </p:spPr>
        <p:txBody>
          <a:bodyPr wrap="none" anchor="ctr"/>
          <a:lstStyle/>
          <a:p>
            <a:pPr algn="dist">
              <a:spcBef>
                <a:spcPct val="20000"/>
              </a:spcBef>
            </a:pPr>
            <a:r>
              <a:rPr lang="zh-CN" altLang="en-US" sz="1300" b="1">
                <a:solidFill>
                  <a:srgbClr val="FF0000"/>
                </a:solidFill>
              </a:rPr>
              <a:t>硬件地址</a:t>
            </a:r>
            <a:r>
              <a:rPr lang="en-US" altLang="zh-CN" sz="1300" b="1">
                <a:solidFill>
                  <a:srgbClr val="FF0000"/>
                </a:solidFill>
              </a:rPr>
              <a:t>-</a:t>
            </a:r>
            <a:r>
              <a:rPr lang="zh-CN" altLang="en-US" sz="1300" b="1">
                <a:solidFill>
                  <a:srgbClr val="FF0000"/>
                </a:solidFill>
              </a:rPr>
              <a:t>网卡</a:t>
            </a:r>
          </a:p>
        </p:txBody>
      </p:sp>
      <p:sp>
        <p:nvSpPr>
          <p:cNvPr id="53254" name="矩形 6"/>
          <p:cNvSpPr>
            <a:spLocks noChangeArrowheads="1"/>
          </p:cNvSpPr>
          <p:nvPr/>
        </p:nvSpPr>
        <p:spPr bwMode="auto">
          <a:xfrm>
            <a:off x="3707904" y="4653136"/>
            <a:ext cx="1108075" cy="276225"/>
          </a:xfrm>
          <a:prstGeom prst="rect">
            <a:avLst/>
          </a:prstGeom>
          <a:noFill/>
          <a:ln w="9525">
            <a:noFill/>
            <a:miter lim="800000"/>
          </a:ln>
        </p:spPr>
        <p:txBody>
          <a:bodyPr wrap="none">
            <a:spAutoFit/>
          </a:bodyPr>
          <a:lstStyle/>
          <a:p>
            <a:r>
              <a:rPr lang="zh-CN" altLang="en-US" sz="1200" dirty="0"/>
              <a:t>无线保护通道</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4" name="圆角矩形 3"/>
          <p:cNvSpPr/>
          <p:nvPr/>
        </p:nvSpPr>
        <p:spPr bwMode="gray">
          <a:xfrm>
            <a:off x="457201" y="1196975"/>
            <a:ext cx="8305800" cy="50403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2" name="图片 1" descr="360截图20210923112748253"/>
          <p:cNvPicPr>
            <a:picLocks noChangeAspect="1"/>
          </p:cNvPicPr>
          <p:nvPr/>
        </p:nvPicPr>
        <p:blipFill>
          <a:blip r:embed="rId2"/>
          <a:stretch>
            <a:fillRect/>
          </a:stretch>
        </p:blipFill>
        <p:spPr>
          <a:xfrm>
            <a:off x="-36195" y="1340485"/>
            <a:ext cx="9144000" cy="444817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4" name="圆角矩形 3"/>
          <p:cNvSpPr/>
          <p:nvPr/>
        </p:nvSpPr>
        <p:spPr bwMode="gray">
          <a:xfrm>
            <a:off x="457201" y="1196975"/>
            <a:ext cx="8305800" cy="50403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3" name="图片 2"/>
          <p:cNvPicPr>
            <a:picLocks noChangeAspect="1"/>
          </p:cNvPicPr>
          <p:nvPr/>
        </p:nvPicPr>
        <p:blipFill>
          <a:blip r:embed="rId2"/>
          <a:stretch>
            <a:fillRect/>
          </a:stretch>
        </p:blipFill>
        <p:spPr>
          <a:xfrm>
            <a:off x="217170" y="1484630"/>
            <a:ext cx="8545830" cy="341185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4" name="圆角矩形 3"/>
          <p:cNvSpPr/>
          <p:nvPr/>
        </p:nvSpPr>
        <p:spPr bwMode="gray">
          <a:xfrm>
            <a:off x="457201" y="1196975"/>
            <a:ext cx="8305800" cy="50403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2" name="图片 1" descr="360截图20210923111849414"/>
          <p:cNvPicPr>
            <a:picLocks noChangeAspect="1"/>
          </p:cNvPicPr>
          <p:nvPr/>
        </p:nvPicPr>
        <p:blipFill>
          <a:blip r:embed="rId2"/>
          <a:stretch>
            <a:fillRect/>
          </a:stretch>
        </p:blipFill>
        <p:spPr>
          <a:xfrm>
            <a:off x="395605" y="1340485"/>
            <a:ext cx="8614410" cy="4390390"/>
          </a:xfrm>
          <a:prstGeom prst="rect">
            <a:avLst/>
          </a:prstGeom>
        </p:spPr>
      </p:pic>
      <p:pic>
        <p:nvPicPr>
          <p:cNvPr id="5" name="图片 4"/>
          <p:cNvPicPr>
            <a:picLocks noChangeAspect="1"/>
          </p:cNvPicPr>
          <p:nvPr/>
        </p:nvPicPr>
        <p:blipFill>
          <a:blip r:embed="rId3"/>
          <a:stretch>
            <a:fillRect/>
          </a:stretch>
        </p:blipFill>
        <p:spPr>
          <a:xfrm>
            <a:off x="5075555" y="1268730"/>
            <a:ext cx="1098550" cy="11811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4" name="圆角矩形 3"/>
          <p:cNvSpPr/>
          <p:nvPr/>
        </p:nvSpPr>
        <p:spPr bwMode="gray">
          <a:xfrm>
            <a:off x="457201" y="1196975"/>
            <a:ext cx="8305800" cy="5040337"/>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defRPr/>
            </a:pPr>
            <a:endParaRPr sz="2100" b="1" dirty="0">
              <a:solidFill>
                <a:schemeClr val="tx2"/>
              </a:solidFill>
              <a:latin typeface="Arial" panose="020B0604020202020204" pitchFamily="34" charset="0"/>
            </a:endParaRPr>
          </a:p>
        </p:txBody>
      </p:sp>
      <p:pic>
        <p:nvPicPr>
          <p:cNvPr id="3" name="图片 2"/>
          <p:cNvPicPr>
            <a:picLocks noChangeAspect="1"/>
          </p:cNvPicPr>
          <p:nvPr/>
        </p:nvPicPr>
        <p:blipFill>
          <a:blip r:embed="rId2"/>
          <a:stretch>
            <a:fillRect/>
          </a:stretch>
        </p:blipFill>
        <p:spPr>
          <a:xfrm>
            <a:off x="395605" y="908685"/>
            <a:ext cx="7808595" cy="2936240"/>
          </a:xfrm>
          <a:prstGeom prst="rect">
            <a:avLst/>
          </a:prstGeom>
        </p:spPr>
      </p:pic>
      <p:pic>
        <p:nvPicPr>
          <p:cNvPr id="6" name="图片 5"/>
          <p:cNvPicPr>
            <a:picLocks noChangeAspect="1"/>
          </p:cNvPicPr>
          <p:nvPr/>
        </p:nvPicPr>
        <p:blipFill>
          <a:blip r:embed="rId3"/>
          <a:stretch>
            <a:fillRect/>
          </a:stretch>
        </p:blipFill>
        <p:spPr>
          <a:xfrm>
            <a:off x="1331595" y="4149090"/>
            <a:ext cx="6692900" cy="24574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54274"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684213" y="1125538"/>
            <a:ext cx="7934325" cy="1892300"/>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5pPr>
          </a:lstStyle>
          <a:p>
            <a:pPr eaLnBrk="1" hangingPunct="1">
              <a:defRPr/>
            </a:pPr>
            <a:r>
              <a:rPr lang="en-US" altLang="zh-CN" sz="2400" b="1" noProof="1">
                <a:solidFill>
                  <a:srgbClr val="FF0000"/>
                </a:solidFill>
              </a:rPr>
              <a:t>     </a:t>
            </a:r>
            <a:r>
              <a:rPr lang="en-US" altLang="zh-CN" sz="2400" b="1" noProof="1" smtClean="0">
                <a:solidFill>
                  <a:srgbClr val="FF0000"/>
                </a:solidFill>
              </a:rPr>
              <a:t>2.</a:t>
            </a:r>
            <a:r>
              <a:rPr lang="zh-CN" altLang="en-US" sz="2400" b="1" noProof="1" smtClean="0">
                <a:solidFill>
                  <a:srgbClr val="FF0000"/>
                </a:solidFill>
              </a:rPr>
              <a:t>无线</a:t>
            </a:r>
            <a:r>
              <a:rPr lang="zh-CN" altLang="en-US" sz="2400" b="1" noProof="1">
                <a:solidFill>
                  <a:srgbClr val="FF0000"/>
                </a:solidFill>
              </a:rPr>
              <a:t>路由器安全</a:t>
            </a:r>
          </a:p>
          <a:p>
            <a:pPr eaLnBrk="1" hangingPunct="1">
              <a:defRPr/>
            </a:pPr>
            <a:r>
              <a:rPr lang="zh-CN" altLang="en-US" b="1" noProof="1">
                <a:solidFill>
                  <a:schemeClr val="tx2"/>
                </a:solidFill>
              </a:rPr>
              <a:t>      </a:t>
            </a:r>
            <a:r>
              <a:rPr lang="en-US" altLang="zh-CN" sz="2000" b="1" noProof="1" smtClean="0">
                <a:solidFill>
                  <a:schemeClr val="tx2"/>
                </a:solidFill>
              </a:rPr>
              <a:t>无线路由位于网络边缘</a:t>
            </a:r>
            <a:r>
              <a:rPr lang="en-US" altLang="zh-CN" sz="2000" b="1" noProof="1">
                <a:solidFill>
                  <a:schemeClr val="tx2"/>
                </a:solidFill>
              </a:rPr>
              <a:t>，面临更多安全危险.不仅具有无线AP功能,</a:t>
            </a:r>
            <a:r>
              <a:rPr lang="zh-CN" altLang="en-US" sz="2000" b="1" noProof="1">
                <a:solidFill>
                  <a:schemeClr val="tx2"/>
                </a:solidFill>
              </a:rPr>
              <a:t>还集成了宽带路由器的功能，因此，可实现小型网络的</a:t>
            </a:r>
            <a:r>
              <a:rPr lang="en-US" altLang="zh-CN" sz="2000" b="1" noProof="1">
                <a:solidFill>
                  <a:schemeClr val="tx2"/>
                </a:solidFill>
              </a:rPr>
              <a:t>Internet</a:t>
            </a:r>
            <a:r>
              <a:rPr lang="zh-CN" altLang="en-US" sz="2000" b="1" noProof="1">
                <a:solidFill>
                  <a:schemeClr val="tx2"/>
                </a:solidFill>
              </a:rPr>
              <a:t>连接共享。除了</a:t>
            </a:r>
            <a:r>
              <a:rPr lang="zh-CN" altLang="en-US" sz="2000" b="1" noProof="1">
                <a:solidFill>
                  <a:srgbClr val="3366FF"/>
                </a:solidFill>
              </a:rPr>
              <a:t>采用无线</a:t>
            </a:r>
            <a:r>
              <a:rPr lang="en-US" altLang="zh-CN" sz="2000" b="1" noProof="1">
                <a:solidFill>
                  <a:srgbClr val="3366FF"/>
                </a:solidFill>
              </a:rPr>
              <a:t>AP</a:t>
            </a:r>
            <a:r>
              <a:rPr lang="zh-CN" altLang="en-US" sz="2000" b="1" noProof="1">
                <a:solidFill>
                  <a:srgbClr val="3366FF"/>
                </a:solidFill>
              </a:rPr>
              <a:t>的安全策略</a:t>
            </a:r>
            <a:r>
              <a:rPr lang="zh-CN" altLang="en-US" sz="2000" b="1" noProof="1" smtClean="0">
                <a:solidFill>
                  <a:schemeClr val="tx2"/>
                </a:solidFill>
              </a:rPr>
              <a:t>外</a:t>
            </a:r>
            <a:r>
              <a:rPr lang="en-US" altLang="zh-CN" sz="2000" b="1" noProof="1" smtClean="0">
                <a:solidFill>
                  <a:schemeClr val="tx2"/>
                </a:solidFill>
              </a:rPr>
              <a:t>,</a:t>
            </a:r>
            <a:r>
              <a:rPr lang="zh-CN" altLang="en-US" sz="2000" b="1" noProof="1" smtClean="0">
                <a:solidFill>
                  <a:schemeClr val="tx2"/>
                </a:solidFill>
              </a:rPr>
              <a:t>还</a:t>
            </a:r>
            <a:r>
              <a:rPr lang="zh-CN" altLang="en-US" sz="2000" b="1" noProof="1">
                <a:solidFill>
                  <a:schemeClr val="tx2"/>
                </a:solidFill>
              </a:rPr>
              <a:t>应</a:t>
            </a:r>
            <a:r>
              <a:rPr lang="zh-CN" altLang="en-US" sz="2000" b="1" noProof="1">
                <a:solidFill>
                  <a:srgbClr val="FF0000"/>
                </a:solidFill>
              </a:rPr>
              <a:t>采用如下安全策略</a:t>
            </a:r>
            <a:r>
              <a:rPr lang="zh-CN" altLang="en-US" sz="1600" b="1" noProof="1">
                <a:solidFill>
                  <a:schemeClr val="tx2"/>
                </a:solidFill>
              </a:rPr>
              <a:t>。</a:t>
            </a:r>
          </a:p>
          <a:p>
            <a:pPr eaLnBrk="1" hangingPunct="1">
              <a:defRPr/>
            </a:pPr>
            <a:r>
              <a:rPr lang="zh-CN" altLang="en-US" b="1" noProof="1">
                <a:solidFill>
                  <a:schemeClr val="tx2"/>
                </a:solidFill>
              </a:rPr>
              <a:t>        </a:t>
            </a:r>
            <a:r>
              <a:rPr lang="en-US" altLang="zh-CN" b="1" noProof="1">
                <a:solidFill>
                  <a:schemeClr val="tx2"/>
                </a:solidFill>
              </a:rPr>
              <a:t>1) </a:t>
            </a:r>
            <a:r>
              <a:rPr lang="zh-CN" altLang="en-US" b="1" noProof="1">
                <a:solidFill>
                  <a:schemeClr val="tx2"/>
                </a:solidFill>
              </a:rPr>
              <a:t>利用网络</a:t>
            </a:r>
            <a:r>
              <a:rPr lang="zh-CN" altLang="en-US" b="1" noProof="1" smtClean="0">
                <a:solidFill>
                  <a:schemeClr val="tx2"/>
                </a:solidFill>
              </a:rPr>
              <a:t>防火墙</a:t>
            </a:r>
            <a:r>
              <a:rPr lang="en-US" altLang="zh-CN" b="1" noProof="1" smtClean="0">
                <a:solidFill>
                  <a:schemeClr val="tx2"/>
                </a:solidFill>
              </a:rPr>
              <a:t>.</a:t>
            </a:r>
            <a:r>
              <a:rPr lang="zh-CN" altLang="en-US" b="1" noProof="1" smtClean="0">
                <a:solidFill>
                  <a:schemeClr val="tx2"/>
                </a:solidFill>
              </a:rPr>
              <a:t>利用</a:t>
            </a:r>
            <a:r>
              <a:rPr lang="zh-CN" altLang="en-US" b="1" noProof="1">
                <a:solidFill>
                  <a:schemeClr val="tx2"/>
                </a:solidFill>
              </a:rPr>
              <a:t>无线路由器</a:t>
            </a:r>
            <a:r>
              <a:rPr lang="zh-CN" altLang="en-US" b="1" noProof="1" smtClean="0">
                <a:solidFill>
                  <a:schemeClr val="tx2"/>
                </a:solidFill>
              </a:rPr>
              <a:t>内置防火墙</a:t>
            </a:r>
            <a:r>
              <a:rPr lang="zh-CN" altLang="en-US" b="1" noProof="1">
                <a:solidFill>
                  <a:schemeClr val="tx2"/>
                </a:solidFill>
              </a:rPr>
              <a:t>功能</a:t>
            </a:r>
            <a:r>
              <a:rPr lang="en-US" altLang="zh-CN" b="1" noProof="1" smtClean="0">
                <a:solidFill>
                  <a:schemeClr val="tx2"/>
                </a:solidFill>
              </a:rPr>
              <a:t>,</a:t>
            </a:r>
            <a:r>
              <a:rPr lang="zh-CN" altLang="en-US" b="1" noProof="1" smtClean="0">
                <a:solidFill>
                  <a:schemeClr val="tx2"/>
                </a:solidFill>
              </a:rPr>
              <a:t>加强</a:t>
            </a:r>
            <a:r>
              <a:rPr lang="zh-CN" altLang="en-US" b="1" noProof="1">
                <a:solidFill>
                  <a:schemeClr val="tx2"/>
                </a:solidFill>
              </a:rPr>
              <a:t>防护能力</a:t>
            </a:r>
            <a:r>
              <a:rPr lang="en-US" altLang="zh-CN" b="1" noProof="1">
                <a:solidFill>
                  <a:schemeClr val="tx2"/>
                </a:solidFill>
              </a:rPr>
              <a:t>.</a:t>
            </a:r>
            <a:endParaRPr lang="zh-CN" altLang="en-US" b="1" noProof="1">
              <a:solidFill>
                <a:schemeClr val="tx2"/>
              </a:solidFill>
            </a:endParaRPr>
          </a:p>
          <a:p>
            <a:pPr eaLnBrk="1" hangingPunct="1">
              <a:defRPr/>
            </a:pPr>
            <a:r>
              <a:rPr lang="zh-CN" altLang="en-US" b="1" noProof="1">
                <a:solidFill>
                  <a:schemeClr val="tx2"/>
                </a:solidFill>
              </a:rPr>
              <a:t>        </a:t>
            </a:r>
            <a:r>
              <a:rPr lang="en-US" altLang="zh-CN" b="1" noProof="1">
                <a:solidFill>
                  <a:schemeClr val="tx2"/>
                </a:solidFill>
              </a:rPr>
              <a:t>2) IP</a:t>
            </a:r>
            <a:r>
              <a:rPr lang="zh-CN" altLang="en-US" b="1" noProof="1">
                <a:solidFill>
                  <a:schemeClr val="tx2"/>
                </a:solidFill>
              </a:rPr>
              <a:t>地址过滤。启用</a:t>
            </a:r>
            <a:r>
              <a:rPr lang="en-US" altLang="zh-CN" b="1" noProof="1">
                <a:solidFill>
                  <a:schemeClr val="tx2"/>
                </a:solidFill>
              </a:rPr>
              <a:t>IP</a:t>
            </a:r>
            <a:r>
              <a:rPr lang="zh-CN" altLang="en-US" b="1" noProof="1">
                <a:solidFill>
                  <a:schemeClr val="tx2"/>
                </a:solidFill>
              </a:rPr>
              <a:t>地址过滤列表，进一步提高无线网络的安全性。</a:t>
            </a:r>
          </a:p>
        </p:txBody>
      </p:sp>
      <p:sp>
        <p:nvSpPr>
          <p:cNvPr id="54276" name="内容占位符 13"/>
          <p:cNvSpPr>
            <a:spLocks noChangeArrowheads="1"/>
          </p:cNvSpPr>
          <p:nvPr/>
        </p:nvSpPr>
        <p:spPr bwMode="auto">
          <a:xfrm>
            <a:off x="419100" y="3284538"/>
            <a:ext cx="4800600" cy="504825"/>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en-US" altLang="zh-CN" b="1">
                <a:solidFill>
                  <a:srgbClr val="0000CC"/>
                </a:solidFill>
                <a:latin typeface="Times New Roman" panose="02020603050405020304" pitchFamily="18" charset="0"/>
              </a:rPr>
              <a:t> </a:t>
            </a: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54277" name="内容占位符 13"/>
          <p:cNvSpPr>
            <a:spLocks noChangeArrowheads="1"/>
          </p:cNvSpPr>
          <p:nvPr/>
        </p:nvSpPr>
        <p:spPr bwMode="auto">
          <a:xfrm>
            <a:off x="685800" y="2997200"/>
            <a:ext cx="5686425" cy="514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500" b="1">
                <a:solidFill>
                  <a:srgbClr val="FF0000"/>
                </a:solidFill>
                <a:latin typeface="宋体" panose="02010600030101010101" pitchFamily="2" charset="-122"/>
              </a:rPr>
              <a:t>2.3.3 IEEE802.1x</a:t>
            </a:r>
            <a:r>
              <a:rPr lang="zh-CN" altLang="en-US" sz="2500" b="1">
                <a:solidFill>
                  <a:srgbClr val="FF0000"/>
                </a:solidFill>
                <a:latin typeface="宋体" panose="02010600030101010101" pitchFamily="2" charset="-122"/>
              </a:rPr>
              <a:t>身份认证</a:t>
            </a:r>
            <a:r>
              <a:rPr lang="zh-CN" altLang="en-US" sz="2400">
                <a:solidFill>
                  <a:schemeClr val="tx2"/>
                </a:solidFill>
                <a:latin typeface="宋体" panose="02010600030101010101" pitchFamily="2" charset="-122"/>
              </a:rPr>
              <a:t> </a:t>
            </a:r>
            <a:endParaRPr lang="en-US" altLang="zh-CN" sz="2400">
              <a:solidFill>
                <a:schemeClr val="tx2"/>
              </a:solidFill>
              <a:latin typeface="宋体" panose="02010600030101010101" pitchFamily="2" charset="-122"/>
            </a:endParaRPr>
          </a:p>
        </p:txBody>
      </p:sp>
      <p:sp>
        <p:nvSpPr>
          <p:cNvPr id="5" name="圆角矩形 18"/>
          <p:cNvSpPr/>
          <p:nvPr/>
        </p:nvSpPr>
        <p:spPr bwMode="gray">
          <a:xfrm>
            <a:off x="539750" y="3500438"/>
            <a:ext cx="8064500" cy="32718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buFontTx/>
              <a:buNone/>
              <a:defRPr/>
            </a:pPr>
            <a:r>
              <a:rPr lang="en-US" altLang="zh-CN" sz="2000" b="1" dirty="0">
                <a:solidFill>
                  <a:schemeClr val="tx2"/>
                </a:solidFill>
                <a:latin typeface="Arial" panose="020B0604020202020204" pitchFamily="34" charset="0"/>
              </a:rPr>
              <a:t>IEEE 802.1x是一种</a:t>
            </a:r>
            <a:r>
              <a:rPr lang="en-US" altLang="zh-CN" sz="2000" b="1" dirty="0">
                <a:solidFill>
                  <a:srgbClr val="C00000"/>
                </a:solidFill>
                <a:latin typeface="Arial" panose="020B0604020202020204" pitchFamily="34" charset="0"/>
              </a:rPr>
              <a:t>基于端口的网络接入控制技术</a:t>
            </a:r>
            <a:r>
              <a:rPr lang="en-US" altLang="zh-CN" sz="2000" b="1" dirty="0">
                <a:solidFill>
                  <a:schemeClr val="tx2"/>
                </a:solidFill>
                <a:latin typeface="Arial" panose="020B0604020202020204" pitchFamily="34" charset="0"/>
              </a:rPr>
              <a:t>，以网络设备的物理接入级（交换机端口）对接入设备进行认证和控制。</a:t>
            </a:r>
            <a:r>
              <a:rPr lang="en-US" altLang="zh-CN" sz="2000" b="1" dirty="0" err="1">
                <a:solidFill>
                  <a:schemeClr val="tx2"/>
                </a:solidFill>
                <a:latin typeface="Arial" panose="020B0604020202020204" pitchFamily="34" charset="0"/>
              </a:rPr>
              <a:t>可提供一个可靠的用户认证和密钥分发的框架，控制用户只在认证通过后才可连接网络</a:t>
            </a:r>
            <a:r>
              <a:rPr lang="en-US" altLang="zh-CN" sz="2000" b="1" dirty="0">
                <a:solidFill>
                  <a:schemeClr val="tx2"/>
                </a:solidFill>
                <a:latin typeface="Arial" panose="020B0604020202020204" pitchFamily="34" charset="0"/>
              </a:rPr>
              <a:t>。本身并不提供实际的认证机制，</a:t>
            </a:r>
            <a:r>
              <a:rPr lang="en-US" altLang="zh-CN" sz="2000" b="1" dirty="0">
                <a:solidFill>
                  <a:srgbClr val="C00000"/>
                </a:solidFill>
                <a:latin typeface="Arial" panose="020B0604020202020204" pitchFamily="34" charset="0"/>
              </a:rPr>
              <a:t>需要和上层认证协议EAP配合实现用户认证和密钥分发</a:t>
            </a:r>
            <a:r>
              <a:rPr lang="en-US" altLang="zh-CN" sz="2000" b="1" dirty="0">
                <a:solidFill>
                  <a:schemeClr val="tx2"/>
                </a:solidFill>
                <a:latin typeface="Arial" panose="020B0604020202020204" pitchFamily="34" charset="0"/>
              </a:rPr>
              <a:t>。</a:t>
            </a:r>
          </a:p>
          <a:p>
            <a:pPr indent="457200">
              <a:buFontTx/>
              <a:buNone/>
              <a:defRPr/>
            </a:pPr>
            <a:r>
              <a:rPr lang="en-US" altLang="zh-CN" b="1" dirty="0">
                <a:solidFill>
                  <a:srgbClr val="FF0000"/>
                </a:solidFill>
                <a:latin typeface="Arial" panose="020B0604020202020204" pitchFamily="34" charset="0"/>
              </a:rPr>
              <a:t>IEEE 802.1x认证过程</a:t>
            </a:r>
            <a:r>
              <a:rPr lang="en-US" altLang="zh-CN"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下图</a:t>
            </a:r>
            <a:r>
              <a:rPr lang="en-US" altLang="zh-CN" b="1" dirty="0">
                <a:solidFill>
                  <a:schemeClr val="tx2"/>
                </a:solidFill>
                <a:latin typeface="Arial" panose="020B0604020202020204" pitchFamily="34" charset="0"/>
              </a:rPr>
              <a:t>)：</a:t>
            </a:r>
          </a:p>
          <a:p>
            <a:pPr indent="457200">
              <a:buFontTx/>
              <a:buNone/>
              <a:defRPr/>
            </a:pPr>
            <a:r>
              <a:rPr lang="en-US" altLang="zh-CN" b="1" dirty="0">
                <a:solidFill>
                  <a:schemeClr val="tx2"/>
                </a:solidFill>
                <a:latin typeface="Arial" panose="020B0604020202020204" pitchFamily="34" charset="0"/>
              </a:rPr>
              <a:t>1）无线客户端向AP发送请求，尝试与AP进行通信。</a:t>
            </a:r>
          </a:p>
          <a:p>
            <a:pPr indent="457200">
              <a:buFontTx/>
              <a:buNone/>
              <a:defRPr/>
            </a:pPr>
            <a:r>
              <a:rPr lang="en-US" altLang="zh-CN" b="1" dirty="0">
                <a:solidFill>
                  <a:schemeClr val="tx2"/>
                </a:solidFill>
                <a:latin typeface="Arial" panose="020B0604020202020204" pitchFamily="34" charset="0"/>
              </a:rPr>
              <a:t>2）AP将加密数据发送给验证服务器进行用户身份认证。</a:t>
            </a:r>
          </a:p>
          <a:p>
            <a:pPr indent="457200">
              <a:buFontTx/>
              <a:buNone/>
              <a:defRPr/>
            </a:pPr>
            <a:r>
              <a:rPr lang="en-US" altLang="zh-CN" b="1" dirty="0">
                <a:solidFill>
                  <a:schemeClr val="tx2"/>
                </a:solidFill>
                <a:latin typeface="Arial" panose="020B0604020202020204" pitchFamily="34" charset="0"/>
              </a:rPr>
              <a:t>3）验证服务器确认用户身份后，AP允许该用户接入。</a:t>
            </a:r>
          </a:p>
          <a:p>
            <a:pPr indent="457200">
              <a:buFontTx/>
              <a:buNone/>
              <a:defRPr/>
            </a:pPr>
            <a:r>
              <a:rPr lang="en-US" altLang="zh-CN" b="1" dirty="0">
                <a:solidFill>
                  <a:schemeClr val="tx2"/>
                </a:solidFill>
                <a:latin typeface="Arial" panose="020B0604020202020204" pitchFamily="34" charset="0"/>
              </a:rPr>
              <a:t>4）建立网络连接后授权用户通过AP访问网络资源</a:t>
            </a:r>
            <a:r>
              <a:rPr lang="en-US" altLang="zh-CN" sz="2000" b="1" dirty="0">
                <a:solidFill>
                  <a:schemeClr val="tx2"/>
                </a:solidFill>
                <a:latin typeface="Arial" panose="020B0604020202020204" pitchFamily="34" charset="0"/>
              </a:rPr>
              <a:t>。</a:t>
            </a:r>
            <a:endParaRPr lang="zh-CN" altLang="en-US" sz="2000" b="1" dirty="0">
              <a:solidFill>
                <a:schemeClr val="tx2"/>
              </a:solidFill>
              <a:latin typeface="Arial" panose="020B0604020202020204" pitchFamily="34" charset="0"/>
            </a:endParaRPr>
          </a:p>
        </p:txBody>
      </p:sp>
      <p:pic>
        <p:nvPicPr>
          <p:cNvPr id="54279" name="Picture 9" descr="j0205582"/>
          <p:cNvPicPr>
            <a:picLocks noChangeAspect="1" noChangeArrowheads="1"/>
          </p:cNvPicPr>
          <p:nvPr/>
        </p:nvPicPr>
        <p:blipFill>
          <a:blip r:embed="rId2" cstate="print"/>
          <a:srcRect/>
          <a:stretch>
            <a:fillRect/>
          </a:stretch>
        </p:blipFill>
        <p:spPr bwMode="auto">
          <a:xfrm>
            <a:off x="7169150" y="5283200"/>
            <a:ext cx="1452563" cy="1198563"/>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19" name="圆角矩形 18"/>
          <p:cNvSpPr/>
          <p:nvPr/>
        </p:nvSpPr>
        <p:spPr bwMode="gray">
          <a:xfrm>
            <a:off x="577850" y="1196975"/>
            <a:ext cx="8064500" cy="224631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sz="2200" b="1">
                <a:solidFill>
                  <a:schemeClr val="tx2"/>
                </a:solidFill>
                <a:latin typeface="Arial" panose="020B0604020202020204" pitchFamily="34" charset="0"/>
              </a:rPr>
              <a:t>       用</a:t>
            </a:r>
            <a:r>
              <a:rPr lang="en-US" altLang="zh-CN" sz="2200" b="1">
                <a:solidFill>
                  <a:schemeClr val="tx2"/>
                </a:solidFill>
                <a:latin typeface="Arial" panose="020B0604020202020204" pitchFamily="34" charset="0"/>
              </a:rPr>
              <a:t>IEEE 802.1x</a:t>
            </a:r>
            <a:r>
              <a:rPr lang="zh-CN" altLang="en-US" sz="2200" b="1">
                <a:solidFill>
                  <a:schemeClr val="tx2"/>
                </a:solidFill>
                <a:latin typeface="Arial" panose="020B0604020202020204" pitchFamily="34" charset="0"/>
              </a:rPr>
              <a:t>和</a:t>
            </a:r>
            <a:r>
              <a:rPr lang="en-US" altLang="zh-CN" sz="2200" b="1">
                <a:solidFill>
                  <a:schemeClr val="tx2"/>
                </a:solidFill>
                <a:latin typeface="Arial" panose="020B0604020202020204" pitchFamily="34" charset="0"/>
              </a:rPr>
              <a:t>EAP</a:t>
            </a:r>
            <a:r>
              <a:rPr lang="zh-CN" altLang="en-US" sz="2200" b="1">
                <a:solidFill>
                  <a:schemeClr val="tx2"/>
                </a:solidFill>
                <a:latin typeface="Arial" panose="020B0604020202020204" pitchFamily="34" charset="0"/>
              </a:rPr>
              <a:t>作为</a:t>
            </a:r>
            <a:r>
              <a:rPr lang="zh-CN" altLang="en-US" sz="2200" b="1">
                <a:solidFill>
                  <a:srgbClr val="FF0000"/>
                </a:solidFill>
                <a:latin typeface="Arial" panose="020B0604020202020204" pitchFamily="34" charset="0"/>
              </a:rPr>
              <a:t>身份认证</a:t>
            </a:r>
            <a:r>
              <a:rPr lang="zh-CN" altLang="en-US" sz="2200" b="1">
                <a:solidFill>
                  <a:srgbClr val="990033"/>
                </a:solidFill>
                <a:latin typeface="Arial" panose="020B0604020202020204" pitchFamily="34" charset="0"/>
              </a:rPr>
              <a:t>的无线网络</a:t>
            </a:r>
            <a:r>
              <a:rPr lang="zh-CN" altLang="en-US" sz="2200" b="1">
                <a:solidFill>
                  <a:schemeClr val="tx2"/>
                </a:solidFill>
                <a:latin typeface="Arial" panose="020B0604020202020204" pitchFamily="34" charset="0"/>
              </a:rPr>
              <a:t>，</a:t>
            </a:r>
          </a:p>
          <a:p>
            <a:pPr>
              <a:defRPr/>
            </a:pPr>
            <a:r>
              <a:rPr lang="zh-CN" altLang="en-US" sz="2200" b="1">
                <a:solidFill>
                  <a:srgbClr val="0000FF"/>
                </a:solidFill>
                <a:latin typeface="Arial" panose="020B0604020202020204" pitchFamily="34" charset="0"/>
              </a:rPr>
              <a:t>可分为</a:t>
            </a:r>
            <a:r>
              <a:rPr lang="zh-CN" altLang="en-US" sz="2200" b="1">
                <a:solidFill>
                  <a:schemeClr val="tx2"/>
                </a:solidFill>
                <a:latin typeface="Arial" panose="020B0604020202020204" pitchFamily="34" charset="0"/>
              </a:rPr>
              <a:t>如图</a:t>
            </a:r>
            <a:r>
              <a:rPr lang="en-US" altLang="zh-CN" sz="2200" b="1">
                <a:solidFill>
                  <a:schemeClr val="tx2"/>
                </a:solidFill>
                <a:latin typeface="Arial" panose="020B0604020202020204" pitchFamily="34" charset="0"/>
              </a:rPr>
              <a:t>2-6</a:t>
            </a:r>
            <a:r>
              <a:rPr lang="zh-CN" altLang="en-US" sz="2200" b="1">
                <a:solidFill>
                  <a:schemeClr val="tx2"/>
                </a:solidFill>
                <a:latin typeface="Arial" panose="020B0604020202020204" pitchFamily="34" charset="0"/>
              </a:rPr>
              <a:t>所示的</a:t>
            </a:r>
            <a:r>
              <a:rPr lang="en-US" altLang="zh-CN" sz="2200" b="1">
                <a:solidFill>
                  <a:srgbClr val="FF0000"/>
                </a:solidFill>
                <a:latin typeface="Arial" panose="020B0604020202020204" pitchFamily="34" charset="0"/>
              </a:rPr>
              <a:t>3</a:t>
            </a:r>
            <a:r>
              <a:rPr lang="zh-CN" altLang="en-US" sz="2200" b="1">
                <a:solidFill>
                  <a:srgbClr val="FF0000"/>
                </a:solidFill>
                <a:latin typeface="Arial" panose="020B0604020202020204" pitchFamily="34" charset="0"/>
              </a:rPr>
              <a:t>个主要部分</a:t>
            </a:r>
            <a:r>
              <a:rPr lang="zh-CN" altLang="en-US" sz="2200" b="1">
                <a:solidFill>
                  <a:schemeClr val="tx2"/>
                </a:solidFill>
                <a:latin typeface="Arial" panose="020B0604020202020204" pitchFamily="34" charset="0"/>
              </a:rPr>
              <a:t>。</a:t>
            </a:r>
          </a:p>
          <a:p>
            <a:pPr>
              <a:defRPr/>
            </a:pPr>
            <a:r>
              <a:rPr lang="zh-CN" altLang="en-US" sz="2200" b="1">
                <a:solidFill>
                  <a:schemeClr val="tx2"/>
                </a:solidFill>
                <a:latin typeface="Arial" panose="020B0604020202020204" pitchFamily="34" charset="0"/>
              </a:rPr>
              <a:t>    （</a:t>
            </a:r>
            <a:r>
              <a:rPr lang="en-US" altLang="zh-CN" sz="2200" b="1">
                <a:solidFill>
                  <a:schemeClr val="tx2"/>
                </a:solidFill>
                <a:latin typeface="Arial" panose="020B0604020202020204" pitchFamily="34" charset="0"/>
              </a:rPr>
              <a:t>1</a:t>
            </a:r>
            <a:r>
              <a:rPr lang="zh-CN" altLang="en-US" sz="2200" b="1">
                <a:solidFill>
                  <a:schemeClr val="tx2"/>
                </a:solidFill>
                <a:latin typeface="Arial" panose="020B0604020202020204" pitchFamily="34" charset="0"/>
              </a:rPr>
              <a:t>）请求者。运行在无线工作站上的软件客户端。</a:t>
            </a:r>
          </a:p>
          <a:p>
            <a:pPr>
              <a:defRPr/>
            </a:pPr>
            <a:r>
              <a:rPr lang="zh-CN" altLang="en-US" sz="2200" b="1">
                <a:solidFill>
                  <a:schemeClr val="tx2"/>
                </a:solidFill>
                <a:latin typeface="Arial" panose="020B0604020202020204" pitchFamily="34" charset="0"/>
              </a:rPr>
              <a:t>    （</a:t>
            </a:r>
            <a:r>
              <a:rPr lang="en-US" altLang="zh-CN" sz="2200" b="1">
                <a:solidFill>
                  <a:schemeClr val="tx2"/>
                </a:solidFill>
                <a:latin typeface="Arial" panose="020B0604020202020204" pitchFamily="34" charset="0"/>
              </a:rPr>
              <a:t>2</a:t>
            </a:r>
            <a:r>
              <a:rPr lang="zh-CN" altLang="en-US" sz="2200" b="1">
                <a:solidFill>
                  <a:schemeClr val="tx2"/>
                </a:solidFill>
                <a:latin typeface="Arial" panose="020B0604020202020204" pitchFamily="34" charset="0"/>
              </a:rPr>
              <a:t>）认证者。无线访问点。</a:t>
            </a:r>
          </a:p>
          <a:p>
            <a:pPr>
              <a:defRPr/>
            </a:pPr>
            <a:r>
              <a:rPr lang="zh-CN" altLang="en-US" sz="2200" b="1">
                <a:solidFill>
                  <a:schemeClr val="tx2"/>
                </a:solidFill>
                <a:latin typeface="Arial" panose="020B0604020202020204" pitchFamily="34" charset="0"/>
              </a:rPr>
              <a:t>    （</a:t>
            </a:r>
            <a:r>
              <a:rPr lang="en-US" altLang="zh-CN" sz="2200" b="1">
                <a:solidFill>
                  <a:schemeClr val="tx2"/>
                </a:solidFill>
                <a:latin typeface="Arial" panose="020B0604020202020204" pitchFamily="34" charset="0"/>
              </a:rPr>
              <a:t>3</a:t>
            </a:r>
            <a:r>
              <a:rPr lang="zh-CN" altLang="en-US" sz="2200" b="1">
                <a:solidFill>
                  <a:schemeClr val="tx2"/>
                </a:solidFill>
                <a:latin typeface="Arial" panose="020B0604020202020204" pitchFamily="34" charset="0"/>
              </a:rPr>
              <a:t>）认证服务器。作为一个认证数据库</a:t>
            </a:r>
            <a:r>
              <a:rPr lang="en-US" altLang="zh-CN" sz="2200" b="1">
                <a:solidFill>
                  <a:schemeClr val="tx2"/>
                </a:solidFill>
                <a:latin typeface="Arial" panose="020B0604020202020204" pitchFamily="34" charset="0"/>
              </a:rPr>
              <a:t>,</a:t>
            </a:r>
            <a:r>
              <a:rPr lang="zh-CN" altLang="en-US" sz="2200" b="1">
                <a:solidFill>
                  <a:schemeClr val="tx2"/>
                </a:solidFill>
                <a:latin typeface="Arial" panose="020B0604020202020204" pitchFamily="34" charset="0"/>
              </a:rPr>
              <a:t>通常是一个</a:t>
            </a:r>
            <a:r>
              <a:rPr lang="en-US" altLang="zh-CN" b="1" u="sng">
                <a:solidFill>
                  <a:srgbClr val="FF0000"/>
                </a:solidFill>
                <a:latin typeface="Arial" panose="020B0604020202020204" pitchFamily="34" charset="0"/>
              </a:rPr>
              <a:t>RADIUS</a:t>
            </a:r>
            <a:r>
              <a:rPr lang="zh-CN" altLang="en-US" sz="2200" b="1">
                <a:solidFill>
                  <a:schemeClr val="tx2"/>
                </a:solidFill>
                <a:latin typeface="Arial" panose="020B0604020202020204" pitchFamily="34" charset="0"/>
              </a:rPr>
              <a:t>服务器的形式，如</a:t>
            </a:r>
            <a:r>
              <a:rPr lang="zh-CN" altLang="en-US" sz="2200" b="1">
                <a:solidFill>
                  <a:srgbClr val="006600"/>
                </a:solidFill>
                <a:latin typeface="Arial" panose="020B0604020202020204" pitchFamily="34" charset="0"/>
              </a:rPr>
              <a:t>微软公司的</a:t>
            </a:r>
            <a:r>
              <a:rPr lang="en-US" altLang="zh-CN" sz="2200" b="1" u="sng">
                <a:solidFill>
                  <a:srgbClr val="006600"/>
                </a:solidFill>
                <a:latin typeface="Arial" panose="020B0604020202020204" pitchFamily="34" charset="0"/>
              </a:rPr>
              <a:t>IAS</a:t>
            </a:r>
            <a:r>
              <a:rPr lang="zh-CN" altLang="en-US" sz="2200" b="1">
                <a:solidFill>
                  <a:schemeClr val="tx2"/>
                </a:solidFill>
                <a:latin typeface="Arial" panose="020B0604020202020204" pitchFamily="34" charset="0"/>
              </a:rPr>
              <a:t>等。</a:t>
            </a:r>
            <a:endParaRPr lang="en-US" altLang="zh-CN" sz="2200" b="1">
              <a:solidFill>
                <a:schemeClr val="tx2"/>
              </a:solidFill>
              <a:latin typeface="Arial" panose="020B0604020202020204" pitchFamily="34" charset="0"/>
            </a:endParaRPr>
          </a:p>
        </p:txBody>
      </p:sp>
      <p:sp>
        <p:nvSpPr>
          <p:cNvPr id="55299" name="内容占位符 13"/>
          <p:cNvSpPr>
            <a:spLocks noChangeArrowheads="1"/>
          </p:cNvSpPr>
          <p:nvPr/>
        </p:nvSpPr>
        <p:spPr bwMode="auto">
          <a:xfrm>
            <a:off x="395288" y="1196975"/>
            <a:ext cx="8153400" cy="360363"/>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r>
              <a:rPr lang="en-US" altLang="zh-CN" b="1">
                <a:solidFill>
                  <a:srgbClr val="0000CC"/>
                </a:solidFill>
                <a:latin typeface="Times New Roman" panose="02020603050405020304" pitchFamily="18" charset="0"/>
              </a:rPr>
              <a:t>  </a:t>
            </a: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graphicFrame>
        <p:nvGraphicFramePr>
          <p:cNvPr id="55300" name="Object 7"/>
          <p:cNvGraphicFramePr>
            <a:graphicFrameLocks noChangeAspect="1"/>
          </p:cNvGraphicFramePr>
          <p:nvPr/>
        </p:nvGraphicFramePr>
        <p:xfrm>
          <a:off x="511175" y="3721100"/>
          <a:ext cx="4679950" cy="1722438"/>
        </p:xfrm>
        <a:graphic>
          <a:graphicData uri="http://schemas.openxmlformats.org/presentationml/2006/ole">
            <mc:AlternateContent xmlns:mc="http://schemas.openxmlformats.org/markup-compatibility/2006">
              <mc:Choice xmlns:v="urn:schemas-microsoft-com:vml" Requires="v">
                <p:oleObj spid="_x0000_s3149" r:id="rId3" imgW="5133340" imgH="1598295" progId="">
                  <p:embed/>
                </p:oleObj>
              </mc:Choice>
              <mc:Fallback>
                <p:oleObj r:id="rId3" imgW="5133340" imgH="1598295" progId="">
                  <p:embed/>
                  <p:pic>
                    <p:nvPicPr>
                      <p:cNvPr id="0" name="Object 7"/>
                      <p:cNvPicPr>
                        <a:picLocks noChangeAspect="1"/>
                      </p:cNvPicPr>
                      <p:nvPr/>
                    </p:nvPicPr>
                    <p:blipFill>
                      <a:blip r:embed="rId4"/>
                      <a:stretch>
                        <a:fillRect/>
                      </a:stretch>
                    </p:blipFill>
                    <p:spPr>
                      <a:xfrm>
                        <a:off x="511175" y="3721100"/>
                        <a:ext cx="4679950" cy="1722438"/>
                      </a:xfrm>
                      <a:prstGeom prst="rect">
                        <a:avLst/>
                      </a:prstGeom>
                      <a:noFill/>
                      <a:ln w="38100">
                        <a:noFill/>
                      </a:ln>
                    </p:spPr>
                  </p:pic>
                </p:oleObj>
              </mc:Fallback>
            </mc:AlternateContent>
          </a:graphicData>
        </a:graphic>
      </p:graphicFrame>
      <p:sp>
        <p:nvSpPr>
          <p:cNvPr id="55301" name="内容占位符 13"/>
          <p:cNvSpPr>
            <a:spLocks noChangeArrowheads="1"/>
          </p:cNvSpPr>
          <p:nvPr/>
        </p:nvSpPr>
        <p:spPr bwMode="auto">
          <a:xfrm>
            <a:off x="933450" y="5575300"/>
            <a:ext cx="4032250" cy="358775"/>
          </a:xfrm>
          <a:prstGeom prst="rect">
            <a:avLst/>
          </a:prstGeom>
          <a:noFill/>
          <a:ln w="9525">
            <a:noFill/>
            <a:miter lim="800000"/>
          </a:ln>
        </p:spPr>
        <p:txBody>
          <a:bodyPr/>
          <a:lstStyle/>
          <a:p>
            <a:pPr marL="342900" indent="-342900"/>
            <a:r>
              <a:rPr lang="zh-CN" altLang="en-US" sz="1400" b="1">
                <a:solidFill>
                  <a:srgbClr val="C00000"/>
                </a:solidFill>
                <a:latin typeface="宋体" panose="02010600030101010101" pitchFamily="2" charset="-122"/>
              </a:rPr>
              <a:t>图</a:t>
            </a:r>
            <a:r>
              <a:rPr lang="en-US" altLang="zh-CN" sz="1400" b="1">
                <a:solidFill>
                  <a:srgbClr val="C00000"/>
                </a:solidFill>
                <a:latin typeface="宋体" panose="02010600030101010101" pitchFamily="2" charset="-122"/>
              </a:rPr>
              <a:t>2-6 </a:t>
            </a:r>
            <a:r>
              <a:rPr lang="zh-CN" altLang="en-US" sz="1400" b="1">
                <a:solidFill>
                  <a:srgbClr val="C00000"/>
                </a:solidFill>
                <a:latin typeface="宋体" panose="02010600030101010101" pitchFamily="2" charset="-122"/>
              </a:rPr>
              <a:t>使用</a:t>
            </a:r>
            <a:r>
              <a:rPr lang="en-US" altLang="zh-CN" sz="1400" b="1">
                <a:solidFill>
                  <a:srgbClr val="C00000"/>
                </a:solidFill>
                <a:latin typeface="宋体" panose="02010600030101010101" pitchFamily="2" charset="-122"/>
              </a:rPr>
              <a:t>802.1x</a:t>
            </a:r>
            <a:r>
              <a:rPr lang="zh-CN" altLang="en-US" sz="1400" b="1">
                <a:solidFill>
                  <a:srgbClr val="C00000"/>
                </a:solidFill>
                <a:latin typeface="宋体" panose="02010600030101010101" pitchFamily="2" charset="-122"/>
              </a:rPr>
              <a:t>及</a:t>
            </a:r>
            <a:r>
              <a:rPr lang="en-US" altLang="zh-CN" sz="1400" b="1">
                <a:solidFill>
                  <a:srgbClr val="C00000"/>
                </a:solidFill>
                <a:latin typeface="宋体" panose="02010600030101010101" pitchFamily="2" charset="-122"/>
              </a:rPr>
              <a:t>EAP</a:t>
            </a:r>
            <a:r>
              <a:rPr lang="zh-CN" altLang="en-US" sz="1400" b="1">
                <a:solidFill>
                  <a:srgbClr val="C00000"/>
                </a:solidFill>
                <a:latin typeface="宋体" panose="02010600030101010101" pitchFamily="2" charset="-122"/>
              </a:rPr>
              <a:t>身份认证的无线网络</a:t>
            </a:r>
            <a:endParaRPr lang="en-US" altLang="zh-CN" sz="1400" b="1">
              <a:solidFill>
                <a:srgbClr val="C00000"/>
              </a:solidFill>
              <a:latin typeface="宋体" panose="02010600030101010101" pitchFamily="2" charset="-122"/>
            </a:endParaRPr>
          </a:p>
        </p:txBody>
      </p:sp>
      <p:sp>
        <p:nvSpPr>
          <p:cNvPr id="55302" name="AutoShape 9"/>
          <p:cNvSpPr>
            <a:spLocks noChangeArrowheads="1"/>
          </p:cNvSpPr>
          <p:nvPr/>
        </p:nvSpPr>
        <p:spPr bwMode="auto">
          <a:xfrm>
            <a:off x="7308850" y="1662113"/>
            <a:ext cx="1655763" cy="933450"/>
          </a:xfrm>
          <a:prstGeom prst="wedgeRectCallout">
            <a:avLst>
              <a:gd name="adj1" fmla="val -33796"/>
              <a:gd name="adj2" fmla="val 60130"/>
            </a:avLst>
          </a:prstGeom>
          <a:solidFill>
            <a:srgbClr val="FFFF99"/>
          </a:solidFill>
          <a:ln w="9525">
            <a:solidFill>
              <a:schemeClr val="tx1"/>
            </a:solidFill>
            <a:miter lim="800000"/>
          </a:ln>
        </p:spPr>
        <p:txBody>
          <a:bodyPr/>
          <a:lstStyle/>
          <a:p>
            <a:r>
              <a:rPr lang="zh-CN" altLang="en-US" sz="1300" b="1">
                <a:solidFill>
                  <a:srgbClr val="FF0000"/>
                </a:solidFill>
              </a:rPr>
              <a:t>远程用户拨号认证系统</a:t>
            </a:r>
            <a:r>
              <a:rPr lang="zh-CN" altLang="en-US" sz="1300" b="1">
                <a:solidFill>
                  <a:schemeClr val="tx2"/>
                </a:solidFill>
              </a:rPr>
              <a:t>是应用最广泛的</a:t>
            </a:r>
            <a:r>
              <a:rPr lang="en-US" altLang="zh-CN" sz="1300" b="1">
                <a:solidFill>
                  <a:schemeClr val="tx2"/>
                </a:solidFill>
                <a:hlinkClick r:id="rId5"/>
              </a:rPr>
              <a:t>AAA</a:t>
            </a:r>
            <a:r>
              <a:rPr lang="zh-CN" altLang="en-US" sz="1300" b="1">
                <a:solidFill>
                  <a:schemeClr val="tx2"/>
                </a:solidFill>
                <a:hlinkClick r:id="rId5"/>
              </a:rPr>
              <a:t>协议</a:t>
            </a:r>
            <a:r>
              <a:rPr lang="en-US" altLang="zh-CN" sz="1300">
                <a:solidFill>
                  <a:schemeClr val="tx2"/>
                </a:solidFill>
              </a:rPr>
              <a:t>(</a:t>
            </a:r>
            <a:r>
              <a:rPr lang="zh-CN" altLang="en-US" sz="1300">
                <a:solidFill>
                  <a:schemeClr val="tx2"/>
                </a:solidFill>
              </a:rPr>
              <a:t>认证、授权、审计</a:t>
            </a:r>
            <a:r>
              <a:rPr lang="en-US" altLang="zh-CN" sz="1300">
                <a:solidFill>
                  <a:schemeClr val="tx2"/>
                </a:solidFill>
              </a:rPr>
              <a:t>(</a:t>
            </a:r>
            <a:r>
              <a:rPr lang="zh-CN" altLang="en-US" sz="1300">
                <a:solidFill>
                  <a:schemeClr val="tx2"/>
                </a:solidFill>
              </a:rPr>
              <a:t>计费</a:t>
            </a:r>
            <a:r>
              <a:rPr lang="en-US" altLang="zh-CN" sz="1300">
                <a:solidFill>
                  <a:schemeClr val="tx2"/>
                </a:solidFill>
              </a:rPr>
              <a:t>)) </a:t>
            </a:r>
          </a:p>
        </p:txBody>
      </p:sp>
      <p:pic>
        <p:nvPicPr>
          <p:cNvPr id="55303" name="Picture 10"/>
          <p:cNvPicPr>
            <a:picLocks noChangeAspect="1" noChangeArrowheads="1"/>
          </p:cNvPicPr>
          <p:nvPr/>
        </p:nvPicPr>
        <p:blipFill>
          <a:blip r:embed="rId6" cstate="print"/>
          <a:srcRect/>
          <a:stretch>
            <a:fillRect/>
          </a:stretch>
        </p:blipFill>
        <p:spPr bwMode="auto">
          <a:xfrm>
            <a:off x="5256213" y="3536950"/>
            <a:ext cx="3708400" cy="2981325"/>
          </a:xfrm>
          <a:prstGeom prst="rect">
            <a:avLst/>
          </a:prstGeom>
          <a:noFill/>
          <a:ln w="9525">
            <a:noFill/>
            <a:miter lim="800000"/>
            <a:headEnd/>
            <a:tailEnd/>
          </a:ln>
        </p:spPr>
      </p:pic>
      <p:sp>
        <p:nvSpPr>
          <p:cNvPr id="55304" name="Rectangle 11"/>
          <p:cNvSpPr>
            <a:spLocks noChangeArrowheads="1"/>
          </p:cNvSpPr>
          <p:nvPr/>
        </p:nvSpPr>
        <p:spPr bwMode="auto">
          <a:xfrm>
            <a:off x="4038600" y="3443288"/>
            <a:ext cx="1066800" cy="182562"/>
          </a:xfrm>
          <a:prstGeom prst="rect">
            <a:avLst/>
          </a:prstGeom>
          <a:solidFill>
            <a:srgbClr val="FFFFFF"/>
          </a:solidFill>
          <a:ln w="9525">
            <a:noFill/>
            <a:miter lim="800000"/>
          </a:ln>
        </p:spPr>
        <p:txBody>
          <a:bodyPr wrap="none" lIns="0" tIns="0" rIns="0" bIns="0" anchor="ctr">
            <a:spAutoFit/>
          </a:bodyPr>
          <a:lstStyle/>
          <a:p>
            <a:r>
              <a:rPr lang="zh-CN" altLang="en-US" sz="1200">
                <a:solidFill>
                  <a:srgbClr val="990033"/>
                </a:solidFill>
              </a:rPr>
              <a:t>互联网认证服务</a:t>
            </a:r>
            <a:endParaRPr lang="en-US" altLang="zh-CN" sz="1200">
              <a:solidFill>
                <a:srgbClr val="990033"/>
              </a:solidFill>
              <a:latin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内容占位符 13"/>
          <p:cNvSpPr>
            <a:spLocks noGrp="1" noChangeArrowheads="1"/>
          </p:cNvSpPr>
          <p:nvPr>
            <p:ph idx="4294967295"/>
          </p:nvPr>
        </p:nvSpPr>
        <p:spPr>
          <a:xfrm>
            <a:off x="435950" y="1124744"/>
            <a:ext cx="8040688" cy="3322637"/>
          </a:xfrm>
        </p:spPr>
        <p:txBody>
          <a:bodyPr/>
          <a:lstStyle/>
          <a:p>
            <a:pPr eaLnBrk="1" hangingPunct="1">
              <a:buFont typeface="Wingdings" panose="05000000000000000000" pitchFamily="2" charset="2"/>
              <a:buNone/>
            </a:pPr>
            <a:r>
              <a:rPr lang="en-US" altLang="zh-CN" sz="2800" dirty="0" smtClean="0">
                <a:solidFill>
                  <a:srgbClr val="FF0000"/>
                </a:solidFill>
              </a:rPr>
              <a:t>2.3.4 </a:t>
            </a:r>
            <a:r>
              <a:rPr lang="zh-CN" altLang="en-US" sz="2800" dirty="0" smtClean="0">
                <a:solidFill>
                  <a:srgbClr val="FF0000"/>
                </a:solidFill>
              </a:rPr>
              <a:t>无线网络安全技术应用</a:t>
            </a:r>
            <a:r>
              <a:rPr lang="zh-CN" altLang="en-US" dirty="0" smtClean="0"/>
              <a:t> </a:t>
            </a:r>
            <a:endParaRPr lang="en-US" altLang="zh-CN" dirty="0" smtClean="0"/>
          </a:p>
        </p:txBody>
      </p:sp>
      <p:sp>
        <p:nvSpPr>
          <p:cNvPr id="19" name="圆角矩形 18"/>
          <p:cNvSpPr/>
          <p:nvPr/>
        </p:nvSpPr>
        <p:spPr bwMode="gray">
          <a:xfrm>
            <a:off x="539750" y="1700808"/>
            <a:ext cx="8064500" cy="475238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10000"/>
              </a:spcBef>
              <a:spcAft>
                <a:spcPct val="10000"/>
              </a:spcAft>
              <a:defRPr/>
            </a:pPr>
            <a:r>
              <a:rPr lang="zh-CN" altLang="en-US" sz="2300" b="1" dirty="0">
                <a:solidFill>
                  <a:schemeClr val="tx2"/>
                </a:solidFill>
                <a:latin typeface="Arial" panose="020B0604020202020204" pitchFamily="34" charset="0"/>
              </a:rPr>
              <a:t>      </a:t>
            </a:r>
            <a:r>
              <a:rPr lang="zh-CN" altLang="en-US" sz="2300" b="1" dirty="0">
                <a:solidFill>
                  <a:srgbClr val="CC0000"/>
                </a:solidFill>
                <a:latin typeface="Arial" panose="020B0604020202020204" pitchFamily="34" charset="0"/>
              </a:rPr>
              <a:t>无线网络</a:t>
            </a:r>
            <a:r>
              <a:rPr lang="zh-CN" altLang="en-US" sz="2300" b="1" dirty="0">
                <a:solidFill>
                  <a:schemeClr val="tx2"/>
                </a:solidFill>
                <a:latin typeface="Arial" panose="020B0604020202020204" pitchFamily="34" charset="0"/>
              </a:rPr>
              <a:t>在</a:t>
            </a:r>
            <a:r>
              <a:rPr lang="zh-CN" altLang="en-US" sz="2300" b="1" dirty="0">
                <a:solidFill>
                  <a:srgbClr val="0000FF"/>
                </a:solidFill>
                <a:latin typeface="Arial" panose="020B0604020202020204" pitchFamily="34" charset="0"/>
              </a:rPr>
              <a:t>不同的应用环境</a:t>
            </a:r>
            <a:r>
              <a:rPr lang="zh-CN" altLang="en-US" sz="2300" b="1" dirty="0">
                <a:solidFill>
                  <a:schemeClr val="tx2"/>
                </a:solidFill>
                <a:latin typeface="Arial" panose="020B0604020202020204" pitchFamily="34" charset="0"/>
              </a:rPr>
              <a:t>对其安全性的需求各异</a:t>
            </a:r>
            <a:r>
              <a:rPr lang="en-US" altLang="zh-CN" sz="2300" b="1" dirty="0">
                <a:solidFill>
                  <a:schemeClr val="tx2"/>
                </a:solidFill>
                <a:latin typeface="Arial" panose="020B0604020202020204" pitchFamily="34" charset="0"/>
              </a:rPr>
              <a:t>,</a:t>
            </a:r>
            <a:r>
              <a:rPr lang="zh-CN" altLang="en-US" sz="2300" b="1" dirty="0">
                <a:solidFill>
                  <a:schemeClr val="tx2"/>
                </a:solidFill>
                <a:latin typeface="Arial" panose="020B0604020202020204" pitchFamily="34" charset="0"/>
              </a:rPr>
              <a:t>以</a:t>
            </a:r>
            <a:r>
              <a:rPr lang="en-US" altLang="zh-CN" sz="2300" b="1" dirty="0" err="1">
                <a:solidFill>
                  <a:schemeClr val="tx2"/>
                </a:solidFill>
                <a:latin typeface="Arial" panose="020B0604020202020204" pitchFamily="34" charset="0"/>
              </a:rPr>
              <a:t>AboveCable</a:t>
            </a:r>
            <a:r>
              <a:rPr lang="zh-CN" altLang="en-US" sz="2300" b="1" dirty="0">
                <a:solidFill>
                  <a:schemeClr val="tx2"/>
                </a:solidFill>
                <a:latin typeface="Arial" panose="020B0604020202020204" pitchFamily="34" charset="0"/>
              </a:rPr>
              <a:t>公司的无线网络安全技术作为实例。为了更好地</a:t>
            </a:r>
            <a:r>
              <a:rPr lang="zh-CN" altLang="en-US" sz="2300" b="1" dirty="0">
                <a:solidFill>
                  <a:srgbClr val="0000FF"/>
                </a:solidFill>
                <a:latin typeface="Arial" panose="020B0604020202020204" pitchFamily="34" charset="0"/>
              </a:rPr>
              <a:t>发挥</a:t>
            </a:r>
            <a:r>
              <a:rPr lang="zh-CN" altLang="en-US" sz="2300" b="1" dirty="0">
                <a:solidFill>
                  <a:srgbClr val="006600"/>
                </a:solidFill>
                <a:latin typeface="Arial" panose="020B0604020202020204" pitchFamily="34" charset="0"/>
              </a:rPr>
              <a:t>无线网络</a:t>
            </a:r>
            <a:r>
              <a:rPr lang="zh-CN" altLang="en-US" sz="2300" b="1" dirty="0">
                <a:solidFill>
                  <a:schemeClr val="tx2"/>
                </a:solidFill>
                <a:latin typeface="Arial" panose="020B0604020202020204" pitchFamily="34" charset="0"/>
              </a:rPr>
              <a:t>“</a:t>
            </a:r>
            <a:r>
              <a:rPr lang="zh-CN" altLang="en-US" sz="2300" b="1" dirty="0">
                <a:solidFill>
                  <a:srgbClr val="990033"/>
                </a:solidFill>
                <a:latin typeface="Arial" panose="020B0604020202020204" pitchFamily="34" charset="0"/>
              </a:rPr>
              <a:t>有线速度无线自由</a:t>
            </a:r>
            <a:r>
              <a:rPr lang="zh-CN" altLang="en-US" sz="2300" b="1" dirty="0">
                <a:solidFill>
                  <a:schemeClr val="tx2"/>
                </a:solidFill>
                <a:latin typeface="Arial" panose="020B0604020202020204" pitchFamily="34" charset="0"/>
              </a:rPr>
              <a:t>”的</a:t>
            </a:r>
            <a:r>
              <a:rPr lang="zh-CN" altLang="en-US" sz="2300" b="1" dirty="0">
                <a:solidFill>
                  <a:srgbClr val="CC0000"/>
                </a:solidFill>
                <a:latin typeface="Arial" panose="020B0604020202020204" pitchFamily="34" charset="0"/>
              </a:rPr>
              <a:t>特性</a:t>
            </a:r>
            <a:r>
              <a:rPr lang="zh-CN" altLang="en-US" sz="2300" b="1" dirty="0">
                <a:solidFill>
                  <a:schemeClr val="tx2"/>
                </a:solidFill>
                <a:latin typeface="Arial" panose="020B0604020202020204" pitchFamily="34" charset="0"/>
              </a:rPr>
              <a:t>，该公司根据长期积累的经验，针对各行业对无线网络的需求，</a:t>
            </a:r>
            <a:endParaRPr lang="en-US" altLang="zh-CN" sz="2300" b="1" dirty="0">
              <a:solidFill>
                <a:schemeClr val="tx2"/>
              </a:solidFill>
              <a:latin typeface="Arial" panose="020B0604020202020204" pitchFamily="34" charset="0"/>
            </a:endParaRPr>
          </a:p>
          <a:p>
            <a:pPr>
              <a:spcBef>
                <a:spcPct val="10000"/>
              </a:spcBef>
              <a:spcAft>
                <a:spcPct val="10000"/>
              </a:spcAft>
              <a:defRPr/>
            </a:pPr>
            <a:r>
              <a:rPr lang="zh-CN" altLang="en-US" sz="2300" b="1" dirty="0">
                <a:solidFill>
                  <a:schemeClr val="tx2"/>
                </a:solidFill>
                <a:latin typeface="Arial" panose="020B0604020202020204" pitchFamily="34" charset="0"/>
              </a:rPr>
              <a:t>制定了一系列的安全方案，最大程度上方便用户</a:t>
            </a:r>
            <a:r>
              <a:rPr lang="zh-CN" altLang="en-US" sz="2300" b="1" dirty="0">
                <a:solidFill>
                  <a:srgbClr val="990033"/>
                </a:solidFill>
                <a:latin typeface="Arial" panose="020B0604020202020204" pitchFamily="34" charset="0"/>
              </a:rPr>
              <a:t>构建</a:t>
            </a:r>
            <a:endParaRPr lang="en-US" altLang="zh-CN" sz="2300" b="1" dirty="0">
              <a:solidFill>
                <a:srgbClr val="990033"/>
              </a:solidFill>
              <a:latin typeface="Arial" panose="020B0604020202020204" pitchFamily="34" charset="0"/>
            </a:endParaRPr>
          </a:p>
          <a:p>
            <a:pPr>
              <a:spcBef>
                <a:spcPct val="10000"/>
              </a:spcBef>
              <a:spcAft>
                <a:spcPct val="10000"/>
              </a:spcAft>
              <a:defRPr/>
            </a:pPr>
            <a:r>
              <a:rPr lang="zh-CN" altLang="en-US" sz="2300" b="1" dirty="0">
                <a:solidFill>
                  <a:schemeClr val="tx2"/>
                </a:solidFill>
                <a:latin typeface="Arial" panose="020B0604020202020204" pitchFamily="34" charset="0"/>
              </a:rPr>
              <a:t>安全的无线网络，节省不必要的经费。</a:t>
            </a:r>
          </a:p>
          <a:p>
            <a:pPr indent="457200">
              <a:spcBef>
                <a:spcPts val="0"/>
              </a:spcBef>
              <a:spcAft>
                <a:spcPts val="0"/>
              </a:spcAft>
              <a:defRPr/>
            </a:pPr>
            <a:r>
              <a:rPr lang="en-US" altLang="zh-CN" sz="2300" b="1" dirty="0">
                <a:solidFill>
                  <a:srgbClr val="FF0000"/>
                </a:solidFill>
                <a:latin typeface="Arial" panose="020B0604020202020204" pitchFamily="34" charset="0"/>
              </a:rPr>
              <a:t>1.</a:t>
            </a:r>
            <a:r>
              <a:rPr sz="2300" b="1" dirty="0" err="1">
                <a:solidFill>
                  <a:srgbClr val="FF0000"/>
                </a:solidFill>
                <a:latin typeface="Arial" panose="020B0604020202020204" pitchFamily="34" charset="0"/>
              </a:rPr>
              <a:t>小型企业及家庭用户</a:t>
            </a:r>
            <a:endParaRPr sz="2300" b="1" dirty="0">
              <a:solidFill>
                <a:srgbClr val="FF0000"/>
              </a:solidFill>
              <a:latin typeface="Arial" panose="020B0604020202020204" pitchFamily="34" charset="0"/>
            </a:endParaRPr>
          </a:p>
          <a:p>
            <a:pPr indent="457200">
              <a:spcBef>
                <a:spcPts val="0"/>
              </a:spcBef>
              <a:spcAft>
                <a:spcPts val="0"/>
              </a:spcAft>
              <a:defRPr/>
            </a:pPr>
            <a:r>
              <a:rPr sz="2000" b="1" dirty="0">
                <a:solidFill>
                  <a:schemeClr val="tx2"/>
                </a:solidFill>
                <a:latin typeface="Arial" panose="020B0604020202020204" pitchFamily="34" charset="0"/>
              </a:rPr>
              <a:t>小型企业和一般家庭用户使用的网络范围相对较小</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且终端用户数量有限</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AboveCable的初级安全方案可满足对网络安全需求</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且投资成本低</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配置方便效果显著</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此方案建议使用传统的WEP认证与加密技术</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各种型号AP和无线路由器都支持64位、128位WEP认证与加密</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以保证无线链路中的数据安全</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防止数据被盗用</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同时</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由于这些场合终端用户数量稳定且有限</a:t>
            </a:r>
            <a:r>
              <a:rPr lang="en-US" sz="2000" b="1" dirty="0">
                <a:solidFill>
                  <a:schemeClr val="tx2"/>
                </a:solidFill>
                <a:latin typeface="Arial" panose="020B0604020202020204" pitchFamily="34" charset="0"/>
              </a:rPr>
              <a:t>,</a:t>
            </a:r>
            <a:r>
              <a:rPr sz="2000" b="1" dirty="0">
                <a:solidFill>
                  <a:schemeClr val="tx2"/>
                </a:solidFill>
                <a:latin typeface="Arial" panose="020B0604020202020204" pitchFamily="34" charset="0"/>
              </a:rPr>
              <a:t>手工配置WEP密钥也可行</a:t>
            </a:r>
            <a:r>
              <a:rPr lang="en-US" sz="2000" b="1" dirty="0">
                <a:solidFill>
                  <a:schemeClr val="tx2"/>
                </a:solidFill>
                <a:latin typeface="Arial" panose="020B0604020202020204" pitchFamily="34" charset="0"/>
              </a:rPr>
              <a:t>.</a:t>
            </a:r>
            <a:endParaRPr sz="2000" b="1" dirty="0">
              <a:solidFill>
                <a:schemeClr val="tx2"/>
              </a:solidFill>
              <a:latin typeface="Arial" panose="020B0604020202020204" pitchFamily="34" charset="0"/>
            </a:endParaRPr>
          </a:p>
        </p:txBody>
      </p:sp>
      <p:pic>
        <p:nvPicPr>
          <p:cNvPr id="56323" name="Picture 7" descr="j0287005"/>
          <p:cNvPicPr>
            <a:picLocks noChangeAspect="1" noChangeArrowheads="1"/>
          </p:cNvPicPr>
          <p:nvPr/>
        </p:nvPicPr>
        <p:blipFill>
          <a:blip r:embed="rId2" cstate="print"/>
          <a:srcRect/>
          <a:stretch>
            <a:fillRect/>
          </a:stretch>
        </p:blipFill>
        <p:spPr bwMode="auto">
          <a:xfrm>
            <a:off x="7740650" y="2852738"/>
            <a:ext cx="1008063" cy="1684337"/>
          </a:xfrm>
          <a:prstGeom prst="rect">
            <a:avLst/>
          </a:prstGeom>
          <a:noFill/>
          <a:ln w="9525">
            <a:noFill/>
            <a:miter lim="800000"/>
            <a:headEnd/>
            <a:tailEnd/>
          </a:ln>
        </p:spPr>
      </p:pic>
      <p:sp>
        <p:nvSpPr>
          <p:cNvPr id="56324"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txBox="1">
            <a:spLocks noChangeArrowheads="1"/>
          </p:cNvSpPr>
          <p:nvPr/>
        </p:nvSpPr>
        <p:spPr bwMode="auto">
          <a:xfrm>
            <a:off x="419100" y="171450"/>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167" name=" 167"/>
          <p:cNvSpPr/>
          <p:nvPr/>
        </p:nvSpPr>
        <p:spPr>
          <a:xfrm>
            <a:off x="418458" y="1352549"/>
            <a:ext cx="8305800" cy="448183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en-US" altLang="zh-CN" sz="2800" b="1" noProof="1" smtClean="0">
                <a:solidFill>
                  <a:srgbClr val="FF0000"/>
                </a:solidFill>
              </a:rPr>
              <a:t>2.</a:t>
            </a:r>
            <a:r>
              <a:rPr lang="zh-CN" altLang="en-US" sz="2800" b="1" noProof="1" smtClean="0">
                <a:solidFill>
                  <a:srgbClr val="FF0000"/>
                </a:solidFill>
              </a:rPr>
              <a:t>仓库</a:t>
            </a:r>
            <a:r>
              <a:rPr lang="zh-CN" altLang="en-US" sz="2800" b="1" noProof="1">
                <a:solidFill>
                  <a:srgbClr val="FF0000"/>
                </a:solidFill>
              </a:rPr>
              <a:t>物流、医院、学校和餐饮娱乐行业</a:t>
            </a:r>
          </a:p>
          <a:p>
            <a:pPr indent="457200" eaLnBrk="1" fontAlgn="auto" hangingPunct="1">
              <a:spcBef>
                <a:spcPts val="0"/>
              </a:spcBef>
              <a:spcAft>
                <a:spcPts val="0"/>
              </a:spcAft>
              <a:defRPr/>
            </a:pPr>
            <a:r>
              <a:rPr lang="zh-CN" altLang="en-US" sz="2400" b="1" noProof="1">
                <a:solidFill>
                  <a:schemeClr val="tx2"/>
                </a:solidFill>
              </a:rPr>
              <a:t>在这些行业中，网络覆盖范围及终端用户的数量增大，AP和无线网卡的数量需要增多，同时安全风险及隐患也有所增加，仅依靠单一的WEP已无法满足其安全需求。AboveCable的中级安全方案使用IEEE802.1x认证技术作为无线网络的安全核心，并通过后台的RADIUS服务器进行用户身份验证，有效地阻止未经授权的接入。</a:t>
            </a:r>
          </a:p>
          <a:p>
            <a:pPr indent="457200" eaLnBrk="1" fontAlgn="auto" hangingPunct="1">
              <a:spcBef>
                <a:spcPts val="0"/>
              </a:spcBef>
              <a:spcAft>
                <a:spcPts val="0"/>
              </a:spcAft>
              <a:defRPr/>
            </a:pPr>
            <a:r>
              <a:rPr lang="zh-CN" altLang="en-US" sz="2400" b="1" noProof="1">
                <a:solidFill>
                  <a:schemeClr val="tx2"/>
                </a:solidFill>
              </a:rPr>
              <a:t>对多个AP的管理问题，若管理不当也会增加网络的安全隐患。为此，需要产品不仅支持IEEE 802.1x认证机制，同时还支持SNMP网络管理协议，在此基础上以AirPanel Pro AP集群管理系统，便于对AP的管理和监控。</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txBox="1">
            <a:spLocks noChangeArrowheads="1"/>
          </p:cNvSpPr>
          <p:nvPr/>
        </p:nvSpPr>
        <p:spPr bwMode="auto">
          <a:xfrm>
            <a:off x="419100" y="1428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2.1.3 </a:t>
            </a:r>
            <a:r>
              <a:rPr lang="zh-CN" altLang="en-US" sz="3200" b="1">
                <a:solidFill>
                  <a:schemeClr val="bg1"/>
                </a:solidFill>
                <a:sym typeface="宋体" panose="02010600030101010101" pitchFamily="2" charset="-122"/>
              </a:rPr>
              <a:t>无线网络安全技术基础</a:t>
            </a:r>
            <a:endParaRPr lang="zh-CN" altLang="en-US" sz="3200" b="1">
              <a:solidFill>
                <a:schemeClr val="bg1"/>
              </a:solidFill>
            </a:endParaRPr>
          </a:p>
        </p:txBody>
      </p:sp>
      <p:sp>
        <p:nvSpPr>
          <p:cNvPr id="167" name=" 167"/>
          <p:cNvSpPr/>
          <p:nvPr/>
        </p:nvSpPr>
        <p:spPr>
          <a:xfrm>
            <a:off x="419100" y="1334770"/>
            <a:ext cx="8306435" cy="441134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en-US" altLang="zh-CN" sz="2400" b="1" noProof="1">
                <a:solidFill>
                  <a:srgbClr val="FF0000"/>
                </a:solidFill>
              </a:rPr>
              <a:t>3</a:t>
            </a:r>
            <a:r>
              <a:rPr lang="en-US" altLang="zh-CN" sz="2400" b="1" noProof="1" smtClean="0">
                <a:solidFill>
                  <a:srgbClr val="FF0000"/>
                </a:solidFill>
              </a:rPr>
              <a:t>.</a:t>
            </a:r>
            <a:r>
              <a:rPr lang="zh-CN" altLang="en-US" sz="2400" b="1" noProof="1" smtClean="0">
                <a:solidFill>
                  <a:srgbClr val="FF0000"/>
                </a:solidFill>
              </a:rPr>
              <a:t>公共场所</a:t>
            </a:r>
            <a:r>
              <a:rPr lang="zh-CN" altLang="en-US" sz="2400" b="1" noProof="1">
                <a:solidFill>
                  <a:srgbClr val="FF0000"/>
                </a:solidFill>
              </a:rPr>
              <a:t>及网络运营</a:t>
            </a:r>
            <a:r>
              <a:rPr lang="zh-CN" altLang="en-US" sz="2400" b="1" noProof="1" smtClean="0">
                <a:solidFill>
                  <a:srgbClr val="FF0000"/>
                </a:solidFill>
              </a:rPr>
              <a:t>商</a:t>
            </a:r>
            <a:r>
              <a:rPr lang="en-US" altLang="zh-CN" sz="2400" b="1" noProof="1" smtClean="0">
                <a:solidFill>
                  <a:srgbClr val="FF0000"/>
                </a:solidFill>
              </a:rPr>
              <a:t>,</a:t>
            </a:r>
            <a:r>
              <a:rPr lang="zh-CN" altLang="en-US" sz="2400" b="1" noProof="1" smtClean="0">
                <a:solidFill>
                  <a:srgbClr val="FF0000"/>
                </a:solidFill>
              </a:rPr>
              <a:t>大中型</a:t>
            </a:r>
            <a:r>
              <a:rPr lang="zh-CN" altLang="en-US" sz="2400" b="1" noProof="1">
                <a:solidFill>
                  <a:srgbClr val="FF0000"/>
                </a:solidFill>
              </a:rPr>
              <a:t>企业和金融机构</a:t>
            </a:r>
          </a:p>
          <a:p>
            <a:pPr indent="457200" eaLnBrk="1" fontAlgn="auto" hangingPunct="1">
              <a:spcBef>
                <a:spcPts val="0"/>
              </a:spcBef>
              <a:spcAft>
                <a:spcPts val="0"/>
              </a:spcAft>
              <a:defRPr/>
            </a:pPr>
            <a:r>
              <a:rPr lang="zh-CN" altLang="en-US" sz="2200" b="1" noProof="1">
                <a:solidFill>
                  <a:schemeClr val="tx2"/>
                </a:solidFill>
              </a:rPr>
              <a:t>在公共地区，如机场、火车站等，一些用户需要通过无线接入Internet、浏览web页面、接收e-mail，对此安全可靠地接入Internet很关键。这些区域通常由网络运营商提供网络设施，对用户认证问题至关重要。否则，可能造成盗用服务等危险，为提供商和用户造成损失。AboveCable提出使用IEEE 802.1x的认证方式，并通过后台RADIUS服务器进行认证计费。</a:t>
            </a:r>
          </a:p>
          <a:p>
            <a:pPr indent="457200" eaLnBrk="1" fontAlgn="auto" hangingPunct="1">
              <a:spcBef>
                <a:spcPts val="0"/>
              </a:spcBef>
              <a:spcAft>
                <a:spcPts val="0"/>
              </a:spcAft>
              <a:defRPr/>
            </a:pPr>
            <a:r>
              <a:rPr lang="zh-CN" altLang="en-US" sz="2200" b="1" noProof="1">
                <a:solidFill>
                  <a:schemeClr val="tx2"/>
                </a:solidFill>
              </a:rPr>
              <a:t>针对公共场所存在相邻用户互访引起的数据泄漏问题，设计了公共场所专用的AP— HotSpot AP。可将连接到其所有无线终端的MAC地址自动记录，在转发报文的同时，判断该段报文是否发送给MAC列表的某个地址，若在列表中则中断发送，实现用户隔离</a:t>
            </a:r>
            <a:r>
              <a:rPr lang="zh-CN" altLang="en-US" sz="2200" b="1" noProof="1" smtClean="0">
                <a:solidFill>
                  <a:schemeClr val="tx2"/>
                </a:solidFill>
              </a:rPr>
              <a:t>。</a:t>
            </a:r>
            <a:endParaRPr lang="zh-CN" altLang="en-US" sz="2200" b="1" noProof="1">
              <a:solidFill>
                <a:schemeClr val="tx2"/>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txBox="1">
            <a:spLocks noChangeArrowheads="1"/>
          </p:cNvSpPr>
          <p:nvPr/>
        </p:nvSpPr>
        <p:spPr bwMode="auto">
          <a:xfrm>
            <a:off x="419100" y="1301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*2.3.5 </a:t>
            </a:r>
            <a:r>
              <a:rPr lang="zh-CN" altLang="en-US" sz="3200" b="1">
                <a:solidFill>
                  <a:schemeClr val="bg1"/>
                </a:solidFill>
              </a:rPr>
              <a:t>WIFI的安全性和措施</a:t>
            </a:r>
          </a:p>
        </p:txBody>
      </p:sp>
      <p:sp>
        <p:nvSpPr>
          <p:cNvPr id="59394" name="内容占位符 13"/>
          <p:cNvSpPr>
            <a:spLocks noGrp="1" noChangeArrowheads="1"/>
          </p:cNvSpPr>
          <p:nvPr>
            <p:ph idx="4294967295"/>
          </p:nvPr>
        </p:nvSpPr>
        <p:spPr>
          <a:xfrm>
            <a:off x="395288" y="1196975"/>
            <a:ext cx="4464050" cy="576263"/>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177800" y="1196975"/>
            <a:ext cx="8464550" cy="47371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defRPr/>
            </a:pPr>
            <a:r>
              <a:rPr sz="2400" b="1" spc="100" noProof="1">
                <a:solidFill>
                  <a:srgbClr val="FF0000"/>
                </a:solidFill>
              </a:rPr>
              <a:t>1. WIFI的概念及应用</a:t>
            </a:r>
          </a:p>
          <a:p>
            <a:pPr indent="457200">
              <a:defRPr/>
            </a:pPr>
            <a:r>
              <a:rPr sz="2000" b="1" spc="100" noProof="1">
                <a:solidFill>
                  <a:srgbClr val="FF0000"/>
                </a:solidFill>
                <a:latin typeface="Times New Roman" panose="02020603050405020304" pitchFamily="18" charset="0"/>
                <a:cs typeface="Times New Roman" panose="02020603050405020304" pitchFamily="18" charset="0"/>
              </a:rPr>
              <a:t>WiFi（Wireless Fidelity）</a:t>
            </a:r>
            <a:r>
              <a:rPr sz="2000" b="1" spc="100" noProof="1">
                <a:solidFill>
                  <a:schemeClr val="tx2"/>
                </a:solidFill>
                <a:latin typeface="Times New Roman" panose="02020603050405020304" pitchFamily="18" charset="0"/>
                <a:cs typeface="Times New Roman" panose="02020603050405020304" pitchFamily="18" charset="0"/>
              </a:rPr>
              <a:t>又称</a:t>
            </a:r>
            <a:r>
              <a:rPr sz="2000" b="1" spc="100" noProof="1">
                <a:solidFill>
                  <a:srgbClr val="FF0000"/>
                </a:solidFill>
                <a:latin typeface="Times New Roman" panose="02020603050405020304" pitchFamily="18" charset="0"/>
                <a:cs typeface="Times New Roman" panose="02020603050405020304" pitchFamily="18" charset="0"/>
              </a:rPr>
              <a:t>IEEE802.11b标准</a:t>
            </a:r>
            <a:r>
              <a:rPr lang="en-US" sz="2000" b="1" spc="100" noProof="1">
                <a:solidFill>
                  <a:schemeClr val="tx2"/>
                </a:solidFill>
                <a:latin typeface="Times New Roman" panose="02020603050405020304" pitchFamily="18" charset="0"/>
                <a:cs typeface="Times New Roman" panose="02020603050405020304" pitchFamily="18" charset="0"/>
              </a:rPr>
              <a:t>,</a:t>
            </a:r>
            <a:r>
              <a:rPr sz="2000" b="1" spc="100" noProof="1">
                <a:solidFill>
                  <a:schemeClr val="tx2"/>
                </a:solidFill>
                <a:latin typeface="Times New Roman" panose="02020603050405020304" pitchFamily="18" charset="0"/>
                <a:cs typeface="Times New Roman" panose="02020603050405020304" pitchFamily="18" charset="0"/>
              </a:rPr>
              <a:t>是一种可以将终端</a:t>
            </a:r>
            <a:r>
              <a:rPr lang="en-US" sz="2000" b="1" spc="100" noProof="1">
                <a:solidFill>
                  <a:schemeClr val="tx2"/>
                </a:solidFill>
                <a:latin typeface="Times New Roman" panose="02020603050405020304" pitchFamily="18" charset="0"/>
                <a:cs typeface="Times New Roman" panose="02020603050405020304" pitchFamily="18" charset="0"/>
              </a:rPr>
              <a:t>(</a:t>
            </a:r>
            <a:r>
              <a:rPr sz="2000" b="1" spc="100" noProof="1">
                <a:solidFill>
                  <a:schemeClr val="tx2"/>
                </a:solidFill>
                <a:latin typeface="Times New Roman" panose="02020603050405020304" pitchFamily="18" charset="0"/>
                <a:cs typeface="Times New Roman" panose="02020603050405020304" pitchFamily="18" charset="0"/>
              </a:rPr>
              <a:t>电脑、PDA和手机</a:t>
            </a:r>
            <a:r>
              <a:rPr lang="en-US" sz="2000" b="1" spc="100" noProof="1">
                <a:solidFill>
                  <a:schemeClr val="tx2"/>
                </a:solidFill>
                <a:latin typeface="Times New Roman" panose="02020603050405020304" pitchFamily="18" charset="0"/>
                <a:cs typeface="Times New Roman" panose="02020603050405020304" pitchFamily="18" charset="0"/>
              </a:rPr>
              <a:t>)</a:t>
            </a:r>
            <a:r>
              <a:rPr sz="2000" b="1" u="sng" spc="100" noProof="1">
                <a:solidFill>
                  <a:schemeClr val="tx2"/>
                </a:solidFill>
                <a:latin typeface="Times New Roman" panose="02020603050405020304" pitchFamily="18" charset="0"/>
                <a:cs typeface="Times New Roman" panose="02020603050405020304" pitchFamily="18" charset="0"/>
              </a:rPr>
              <a:t>无线方式互连的技术</a:t>
            </a:r>
            <a:r>
              <a:rPr lang="en-US" sz="2000" b="1" spc="100" noProof="1">
                <a:solidFill>
                  <a:schemeClr val="tx2"/>
                </a:solidFill>
                <a:latin typeface="Times New Roman" panose="02020603050405020304" pitchFamily="18" charset="0"/>
                <a:cs typeface="Times New Roman" panose="02020603050405020304" pitchFamily="18" charset="0"/>
              </a:rPr>
              <a:t>.</a:t>
            </a:r>
            <a:r>
              <a:rPr sz="2000" b="1" spc="100" noProof="1">
                <a:solidFill>
                  <a:srgbClr val="C00000"/>
                </a:solidFill>
                <a:latin typeface="Times New Roman" panose="02020603050405020304" pitchFamily="18" charset="0"/>
                <a:cs typeface="Times New Roman" panose="02020603050405020304" pitchFamily="18" charset="0"/>
              </a:rPr>
              <a:t>用于</a:t>
            </a:r>
            <a:r>
              <a:rPr sz="2000" b="1" spc="100" noProof="1">
                <a:solidFill>
                  <a:schemeClr val="tx2"/>
                </a:solidFill>
                <a:latin typeface="Times New Roman" panose="02020603050405020304" pitchFamily="18" charset="0"/>
                <a:cs typeface="Times New Roman" panose="02020603050405020304" pitchFamily="18" charset="0"/>
              </a:rPr>
              <a:t>改善无线网路之间互通性</a:t>
            </a:r>
            <a:r>
              <a:rPr lang="en-US" sz="2000" b="1" spc="100" noProof="1">
                <a:solidFill>
                  <a:schemeClr val="tx2"/>
                </a:solidFill>
                <a:latin typeface="Times New Roman" panose="02020603050405020304" pitchFamily="18" charset="0"/>
                <a:cs typeface="Times New Roman" panose="02020603050405020304" pitchFamily="18" charset="0"/>
              </a:rPr>
              <a:t>.</a:t>
            </a:r>
            <a:r>
              <a:rPr sz="2000" b="1" spc="100" noProof="1">
                <a:solidFill>
                  <a:schemeClr val="tx2"/>
                </a:solidFill>
                <a:latin typeface="Times New Roman" panose="02020603050405020304" pitchFamily="18" charset="0"/>
                <a:cs typeface="Times New Roman" panose="02020603050405020304" pitchFamily="18" charset="0"/>
              </a:rPr>
              <a:t>WiFi</a:t>
            </a:r>
            <a:r>
              <a:rPr sz="2000" b="1" spc="100" noProof="1">
                <a:solidFill>
                  <a:srgbClr val="C00000"/>
                </a:solidFill>
                <a:latin typeface="Times New Roman" panose="02020603050405020304" pitchFamily="18" charset="0"/>
                <a:cs typeface="Times New Roman" panose="02020603050405020304" pitchFamily="18" charset="0"/>
              </a:rPr>
              <a:t>三个标准</a:t>
            </a:r>
            <a:r>
              <a:rPr lang="en-US" sz="2000" b="1" spc="100" noProof="1">
                <a:solidFill>
                  <a:schemeClr val="tx2"/>
                </a:solidFill>
                <a:latin typeface="Times New Roman" panose="02020603050405020304" pitchFamily="18" charset="0"/>
                <a:cs typeface="Times New Roman" panose="02020603050405020304" pitchFamily="18" charset="0"/>
              </a:rPr>
              <a:t>:</a:t>
            </a:r>
            <a:r>
              <a:rPr sz="2000" b="1" spc="100" noProof="1">
                <a:solidFill>
                  <a:schemeClr val="tx2"/>
                </a:solidFill>
                <a:latin typeface="Times New Roman" panose="02020603050405020304" pitchFamily="18" charset="0"/>
                <a:cs typeface="Times New Roman" panose="02020603050405020304" pitchFamily="18" charset="0"/>
              </a:rPr>
              <a:t>较少使用的802.11a、低速的802.11b和高速的802.11g</a:t>
            </a:r>
            <a:r>
              <a:rPr lang="en-US" sz="2000" b="1" spc="100" noProof="1">
                <a:solidFill>
                  <a:schemeClr val="tx2"/>
                </a:solidFill>
                <a:latin typeface="Times New Roman" panose="02020603050405020304" pitchFamily="18" charset="0"/>
                <a:cs typeface="Times New Roman" panose="02020603050405020304" pitchFamily="18" charset="0"/>
              </a:rPr>
              <a:t>.</a:t>
            </a:r>
            <a:r>
              <a:rPr sz="2000" b="1" spc="100" noProof="1">
                <a:solidFill>
                  <a:schemeClr val="tx2"/>
                </a:solidFill>
                <a:latin typeface="Times New Roman" panose="02020603050405020304" pitchFamily="18" charset="0"/>
                <a:cs typeface="Times New Roman" panose="02020603050405020304" pitchFamily="18" charset="0"/>
              </a:rPr>
              <a:t>WiFi</a:t>
            </a:r>
            <a:r>
              <a:rPr sz="2000" b="1" spc="100" noProof="1">
                <a:solidFill>
                  <a:srgbClr val="C00000"/>
                </a:solidFill>
                <a:latin typeface="Times New Roman" panose="02020603050405020304" pitchFamily="18" charset="0"/>
                <a:cs typeface="Times New Roman" panose="02020603050405020304" pitchFamily="18" charset="0"/>
              </a:rPr>
              <a:t>工作模式</a:t>
            </a:r>
            <a:r>
              <a:rPr lang="en-US" sz="2000" b="1" spc="100" noProof="1">
                <a:solidFill>
                  <a:schemeClr val="tx2"/>
                </a:solidFill>
                <a:latin typeface="Times New Roman" panose="02020603050405020304" pitchFamily="18" charset="0"/>
                <a:cs typeface="Times New Roman" panose="02020603050405020304" pitchFamily="18" charset="0"/>
              </a:rPr>
              <a:t>:</a:t>
            </a:r>
            <a:r>
              <a:rPr sz="2000" b="1" spc="100" noProof="1">
                <a:solidFill>
                  <a:schemeClr val="tx2"/>
                </a:solidFill>
                <a:latin typeface="Times New Roman" panose="02020603050405020304" pitchFamily="18" charset="0"/>
                <a:cs typeface="Times New Roman" panose="02020603050405020304" pitchFamily="18" charset="0"/>
              </a:rPr>
              <a:t>AD-HOC、无线接入点AP、点对多点路由P to MP、无线客户端AP Client和无线转发器Repeater</a:t>
            </a:r>
            <a:r>
              <a:rPr lang="en-US" sz="2000" b="1" spc="100" noProof="1">
                <a:solidFill>
                  <a:schemeClr val="tx2"/>
                </a:solidFill>
                <a:latin typeface="Times New Roman" panose="02020603050405020304" pitchFamily="18" charset="0"/>
                <a:cs typeface="Times New Roman" panose="02020603050405020304" pitchFamily="18" charset="0"/>
              </a:rPr>
              <a:t>.</a:t>
            </a:r>
            <a:endParaRPr sz="2000" b="1" spc="100" noProof="1">
              <a:solidFill>
                <a:schemeClr val="tx2"/>
              </a:solidFill>
              <a:latin typeface="Times New Roman" panose="02020603050405020304" pitchFamily="18" charset="0"/>
              <a:cs typeface="Times New Roman" panose="02020603050405020304" pitchFamily="18" charset="0"/>
            </a:endParaRPr>
          </a:p>
          <a:p>
            <a:pPr>
              <a:defRPr/>
            </a:pPr>
            <a:r>
              <a:rPr lang="en-US" b="1" spc="100" noProof="1">
                <a:solidFill>
                  <a:schemeClr val="tx2"/>
                </a:solidFill>
                <a:latin typeface="Times New Roman" panose="02020603050405020304" pitchFamily="18" charset="0"/>
                <a:cs typeface="Times New Roman" panose="02020603050405020304" pitchFamily="18" charset="0"/>
              </a:rPr>
              <a:t>    </a:t>
            </a:r>
            <a:r>
              <a:rPr b="1" spc="100" noProof="1">
                <a:solidFill>
                  <a:schemeClr val="tx2"/>
                </a:solidFill>
                <a:latin typeface="Times New Roman" panose="02020603050405020304" pitchFamily="18" charset="0"/>
                <a:cs typeface="Times New Roman" panose="02020603050405020304" pitchFamily="18" charset="0"/>
              </a:rPr>
              <a:t>WiFi支持智能手机</a:t>
            </a:r>
            <a:r>
              <a:rPr lang="en-US" b="1" spc="100" noProof="1">
                <a:solidFill>
                  <a:schemeClr val="tx2"/>
                </a:solidFill>
                <a:latin typeface="Times New Roman" panose="02020603050405020304" pitchFamily="18" charset="0"/>
                <a:cs typeface="Times New Roman" panose="02020603050405020304" pitchFamily="18" charset="0"/>
              </a:rPr>
              <a:t>,</a:t>
            </a:r>
            <a:r>
              <a:rPr b="1" spc="100" noProof="1">
                <a:solidFill>
                  <a:schemeClr val="tx2"/>
                </a:solidFill>
                <a:latin typeface="Times New Roman" panose="02020603050405020304" pitchFamily="18" charset="0"/>
                <a:cs typeface="Times New Roman" panose="02020603050405020304" pitchFamily="18" charset="0"/>
              </a:rPr>
              <a:t>平板电脑和新型相机等。</a:t>
            </a:r>
          </a:p>
          <a:p>
            <a:pPr>
              <a:defRPr/>
            </a:pPr>
            <a:r>
              <a:rPr lang="zh-CN" altLang="en-US" b="1" spc="100" noProof="1">
                <a:solidFill>
                  <a:srgbClr val="C00000"/>
                </a:solidFill>
                <a:latin typeface="Times New Roman" panose="02020603050405020304" pitchFamily="18" charset="0"/>
                <a:cs typeface="Times New Roman" panose="02020603050405020304" pitchFamily="18" charset="0"/>
              </a:rPr>
              <a:t>将有</a:t>
            </a:r>
            <a:r>
              <a:rPr b="1" spc="100" noProof="1">
                <a:solidFill>
                  <a:srgbClr val="C00000"/>
                </a:solidFill>
                <a:latin typeface="Times New Roman" panose="02020603050405020304" pitchFamily="18" charset="0"/>
                <a:cs typeface="Times New Roman" panose="02020603050405020304" pitchFamily="18" charset="0"/>
              </a:rPr>
              <a:t>线网络信号转成无</a:t>
            </a:r>
            <a:r>
              <a:rPr b="1" spc="100" noProof="1">
                <a:solidFill>
                  <a:schemeClr val="tx2"/>
                </a:solidFill>
                <a:latin typeface="Times New Roman" panose="02020603050405020304" pitchFamily="18" charset="0"/>
                <a:cs typeface="Times New Roman" panose="02020603050405020304" pitchFamily="18" charset="0"/>
              </a:rPr>
              <a:t>线信号</a:t>
            </a:r>
            <a:r>
              <a:rPr lang="en-US" b="1" spc="100" noProof="1">
                <a:solidFill>
                  <a:schemeClr val="tx2"/>
                </a:solidFill>
                <a:latin typeface="Times New Roman" panose="02020603050405020304" pitchFamily="18" charset="0"/>
                <a:cs typeface="Times New Roman" panose="02020603050405020304" pitchFamily="18" charset="0"/>
              </a:rPr>
              <a:t>,</a:t>
            </a:r>
            <a:r>
              <a:rPr b="1" spc="100" noProof="1">
                <a:solidFill>
                  <a:srgbClr val="C00000"/>
                </a:solidFill>
                <a:latin typeface="Times New Roman" panose="02020603050405020304" pitchFamily="18" charset="0"/>
                <a:cs typeface="Times New Roman" panose="02020603050405020304" pitchFamily="18" charset="0"/>
              </a:rPr>
              <a:t>使用无线路由</a:t>
            </a:r>
          </a:p>
          <a:p>
            <a:pPr>
              <a:defRPr/>
            </a:pPr>
            <a:r>
              <a:rPr b="1" spc="100" noProof="1">
                <a:solidFill>
                  <a:srgbClr val="C00000"/>
                </a:solidFill>
                <a:latin typeface="Times New Roman" panose="02020603050405020304" pitchFamily="18" charset="0"/>
                <a:cs typeface="Times New Roman" panose="02020603050405020304" pitchFamily="18" charset="0"/>
              </a:rPr>
              <a:t>器供支持</a:t>
            </a:r>
            <a:r>
              <a:rPr b="1" spc="100" noProof="1">
                <a:solidFill>
                  <a:schemeClr val="tx2"/>
                </a:solidFill>
                <a:latin typeface="Times New Roman" panose="02020603050405020304" pitchFamily="18" charset="0"/>
                <a:cs typeface="Times New Roman" panose="02020603050405020304" pitchFamily="18" charset="0"/>
              </a:rPr>
              <a:t>其技术的相关电脑、手机、平板等</a:t>
            </a:r>
          </a:p>
          <a:p>
            <a:pPr>
              <a:defRPr/>
            </a:pPr>
            <a:r>
              <a:rPr b="1" spc="100" noProof="1">
                <a:solidFill>
                  <a:schemeClr val="tx2"/>
                </a:solidFill>
                <a:latin typeface="Times New Roman" panose="02020603050405020304" pitchFamily="18" charset="0"/>
                <a:cs typeface="Times New Roman" panose="02020603050405020304" pitchFamily="18" charset="0"/>
              </a:rPr>
              <a:t>接收上网节省流量费。WiFi信号也需要ADSL</a:t>
            </a:r>
          </a:p>
          <a:p>
            <a:pPr>
              <a:defRPr/>
            </a:pPr>
            <a:r>
              <a:rPr b="1" spc="100" noProof="1">
                <a:solidFill>
                  <a:schemeClr val="tx2"/>
                </a:solidFill>
                <a:latin typeface="Times New Roman" panose="02020603050405020304" pitchFamily="18" charset="0"/>
                <a:cs typeface="Times New Roman" panose="02020603050405020304" pitchFamily="18" charset="0"/>
              </a:rPr>
              <a:t>、宽带、无线路由器等，WiFi Phone的使用</a:t>
            </a:r>
            <a:r>
              <a:rPr b="1" spc="100" noProof="1">
                <a:solidFill>
                  <a:schemeClr val="tx2"/>
                </a:solidFill>
              </a:rPr>
              <a:t>，</a:t>
            </a:r>
          </a:p>
          <a:p>
            <a:pPr>
              <a:defRPr/>
            </a:pPr>
            <a:r>
              <a:rPr b="1" spc="100" noProof="1">
                <a:solidFill>
                  <a:schemeClr val="tx2"/>
                </a:solidFill>
              </a:rPr>
              <a:t>如查询或转发信息、下载、看新闻、拨VOIP</a:t>
            </a:r>
          </a:p>
          <a:p>
            <a:pPr>
              <a:defRPr/>
            </a:pPr>
            <a:r>
              <a:rPr b="1" spc="100" noProof="1">
                <a:solidFill>
                  <a:schemeClr val="tx2"/>
                </a:solidFill>
              </a:rPr>
              <a:t>电话（语音及视频）、收发邮件、实时定位、</a:t>
            </a:r>
          </a:p>
          <a:p>
            <a:pPr>
              <a:defRPr/>
            </a:pPr>
            <a:r>
              <a:rPr b="1" spc="100" noProof="1">
                <a:solidFill>
                  <a:schemeClr val="tx2"/>
                </a:solidFill>
              </a:rPr>
              <a:t>游戏等，很多机构都提供免费服务的WiFi，</a:t>
            </a:r>
          </a:p>
          <a:p>
            <a:pPr>
              <a:defRPr/>
            </a:pPr>
            <a:r>
              <a:rPr b="1" spc="100" noProof="1">
                <a:solidFill>
                  <a:schemeClr val="tx2"/>
                </a:solidFill>
              </a:rPr>
              <a:t>如图2-7所示。</a:t>
            </a:r>
          </a:p>
        </p:txBody>
      </p:sp>
      <p:pic>
        <p:nvPicPr>
          <p:cNvPr id="59396" name="Picture 4" descr="说明: 여행사"/>
          <p:cNvPicPr>
            <a:picLocks noChangeAspect="1" noChangeArrowheads="1"/>
          </p:cNvPicPr>
          <p:nvPr/>
        </p:nvPicPr>
        <p:blipFill>
          <a:blip r:embed="rId2" cstate="print"/>
          <a:srcRect/>
          <a:stretch>
            <a:fillRect/>
          </a:stretch>
        </p:blipFill>
        <p:spPr bwMode="auto">
          <a:xfrm>
            <a:off x="5545138" y="3305175"/>
            <a:ext cx="2779712" cy="1906588"/>
          </a:xfrm>
          <a:prstGeom prst="rect">
            <a:avLst/>
          </a:prstGeom>
          <a:noFill/>
          <a:ln w="9525">
            <a:noFill/>
            <a:miter lim="800000"/>
            <a:headEnd/>
            <a:tailEnd/>
          </a:ln>
        </p:spPr>
      </p:pic>
      <p:sp>
        <p:nvSpPr>
          <p:cNvPr id="59397" name="文本框 1"/>
          <p:cNvSpPr txBox="1">
            <a:spLocks noChangeArrowheads="1"/>
          </p:cNvSpPr>
          <p:nvPr/>
        </p:nvSpPr>
        <p:spPr bwMode="auto">
          <a:xfrm>
            <a:off x="5741988" y="5335588"/>
            <a:ext cx="2579687" cy="365125"/>
          </a:xfrm>
          <a:prstGeom prst="rect">
            <a:avLst/>
          </a:prstGeom>
          <a:noFill/>
          <a:ln w="9525">
            <a:noFill/>
            <a:miter lim="800000"/>
          </a:ln>
        </p:spPr>
        <p:txBody>
          <a:bodyPr>
            <a:spAutoFit/>
          </a:bodyPr>
          <a:lstStyle/>
          <a:p>
            <a:r>
              <a:rPr lang="zh-CN" altLang="en-US"/>
              <a:t> </a:t>
            </a:r>
            <a:r>
              <a:rPr lang="zh-CN" altLang="en-US">
                <a:solidFill>
                  <a:srgbClr val="FF0000"/>
                </a:solidFill>
              </a:rPr>
              <a:t>图2-7 WiFi的广泛应用</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419100" y="1385888"/>
            <a:ext cx="8305800" cy="22463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Tx/>
              <a:buNone/>
              <a:defRPr/>
            </a:pPr>
            <a:r>
              <a:rPr lang="zh-CN" altLang="en-US" b="1" dirty="0">
                <a:solidFill>
                  <a:schemeClr val="tx1"/>
                </a:solidFill>
                <a:latin typeface="Arial" panose="020B0604020202020204" pitchFamily="34" charset="0"/>
              </a:rPr>
              <a:t>                           </a:t>
            </a:r>
            <a:r>
              <a:rPr lang="zh-CN" altLang="en-US" sz="2000" b="1" dirty="0">
                <a:solidFill>
                  <a:schemeClr val="tx1"/>
                </a:solidFill>
                <a:latin typeface="Arial" panose="020B0604020202020204" pitchFamily="34" charset="0"/>
              </a:rPr>
              <a:t>    </a:t>
            </a:r>
            <a:r>
              <a:rPr sz="2000" b="1" dirty="0">
                <a:solidFill>
                  <a:srgbClr val="C00000"/>
                </a:solidFill>
                <a:latin typeface="仿宋" panose="02010609060101010101" charset="-122"/>
                <a:ea typeface="仿宋" panose="02010609060101010101" charset="-122"/>
              </a:rPr>
              <a:t>比利时鲁汶大学</a:t>
            </a:r>
            <a:r>
              <a:rPr sz="2000" b="1" dirty="0">
                <a:latin typeface="仿宋" panose="02010609060101010101" charset="-122"/>
                <a:ea typeface="仿宋" panose="02010609060101010101" charset="-122"/>
              </a:rPr>
              <a:t>研究人员Mathy Vanhoef，2017年公开了一项关于WPA2/WPA安全性的研究，表明</a:t>
            </a:r>
            <a:r>
              <a:rPr sz="2000" b="1" dirty="0">
                <a:solidFill>
                  <a:srgbClr val="C00000"/>
                </a:solidFill>
                <a:latin typeface="仿宋" panose="02010609060101010101" charset="-122"/>
                <a:ea typeface="仿宋" panose="02010609060101010101" charset="-122"/>
              </a:rPr>
              <a:t>WiFi的保护协议存在密码重置攻击的重大漏洞</a:t>
            </a:r>
            <a:r>
              <a:rPr sz="2000" b="1" dirty="0">
                <a:latin typeface="仿宋" panose="02010609060101010101" charset="-122"/>
                <a:ea typeface="仿宋" panose="02010609060101010101" charset="-122"/>
              </a:rPr>
              <a:t>，足以威胁全球所有WiFi用户。如2015年10月王滔(化名)因在公共WiFi上进行</a:t>
            </a:r>
            <a:r>
              <a:rPr sz="2000" b="1" dirty="0">
                <a:solidFill>
                  <a:srgbClr val="3366FF"/>
                </a:solidFill>
                <a:latin typeface="仿宋" panose="02010609060101010101" charset="-122"/>
                <a:ea typeface="仿宋" panose="02010609060101010101" charset="-122"/>
              </a:rPr>
              <a:t>网银操作</a:t>
            </a:r>
            <a:r>
              <a:rPr sz="2000" b="1" dirty="0">
                <a:latin typeface="仿宋" panose="02010609060101010101" charset="-122"/>
                <a:ea typeface="仿宋" panose="02010609060101010101" charset="-122"/>
              </a:rPr>
              <a:t>，银行卡被犯罪分子盗刷23.5万元。另据美国审计总署报告称，多数商业航空公司可访问互联网，</a:t>
            </a:r>
            <a:r>
              <a:rPr sz="2000" b="1" dirty="0">
                <a:solidFill>
                  <a:srgbClr val="3366FF"/>
                </a:solidFill>
                <a:latin typeface="仿宋" panose="02010609060101010101" charset="-122"/>
                <a:ea typeface="仿宋" panose="02010609060101010101" charset="-122"/>
              </a:rPr>
              <a:t>现代飞机</a:t>
            </a:r>
            <a:r>
              <a:rPr sz="2000" b="1" dirty="0">
                <a:latin typeface="仿宋" panose="02010609060101010101" charset="-122"/>
                <a:ea typeface="仿宋" panose="02010609060101010101" charset="-122"/>
              </a:rPr>
              <a:t>拥有可被恐怖分子侵入并控制的约60个外部天线，让黑客控制飞机成为可能。</a:t>
            </a:r>
          </a:p>
        </p:txBody>
      </p:sp>
      <p:sp>
        <p:nvSpPr>
          <p:cNvPr id="13" name="圆角矩形 12"/>
          <p:cNvSpPr/>
          <p:nvPr/>
        </p:nvSpPr>
        <p:spPr bwMode="gray">
          <a:xfrm>
            <a:off x="1209675" y="1289050"/>
            <a:ext cx="1143000" cy="455613"/>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2000" b="1" dirty="0" smtClean="0">
                <a:solidFill>
                  <a:srgbClr val="002060"/>
                </a:solidFill>
              </a:rPr>
              <a:t>案例</a:t>
            </a:r>
            <a:r>
              <a:rPr lang="en-US" altLang="zh-CN" sz="2000" b="1" dirty="0" smtClean="0">
                <a:solidFill>
                  <a:srgbClr val="002060"/>
                </a:solidFill>
              </a:rPr>
              <a:t>2-3</a:t>
            </a:r>
            <a:endParaRPr lang="zh-CN" altLang="en-US" sz="2000" b="1" dirty="0" smtClean="0">
              <a:solidFill>
                <a:srgbClr val="002060"/>
              </a:solidFill>
            </a:endParaRPr>
          </a:p>
        </p:txBody>
      </p:sp>
      <p:sp>
        <p:nvSpPr>
          <p:cNvPr id="167" name=" 167"/>
          <p:cNvSpPr/>
          <p:nvPr/>
        </p:nvSpPr>
        <p:spPr>
          <a:xfrm>
            <a:off x="395531" y="3789040"/>
            <a:ext cx="8496935" cy="237617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a:defRPr/>
            </a:pPr>
            <a:r>
              <a:rPr lang="zh-CN" altLang="en-US" sz="2400" b="1" noProof="1">
                <a:solidFill>
                  <a:srgbClr val="FF0000"/>
                </a:solidFill>
                <a:sym typeface="+mn-ea"/>
              </a:rPr>
              <a:t>2. WiFi特点及组成</a:t>
            </a:r>
          </a:p>
          <a:p>
            <a:pPr indent="457200">
              <a:defRPr/>
            </a:pPr>
            <a:r>
              <a:rPr lang="zh-CN" altLang="en-US" sz="2100" b="1" noProof="1">
                <a:solidFill>
                  <a:srgbClr val="FF0000"/>
                </a:solidFill>
                <a:sym typeface="+mn-ea"/>
              </a:rPr>
              <a:t>WiFi的特点</a:t>
            </a:r>
            <a:r>
              <a:rPr lang="zh-CN" altLang="en-US" sz="2100" b="1" noProof="1">
                <a:solidFill>
                  <a:schemeClr val="tx2"/>
                </a:solidFill>
                <a:sym typeface="+mn-ea"/>
              </a:rPr>
              <a:t>可从八个方面体现：带宽、信号、功耗、便捷、节省、安全、融网、个人服务、移动特性。IEEE启动项目计划将802.11标准</a:t>
            </a:r>
            <a:r>
              <a:rPr lang="zh-CN" altLang="en-US" sz="2100" b="1" noProof="1">
                <a:solidFill>
                  <a:srgbClr val="C00000"/>
                </a:solidFill>
                <a:sym typeface="+mn-ea"/>
              </a:rPr>
              <a:t>数据速率提高到</a:t>
            </a:r>
            <a:r>
              <a:rPr lang="zh-CN" altLang="en-US" sz="2100" b="1" noProof="1">
                <a:solidFill>
                  <a:schemeClr val="tx2"/>
                </a:solidFill>
                <a:sym typeface="+mn-ea"/>
              </a:rPr>
              <a:t>千兆或几千兆，并通过802.11n标准将数据速率提高，以适应不同的功能和设备，通过802.11s标准将这些高端结点连接，形成类似互联网的具有冗余能力的WiFi网络</a:t>
            </a:r>
            <a:r>
              <a:rPr lang="zh-CN" altLang="en-US" sz="2000" b="1" noProof="1">
                <a:solidFill>
                  <a:schemeClr val="tx2"/>
                </a:solidFill>
                <a:sym typeface="+mn-ea"/>
              </a:rPr>
              <a:t>。</a:t>
            </a:r>
          </a:p>
        </p:txBody>
      </p:sp>
      <p:sp>
        <p:nvSpPr>
          <p:cNvPr id="60420" name="Rectangle 2"/>
          <p:cNvSpPr txBox="1">
            <a:spLocks noChangeArrowheads="1"/>
          </p:cNvSpPr>
          <p:nvPr/>
        </p:nvSpPr>
        <p:spPr bwMode="auto">
          <a:xfrm>
            <a:off x="419100" y="1301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*2.3.5 </a:t>
            </a:r>
            <a:r>
              <a:rPr lang="zh-CN" altLang="en-US" sz="3200" b="1">
                <a:solidFill>
                  <a:schemeClr val="bg1"/>
                </a:solidFill>
              </a:rPr>
              <a:t>WIFI的安全性和措施</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418465" y="1167765"/>
            <a:ext cx="8306435" cy="485330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spcBef>
                <a:spcPts val="0"/>
              </a:spcBef>
              <a:spcAft>
                <a:spcPts val="0"/>
              </a:spcAft>
              <a:defRPr/>
            </a:pPr>
            <a:r>
              <a:rPr lang="en-US" altLang="zh-CN" sz="1900" b="1" noProof="1">
                <a:solidFill>
                  <a:srgbClr val="FF0000"/>
                </a:solidFill>
              </a:rPr>
              <a:t>    </a:t>
            </a:r>
            <a:r>
              <a:rPr lang="en-US" altLang="zh-CN" sz="1900" b="1" noProof="1" smtClean="0">
                <a:solidFill>
                  <a:srgbClr val="FF0000"/>
                </a:solidFill>
              </a:rPr>
              <a:t>*</a:t>
            </a:r>
            <a:r>
              <a:rPr lang="zh-CN" altLang="en-US" sz="1900" b="1" noProof="1" smtClean="0">
                <a:solidFill>
                  <a:srgbClr val="FF0000"/>
                </a:solidFill>
              </a:rPr>
              <a:t>WIFI由</a:t>
            </a:r>
            <a:r>
              <a:rPr lang="zh-CN" altLang="en-US" sz="1900" b="1" noProof="1">
                <a:solidFill>
                  <a:srgbClr val="FF0000"/>
                </a:solidFill>
              </a:rPr>
              <a:t>AP和无线网卡</a:t>
            </a:r>
            <a:r>
              <a:rPr lang="zh-CN" altLang="en-US" sz="1900" b="1" u="sng" noProof="1">
                <a:solidFill>
                  <a:srgbClr val="C00000"/>
                </a:solidFill>
                <a:latin typeface="黑体" panose="02010609060101010101" pitchFamily="49" charset="-122"/>
                <a:ea typeface="黑体" panose="02010609060101010101" pitchFamily="49" charset="-122"/>
              </a:rPr>
              <a:t>组</a:t>
            </a:r>
            <a:r>
              <a:rPr lang="zh-CN" altLang="en-US" sz="1900" b="1" u="sng" noProof="1" smtClean="0">
                <a:solidFill>
                  <a:srgbClr val="C00000"/>
                </a:solidFill>
                <a:latin typeface="黑体" panose="02010609060101010101" pitchFamily="49" charset="-122"/>
                <a:ea typeface="黑体" panose="02010609060101010101" pitchFamily="49" charset="-122"/>
              </a:rPr>
              <a:t>成</a:t>
            </a:r>
            <a:r>
              <a:rPr lang="zh-CN" altLang="en-US" sz="1900" b="1" noProof="1" smtClean="0">
                <a:solidFill>
                  <a:srgbClr val="FF0000"/>
                </a:solidFill>
              </a:rPr>
              <a:t>无</a:t>
            </a:r>
            <a:r>
              <a:rPr lang="zh-CN" altLang="en-US" sz="1900" b="1" noProof="1">
                <a:solidFill>
                  <a:srgbClr val="FF0000"/>
                </a:solidFill>
              </a:rPr>
              <a:t>线网络</a:t>
            </a:r>
            <a:r>
              <a:rPr lang="zh-CN" altLang="en-US" sz="1900" b="1" noProof="1">
                <a:solidFill>
                  <a:schemeClr val="tx2"/>
                </a:solidFill>
              </a:rPr>
              <a:t>，如图</a:t>
            </a:r>
            <a:r>
              <a:rPr lang="zh-CN" altLang="en-US" sz="1900" b="1" noProof="1" smtClean="0">
                <a:solidFill>
                  <a:schemeClr val="tx2"/>
                </a:solidFill>
              </a:rPr>
              <a:t>2-8。</a:t>
            </a:r>
            <a:r>
              <a:rPr lang="zh-CN" altLang="en-US" sz="1900" b="1" noProof="1">
                <a:solidFill>
                  <a:schemeClr val="tx2"/>
                </a:solidFill>
              </a:rPr>
              <a:t>一般架设无线网络的基本配备就是无线网卡及一个AP，便能以无线的模式配合既有的有线架构来分享网络资源，架设费用和复杂程序远远低于传统的有线网络。如果只是几台电脑的对等网，也可不用AP，只需要每台电脑配备无线网卡。AP可作为“无线访问结点”或“桥接器”。主要当作传统的有线局域网络与无线局域网络之间的桥梁，</a:t>
            </a:r>
          </a:p>
          <a:p>
            <a:pPr eaLnBrk="1" fontAlgn="auto" hangingPunct="1">
              <a:spcBef>
                <a:spcPts val="0"/>
              </a:spcBef>
              <a:spcAft>
                <a:spcPts val="0"/>
              </a:spcAft>
              <a:defRPr/>
            </a:pPr>
            <a:r>
              <a:rPr lang="zh-CN" altLang="en-US" sz="1900" b="1" noProof="1">
                <a:solidFill>
                  <a:schemeClr val="tx2"/>
                </a:solidFill>
              </a:rPr>
              <a:t>因此任何一台装有无线网卡的PC均可</a:t>
            </a:r>
          </a:p>
          <a:p>
            <a:pPr eaLnBrk="1" fontAlgn="auto" hangingPunct="1">
              <a:spcBef>
                <a:spcPts val="0"/>
              </a:spcBef>
              <a:spcAft>
                <a:spcPts val="0"/>
              </a:spcAft>
              <a:defRPr/>
            </a:pPr>
            <a:r>
              <a:rPr lang="zh-CN" altLang="en-US" sz="1900" b="1" noProof="1">
                <a:solidFill>
                  <a:schemeClr val="tx2"/>
                </a:solidFill>
              </a:rPr>
              <a:t>透过AP去分享有线局域网络甚至广域</a:t>
            </a:r>
          </a:p>
          <a:p>
            <a:pPr eaLnBrk="1" fontAlgn="auto" hangingPunct="1">
              <a:spcBef>
                <a:spcPts val="0"/>
              </a:spcBef>
              <a:spcAft>
                <a:spcPts val="0"/>
              </a:spcAft>
              <a:defRPr/>
            </a:pPr>
            <a:r>
              <a:rPr lang="zh-CN" altLang="en-US" sz="1900" b="1" noProof="1">
                <a:solidFill>
                  <a:schemeClr val="tx2"/>
                </a:solidFill>
              </a:rPr>
              <a:t>网络的资源，其</a:t>
            </a:r>
            <a:r>
              <a:rPr lang="zh-CN" altLang="en-US" sz="1900" b="1" noProof="1">
                <a:solidFill>
                  <a:srgbClr val="C00000"/>
                </a:solidFill>
              </a:rPr>
              <a:t>工作原理</a:t>
            </a:r>
            <a:r>
              <a:rPr lang="zh-CN" altLang="en-US" sz="1900" b="1" noProof="1">
                <a:solidFill>
                  <a:schemeClr val="tx2"/>
                </a:solidFill>
              </a:rPr>
              <a:t>相当于一个</a:t>
            </a:r>
          </a:p>
          <a:p>
            <a:pPr eaLnBrk="1" fontAlgn="auto" hangingPunct="1">
              <a:spcBef>
                <a:spcPts val="0"/>
              </a:spcBef>
              <a:spcAft>
                <a:spcPts val="0"/>
              </a:spcAft>
              <a:defRPr/>
            </a:pPr>
            <a:r>
              <a:rPr lang="zh-CN" altLang="en-US" sz="1900" b="1" noProof="1">
                <a:solidFill>
                  <a:schemeClr val="tx2"/>
                </a:solidFill>
              </a:rPr>
              <a:t>内置无线发射器的HUB</a:t>
            </a:r>
            <a:r>
              <a:rPr lang="zh-CN" altLang="en-US" sz="1900" b="1" noProof="1" smtClean="0">
                <a:solidFill>
                  <a:schemeClr val="tx2"/>
                </a:solidFill>
              </a:rPr>
              <a:t>或者是</a:t>
            </a:r>
            <a:r>
              <a:rPr lang="zh-CN" altLang="en-US" sz="1900" b="1" noProof="1">
                <a:solidFill>
                  <a:schemeClr val="tx2"/>
                </a:solidFill>
              </a:rPr>
              <a:t>路</a:t>
            </a:r>
            <a:r>
              <a:rPr lang="zh-CN" altLang="en-US" sz="1900" b="1" noProof="1" smtClean="0">
                <a:solidFill>
                  <a:schemeClr val="tx2"/>
                </a:solidFill>
              </a:rPr>
              <a:t>由</a:t>
            </a:r>
            <a:r>
              <a:rPr lang="en-US" altLang="zh-CN" sz="1900" b="1" noProof="1" smtClean="0">
                <a:solidFill>
                  <a:schemeClr val="tx2"/>
                </a:solidFill>
              </a:rPr>
              <a:t>,</a:t>
            </a:r>
            <a:r>
              <a:rPr lang="zh-CN" altLang="en-US" sz="1900" b="1" noProof="1" smtClean="0">
                <a:solidFill>
                  <a:schemeClr val="tx2"/>
                </a:solidFill>
              </a:rPr>
              <a:t>而</a:t>
            </a:r>
            <a:endParaRPr lang="zh-CN" altLang="en-US" sz="1900" b="1" noProof="1">
              <a:solidFill>
                <a:schemeClr val="tx2"/>
              </a:solidFill>
            </a:endParaRPr>
          </a:p>
          <a:p>
            <a:pPr eaLnBrk="1" fontAlgn="auto" hangingPunct="1">
              <a:spcBef>
                <a:spcPts val="0"/>
              </a:spcBef>
              <a:spcAft>
                <a:spcPts val="0"/>
              </a:spcAft>
              <a:defRPr/>
            </a:pPr>
            <a:r>
              <a:rPr lang="zh-CN" altLang="en-US" sz="1900" b="1" noProof="1">
                <a:solidFill>
                  <a:schemeClr val="tx2"/>
                </a:solidFill>
              </a:rPr>
              <a:t>无线网卡则是负责接收由AP所发射信</a:t>
            </a:r>
          </a:p>
          <a:p>
            <a:pPr eaLnBrk="1" fontAlgn="auto" hangingPunct="1">
              <a:spcBef>
                <a:spcPts val="0"/>
              </a:spcBef>
              <a:spcAft>
                <a:spcPts val="0"/>
              </a:spcAft>
              <a:defRPr/>
            </a:pPr>
            <a:r>
              <a:rPr lang="zh-CN" altLang="en-US" sz="1900" b="1" noProof="1">
                <a:solidFill>
                  <a:schemeClr val="tx2"/>
                </a:solidFill>
              </a:rPr>
              <a:t>号的CLIENT端设备。有了AP就像有线</a:t>
            </a:r>
          </a:p>
          <a:p>
            <a:pPr eaLnBrk="1" fontAlgn="auto" hangingPunct="1">
              <a:spcBef>
                <a:spcPts val="0"/>
              </a:spcBef>
              <a:spcAft>
                <a:spcPts val="0"/>
              </a:spcAft>
              <a:defRPr/>
            </a:pPr>
            <a:r>
              <a:rPr lang="zh-CN" altLang="en-US" sz="1900" b="1" noProof="1">
                <a:solidFill>
                  <a:schemeClr val="tx2"/>
                </a:solidFill>
              </a:rPr>
              <a:t>网络的</a:t>
            </a:r>
            <a:r>
              <a:rPr lang="zh-CN" altLang="en-US" sz="1900" b="1" noProof="1" smtClean="0">
                <a:solidFill>
                  <a:schemeClr val="tx2"/>
                </a:solidFill>
              </a:rPr>
              <a:t>Hub</a:t>
            </a:r>
            <a:r>
              <a:rPr lang="en-US" altLang="zh-CN" sz="1900" b="1" noProof="1" smtClean="0">
                <a:solidFill>
                  <a:schemeClr val="tx2"/>
                </a:solidFill>
              </a:rPr>
              <a:t>,</a:t>
            </a:r>
            <a:r>
              <a:rPr lang="zh-CN" altLang="en-US" sz="1900" b="1" noProof="1" smtClean="0">
                <a:solidFill>
                  <a:schemeClr val="tx2"/>
                </a:solidFill>
              </a:rPr>
              <a:t>无</a:t>
            </a:r>
            <a:r>
              <a:rPr lang="zh-CN" altLang="en-US" sz="1900" b="1" noProof="1">
                <a:solidFill>
                  <a:schemeClr val="tx2"/>
                </a:solidFill>
              </a:rPr>
              <a:t>线工作站可快速与网络</a:t>
            </a:r>
          </a:p>
          <a:p>
            <a:pPr eaLnBrk="1" fontAlgn="auto" hangingPunct="1">
              <a:spcBef>
                <a:spcPts val="0"/>
              </a:spcBef>
              <a:spcAft>
                <a:spcPts val="0"/>
              </a:spcAft>
              <a:defRPr/>
            </a:pPr>
            <a:r>
              <a:rPr lang="zh-CN" altLang="en-US" sz="1900" b="1" noProof="1">
                <a:solidFill>
                  <a:schemeClr val="tx2"/>
                </a:solidFill>
              </a:rPr>
              <a:t>相</a:t>
            </a:r>
            <a:r>
              <a:rPr lang="zh-CN" altLang="en-US" sz="1900" b="1" noProof="1" smtClean="0">
                <a:solidFill>
                  <a:schemeClr val="tx2"/>
                </a:solidFill>
              </a:rPr>
              <a:t>连</a:t>
            </a:r>
            <a:r>
              <a:rPr lang="en-US" altLang="zh-CN" sz="1900" b="1" noProof="1" smtClean="0">
                <a:solidFill>
                  <a:schemeClr val="tx2"/>
                </a:solidFill>
              </a:rPr>
              <a:t>.</a:t>
            </a:r>
            <a:r>
              <a:rPr lang="zh-CN" altLang="en-US" sz="1900" b="1" noProof="1" smtClean="0">
                <a:solidFill>
                  <a:schemeClr val="tx2"/>
                </a:solidFill>
              </a:rPr>
              <a:t>特别对宽</a:t>
            </a:r>
            <a:r>
              <a:rPr lang="zh-CN" altLang="en-US" sz="1900" b="1" noProof="1">
                <a:solidFill>
                  <a:schemeClr val="tx2"/>
                </a:solidFill>
              </a:rPr>
              <a:t>带使</a:t>
            </a:r>
            <a:r>
              <a:rPr lang="zh-CN" altLang="en-US" sz="1900" b="1" noProof="1" smtClean="0">
                <a:solidFill>
                  <a:schemeClr val="tx2"/>
                </a:solidFill>
              </a:rPr>
              <a:t>用</a:t>
            </a:r>
            <a:r>
              <a:rPr lang="en-US" altLang="zh-CN" sz="1900" b="1" noProof="1" smtClean="0">
                <a:solidFill>
                  <a:schemeClr val="tx2"/>
                </a:solidFill>
              </a:rPr>
              <a:t>,</a:t>
            </a:r>
            <a:r>
              <a:rPr lang="zh-CN" altLang="en-US" sz="1900" b="1" noProof="1" smtClean="0">
                <a:solidFill>
                  <a:schemeClr val="tx2"/>
                </a:solidFill>
              </a:rPr>
              <a:t>WiFi更显优势</a:t>
            </a:r>
            <a:r>
              <a:rPr lang="en-US" altLang="zh-CN" sz="1900" b="1" noProof="1" smtClean="0">
                <a:solidFill>
                  <a:schemeClr val="tx2"/>
                </a:solidFill>
              </a:rPr>
              <a:t>,</a:t>
            </a:r>
            <a:endParaRPr lang="zh-CN" altLang="en-US" sz="1900" b="1" noProof="1">
              <a:solidFill>
                <a:schemeClr val="tx2"/>
              </a:solidFill>
            </a:endParaRPr>
          </a:p>
          <a:p>
            <a:pPr eaLnBrk="1" fontAlgn="auto" hangingPunct="1">
              <a:spcBef>
                <a:spcPts val="0"/>
              </a:spcBef>
              <a:spcAft>
                <a:spcPts val="0"/>
              </a:spcAft>
              <a:defRPr/>
            </a:pPr>
            <a:r>
              <a:rPr lang="zh-CN" altLang="en-US" sz="1900" b="1" noProof="1" smtClean="0">
                <a:solidFill>
                  <a:schemeClr val="tx2"/>
                </a:solidFill>
              </a:rPr>
              <a:t>有</a:t>
            </a:r>
            <a:r>
              <a:rPr lang="zh-CN" altLang="en-US" sz="1900" b="1" noProof="1">
                <a:solidFill>
                  <a:schemeClr val="tx2"/>
                </a:solidFill>
              </a:rPr>
              <a:t>线宽</a:t>
            </a:r>
            <a:r>
              <a:rPr lang="zh-CN" altLang="en-US" sz="1900" b="1" noProof="1" smtClean="0">
                <a:solidFill>
                  <a:schemeClr val="tx2"/>
                </a:solidFill>
              </a:rPr>
              <a:t>带到</a:t>
            </a:r>
            <a:r>
              <a:rPr lang="zh-CN" altLang="en-US" sz="1900" b="1" noProof="1">
                <a:solidFill>
                  <a:schemeClr val="tx2"/>
                </a:solidFill>
              </a:rPr>
              <a:t>户</a:t>
            </a:r>
            <a:r>
              <a:rPr lang="zh-CN" altLang="en-US" sz="1900" b="1" noProof="1" smtClean="0">
                <a:solidFill>
                  <a:schemeClr val="tx2"/>
                </a:solidFill>
              </a:rPr>
              <a:t>后</a:t>
            </a:r>
            <a:r>
              <a:rPr lang="en-US" altLang="zh-CN" sz="1900" b="1" noProof="1" smtClean="0">
                <a:solidFill>
                  <a:schemeClr val="tx2"/>
                </a:solidFill>
              </a:rPr>
              <a:t>,</a:t>
            </a:r>
            <a:r>
              <a:rPr lang="zh-CN" altLang="en-US" sz="1900" b="1" noProof="1" smtClean="0">
                <a:solidFill>
                  <a:schemeClr val="tx2"/>
                </a:solidFill>
              </a:rPr>
              <a:t>连</a:t>
            </a:r>
            <a:r>
              <a:rPr lang="zh-CN" altLang="en-US" sz="1900" b="1" noProof="1">
                <a:solidFill>
                  <a:schemeClr val="tx2"/>
                </a:solidFill>
              </a:rPr>
              <a:t>接到一个</a:t>
            </a:r>
            <a:r>
              <a:rPr lang="zh-CN" altLang="en-US" sz="1900" b="1" noProof="1" smtClean="0">
                <a:solidFill>
                  <a:schemeClr val="tx2"/>
                </a:solidFill>
              </a:rPr>
              <a:t>AP</a:t>
            </a:r>
            <a:r>
              <a:rPr lang="en-US" altLang="zh-CN" sz="1900" b="1" noProof="1" smtClean="0">
                <a:solidFill>
                  <a:schemeClr val="tx2"/>
                </a:solidFill>
              </a:rPr>
              <a:t>,</a:t>
            </a:r>
            <a:r>
              <a:rPr lang="zh-CN" altLang="en-US" sz="1900" b="1" noProof="1" smtClean="0">
                <a:solidFill>
                  <a:schemeClr val="tx2"/>
                </a:solidFill>
              </a:rPr>
              <a:t>然</a:t>
            </a:r>
            <a:r>
              <a:rPr lang="zh-CN" altLang="en-US" sz="1900" b="1" noProof="1">
                <a:solidFill>
                  <a:schemeClr val="tx2"/>
                </a:solidFill>
              </a:rPr>
              <a:t>后</a:t>
            </a:r>
          </a:p>
          <a:p>
            <a:pPr eaLnBrk="1" fontAlgn="auto" hangingPunct="1">
              <a:spcBef>
                <a:spcPts val="0"/>
              </a:spcBef>
              <a:spcAft>
                <a:spcPts val="0"/>
              </a:spcAft>
              <a:defRPr/>
            </a:pPr>
            <a:r>
              <a:rPr lang="zh-CN" altLang="en-US" sz="1900" b="1" noProof="1">
                <a:solidFill>
                  <a:schemeClr val="tx2"/>
                </a:solidFill>
              </a:rPr>
              <a:t>在电脑中安装一个无线网卡即可。</a:t>
            </a:r>
          </a:p>
        </p:txBody>
      </p:sp>
      <p:pic>
        <p:nvPicPr>
          <p:cNvPr id="61442" name="图片 1073743639"/>
          <p:cNvPicPr>
            <a:picLocks noChangeAspect="1" noChangeArrowheads="1"/>
          </p:cNvPicPr>
          <p:nvPr/>
        </p:nvPicPr>
        <p:blipFill>
          <a:blip r:embed="rId2" cstate="print"/>
          <a:srcRect/>
          <a:stretch>
            <a:fillRect/>
          </a:stretch>
        </p:blipFill>
        <p:spPr bwMode="auto">
          <a:xfrm>
            <a:off x="4814888" y="2780927"/>
            <a:ext cx="3744912" cy="2888035"/>
          </a:xfrm>
          <a:prstGeom prst="rect">
            <a:avLst/>
          </a:prstGeom>
          <a:noFill/>
          <a:ln w="9525">
            <a:noFill/>
            <a:miter lim="800000"/>
            <a:headEnd/>
            <a:tailEnd/>
          </a:ln>
        </p:spPr>
      </p:pic>
      <p:sp>
        <p:nvSpPr>
          <p:cNvPr id="61443" name="文本框 1"/>
          <p:cNvSpPr txBox="1">
            <a:spLocks noChangeArrowheads="1"/>
          </p:cNvSpPr>
          <p:nvPr/>
        </p:nvSpPr>
        <p:spPr bwMode="auto">
          <a:xfrm>
            <a:off x="5086350" y="5575300"/>
            <a:ext cx="3203575" cy="365125"/>
          </a:xfrm>
          <a:prstGeom prst="rect">
            <a:avLst/>
          </a:prstGeom>
          <a:noFill/>
          <a:ln w="9525">
            <a:noFill/>
            <a:miter lim="800000"/>
          </a:ln>
        </p:spPr>
        <p:txBody>
          <a:bodyPr>
            <a:spAutoFit/>
          </a:bodyPr>
          <a:lstStyle/>
          <a:p>
            <a:pPr algn="ctr"/>
            <a:r>
              <a:rPr lang="zh-CN" altLang="en-US">
                <a:solidFill>
                  <a:srgbClr val="FF0000"/>
                </a:solidFill>
              </a:rPr>
              <a:t>图2-8 WiFi原理及组成</a:t>
            </a:r>
          </a:p>
        </p:txBody>
      </p:sp>
      <p:sp>
        <p:nvSpPr>
          <p:cNvPr id="61444" name="Rectangle 2"/>
          <p:cNvSpPr txBox="1">
            <a:spLocks noChangeArrowheads="1"/>
          </p:cNvSpPr>
          <p:nvPr/>
        </p:nvSpPr>
        <p:spPr bwMode="auto">
          <a:xfrm>
            <a:off x="419100" y="1301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*2.3.5 </a:t>
            </a:r>
            <a:r>
              <a:rPr lang="zh-CN" altLang="en-US" sz="3200" b="1">
                <a:solidFill>
                  <a:schemeClr val="bg1"/>
                </a:solidFill>
              </a:rPr>
              <a:t>WIFI的安全性和措施</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418465" y="1156969"/>
            <a:ext cx="8305800" cy="496887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en-US" altLang="zh-CN" sz="2400" b="1" noProof="1" smtClean="0">
                <a:solidFill>
                  <a:srgbClr val="FF0000"/>
                </a:solidFill>
              </a:rPr>
              <a:t>*</a:t>
            </a:r>
            <a:r>
              <a:rPr lang="zh-CN" altLang="en-US" sz="2400" b="1" noProof="1" smtClean="0">
                <a:solidFill>
                  <a:srgbClr val="FF0000"/>
                </a:solidFill>
              </a:rPr>
              <a:t>3</a:t>
            </a:r>
            <a:r>
              <a:rPr lang="zh-CN" altLang="en-US" sz="2400" b="1" noProof="1">
                <a:solidFill>
                  <a:srgbClr val="FF0000"/>
                </a:solidFill>
              </a:rPr>
              <a:t>. WiFi的认证种类</a:t>
            </a:r>
          </a:p>
          <a:p>
            <a:pPr indent="457200" eaLnBrk="1" fontAlgn="auto" hangingPunct="1">
              <a:spcBef>
                <a:spcPts val="0"/>
              </a:spcBef>
              <a:spcAft>
                <a:spcPts val="0"/>
              </a:spcAft>
              <a:defRPr/>
            </a:pPr>
            <a:r>
              <a:rPr lang="zh-CN" altLang="en-US" sz="1700" b="1" noProof="1">
                <a:solidFill>
                  <a:srgbClr val="FF0000"/>
                </a:solidFill>
              </a:rPr>
              <a:t>WiFi联盟所公布的认证种类</a:t>
            </a:r>
            <a:r>
              <a:rPr lang="zh-CN" altLang="en-US" sz="1700" b="1" noProof="1">
                <a:solidFill>
                  <a:schemeClr val="tx2"/>
                </a:solidFill>
              </a:rPr>
              <a:t>包括：</a:t>
            </a:r>
          </a:p>
          <a:p>
            <a:pPr indent="457200" eaLnBrk="1" fontAlgn="auto" hangingPunct="1">
              <a:spcBef>
                <a:spcPts val="0"/>
              </a:spcBef>
              <a:spcAft>
                <a:spcPts val="0"/>
              </a:spcAft>
              <a:defRPr/>
            </a:pPr>
            <a:r>
              <a:rPr lang="zh-CN" altLang="en-US" sz="1700" b="1" noProof="1">
                <a:solidFill>
                  <a:schemeClr val="tx2"/>
                </a:solidFill>
                <a:latin typeface="Times New Roman" panose="02020603050405020304" pitchFamily="18" charset="0"/>
                <a:cs typeface="Times New Roman" panose="02020603050405020304" pitchFamily="18" charset="0"/>
              </a:rPr>
              <a:t>1）WPA/WPA2：WPA/WPA2是基于IEEE802.11a、802.11b、802.11g的单模、双模或双频的产品所建立的测试程序。内容包含通讯协定的验证、无线网络安全性机制的验证，以及网络传输表现与相容性测试。</a:t>
            </a:r>
          </a:p>
          <a:p>
            <a:pPr indent="457200" eaLnBrk="1" fontAlgn="auto" hangingPunct="1">
              <a:spcBef>
                <a:spcPts val="0"/>
              </a:spcBef>
              <a:spcAft>
                <a:spcPts val="0"/>
              </a:spcAft>
              <a:defRPr/>
            </a:pPr>
            <a:r>
              <a:rPr lang="zh-CN" altLang="en-US" sz="1700" b="1" noProof="1">
                <a:solidFill>
                  <a:schemeClr val="tx2"/>
                </a:solidFill>
                <a:latin typeface="Times New Roman" panose="02020603050405020304" pitchFamily="18" charset="0"/>
                <a:cs typeface="Times New Roman" panose="02020603050405020304" pitchFamily="18" charset="0"/>
              </a:rPr>
              <a:t>2）WMM(WIFI MultiMedia)当影音多媒体透过无线网络传递时</a:t>
            </a:r>
            <a:r>
              <a:rPr lang="en-US" altLang="zh-CN" sz="1700" b="1" noProof="1">
                <a:solidFill>
                  <a:schemeClr val="tx2"/>
                </a:solidFill>
                <a:latin typeface="Times New Roman" panose="02020603050405020304" pitchFamily="18" charset="0"/>
                <a:cs typeface="Times New Roman" panose="02020603050405020304" pitchFamily="18" charset="0"/>
              </a:rPr>
              <a:t>,</a:t>
            </a:r>
            <a:r>
              <a:rPr lang="zh-CN" altLang="en-US" sz="1700" b="1" noProof="1">
                <a:solidFill>
                  <a:schemeClr val="tx2"/>
                </a:solidFill>
                <a:latin typeface="Times New Roman" panose="02020603050405020304" pitchFamily="18" charset="0"/>
                <a:cs typeface="Times New Roman" panose="02020603050405020304" pitchFamily="18" charset="0"/>
              </a:rPr>
              <a:t>验证其带宽保证机制正常运作在不同无线网络装置及安全性设定上是WMM测试目的。</a:t>
            </a:r>
          </a:p>
          <a:p>
            <a:pPr indent="457200" eaLnBrk="1" fontAlgn="auto" hangingPunct="1">
              <a:spcBef>
                <a:spcPts val="0"/>
              </a:spcBef>
              <a:spcAft>
                <a:spcPts val="0"/>
              </a:spcAft>
              <a:defRPr/>
            </a:pPr>
            <a:r>
              <a:rPr lang="zh-CN" altLang="en-US" sz="1700" b="1" noProof="1">
                <a:solidFill>
                  <a:schemeClr val="tx2"/>
                </a:solidFill>
                <a:latin typeface="Times New Roman" panose="02020603050405020304" pitchFamily="18" charset="0"/>
                <a:cs typeface="Times New Roman" panose="02020603050405020304" pitchFamily="18" charset="0"/>
              </a:rPr>
              <a:t>3）WMM Power Save：在影音多媒体透过无线网络的传递时，透过管理无线网络装置的待命时间延长电池寿命且不影响其功能性，可透过WMM Power Save测试验证。</a:t>
            </a:r>
          </a:p>
          <a:p>
            <a:pPr indent="457200" eaLnBrk="1" fontAlgn="auto" hangingPunct="1">
              <a:spcBef>
                <a:spcPts val="0"/>
              </a:spcBef>
              <a:spcAft>
                <a:spcPts val="0"/>
              </a:spcAft>
              <a:defRPr/>
            </a:pPr>
            <a:r>
              <a:rPr lang="zh-CN" altLang="en-US" sz="1700" b="1" noProof="1">
                <a:solidFill>
                  <a:schemeClr val="tx2"/>
                </a:solidFill>
                <a:latin typeface="Times New Roman" panose="02020603050405020304" pitchFamily="18" charset="0"/>
                <a:cs typeface="Times New Roman" panose="02020603050405020304" pitchFamily="18" charset="0"/>
              </a:rPr>
              <a:t>4）WPS(WIFI Protected Setup)：可让消费者透过更简单的方式设定无线网络装置，并保证一定的安全性。当前WPS允许透过Pin Input Config(PIN)、Push Button Config(PBC)、USB Flash Drive Config(UFD)、Near Field Communication和 Contactless Token Config(NFC)的方式设定无线网络装置。</a:t>
            </a:r>
          </a:p>
          <a:p>
            <a:pPr indent="457200" eaLnBrk="1" fontAlgn="auto" hangingPunct="1">
              <a:spcBef>
                <a:spcPts val="0"/>
              </a:spcBef>
              <a:spcAft>
                <a:spcPts val="0"/>
              </a:spcAft>
              <a:defRPr/>
            </a:pPr>
            <a:r>
              <a:rPr lang="zh-CN" altLang="en-US" sz="1700" b="1" noProof="1">
                <a:solidFill>
                  <a:schemeClr val="tx2"/>
                </a:solidFill>
                <a:latin typeface="Times New Roman" panose="02020603050405020304" pitchFamily="18" charset="0"/>
                <a:cs typeface="Times New Roman" panose="02020603050405020304" pitchFamily="18" charset="0"/>
              </a:rPr>
              <a:t>5）ASD(Application Specific Device</a:t>
            </a:r>
            <a:r>
              <a:rPr lang="zh-CN" altLang="en-US" sz="1700" b="1" noProof="1" smtClean="0">
                <a:solidFill>
                  <a:schemeClr val="tx2"/>
                </a:solidFill>
                <a:latin typeface="Times New Roman" panose="02020603050405020304" pitchFamily="18" charset="0"/>
                <a:cs typeface="Times New Roman" panose="02020603050405020304" pitchFamily="18" charset="0"/>
              </a:rPr>
              <a:t>)</a:t>
            </a:r>
            <a:r>
              <a:rPr lang="en-US" altLang="zh-CN" sz="1700" b="1" noProof="1" smtClean="0">
                <a:solidFill>
                  <a:schemeClr val="tx2"/>
                </a:solidFill>
                <a:latin typeface="Times New Roman" panose="02020603050405020304" pitchFamily="18" charset="0"/>
                <a:cs typeface="Times New Roman" panose="02020603050405020304" pitchFamily="18" charset="0"/>
              </a:rPr>
              <a:t>:</a:t>
            </a:r>
            <a:r>
              <a:rPr lang="zh-CN" altLang="en-US" sz="1700" b="1" noProof="1" smtClean="0">
                <a:solidFill>
                  <a:schemeClr val="tx2"/>
                </a:solidFill>
                <a:latin typeface="Times New Roman" panose="02020603050405020304" pitchFamily="18" charset="0"/>
                <a:cs typeface="Times New Roman" panose="02020603050405020304" pitchFamily="18" charset="0"/>
              </a:rPr>
              <a:t>是</a:t>
            </a:r>
            <a:r>
              <a:rPr lang="zh-CN" altLang="en-US" sz="1700" b="1" noProof="1">
                <a:solidFill>
                  <a:schemeClr val="tx2"/>
                </a:solidFill>
                <a:latin typeface="Times New Roman" panose="02020603050405020304" pitchFamily="18" charset="0"/>
                <a:cs typeface="Times New Roman" panose="02020603050405020304" pitchFamily="18" charset="0"/>
              </a:rPr>
              <a:t>针对除了无线网络存取点(</a:t>
            </a:r>
            <a:r>
              <a:rPr lang="zh-CN" altLang="en-US" sz="1700" b="1" noProof="1" smtClean="0">
                <a:solidFill>
                  <a:schemeClr val="tx2"/>
                </a:solidFill>
                <a:latin typeface="Times New Roman" panose="02020603050405020304" pitchFamily="18" charset="0"/>
                <a:cs typeface="Times New Roman" panose="02020603050405020304" pitchFamily="18" charset="0"/>
              </a:rPr>
              <a:t>AP)</a:t>
            </a:r>
            <a:r>
              <a:rPr lang="zh-CN" altLang="en-US" sz="1700" b="1" noProof="1">
                <a:solidFill>
                  <a:schemeClr val="tx2"/>
                </a:solidFill>
                <a:latin typeface="Times New Roman" panose="02020603050405020304" pitchFamily="18" charset="0"/>
                <a:cs typeface="Times New Roman" panose="02020603050405020304" pitchFamily="18" charset="0"/>
              </a:rPr>
              <a:t>及站</a:t>
            </a:r>
            <a:r>
              <a:rPr lang="zh-CN" altLang="en-US" sz="1700" b="1" noProof="1" smtClean="0">
                <a:solidFill>
                  <a:schemeClr val="tx2"/>
                </a:solidFill>
                <a:latin typeface="Times New Roman" panose="02020603050405020304" pitchFamily="18" charset="0"/>
                <a:cs typeface="Times New Roman" panose="02020603050405020304" pitchFamily="18" charset="0"/>
              </a:rPr>
              <a:t>台之</a:t>
            </a:r>
            <a:r>
              <a:rPr lang="zh-CN" altLang="en-US" sz="1700" b="1" noProof="1">
                <a:solidFill>
                  <a:schemeClr val="tx2"/>
                </a:solidFill>
                <a:latin typeface="Times New Roman" panose="02020603050405020304" pitchFamily="18" charset="0"/>
                <a:cs typeface="Times New Roman" panose="02020603050405020304" pitchFamily="18" charset="0"/>
              </a:rPr>
              <a:t>外有特殊应用的无线网络装置，如DVD播放器、投影机、打印机等。</a:t>
            </a:r>
          </a:p>
          <a:p>
            <a:pPr indent="457200" eaLnBrk="1" fontAlgn="auto" hangingPunct="1">
              <a:spcBef>
                <a:spcPts val="0"/>
              </a:spcBef>
              <a:spcAft>
                <a:spcPts val="0"/>
              </a:spcAft>
              <a:defRPr/>
            </a:pPr>
            <a:r>
              <a:rPr lang="zh-CN" altLang="en-US" sz="1700" b="1" noProof="1">
                <a:solidFill>
                  <a:schemeClr val="tx2"/>
                </a:solidFill>
                <a:latin typeface="Times New Roman" panose="02020603050405020304" pitchFamily="18" charset="0"/>
                <a:cs typeface="Times New Roman" panose="02020603050405020304" pitchFamily="18" charset="0"/>
              </a:rPr>
              <a:t>6）CWG(Converged Wireless Group)：主要是针对WIFI mobile converged devices 的RF 部分测量的测试程序。</a:t>
            </a:r>
          </a:p>
        </p:txBody>
      </p:sp>
      <p:sp>
        <p:nvSpPr>
          <p:cNvPr id="62466" name="Rectangle 2"/>
          <p:cNvSpPr txBox="1">
            <a:spLocks noChangeArrowheads="1"/>
          </p:cNvSpPr>
          <p:nvPr/>
        </p:nvSpPr>
        <p:spPr bwMode="auto">
          <a:xfrm>
            <a:off x="419100" y="1301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*2.3.5 </a:t>
            </a:r>
            <a:r>
              <a:rPr lang="zh-CN" altLang="en-US" sz="3200" b="1">
                <a:solidFill>
                  <a:schemeClr val="bg1"/>
                </a:solidFill>
              </a:rPr>
              <a:t>WIFI的安全性和措施</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67"/>
          <p:cNvSpPr/>
          <p:nvPr/>
        </p:nvSpPr>
        <p:spPr>
          <a:xfrm>
            <a:off x="251460" y="1196975"/>
            <a:ext cx="8594090" cy="462026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defRPr/>
            </a:pPr>
            <a:r>
              <a:rPr lang="zh-CN" altLang="en-US" sz="2400" b="1" spc="50" noProof="1">
                <a:solidFill>
                  <a:srgbClr val="FF0000"/>
                </a:solidFill>
              </a:rPr>
              <a:t>4. 增强WiFi的安全措施</a:t>
            </a:r>
          </a:p>
          <a:p>
            <a:pPr indent="457200" eaLnBrk="1" fontAlgn="auto" hangingPunct="1">
              <a:spcBef>
                <a:spcPts val="0"/>
              </a:spcBef>
              <a:spcAft>
                <a:spcPts val="0"/>
              </a:spcAft>
              <a:defRPr/>
            </a:pPr>
            <a:r>
              <a:rPr lang="zh-CN" altLang="en-US" sz="2000" b="1" spc="50" noProof="1">
                <a:solidFill>
                  <a:schemeClr val="tx2"/>
                </a:solidFill>
              </a:rPr>
              <a:t>无线路由器</a:t>
            </a:r>
            <a:r>
              <a:rPr lang="zh-CN" altLang="en-US" sz="2000" b="1" spc="50" noProof="1">
                <a:solidFill>
                  <a:srgbClr val="C00000"/>
                </a:solidFill>
              </a:rPr>
              <a:t>密码破解</a:t>
            </a:r>
            <a:r>
              <a:rPr lang="zh-CN" altLang="en-US" sz="2000" b="1" spc="50" noProof="1">
                <a:solidFill>
                  <a:schemeClr val="tx2"/>
                </a:solidFill>
              </a:rPr>
              <a:t>的速度取决于软件和硬件，只要注意在密码设置时尽量复杂些，即可增强安全性。此外</a:t>
            </a:r>
            <a:r>
              <a:rPr lang="zh-CN" altLang="en-US" sz="2000" b="1" spc="50" noProof="1" smtClean="0">
                <a:solidFill>
                  <a:schemeClr val="tx2"/>
                </a:solidFill>
              </a:rPr>
              <a:t>，</a:t>
            </a:r>
            <a:r>
              <a:rPr lang="zh-CN" altLang="en-US" sz="2000" b="1" spc="50" noProof="1" smtClean="0">
                <a:solidFill>
                  <a:srgbClr val="C00000"/>
                </a:solidFill>
              </a:rPr>
              <a:t>采</a:t>
            </a:r>
            <a:r>
              <a:rPr lang="zh-CN" altLang="en-US" sz="2000" b="1" spc="50" noProof="1">
                <a:solidFill>
                  <a:srgbClr val="C00000"/>
                </a:solidFill>
              </a:rPr>
              <a:t>用以下几种设置方法</a:t>
            </a:r>
            <a:r>
              <a:rPr lang="zh-CN" altLang="en-US" sz="2000" b="1" spc="50" noProof="1">
                <a:solidFill>
                  <a:schemeClr val="tx2"/>
                </a:solidFill>
              </a:rPr>
              <a:t>。</a:t>
            </a:r>
          </a:p>
          <a:p>
            <a:pPr indent="457200" eaLnBrk="1" fontAlgn="auto" hangingPunct="1">
              <a:spcBef>
                <a:spcPts val="0"/>
              </a:spcBef>
              <a:spcAft>
                <a:spcPts val="0"/>
              </a:spcAft>
              <a:defRPr/>
            </a:pPr>
            <a:r>
              <a:rPr lang="zh-CN" altLang="en-US" sz="1900" b="1" spc="50" noProof="1">
                <a:solidFill>
                  <a:schemeClr val="tx2"/>
                </a:solidFill>
              </a:rPr>
              <a:t>1）采用WPA/WPA2加密方</a:t>
            </a:r>
            <a:r>
              <a:rPr lang="zh-CN" altLang="en-US" sz="1900" b="1" spc="50" noProof="1" smtClean="0">
                <a:solidFill>
                  <a:schemeClr val="tx2"/>
                </a:solidFill>
              </a:rPr>
              <a:t>式</a:t>
            </a:r>
            <a:r>
              <a:rPr lang="en-US" altLang="zh-CN" sz="1900" b="1" spc="50" noProof="1" smtClean="0">
                <a:solidFill>
                  <a:schemeClr val="tx2"/>
                </a:solidFill>
              </a:rPr>
              <a:t>,</a:t>
            </a:r>
            <a:r>
              <a:rPr lang="zh-CN" altLang="en-US" sz="1900" b="1" spc="50" noProof="1" smtClean="0">
                <a:solidFill>
                  <a:schemeClr val="tx2"/>
                </a:solidFill>
              </a:rPr>
              <a:t>不</a:t>
            </a:r>
            <a:r>
              <a:rPr lang="zh-CN" altLang="en-US" sz="1900" b="1" spc="50" noProof="1">
                <a:solidFill>
                  <a:schemeClr val="tx2"/>
                </a:solidFill>
              </a:rPr>
              <a:t>用有缺陷加</a:t>
            </a:r>
            <a:r>
              <a:rPr lang="zh-CN" altLang="en-US" sz="1900" b="1" spc="50" noProof="1" smtClean="0">
                <a:solidFill>
                  <a:schemeClr val="tx2"/>
                </a:solidFill>
              </a:rPr>
              <a:t>密</a:t>
            </a:r>
            <a:r>
              <a:rPr lang="en-US" altLang="zh-CN" sz="1900" b="1" spc="50" noProof="1" smtClean="0">
                <a:solidFill>
                  <a:schemeClr val="tx2"/>
                </a:solidFill>
              </a:rPr>
              <a:t>,</a:t>
            </a:r>
            <a:r>
              <a:rPr lang="zh-CN" altLang="en-US" sz="1900" b="1" spc="50" noProof="1" smtClean="0">
                <a:solidFill>
                  <a:schemeClr val="tx2"/>
                </a:solidFill>
              </a:rPr>
              <a:t>这</a:t>
            </a:r>
            <a:r>
              <a:rPr lang="zh-CN" altLang="en-US" sz="1900" b="1" spc="50" noProof="1">
                <a:solidFill>
                  <a:schemeClr val="tx2"/>
                </a:solidFill>
              </a:rPr>
              <a:t>是最常用的加密方式。</a:t>
            </a:r>
          </a:p>
          <a:p>
            <a:pPr indent="457200" eaLnBrk="1" fontAlgn="auto" hangingPunct="1">
              <a:spcBef>
                <a:spcPts val="0"/>
              </a:spcBef>
              <a:spcAft>
                <a:spcPts val="0"/>
              </a:spcAft>
              <a:defRPr/>
            </a:pPr>
            <a:r>
              <a:rPr lang="zh-CN" altLang="en-US" sz="1900" b="1" spc="50" noProof="1">
                <a:solidFill>
                  <a:schemeClr val="tx2"/>
                </a:solidFill>
              </a:rPr>
              <a:t>2）不用初始口令和密</a:t>
            </a:r>
            <a:r>
              <a:rPr lang="zh-CN" altLang="en-US" sz="1900" b="1" spc="50" noProof="1" smtClean="0">
                <a:solidFill>
                  <a:schemeClr val="tx2"/>
                </a:solidFill>
              </a:rPr>
              <a:t>码</a:t>
            </a:r>
            <a:r>
              <a:rPr lang="en-US" altLang="zh-CN" sz="1900" b="1" spc="50" noProof="1" smtClean="0">
                <a:solidFill>
                  <a:schemeClr val="tx2"/>
                </a:solidFill>
              </a:rPr>
              <a:t>,</a:t>
            </a:r>
            <a:r>
              <a:rPr lang="zh-CN" altLang="en-US" sz="1900" b="1" spc="50" noProof="1" smtClean="0">
                <a:solidFill>
                  <a:schemeClr val="tx2"/>
                </a:solidFill>
              </a:rPr>
              <a:t>用</a:t>
            </a:r>
            <a:r>
              <a:rPr lang="zh-CN" altLang="en-US" sz="1900" b="1" spc="50" noProof="1">
                <a:solidFill>
                  <a:schemeClr val="tx2"/>
                </a:solidFill>
              </a:rPr>
              <a:t>长且复杂密</a:t>
            </a:r>
            <a:r>
              <a:rPr lang="zh-CN" altLang="en-US" sz="1900" b="1" spc="50" noProof="1" smtClean="0">
                <a:solidFill>
                  <a:schemeClr val="tx2"/>
                </a:solidFill>
              </a:rPr>
              <a:t>码并</a:t>
            </a:r>
            <a:r>
              <a:rPr lang="zh-CN" altLang="en-US" sz="1900" b="1" spc="50" noProof="1">
                <a:solidFill>
                  <a:schemeClr val="tx2"/>
                </a:solidFill>
              </a:rPr>
              <a:t>定期更</a:t>
            </a:r>
            <a:r>
              <a:rPr lang="zh-CN" altLang="en-US" sz="1900" b="1" spc="50" noProof="1" smtClean="0">
                <a:solidFill>
                  <a:schemeClr val="tx2"/>
                </a:solidFill>
              </a:rPr>
              <a:t>换</a:t>
            </a:r>
            <a:r>
              <a:rPr lang="en-US" altLang="zh-CN" sz="1900" b="1" spc="50" noProof="1" smtClean="0">
                <a:solidFill>
                  <a:schemeClr val="tx2"/>
                </a:solidFill>
              </a:rPr>
              <a:t>,</a:t>
            </a:r>
            <a:r>
              <a:rPr lang="zh-CN" altLang="en-US" sz="1900" b="1" spc="50" noProof="1" smtClean="0">
                <a:solidFill>
                  <a:schemeClr val="tx2"/>
                </a:solidFill>
              </a:rPr>
              <a:t>不</a:t>
            </a:r>
            <a:r>
              <a:rPr lang="zh-CN" altLang="en-US" sz="1900" b="1" spc="50" noProof="1">
                <a:solidFill>
                  <a:schemeClr val="tx2"/>
                </a:solidFill>
              </a:rPr>
              <a:t>用易猜密码。</a:t>
            </a:r>
          </a:p>
          <a:p>
            <a:pPr indent="457200" eaLnBrk="1" fontAlgn="auto" hangingPunct="1">
              <a:spcBef>
                <a:spcPts val="0"/>
              </a:spcBef>
              <a:spcAft>
                <a:spcPts val="0"/>
              </a:spcAft>
              <a:defRPr/>
            </a:pPr>
            <a:r>
              <a:rPr lang="zh-CN" altLang="en-US" sz="1900" b="1" spc="50" noProof="1">
                <a:solidFill>
                  <a:schemeClr val="tx2"/>
                </a:solidFill>
              </a:rPr>
              <a:t>3）无线路</a:t>
            </a:r>
            <a:r>
              <a:rPr lang="zh-CN" altLang="en-US" sz="1900" b="1" spc="50" noProof="1" smtClean="0">
                <a:solidFill>
                  <a:schemeClr val="tx2"/>
                </a:solidFill>
              </a:rPr>
              <a:t>由后</a:t>
            </a:r>
            <a:r>
              <a:rPr lang="zh-CN" altLang="en-US" sz="1900" b="1" spc="50" noProof="1">
                <a:solidFill>
                  <a:schemeClr val="tx2"/>
                </a:solidFill>
              </a:rPr>
              <a:t>台管理默认的用户名和密码一定尽快更改并定期更换。</a:t>
            </a:r>
          </a:p>
          <a:p>
            <a:pPr indent="457200" eaLnBrk="1" fontAlgn="auto" hangingPunct="1">
              <a:spcBef>
                <a:spcPts val="0"/>
              </a:spcBef>
              <a:spcAft>
                <a:spcPts val="0"/>
              </a:spcAft>
              <a:defRPr/>
            </a:pPr>
            <a:r>
              <a:rPr lang="zh-CN" altLang="en-US" sz="1900" b="1" spc="50" noProof="1">
                <a:solidFill>
                  <a:schemeClr val="tx2"/>
                </a:solidFill>
              </a:rPr>
              <a:t>4）禁用</a:t>
            </a:r>
            <a:r>
              <a:rPr lang="zh-CN" altLang="en-US" sz="1900" b="1" spc="50" noProof="1" smtClean="0">
                <a:solidFill>
                  <a:schemeClr val="tx2"/>
                </a:solidFill>
              </a:rPr>
              <a:t>WPS</a:t>
            </a:r>
            <a:r>
              <a:rPr lang="en-US" altLang="zh-CN" sz="1900" b="1" spc="50" noProof="1" smtClean="0">
                <a:solidFill>
                  <a:schemeClr val="tx2"/>
                </a:solidFill>
              </a:rPr>
              <a:t>(</a:t>
            </a:r>
            <a:r>
              <a:rPr lang="zh-CN" altLang="en-US" sz="1900" b="1" spc="50" noProof="1" smtClean="0">
                <a:solidFill>
                  <a:schemeClr val="tx2"/>
                </a:solidFill>
              </a:rPr>
              <a:t> 保护设置</a:t>
            </a:r>
            <a:r>
              <a:rPr lang="en-US" altLang="zh-CN" sz="1900" b="1" spc="50" noProof="1" smtClean="0">
                <a:solidFill>
                  <a:schemeClr val="tx2"/>
                </a:solidFill>
              </a:rPr>
              <a:t>)</a:t>
            </a:r>
            <a:r>
              <a:rPr lang="zh-CN" altLang="en-US" sz="1900" b="1" spc="50" noProof="1" smtClean="0">
                <a:solidFill>
                  <a:schemeClr val="tx2"/>
                </a:solidFill>
              </a:rPr>
              <a:t>功</a:t>
            </a:r>
            <a:r>
              <a:rPr lang="zh-CN" altLang="en-US" sz="1900" b="1" spc="50" noProof="1">
                <a:solidFill>
                  <a:schemeClr val="tx2"/>
                </a:solidFill>
              </a:rPr>
              <a:t>能。现有的WPS功能存在漏洞，使路由器的接入密码和后台管理密码有可能暴露。</a:t>
            </a:r>
          </a:p>
          <a:p>
            <a:pPr indent="457200" eaLnBrk="1" fontAlgn="auto" hangingPunct="1">
              <a:spcBef>
                <a:spcPts val="0"/>
              </a:spcBef>
              <a:spcAft>
                <a:spcPts val="0"/>
              </a:spcAft>
              <a:defRPr/>
            </a:pPr>
            <a:r>
              <a:rPr lang="zh-CN" altLang="en-US" sz="1900" b="1" spc="50" noProof="1">
                <a:solidFill>
                  <a:schemeClr val="tx2"/>
                </a:solidFill>
              </a:rPr>
              <a:t>5）启用MAC地址过滤功能，绑定常用设备</a:t>
            </a:r>
            <a:r>
              <a:rPr lang="zh-CN" altLang="en-US" sz="1900" b="1" spc="50" noProof="1" smtClean="0">
                <a:solidFill>
                  <a:schemeClr val="tx2"/>
                </a:solidFill>
              </a:rPr>
              <a:t>。</a:t>
            </a:r>
            <a:endParaRPr lang="zh-CN" altLang="en-US" sz="1900" b="1" spc="50" noProof="1">
              <a:solidFill>
                <a:schemeClr val="tx2"/>
              </a:solidFill>
            </a:endParaRPr>
          </a:p>
          <a:p>
            <a:pPr indent="457200" eaLnBrk="1" fontAlgn="auto" hangingPunct="1">
              <a:spcBef>
                <a:spcPts val="0"/>
              </a:spcBef>
              <a:spcAft>
                <a:spcPts val="0"/>
              </a:spcAft>
              <a:defRPr/>
            </a:pPr>
            <a:r>
              <a:rPr lang="zh-CN" altLang="en-US" sz="1900" b="1" spc="50" noProof="1">
                <a:solidFill>
                  <a:schemeClr val="tx2"/>
                </a:solidFill>
              </a:rPr>
              <a:t>6）关闭远程管理端口和路由器的DHCP功能，启用固定IP地址，不要让路由器自动分配IP地址。</a:t>
            </a:r>
          </a:p>
          <a:p>
            <a:pPr indent="457200" eaLnBrk="1" fontAlgn="auto" hangingPunct="1">
              <a:spcBef>
                <a:spcPts val="0"/>
              </a:spcBef>
              <a:spcAft>
                <a:spcPts val="0"/>
              </a:spcAft>
              <a:defRPr/>
            </a:pPr>
            <a:r>
              <a:rPr lang="zh-CN" altLang="en-US" sz="1900" b="1" spc="50" noProof="1">
                <a:solidFill>
                  <a:schemeClr val="tx2"/>
                </a:solidFill>
              </a:rPr>
              <a:t>7）注意固件升</a:t>
            </a:r>
            <a:r>
              <a:rPr lang="zh-CN" altLang="en-US" sz="1900" b="1" spc="50" noProof="1" smtClean="0">
                <a:solidFill>
                  <a:schemeClr val="tx2"/>
                </a:solidFill>
              </a:rPr>
              <a:t>级</a:t>
            </a:r>
            <a:r>
              <a:rPr lang="en-US" altLang="zh-CN" sz="1900" b="1" spc="50" noProof="1" smtClean="0">
                <a:solidFill>
                  <a:schemeClr val="tx2"/>
                </a:solidFill>
              </a:rPr>
              <a:t>.</a:t>
            </a:r>
            <a:r>
              <a:rPr lang="zh-CN" altLang="en-US" sz="1900" b="1" spc="50" noProof="1" smtClean="0">
                <a:solidFill>
                  <a:schemeClr val="tx2"/>
                </a:solidFill>
              </a:rPr>
              <a:t>及</a:t>
            </a:r>
            <a:r>
              <a:rPr lang="zh-CN" altLang="en-US" sz="1900" b="1" spc="50" noProof="1">
                <a:solidFill>
                  <a:schemeClr val="tx2"/>
                </a:solidFill>
              </a:rPr>
              <a:t>时修补漏洞升级或换成更安全的无线路由器。</a:t>
            </a:r>
          </a:p>
          <a:p>
            <a:pPr indent="457200" eaLnBrk="1" fontAlgn="auto" hangingPunct="1">
              <a:spcBef>
                <a:spcPts val="0"/>
              </a:spcBef>
              <a:spcAft>
                <a:spcPts val="0"/>
              </a:spcAft>
              <a:defRPr/>
            </a:pPr>
            <a:r>
              <a:rPr lang="zh-CN" altLang="en-US" sz="1900" b="1" spc="50" noProof="1">
                <a:solidFill>
                  <a:schemeClr val="tx2"/>
                </a:solidFill>
              </a:rPr>
              <a:t>8）不管在手机端还是电脑端都应安装病毒检测安全软件。对于黑客常用的钓鱼网站等攻击手法，安全软件可以及时拦截提醒。</a:t>
            </a:r>
          </a:p>
          <a:p>
            <a:pPr indent="457200" eaLnBrk="1" fontAlgn="auto" hangingPunct="1">
              <a:spcBef>
                <a:spcPts val="0"/>
              </a:spcBef>
              <a:spcAft>
                <a:spcPts val="0"/>
              </a:spcAft>
              <a:defRPr/>
            </a:pPr>
            <a:r>
              <a:rPr lang="zh-CN" altLang="en-US" b="1" spc="50" noProof="1">
                <a:solidFill>
                  <a:srgbClr val="C00000"/>
                </a:solidFill>
                <a:latin typeface="楷体" panose="02010609060101010101" charset="-122"/>
                <a:ea typeface="华文楷体" panose="02010600040101010101" charset="-122"/>
                <a:sym typeface="+mn-ea"/>
              </a:rPr>
              <a:t>专家建议</a:t>
            </a:r>
            <a:r>
              <a:rPr lang="zh-CN" altLang="en-US" spc="50" noProof="1">
                <a:solidFill>
                  <a:srgbClr val="C00000"/>
                </a:solidFill>
                <a:latin typeface="楷体" panose="02010609060101010101" charset="-122"/>
                <a:ea typeface="华文楷体" panose="02010600040101010101" charset="-122"/>
                <a:sym typeface="+mn-ea"/>
              </a:rPr>
              <a:t>使用WiFi安全防护措</a:t>
            </a:r>
            <a:r>
              <a:rPr lang="zh-CN" altLang="en-US" spc="50" noProof="1" smtClean="0">
                <a:solidFill>
                  <a:srgbClr val="C00000"/>
                </a:solidFill>
                <a:latin typeface="楷体" panose="02010609060101010101" charset="-122"/>
                <a:ea typeface="华文楷体" panose="02010600040101010101" charset="-122"/>
                <a:sym typeface="+mn-ea"/>
              </a:rPr>
              <a:t>施</a:t>
            </a:r>
            <a:r>
              <a:rPr lang="en-US" altLang="zh-CN" spc="50" noProof="1" smtClean="0">
                <a:solidFill>
                  <a:srgbClr val="C00000"/>
                </a:solidFill>
                <a:latin typeface="楷体" panose="02010609060101010101" charset="-122"/>
                <a:ea typeface="华文楷体" panose="02010600040101010101" charset="-122"/>
                <a:sym typeface="+mn-ea"/>
              </a:rPr>
              <a:t>,</a:t>
            </a:r>
            <a:r>
              <a:rPr lang="zh-CN" altLang="en-US" spc="50" noProof="1" smtClean="0">
                <a:solidFill>
                  <a:srgbClr val="C00000"/>
                </a:solidFill>
                <a:latin typeface="楷体" panose="02010609060101010101" charset="-122"/>
                <a:ea typeface="华文楷体" panose="02010600040101010101" charset="-122"/>
                <a:sym typeface="+mn-ea"/>
              </a:rPr>
              <a:t>见知识拓展</a:t>
            </a:r>
            <a:r>
              <a:rPr lang="en-US" altLang="zh-CN" spc="50" noProof="1" smtClean="0">
                <a:solidFill>
                  <a:srgbClr val="C00000"/>
                </a:solidFill>
                <a:latin typeface="楷体" panose="02010609060101010101" charset="-122"/>
                <a:ea typeface="华文楷体" panose="02010600040101010101" charset="-122"/>
                <a:sym typeface="+mn-ea"/>
              </a:rPr>
              <a:t>(</a:t>
            </a:r>
            <a:r>
              <a:rPr lang="zh-CN" altLang="en-US" spc="50" noProof="1" smtClean="0">
                <a:solidFill>
                  <a:srgbClr val="C00000"/>
                </a:solidFill>
                <a:latin typeface="楷体" panose="02010609060101010101" charset="-122"/>
                <a:ea typeface="华文楷体" panose="02010600040101010101" charset="-122"/>
                <a:sym typeface="+mn-ea"/>
              </a:rPr>
              <a:t>二维码</a:t>
            </a:r>
            <a:r>
              <a:rPr lang="en-US" altLang="zh-CN" spc="50" noProof="1" smtClean="0">
                <a:solidFill>
                  <a:srgbClr val="C00000"/>
                </a:solidFill>
                <a:latin typeface="楷体" panose="02010609060101010101" charset="-122"/>
                <a:ea typeface="华文楷体" panose="02010600040101010101" charset="-122"/>
                <a:sym typeface="+mn-ea"/>
              </a:rPr>
              <a:t>)</a:t>
            </a:r>
            <a:r>
              <a:rPr lang="zh-CN" altLang="en-US" spc="50" noProof="1" smtClean="0">
                <a:solidFill>
                  <a:srgbClr val="C00000"/>
                </a:solidFill>
                <a:latin typeface="楷体" panose="02010609060101010101" charset="-122"/>
                <a:ea typeface="华文楷体" panose="02010600040101010101" charset="-122"/>
                <a:sym typeface="+mn-ea"/>
              </a:rPr>
              <a:t>。</a:t>
            </a:r>
            <a:endParaRPr lang="zh-CN" altLang="en-US" spc="50" noProof="1">
              <a:solidFill>
                <a:srgbClr val="C00000"/>
              </a:solidFill>
              <a:latin typeface="楷体" panose="02010609060101010101" charset="-122"/>
              <a:ea typeface="华文楷体" panose="02010600040101010101" charset="-122"/>
              <a:sym typeface="+mn-ea"/>
            </a:endParaRPr>
          </a:p>
        </p:txBody>
      </p:sp>
      <p:sp>
        <p:nvSpPr>
          <p:cNvPr id="63490" name="Rectangle 2"/>
          <p:cNvSpPr txBox="1">
            <a:spLocks noChangeArrowheads="1"/>
          </p:cNvSpPr>
          <p:nvPr/>
        </p:nvSpPr>
        <p:spPr bwMode="auto">
          <a:xfrm>
            <a:off x="419100" y="1301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*2.3.5 </a:t>
            </a:r>
            <a:r>
              <a:rPr lang="zh-CN" altLang="en-US" sz="3200" b="1">
                <a:solidFill>
                  <a:schemeClr val="bg1"/>
                </a:solidFill>
              </a:rPr>
              <a:t>WIFI的安全性和措施</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8"/>
          <p:cNvSpPr>
            <a:spLocks noChangeArrowheads="1"/>
          </p:cNvSpPr>
          <p:nvPr/>
        </p:nvSpPr>
        <p:spPr bwMode="gray">
          <a:xfrm>
            <a:off x="1104900" y="1381125"/>
            <a:ext cx="7113588" cy="1800225"/>
          </a:xfrm>
          <a:prstGeom prst="roundRect">
            <a:avLst>
              <a:gd name="adj" fmla="val 16667"/>
            </a:avLst>
          </a:prstGeom>
          <a:solidFill>
            <a:srgbClr val="FFFF99"/>
          </a:solidFill>
          <a:ln w="25400" algn="ctr">
            <a:solidFill>
              <a:schemeClr val="tx1"/>
            </a:solidFill>
            <a:round/>
          </a:ln>
        </p:spPr>
        <p:txBody>
          <a:bodyPr anchor="ctr"/>
          <a:lstStyle/>
          <a:p>
            <a:pPr>
              <a:buFontTx/>
              <a:buNone/>
              <a:defRPr/>
            </a:pPr>
            <a:r>
              <a:rPr lang="zh-CN" altLang="en-US" sz="2400" b="1">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2400" b="1">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讨论思考：</a:t>
            </a:r>
            <a:endParaRPr lang="zh-CN" altLang="en-US" sz="2800" b="1">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endParaRPr>
          </a:p>
          <a:p>
            <a:pPr>
              <a:buFontTx/>
              <a:buNone/>
              <a:defRPr/>
            </a:pPr>
            <a:r>
              <a:rPr sz="2200" b="1">
                <a:effectLst>
                  <a:outerShdw blurRad="38100" dist="38100" dir="2700000" algn="tl">
                    <a:srgbClr val="000000"/>
                  </a:outerShdw>
                </a:effectLst>
                <a:latin typeface="仿宋" panose="02010609060101010101" charset="-122"/>
                <a:ea typeface="仿宋" panose="02010609060101010101" charset="-122"/>
              </a:rPr>
              <a:t>  1）无线网络的安全风险和隐患有哪些？ </a:t>
            </a:r>
          </a:p>
          <a:p>
            <a:pPr>
              <a:buFontTx/>
              <a:buNone/>
              <a:defRPr/>
            </a:pPr>
            <a:r>
              <a:rPr sz="2200" b="1">
                <a:effectLst>
                  <a:outerShdw blurRad="38100" dist="38100" dir="2700000" algn="tl">
                    <a:srgbClr val="000000"/>
                  </a:outerShdw>
                </a:effectLst>
                <a:latin typeface="仿宋" panose="02010609060101010101" charset="-122"/>
                <a:ea typeface="仿宋" panose="02010609060101010101" charset="-122"/>
              </a:rPr>
              <a:t>  2）概述无线网络AP及网络路由器的安全性？</a:t>
            </a:r>
          </a:p>
          <a:p>
            <a:pPr>
              <a:buFontTx/>
              <a:buNone/>
              <a:defRPr/>
            </a:pPr>
            <a:r>
              <a:rPr sz="2200" b="1">
                <a:effectLst>
                  <a:outerShdw blurRad="38100" dist="38100" dir="2700000" algn="tl">
                    <a:srgbClr val="000000"/>
                  </a:outerShdw>
                </a:effectLst>
                <a:latin typeface="仿宋" panose="02010609060101010101" charset="-122"/>
                <a:ea typeface="仿宋" panose="02010609060101010101" charset="-122"/>
              </a:rPr>
              <a:t>  3）无线网络安全技术应用方式有哪些？ </a:t>
            </a:r>
          </a:p>
        </p:txBody>
      </p:sp>
      <p:pic>
        <p:nvPicPr>
          <p:cNvPr id="64514" name="Picture 25" descr="C:\Users\user\AppData\Local\Microsoft\Windows\Temporary Internet Files\Content.IE5\BRFJ06TV\MCj04114760000[1].wmf"/>
          <p:cNvPicPr>
            <a:picLocks noChangeAspect="1" noChangeArrowheads="1"/>
          </p:cNvPicPr>
          <p:nvPr/>
        </p:nvPicPr>
        <p:blipFill>
          <a:blip r:embed="rId2" cstate="print"/>
          <a:srcRect/>
          <a:stretch>
            <a:fillRect/>
          </a:stretch>
        </p:blipFill>
        <p:spPr bwMode="auto">
          <a:xfrm flipH="1">
            <a:off x="5508625" y="4076700"/>
            <a:ext cx="1600200" cy="1466850"/>
          </a:xfrm>
          <a:prstGeom prst="rect">
            <a:avLst/>
          </a:prstGeom>
          <a:noFill/>
          <a:ln w="9525">
            <a:noFill/>
            <a:miter lim="800000"/>
            <a:headEnd/>
            <a:tailEnd/>
          </a:ln>
        </p:spPr>
      </p:pic>
      <p:sp>
        <p:nvSpPr>
          <p:cNvPr id="64515" name="Rectangle 2"/>
          <p:cNvSpPr txBox="1">
            <a:spLocks noChangeArrowheads="1"/>
          </p:cNvSpPr>
          <p:nvPr/>
        </p:nvSpPr>
        <p:spPr bwMode="auto">
          <a:xfrm>
            <a:off x="419100" y="130175"/>
            <a:ext cx="8305800" cy="563563"/>
          </a:xfrm>
          <a:prstGeom prst="rect">
            <a:avLst/>
          </a:prstGeom>
          <a:noFill/>
          <a:ln w="9525">
            <a:noFill/>
            <a:miter lim="800000"/>
          </a:ln>
        </p:spPr>
        <p:txBody>
          <a:bodyPr anchor="ctr"/>
          <a:lstStyle/>
          <a:p>
            <a:pPr algn="ctr"/>
            <a:r>
              <a:rPr lang="en-US" altLang="zh-CN" sz="3200" b="1">
                <a:solidFill>
                  <a:schemeClr val="bg1"/>
                </a:solidFill>
                <a:sym typeface="宋体" panose="02010600030101010101" pitchFamily="2" charset="-122"/>
              </a:rPr>
              <a:t>*2.3.5 </a:t>
            </a:r>
            <a:r>
              <a:rPr lang="zh-CN" altLang="en-US" sz="3200" b="1">
                <a:solidFill>
                  <a:schemeClr val="bg1"/>
                </a:solidFill>
              </a:rPr>
              <a:t>WIFI的安全性和措施</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sp>
        <p:nvSpPr>
          <p:cNvPr id="65538" name="内容占位符 13"/>
          <p:cNvSpPr>
            <a:spLocks noGrp="1" noChangeArrowheads="1"/>
          </p:cNvSpPr>
          <p:nvPr>
            <p:ph idx="4294967295"/>
          </p:nvPr>
        </p:nvSpPr>
        <p:spPr>
          <a:xfrm>
            <a:off x="684213" y="3644900"/>
            <a:ext cx="5761037" cy="576263"/>
          </a:xfrm>
        </p:spPr>
        <p:txBody>
          <a:bodyPr/>
          <a:lstStyle/>
          <a:p>
            <a:pPr eaLnBrk="1" hangingPunct="1">
              <a:spcBef>
                <a:spcPct val="0"/>
              </a:spcBef>
              <a:buClrTx/>
              <a:buFont typeface="Wingdings" panose="05000000000000000000" pitchFamily="2" charset="2"/>
              <a:buNone/>
            </a:pPr>
            <a:r>
              <a:rPr lang="en-US" altLang="zh-CN" sz="2800" dirty="0" smtClean="0">
                <a:solidFill>
                  <a:srgbClr val="FF0000"/>
                </a:solidFill>
              </a:rPr>
              <a:t>2.4.1 </a:t>
            </a:r>
            <a:r>
              <a:rPr lang="zh-CN" altLang="en-US" sz="2800" dirty="0" smtClean="0">
                <a:solidFill>
                  <a:srgbClr val="FF0000"/>
                </a:solidFill>
              </a:rPr>
              <a:t>网络连通性</a:t>
            </a:r>
            <a:endParaRPr lang="en-US" altLang="zh-CN" sz="2800" dirty="0" smtClean="0">
              <a:solidFill>
                <a:srgbClr val="FF0000"/>
              </a:solidFill>
            </a:endParaRPr>
          </a:p>
        </p:txBody>
      </p:sp>
      <p:sp>
        <p:nvSpPr>
          <p:cNvPr id="19" name="圆角矩形 18"/>
          <p:cNvSpPr/>
          <p:nvPr/>
        </p:nvSpPr>
        <p:spPr bwMode="gray">
          <a:xfrm>
            <a:off x="865188" y="1196975"/>
            <a:ext cx="7488237" cy="2376488"/>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Tx/>
              <a:buNone/>
              <a:defRPr/>
            </a:pPr>
            <a:r>
              <a:rPr lang="zh-CN" altLang="en-US" sz="2200" b="1" dirty="0">
                <a:solidFill>
                  <a:schemeClr val="tx2"/>
                </a:solidFill>
                <a:latin typeface="Arial" panose="020B0604020202020204" pitchFamily="34" charset="0"/>
              </a:rPr>
              <a:t>       </a:t>
            </a:r>
            <a:r>
              <a:rPr sz="2100" b="1" dirty="0">
                <a:solidFill>
                  <a:schemeClr val="tx2"/>
                </a:solidFill>
                <a:latin typeface="Arial" panose="020B0604020202020204" pitchFamily="34" charset="0"/>
              </a:rPr>
              <a:t>在网络安全检测与管理过程中，经常在“开始”菜单的“运行”项目内输入cmd（运行cmd.exe）</a:t>
            </a:r>
            <a:r>
              <a:rPr lang="en-US" sz="2100" b="1" dirty="0">
                <a:solidFill>
                  <a:schemeClr val="tx2"/>
                </a:solidFill>
                <a:latin typeface="Arial" panose="020B0604020202020204" pitchFamily="34" charset="0"/>
              </a:rPr>
              <a:t>,</a:t>
            </a:r>
            <a:r>
              <a:rPr sz="2100" b="1" dirty="0">
                <a:solidFill>
                  <a:schemeClr val="tx2"/>
                </a:solidFill>
                <a:latin typeface="Arial" panose="020B0604020202020204" pitchFamily="34" charset="0"/>
              </a:rPr>
              <a:t>在DOS环境用一些网络管理工具和命令方式</a:t>
            </a:r>
            <a:r>
              <a:rPr lang="en-US" sz="2100" b="1" dirty="0">
                <a:solidFill>
                  <a:schemeClr val="tx2"/>
                </a:solidFill>
                <a:latin typeface="Arial" panose="020B0604020202020204" pitchFamily="34" charset="0"/>
              </a:rPr>
              <a:t>,</a:t>
            </a:r>
            <a:r>
              <a:rPr sz="2100" b="1" dirty="0">
                <a:solidFill>
                  <a:schemeClr val="tx2"/>
                </a:solidFill>
                <a:latin typeface="Arial" panose="020B0604020202020204" pitchFamily="34" charset="0"/>
              </a:rPr>
              <a:t>直接查看和检测网络的有关信息。</a:t>
            </a:r>
            <a:r>
              <a:rPr sz="2100" b="1" dirty="0">
                <a:solidFill>
                  <a:srgbClr val="FF0000"/>
                </a:solidFill>
                <a:latin typeface="Arial" panose="020B0604020202020204" pitchFamily="34" charset="0"/>
              </a:rPr>
              <a:t>常用网络安全管理工具</a:t>
            </a:r>
            <a:r>
              <a:rPr lang="en-US" sz="2100" b="1" dirty="0">
                <a:solidFill>
                  <a:schemeClr val="tx2"/>
                </a:solidFill>
                <a:latin typeface="Arial" panose="020B0604020202020204" pitchFamily="34" charset="0"/>
              </a:rPr>
              <a:t>:</a:t>
            </a:r>
            <a:r>
              <a:rPr sz="2100" b="1" dirty="0">
                <a:solidFill>
                  <a:schemeClr val="tx2"/>
                </a:solidFill>
                <a:latin typeface="Arial" panose="020B0604020202020204" pitchFamily="34" charset="0"/>
              </a:rPr>
              <a:t>判断主机是否连通的ping命令</a:t>
            </a:r>
            <a:r>
              <a:rPr lang="en-US" sz="2100" b="1" dirty="0">
                <a:solidFill>
                  <a:schemeClr val="tx2"/>
                </a:solidFill>
                <a:latin typeface="Arial" panose="020B0604020202020204" pitchFamily="34" charset="0"/>
              </a:rPr>
              <a:t>,</a:t>
            </a:r>
            <a:r>
              <a:rPr sz="2100" b="1" dirty="0">
                <a:solidFill>
                  <a:schemeClr val="tx2"/>
                </a:solidFill>
                <a:latin typeface="Arial" panose="020B0604020202020204" pitchFamily="34" charset="0"/>
              </a:rPr>
              <a:t>查看IP地址配置情况的ipconfig命令</a:t>
            </a:r>
            <a:r>
              <a:rPr lang="en-US" sz="2100" b="1" dirty="0">
                <a:solidFill>
                  <a:schemeClr val="tx2"/>
                </a:solidFill>
                <a:latin typeface="Arial" panose="020B0604020202020204" pitchFamily="34" charset="0"/>
              </a:rPr>
              <a:t>,</a:t>
            </a:r>
            <a:r>
              <a:rPr sz="2100" b="1" dirty="0">
                <a:solidFill>
                  <a:schemeClr val="tx2"/>
                </a:solidFill>
                <a:latin typeface="Arial" panose="020B0604020202020204" pitchFamily="34" charset="0"/>
              </a:rPr>
              <a:t>查看网络连接状态netstat命令</a:t>
            </a:r>
            <a:r>
              <a:rPr lang="en-US" sz="2100" b="1" dirty="0">
                <a:solidFill>
                  <a:schemeClr val="tx2"/>
                </a:solidFill>
                <a:latin typeface="Arial" panose="020B0604020202020204" pitchFamily="34" charset="0"/>
              </a:rPr>
              <a:t>,</a:t>
            </a:r>
            <a:r>
              <a:rPr sz="2100" b="1" dirty="0">
                <a:solidFill>
                  <a:schemeClr val="tx2"/>
                </a:solidFill>
                <a:latin typeface="Arial" panose="020B0604020202020204" pitchFamily="34" charset="0"/>
              </a:rPr>
              <a:t>进行网络操作的net命令和行定时器操作的at命令等</a:t>
            </a:r>
            <a:r>
              <a:rPr b="1" dirty="0">
                <a:solidFill>
                  <a:schemeClr val="tx2"/>
                </a:solidFill>
                <a:latin typeface="Arial" panose="020B0604020202020204" pitchFamily="34" charset="0"/>
              </a:rPr>
              <a:t>。</a:t>
            </a:r>
          </a:p>
        </p:txBody>
      </p:sp>
      <p:sp>
        <p:nvSpPr>
          <p:cNvPr id="3" name="圆角矩形 18"/>
          <p:cNvSpPr/>
          <p:nvPr/>
        </p:nvSpPr>
        <p:spPr bwMode="gray">
          <a:xfrm>
            <a:off x="917575" y="4221163"/>
            <a:ext cx="7489825" cy="19431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Tx/>
              <a:buNone/>
              <a:defRPr/>
            </a:pPr>
            <a:r>
              <a:rPr lang="en-US" altLang="zh-CN" sz="2200" b="1" dirty="0">
                <a:solidFill>
                  <a:srgbClr val="990033"/>
                </a:solidFill>
                <a:latin typeface="Arial" panose="020B0604020202020204" pitchFamily="34" charset="0"/>
              </a:rPr>
              <a:t>     1. ping</a:t>
            </a:r>
            <a:r>
              <a:rPr lang="zh-CN" altLang="en-US" sz="2200" b="1" dirty="0">
                <a:solidFill>
                  <a:srgbClr val="990033"/>
                </a:solidFill>
                <a:latin typeface="Arial" panose="020B0604020202020204" pitchFamily="34" charset="0"/>
              </a:rPr>
              <a:t>命令</a:t>
            </a:r>
          </a:p>
          <a:p>
            <a:pPr>
              <a:buFontTx/>
              <a:buNone/>
              <a:defRPr/>
            </a:pPr>
            <a:r>
              <a:rPr lang="zh-CN" altLang="en-US" sz="2200" b="1" dirty="0">
                <a:solidFill>
                  <a:schemeClr val="tx2"/>
                </a:solidFill>
                <a:latin typeface="Arial" panose="020B0604020202020204" pitchFamily="34" charset="0"/>
              </a:rPr>
              <a:t>     </a:t>
            </a:r>
            <a:r>
              <a:rPr lang="en-US" altLang="zh-CN" sz="2200" b="1" dirty="0">
                <a:solidFill>
                  <a:schemeClr val="tx2"/>
                </a:solidFill>
                <a:latin typeface="Arial" panose="020B0604020202020204" pitchFamily="34" charset="0"/>
              </a:rPr>
              <a:t>ping</a:t>
            </a:r>
            <a:r>
              <a:rPr lang="zh-CN" altLang="en-US" sz="2200" b="1" dirty="0">
                <a:solidFill>
                  <a:schemeClr val="tx2"/>
                </a:solidFill>
                <a:latin typeface="Arial" panose="020B0604020202020204" pitchFamily="34" charset="0"/>
              </a:rPr>
              <a:t>命令的</a:t>
            </a:r>
            <a:r>
              <a:rPr lang="zh-CN" altLang="en-US" sz="2200" b="1" dirty="0">
                <a:solidFill>
                  <a:srgbClr val="CC0066"/>
                </a:solidFill>
                <a:latin typeface="Arial" panose="020B0604020202020204" pitchFamily="34" charset="0"/>
              </a:rPr>
              <a:t>主要功能</a:t>
            </a:r>
            <a:r>
              <a:rPr lang="zh-CN" altLang="en-US" sz="2200" b="1" dirty="0">
                <a:solidFill>
                  <a:schemeClr val="tx2"/>
                </a:solidFill>
                <a:latin typeface="Arial" panose="020B0604020202020204" pitchFamily="34" charset="0"/>
              </a:rPr>
              <a:t>是通过</a:t>
            </a:r>
            <a:r>
              <a:rPr lang="zh-CN" altLang="en-US" sz="2200" b="1" dirty="0">
                <a:solidFill>
                  <a:srgbClr val="0000FF"/>
                </a:solidFill>
                <a:latin typeface="Arial" panose="020B0604020202020204" pitchFamily="34" charset="0"/>
              </a:rPr>
              <a:t>发送</a:t>
            </a:r>
            <a:r>
              <a:rPr lang="en-US" altLang="zh-CN" sz="2200" b="1" dirty="0">
                <a:solidFill>
                  <a:schemeClr val="tx2"/>
                </a:solidFill>
                <a:latin typeface="Arial" panose="020B0604020202020204" pitchFamily="34" charset="0"/>
              </a:rPr>
              <a:t>Internet</a:t>
            </a:r>
            <a:r>
              <a:rPr lang="zh-CN" altLang="en-US" sz="2200" b="1" dirty="0">
                <a:solidFill>
                  <a:schemeClr val="tx2"/>
                </a:solidFill>
                <a:latin typeface="Arial" panose="020B0604020202020204" pitchFamily="34" charset="0"/>
              </a:rPr>
              <a:t>控制报文协议</a:t>
            </a:r>
            <a:r>
              <a:rPr lang="en-US" altLang="zh-CN" sz="2200" b="1" dirty="0">
                <a:solidFill>
                  <a:schemeClr val="tx2"/>
                </a:solidFill>
                <a:latin typeface="Arial" panose="020B0604020202020204" pitchFamily="34" charset="0"/>
              </a:rPr>
              <a:t>ICMP</a:t>
            </a:r>
            <a:r>
              <a:rPr lang="zh-CN" altLang="en-US" sz="2200" b="1" dirty="0">
                <a:solidFill>
                  <a:schemeClr val="tx2"/>
                </a:solidFill>
                <a:latin typeface="Arial" panose="020B0604020202020204" pitchFamily="34" charset="0"/>
              </a:rPr>
              <a:t>包，</a:t>
            </a:r>
            <a:r>
              <a:rPr lang="zh-CN" altLang="en-US" sz="2200" b="1" dirty="0">
                <a:solidFill>
                  <a:srgbClr val="0000FF"/>
                </a:solidFill>
                <a:latin typeface="Arial" panose="020B0604020202020204" pitchFamily="34" charset="0"/>
              </a:rPr>
              <a:t>检验</a:t>
            </a:r>
            <a:r>
              <a:rPr lang="zh-CN" altLang="en-US" sz="2200" b="1" dirty="0">
                <a:solidFill>
                  <a:schemeClr val="tx2"/>
                </a:solidFill>
                <a:latin typeface="Arial" panose="020B0604020202020204" pitchFamily="34" charset="0"/>
              </a:rPr>
              <a:t>与另一台</a:t>
            </a:r>
            <a:r>
              <a:rPr lang="en-US" altLang="zh-CN" sz="2200" b="1" dirty="0">
                <a:solidFill>
                  <a:schemeClr val="tx2"/>
                </a:solidFill>
                <a:latin typeface="Arial" panose="020B0604020202020204" pitchFamily="34" charset="0"/>
              </a:rPr>
              <a:t>TCP/IP</a:t>
            </a:r>
            <a:r>
              <a:rPr lang="zh-CN" altLang="en-US" sz="2200" b="1" dirty="0">
                <a:solidFill>
                  <a:schemeClr val="tx2"/>
                </a:solidFill>
                <a:latin typeface="Arial" panose="020B0604020202020204" pitchFamily="34" charset="0"/>
              </a:rPr>
              <a:t>主机的</a:t>
            </a:r>
            <a:r>
              <a:rPr lang="en-US" altLang="zh-CN" sz="2200" b="1" dirty="0">
                <a:solidFill>
                  <a:schemeClr val="tx2"/>
                </a:solidFill>
                <a:latin typeface="Arial" panose="020B0604020202020204" pitchFamily="34" charset="0"/>
              </a:rPr>
              <a:t>IP</a:t>
            </a:r>
            <a:r>
              <a:rPr lang="zh-CN" altLang="en-US" sz="2200" b="1" dirty="0">
                <a:solidFill>
                  <a:schemeClr val="tx2"/>
                </a:solidFill>
                <a:latin typeface="Arial" panose="020B0604020202020204" pitchFamily="34" charset="0"/>
              </a:rPr>
              <a:t>级</a:t>
            </a:r>
            <a:r>
              <a:rPr lang="zh-CN" altLang="en-US" sz="2200" b="1" dirty="0">
                <a:solidFill>
                  <a:srgbClr val="990033"/>
                </a:solidFill>
                <a:latin typeface="Arial" panose="020B0604020202020204" pitchFamily="34" charset="0"/>
              </a:rPr>
              <a:t>连通情况</a:t>
            </a:r>
            <a:r>
              <a:rPr lang="zh-CN" altLang="en-US" sz="2200" b="1" dirty="0">
                <a:solidFill>
                  <a:schemeClr val="tx2"/>
                </a:solidFill>
                <a:latin typeface="Arial" panose="020B0604020202020204" pitchFamily="34" charset="0"/>
              </a:rPr>
              <a:t>。网络管理员常用</a:t>
            </a:r>
            <a:r>
              <a:rPr lang="zh-CN" altLang="en-US" sz="2200" b="1" dirty="0">
                <a:solidFill>
                  <a:srgbClr val="0000FF"/>
                </a:solidFill>
                <a:latin typeface="Arial" panose="020B0604020202020204" pitchFamily="34" charset="0"/>
              </a:rPr>
              <a:t>检测</a:t>
            </a:r>
            <a:r>
              <a:rPr lang="zh-CN" altLang="en-US" sz="2200" b="1" dirty="0">
                <a:solidFill>
                  <a:schemeClr val="tx2"/>
                </a:solidFill>
                <a:latin typeface="Arial" panose="020B0604020202020204" pitchFamily="34" charset="0"/>
              </a:rPr>
              <a:t>网络的</a:t>
            </a:r>
            <a:r>
              <a:rPr lang="zh-CN" altLang="en-US" sz="2200" b="1" dirty="0">
                <a:solidFill>
                  <a:srgbClr val="990033"/>
                </a:solidFill>
                <a:latin typeface="Arial" panose="020B0604020202020204" pitchFamily="34" charset="0"/>
              </a:rPr>
              <a:t>连通性和可到达性</a:t>
            </a:r>
            <a:r>
              <a:rPr lang="zh-CN" altLang="en-US" sz="2200" b="1" dirty="0">
                <a:solidFill>
                  <a:schemeClr val="tx2"/>
                </a:solidFill>
                <a:latin typeface="Arial" panose="020B0604020202020204" pitchFamily="34" charset="0"/>
              </a:rPr>
              <a:t>。同时，可将应答消息的接收情况和往返过程的次数一起显示。</a:t>
            </a:r>
            <a:endParaRPr lang="en-US" altLang="zh-CN" sz="2200" b="1" dirty="0">
              <a:solidFill>
                <a:schemeClr val="tx2"/>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755898" y="1192026"/>
            <a:ext cx="7632203" cy="16557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Tx/>
              <a:buNone/>
              <a:defRPr/>
            </a:pPr>
            <a:r>
              <a:rPr lang="zh-CN" altLang="en-US" sz="2200" b="1" dirty="0">
                <a:solidFill>
                  <a:schemeClr val="tx1"/>
                </a:solidFill>
                <a:latin typeface="Arial" panose="020B0604020202020204" pitchFamily="34" charset="0"/>
              </a:rPr>
              <a:t>                        </a:t>
            </a:r>
            <a:r>
              <a:rPr sz="2200" b="1" dirty="0" smtClean="0"/>
              <a:t>如果</a:t>
            </a:r>
            <a:r>
              <a:rPr sz="2200" b="1" dirty="0" smtClean="0">
                <a:solidFill>
                  <a:srgbClr val="C00000"/>
                </a:solidFill>
              </a:rPr>
              <a:t>只使用不带参数的</a:t>
            </a:r>
            <a:r>
              <a:rPr sz="2200" b="1" dirty="0">
                <a:solidFill>
                  <a:srgbClr val="C00000"/>
                </a:solidFill>
              </a:rPr>
              <a:t>ping命令</a:t>
            </a:r>
            <a:r>
              <a:rPr sz="2200" b="1" dirty="0"/>
              <a:t>，窗口将会显示命令及其各种参数使用的</a:t>
            </a:r>
            <a:r>
              <a:rPr sz="2200" b="1" dirty="0">
                <a:solidFill>
                  <a:srgbClr val="C00000"/>
                </a:solidFill>
              </a:rPr>
              <a:t>帮助信息</a:t>
            </a:r>
            <a:r>
              <a:rPr sz="2200" b="1" dirty="0"/>
              <a:t>，如图2-9所示。使用ping命令的</a:t>
            </a:r>
            <a:r>
              <a:rPr sz="2200" b="1" dirty="0">
                <a:solidFill>
                  <a:srgbClr val="C00000"/>
                </a:solidFill>
              </a:rPr>
              <a:t>语法格式</a:t>
            </a:r>
            <a:r>
              <a:rPr sz="2200" b="1" dirty="0"/>
              <a:t>是：ping 对方计算机名或者IP地址</a:t>
            </a:r>
            <a:r>
              <a:rPr lang="en-US" sz="2200" b="1" dirty="0"/>
              <a:t>.</a:t>
            </a:r>
            <a:r>
              <a:rPr sz="2200" b="1" dirty="0"/>
              <a:t>如果连通的话，返回的连通信息如图2-10所示。</a:t>
            </a:r>
            <a:r>
              <a:rPr lang="zh-CN" altLang="en-US" sz="2200" b="1" dirty="0">
                <a:solidFill>
                  <a:schemeClr val="tx1"/>
                </a:solidFill>
                <a:latin typeface="Arial" panose="020B0604020202020204" pitchFamily="34" charset="0"/>
              </a:rPr>
              <a:t> </a:t>
            </a:r>
            <a:endParaRPr lang="en-US" altLang="zh-CN" sz="2200" b="1" dirty="0">
              <a:solidFill>
                <a:schemeClr val="tx1"/>
              </a:solidFill>
              <a:latin typeface="Arial" panose="020B0604020202020204" pitchFamily="34" charset="0"/>
            </a:endParaRPr>
          </a:p>
        </p:txBody>
      </p:sp>
      <p:sp>
        <p:nvSpPr>
          <p:cNvPr id="66562" name="Rectangle 6"/>
          <p:cNvSpPr>
            <a:spLocks noChangeArrowheads="1"/>
          </p:cNvSpPr>
          <p:nvPr/>
        </p:nvSpPr>
        <p:spPr bwMode="auto">
          <a:xfrm>
            <a:off x="0" y="1203325"/>
            <a:ext cx="9144000" cy="0"/>
          </a:xfrm>
          <a:prstGeom prst="rect">
            <a:avLst/>
          </a:prstGeom>
          <a:noFill/>
          <a:ln w="9525">
            <a:noFill/>
            <a:miter lim="800000"/>
          </a:ln>
        </p:spPr>
        <p:txBody>
          <a:bodyPr wrap="none" anchor="ctr">
            <a:spAutoFit/>
          </a:bodyPr>
          <a:lstStyle/>
          <a:p>
            <a:endParaRPr lang="zh-CN" altLang="en-US"/>
          </a:p>
        </p:txBody>
      </p:sp>
      <p:sp>
        <p:nvSpPr>
          <p:cNvPr id="66563" name="Rectangle 7"/>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latin typeface="Times New Roman" panose="02020603050405020304" pitchFamily="18" charset="0"/>
              </a:rPr>
              <a:t> </a:t>
            </a:r>
            <a:endParaRPr lang="zh-CN" altLang="en-US">
              <a:latin typeface="宋体" panose="02010600030101010101" pitchFamily="2" charset="-122"/>
            </a:endParaRPr>
          </a:p>
        </p:txBody>
      </p:sp>
      <p:sp>
        <p:nvSpPr>
          <p:cNvPr id="66564" name="Rectangle 8"/>
          <p:cNvSpPr>
            <a:spLocks noChangeArrowheads="1"/>
          </p:cNvSpPr>
          <p:nvPr/>
        </p:nvSpPr>
        <p:spPr bwMode="auto">
          <a:xfrm>
            <a:off x="2843808" y="6453336"/>
            <a:ext cx="2820003" cy="307777"/>
          </a:xfrm>
          <a:prstGeom prst="rect">
            <a:avLst/>
          </a:prstGeom>
          <a:noFill/>
          <a:ln w="9525">
            <a:noFill/>
            <a:miter lim="800000"/>
          </a:ln>
        </p:spPr>
        <p:txBody>
          <a:bodyPr wrap="none" anchor="ctr">
            <a:spAutoFit/>
          </a:bodyPr>
          <a:lstStyle/>
          <a:p>
            <a:pPr indent="571500"/>
            <a:r>
              <a:rPr lang="zh-CN" altLang="en-US" sz="1400" b="1" dirty="0">
                <a:solidFill>
                  <a:srgbClr val="C00000"/>
                </a:solidFill>
                <a:latin typeface="Times New Roman" panose="02020603050405020304" pitchFamily="18" charset="0"/>
              </a:rPr>
              <a:t>图</a:t>
            </a:r>
            <a:r>
              <a:rPr lang="en-US" altLang="zh-CN" sz="1400" b="1" dirty="0">
                <a:solidFill>
                  <a:srgbClr val="C00000"/>
                </a:solidFill>
                <a:latin typeface="Times New Roman" panose="02020603050405020304" pitchFamily="18" charset="0"/>
              </a:rPr>
              <a:t>2-9 </a:t>
            </a:r>
            <a:r>
              <a:rPr lang="zh-CN" altLang="en-US" sz="1400" b="1" dirty="0">
                <a:solidFill>
                  <a:srgbClr val="C00000"/>
                </a:solidFill>
                <a:latin typeface="Times New Roman" panose="02020603050405020304" pitchFamily="18" charset="0"/>
              </a:rPr>
              <a:t>使用</a:t>
            </a:r>
            <a:r>
              <a:rPr lang="en-US" altLang="zh-CN" sz="1400" b="1" dirty="0">
                <a:solidFill>
                  <a:srgbClr val="C00000"/>
                </a:solidFill>
                <a:latin typeface="Times New Roman" panose="02020603050405020304" pitchFamily="18" charset="0"/>
              </a:rPr>
              <a:t>ping</a:t>
            </a:r>
            <a:r>
              <a:rPr lang="zh-CN" altLang="en-US" sz="1400" b="1" dirty="0">
                <a:solidFill>
                  <a:srgbClr val="C00000"/>
                </a:solidFill>
                <a:latin typeface="Times New Roman" panose="02020603050405020304" pitchFamily="18" charset="0"/>
              </a:rPr>
              <a:t>命令的</a:t>
            </a:r>
            <a:r>
              <a:rPr lang="zh-CN" altLang="en-US" sz="1400" b="1" dirty="0" smtClean="0">
                <a:solidFill>
                  <a:srgbClr val="C00000"/>
                </a:solidFill>
                <a:latin typeface="Times New Roman" panose="02020603050405020304" pitchFamily="18" charset="0"/>
              </a:rPr>
              <a:t>帮助</a:t>
            </a:r>
            <a:endParaRPr lang="zh-CN" altLang="en-US" sz="1400" b="1" dirty="0">
              <a:solidFill>
                <a:srgbClr val="C00000"/>
              </a:solidFill>
              <a:latin typeface="Times New Roman" panose="02020603050405020304" pitchFamily="18" charset="0"/>
            </a:endParaRPr>
          </a:p>
        </p:txBody>
      </p:sp>
      <p:sp>
        <p:nvSpPr>
          <p:cNvPr id="13" name="圆角矩形 12"/>
          <p:cNvSpPr/>
          <p:nvPr/>
        </p:nvSpPr>
        <p:spPr bwMode="gray">
          <a:xfrm>
            <a:off x="1450975" y="1203325"/>
            <a:ext cx="1143000" cy="455613"/>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2000" b="1" smtClean="0">
                <a:solidFill>
                  <a:srgbClr val="002060"/>
                </a:solidFill>
              </a:rPr>
              <a:t>案例</a:t>
            </a:r>
            <a:r>
              <a:rPr lang="en-US" altLang="zh-CN" sz="2000" b="1" smtClean="0">
                <a:solidFill>
                  <a:srgbClr val="002060"/>
                </a:solidFill>
              </a:rPr>
              <a:t>2-4</a:t>
            </a:r>
            <a:endParaRPr lang="zh-CN" altLang="en-US" sz="2000" b="1" smtClean="0">
              <a:solidFill>
                <a:srgbClr val="002060"/>
              </a:solidFill>
            </a:endParaRPr>
          </a:p>
        </p:txBody>
      </p:sp>
      <p:sp>
        <p:nvSpPr>
          <p:cNvPr id="66568"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pic>
        <p:nvPicPr>
          <p:cNvPr id="2" name="图片 1"/>
          <p:cNvPicPr>
            <a:picLocks noChangeAspect="1"/>
          </p:cNvPicPr>
          <p:nvPr/>
        </p:nvPicPr>
        <p:blipFill>
          <a:blip r:embed="rId2"/>
          <a:stretch>
            <a:fillRect/>
          </a:stretch>
        </p:blipFill>
        <p:spPr>
          <a:xfrm>
            <a:off x="1619672" y="2658933"/>
            <a:ext cx="5700268" cy="3794403"/>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6"/>
          <p:cNvSpPr>
            <a:spLocks noChangeArrowheads="1"/>
          </p:cNvSpPr>
          <p:nvPr/>
        </p:nvSpPr>
        <p:spPr bwMode="auto">
          <a:xfrm>
            <a:off x="0" y="1203325"/>
            <a:ext cx="9144000" cy="0"/>
          </a:xfrm>
          <a:prstGeom prst="rect">
            <a:avLst/>
          </a:prstGeom>
          <a:noFill/>
          <a:ln w="9525">
            <a:noFill/>
            <a:miter lim="800000"/>
          </a:ln>
        </p:spPr>
        <p:txBody>
          <a:bodyPr wrap="none" anchor="ctr">
            <a:spAutoFit/>
          </a:bodyPr>
          <a:lstStyle/>
          <a:p>
            <a:endParaRPr lang="zh-CN" altLang="en-US"/>
          </a:p>
        </p:txBody>
      </p:sp>
      <p:sp>
        <p:nvSpPr>
          <p:cNvPr id="66563" name="Rectangle 7"/>
          <p:cNvSpPr>
            <a:spLocks noChangeArrowheads="1"/>
          </p:cNvSpPr>
          <p:nvPr/>
        </p:nvSpPr>
        <p:spPr bwMode="auto">
          <a:xfrm>
            <a:off x="0" y="3184525"/>
            <a:ext cx="215900" cy="244475"/>
          </a:xfrm>
          <a:prstGeom prst="rect">
            <a:avLst/>
          </a:prstGeom>
          <a:noFill/>
          <a:ln w="9525">
            <a:noFill/>
            <a:miter lim="800000"/>
          </a:ln>
        </p:spPr>
        <p:txBody>
          <a:bodyPr wrap="none" anchor="ctr">
            <a:spAutoFit/>
          </a:bodyPr>
          <a:lstStyle/>
          <a:p>
            <a:r>
              <a:rPr lang="zh-CN" altLang="en-US" sz="1000">
                <a:latin typeface="Times New Roman" panose="02020603050405020304" pitchFamily="18" charset="0"/>
              </a:rPr>
              <a:t> </a:t>
            </a:r>
            <a:endParaRPr lang="zh-CN" altLang="en-US">
              <a:latin typeface="宋体" panose="02010600030101010101" pitchFamily="2" charset="-122"/>
            </a:endParaRPr>
          </a:p>
        </p:txBody>
      </p:sp>
      <p:sp>
        <p:nvSpPr>
          <p:cNvPr id="66564" name="Rectangle 8"/>
          <p:cNvSpPr>
            <a:spLocks noChangeArrowheads="1"/>
          </p:cNvSpPr>
          <p:nvPr/>
        </p:nvSpPr>
        <p:spPr bwMode="auto">
          <a:xfrm>
            <a:off x="822250" y="5785370"/>
            <a:ext cx="6779420" cy="1046440"/>
          </a:xfrm>
          <a:prstGeom prst="rect">
            <a:avLst/>
          </a:prstGeom>
          <a:noFill/>
          <a:ln w="9525">
            <a:noFill/>
            <a:miter lim="800000"/>
          </a:ln>
        </p:spPr>
        <p:txBody>
          <a:bodyPr wrap="none" anchor="ctr">
            <a:spAutoFit/>
          </a:bodyPr>
          <a:lstStyle/>
          <a:p>
            <a:pPr indent="571500"/>
            <a:r>
              <a:rPr lang="zh-CN" altLang="en-US" sz="1400" b="1" dirty="0" smtClean="0">
                <a:solidFill>
                  <a:srgbClr val="C00000"/>
                </a:solidFill>
                <a:latin typeface="Times New Roman" panose="02020603050405020304" pitchFamily="18" charset="0"/>
              </a:rPr>
              <a:t>图</a:t>
            </a:r>
            <a:r>
              <a:rPr lang="en-US" altLang="zh-CN" sz="1400" b="1" dirty="0">
                <a:solidFill>
                  <a:srgbClr val="C00000"/>
                </a:solidFill>
                <a:latin typeface="Times New Roman" panose="02020603050405020304" pitchFamily="18" charset="0"/>
              </a:rPr>
              <a:t>2-10 </a:t>
            </a:r>
            <a:r>
              <a:rPr lang="zh-CN" altLang="en-US" sz="1400" b="1" dirty="0">
                <a:solidFill>
                  <a:srgbClr val="C00000"/>
                </a:solidFill>
                <a:latin typeface="Times New Roman" panose="02020603050405020304" pitchFamily="18" charset="0"/>
              </a:rPr>
              <a:t>利用</a:t>
            </a:r>
            <a:r>
              <a:rPr lang="en-US" altLang="zh-CN" sz="1400" b="1" dirty="0">
                <a:solidFill>
                  <a:srgbClr val="C00000"/>
                </a:solidFill>
                <a:latin typeface="Times New Roman" panose="02020603050405020304" pitchFamily="18" charset="0"/>
              </a:rPr>
              <a:t>ping</a:t>
            </a:r>
            <a:r>
              <a:rPr lang="zh-CN" altLang="en-US" sz="1400" b="1" dirty="0">
                <a:solidFill>
                  <a:srgbClr val="C00000"/>
                </a:solidFill>
                <a:latin typeface="Times New Roman" panose="02020603050405020304" pitchFamily="18" charset="0"/>
              </a:rPr>
              <a:t>命令检测网络的</a:t>
            </a:r>
            <a:r>
              <a:rPr lang="zh-CN" altLang="en-US" sz="1400" b="1" dirty="0" smtClean="0">
                <a:solidFill>
                  <a:srgbClr val="C00000"/>
                </a:solidFill>
                <a:latin typeface="Times New Roman" panose="02020603050405020304" pitchFamily="18" charset="0"/>
              </a:rPr>
              <a:t>连通性</a:t>
            </a:r>
            <a:endParaRPr lang="en-US" altLang="zh-CN" sz="1400" b="1" dirty="0" smtClean="0">
              <a:solidFill>
                <a:srgbClr val="C00000"/>
              </a:solidFill>
              <a:latin typeface="Times New Roman" panose="02020603050405020304" pitchFamily="18" charset="0"/>
            </a:endParaRPr>
          </a:p>
          <a:p>
            <a:r>
              <a:rPr lang="zh-CN" altLang="en-US" sz="1200" dirty="0" smtClean="0">
                <a:solidFill>
                  <a:srgbClr val="0070C0"/>
                </a:solidFill>
              </a:rPr>
              <a:t>用来检测网络</a:t>
            </a:r>
            <a:r>
              <a:rPr lang="zh-CN" altLang="en-US" sz="1200" dirty="0">
                <a:solidFill>
                  <a:srgbClr val="0070C0"/>
                </a:solidFill>
              </a:rPr>
              <a:t>的连通情况和分析网络速度；</a:t>
            </a:r>
          </a:p>
          <a:p>
            <a:r>
              <a:rPr lang="zh-CN" altLang="en-US" sz="1200" dirty="0" smtClean="0">
                <a:solidFill>
                  <a:srgbClr val="0070C0"/>
                </a:solidFill>
              </a:rPr>
              <a:t>根据</a:t>
            </a:r>
            <a:r>
              <a:rPr lang="zh-CN" altLang="en-US" sz="1200" dirty="0">
                <a:solidFill>
                  <a:srgbClr val="0070C0"/>
                </a:solidFill>
              </a:rPr>
              <a:t>域名得到服务器</a:t>
            </a:r>
            <a:r>
              <a:rPr lang="en-US" altLang="zh-CN" sz="1200" dirty="0">
                <a:solidFill>
                  <a:srgbClr val="0070C0"/>
                </a:solidFill>
              </a:rPr>
              <a:t>IP</a:t>
            </a:r>
            <a:r>
              <a:rPr lang="zh-CN" altLang="en-US" sz="1200" dirty="0">
                <a:solidFill>
                  <a:srgbClr val="0070C0"/>
                </a:solidFill>
              </a:rPr>
              <a:t>；</a:t>
            </a:r>
          </a:p>
          <a:p>
            <a:r>
              <a:rPr lang="zh-CN" altLang="en-US" sz="1200" dirty="0" smtClean="0">
                <a:solidFill>
                  <a:srgbClr val="0070C0"/>
                </a:solidFill>
              </a:rPr>
              <a:t>根据</a:t>
            </a:r>
            <a:r>
              <a:rPr lang="en-US" altLang="zh-CN" sz="1200" dirty="0">
                <a:solidFill>
                  <a:srgbClr val="0070C0"/>
                </a:solidFill>
              </a:rPr>
              <a:t>ping</a:t>
            </a:r>
            <a:r>
              <a:rPr lang="zh-CN" altLang="en-US" sz="1200" dirty="0">
                <a:solidFill>
                  <a:srgbClr val="0070C0"/>
                </a:solidFill>
              </a:rPr>
              <a:t>返回的</a:t>
            </a:r>
            <a:r>
              <a:rPr lang="en-US" altLang="zh-CN" sz="1200" dirty="0">
                <a:solidFill>
                  <a:srgbClr val="0070C0"/>
                </a:solidFill>
              </a:rPr>
              <a:t>TTL</a:t>
            </a:r>
            <a:r>
              <a:rPr lang="zh-CN" altLang="en-US" sz="1200" dirty="0">
                <a:solidFill>
                  <a:srgbClr val="0070C0"/>
                </a:solidFill>
              </a:rPr>
              <a:t>值来判断对方所使用的操作系统及数据包经过路由器数量</a:t>
            </a:r>
            <a:r>
              <a:rPr lang="zh-CN" altLang="en-US" sz="1200" dirty="0" smtClean="0">
                <a:solidFill>
                  <a:srgbClr val="0070C0"/>
                </a:solidFill>
              </a:rPr>
              <a:t>。</a:t>
            </a:r>
            <a:endParaRPr lang="en-US" altLang="zh-CN" sz="1200" b="1" dirty="0" smtClean="0">
              <a:solidFill>
                <a:srgbClr val="0070C0"/>
              </a:solidFill>
              <a:latin typeface="Times New Roman" panose="02020603050405020304" pitchFamily="18" charset="0"/>
            </a:endParaRPr>
          </a:p>
          <a:p>
            <a:pPr indent="571500"/>
            <a:r>
              <a:rPr lang="zh-CN" altLang="en-US" sz="1200" b="1" dirty="0" smtClean="0">
                <a:solidFill>
                  <a:srgbClr val="0070C0"/>
                </a:solidFill>
                <a:latin typeface="Times New Roman" panose="02020603050405020304" pitchFamily="18" charset="0"/>
              </a:rPr>
              <a:t>更多用法参看</a:t>
            </a:r>
            <a:r>
              <a:rPr lang="en-US" altLang="zh-CN" sz="1200" b="1" dirty="0" smtClean="0">
                <a:solidFill>
                  <a:srgbClr val="0070C0"/>
                </a:solidFill>
                <a:latin typeface="Times New Roman" panose="02020603050405020304" pitchFamily="18" charset="0"/>
              </a:rPr>
              <a:t>https://baijiahao.baidu.com/s?id=1670361524124282203&amp;wfr=spider&amp;for=pc</a:t>
            </a:r>
            <a:endParaRPr lang="zh-CN" altLang="en-US" sz="1200" b="1" dirty="0">
              <a:solidFill>
                <a:srgbClr val="0070C0"/>
              </a:solidFill>
              <a:latin typeface="Times New Roman" panose="02020603050405020304" pitchFamily="18" charset="0"/>
            </a:endParaRPr>
          </a:p>
        </p:txBody>
      </p:sp>
      <p:sp>
        <p:nvSpPr>
          <p:cNvPr id="66568"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pic>
        <p:nvPicPr>
          <p:cNvPr id="3" name="图片 2"/>
          <p:cNvPicPr>
            <a:picLocks noChangeAspect="1"/>
          </p:cNvPicPr>
          <p:nvPr/>
        </p:nvPicPr>
        <p:blipFill>
          <a:blip r:embed="rId2"/>
          <a:stretch>
            <a:fillRect/>
          </a:stretch>
        </p:blipFill>
        <p:spPr>
          <a:xfrm>
            <a:off x="243430" y="1209860"/>
            <a:ext cx="6920858" cy="4606894"/>
          </a:xfrm>
          <a:prstGeom prst="rect">
            <a:avLst/>
          </a:prstGeom>
        </p:spPr>
      </p:pic>
      <p:pic>
        <p:nvPicPr>
          <p:cNvPr id="4" name="图片 3"/>
          <p:cNvPicPr>
            <a:picLocks noChangeAspect="1"/>
          </p:cNvPicPr>
          <p:nvPr/>
        </p:nvPicPr>
        <p:blipFill>
          <a:blip r:embed="rId3"/>
          <a:stretch>
            <a:fillRect/>
          </a:stretch>
        </p:blipFill>
        <p:spPr>
          <a:xfrm>
            <a:off x="4211960" y="3213620"/>
            <a:ext cx="4752975" cy="257175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内容占位符 13"/>
          <p:cNvSpPr>
            <a:spLocks noGrp="1" noChangeArrowheads="1"/>
          </p:cNvSpPr>
          <p:nvPr>
            <p:ph idx="4294967295"/>
          </p:nvPr>
        </p:nvSpPr>
        <p:spPr>
          <a:xfrm>
            <a:off x="395288" y="1196975"/>
            <a:ext cx="8040687" cy="3322638"/>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615950" y="2582863"/>
            <a:ext cx="7985125" cy="12874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buFontTx/>
              <a:buNone/>
              <a:defRPr/>
            </a:pPr>
            <a:r>
              <a:rPr lang="zh-CN" altLang="en-US" b="1" dirty="0">
                <a:solidFill>
                  <a:schemeClr val="tx1"/>
                </a:solidFill>
                <a:latin typeface="Arial" panose="020B0604020202020204" pitchFamily="34" charset="0"/>
              </a:rPr>
              <a:t>                       </a:t>
            </a:r>
            <a:r>
              <a:rPr b="1" dirty="0" err="1">
                <a:solidFill>
                  <a:srgbClr val="C00000"/>
                </a:solidFill>
                <a:latin typeface="Times New Roman" panose="02020603050405020304" pitchFamily="18" charset="0"/>
              </a:rPr>
              <a:t>使用不带参数的ipconfig</a:t>
            </a:r>
            <a:r>
              <a:rPr b="1" dirty="0" err="1">
                <a:latin typeface="Times New Roman" panose="02020603050405020304" pitchFamily="18" charset="0"/>
              </a:rPr>
              <a:t>可以显示所有适配器的IP地址、子网掩码和默认网关</a:t>
            </a:r>
            <a:r>
              <a:rPr b="1" dirty="0">
                <a:latin typeface="Times New Roman" panose="02020603050405020304" pitchFamily="18" charset="0"/>
              </a:rPr>
              <a:t>。在DOS命令行下输入ipconfig命令，如图2-11所示。</a:t>
            </a:r>
          </a:p>
          <a:p>
            <a:pPr>
              <a:buFontTx/>
              <a:buNone/>
              <a:defRPr/>
            </a:pPr>
            <a:r>
              <a:rPr b="1" dirty="0">
                <a:latin typeface="Times New Roman" panose="02020603050405020304" pitchFamily="18" charset="0"/>
              </a:rPr>
              <a:t>        </a:t>
            </a:r>
            <a:r>
              <a:rPr b="1" dirty="0" err="1">
                <a:latin typeface="Times New Roman" panose="02020603050405020304" pitchFamily="18" charset="0"/>
              </a:rPr>
              <a:t>利用“ipconfig</a:t>
            </a:r>
            <a:r>
              <a:rPr b="1" dirty="0">
                <a:latin typeface="Times New Roman" panose="02020603050405020304" pitchFamily="18" charset="0"/>
              </a:rPr>
              <a:t> /</a:t>
            </a:r>
            <a:r>
              <a:rPr b="1" dirty="0" err="1">
                <a:latin typeface="Times New Roman" panose="02020603050405020304" pitchFamily="18" charset="0"/>
              </a:rPr>
              <a:t>all命令”可以查看所有完整的TCP</a:t>
            </a:r>
            <a:r>
              <a:rPr b="1" dirty="0">
                <a:latin typeface="Times New Roman" panose="02020603050405020304" pitchFamily="18" charset="0"/>
              </a:rPr>
              <a:t>/IP配置信息</a:t>
            </a:r>
            <a:r>
              <a:rPr lang="en-US" b="1" dirty="0">
                <a:latin typeface="Times New Roman" panose="02020603050405020304" pitchFamily="18" charset="0"/>
              </a:rPr>
              <a:t>.</a:t>
            </a:r>
            <a:r>
              <a:rPr b="1" dirty="0" err="1">
                <a:latin typeface="Times New Roman" panose="02020603050405020304" pitchFamily="18" charset="0"/>
              </a:rPr>
              <a:t>对于具有自动获取IP地址的网卡</a:t>
            </a:r>
            <a:r>
              <a:rPr lang="en-US" b="1" dirty="0" err="1">
                <a:latin typeface="Times New Roman" panose="02020603050405020304" pitchFamily="18" charset="0"/>
              </a:rPr>
              <a:t>,</a:t>
            </a:r>
            <a:r>
              <a:rPr b="1" dirty="0" err="1">
                <a:latin typeface="Times New Roman" panose="02020603050405020304" pitchFamily="18" charset="0"/>
              </a:rPr>
              <a:t>则可以利用“ipconfig</a:t>
            </a:r>
            <a:r>
              <a:rPr b="1" dirty="0">
                <a:latin typeface="Times New Roman" panose="02020603050405020304" pitchFamily="18" charset="0"/>
              </a:rPr>
              <a:t> /</a:t>
            </a:r>
            <a:r>
              <a:rPr b="1" dirty="0" err="1">
                <a:latin typeface="Times New Roman" panose="02020603050405020304" pitchFamily="18" charset="0"/>
              </a:rPr>
              <a:t>renew命令”更新DHCP的配置</a:t>
            </a:r>
            <a:r>
              <a:rPr lang="en-US" b="1" dirty="0" err="1">
                <a:latin typeface="Times New Roman" panose="02020603050405020304" pitchFamily="18" charset="0"/>
              </a:rPr>
              <a:t>.</a:t>
            </a:r>
            <a:endParaRPr sz="2200" b="1" dirty="0">
              <a:latin typeface="Times New Roman" panose="02020603050405020304" pitchFamily="18" charset="0"/>
            </a:endParaRPr>
          </a:p>
        </p:txBody>
      </p:sp>
      <p:sp>
        <p:nvSpPr>
          <p:cNvPr id="68611" name="Rectangle 5"/>
          <p:cNvSpPr>
            <a:spLocks noChangeArrowheads="1"/>
          </p:cNvSpPr>
          <p:nvPr/>
        </p:nvSpPr>
        <p:spPr bwMode="auto">
          <a:xfrm>
            <a:off x="457200" y="1012825"/>
            <a:ext cx="8027988" cy="1570038"/>
          </a:xfrm>
          <a:prstGeom prst="rect">
            <a:avLst/>
          </a:prstGeom>
          <a:noFill/>
          <a:ln w="9525">
            <a:noFill/>
            <a:miter lim="800000"/>
          </a:ln>
        </p:spPr>
        <p:txBody>
          <a:bodyPr anchor="ctr">
            <a:spAutoFit/>
          </a:bodyPr>
          <a:lstStyle/>
          <a:p>
            <a:pPr>
              <a:spcAft>
                <a:spcPct val="15000"/>
              </a:spcAft>
            </a:pPr>
            <a:r>
              <a:rPr lang="en-US" altLang="zh-CN" sz="2600" b="1" dirty="0">
                <a:solidFill>
                  <a:srgbClr val="FF0000"/>
                </a:solidFill>
                <a:latin typeface="宋体" panose="02010600030101010101" pitchFamily="2" charset="-122"/>
              </a:rPr>
              <a:t>2.4.2 </a:t>
            </a:r>
            <a:r>
              <a:rPr lang="zh-CN" altLang="en-US" sz="2600" b="1" dirty="0">
                <a:solidFill>
                  <a:srgbClr val="FF0000"/>
                </a:solidFill>
                <a:latin typeface="宋体" panose="02010600030101010101" pitchFamily="2" charset="-122"/>
              </a:rPr>
              <a:t>网络配置信息显示及设置命令</a:t>
            </a:r>
            <a:r>
              <a:rPr lang="zh-CN" altLang="en-US" b="1" dirty="0"/>
              <a:t> </a:t>
            </a:r>
          </a:p>
          <a:p>
            <a:r>
              <a:rPr lang="en-US" altLang="zh-CN" b="1" dirty="0"/>
              <a:t>         </a:t>
            </a:r>
            <a:r>
              <a:rPr lang="en-US" altLang="zh-CN" sz="2200" b="1" dirty="0">
                <a:solidFill>
                  <a:srgbClr val="CC0000"/>
                </a:solidFill>
              </a:rPr>
              <a:t>ipconfig</a:t>
            </a:r>
            <a:r>
              <a:rPr lang="zh-CN" altLang="en-US" sz="2200" b="1" dirty="0">
                <a:solidFill>
                  <a:srgbClr val="CC0000"/>
                </a:solidFill>
              </a:rPr>
              <a:t>命令</a:t>
            </a:r>
            <a:r>
              <a:rPr lang="zh-CN" altLang="en-US" sz="2200" b="1" dirty="0">
                <a:solidFill>
                  <a:schemeClr val="tx2"/>
                </a:solidFill>
              </a:rPr>
              <a:t>的</a:t>
            </a:r>
            <a:r>
              <a:rPr lang="zh-CN" altLang="en-US" sz="2200" b="1" dirty="0">
                <a:solidFill>
                  <a:srgbClr val="CC0000"/>
                </a:solidFill>
              </a:rPr>
              <a:t>主要功能</a:t>
            </a:r>
            <a:r>
              <a:rPr lang="zh-CN" altLang="en-US" sz="2200" b="1" dirty="0">
                <a:solidFill>
                  <a:schemeClr val="tx2"/>
                </a:solidFill>
              </a:rPr>
              <a:t>是</a:t>
            </a:r>
            <a:r>
              <a:rPr lang="zh-CN" altLang="en-US" sz="2200" b="1" dirty="0">
                <a:solidFill>
                  <a:srgbClr val="0000FF"/>
                </a:solidFill>
              </a:rPr>
              <a:t>显示</a:t>
            </a:r>
            <a:r>
              <a:rPr lang="zh-CN" altLang="en-US" sz="2200" b="1" dirty="0">
                <a:solidFill>
                  <a:schemeClr val="tx2"/>
                </a:solidFill>
              </a:rPr>
              <a:t>所有</a:t>
            </a:r>
            <a:r>
              <a:rPr lang="en-US" altLang="zh-CN" sz="2200" b="1" dirty="0">
                <a:solidFill>
                  <a:schemeClr val="tx2"/>
                </a:solidFill>
              </a:rPr>
              <a:t>TCP/IP</a:t>
            </a:r>
            <a:r>
              <a:rPr lang="zh-CN" altLang="en-US" sz="2200" b="1" dirty="0">
                <a:solidFill>
                  <a:schemeClr val="tx2"/>
                </a:solidFill>
              </a:rPr>
              <a:t>网络配置信息、</a:t>
            </a:r>
            <a:r>
              <a:rPr lang="zh-CN" altLang="en-US" sz="2200" b="1" dirty="0">
                <a:solidFill>
                  <a:srgbClr val="0000FF"/>
                </a:solidFill>
              </a:rPr>
              <a:t>刷新</a:t>
            </a:r>
            <a:r>
              <a:rPr lang="zh-CN" altLang="en-US" sz="2200" b="1" dirty="0">
                <a:solidFill>
                  <a:schemeClr val="tx2"/>
                </a:solidFill>
              </a:rPr>
              <a:t>动态主机配置协议</a:t>
            </a:r>
            <a:r>
              <a:rPr lang="en-US" altLang="zh-CN" sz="2200" b="1" dirty="0">
                <a:solidFill>
                  <a:schemeClr val="tx2"/>
                </a:solidFill>
              </a:rPr>
              <a:t>DHCP</a:t>
            </a:r>
            <a:r>
              <a:rPr lang="zh-CN" altLang="en-US" sz="2200" b="1" dirty="0">
                <a:solidFill>
                  <a:schemeClr val="tx2"/>
                </a:solidFill>
              </a:rPr>
              <a:t>（</a:t>
            </a:r>
            <a:r>
              <a:rPr lang="en-US" altLang="zh-CN" sz="2200" b="1" dirty="0">
                <a:solidFill>
                  <a:schemeClr val="tx2"/>
                </a:solidFill>
              </a:rPr>
              <a:t>Dynamic Host Configuration Protocol</a:t>
            </a:r>
            <a:r>
              <a:rPr lang="zh-CN" altLang="en-US" sz="2200" b="1" dirty="0">
                <a:solidFill>
                  <a:schemeClr val="tx2"/>
                </a:solidFill>
              </a:rPr>
              <a:t>）和域名系统</a:t>
            </a:r>
            <a:r>
              <a:rPr lang="en-US" altLang="zh-CN" sz="2200" b="1" dirty="0">
                <a:solidFill>
                  <a:schemeClr val="tx2"/>
                </a:solidFill>
              </a:rPr>
              <a:t>DNS</a:t>
            </a:r>
            <a:r>
              <a:rPr lang="zh-CN" altLang="en-US" sz="2200" b="1" dirty="0">
                <a:solidFill>
                  <a:srgbClr val="0000FF"/>
                </a:solidFill>
              </a:rPr>
              <a:t>设置</a:t>
            </a:r>
            <a:r>
              <a:rPr lang="zh-CN" altLang="en-US" sz="2200" b="1" dirty="0">
                <a:solidFill>
                  <a:schemeClr val="tx2"/>
                </a:solidFill>
              </a:rPr>
              <a:t>。 </a:t>
            </a:r>
          </a:p>
        </p:txBody>
      </p:sp>
      <p:sp>
        <p:nvSpPr>
          <p:cNvPr id="13" name="圆角矩形 12"/>
          <p:cNvSpPr/>
          <p:nvPr/>
        </p:nvSpPr>
        <p:spPr bwMode="gray">
          <a:xfrm>
            <a:off x="1109663" y="2492375"/>
            <a:ext cx="1028700" cy="385763"/>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1600" b="1" dirty="0" smtClean="0">
                <a:solidFill>
                  <a:srgbClr val="002060"/>
                </a:solidFill>
              </a:rPr>
              <a:t>案例</a:t>
            </a:r>
            <a:r>
              <a:rPr lang="en-US" altLang="zh-CN" sz="1600" b="1" dirty="0" smtClean="0">
                <a:solidFill>
                  <a:srgbClr val="002060"/>
                </a:solidFill>
              </a:rPr>
              <a:t>2-5</a:t>
            </a:r>
            <a:endParaRPr lang="zh-CN" altLang="en-US" sz="1600" b="1" dirty="0" smtClean="0">
              <a:solidFill>
                <a:srgbClr val="002060"/>
              </a:solidFill>
            </a:endParaRPr>
          </a:p>
        </p:txBody>
      </p:sp>
      <p:sp>
        <p:nvSpPr>
          <p:cNvPr id="68613" name="Rectangle 9"/>
          <p:cNvSpPr>
            <a:spLocks noChangeArrowheads="1"/>
          </p:cNvSpPr>
          <p:nvPr/>
        </p:nvSpPr>
        <p:spPr bwMode="auto">
          <a:xfrm>
            <a:off x="0" y="2128838"/>
            <a:ext cx="9144000" cy="0"/>
          </a:xfrm>
          <a:prstGeom prst="rect">
            <a:avLst/>
          </a:prstGeom>
          <a:noFill/>
          <a:ln w="9525">
            <a:noFill/>
            <a:miter lim="800000"/>
          </a:ln>
        </p:spPr>
        <p:txBody>
          <a:bodyPr wrap="none" anchor="ctr">
            <a:spAutoFit/>
          </a:bodyPr>
          <a:lstStyle/>
          <a:p>
            <a:endParaRPr lang="zh-CN" altLang="en-US"/>
          </a:p>
        </p:txBody>
      </p:sp>
      <p:pic>
        <p:nvPicPr>
          <p:cNvPr id="68614" name="图片 18"/>
          <p:cNvPicPr>
            <a:picLocks noChangeAspect="1" noChangeArrowheads="1"/>
          </p:cNvPicPr>
          <p:nvPr/>
        </p:nvPicPr>
        <p:blipFill>
          <a:blip r:embed="rId2" cstate="print">
            <a:lum bright="-48000" contrast="66000"/>
          </a:blip>
          <a:srcRect/>
          <a:stretch>
            <a:fillRect/>
          </a:stretch>
        </p:blipFill>
        <p:spPr bwMode="auto">
          <a:xfrm>
            <a:off x="2332038" y="3868738"/>
            <a:ext cx="4876800" cy="2846387"/>
          </a:xfrm>
          <a:prstGeom prst="rect">
            <a:avLst/>
          </a:prstGeom>
          <a:noFill/>
          <a:ln w="9525">
            <a:noFill/>
            <a:miter lim="800000"/>
            <a:headEnd/>
            <a:tailEnd/>
          </a:ln>
        </p:spPr>
      </p:pic>
      <p:sp>
        <p:nvSpPr>
          <p:cNvPr id="68615" name="Rectangle 11"/>
          <p:cNvSpPr>
            <a:spLocks noChangeArrowheads="1"/>
          </p:cNvSpPr>
          <p:nvPr/>
        </p:nvSpPr>
        <p:spPr bwMode="auto">
          <a:xfrm>
            <a:off x="3511550" y="6346825"/>
            <a:ext cx="3152775" cy="307975"/>
          </a:xfrm>
          <a:prstGeom prst="rect">
            <a:avLst/>
          </a:prstGeom>
          <a:noFill/>
          <a:ln w="9525">
            <a:noFill/>
            <a:miter lim="800000"/>
          </a:ln>
        </p:spPr>
        <p:txBody>
          <a:bodyPr wrap="none" anchor="ctr">
            <a:spAutoFit/>
          </a:bodyPr>
          <a:lstStyle/>
          <a:p>
            <a:r>
              <a:rPr lang="zh-CN" altLang="en-US" sz="1400" b="1">
                <a:solidFill>
                  <a:srgbClr val="C00000"/>
                </a:solidFill>
                <a:latin typeface="Times New Roman" panose="02020603050405020304" pitchFamily="18" charset="0"/>
              </a:rPr>
              <a:t>图</a:t>
            </a:r>
            <a:r>
              <a:rPr lang="en-US" altLang="zh-CN" sz="1400" b="1">
                <a:solidFill>
                  <a:srgbClr val="C00000"/>
                </a:solidFill>
                <a:latin typeface="Times New Roman" panose="02020603050405020304" pitchFamily="18" charset="0"/>
              </a:rPr>
              <a:t>2-11 </a:t>
            </a:r>
            <a:r>
              <a:rPr lang="zh-CN" altLang="en-US" sz="1400" b="1">
                <a:solidFill>
                  <a:srgbClr val="C00000"/>
                </a:solidFill>
                <a:latin typeface="Times New Roman" panose="02020603050405020304" pitchFamily="18" charset="0"/>
              </a:rPr>
              <a:t>用</a:t>
            </a:r>
            <a:r>
              <a:rPr lang="en-US" altLang="zh-CN" sz="1400" b="1">
                <a:solidFill>
                  <a:srgbClr val="C00000"/>
                </a:solidFill>
                <a:latin typeface="Times New Roman" panose="02020603050405020304" pitchFamily="18" charset="0"/>
              </a:rPr>
              <a:t>ipconfig</a:t>
            </a:r>
            <a:r>
              <a:rPr lang="zh-CN" altLang="en-US" sz="1400" b="1">
                <a:solidFill>
                  <a:srgbClr val="C00000"/>
                </a:solidFill>
                <a:latin typeface="Times New Roman" panose="02020603050405020304" pitchFamily="18" charset="0"/>
              </a:rPr>
              <a:t>命令查看本机</a:t>
            </a:r>
            <a:r>
              <a:rPr lang="en-US" altLang="zh-CN" sz="1400" b="1">
                <a:solidFill>
                  <a:srgbClr val="C00000"/>
                </a:solidFill>
                <a:latin typeface="Times New Roman" panose="02020603050405020304" pitchFamily="18" charset="0"/>
              </a:rPr>
              <a:t>IP</a:t>
            </a:r>
            <a:r>
              <a:rPr lang="zh-CN" altLang="en-US" sz="1400" b="1">
                <a:solidFill>
                  <a:srgbClr val="C00000"/>
                </a:solidFill>
                <a:latin typeface="Times New Roman" panose="02020603050405020304" pitchFamily="18" charset="0"/>
              </a:rPr>
              <a:t>地址</a:t>
            </a:r>
            <a:r>
              <a:rPr lang="zh-CN" altLang="en-US" sz="1400" b="1">
                <a:solidFill>
                  <a:srgbClr val="C00000"/>
                </a:solidFill>
              </a:rPr>
              <a:t> </a:t>
            </a:r>
          </a:p>
        </p:txBody>
      </p:sp>
      <p:sp>
        <p:nvSpPr>
          <p:cNvPr id="68616"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内容占位符 13"/>
          <p:cNvSpPr>
            <a:spLocks noGrp="1" noChangeArrowheads="1"/>
          </p:cNvSpPr>
          <p:nvPr>
            <p:ph idx="4294967295"/>
          </p:nvPr>
        </p:nvSpPr>
        <p:spPr>
          <a:xfrm>
            <a:off x="395288" y="1196975"/>
            <a:ext cx="8040687" cy="3322638"/>
          </a:xfrm>
        </p:spPr>
        <p:txBody>
          <a:bodyPr/>
          <a:lstStyle/>
          <a:p>
            <a:pPr eaLnBrk="1" hangingPunct="1">
              <a:buFont typeface="Wingdings" panose="05000000000000000000" pitchFamily="2" charset="2"/>
              <a:buNone/>
            </a:pPr>
            <a:endParaRPr lang="en-US" altLang="zh-CN" sz="1800" dirty="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dirty="0" smtClean="0">
                <a:solidFill>
                  <a:srgbClr val="0000CC"/>
                </a:solidFill>
                <a:latin typeface="Times New Roman" panose="02020603050405020304" pitchFamily="18" charset="0"/>
              </a:rPr>
              <a:t>  </a:t>
            </a:r>
            <a:endParaRPr lang="en-US" altLang="zh-CN" sz="1800" b="0" dirty="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dirty="0" smtClean="0"/>
          </a:p>
        </p:txBody>
      </p:sp>
      <p:sp>
        <p:nvSpPr>
          <p:cNvPr id="68611" name="Rectangle 5"/>
          <p:cNvSpPr>
            <a:spLocks noChangeArrowheads="1"/>
          </p:cNvSpPr>
          <p:nvPr/>
        </p:nvSpPr>
        <p:spPr bwMode="auto">
          <a:xfrm>
            <a:off x="457200" y="1352337"/>
            <a:ext cx="8027988" cy="891013"/>
          </a:xfrm>
          <a:prstGeom prst="rect">
            <a:avLst/>
          </a:prstGeom>
          <a:noFill/>
          <a:ln w="9525">
            <a:noFill/>
            <a:miter lim="800000"/>
          </a:ln>
        </p:spPr>
        <p:txBody>
          <a:bodyPr anchor="ctr">
            <a:spAutoFit/>
          </a:bodyPr>
          <a:lstStyle/>
          <a:p>
            <a:pPr>
              <a:spcAft>
                <a:spcPct val="15000"/>
              </a:spcAft>
            </a:pPr>
            <a:r>
              <a:rPr lang="en-US" altLang="zh-CN" sz="2600" b="1" dirty="0">
                <a:solidFill>
                  <a:srgbClr val="FF0000"/>
                </a:solidFill>
                <a:latin typeface="宋体" panose="02010600030101010101" pitchFamily="2" charset="-122"/>
              </a:rPr>
              <a:t>2.4.2 </a:t>
            </a:r>
            <a:r>
              <a:rPr lang="zh-CN" altLang="en-US" sz="2600" b="1" dirty="0">
                <a:solidFill>
                  <a:srgbClr val="FF0000"/>
                </a:solidFill>
                <a:latin typeface="宋体" panose="02010600030101010101" pitchFamily="2" charset="-122"/>
              </a:rPr>
              <a:t>网络配置信息显示及设置命令</a:t>
            </a:r>
            <a:r>
              <a:rPr lang="zh-CN" altLang="en-US" b="1" dirty="0"/>
              <a:t> </a:t>
            </a:r>
          </a:p>
          <a:p>
            <a:r>
              <a:rPr lang="en-US" altLang="zh-CN" b="1" dirty="0"/>
              <a:t>         </a:t>
            </a:r>
            <a:r>
              <a:rPr lang="en-US" altLang="zh-CN" sz="2200" b="1" dirty="0">
                <a:solidFill>
                  <a:srgbClr val="CC0000"/>
                </a:solidFill>
              </a:rPr>
              <a:t>ipconfig</a:t>
            </a:r>
            <a:r>
              <a:rPr lang="zh-CN" altLang="en-US" sz="2200" b="1" dirty="0" smtClean="0">
                <a:solidFill>
                  <a:srgbClr val="CC0000"/>
                </a:solidFill>
              </a:rPr>
              <a:t>命令参数</a:t>
            </a:r>
            <a:endParaRPr lang="zh-CN" altLang="en-US" sz="2200" b="1" dirty="0">
              <a:solidFill>
                <a:schemeClr val="tx2"/>
              </a:solidFill>
            </a:endParaRPr>
          </a:p>
        </p:txBody>
      </p:sp>
      <p:sp>
        <p:nvSpPr>
          <p:cNvPr id="68613" name="Rectangle 9"/>
          <p:cNvSpPr>
            <a:spLocks noChangeArrowheads="1"/>
          </p:cNvSpPr>
          <p:nvPr/>
        </p:nvSpPr>
        <p:spPr bwMode="auto">
          <a:xfrm>
            <a:off x="0" y="2128838"/>
            <a:ext cx="9144000" cy="0"/>
          </a:xfrm>
          <a:prstGeom prst="rect">
            <a:avLst/>
          </a:prstGeom>
          <a:noFill/>
          <a:ln w="9525">
            <a:noFill/>
            <a:miter lim="800000"/>
          </a:ln>
        </p:spPr>
        <p:txBody>
          <a:bodyPr wrap="none" anchor="ctr">
            <a:spAutoFit/>
          </a:bodyPr>
          <a:lstStyle/>
          <a:p>
            <a:endParaRPr lang="zh-CN" altLang="en-US"/>
          </a:p>
        </p:txBody>
      </p:sp>
      <p:sp>
        <p:nvSpPr>
          <p:cNvPr id="68616"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pic>
        <p:nvPicPr>
          <p:cNvPr id="2" name="图片 1"/>
          <p:cNvPicPr>
            <a:picLocks noChangeAspect="1"/>
          </p:cNvPicPr>
          <p:nvPr/>
        </p:nvPicPr>
        <p:blipFill>
          <a:blip r:embed="rId2"/>
          <a:stretch>
            <a:fillRect/>
          </a:stretch>
        </p:blipFill>
        <p:spPr>
          <a:xfrm>
            <a:off x="755576" y="2377609"/>
            <a:ext cx="7038975" cy="2952750"/>
          </a:xfrm>
          <a:prstGeom prst="rect">
            <a:avLst/>
          </a:prstGeom>
        </p:spPr>
      </p:pic>
      <p:sp>
        <p:nvSpPr>
          <p:cNvPr id="3" name="文本框 2"/>
          <p:cNvSpPr txBox="1"/>
          <p:nvPr/>
        </p:nvSpPr>
        <p:spPr>
          <a:xfrm>
            <a:off x="683568" y="5661248"/>
            <a:ext cx="7920880" cy="307777"/>
          </a:xfrm>
          <a:prstGeom prst="rect">
            <a:avLst/>
          </a:prstGeom>
          <a:noFill/>
        </p:spPr>
        <p:txBody>
          <a:bodyPr wrap="square" rtlCol="0">
            <a:spAutoFit/>
          </a:bodyPr>
          <a:lstStyle/>
          <a:p>
            <a:r>
              <a:rPr lang="zh-CN" altLang="en-US" sz="1400" dirty="0" smtClean="0"/>
              <a:t>更多信息参看</a:t>
            </a:r>
            <a:r>
              <a:rPr lang="en-US" altLang="zh-CN" sz="1400" dirty="0" smtClean="0"/>
              <a:t>https</a:t>
            </a:r>
            <a:r>
              <a:rPr lang="en-US" altLang="zh-CN" sz="1400" dirty="0"/>
              <a:t>://baike.baidu.com/item/ipconfig/2496619?fr=aladdin</a:t>
            </a:r>
            <a:endParaRPr lang="zh-CN" altLang="en-US" sz="1400"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84213" y="1506538"/>
            <a:ext cx="7489825" cy="1706562"/>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5pPr>
          </a:lstStyle>
          <a:p>
            <a:pPr indent="457200" eaLnBrk="1" hangingPunct="1">
              <a:defRPr/>
            </a:pPr>
            <a:r>
              <a:rPr lang="en-US" altLang="zh-CN" sz="1700" b="1" noProof="1">
                <a:solidFill>
                  <a:srgbClr val="FF0000"/>
                </a:solidFill>
              </a:rPr>
              <a:t>netstat</a:t>
            </a:r>
            <a:r>
              <a:rPr lang="zh-CN" altLang="en-US" sz="1700" b="1" noProof="1">
                <a:solidFill>
                  <a:srgbClr val="FF0000"/>
                </a:solidFill>
              </a:rPr>
              <a:t>命令</a:t>
            </a:r>
            <a:r>
              <a:rPr lang="zh-CN" altLang="en-US" sz="1700" b="1" noProof="1">
                <a:solidFill>
                  <a:srgbClr val="C00000"/>
                </a:solidFill>
              </a:rPr>
              <a:t>主要功能</a:t>
            </a:r>
            <a:r>
              <a:rPr lang="zh-CN" altLang="en-US" sz="1700" b="1" noProof="1">
                <a:solidFill>
                  <a:srgbClr val="29698D"/>
                </a:solidFill>
              </a:rPr>
              <a:t>显示活动的连接、主</a:t>
            </a:r>
            <a:r>
              <a:rPr lang="en-US" altLang="zh-CN" sz="1700" b="1" noProof="1">
                <a:solidFill>
                  <a:srgbClr val="29698D"/>
                </a:solidFill>
              </a:rPr>
              <a:t>机监听的端口、以太网统计信息、IP 路由表、IPv4统计信息(IP、ICMP、TCP和UDP协议).</a:t>
            </a:r>
            <a:r>
              <a:rPr lang="zh-CN" altLang="en-US" sz="1700" b="1" noProof="1">
                <a:solidFill>
                  <a:srgbClr val="29698D"/>
                </a:solidFill>
              </a:rPr>
              <a:t>用 </a:t>
            </a:r>
            <a:r>
              <a:rPr lang="en-US" altLang="zh-CN" sz="1700" b="1" noProof="1">
                <a:solidFill>
                  <a:srgbClr val="29698D"/>
                </a:solidFill>
              </a:rPr>
              <a:t>-an</a:t>
            </a:r>
            <a:r>
              <a:rPr lang="zh-CN" altLang="en-US" sz="1700" b="1" noProof="1">
                <a:solidFill>
                  <a:srgbClr val="29698D"/>
                </a:solidFill>
              </a:rPr>
              <a:t>可以查看目前活动的连接和开放端口，是查看</a:t>
            </a:r>
            <a:r>
              <a:rPr lang="zh-CN" altLang="en-US" sz="1700" b="1" noProof="1">
                <a:solidFill>
                  <a:srgbClr val="C00000"/>
                </a:solidFill>
              </a:rPr>
              <a:t>网络是否被入侵的最简单方法</a:t>
            </a:r>
            <a:r>
              <a:rPr lang="en-US" altLang="zh-CN" sz="1700" b="1" noProof="1">
                <a:solidFill>
                  <a:srgbClr val="29698D"/>
                </a:solidFill>
              </a:rPr>
              <a:t>。使用方法如图2-12.如果状态为“LISTENING”表示端口正在被监听,还没与其他主机相连，如果状态为“ESTABLISHED”表示正在与某主机连接并通信,</a:t>
            </a:r>
            <a:r>
              <a:rPr lang="zh-CN" altLang="en-US" sz="1700" b="1" noProof="1">
                <a:solidFill>
                  <a:srgbClr val="29698D"/>
                </a:solidFill>
              </a:rPr>
              <a:t>同时显示该主机的</a:t>
            </a:r>
            <a:r>
              <a:rPr lang="en-US" altLang="zh-CN" sz="1700" b="1" noProof="1">
                <a:solidFill>
                  <a:srgbClr val="29698D"/>
                </a:solidFill>
              </a:rPr>
              <a:t>IP</a:t>
            </a:r>
            <a:r>
              <a:rPr lang="zh-CN" altLang="en-US" sz="1700" b="1" noProof="1">
                <a:solidFill>
                  <a:srgbClr val="29698D"/>
                </a:solidFill>
              </a:rPr>
              <a:t>地址和端口号</a:t>
            </a:r>
            <a:r>
              <a:rPr lang="zh-CN" altLang="en-US" sz="1700" noProof="1">
                <a:solidFill>
                  <a:srgbClr val="29698D"/>
                </a:solidFill>
              </a:rPr>
              <a:t>。</a:t>
            </a:r>
          </a:p>
        </p:txBody>
      </p:sp>
      <p:pic>
        <p:nvPicPr>
          <p:cNvPr id="69634" name="Picture 4" descr="j0234657"/>
          <p:cNvPicPr>
            <a:picLocks noChangeAspect="1" noChangeArrowheads="1"/>
          </p:cNvPicPr>
          <p:nvPr/>
        </p:nvPicPr>
        <p:blipFill>
          <a:blip r:embed="rId2" cstate="print"/>
          <a:srcRect/>
          <a:stretch>
            <a:fillRect/>
          </a:stretch>
        </p:blipFill>
        <p:spPr bwMode="auto">
          <a:xfrm>
            <a:off x="7881938" y="166688"/>
            <a:ext cx="1279525" cy="1246187"/>
          </a:xfrm>
          <a:prstGeom prst="rect">
            <a:avLst/>
          </a:prstGeom>
          <a:noFill/>
          <a:ln w="9525">
            <a:noFill/>
            <a:miter lim="800000"/>
            <a:headEnd/>
            <a:tailEnd/>
          </a:ln>
        </p:spPr>
      </p:pic>
      <p:sp>
        <p:nvSpPr>
          <p:cNvPr id="69635" name="Rectangle 6"/>
          <p:cNvSpPr>
            <a:spLocks noChangeArrowheads="1"/>
          </p:cNvSpPr>
          <p:nvPr/>
        </p:nvSpPr>
        <p:spPr bwMode="auto">
          <a:xfrm>
            <a:off x="395288" y="1017588"/>
            <a:ext cx="4505325" cy="492125"/>
          </a:xfrm>
          <a:prstGeom prst="rect">
            <a:avLst/>
          </a:prstGeom>
          <a:noFill/>
          <a:ln w="9525">
            <a:noFill/>
            <a:miter lim="800000"/>
          </a:ln>
        </p:spPr>
        <p:txBody>
          <a:bodyPr wrap="none" anchor="ctr">
            <a:spAutoFit/>
          </a:bodyPr>
          <a:lstStyle/>
          <a:p>
            <a:r>
              <a:rPr lang="en-US" altLang="zh-CN" sz="2600" b="1">
                <a:solidFill>
                  <a:srgbClr val="FF0000"/>
                </a:solidFill>
                <a:latin typeface="宋体" panose="02010600030101010101" pitchFamily="2" charset="-122"/>
              </a:rPr>
              <a:t>2.4.3 </a:t>
            </a:r>
            <a:r>
              <a:rPr lang="zh-CN" altLang="en-US" sz="2600" b="1">
                <a:solidFill>
                  <a:srgbClr val="FF0000"/>
                </a:solidFill>
                <a:latin typeface="宋体" panose="02010600030101010101" pitchFamily="2" charset="-122"/>
              </a:rPr>
              <a:t>连接监听端口显示命令</a:t>
            </a:r>
            <a:r>
              <a:rPr lang="zh-CN" altLang="en-US" b="1"/>
              <a:t> </a:t>
            </a:r>
          </a:p>
        </p:txBody>
      </p:sp>
      <p:sp>
        <p:nvSpPr>
          <p:cNvPr id="69636" name="Rectangle 7"/>
          <p:cNvSpPr>
            <a:spLocks noChangeArrowheads="1"/>
          </p:cNvSpPr>
          <p:nvPr/>
        </p:nvSpPr>
        <p:spPr bwMode="auto">
          <a:xfrm>
            <a:off x="0" y="2414588"/>
            <a:ext cx="9144000" cy="0"/>
          </a:xfrm>
          <a:prstGeom prst="rect">
            <a:avLst/>
          </a:prstGeom>
          <a:noFill/>
          <a:ln w="9525">
            <a:noFill/>
            <a:miter lim="800000"/>
          </a:ln>
        </p:spPr>
        <p:txBody>
          <a:bodyPr wrap="none" anchor="ctr">
            <a:spAutoFit/>
          </a:bodyPr>
          <a:lstStyle/>
          <a:p>
            <a:endParaRPr lang="zh-CN" altLang="en-US"/>
          </a:p>
        </p:txBody>
      </p:sp>
      <p:sp>
        <p:nvSpPr>
          <p:cNvPr id="69638" name="Rectangle 9"/>
          <p:cNvSpPr>
            <a:spLocks noChangeArrowheads="1"/>
          </p:cNvSpPr>
          <p:nvPr/>
        </p:nvSpPr>
        <p:spPr bwMode="auto">
          <a:xfrm>
            <a:off x="477838" y="6553200"/>
            <a:ext cx="4125912" cy="304800"/>
          </a:xfrm>
          <a:prstGeom prst="rect">
            <a:avLst/>
          </a:prstGeom>
          <a:noFill/>
          <a:ln w="9525">
            <a:noFill/>
            <a:miter lim="800000"/>
          </a:ln>
        </p:spPr>
        <p:txBody>
          <a:bodyPr wrap="none" anchor="ctr">
            <a:spAutoFit/>
          </a:bodyPr>
          <a:lstStyle/>
          <a:p>
            <a:pPr indent="82550" algn="ctr"/>
            <a:r>
              <a:rPr lang="zh-CN" altLang="en-US" sz="1400" b="1">
                <a:latin typeface="Times New Roman" panose="02020603050405020304" pitchFamily="18" charset="0"/>
              </a:rPr>
              <a:t>图</a:t>
            </a:r>
            <a:r>
              <a:rPr lang="en-US" altLang="zh-CN" sz="1400" b="1">
                <a:latin typeface="Times New Roman" panose="02020603050405020304" pitchFamily="18" charset="0"/>
              </a:rPr>
              <a:t>2-12 </a:t>
            </a:r>
            <a:r>
              <a:rPr lang="zh-CN" altLang="en-US" sz="1400" b="1">
                <a:latin typeface="Times New Roman" panose="02020603050405020304" pitchFamily="18" charset="0"/>
              </a:rPr>
              <a:t>用</a:t>
            </a:r>
            <a:r>
              <a:rPr lang="zh-CN" altLang="en-US" sz="1400" b="1"/>
              <a:t>“</a:t>
            </a:r>
            <a:r>
              <a:rPr lang="en-US" altLang="zh-CN" sz="1400" b="1">
                <a:latin typeface="Times New Roman" panose="02020603050405020304" pitchFamily="18" charset="0"/>
              </a:rPr>
              <a:t>netstat -an</a:t>
            </a:r>
            <a:r>
              <a:rPr lang="en-US" altLang="zh-CN" sz="1400" b="1"/>
              <a:t>”</a:t>
            </a:r>
            <a:r>
              <a:rPr lang="zh-CN" altLang="en-US" sz="1400" b="1">
                <a:latin typeface="Times New Roman" panose="02020603050405020304" pitchFamily="18" charset="0"/>
              </a:rPr>
              <a:t>命令查看连接和开放的端口</a:t>
            </a:r>
            <a:endParaRPr lang="zh-CN" altLang="en-US" sz="1400" b="1">
              <a:latin typeface="宋体" panose="02010600030101010101" pitchFamily="2" charset="-122"/>
            </a:endParaRPr>
          </a:p>
        </p:txBody>
      </p:sp>
      <p:pic>
        <p:nvPicPr>
          <p:cNvPr id="69639" name="Picture 10"/>
          <p:cNvPicPr>
            <a:picLocks noChangeAspect="1" noChangeArrowheads="1"/>
          </p:cNvPicPr>
          <p:nvPr/>
        </p:nvPicPr>
        <p:blipFill>
          <a:blip r:embed="rId3" cstate="print"/>
          <a:srcRect/>
          <a:stretch>
            <a:fillRect/>
          </a:stretch>
        </p:blipFill>
        <p:spPr bwMode="auto">
          <a:xfrm>
            <a:off x="4417150" y="3096681"/>
            <a:ext cx="4689475" cy="3421063"/>
          </a:xfrm>
          <a:prstGeom prst="rect">
            <a:avLst/>
          </a:prstGeom>
          <a:noFill/>
          <a:ln w="9525">
            <a:noFill/>
            <a:miter lim="800000"/>
            <a:headEnd/>
            <a:tailEnd/>
          </a:ln>
        </p:spPr>
      </p:pic>
      <p:sp>
        <p:nvSpPr>
          <p:cNvPr id="69640"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pic>
        <p:nvPicPr>
          <p:cNvPr id="2" name="图片 1"/>
          <p:cNvPicPr>
            <a:picLocks noChangeAspect="1"/>
          </p:cNvPicPr>
          <p:nvPr/>
        </p:nvPicPr>
        <p:blipFill>
          <a:blip r:embed="rId4"/>
          <a:stretch>
            <a:fillRect/>
          </a:stretch>
        </p:blipFill>
        <p:spPr>
          <a:xfrm>
            <a:off x="67982" y="3162623"/>
            <a:ext cx="4361143" cy="337438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内容占位符 13"/>
          <p:cNvSpPr>
            <a:spLocks noGrp="1" noChangeArrowheads="1"/>
          </p:cNvSpPr>
          <p:nvPr>
            <p:ph idx="4294967295"/>
          </p:nvPr>
        </p:nvSpPr>
        <p:spPr>
          <a:xfrm>
            <a:off x="395288" y="1125538"/>
            <a:ext cx="8281987" cy="1403350"/>
          </a:xfrm>
        </p:spPr>
        <p:txBody>
          <a:bodyPr/>
          <a:lstStyle/>
          <a:p>
            <a:pPr algn="just" eaLnBrk="1" hangingPunct="1">
              <a:buFont typeface="Wingdings" panose="05000000000000000000" pitchFamily="2" charset="2"/>
              <a:buNone/>
            </a:pPr>
            <a:r>
              <a:rPr lang="en-US" altLang="zh-CN" sz="2800" smtClean="0">
                <a:solidFill>
                  <a:srgbClr val="FF0000"/>
                </a:solidFill>
              </a:rPr>
              <a:t>2.4.4 </a:t>
            </a:r>
            <a:r>
              <a:rPr lang="zh-CN" altLang="en-US" sz="2800" smtClean="0">
                <a:solidFill>
                  <a:srgbClr val="FF0000"/>
                </a:solidFill>
              </a:rPr>
              <a:t>查询删改用户信息命令</a:t>
            </a:r>
          </a:p>
          <a:p>
            <a:pPr algn="just" eaLnBrk="1" hangingPunct="1">
              <a:buFont typeface="Wingdings" panose="05000000000000000000" pitchFamily="2" charset="2"/>
              <a:buNone/>
            </a:pPr>
            <a:r>
              <a:rPr lang="en-US" altLang="zh-CN" smtClean="0"/>
              <a:t>      </a:t>
            </a:r>
            <a:r>
              <a:rPr lang="en-US" altLang="zh-CN" smtClean="0">
                <a:solidFill>
                  <a:srgbClr val="CC0000"/>
                </a:solidFill>
              </a:rPr>
              <a:t>net</a:t>
            </a:r>
            <a:r>
              <a:rPr lang="zh-CN" altLang="en-US" smtClean="0">
                <a:solidFill>
                  <a:srgbClr val="CC0000"/>
                </a:solidFill>
              </a:rPr>
              <a:t>命令</a:t>
            </a:r>
            <a:r>
              <a:rPr lang="zh-CN" altLang="en-US" smtClean="0"/>
              <a:t>的</a:t>
            </a:r>
            <a:r>
              <a:rPr lang="zh-CN" altLang="en-US" smtClean="0">
                <a:solidFill>
                  <a:srgbClr val="CC0000"/>
                </a:solidFill>
              </a:rPr>
              <a:t>主要功能</a:t>
            </a:r>
            <a:r>
              <a:rPr lang="zh-CN" altLang="en-US" smtClean="0"/>
              <a:t>是</a:t>
            </a:r>
            <a:r>
              <a:rPr lang="zh-CN" altLang="en-US" smtClean="0">
                <a:solidFill>
                  <a:srgbClr val="0000FF"/>
                </a:solidFill>
              </a:rPr>
              <a:t>查看</a:t>
            </a:r>
            <a:r>
              <a:rPr lang="zh-CN" altLang="en-US" smtClean="0"/>
              <a:t>主机上的用户列表、添加和删除用户、与对方主机建立连接、启动或停止的网络服务等</a:t>
            </a:r>
            <a:r>
              <a:rPr lang="en-US" altLang="zh-CN" smtClean="0"/>
              <a:t>. </a:t>
            </a:r>
            <a:r>
              <a:rPr lang="en-US" altLang="zh-CN" sz="2800" smtClean="0">
                <a:solidFill>
                  <a:srgbClr val="FF0000"/>
                </a:solidFill>
              </a:rPr>
              <a:t> </a:t>
            </a:r>
          </a:p>
        </p:txBody>
      </p:sp>
      <p:sp>
        <p:nvSpPr>
          <p:cNvPr id="19" name="圆角矩形 18"/>
          <p:cNvSpPr/>
          <p:nvPr/>
        </p:nvSpPr>
        <p:spPr bwMode="gray">
          <a:xfrm>
            <a:off x="971550" y="2492375"/>
            <a:ext cx="7632700" cy="1223963"/>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n"/>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stStyle>
          <a:p>
            <a:pPr marL="0" indent="0" eaLnBrk="1" hangingPunct="1">
              <a:spcBef>
                <a:spcPct val="0"/>
              </a:spcBef>
              <a:buClrTx/>
              <a:buFont typeface="Arial" panose="020B0604020202020204" pitchFamily="34" charset="0"/>
              <a:buNone/>
            </a:pPr>
            <a:r>
              <a:rPr lang="en-US" altLang="en-US" noProof="1">
                <a:solidFill>
                  <a:schemeClr val="tx1"/>
                </a:solidFill>
                <a:latin typeface="Arial" panose="020B0604020202020204" pitchFamily="34" charset="0"/>
              </a:rPr>
              <a:t>                    </a:t>
            </a:r>
            <a:r>
              <a:rPr lang="en-US" altLang="en-US" sz="1800" noProof="1">
                <a:solidFill>
                  <a:srgbClr val="29698D"/>
                </a:solidFill>
                <a:latin typeface="Times New Roman" panose="02020603050405020304" pitchFamily="18" charset="0"/>
                <a:cs typeface="Times New Roman" panose="02020603050405020304" pitchFamily="18" charset="0"/>
              </a:rPr>
              <a:t>利用 </a:t>
            </a:r>
            <a:r>
              <a:rPr lang="en-US" altLang="zh-CN" sz="1800" noProof="1">
                <a:solidFill>
                  <a:srgbClr val="29698D"/>
                </a:solidFill>
                <a:latin typeface="Times New Roman" panose="02020603050405020304" pitchFamily="18" charset="0"/>
                <a:cs typeface="Times New Roman" panose="02020603050405020304" pitchFamily="18" charset="0"/>
              </a:rPr>
              <a:t>net user  </a:t>
            </a:r>
            <a:r>
              <a:rPr lang="en-US" altLang="en-US" sz="1800" noProof="1">
                <a:solidFill>
                  <a:srgbClr val="29698D"/>
                </a:solidFill>
                <a:latin typeface="Times New Roman" panose="02020603050405020304" pitchFamily="18" charset="0"/>
                <a:cs typeface="Times New Roman" panose="02020603050405020304" pitchFamily="18" charset="0"/>
              </a:rPr>
              <a:t>查看计算机上的用户列表，以“ </a:t>
            </a:r>
            <a:r>
              <a:rPr lang="en-US" altLang="zh-CN" sz="1800" noProof="1">
                <a:solidFill>
                  <a:srgbClr val="29698D"/>
                </a:solidFill>
                <a:latin typeface="Times New Roman" panose="02020603050405020304" pitchFamily="18" charset="0"/>
                <a:cs typeface="Times New Roman" panose="02020603050405020304" pitchFamily="18" charset="0"/>
              </a:rPr>
              <a:t>net user</a:t>
            </a:r>
            <a:r>
              <a:rPr lang="en-US" altLang="en-US" sz="1800" noProof="1">
                <a:solidFill>
                  <a:srgbClr val="29698D"/>
                </a:solidFill>
                <a:latin typeface="Times New Roman" panose="02020603050405020304" pitchFamily="18" charset="0"/>
                <a:cs typeface="Times New Roman" panose="02020603050405020304" pitchFamily="18" charset="0"/>
              </a:rPr>
              <a:t>用户名密码” ，可以查看主机的用户列表的相关内容，如图</a:t>
            </a:r>
            <a:r>
              <a:rPr lang="en-US" altLang="zh-CN" sz="1800" noProof="1">
                <a:solidFill>
                  <a:srgbClr val="29698D"/>
                </a:solidFill>
                <a:latin typeface="Times New Roman" panose="02020603050405020304" pitchFamily="18" charset="0"/>
                <a:cs typeface="Times New Roman" panose="02020603050405020304" pitchFamily="18" charset="0"/>
              </a:rPr>
              <a:t>2-13</a:t>
            </a:r>
            <a:r>
              <a:rPr lang="en-US" altLang="en-US" sz="1800" noProof="1">
                <a:solidFill>
                  <a:srgbClr val="29698D"/>
                </a:solidFill>
                <a:latin typeface="Times New Roman" panose="02020603050405020304" pitchFamily="18" charset="0"/>
                <a:cs typeface="Times New Roman" panose="02020603050405020304" pitchFamily="18" charset="0"/>
              </a:rPr>
              <a:t>所示。还可以用“ </a:t>
            </a:r>
            <a:r>
              <a:rPr lang="en-US" altLang="zh-CN" sz="1800" noProof="1">
                <a:solidFill>
                  <a:srgbClr val="29698D"/>
                </a:solidFill>
                <a:latin typeface="Times New Roman" panose="02020603050405020304" pitchFamily="18" charset="0"/>
                <a:cs typeface="Times New Roman" panose="02020603050405020304" pitchFamily="18" charset="0"/>
              </a:rPr>
              <a:t>net user</a:t>
            </a:r>
            <a:r>
              <a:rPr lang="en-US" altLang="en-US" sz="1800" noProof="1">
                <a:solidFill>
                  <a:srgbClr val="29698D"/>
                </a:solidFill>
                <a:latin typeface="Times New Roman" panose="02020603050405020304" pitchFamily="18" charset="0"/>
                <a:cs typeface="Times New Roman" panose="02020603050405020304" pitchFamily="18" charset="0"/>
              </a:rPr>
              <a:t>用户名密码”为用户修改密码</a:t>
            </a:r>
            <a:r>
              <a:rPr lang="en-US" altLang="zh-CN" sz="1800" noProof="1">
                <a:solidFill>
                  <a:srgbClr val="29698D"/>
                </a:solidFill>
                <a:latin typeface="Times New Roman" panose="02020603050405020304" pitchFamily="18" charset="0"/>
                <a:cs typeface="Times New Roman" panose="02020603050405020304" pitchFamily="18" charset="0"/>
              </a:rPr>
              <a:t> ,</a:t>
            </a:r>
            <a:r>
              <a:rPr lang="en-US" altLang="en-US" sz="1800" noProof="1">
                <a:solidFill>
                  <a:srgbClr val="29698D"/>
                </a:solidFill>
                <a:latin typeface="Times New Roman" panose="02020603050405020304" pitchFamily="18" charset="0"/>
                <a:cs typeface="Times New Roman" panose="02020603050405020304" pitchFamily="18" charset="0"/>
              </a:rPr>
              <a:t>如将管理员密码改为“</a:t>
            </a:r>
            <a:r>
              <a:rPr lang="en-US" altLang="zh-CN" sz="1800" noProof="1">
                <a:solidFill>
                  <a:srgbClr val="29698D"/>
                </a:solidFill>
                <a:latin typeface="Times New Roman" panose="02020603050405020304" pitchFamily="18" charset="0"/>
                <a:cs typeface="Times New Roman" panose="02020603050405020304" pitchFamily="18" charset="0"/>
              </a:rPr>
              <a:t>123456”</a:t>
            </a:r>
            <a:r>
              <a:rPr lang="en-US" altLang="en-US" sz="1800" noProof="1">
                <a:solidFill>
                  <a:srgbClr val="29698D"/>
                </a:solidFill>
                <a:latin typeface="Times New Roman" panose="02020603050405020304" pitchFamily="18" charset="0"/>
                <a:cs typeface="Times New Roman" panose="02020603050405020304" pitchFamily="18" charset="0"/>
              </a:rPr>
              <a:t>，如图</a:t>
            </a:r>
            <a:r>
              <a:rPr lang="en-US" altLang="zh-CN" sz="1800" noProof="1">
                <a:solidFill>
                  <a:srgbClr val="29698D"/>
                </a:solidFill>
                <a:latin typeface="Times New Roman" panose="02020603050405020304" pitchFamily="18" charset="0"/>
                <a:cs typeface="Times New Roman" panose="02020603050405020304" pitchFamily="18" charset="0"/>
              </a:rPr>
              <a:t>2-14</a:t>
            </a:r>
            <a:r>
              <a:rPr lang="en-US" altLang="en-US" sz="1800" noProof="1">
                <a:solidFill>
                  <a:srgbClr val="29698D"/>
                </a:solidFill>
                <a:latin typeface="Times New Roman" panose="02020603050405020304" pitchFamily="18" charset="0"/>
                <a:cs typeface="Times New Roman" panose="02020603050405020304" pitchFamily="18" charset="0"/>
              </a:rPr>
              <a:t>所示。</a:t>
            </a:r>
            <a:endParaRPr lang="en-US" altLang="en-US" sz="1800" noProof="1">
              <a:solidFill>
                <a:srgbClr val="29698D"/>
              </a:solidFill>
              <a:latin typeface="Times New Roman" panose="02020603050405020304" pitchFamily="18" charset="0"/>
              <a:ea typeface="Times New Roman" panose="02020603050405020304" pitchFamily="18" charset="0"/>
            </a:endParaRPr>
          </a:p>
        </p:txBody>
      </p:sp>
      <p:sp>
        <p:nvSpPr>
          <p:cNvPr id="13" name="圆角矩形 12"/>
          <p:cNvSpPr/>
          <p:nvPr/>
        </p:nvSpPr>
        <p:spPr bwMode="gray">
          <a:xfrm>
            <a:off x="1354138" y="2334747"/>
            <a:ext cx="1143000" cy="455612"/>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b="1" smtClean="0">
                <a:solidFill>
                  <a:srgbClr val="002060"/>
                </a:solidFill>
              </a:rPr>
              <a:t>案例</a:t>
            </a:r>
            <a:r>
              <a:rPr lang="en-US" altLang="zh-CN" b="1" smtClean="0">
                <a:solidFill>
                  <a:srgbClr val="002060"/>
                </a:solidFill>
              </a:rPr>
              <a:t>2-6</a:t>
            </a:r>
            <a:endParaRPr lang="zh-CN" altLang="en-US" b="1" smtClean="0">
              <a:solidFill>
                <a:srgbClr val="002060"/>
              </a:solidFill>
            </a:endParaRPr>
          </a:p>
        </p:txBody>
      </p:sp>
      <p:pic>
        <p:nvPicPr>
          <p:cNvPr id="70660" name="Picture 9"/>
          <p:cNvPicPr>
            <a:picLocks noChangeAspect="1" noChangeArrowheads="1"/>
          </p:cNvPicPr>
          <p:nvPr/>
        </p:nvPicPr>
        <p:blipFill>
          <a:blip r:embed="rId2" cstate="print"/>
          <a:srcRect/>
          <a:stretch>
            <a:fillRect/>
          </a:stretch>
        </p:blipFill>
        <p:spPr bwMode="auto">
          <a:xfrm>
            <a:off x="5076825" y="4146550"/>
            <a:ext cx="3779838" cy="2306638"/>
          </a:xfrm>
          <a:prstGeom prst="rect">
            <a:avLst/>
          </a:prstGeom>
          <a:noFill/>
          <a:ln w="9525">
            <a:noFill/>
            <a:miter lim="800000"/>
            <a:headEnd/>
            <a:tailEnd/>
          </a:ln>
        </p:spPr>
      </p:pic>
      <p:sp>
        <p:nvSpPr>
          <p:cNvPr id="70661" name="Rectangle 11"/>
          <p:cNvSpPr>
            <a:spLocks noChangeArrowheads="1"/>
          </p:cNvSpPr>
          <p:nvPr/>
        </p:nvSpPr>
        <p:spPr bwMode="auto">
          <a:xfrm>
            <a:off x="4448175" y="3178175"/>
            <a:ext cx="247650" cy="244475"/>
          </a:xfrm>
          <a:prstGeom prst="rect">
            <a:avLst/>
          </a:prstGeom>
          <a:noFill/>
          <a:ln w="9525">
            <a:noFill/>
            <a:miter lim="800000"/>
          </a:ln>
        </p:spPr>
        <p:txBody>
          <a:bodyPr wrap="none" anchor="ctr">
            <a:spAutoFit/>
          </a:bodyPr>
          <a:lstStyle/>
          <a:p>
            <a:pPr algn="ctr"/>
            <a:r>
              <a:rPr lang="zh-CN" altLang="en-US" sz="1000">
                <a:latin typeface="Times New Roman" panose="02020603050405020304" pitchFamily="18" charset="0"/>
              </a:rPr>
              <a:t>  </a:t>
            </a:r>
            <a:endParaRPr lang="zh-CN" altLang="en-US">
              <a:latin typeface="宋体" panose="02010600030101010101" pitchFamily="2" charset="-122"/>
            </a:endParaRPr>
          </a:p>
        </p:txBody>
      </p:sp>
      <p:sp>
        <p:nvSpPr>
          <p:cNvPr id="70662" name="Rectangle 12"/>
          <p:cNvSpPr>
            <a:spLocks noChangeArrowheads="1"/>
          </p:cNvSpPr>
          <p:nvPr/>
        </p:nvSpPr>
        <p:spPr bwMode="auto">
          <a:xfrm>
            <a:off x="1150938" y="6553200"/>
            <a:ext cx="7383462" cy="304800"/>
          </a:xfrm>
          <a:prstGeom prst="rect">
            <a:avLst/>
          </a:prstGeom>
          <a:noFill/>
          <a:ln w="9525">
            <a:noFill/>
            <a:miter lim="800000"/>
          </a:ln>
        </p:spPr>
        <p:txBody>
          <a:bodyPr wrap="none" anchor="ctr">
            <a:spAutoFit/>
          </a:bodyPr>
          <a:lstStyle/>
          <a:p>
            <a:pPr indent="285750"/>
            <a:r>
              <a:rPr lang="zh-CN" altLang="en-US" sz="1400" b="1">
                <a:latin typeface="Times New Roman" panose="02020603050405020304" pitchFamily="18" charset="0"/>
              </a:rPr>
              <a:t>图</a:t>
            </a:r>
            <a:r>
              <a:rPr lang="en-US" altLang="zh-CN" sz="1400" b="1">
                <a:latin typeface="Times New Roman" panose="02020603050405020304" pitchFamily="18" charset="0"/>
              </a:rPr>
              <a:t>2-13 </a:t>
            </a:r>
            <a:r>
              <a:rPr lang="zh-CN" altLang="en-US" sz="1400" b="1">
                <a:latin typeface="Times New Roman" panose="02020603050405020304" pitchFamily="18" charset="0"/>
              </a:rPr>
              <a:t>用</a:t>
            </a:r>
            <a:r>
              <a:rPr lang="en-US" altLang="zh-CN" sz="1400" b="1">
                <a:latin typeface="Times New Roman" panose="02020603050405020304" pitchFamily="18" charset="0"/>
              </a:rPr>
              <a:t>net user</a:t>
            </a:r>
            <a:r>
              <a:rPr lang="zh-CN" altLang="en-US" sz="1400" b="1">
                <a:latin typeface="Times New Roman" panose="02020603050405020304" pitchFamily="18" charset="0"/>
              </a:rPr>
              <a:t>查看计算机上的用户列表                           图</a:t>
            </a:r>
            <a:r>
              <a:rPr lang="en-US" altLang="zh-CN" sz="1400" b="1">
                <a:latin typeface="Times New Roman" panose="02020603050405020304" pitchFamily="18" charset="0"/>
              </a:rPr>
              <a:t>2-14 </a:t>
            </a:r>
            <a:r>
              <a:rPr lang="zh-CN" altLang="en-US" sz="1400" b="1">
                <a:latin typeface="Times New Roman" panose="02020603050405020304" pitchFamily="18" charset="0"/>
              </a:rPr>
              <a:t>用</a:t>
            </a:r>
            <a:r>
              <a:rPr lang="en-US" altLang="zh-CN" sz="1400" b="1">
                <a:latin typeface="Times New Roman" panose="02020603050405020304" pitchFamily="18" charset="0"/>
              </a:rPr>
              <a:t>net user</a:t>
            </a:r>
            <a:r>
              <a:rPr lang="zh-CN" altLang="en-US" sz="1400" b="1">
                <a:latin typeface="Times New Roman" panose="02020603050405020304" pitchFamily="18" charset="0"/>
              </a:rPr>
              <a:t>修改用户密码</a:t>
            </a:r>
            <a:endParaRPr lang="zh-CN" altLang="en-US" sz="1400" b="1">
              <a:latin typeface="宋体" panose="02010600030101010101" pitchFamily="2" charset="-122"/>
            </a:endParaRPr>
          </a:p>
        </p:txBody>
      </p:sp>
      <p:pic>
        <p:nvPicPr>
          <p:cNvPr id="70663" name="Picture 13"/>
          <p:cNvPicPr>
            <a:picLocks noChangeAspect="1" noChangeArrowheads="1"/>
          </p:cNvPicPr>
          <p:nvPr/>
        </p:nvPicPr>
        <p:blipFill>
          <a:blip r:embed="rId3" cstate="print">
            <a:lum bright="-12000" contrast="24000"/>
          </a:blip>
          <a:srcRect/>
          <a:stretch>
            <a:fillRect/>
          </a:stretch>
        </p:blipFill>
        <p:spPr bwMode="auto">
          <a:xfrm>
            <a:off x="457200" y="3716338"/>
            <a:ext cx="4533900" cy="2841625"/>
          </a:xfrm>
          <a:prstGeom prst="rect">
            <a:avLst/>
          </a:prstGeom>
          <a:noFill/>
          <a:ln w="9525">
            <a:noFill/>
            <a:miter lim="800000"/>
            <a:headEnd/>
            <a:tailEnd/>
          </a:ln>
        </p:spPr>
      </p:pic>
      <p:sp>
        <p:nvSpPr>
          <p:cNvPr id="70664"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11188" y="1277938"/>
            <a:ext cx="7921625" cy="2223070"/>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zh-CN" altLang="en-US" sz="2400" b="1" smtClean="0"/>
              <a:t>                     </a:t>
            </a:r>
            <a:r>
              <a:rPr lang="zh-CN" altLang="en-US" sz="2400" b="1" smtClean="0">
                <a:solidFill>
                  <a:srgbClr val="CC0000"/>
                </a:solidFill>
              </a:rPr>
              <a:t>建立用户并添加到管理员组</a:t>
            </a:r>
            <a:r>
              <a:rPr lang="en-US" altLang="zh-CN" sz="2400" b="1" smtClean="0"/>
              <a:t>.</a:t>
            </a:r>
            <a:r>
              <a:rPr lang="zh-CN" altLang="en-US" sz="2400" b="1" smtClean="0"/>
              <a:t>      </a:t>
            </a:r>
          </a:p>
          <a:p>
            <a:pPr>
              <a:defRPr/>
            </a:pPr>
            <a:r>
              <a:rPr lang="zh-CN" altLang="en-US" sz="2400" b="1" smtClean="0"/>
              <a:t>    利用</a:t>
            </a:r>
            <a:r>
              <a:rPr lang="en-US" altLang="zh-CN" sz="2400" b="1" smtClean="0"/>
              <a:t>net </a:t>
            </a:r>
            <a:r>
              <a:rPr lang="zh-CN" altLang="en-US" sz="2400" b="1" smtClean="0"/>
              <a:t>命令</a:t>
            </a:r>
            <a:r>
              <a:rPr lang="zh-CN" altLang="en-US" sz="2400" b="1" smtClean="0">
                <a:solidFill>
                  <a:srgbClr val="990033"/>
                </a:solidFill>
              </a:rPr>
              <a:t>新建</a:t>
            </a:r>
            <a:r>
              <a:rPr lang="zh-CN" altLang="en-US" sz="2400" b="1" smtClean="0"/>
              <a:t>一个用户名为</a:t>
            </a:r>
            <a:r>
              <a:rPr lang="en-US" altLang="zh-CN" sz="2400" b="1" smtClean="0"/>
              <a:t>jack</a:t>
            </a:r>
            <a:r>
              <a:rPr lang="zh-CN" altLang="en-US" sz="2400" b="1" smtClean="0"/>
              <a:t>的用户</a:t>
            </a:r>
            <a:r>
              <a:rPr lang="en-US" altLang="zh-CN" sz="2400" b="1" smtClean="0"/>
              <a:t>,</a:t>
            </a:r>
            <a:r>
              <a:rPr lang="zh-CN" altLang="en-US" sz="2400" b="1" smtClean="0"/>
              <a:t>并将此用户</a:t>
            </a:r>
            <a:r>
              <a:rPr lang="zh-CN" altLang="en-US" sz="2400" b="1" smtClean="0">
                <a:solidFill>
                  <a:srgbClr val="990033"/>
                </a:solidFill>
              </a:rPr>
              <a:t>添加到</a:t>
            </a:r>
            <a:r>
              <a:rPr lang="zh-CN" altLang="en-US" sz="2400" b="1" smtClean="0"/>
              <a:t>密码为“</a:t>
            </a:r>
            <a:r>
              <a:rPr lang="en-US" altLang="zh-CN" sz="2400" b="1" smtClean="0"/>
              <a:t>123456”</a:t>
            </a:r>
            <a:r>
              <a:rPr lang="zh-CN" altLang="en-US" sz="2400" b="1" smtClean="0"/>
              <a:t>的管理员组。如图</a:t>
            </a:r>
            <a:r>
              <a:rPr lang="en-US" altLang="zh-CN" sz="2400" b="1" smtClean="0"/>
              <a:t>2-15</a:t>
            </a:r>
            <a:r>
              <a:rPr lang="zh-CN" altLang="en-US" sz="2400" b="1" smtClean="0"/>
              <a:t>。</a:t>
            </a:r>
          </a:p>
          <a:p>
            <a:pPr>
              <a:defRPr/>
            </a:pPr>
            <a:r>
              <a:rPr lang="zh-CN" altLang="en-US" sz="2000" b="1" smtClean="0">
                <a:latin typeface="Times New Roman" panose="02020603050405020304" pitchFamily="18" charset="0"/>
                <a:ea typeface="楷体_GB2312" panose="02010609030101010101" pitchFamily="49" charset="-122"/>
              </a:rPr>
              <a:t>案例名称：添加用户到管理员组</a:t>
            </a:r>
          </a:p>
          <a:p>
            <a:pPr>
              <a:defRPr/>
            </a:pPr>
            <a:r>
              <a:rPr lang="zh-CN" altLang="en-US" sz="2000" b="1" smtClean="0">
                <a:solidFill>
                  <a:schemeClr val="tx2"/>
                </a:solidFill>
                <a:latin typeface="Times New Roman" panose="02020603050405020304" pitchFamily="18" charset="0"/>
                <a:ea typeface="楷体_GB2312" panose="02010609030101010101" pitchFamily="49" charset="-122"/>
              </a:rPr>
              <a:t></a:t>
            </a:r>
            <a:r>
              <a:rPr lang="zh-CN" altLang="en-US" sz="2000" b="1" smtClean="0">
                <a:latin typeface="Times New Roman" panose="02020603050405020304" pitchFamily="18" charset="0"/>
                <a:ea typeface="楷体_GB2312" panose="02010609030101010101" pitchFamily="49" charset="-122"/>
              </a:rPr>
              <a:t>案例名称：添加用户到管理员组</a:t>
            </a:r>
          </a:p>
          <a:p>
            <a:pPr>
              <a:defRPr/>
            </a:pPr>
            <a:r>
              <a:rPr lang="zh-CN" altLang="en-US" sz="2000" b="1" smtClean="0">
                <a:solidFill>
                  <a:schemeClr val="tx2"/>
                </a:solidFill>
                <a:latin typeface="Times New Roman" panose="02020603050405020304" pitchFamily="18" charset="0"/>
                <a:ea typeface="楷体_GB2312" panose="02010609030101010101" pitchFamily="49" charset="-122"/>
              </a:rPr>
              <a:t></a:t>
            </a:r>
            <a:r>
              <a:rPr lang="zh-CN" altLang="en-US" sz="2000" b="1" smtClean="0">
                <a:latin typeface="Times New Roman" panose="02020603050405020304" pitchFamily="18" charset="0"/>
                <a:ea typeface="楷体_GB2312" panose="02010609030101010101" pitchFamily="49" charset="-122"/>
              </a:rPr>
              <a:t>文件名称：2-4-1.bat</a:t>
            </a:r>
            <a:endParaRPr lang="zh-CN" altLang="en-US" sz="2000" b="1" smtClean="0">
              <a:solidFill>
                <a:srgbClr val="990033"/>
              </a:solidFill>
              <a:latin typeface="Times New Roman" panose="02020603050405020304" pitchFamily="18" charset="0"/>
              <a:ea typeface="楷体_GB2312" panose="02010609030101010101" pitchFamily="49" charset="-122"/>
            </a:endParaRPr>
          </a:p>
        </p:txBody>
      </p:sp>
      <p:sp>
        <p:nvSpPr>
          <p:cNvPr id="13" name="圆角矩形 12"/>
          <p:cNvSpPr/>
          <p:nvPr/>
        </p:nvSpPr>
        <p:spPr bwMode="gray">
          <a:xfrm>
            <a:off x="1317625" y="1277938"/>
            <a:ext cx="1143000" cy="512762"/>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2000" b="1" smtClean="0">
                <a:solidFill>
                  <a:srgbClr val="002060"/>
                </a:solidFill>
              </a:rPr>
              <a:t>案例</a:t>
            </a:r>
            <a:r>
              <a:rPr lang="en-US" altLang="zh-CN" sz="2000" b="1" smtClean="0">
                <a:solidFill>
                  <a:srgbClr val="002060"/>
                </a:solidFill>
              </a:rPr>
              <a:t>2-</a:t>
            </a:r>
            <a:r>
              <a:rPr lang="en-US" sz="2000" b="1" smtClean="0">
                <a:solidFill>
                  <a:srgbClr val="002060"/>
                </a:solidFill>
              </a:rPr>
              <a:t>7</a:t>
            </a:r>
          </a:p>
        </p:txBody>
      </p:sp>
      <p:sp>
        <p:nvSpPr>
          <p:cNvPr id="71683" name="Rectangle 10"/>
          <p:cNvSpPr>
            <a:spLocks noChangeArrowheads="1"/>
          </p:cNvSpPr>
          <p:nvPr/>
        </p:nvSpPr>
        <p:spPr bwMode="auto">
          <a:xfrm>
            <a:off x="0" y="2333625"/>
            <a:ext cx="9144000" cy="0"/>
          </a:xfrm>
          <a:prstGeom prst="rect">
            <a:avLst/>
          </a:prstGeom>
          <a:noFill/>
          <a:ln w="9525">
            <a:noFill/>
            <a:miter lim="800000"/>
          </a:ln>
        </p:spPr>
        <p:txBody>
          <a:bodyPr wrap="none" anchor="ctr">
            <a:spAutoFit/>
          </a:bodyPr>
          <a:lstStyle/>
          <a:p>
            <a:endParaRPr lang="zh-CN" altLang="en-US"/>
          </a:p>
        </p:txBody>
      </p:sp>
      <p:pic>
        <p:nvPicPr>
          <p:cNvPr id="71684" name="Picture 11"/>
          <p:cNvPicPr>
            <a:picLocks noChangeAspect="1" noChangeArrowheads="1"/>
          </p:cNvPicPr>
          <p:nvPr/>
        </p:nvPicPr>
        <p:blipFill>
          <a:blip r:embed="rId2" cstate="print">
            <a:lum bright="-18000" contrast="30000"/>
          </a:blip>
          <a:srcRect/>
          <a:stretch>
            <a:fillRect/>
          </a:stretch>
        </p:blipFill>
        <p:spPr bwMode="auto">
          <a:xfrm>
            <a:off x="2419350" y="3676650"/>
            <a:ext cx="4378325" cy="2538413"/>
          </a:xfrm>
          <a:prstGeom prst="rect">
            <a:avLst/>
          </a:prstGeom>
          <a:noFill/>
          <a:ln w="9525">
            <a:noFill/>
            <a:miter lim="800000"/>
            <a:headEnd/>
            <a:tailEnd/>
          </a:ln>
        </p:spPr>
      </p:pic>
      <p:sp>
        <p:nvSpPr>
          <p:cNvPr id="71685" name="Rectangle 12"/>
          <p:cNvSpPr>
            <a:spLocks noChangeArrowheads="1"/>
          </p:cNvSpPr>
          <p:nvPr/>
        </p:nvSpPr>
        <p:spPr bwMode="auto">
          <a:xfrm>
            <a:off x="3530600" y="6216650"/>
            <a:ext cx="2344738" cy="304800"/>
          </a:xfrm>
          <a:prstGeom prst="rect">
            <a:avLst/>
          </a:prstGeom>
          <a:noFill/>
          <a:ln w="9525">
            <a:noFill/>
            <a:miter lim="800000"/>
          </a:ln>
        </p:spPr>
        <p:txBody>
          <a:bodyPr wrap="none" anchor="ctr">
            <a:spAutoFit/>
          </a:bodyPr>
          <a:lstStyle/>
          <a:p>
            <a:pPr algn="ctr"/>
            <a:r>
              <a:rPr lang="zh-CN" altLang="en-US" sz="1400" b="1">
                <a:solidFill>
                  <a:srgbClr val="C00000"/>
                </a:solidFill>
                <a:latin typeface="Times New Roman" panose="02020603050405020304" pitchFamily="18" charset="0"/>
              </a:rPr>
              <a:t>图</a:t>
            </a:r>
            <a:r>
              <a:rPr lang="en-US" altLang="zh-CN" sz="1400" b="1">
                <a:solidFill>
                  <a:srgbClr val="C00000"/>
                </a:solidFill>
                <a:latin typeface="Times New Roman" panose="02020603050405020304" pitchFamily="18" charset="0"/>
              </a:rPr>
              <a:t>2-15 </a:t>
            </a:r>
            <a:r>
              <a:rPr lang="zh-CN" altLang="en-US" sz="1400" b="1">
                <a:solidFill>
                  <a:srgbClr val="C00000"/>
                </a:solidFill>
                <a:latin typeface="Times New Roman" panose="02020603050405020304" pitchFamily="18" charset="0"/>
              </a:rPr>
              <a:t>添加用户到管理员组</a:t>
            </a:r>
          </a:p>
        </p:txBody>
      </p:sp>
      <p:sp>
        <p:nvSpPr>
          <p:cNvPr id="71686"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792163" y="1233488"/>
            <a:ext cx="7777162" cy="2208212"/>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5pPr>
          </a:lstStyle>
          <a:p>
            <a:pPr eaLnBrk="1" hangingPunct="1">
              <a:defRPr/>
            </a:pPr>
            <a:r>
              <a:rPr lang="zh-CN" altLang="en-US" sz="2000" b="1" noProof="1">
                <a:solidFill>
                  <a:srgbClr val="CC0000"/>
                </a:solidFill>
                <a:latin typeface="Times New Roman" panose="02020603050405020304" pitchFamily="18" charset="0"/>
              </a:rPr>
              <a:t>                            </a:t>
            </a:r>
            <a:r>
              <a:rPr lang="zh-CN" altLang="en-US" b="1" noProof="1">
                <a:solidFill>
                  <a:srgbClr val="C00000"/>
                </a:solidFill>
                <a:latin typeface="Times New Roman" panose="02020603050405020304" pitchFamily="18" charset="0"/>
              </a:rPr>
              <a:t>与对方计算机建立信任连接</a:t>
            </a:r>
            <a:r>
              <a:rPr lang="zh-CN" altLang="en-US" b="1" noProof="1">
                <a:solidFill>
                  <a:srgbClr val="29698D"/>
                </a:solidFill>
                <a:latin typeface="Times New Roman" panose="02020603050405020304" pitchFamily="18" charset="0"/>
              </a:rPr>
              <a:t>。</a:t>
            </a:r>
          </a:p>
          <a:p>
            <a:pPr eaLnBrk="1" hangingPunct="1">
              <a:defRPr/>
            </a:pPr>
            <a:r>
              <a:rPr lang="en-US" altLang="zh-CN" b="1" noProof="1">
                <a:solidFill>
                  <a:srgbClr val="29698D"/>
                </a:solidFill>
                <a:latin typeface="Times New Roman" panose="02020603050405020304" pitchFamily="18" charset="0"/>
              </a:rPr>
              <a:t>   </a:t>
            </a:r>
            <a:r>
              <a:rPr lang="zh-CN" altLang="en-US" b="1" noProof="1">
                <a:solidFill>
                  <a:srgbClr val="29698D"/>
                </a:solidFill>
                <a:latin typeface="Times New Roman" panose="02020603050405020304" pitchFamily="18" charset="0"/>
              </a:rPr>
              <a:t>拥有某主机的用户名和密码，就可用 </a:t>
            </a:r>
            <a:r>
              <a:rPr lang="en-US" altLang="zh-CN" b="1" noProof="1">
                <a:solidFill>
                  <a:srgbClr val="29698D"/>
                </a:solidFill>
                <a:latin typeface="Times New Roman" panose="02020603050405020304" pitchFamily="18" charset="0"/>
              </a:rPr>
              <a:t>IPC$</a:t>
            </a:r>
            <a:r>
              <a:rPr lang="zh-CN" altLang="en-US" b="1" noProof="1">
                <a:solidFill>
                  <a:srgbClr val="29698D"/>
                </a:solidFill>
                <a:latin typeface="Times New Roman" panose="02020603050405020304" pitchFamily="18" charset="0"/>
              </a:rPr>
              <a:t>（</a:t>
            </a:r>
            <a:r>
              <a:rPr lang="en-US" altLang="zh-CN" b="1" noProof="1">
                <a:solidFill>
                  <a:srgbClr val="29698D"/>
                </a:solidFill>
                <a:latin typeface="Times New Roman" panose="02020603050405020304" pitchFamily="18" charset="0"/>
              </a:rPr>
              <a:t>Internet Protocol Control</a:t>
            </a:r>
            <a:r>
              <a:rPr lang="zh-CN" altLang="en-US" b="1" noProof="1">
                <a:solidFill>
                  <a:srgbClr val="29698D"/>
                </a:solidFill>
                <a:latin typeface="Times New Roman" panose="02020603050405020304" pitchFamily="18" charset="0"/>
              </a:rPr>
              <a:t>）与该主机建立信任连接，之后便可在命令行下完全控制对方。</a:t>
            </a:r>
          </a:p>
          <a:p>
            <a:pPr eaLnBrk="1" hangingPunct="1">
              <a:defRPr/>
            </a:pPr>
            <a:r>
              <a:rPr lang="en-US" altLang="zh-CN" b="1" noProof="1">
                <a:solidFill>
                  <a:srgbClr val="29698D"/>
                </a:solidFill>
                <a:latin typeface="Times New Roman" panose="02020603050405020304" pitchFamily="18" charset="0"/>
              </a:rPr>
              <a:t>   </a:t>
            </a:r>
            <a:r>
              <a:rPr lang="zh-CN" altLang="en-US" b="1" noProof="1">
                <a:solidFill>
                  <a:srgbClr val="29698D"/>
                </a:solidFill>
                <a:latin typeface="Times New Roman" panose="02020603050405020304" pitchFamily="18" charset="0"/>
              </a:rPr>
              <a:t>得到</a:t>
            </a:r>
            <a:r>
              <a:rPr lang="en-US" altLang="zh-CN" b="1" noProof="1">
                <a:solidFill>
                  <a:srgbClr val="29698D"/>
                </a:solidFill>
                <a:latin typeface="Times New Roman" panose="02020603050405020304" pitchFamily="18" charset="0"/>
              </a:rPr>
              <a:t>IP</a:t>
            </a:r>
            <a:r>
              <a:rPr lang="zh-CN" altLang="en-US" b="1" noProof="1">
                <a:solidFill>
                  <a:srgbClr val="29698D"/>
                </a:solidFill>
                <a:latin typeface="Times New Roman" panose="02020603050405020304" pitchFamily="18" charset="0"/>
              </a:rPr>
              <a:t>为</a:t>
            </a:r>
            <a:r>
              <a:rPr lang="en-US" altLang="zh-CN" b="1" noProof="1">
                <a:solidFill>
                  <a:srgbClr val="29698D"/>
                </a:solidFill>
                <a:latin typeface="Times New Roman" panose="02020603050405020304" pitchFamily="18" charset="0"/>
              </a:rPr>
              <a:t>172.18.25.109</a:t>
            </a:r>
            <a:r>
              <a:rPr lang="zh-CN" altLang="en-US" b="1" noProof="1">
                <a:solidFill>
                  <a:srgbClr val="29698D"/>
                </a:solidFill>
                <a:latin typeface="Times New Roman" panose="02020603050405020304" pitchFamily="18" charset="0"/>
              </a:rPr>
              <a:t>主机的管理员密码为</a:t>
            </a:r>
            <a:r>
              <a:rPr lang="en-US" altLang="zh-CN" b="1" noProof="1">
                <a:solidFill>
                  <a:srgbClr val="29698D"/>
                </a:solidFill>
                <a:latin typeface="Times New Roman" panose="02020603050405020304" pitchFamily="18" charset="0"/>
              </a:rPr>
              <a:t>123456</a:t>
            </a:r>
            <a:r>
              <a:rPr lang="zh-CN" altLang="en-US" b="1" noProof="1">
                <a:solidFill>
                  <a:srgbClr val="29698D"/>
                </a:solidFill>
                <a:latin typeface="Times New Roman" panose="02020603050405020304" pitchFamily="18" charset="0"/>
              </a:rPr>
              <a:t>可利用命令 </a:t>
            </a:r>
            <a:r>
              <a:rPr lang="en-US" altLang="zh-CN" b="1" noProof="1">
                <a:solidFill>
                  <a:srgbClr val="29698D"/>
                </a:solidFill>
                <a:latin typeface="Times New Roman" panose="02020603050405020304" pitchFamily="18" charset="0"/>
              </a:rPr>
              <a:t>net use \\172.18.25.109\ipc$ 123456 /user: administrator</a:t>
            </a:r>
            <a:r>
              <a:rPr lang="zh-CN" altLang="en-US" b="1" noProof="1">
                <a:solidFill>
                  <a:srgbClr val="29698D"/>
                </a:solidFill>
                <a:latin typeface="Times New Roman" panose="02020603050405020304" pitchFamily="18" charset="0"/>
              </a:rPr>
              <a:t>，如图</a:t>
            </a:r>
            <a:r>
              <a:rPr lang="en-US" altLang="zh-CN" b="1" noProof="1">
                <a:solidFill>
                  <a:srgbClr val="29698D"/>
                </a:solidFill>
                <a:latin typeface="Times New Roman" panose="02020603050405020304" pitchFamily="18" charset="0"/>
              </a:rPr>
              <a:t>2-16</a:t>
            </a:r>
            <a:r>
              <a:rPr lang="zh-CN" altLang="en-US" b="1" noProof="1">
                <a:solidFill>
                  <a:srgbClr val="29698D"/>
                </a:solidFill>
                <a:latin typeface="Times New Roman" panose="02020603050405020304" pitchFamily="18" charset="0"/>
              </a:rPr>
              <a:t>所示。</a:t>
            </a:r>
          </a:p>
          <a:p>
            <a:pPr eaLnBrk="1" hangingPunct="1">
              <a:defRPr/>
            </a:pPr>
            <a:r>
              <a:rPr lang="en-US" altLang="zh-CN" b="1" noProof="1">
                <a:solidFill>
                  <a:srgbClr val="29698D"/>
                </a:solidFill>
                <a:latin typeface="Times New Roman" panose="02020603050405020304" pitchFamily="18" charset="0"/>
              </a:rPr>
              <a:t></a:t>
            </a:r>
            <a:r>
              <a:rPr lang="zh-CN" altLang="en-US" b="1" noProof="1">
                <a:solidFill>
                  <a:srgbClr val="29698D"/>
                </a:solidFill>
                <a:latin typeface="Times New Roman" panose="02020603050405020304" pitchFamily="18" charset="0"/>
              </a:rPr>
              <a:t>建立连接以后，便可以通过网络操作对方的计算机，如查看对方计算机上的文件，如图</a:t>
            </a:r>
            <a:r>
              <a:rPr lang="en-US" altLang="zh-CN" b="1" noProof="1">
                <a:solidFill>
                  <a:srgbClr val="29698D"/>
                </a:solidFill>
                <a:latin typeface="Times New Roman" panose="02020603050405020304" pitchFamily="18" charset="0"/>
              </a:rPr>
              <a:t>2-17</a:t>
            </a:r>
            <a:r>
              <a:rPr lang="zh-CN" altLang="en-US" b="1" noProof="1">
                <a:solidFill>
                  <a:srgbClr val="29698D"/>
                </a:solidFill>
                <a:latin typeface="Times New Roman" panose="02020603050405020304" pitchFamily="18" charset="0"/>
              </a:rPr>
              <a:t>所示。</a:t>
            </a:r>
          </a:p>
        </p:txBody>
      </p:sp>
      <p:pic>
        <p:nvPicPr>
          <p:cNvPr id="72707" name="Picture 5"/>
          <p:cNvPicPr>
            <a:picLocks noChangeAspect="1" noChangeArrowheads="1"/>
          </p:cNvPicPr>
          <p:nvPr/>
        </p:nvPicPr>
        <p:blipFill>
          <a:blip r:embed="rId2" cstate="print">
            <a:lum bright="-6000" contrast="12000"/>
          </a:blip>
          <a:srcRect/>
          <a:stretch>
            <a:fillRect/>
          </a:stretch>
        </p:blipFill>
        <p:spPr bwMode="auto">
          <a:xfrm>
            <a:off x="549275" y="3789363"/>
            <a:ext cx="4202113" cy="2366962"/>
          </a:xfrm>
          <a:prstGeom prst="rect">
            <a:avLst/>
          </a:prstGeom>
          <a:noFill/>
          <a:ln w="9525">
            <a:noFill/>
            <a:miter lim="800000"/>
            <a:headEnd/>
            <a:tailEnd/>
          </a:ln>
        </p:spPr>
      </p:pic>
      <p:pic>
        <p:nvPicPr>
          <p:cNvPr id="72708" name="Picture 6"/>
          <p:cNvPicPr>
            <a:picLocks noChangeAspect="1" noChangeArrowheads="1"/>
          </p:cNvPicPr>
          <p:nvPr/>
        </p:nvPicPr>
        <p:blipFill>
          <a:blip r:embed="rId3" cstate="print"/>
          <a:srcRect/>
          <a:stretch>
            <a:fillRect/>
          </a:stretch>
        </p:blipFill>
        <p:spPr bwMode="auto">
          <a:xfrm>
            <a:off x="4679950" y="3541713"/>
            <a:ext cx="4284663" cy="2822575"/>
          </a:xfrm>
          <a:prstGeom prst="rect">
            <a:avLst/>
          </a:prstGeom>
          <a:noFill/>
          <a:ln w="9525">
            <a:noFill/>
            <a:miter lim="800000"/>
            <a:headEnd/>
            <a:tailEnd/>
          </a:ln>
        </p:spPr>
      </p:pic>
      <p:sp>
        <p:nvSpPr>
          <p:cNvPr id="72709" name="Rectangle 7"/>
          <p:cNvSpPr>
            <a:spLocks noChangeArrowheads="1"/>
          </p:cNvSpPr>
          <p:nvPr/>
        </p:nvSpPr>
        <p:spPr bwMode="auto">
          <a:xfrm>
            <a:off x="0" y="2159000"/>
            <a:ext cx="9144000" cy="0"/>
          </a:xfrm>
          <a:prstGeom prst="rect">
            <a:avLst/>
          </a:prstGeom>
          <a:noFill/>
          <a:ln w="9525">
            <a:noFill/>
            <a:miter lim="800000"/>
          </a:ln>
        </p:spPr>
        <p:txBody>
          <a:bodyPr wrap="none" anchor="ctr">
            <a:spAutoFit/>
          </a:bodyPr>
          <a:lstStyle/>
          <a:p>
            <a:endParaRPr lang="zh-CN" altLang="en-US"/>
          </a:p>
        </p:txBody>
      </p:sp>
      <p:sp>
        <p:nvSpPr>
          <p:cNvPr id="72710" name="Rectangle 8"/>
          <p:cNvSpPr>
            <a:spLocks noChangeArrowheads="1"/>
          </p:cNvSpPr>
          <p:nvPr/>
        </p:nvSpPr>
        <p:spPr bwMode="auto">
          <a:xfrm>
            <a:off x="4464050" y="3197225"/>
            <a:ext cx="215900" cy="244475"/>
          </a:xfrm>
          <a:prstGeom prst="rect">
            <a:avLst/>
          </a:prstGeom>
          <a:noFill/>
          <a:ln w="9525">
            <a:noFill/>
            <a:miter lim="800000"/>
          </a:ln>
        </p:spPr>
        <p:txBody>
          <a:bodyPr wrap="none" anchor="ctr">
            <a:spAutoFit/>
          </a:bodyPr>
          <a:lstStyle/>
          <a:p>
            <a:pPr algn="ctr"/>
            <a:r>
              <a:rPr lang="zh-CN" altLang="en-US" sz="1000">
                <a:latin typeface="Times New Roman" panose="02020603050405020304" pitchFamily="18" charset="0"/>
              </a:rPr>
              <a:t> </a:t>
            </a:r>
            <a:endParaRPr lang="zh-CN" altLang="en-US">
              <a:latin typeface="宋体" panose="02010600030101010101" pitchFamily="2" charset="-122"/>
            </a:endParaRPr>
          </a:p>
        </p:txBody>
      </p:sp>
      <p:sp>
        <p:nvSpPr>
          <p:cNvPr id="72711" name="Rectangle 9"/>
          <p:cNvSpPr>
            <a:spLocks noChangeArrowheads="1"/>
          </p:cNvSpPr>
          <p:nvPr/>
        </p:nvSpPr>
        <p:spPr bwMode="auto">
          <a:xfrm>
            <a:off x="1187450" y="6453188"/>
            <a:ext cx="6821488" cy="304800"/>
          </a:xfrm>
          <a:prstGeom prst="rect">
            <a:avLst/>
          </a:prstGeom>
          <a:noFill/>
          <a:ln w="9525">
            <a:noFill/>
            <a:miter lim="800000"/>
          </a:ln>
        </p:spPr>
        <p:txBody>
          <a:bodyPr wrap="none" anchor="ctr">
            <a:spAutoFit/>
          </a:bodyPr>
          <a:lstStyle/>
          <a:p>
            <a:r>
              <a:rPr lang="zh-CN" altLang="en-US" sz="1400" b="1">
                <a:latin typeface="Times New Roman" panose="02020603050405020304" pitchFamily="18" charset="0"/>
              </a:rPr>
              <a:t>图</a:t>
            </a:r>
            <a:r>
              <a:rPr lang="en-US" altLang="zh-CN" sz="1400" b="1">
                <a:latin typeface="Times New Roman" panose="02020603050405020304" pitchFamily="18" charset="0"/>
              </a:rPr>
              <a:t>2-16 </a:t>
            </a:r>
            <a:r>
              <a:rPr lang="zh-CN" altLang="en-US" sz="1400" b="1">
                <a:latin typeface="Times New Roman" panose="02020603050405020304" pitchFamily="18" charset="0"/>
              </a:rPr>
              <a:t>与对方计算机建立信任连接                                    图</a:t>
            </a:r>
            <a:r>
              <a:rPr lang="en-US" altLang="zh-CN" sz="1400" b="1">
                <a:latin typeface="Times New Roman" panose="02020603050405020304" pitchFamily="18" charset="0"/>
              </a:rPr>
              <a:t>2-17 </a:t>
            </a:r>
            <a:r>
              <a:rPr lang="zh-CN" altLang="en-US" sz="1400" b="1">
                <a:latin typeface="Times New Roman" panose="02020603050405020304" pitchFamily="18" charset="0"/>
              </a:rPr>
              <a:t>查看对方计算机的文件</a:t>
            </a:r>
            <a:endParaRPr lang="zh-CN" altLang="en-US" sz="1400" b="1">
              <a:latin typeface="宋体" panose="02010600030101010101" pitchFamily="2" charset="-122"/>
            </a:endParaRPr>
          </a:p>
        </p:txBody>
      </p:sp>
      <p:sp>
        <p:nvSpPr>
          <p:cNvPr id="13" name="圆角矩形 12"/>
          <p:cNvSpPr/>
          <p:nvPr/>
        </p:nvSpPr>
        <p:spPr bwMode="gray">
          <a:xfrm>
            <a:off x="1582738" y="1185863"/>
            <a:ext cx="1081087" cy="407987"/>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1600" b="1" smtClean="0">
                <a:solidFill>
                  <a:srgbClr val="002060"/>
                </a:solidFill>
              </a:rPr>
              <a:t>案例</a:t>
            </a:r>
            <a:r>
              <a:rPr lang="en-US" altLang="zh-CN" sz="1600" b="1" smtClean="0">
                <a:solidFill>
                  <a:srgbClr val="002060"/>
                </a:solidFill>
              </a:rPr>
              <a:t>2-8</a:t>
            </a:r>
            <a:endParaRPr lang="zh-CN" altLang="en-US" sz="1600" b="1" smtClean="0">
              <a:solidFill>
                <a:srgbClr val="002060"/>
              </a:solidFill>
            </a:endParaRPr>
          </a:p>
        </p:txBody>
      </p:sp>
      <p:sp>
        <p:nvSpPr>
          <p:cNvPr id="72713" name="椭圆 11"/>
          <p:cNvSpPr>
            <a:spLocks noChangeArrowheads="1"/>
          </p:cNvSpPr>
          <p:nvPr/>
        </p:nvSpPr>
        <p:spPr bwMode="auto">
          <a:xfrm>
            <a:off x="2259013" y="4265613"/>
            <a:ext cx="325437" cy="461962"/>
          </a:xfrm>
          <a:prstGeom prst="ellipse">
            <a:avLst/>
          </a:prstGeom>
          <a:noFill/>
          <a:ln w="12700">
            <a:solidFill>
              <a:srgbClr val="FF0000"/>
            </a:solidFill>
            <a:round/>
          </a:ln>
        </p:spPr>
        <p:txBody>
          <a:bodyPr wrap="none" anchor="ctr"/>
          <a:lstStyle/>
          <a:p>
            <a:pPr algn="dist">
              <a:spcBef>
                <a:spcPct val="20000"/>
              </a:spcBef>
            </a:pPr>
            <a:endParaRPr lang="zh-CN" altLang="en-US" sz="2400">
              <a:solidFill>
                <a:schemeClr val="tx2"/>
              </a:solidFill>
            </a:endParaRPr>
          </a:p>
        </p:txBody>
      </p:sp>
      <p:sp>
        <p:nvSpPr>
          <p:cNvPr id="72714"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395288" y="1196975"/>
            <a:ext cx="8040687" cy="3322638"/>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709613" y="2724150"/>
            <a:ext cx="7524750" cy="3917950"/>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zh-CN" altLang="en-US" b="1" dirty="0" smtClean="0"/>
              <a:t>                            </a:t>
            </a:r>
            <a:r>
              <a:rPr lang="zh-CN" altLang="en-US" sz="2400" b="1" dirty="0" smtClean="0">
                <a:solidFill>
                  <a:srgbClr val="CC0000"/>
                </a:solidFill>
              </a:rPr>
              <a:t>案例名称：创建定时器</a:t>
            </a:r>
          </a:p>
          <a:p>
            <a:pPr>
              <a:defRPr/>
            </a:pPr>
            <a:r>
              <a:rPr lang="zh-CN" altLang="en-US" sz="2400" b="1" dirty="0" smtClean="0"/>
              <a:t>    在</a:t>
            </a:r>
            <a:r>
              <a:rPr lang="zh-CN" altLang="en-US" sz="2400" b="1" dirty="0" smtClean="0">
                <a:solidFill>
                  <a:srgbClr val="990033"/>
                </a:solidFill>
              </a:rPr>
              <a:t>得知</a:t>
            </a:r>
            <a:r>
              <a:rPr lang="zh-CN" altLang="en-US" sz="2400" b="1" dirty="0" smtClean="0"/>
              <a:t>对方系统管理员的密码为</a:t>
            </a:r>
            <a:r>
              <a:rPr lang="en-US" altLang="zh-CN" sz="2400" b="1" dirty="0" smtClean="0"/>
              <a:t>123456</a:t>
            </a:r>
            <a:r>
              <a:rPr lang="zh-CN" altLang="en-US" sz="2400" b="1" dirty="0" smtClean="0"/>
              <a:t>，并与对方</a:t>
            </a:r>
            <a:r>
              <a:rPr lang="zh-CN" altLang="en-US" sz="2400" b="1" dirty="0" smtClean="0">
                <a:solidFill>
                  <a:srgbClr val="990033"/>
                </a:solidFill>
              </a:rPr>
              <a:t>建立信任连接以后</a:t>
            </a:r>
            <a:r>
              <a:rPr lang="zh-CN" altLang="en-US" sz="2400" b="1" dirty="0" smtClean="0"/>
              <a:t>，在对方主机</a:t>
            </a:r>
            <a:r>
              <a:rPr lang="zh-CN" altLang="en-US" sz="2400" b="1" dirty="0" smtClean="0">
                <a:solidFill>
                  <a:srgbClr val="990033"/>
                </a:solidFill>
              </a:rPr>
              <a:t>建立一个任务</a:t>
            </a:r>
            <a:r>
              <a:rPr lang="zh-CN" altLang="en-US" sz="2400" b="1" dirty="0" smtClean="0"/>
              <a:t>。执行结果如图</a:t>
            </a:r>
            <a:r>
              <a:rPr lang="en-US" altLang="zh-CN" sz="2400" b="1" dirty="0" smtClean="0"/>
              <a:t>2-16</a:t>
            </a:r>
            <a:r>
              <a:rPr lang="zh-CN" altLang="en-US" sz="2400" b="1" dirty="0" smtClean="0"/>
              <a:t>所示。</a:t>
            </a:r>
          </a:p>
          <a:p>
            <a:pPr lvl="1">
              <a:defRPr/>
            </a:pPr>
            <a:r>
              <a:rPr lang="zh-CN" altLang="en-US" sz="2400" b="1" dirty="0" smtClean="0">
                <a:latin typeface="Times New Roman" panose="02020603050405020304" pitchFamily="18" charset="0"/>
                <a:ea typeface="楷体_GB2312" panose="02010609030101010101" pitchFamily="49" charset="-122"/>
              </a:rPr>
              <a:t>文件名称：</a:t>
            </a:r>
            <a:r>
              <a:rPr lang="en-US" altLang="zh-CN" sz="2400" b="1" dirty="0" smtClean="0">
                <a:latin typeface="Times New Roman" panose="02020603050405020304" pitchFamily="18" charset="0"/>
                <a:ea typeface="楷体_GB2312" panose="02010609030101010101" pitchFamily="49" charset="-122"/>
              </a:rPr>
              <a:t>2-4-2.bat</a:t>
            </a:r>
          </a:p>
          <a:p>
            <a:pPr lvl="1">
              <a:defRPr/>
            </a:pPr>
            <a:r>
              <a:rPr lang="en-US" altLang="zh-CN" sz="2400" b="1" dirty="0" smtClean="0">
                <a:latin typeface="Times New Roman" panose="02020603050405020304" pitchFamily="18" charset="0"/>
                <a:ea typeface="楷体_GB2312" panose="02010609030101010101" pitchFamily="49" charset="-122"/>
              </a:rPr>
              <a:t>net use * /del</a:t>
            </a:r>
          </a:p>
          <a:p>
            <a:pPr lvl="1">
              <a:defRPr/>
            </a:pPr>
            <a:r>
              <a:rPr lang="en-US" altLang="zh-CN" sz="2400" b="1" dirty="0" smtClean="0">
                <a:latin typeface="Times New Roman" panose="02020603050405020304" pitchFamily="18" charset="0"/>
                <a:ea typeface="楷体_GB2312" panose="02010609030101010101" pitchFamily="49" charset="-122"/>
              </a:rPr>
              <a:t>net </a:t>
            </a:r>
            <a:r>
              <a:rPr lang="en-US" altLang="zh-CN" sz="2200" b="1" dirty="0" smtClean="0">
                <a:latin typeface="Times New Roman" panose="02020603050405020304" pitchFamily="18" charset="0"/>
                <a:ea typeface="楷体_GB2312" panose="02010609030101010101" pitchFamily="49" charset="-122"/>
              </a:rPr>
              <a:t>use\\172.18.25.109\ipc$123456/</a:t>
            </a:r>
            <a:r>
              <a:rPr lang="en-US" altLang="zh-CN" sz="2200" b="1" dirty="0" err="1" smtClean="0">
                <a:latin typeface="Times New Roman" panose="02020603050405020304" pitchFamily="18" charset="0"/>
                <a:ea typeface="楷体_GB2312" panose="02010609030101010101" pitchFamily="49" charset="-122"/>
              </a:rPr>
              <a:t>user:administrator</a:t>
            </a:r>
            <a:endParaRPr lang="en-US" altLang="zh-CN" sz="2200" b="1" dirty="0" smtClean="0">
              <a:latin typeface="Times New Roman" panose="02020603050405020304" pitchFamily="18" charset="0"/>
              <a:ea typeface="楷体_GB2312" panose="02010609030101010101" pitchFamily="49" charset="-122"/>
            </a:endParaRPr>
          </a:p>
          <a:p>
            <a:pPr lvl="1">
              <a:defRPr/>
            </a:pPr>
            <a:r>
              <a:rPr lang="en-US" altLang="zh-CN" sz="2400" b="1" dirty="0" smtClean="0">
                <a:latin typeface="Times New Roman" panose="02020603050405020304" pitchFamily="18" charset="0"/>
                <a:ea typeface="楷体_GB2312" panose="02010609030101010101" pitchFamily="49" charset="-122"/>
              </a:rPr>
              <a:t>net time \\172.18.25.109</a:t>
            </a:r>
          </a:p>
          <a:p>
            <a:pPr lvl="1">
              <a:defRPr/>
            </a:pPr>
            <a:r>
              <a:rPr lang="en-US" altLang="zh-CN" sz="2400" b="1" dirty="0" smtClean="0">
                <a:solidFill>
                  <a:srgbClr val="990033"/>
                </a:solidFill>
                <a:latin typeface="Times New Roman" panose="02020603050405020304" pitchFamily="18" charset="0"/>
                <a:ea typeface="楷体_GB2312" panose="02010609030101010101" pitchFamily="49" charset="-122"/>
              </a:rPr>
              <a:t>at</a:t>
            </a:r>
            <a:r>
              <a:rPr lang="en-US" altLang="zh-CN" sz="2400" b="1" dirty="0" smtClean="0">
                <a:latin typeface="Times New Roman" panose="02020603050405020304" pitchFamily="18" charset="0"/>
                <a:ea typeface="楷体_GB2312" panose="02010609030101010101" pitchFamily="49" charset="-122"/>
              </a:rPr>
              <a:t> 8:40 notepad.exe</a:t>
            </a:r>
          </a:p>
          <a:p>
            <a:pPr lvl="1">
              <a:defRPr/>
            </a:pPr>
            <a:r>
              <a:rPr lang="en-US" altLang="zh-CN" sz="2400" b="1" dirty="0" smtClean="0">
                <a:latin typeface="Times New Roman" panose="02020603050405020304" pitchFamily="18" charset="0"/>
                <a:ea typeface="楷体_GB2312" panose="02010609030101010101" pitchFamily="49" charset="-122"/>
              </a:rPr>
              <a:t>net user jack 123456 /add</a:t>
            </a:r>
          </a:p>
        </p:txBody>
      </p:sp>
      <p:sp>
        <p:nvSpPr>
          <p:cNvPr id="73731" name="内容占位符 13"/>
          <p:cNvSpPr>
            <a:spLocks noChangeArrowheads="1"/>
          </p:cNvSpPr>
          <p:nvPr/>
        </p:nvSpPr>
        <p:spPr bwMode="auto">
          <a:xfrm>
            <a:off x="395288" y="1196975"/>
            <a:ext cx="8153400" cy="1403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73732" name="Rectangle 6"/>
          <p:cNvSpPr>
            <a:spLocks noChangeArrowheads="1"/>
          </p:cNvSpPr>
          <p:nvPr/>
        </p:nvSpPr>
        <p:spPr bwMode="auto">
          <a:xfrm>
            <a:off x="503238" y="870367"/>
            <a:ext cx="8245475" cy="1785104"/>
          </a:xfrm>
          <a:prstGeom prst="rect">
            <a:avLst/>
          </a:prstGeom>
          <a:noFill/>
          <a:ln w="9525">
            <a:noFill/>
            <a:miter lim="800000"/>
          </a:ln>
        </p:spPr>
        <p:txBody>
          <a:bodyPr anchor="ctr">
            <a:spAutoFit/>
          </a:bodyPr>
          <a:lstStyle/>
          <a:p>
            <a:r>
              <a:rPr lang="en-US" altLang="zh-CN" sz="2600" b="1" dirty="0">
                <a:solidFill>
                  <a:srgbClr val="FF0000"/>
                </a:solidFill>
                <a:latin typeface="宋体" panose="02010600030101010101" pitchFamily="2" charset="-122"/>
              </a:rPr>
              <a:t>2.4.5 </a:t>
            </a:r>
            <a:r>
              <a:rPr lang="zh-CN" altLang="en-US" sz="2600" b="1" dirty="0">
                <a:solidFill>
                  <a:srgbClr val="FF0000"/>
                </a:solidFill>
                <a:latin typeface="宋体" panose="02010600030101010101" pitchFamily="2" charset="-122"/>
              </a:rPr>
              <a:t>创建任务命令</a:t>
            </a:r>
            <a:r>
              <a:rPr lang="zh-CN" altLang="en-US" dirty="0"/>
              <a:t> </a:t>
            </a:r>
          </a:p>
          <a:p>
            <a:r>
              <a:rPr lang="zh-CN" altLang="en-US" sz="1200" b="1" dirty="0"/>
              <a:t>    </a:t>
            </a:r>
          </a:p>
          <a:p>
            <a:r>
              <a:rPr lang="zh-CN" altLang="en-US" sz="2400" b="1" dirty="0"/>
              <a:t>       主要</a:t>
            </a:r>
            <a:r>
              <a:rPr lang="zh-CN" altLang="en-US" sz="2400" b="1" dirty="0">
                <a:solidFill>
                  <a:srgbClr val="CC0000"/>
                </a:solidFill>
              </a:rPr>
              <a:t>利用</a:t>
            </a:r>
            <a:r>
              <a:rPr lang="en-US" altLang="zh-CN" sz="2400" b="1" dirty="0">
                <a:solidFill>
                  <a:schemeClr val="tx2"/>
                </a:solidFill>
              </a:rPr>
              <a:t>at</a:t>
            </a:r>
            <a:r>
              <a:rPr lang="zh-CN" altLang="en-US" sz="2400" b="1" dirty="0">
                <a:solidFill>
                  <a:schemeClr val="tx2"/>
                </a:solidFill>
              </a:rPr>
              <a:t>命令在与对方</a:t>
            </a:r>
            <a:r>
              <a:rPr lang="zh-CN" altLang="en-US" sz="2400" b="1" dirty="0">
                <a:solidFill>
                  <a:srgbClr val="C00000"/>
                </a:solidFill>
              </a:rPr>
              <a:t>建立信任连接</a:t>
            </a:r>
            <a:r>
              <a:rPr lang="zh-CN" altLang="en-US" sz="2400" b="1" dirty="0"/>
              <a:t>后</a:t>
            </a:r>
            <a:r>
              <a:rPr lang="en-US" altLang="zh-CN" sz="2400" b="1" dirty="0"/>
              <a:t>,</a:t>
            </a:r>
            <a:r>
              <a:rPr lang="zh-CN" altLang="en-US" sz="2400" b="1" dirty="0">
                <a:solidFill>
                  <a:srgbClr val="CC0000"/>
                </a:solidFill>
              </a:rPr>
              <a:t>创建一个计划任务</a:t>
            </a:r>
            <a:r>
              <a:rPr lang="en-US" altLang="zh-CN" sz="2400" b="1" dirty="0"/>
              <a:t>,   </a:t>
            </a:r>
            <a:r>
              <a:rPr lang="zh-CN" altLang="en-US" sz="2400" b="1" dirty="0"/>
              <a:t>并</a:t>
            </a:r>
            <a:r>
              <a:rPr lang="zh-CN" altLang="en-US" sz="2400" b="1" dirty="0">
                <a:solidFill>
                  <a:srgbClr val="CC0000"/>
                </a:solidFill>
              </a:rPr>
              <a:t>设置执行时间</a:t>
            </a:r>
            <a:r>
              <a:rPr lang="zh-CN" altLang="en-US" sz="2400" dirty="0" smtClean="0"/>
              <a:t>。</a:t>
            </a:r>
            <a:r>
              <a:rPr lang="en-US" altLang="zh-CN" sz="2400" dirty="0" smtClean="0"/>
              <a:t>【</a:t>
            </a:r>
            <a:r>
              <a:rPr lang="zh-CN" altLang="en-US" sz="2400" dirty="0">
                <a:solidFill>
                  <a:schemeClr val="tx2"/>
                </a:solidFill>
              </a:rPr>
              <a:t>注：在</a:t>
            </a:r>
            <a:r>
              <a:rPr lang="en-US" altLang="zh-CN" sz="2400" dirty="0" smtClean="0">
                <a:solidFill>
                  <a:schemeClr val="tx2"/>
                </a:solidFill>
              </a:rPr>
              <a:t>Win8</a:t>
            </a:r>
            <a:r>
              <a:rPr lang="zh-CN" altLang="en-US" sz="2400" dirty="0" smtClean="0">
                <a:solidFill>
                  <a:schemeClr val="tx2"/>
                </a:solidFill>
              </a:rPr>
              <a:t>后</a:t>
            </a:r>
            <a:r>
              <a:rPr lang="en-US" altLang="zh-CN" sz="2400" dirty="0" smtClean="0">
                <a:solidFill>
                  <a:schemeClr val="tx2"/>
                </a:solidFill>
              </a:rPr>
              <a:t>at </a:t>
            </a:r>
            <a:r>
              <a:rPr lang="zh-CN" altLang="en-US" sz="2400" dirty="0" smtClean="0">
                <a:solidFill>
                  <a:schemeClr val="tx2"/>
                </a:solidFill>
              </a:rPr>
              <a:t>命令已弃用，</a:t>
            </a:r>
            <a:r>
              <a:rPr lang="zh-CN" altLang="en-US" sz="2400" dirty="0">
                <a:solidFill>
                  <a:schemeClr val="tx2"/>
                </a:solidFill>
              </a:rPr>
              <a:t>而是使用功能强大的 </a:t>
            </a:r>
            <a:r>
              <a:rPr lang="en-US" altLang="zh-CN" sz="2400" dirty="0" err="1">
                <a:solidFill>
                  <a:srgbClr val="FF0000"/>
                </a:solidFill>
              </a:rPr>
              <a:t>schtasks</a:t>
            </a:r>
            <a:r>
              <a:rPr lang="en-US" altLang="zh-CN" sz="2400" dirty="0">
                <a:solidFill>
                  <a:schemeClr val="tx2"/>
                </a:solidFill>
              </a:rPr>
              <a:t> </a:t>
            </a:r>
            <a:r>
              <a:rPr lang="zh-CN" altLang="en-US" sz="2400" dirty="0">
                <a:solidFill>
                  <a:schemeClr val="tx2"/>
                </a:solidFill>
              </a:rPr>
              <a:t>命令</a:t>
            </a:r>
            <a:r>
              <a:rPr lang="en-US" altLang="zh-CN" sz="2400" dirty="0" smtClean="0"/>
              <a:t>】</a:t>
            </a:r>
            <a:endParaRPr lang="zh-CN" altLang="en-US" sz="2400" dirty="0"/>
          </a:p>
        </p:txBody>
      </p:sp>
      <p:sp>
        <p:nvSpPr>
          <p:cNvPr id="13" name="圆角矩形 12"/>
          <p:cNvSpPr/>
          <p:nvPr/>
        </p:nvSpPr>
        <p:spPr bwMode="gray">
          <a:xfrm>
            <a:off x="1692275" y="2492375"/>
            <a:ext cx="1082675" cy="39370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1600" b="1" smtClean="0">
                <a:solidFill>
                  <a:srgbClr val="002060"/>
                </a:solidFill>
              </a:rPr>
              <a:t>案例</a:t>
            </a:r>
            <a:r>
              <a:rPr lang="en-US" altLang="zh-CN" sz="1600" b="1" smtClean="0">
                <a:solidFill>
                  <a:srgbClr val="002060"/>
                </a:solidFill>
              </a:rPr>
              <a:t>2-10</a:t>
            </a:r>
            <a:endParaRPr lang="zh-CN" altLang="en-US" sz="1600" b="1" smtClean="0">
              <a:solidFill>
                <a:srgbClr val="002060"/>
              </a:solidFill>
            </a:endParaRPr>
          </a:p>
        </p:txBody>
      </p:sp>
      <p:sp>
        <p:nvSpPr>
          <p:cNvPr id="73734" name="椭圆 7"/>
          <p:cNvSpPr>
            <a:spLocks noChangeArrowheads="1"/>
          </p:cNvSpPr>
          <p:nvPr/>
        </p:nvSpPr>
        <p:spPr bwMode="auto">
          <a:xfrm>
            <a:off x="1476375" y="5486026"/>
            <a:ext cx="358775" cy="431800"/>
          </a:xfrm>
          <a:prstGeom prst="ellipse">
            <a:avLst/>
          </a:prstGeom>
          <a:noFill/>
          <a:ln w="12700">
            <a:solidFill>
              <a:srgbClr val="FF0000"/>
            </a:solidFill>
            <a:round/>
          </a:ln>
        </p:spPr>
        <p:txBody>
          <a:bodyPr wrap="none" anchor="ctr"/>
          <a:lstStyle/>
          <a:p>
            <a:pPr algn="dist">
              <a:spcBef>
                <a:spcPct val="20000"/>
              </a:spcBef>
            </a:pPr>
            <a:endParaRPr lang="zh-CN" altLang="en-US" sz="2400">
              <a:solidFill>
                <a:schemeClr val="tx2"/>
              </a:solidFill>
            </a:endParaRPr>
          </a:p>
        </p:txBody>
      </p:sp>
      <p:sp>
        <p:nvSpPr>
          <p:cNvPr id="73735"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内容占位符 13"/>
          <p:cNvSpPr>
            <a:spLocks noChangeArrowheads="1"/>
          </p:cNvSpPr>
          <p:nvPr/>
        </p:nvSpPr>
        <p:spPr bwMode="auto">
          <a:xfrm>
            <a:off x="395288" y="1196975"/>
            <a:ext cx="8153400" cy="447675"/>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74754" name="圆角矩形 18"/>
          <p:cNvSpPr>
            <a:spLocks noChangeArrowheads="1"/>
          </p:cNvSpPr>
          <p:nvPr/>
        </p:nvSpPr>
        <p:spPr bwMode="auto">
          <a:xfrm>
            <a:off x="1584325" y="5661025"/>
            <a:ext cx="5580063" cy="1008063"/>
          </a:xfrm>
          <a:prstGeom prst="roundRect">
            <a:avLst>
              <a:gd name="adj" fmla="val 16667"/>
            </a:avLst>
          </a:prstGeom>
          <a:solidFill>
            <a:srgbClr val="FFFF99"/>
          </a:solidFill>
          <a:ln w="25400">
            <a:solidFill>
              <a:schemeClr val="tx1"/>
            </a:solidFill>
            <a:round/>
          </a:ln>
        </p:spPr>
        <p:txBody>
          <a:bodyPr anchor="ctr"/>
          <a:lstStyle/>
          <a:p>
            <a:r>
              <a:rPr lang="zh-CN" altLang="en-US" sz="2000" b="1">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sz="2000" b="1">
                <a:solidFill>
                  <a:srgbClr val="FF0000"/>
                </a:solidFill>
                <a:latin typeface="黑体" panose="02010609060101010101" pitchFamily="49" charset="-122"/>
                <a:ea typeface="黑体" panose="02010609060101010101" pitchFamily="49" charset="-122"/>
              </a:rPr>
              <a:t>讨论思考：</a:t>
            </a:r>
          </a:p>
          <a:p>
            <a:r>
              <a:rPr lang="zh-CN" altLang="en-US" b="1">
                <a:latin typeface="楷体_GB2312" panose="02010609030101010101" pitchFamily="49" charset="-122"/>
                <a:ea typeface="楷体_GB2312" panose="02010609030101010101" pitchFamily="49" charset="-122"/>
              </a:rPr>
              <a:t>（</a:t>
            </a:r>
            <a:r>
              <a:rPr lang="en-US" altLang="zh-CN" b="1">
                <a:latin typeface="楷体_GB2312" panose="02010609030101010101" pitchFamily="49" charset="-122"/>
                <a:ea typeface="楷体_GB2312" panose="02010609030101010101" pitchFamily="49" charset="-122"/>
              </a:rPr>
              <a:t>1</a:t>
            </a:r>
            <a:r>
              <a:rPr lang="zh-CN" altLang="en-US" b="1">
                <a:latin typeface="楷体_GB2312" panose="02010609030101010101" pitchFamily="49" charset="-122"/>
                <a:ea typeface="楷体_GB2312" panose="02010609030101010101" pitchFamily="49" charset="-122"/>
              </a:rPr>
              <a:t>）网络安全管理常用的命令有哪几个？ </a:t>
            </a:r>
          </a:p>
          <a:p>
            <a:r>
              <a:rPr lang="zh-CN" altLang="en-US" b="1">
                <a:latin typeface="楷体_GB2312" panose="02010609030101010101" pitchFamily="49" charset="-122"/>
                <a:ea typeface="楷体_GB2312" panose="02010609030101010101" pitchFamily="49" charset="-122"/>
              </a:rPr>
              <a:t>（</a:t>
            </a:r>
            <a:r>
              <a:rPr lang="en-US" altLang="zh-CN" b="1">
                <a:latin typeface="楷体_GB2312" panose="02010609030101010101" pitchFamily="49" charset="-122"/>
                <a:ea typeface="楷体_GB2312" panose="02010609030101010101" pitchFamily="49" charset="-122"/>
              </a:rPr>
              <a:t>2</a:t>
            </a:r>
            <a:r>
              <a:rPr lang="zh-CN" altLang="en-US" b="1">
                <a:latin typeface="楷体_GB2312" panose="02010609030101010101" pitchFamily="49" charset="-122"/>
                <a:ea typeface="楷体_GB2312" panose="02010609030101010101" pitchFamily="49" charset="-122"/>
              </a:rPr>
              <a:t>）网络安全管理常用的命令格式怎样？</a:t>
            </a:r>
            <a:r>
              <a:rPr lang="zh-CN" altLang="en-US" b="1"/>
              <a:t> </a:t>
            </a:r>
            <a:endParaRPr lang="en-US" altLang="zh-CN" b="1"/>
          </a:p>
        </p:txBody>
      </p:sp>
      <p:sp>
        <p:nvSpPr>
          <p:cNvPr id="74755" name="Rectangle 5"/>
          <p:cNvSpPr>
            <a:spLocks noChangeArrowheads="1"/>
          </p:cNvSpPr>
          <p:nvPr/>
        </p:nvSpPr>
        <p:spPr bwMode="auto">
          <a:xfrm>
            <a:off x="647700" y="1123950"/>
            <a:ext cx="3889375" cy="522288"/>
          </a:xfrm>
          <a:prstGeom prst="rect">
            <a:avLst/>
          </a:prstGeom>
          <a:noFill/>
          <a:ln w="9525">
            <a:noFill/>
            <a:miter lim="800000"/>
          </a:ln>
        </p:spPr>
        <p:txBody>
          <a:bodyPr anchor="ctr">
            <a:spAutoFit/>
          </a:bodyPr>
          <a:lstStyle/>
          <a:p>
            <a:r>
              <a:rPr lang="en-US" altLang="zh-CN" sz="2800" b="1">
                <a:solidFill>
                  <a:srgbClr val="FF0000"/>
                </a:solidFill>
                <a:latin typeface="宋体" panose="02010600030101010101" pitchFamily="2" charset="-122"/>
              </a:rPr>
              <a:t>2.4.5 </a:t>
            </a:r>
            <a:r>
              <a:rPr lang="zh-CN" altLang="en-US" sz="2800" b="1">
                <a:solidFill>
                  <a:srgbClr val="FF0000"/>
                </a:solidFill>
                <a:latin typeface="宋体" panose="02010600030101010101" pitchFamily="2" charset="-122"/>
              </a:rPr>
              <a:t>创建任务命令</a:t>
            </a:r>
            <a:r>
              <a:rPr lang="zh-CN" altLang="en-US" sz="2800"/>
              <a:t> </a:t>
            </a:r>
          </a:p>
        </p:txBody>
      </p:sp>
      <p:sp>
        <p:nvSpPr>
          <p:cNvPr id="74756" name="Rectangle 6"/>
          <p:cNvSpPr>
            <a:spLocks noChangeArrowheads="1"/>
          </p:cNvSpPr>
          <p:nvPr/>
        </p:nvSpPr>
        <p:spPr bwMode="auto">
          <a:xfrm>
            <a:off x="0" y="2100263"/>
            <a:ext cx="9144000" cy="0"/>
          </a:xfrm>
          <a:prstGeom prst="rect">
            <a:avLst/>
          </a:prstGeom>
          <a:noFill/>
          <a:ln w="9525">
            <a:noFill/>
            <a:miter lim="800000"/>
          </a:ln>
        </p:spPr>
        <p:txBody>
          <a:bodyPr wrap="none" anchor="ctr">
            <a:spAutoFit/>
          </a:bodyPr>
          <a:lstStyle/>
          <a:p>
            <a:endParaRPr lang="zh-CN" altLang="en-US"/>
          </a:p>
        </p:txBody>
      </p:sp>
      <p:pic>
        <p:nvPicPr>
          <p:cNvPr id="74757" name="Picture 7"/>
          <p:cNvPicPr>
            <a:picLocks noChangeAspect="1" noChangeArrowheads="1"/>
          </p:cNvPicPr>
          <p:nvPr/>
        </p:nvPicPr>
        <p:blipFill>
          <a:blip r:embed="rId2" cstate="print"/>
          <a:srcRect/>
          <a:stretch>
            <a:fillRect/>
          </a:stretch>
        </p:blipFill>
        <p:spPr bwMode="auto">
          <a:xfrm>
            <a:off x="1584325" y="1547813"/>
            <a:ext cx="5580063" cy="3825875"/>
          </a:xfrm>
          <a:prstGeom prst="rect">
            <a:avLst/>
          </a:prstGeom>
          <a:noFill/>
          <a:ln w="9525">
            <a:noFill/>
            <a:miter lim="800000"/>
            <a:headEnd/>
            <a:tailEnd/>
          </a:ln>
        </p:spPr>
      </p:pic>
      <p:sp>
        <p:nvSpPr>
          <p:cNvPr id="74758" name="Rectangle 8"/>
          <p:cNvSpPr>
            <a:spLocks noChangeArrowheads="1"/>
          </p:cNvSpPr>
          <p:nvPr/>
        </p:nvSpPr>
        <p:spPr bwMode="auto">
          <a:xfrm>
            <a:off x="3201988" y="5373688"/>
            <a:ext cx="1760537" cy="304800"/>
          </a:xfrm>
          <a:prstGeom prst="rect">
            <a:avLst/>
          </a:prstGeom>
          <a:noFill/>
          <a:ln w="9525">
            <a:noFill/>
            <a:miter lim="800000"/>
          </a:ln>
        </p:spPr>
        <p:txBody>
          <a:bodyPr wrap="none" anchor="ctr">
            <a:spAutoFit/>
          </a:bodyPr>
          <a:lstStyle/>
          <a:p>
            <a:pPr algn="ctr"/>
            <a:r>
              <a:rPr lang="zh-CN" altLang="en-US" sz="1400" b="1">
                <a:solidFill>
                  <a:srgbClr val="FF0000"/>
                </a:solidFill>
                <a:latin typeface="Times New Roman" panose="02020603050405020304" pitchFamily="18" charset="0"/>
              </a:rPr>
              <a:t>图</a:t>
            </a:r>
            <a:r>
              <a:rPr lang="en-US" altLang="zh-CN" sz="1400" b="1">
                <a:solidFill>
                  <a:srgbClr val="FF0000"/>
                </a:solidFill>
                <a:latin typeface="Times New Roman" panose="02020603050405020304" pitchFamily="18" charset="0"/>
              </a:rPr>
              <a:t>2-18    </a:t>
            </a:r>
            <a:r>
              <a:rPr lang="zh-CN" altLang="en-US" sz="1400" b="1">
                <a:solidFill>
                  <a:srgbClr val="FF0000"/>
                </a:solidFill>
                <a:latin typeface="Times New Roman" panose="02020603050405020304" pitchFamily="18" charset="0"/>
              </a:rPr>
              <a:t>创建定时器</a:t>
            </a:r>
            <a:endParaRPr lang="zh-CN" altLang="en-US" sz="1400" b="1">
              <a:solidFill>
                <a:srgbClr val="FF0000"/>
              </a:solidFill>
              <a:latin typeface="Times New Roman" panose="02020603050405020304" pitchFamily="18" charset="0"/>
              <a:cs typeface="Times New Roman" panose="02020603050405020304" pitchFamily="18" charset="0"/>
            </a:endParaRPr>
          </a:p>
        </p:txBody>
      </p:sp>
      <p:sp>
        <p:nvSpPr>
          <p:cNvPr id="74759"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395288" y="1196975"/>
            <a:ext cx="8040687" cy="3322638"/>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69966" y="2132856"/>
            <a:ext cx="7524750" cy="3917950"/>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dirty="0" smtClean="0"/>
              <a:t>例</a:t>
            </a:r>
            <a:r>
              <a:rPr lang="en-US" altLang="zh-CN" sz="2400" dirty="0" smtClean="0"/>
              <a:t>1</a:t>
            </a:r>
            <a:r>
              <a:rPr lang="zh-CN" altLang="en-US" sz="2400" dirty="0" smtClean="0"/>
              <a:t>：</a:t>
            </a:r>
            <a:r>
              <a:rPr lang="zh-CN" altLang="en-US" sz="2400" dirty="0"/>
              <a:t>拥有远程机器的管理权限，想从本机开启远程机器的“</a:t>
            </a:r>
            <a:r>
              <a:rPr lang="en-US" altLang="zh-CN" sz="2400" dirty="0"/>
              <a:t>PowerShell </a:t>
            </a:r>
            <a:r>
              <a:rPr lang="zh-CN" altLang="en-US" sz="2400" dirty="0"/>
              <a:t>远程管理（</a:t>
            </a:r>
            <a:r>
              <a:rPr lang="en-US" altLang="zh-CN" sz="2400" dirty="0"/>
              <a:t>Remoting</a:t>
            </a:r>
            <a:r>
              <a:rPr lang="zh-CN" altLang="en-US" sz="2400" dirty="0"/>
              <a:t>）”</a:t>
            </a:r>
            <a:r>
              <a:rPr lang="zh-CN" altLang="en-US" sz="2400" dirty="0" smtClean="0"/>
              <a:t>。</a:t>
            </a:r>
            <a:endParaRPr lang="en-US" altLang="zh-CN" sz="2400" dirty="0" smtClean="0"/>
          </a:p>
          <a:p>
            <a:endParaRPr lang="en-US" altLang="zh-CN" sz="2400" dirty="0"/>
          </a:p>
        </p:txBody>
      </p:sp>
      <p:sp>
        <p:nvSpPr>
          <p:cNvPr id="73731" name="内容占位符 13"/>
          <p:cNvSpPr>
            <a:spLocks noChangeArrowheads="1"/>
          </p:cNvSpPr>
          <p:nvPr/>
        </p:nvSpPr>
        <p:spPr bwMode="auto">
          <a:xfrm>
            <a:off x="395288" y="1196975"/>
            <a:ext cx="8153400" cy="1403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73732" name="Rectangle 6"/>
          <p:cNvSpPr>
            <a:spLocks noChangeArrowheads="1"/>
          </p:cNvSpPr>
          <p:nvPr/>
        </p:nvSpPr>
        <p:spPr bwMode="auto">
          <a:xfrm>
            <a:off x="503238" y="1516698"/>
            <a:ext cx="8245475" cy="492443"/>
          </a:xfrm>
          <a:prstGeom prst="rect">
            <a:avLst/>
          </a:prstGeom>
          <a:noFill/>
          <a:ln w="9525">
            <a:noFill/>
            <a:miter lim="800000"/>
          </a:ln>
        </p:spPr>
        <p:txBody>
          <a:bodyPr anchor="ctr">
            <a:spAutoFit/>
          </a:bodyPr>
          <a:lstStyle/>
          <a:p>
            <a:r>
              <a:rPr lang="en-US" altLang="zh-CN" sz="2600" b="1" dirty="0">
                <a:solidFill>
                  <a:srgbClr val="FF0000"/>
                </a:solidFill>
                <a:latin typeface="宋体" panose="02010600030101010101" pitchFamily="2" charset="-122"/>
              </a:rPr>
              <a:t>2.4.5 </a:t>
            </a:r>
            <a:r>
              <a:rPr lang="zh-CN" altLang="en-US" sz="2600" b="1" dirty="0">
                <a:solidFill>
                  <a:srgbClr val="FF0000"/>
                </a:solidFill>
                <a:latin typeface="宋体" panose="02010600030101010101" pitchFamily="2" charset="-122"/>
              </a:rPr>
              <a:t>创建任务</a:t>
            </a:r>
            <a:r>
              <a:rPr lang="zh-CN" altLang="en-US" sz="2600" b="1" dirty="0" smtClean="0">
                <a:solidFill>
                  <a:srgbClr val="FF0000"/>
                </a:solidFill>
                <a:latin typeface="宋体" panose="02010600030101010101" pitchFamily="2" charset="-122"/>
              </a:rPr>
              <a:t>命令</a:t>
            </a:r>
            <a:endParaRPr lang="zh-CN" altLang="en-US" sz="2400" dirty="0"/>
          </a:p>
        </p:txBody>
      </p:sp>
      <p:sp>
        <p:nvSpPr>
          <p:cNvPr id="73735"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pic>
        <p:nvPicPr>
          <p:cNvPr id="3" name="图片 2"/>
          <p:cNvPicPr>
            <a:picLocks noChangeAspect="1"/>
          </p:cNvPicPr>
          <p:nvPr/>
        </p:nvPicPr>
        <p:blipFill>
          <a:blip r:embed="rId2"/>
          <a:stretch>
            <a:fillRect/>
          </a:stretch>
        </p:blipFill>
        <p:spPr>
          <a:xfrm>
            <a:off x="683568" y="4393407"/>
            <a:ext cx="7143750" cy="723900"/>
          </a:xfrm>
          <a:prstGeom prst="rect">
            <a:avLst/>
          </a:prstGeom>
        </p:spPr>
      </p:pic>
      <p:pic>
        <p:nvPicPr>
          <p:cNvPr id="4" name="图片 3"/>
          <p:cNvPicPr>
            <a:picLocks noChangeAspect="1"/>
          </p:cNvPicPr>
          <p:nvPr/>
        </p:nvPicPr>
        <p:blipFill>
          <a:blip r:embed="rId3"/>
          <a:stretch>
            <a:fillRect/>
          </a:stretch>
        </p:blipFill>
        <p:spPr>
          <a:xfrm>
            <a:off x="755576" y="2315766"/>
            <a:ext cx="6524625" cy="11811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13"/>
          <p:cNvSpPr>
            <a:spLocks noGrp="1" noChangeArrowheads="1"/>
          </p:cNvSpPr>
          <p:nvPr>
            <p:ph idx="4294967295"/>
          </p:nvPr>
        </p:nvSpPr>
        <p:spPr>
          <a:xfrm>
            <a:off x="395288" y="1196975"/>
            <a:ext cx="8040687" cy="3322638"/>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469966" y="2132856"/>
            <a:ext cx="8494522" cy="3917950"/>
          </a:xfrm>
          <a:prstGeom prst="roundRect">
            <a:avLst/>
          </a:prstGeom>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dirty="0" smtClean="0"/>
              <a:t>例</a:t>
            </a:r>
            <a:r>
              <a:rPr lang="en-US" altLang="zh-CN" sz="2400" dirty="0"/>
              <a:t>2</a:t>
            </a:r>
            <a:r>
              <a:rPr lang="zh-CN" altLang="en-US" sz="2400" dirty="0" smtClean="0"/>
              <a:t>：</a:t>
            </a:r>
            <a:r>
              <a:rPr lang="zh-CN" altLang="en-US" sz="2400" dirty="0"/>
              <a:t>拥有远程机器的管理权限</a:t>
            </a:r>
            <a:r>
              <a:rPr lang="zh-CN" altLang="en-US" sz="2400" dirty="0" smtClean="0"/>
              <a:t>，在特定时刻让远程计算机运行特定程序。</a:t>
            </a:r>
            <a:endParaRPr lang="en-US" altLang="zh-CN" sz="2400" dirty="0"/>
          </a:p>
          <a:p>
            <a:endParaRPr lang="en-US" altLang="zh-CN" sz="2400" dirty="0" smtClean="0"/>
          </a:p>
          <a:p>
            <a:endParaRPr lang="en-US" altLang="zh-CN" sz="1400" dirty="0" smtClean="0"/>
          </a:p>
          <a:p>
            <a:r>
              <a:rPr lang="zh-CN" altLang="en-US" sz="1400" dirty="0" smtClean="0"/>
              <a:t>更多详细用法参看</a:t>
            </a:r>
            <a:r>
              <a:rPr lang="en-US" altLang="zh-CN" sz="1400" dirty="0" smtClean="0"/>
              <a:t>《</a:t>
            </a:r>
            <a:r>
              <a:rPr lang="zh-CN" altLang="en-US" sz="1400" b="1" dirty="0"/>
              <a:t>替代</a:t>
            </a:r>
            <a:r>
              <a:rPr lang="en-US" altLang="zh-CN" sz="1400" b="1" dirty="0"/>
              <a:t>at</a:t>
            </a:r>
            <a:r>
              <a:rPr lang="zh-CN" altLang="en-US" sz="1400" b="1" dirty="0"/>
              <a:t>命令的</a:t>
            </a:r>
            <a:r>
              <a:rPr lang="en-US" altLang="zh-CN" sz="1400" b="1" dirty="0" err="1"/>
              <a:t>SchTasks</a:t>
            </a:r>
            <a:r>
              <a:rPr lang="zh-CN" altLang="en-US" sz="1400" b="1" dirty="0"/>
              <a:t>命令使用教程和</a:t>
            </a:r>
            <a:r>
              <a:rPr lang="zh-CN" altLang="en-US" sz="1400" b="1" dirty="0" smtClean="0"/>
              <a:t>实例</a:t>
            </a:r>
            <a:r>
              <a:rPr lang="en-US" altLang="zh-CN" sz="1400" dirty="0" smtClean="0"/>
              <a:t>》http</a:t>
            </a:r>
            <a:r>
              <a:rPr lang="en-US" altLang="zh-CN" sz="1400" dirty="0"/>
              <a:t>://www.zhixing123.cn/computer/41587.html</a:t>
            </a:r>
          </a:p>
          <a:p>
            <a:endParaRPr lang="en-US" altLang="zh-CN" sz="2400" dirty="0" smtClean="0"/>
          </a:p>
          <a:p>
            <a:endParaRPr lang="en-US" altLang="zh-CN" sz="2400" dirty="0"/>
          </a:p>
          <a:p>
            <a:endParaRPr lang="en-US" altLang="zh-CN" sz="2400" dirty="0" smtClean="0"/>
          </a:p>
          <a:p>
            <a:endParaRPr lang="en-US" altLang="zh-CN" sz="2400" dirty="0"/>
          </a:p>
        </p:txBody>
      </p:sp>
      <p:sp>
        <p:nvSpPr>
          <p:cNvPr id="73731" name="内容占位符 13"/>
          <p:cNvSpPr>
            <a:spLocks noChangeArrowheads="1"/>
          </p:cNvSpPr>
          <p:nvPr/>
        </p:nvSpPr>
        <p:spPr bwMode="auto">
          <a:xfrm>
            <a:off x="395288" y="1196975"/>
            <a:ext cx="8153400" cy="1403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sz="2400">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73732" name="Rectangle 6"/>
          <p:cNvSpPr>
            <a:spLocks noChangeArrowheads="1"/>
          </p:cNvSpPr>
          <p:nvPr/>
        </p:nvSpPr>
        <p:spPr bwMode="auto">
          <a:xfrm>
            <a:off x="503238" y="1516698"/>
            <a:ext cx="8245475" cy="492443"/>
          </a:xfrm>
          <a:prstGeom prst="rect">
            <a:avLst/>
          </a:prstGeom>
          <a:noFill/>
          <a:ln w="9525">
            <a:noFill/>
            <a:miter lim="800000"/>
          </a:ln>
        </p:spPr>
        <p:txBody>
          <a:bodyPr anchor="ctr">
            <a:spAutoFit/>
          </a:bodyPr>
          <a:lstStyle/>
          <a:p>
            <a:r>
              <a:rPr lang="en-US" altLang="zh-CN" sz="2600" b="1" dirty="0">
                <a:solidFill>
                  <a:srgbClr val="FF0000"/>
                </a:solidFill>
                <a:latin typeface="宋体" panose="02010600030101010101" pitchFamily="2" charset="-122"/>
              </a:rPr>
              <a:t>2.4.5 </a:t>
            </a:r>
            <a:r>
              <a:rPr lang="zh-CN" altLang="en-US" sz="2600" b="1" dirty="0">
                <a:solidFill>
                  <a:srgbClr val="FF0000"/>
                </a:solidFill>
                <a:latin typeface="宋体" panose="02010600030101010101" pitchFamily="2" charset="-122"/>
              </a:rPr>
              <a:t>创建任务</a:t>
            </a:r>
            <a:r>
              <a:rPr lang="zh-CN" altLang="en-US" sz="2600" b="1" dirty="0" smtClean="0">
                <a:solidFill>
                  <a:srgbClr val="FF0000"/>
                </a:solidFill>
                <a:latin typeface="宋体" panose="02010600030101010101" pitchFamily="2" charset="-122"/>
              </a:rPr>
              <a:t>命令</a:t>
            </a:r>
            <a:endParaRPr lang="zh-CN" altLang="en-US" sz="2400" dirty="0"/>
          </a:p>
        </p:txBody>
      </p:sp>
      <p:sp>
        <p:nvSpPr>
          <p:cNvPr id="73735" name="Rectangle 2"/>
          <p:cNvSpPr txBox="1">
            <a:spLocks noChangeArrowheads="1"/>
          </p:cNvSpPr>
          <p:nvPr/>
        </p:nvSpPr>
        <p:spPr bwMode="auto">
          <a:xfrm>
            <a:off x="455613" y="238125"/>
            <a:ext cx="8305800" cy="563563"/>
          </a:xfrm>
          <a:prstGeom prst="rect">
            <a:avLst/>
          </a:prstGeom>
          <a:noFill/>
          <a:ln w="9525">
            <a:noFill/>
            <a:miter lim="800000"/>
          </a:ln>
        </p:spPr>
        <p:txBody>
          <a:bodyPr anchor="ctr"/>
          <a:lstStyle/>
          <a:p>
            <a:pPr algn="ctr"/>
            <a:r>
              <a:rPr lang="zh-CN" altLang="en-US" sz="3200" b="1">
                <a:solidFill>
                  <a:schemeClr val="bg1"/>
                </a:solidFill>
              </a:rPr>
              <a:t>*</a:t>
            </a:r>
            <a:r>
              <a:rPr lang="en-US" altLang="zh-CN" sz="3200" b="1">
                <a:solidFill>
                  <a:schemeClr val="bg1"/>
                </a:solidFill>
              </a:rPr>
              <a:t>2.4 </a:t>
            </a:r>
            <a:r>
              <a:rPr lang="zh-CN" altLang="en-US" sz="3200" b="1">
                <a:solidFill>
                  <a:schemeClr val="bg1"/>
                </a:solidFill>
              </a:rPr>
              <a:t>常用网络安全管理工具</a:t>
            </a:r>
          </a:p>
        </p:txBody>
      </p:sp>
      <p:pic>
        <p:nvPicPr>
          <p:cNvPr id="2" name="图片 1"/>
          <p:cNvPicPr>
            <a:picLocks noChangeAspect="1"/>
          </p:cNvPicPr>
          <p:nvPr/>
        </p:nvPicPr>
        <p:blipFill>
          <a:blip r:embed="rId2"/>
          <a:stretch>
            <a:fillRect/>
          </a:stretch>
        </p:blipFill>
        <p:spPr>
          <a:xfrm>
            <a:off x="709637" y="3419971"/>
            <a:ext cx="8317234" cy="211008"/>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ChangeArrowheads="1"/>
          </p:cNvSpPr>
          <p:nvPr>
            <p:ph type="title"/>
          </p:nvPr>
        </p:nvSpPr>
        <p:spPr/>
        <p:txBody>
          <a:bodyPr/>
          <a:lstStyle/>
          <a:p>
            <a:pPr eaLnBrk="1" hangingPunct="1"/>
            <a:r>
              <a:rPr lang="en-US" altLang="zh-CN" smtClean="0"/>
              <a:t>2.5 </a:t>
            </a:r>
            <a:r>
              <a:rPr lang="zh-CN" altLang="en-US" smtClean="0"/>
              <a:t>要点小结</a:t>
            </a:r>
          </a:p>
        </p:txBody>
      </p:sp>
      <p:sp>
        <p:nvSpPr>
          <p:cNvPr id="19" name="圆角矩形 18"/>
          <p:cNvSpPr/>
          <p:nvPr/>
        </p:nvSpPr>
        <p:spPr bwMode="gray">
          <a:xfrm>
            <a:off x="457200" y="1341438"/>
            <a:ext cx="8305800" cy="43402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defRPr/>
            </a:pPr>
            <a:r>
              <a:rPr lang="zh-CN" altLang="en-US" sz="2400" b="1" dirty="0">
                <a:solidFill>
                  <a:schemeClr val="tx1"/>
                </a:solidFill>
                <a:latin typeface="Arial" panose="020B0604020202020204" pitchFamily="34" charset="0"/>
              </a:rPr>
              <a:t>       </a:t>
            </a:r>
            <a:r>
              <a:rPr sz="2400" b="1" dirty="0" err="1">
                <a:latin typeface="楷体" panose="02010609060101010101" charset="-122"/>
                <a:ea typeface="楷体" panose="02010609060101010101" charset="-122"/>
              </a:rPr>
              <a:t>本章</a:t>
            </a:r>
            <a:r>
              <a:rPr sz="2400" b="1" dirty="0" err="1">
                <a:solidFill>
                  <a:srgbClr val="C00000"/>
                </a:solidFill>
                <a:latin typeface="楷体" panose="02010609060101010101" charset="-122"/>
                <a:ea typeface="楷体" panose="02010609060101010101" charset="-122"/>
              </a:rPr>
              <a:t>侧重概述</a:t>
            </a:r>
            <a:r>
              <a:rPr sz="2400" b="1" dirty="0" err="1">
                <a:latin typeface="楷体" panose="02010609060101010101" charset="-122"/>
                <a:ea typeface="楷体" panose="02010609060101010101" charset="-122"/>
              </a:rPr>
              <a:t>网络安全技术基础知识，通过</a:t>
            </a:r>
            <a:r>
              <a:rPr sz="2400" b="1" dirty="0" err="1">
                <a:solidFill>
                  <a:srgbClr val="C00000"/>
                </a:solidFill>
                <a:latin typeface="楷体" panose="02010609060101010101" charset="-122"/>
                <a:ea typeface="楷体" panose="02010609060101010101" charset="-122"/>
              </a:rPr>
              <a:t>分析</a:t>
            </a:r>
            <a:r>
              <a:rPr sz="2400" b="1" dirty="0" err="1">
                <a:latin typeface="楷体" panose="02010609060101010101" charset="-122"/>
                <a:ea typeface="楷体" panose="02010609060101010101" charset="-122"/>
              </a:rPr>
              <a:t>网络协议安全和网络体系层次结构，并</a:t>
            </a:r>
            <a:r>
              <a:rPr sz="2400" b="1" dirty="0" err="1">
                <a:solidFill>
                  <a:srgbClr val="C00000"/>
                </a:solidFill>
                <a:latin typeface="楷体" panose="02010609060101010101" charset="-122"/>
                <a:ea typeface="楷体" panose="02010609060101010101" charset="-122"/>
              </a:rPr>
              <a:t>介绍了</a:t>
            </a:r>
            <a:r>
              <a:rPr sz="2400" b="1" dirty="0" err="1">
                <a:latin typeface="楷体" panose="02010609060101010101" charset="-122"/>
                <a:ea typeface="楷体" panose="02010609060101010101" charset="-122"/>
              </a:rPr>
              <a:t>TCP</a:t>
            </a:r>
            <a:r>
              <a:rPr sz="2400" b="1" dirty="0">
                <a:latin typeface="楷体" panose="02010609060101010101" charset="-122"/>
                <a:ea typeface="楷体" panose="02010609060101010101" charset="-122"/>
              </a:rPr>
              <a:t>/IP层次安全。</a:t>
            </a:r>
            <a:r>
              <a:rPr sz="2400" b="1" dirty="0">
                <a:solidFill>
                  <a:srgbClr val="C00000"/>
                </a:solidFill>
                <a:latin typeface="楷体" panose="02010609060101010101" charset="-122"/>
                <a:ea typeface="楷体" panose="02010609060101010101" charset="-122"/>
              </a:rPr>
              <a:t>阐述了</a:t>
            </a:r>
            <a:r>
              <a:rPr sz="2400" b="1" dirty="0">
                <a:latin typeface="楷体" panose="02010609060101010101" charset="-122"/>
                <a:ea typeface="楷体" panose="02010609060101010101" charset="-122"/>
              </a:rPr>
              <a:t>IPv6的特点优势、IPv6的安全性和移动IPv6的安全机制。</a:t>
            </a:r>
            <a:r>
              <a:rPr sz="2400" b="1" dirty="0">
                <a:solidFill>
                  <a:srgbClr val="C00000"/>
                </a:solidFill>
                <a:latin typeface="楷体" panose="02010609060101010101" charset="-122"/>
                <a:ea typeface="楷体" panose="02010609060101010101" charset="-122"/>
              </a:rPr>
              <a:t>概述了</a:t>
            </a:r>
            <a:r>
              <a:rPr sz="2400" b="1" dirty="0">
                <a:latin typeface="楷体" panose="02010609060101010101" charset="-122"/>
                <a:ea typeface="楷体" panose="02010609060101010101" charset="-122"/>
              </a:rPr>
              <a:t>虚拟专用网VPN的特点、VPN的实现技术和VPN技术的实际应用。</a:t>
            </a:r>
            <a:r>
              <a:rPr sz="2400" b="1" dirty="0">
                <a:solidFill>
                  <a:srgbClr val="C00000"/>
                </a:solidFill>
                <a:latin typeface="楷体" panose="02010609060101010101" charset="-122"/>
                <a:ea typeface="楷体" panose="02010609060101010101" charset="-122"/>
              </a:rPr>
              <a:t>分析了</a:t>
            </a:r>
            <a:r>
              <a:rPr sz="2400" b="1" dirty="0">
                <a:latin typeface="楷体" panose="02010609060101010101" charset="-122"/>
                <a:ea typeface="楷体" panose="02010609060101010101" charset="-122"/>
              </a:rPr>
              <a:t>无线网络设备安全管理、IEEE 802.1x身份认证、无线网络安全技术应用实例和WIFI无线网络安全。</a:t>
            </a:r>
            <a:r>
              <a:rPr sz="2400" b="1" dirty="0">
                <a:solidFill>
                  <a:srgbClr val="C00000"/>
                </a:solidFill>
                <a:latin typeface="楷体" panose="02010609060101010101" charset="-122"/>
                <a:ea typeface="楷体" panose="02010609060101010101" charset="-122"/>
              </a:rPr>
              <a:t>简单介绍了</a:t>
            </a:r>
            <a:r>
              <a:rPr sz="2400" b="1" dirty="0">
                <a:latin typeface="楷体" panose="02010609060101010101" charset="-122"/>
                <a:ea typeface="楷体" panose="02010609060101010101" charset="-122"/>
              </a:rPr>
              <a:t>常用网络安全工具，包括：判断主机是否连通的ping命令，查看IP地址配置情况的ipconfig命令，查看网络连接状态的netstat命令，进行网络操作的net命令和行定时器操作的at命令等。最</a:t>
            </a:r>
            <a:r>
              <a:rPr lang="zh-CN" altLang="en-US" sz="2400" b="1" dirty="0">
                <a:latin typeface="楷体" panose="02010609060101010101" charset="-122"/>
                <a:ea typeface="楷体" panose="02010609060101010101" charset="-122"/>
              </a:rPr>
              <a:t>后</a:t>
            </a:r>
            <a:r>
              <a:rPr sz="2400" b="1" dirty="0" err="1">
                <a:solidFill>
                  <a:srgbClr val="C00000"/>
                </a:solidFill>
                <a:latin typeface="楷体" panose="02010609060101010101" charset="-122"/>
                <a:ea typeface="楷体" panose="02010609060101010101" charset="-122"/>
              </a:rPr>
              <a:t>概述了</a:t>
            </a:r>
            <a:r>
              <a:rPr sz="2400" b="1" dirty="0" err="1">
                <a:latin typeface="楷体" panose="02010609060101010101" charset="-122"/>
                <a:ea typeface="楷体" panose="02010609060101010101" charset="-122"/>
              </a:rPr>
              <a:t>无线网络安全设置实验内容、步骤和方法</a:t>
            </a:r>
            <a:r>
              <a:rPr sz="2400" b="1" dirty="0">
                <a:latin typeface="楷体" panose="02010609060101010101" charset="-122"/>
                <a:ea typeface="楷体" panose="02010609060101010101" charset="-122"/>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内容占位符 13"/>
          <p:cNvSpPr>
            <a:spLocks noGrp="1" noChangeArrowheads="1"/>
          </p:cNvSpPr>
          <p:nvPr>
            <p:ph idx="4294967295"/>
          </p:nvPr>
        </p:nvSpPr>
        <p:spPr>
          <a:xfrm>
            <a:off x="611188" y="3387725"/>
            <a:ext cx="3024187" cy="431800"/>
          </a:xfrm>
        </p:spPr>
        <p:txBody>
          <a:bodyPr/>
          <a:lstStyle/>
          <a:p>
            <a:r>
              <a:rPr lang="en-US" altLang="en-US" sz="2600" smtClean="0">
                <a:solidFill>
                  <a:srgbClr val="CC0000"/>
                </a:solidFill>
              </a:rPr>
              <a:t>2.5.2 </a:t>
            </a:r>
            <a:r>
              <a:rPr lang="zh-CN" altLang="en-US" sz="2600" smtClean="0">
                <a:solidFill>
                  <a:srgbClr val="CC0000"/>
                </a:solidFill>
              </a:rPr>
              <a:t>实验要求</a:t>
            </a:r>
            <a:endParaRPr lang="zh-CN" altLang="en-US" sz="2400" smtClean="0"/>
          </a:p>
        </p:txBody>
      </p:sp>
      <p:sp>
        <p:nvSpPr>
          <p:cNvPr id="76802" name="Rectangle 2"/>
          <p:cNvSpPr txBox="1">
            <a:spLocks noChangeArrowheads="1"/>
          </p:cNvSpPr>
          <p:nvPr/>
        </p:nvSpPr>
        <p:spPr bwMode="auto">
          <a:xfrm>
            <a:off x="611188" y="188913"/>
            <a:ext cx="8305800" cy="563562"/>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76803" name="Rectangle 13"/>
          <p:cNvSpPr>
            <a:spLocks noGrp="1" noChangeArrowheads="1"/>
          </p:cNvSpPr>
          <p:nvPr>
            <p:ph type="title" idx="4294967295"/>
          </p:nvPr>
        </p:nvSpPr>
        <p:spPr/>
        <p:txBody>
          <a:bodyPr/>
          <a:lstStyle/>
          <a:p>
            <a:r>
              <a:rPr lang="en-US" altLang="zh-CN" sz="2800" smtClean="0"/>
              <a:t>2.5 </a:t>
            </a:r>
            <a:r>
              <a:rPr lang="zh-CN" altLang="en-US" sz="2800" smtClean="0"/>
              <a:t>实验二 无线网络安全设置</a:t>
            </a:r>
          </a:p>
        </p:txBody>
      </p:sp>
      <p:sp>
        <p:nvSpPr>
          <p:cNvPr id="76804" name="圆角矩形 5"/>
          <p:cNvSpPr>
            <a:spLocks noChangeArrowheads="1"/>
          </p:cNvSpPr>
          <p:nvPr/>
        </p:nvSpPr>
        <p:spPr bwMode="auto">
          <a:xfrm>
            <a:off x="685800" y="3819525"/>
            <a:ext cx="7702550" cy="2936875"/>
          </a:xfrm>
          <a:prstGeom prst="roundRect">
            <a:avLst>
              <a:gd name="adj" fmla="val 16667"/>
            </a:avLst>
          </a:prstGeom>
          <a:solidFill>
            <a:schemeClr val="bg1"/>
          </a:solidFill>
          <a:ln w="25400">
            <a:solidFill>
              <a:schemeClr val="tx1"/>
            </a:solidFill>
            <a:round/>
          </a:ln>
        </p:spPr>
        <p:txBody>
          <a:bodyPr anchor="ctr"/>
          <a:lstStyle/>
          <a:p>
            <a:pPr>
              <a:lnSpc>
                <a:spcPct val="90000"/>
              </a:lnSpc>
            </a:pPr>
            <a:r>
              <a:rPr lang="en-US" altLang="en-US" sz="2000" b="1">
                <a:solidFill>
                  <a:srgbClr val="FF0000"/>
                </a:solidFill>
                <a:latin typeface="宋体" panose="02010600030101010101" pitchFamily="2" charset="-122"/>
              </a:rPr>
              <a:t>1. </a:t>
            </a:r>
            <a:r>
              <a:rPr lang="zh-CN" altLang="en-US" sz="2000" b="1">
                <a:solidFill>
                  <a:srgbClr val="FF0000"/>
                </a:solidFill>
                <a:latin typeface="宋体" panose="02010600030101010101" pitchFamily="2" charset="-122"/>
              </a:rPr>
              <a:t>实验设备</a:t>
            </a:r>
          </a:p>
          <a:p>
            <a:pPr>
              <a:lnSpc>
                <a:spcPct val="90000"/>
              </a:lnSpc>
            </a:pPr>
            <a:r>
              <a:rPr lang="zh-CN" altLang="en-US" sz="2000" b="1">
                <a:solidFill>
                  <a:schemeClr val="tx2"/>
                </a:solidFill>
                <a:latin typeface="宋体" panose="02010600030101010101" pitchFamily="2" charset="-122"/>
              </a:rPr>
              <a:t>    本实验需要使用至少两台安装有无线网卡和Windows操作系统的连网计算机。</a:t>
            </a:r>
          </a:p>
          <a:p>
            <a:pPr>
              <a:lnSpc>
                <a:spcPct val="90000"/>
              </a:lnSpc>
            </a:pPr>
            <a:r>
              <a:rPr lang="en-US" altLang="en-US" sz="2000" b="1">
                <a:solidFill>
                  <a:srgbClr val="FF0000"/>
                </a:solidFill>
                <a:latin typeface="宋体" panose="02010600030101010101" pitchFamily="2" charset="-122"/>
              </a:rPr>
              <a:t>2. </a:t>
            </a:r>
            <a:r>
              <a:rPr lang="zh-CN" altLang="en-US" sz="2000" b="1">
                <a:solidFill>
                  <a:srgbClr val="FF0000"/>
                </a:solidFill>
                <a:latin typeface="宋体" panose="02010600030101010101" pitchFamily="2" charset="-122"/>
              </a:rPr>
              <a:t>注意事项</a:t>
            </a:r>
          </a:p>
          <a:p>
            <a:pPr>
              <a:lnSpc>
                <a:spcPct val="90000"/>
              </a:lnSpc>
            </a:pPr>
            <a:r>
              <a:rPr lang="zh-CN" altLang="en-US" sz="2000" b="1">
                <a:solidFill>
                  <a:schemeClr val="tx2"/>
                </a:solidFill>
                <a:latin typeface="宋体" panose="02010600030101010101" pitchFamily="2" charset="-122"/>
              </a:rPr>
              <a:t>1) 预习准备。由于本实验内容是对Windows 操作系统进行无线网络安全配置，需要提前熟悉Windows 操作系统的相关操作。</a:t>
            </a:r>
          </a:p>
          <a:p>
            <a:pPr>
              <a:lnSpc>
                <a:spcPct val="90000"/>
              </a:lnSpc>
            </a:pPr>
            <a:r>
              <a:rPr lang="zh-CN" altLang="en-US" sz="2000" b="1">
                <a:solidFill>
                  <a:schemeClr val="tx2"/>
                </a:solidFill>
                <a:latin typeface="宋体" panose="02010600030101010101" pitchFamily="2" charset="-122"/>
              </a:rPr>
              <a:t>2) 注意理解实验原理和各步骤的含义</a:t>
            </a:r>
          </a:p>
          <a:p>
            <a:pPr>
              <a:lnSpc>
                <a:spcPct val="90000"/>
              </a:lnSpc>
            </a:pPr>
            <a:r>
              <a:rPr lang="zh-CN" altLang="en-US" sz="2000" b="1">
                <a:solidFill>
                  <a:schemeClr val="tx2"/>
                </a:solidFill>
                <a:latin typeface="宋体" panose="02010600030101010101" pitchFamily="2" charset="-122"/>
              </a:rPr>
              <a:t>对于操作步骤要着重理解其原理，对于无线网络安全机制要充分理解其作用和含义。</a:t>
            </a:r>
          </a:p>
          <a:p>
            <a:pPr>
              <a:lnSpc>
                <a:spcPct val="90000"/>
              </a:lnSpc>
            </a:pPr>
            <a:r>
              <a:rPr lang="zh-CN" altLang="en-US" sz="2000" b="1">
                <a:solidFill>
                  <a:schemeClr val="tx2"/>
                </a:solidFill>
                <a:latin typeface="宋体" panose="02010600030101010101" pitchFamily="2" charset="-122"/>
              </a:rPr>
              <a:t>3) 实验学时：2学时（90-100分钟）</a:t>
            </a:r>
          </a:p>
        </p:txBody>
      </p:sp>
      <p:sp>
        <p:nvSpPr>
          <p:cNvPr id="76805" name="圆角矩形 5"/>
          <p:cNvSpPr>
            <a:spLocks noChangeArrowheads="1"/>
          </p:cNvSpPr>
          <p:nvPr/>
        </p:nvSpPr>
        <p:spPr bwMode="auto">
          <a:xfrm>
            <a:off x="684213" y="2251075"/>
            <a:ext cx="7704137" cy="1136650"/>
          </a:xfrm>
          <a:prstGeom prst="roundRect">
            <a:avLst>
              <a:gd name="adj" fmla="val 16667"/>
            </a:avLst>
          </a:prstGeom>
          <a:solidFill>
            <a:schemeClr val="bg1"/>
          </a:solidFill>
          <a:ln w="25400">
            <a:solidFill>
              <a:schemeClr val="tx1"/>
            </a:solidFill>
            <a:round/>
          </a:ln>
        </p:spPr>
        <p:txBody>
          <a:bodyPr anchor="ctr"/>
          <a:lstStyle/>
          <a:p>
            <a:r>
              <a:rPr lang="zh-CN" altLang="en-US" sz="2000" b="1">
                <a:solidFill>
                  <a:schemeClr val="tx2"/>
                </a:solidFill>
                <a:latin typeface="宋体" panose="02010600030101010101" pitchFamily="2" charset="-122"/>
              </a:rPr>
              <a:t>    在上述无线网络安全基本技术及应用的基础上，还要掌握小型无线网络的构建及其安全设置方法，进一步了解无线网络的安全机制，理解以WEP算法为基础的身份验证服务和加密服务。</a:t>
            </a:r>
          </a:p>
        </p:txBody>
      </p:sp>
      <p:sp>
        <p:nvSpPr>
          <p:cNvPr id="76806" name="内容占位符 13"/>
          <p:cNvSpPr>
            <a:spLocks noChangeArrowheads="1"/>
          </p:cNvSpPr>
          <p:nvPr/>
        </p:nvSpPr>
        <p:spPr bwMode="auto">
          <a:xfrm>
            <a:off x="611188" y="1747838"/>
            <a:ext cx="2952750" cy="503237"/>
          </a:xfrm>
          <a:prstGeom prst="rect">
            <a:avLst/>
          </a:prstGeom>
          <a:noFill/>
          <a:ln w="9525">
            <a:noFill/>
            <a:miter lim="800000"/>
          </a:ln>
        </p:spPr>
        <p:txBody>
          <a:bodyPr/>
          <a:lstStyle/>
          <a:p>
            <a:pPr marL="342900" indent="-342900" eaLnBrk="0" hangingPunct="0">
              <a:spcBef>
                <a:spcPct val="20000"/>
              </a:spcBef>
              <a:buClr>
                <a:schemeClr val="hlink"/>
              </a:buClr>
              <a:buFont typeface="Wingdings" panose="05000000000000000000" pitchFamily="2" charset="2"/>
              <a:buChar char="n"/>
            </a:pPr>
            <a:r>
              <a:rPr lang="en-US" altLang="zh-CN" sz="2600" b="1">
                <a:solidFill>
                  <a:srgbClr val="CC0000"/>
                </a:solidFill>
                <a:latin typeface="宋体" panose="02010600030101010101" pitchFamily="2" charset="-122"/>
              </a:rPr>
              <a:t>2.5.1 </a:t>
            </a:r>
            <a:r>
              <a:rPr lang="zh-CN" altLang="en-US" sz="2600" b="1">
                <a:solidFill>
                  <a:srgbClr val="CC0000"/>
                </a:solidFill>
                <a:latin typeface="宋体" panose="02010600030101010101" pitchFamily="2" charset="-122"/>
              </a:rPr>
              <a:t>实验目的</a:t>
            </a:r>
            <a:endParaRPr lang="zh-CN" altLang="en-US" sz="2400" b="1">
              <a:solidFill>
                <a:schemeClr val="tx2"/>
              </a:solidFill>
              <a:latin typeface="宋体" panose="02010600030101010101" pitchFamily="2" charset="-122"/>
            </a:endParaRPr>
          </a:p>
        </p:txBody>
      </p:sp>
      <p:sp>
        <p:nvSpPr>
          <p:cNvPr id="76807" name="文本框 1"/>
          <p:cNvSpPr txBox="1">
            <a:spLocks noChangeArrowheads="1"/>
          </p:cNvSpPr>
          <p:nvPr/>
        </p:nvSpPr>
        <p:spPr bwMode="auto">
          <a:xfrm>
            <a:off x="661988" y="1108075"/>
            <a:ext cx="7654925" cy="700088"/>
          </a:xfrm>
          <a:prstGeom prst="rect">
            <a:avLst/>
          </a:prstGeom>
          <a:noFill/>
          <a:ln w="9525">
            <a:noFill/>
            <a:miter lim="800000"/>
          </a:ln>
        </p:spPr>
        <p:txBody>
          <a:bodyPr>
            <a:spAutoFit/>
          </a:bodyPr>
          <a:lstStyle/>
          <a:p>
            <a:pPr indent="457200"/>
            <a:r>
              <a:rPr lang="zh-CN" altLang="en-US" sz="2000" b="1">
                <a:solidFill>
                  <a:schemeClr val="tx2"/>
                </a:solidFill>
              </a:rPr>
              <a:t>无线网络安全设置操作很常用，对于掌握相关的知识的理解和应用也很有帮助。</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内容占位符 13"/>
          <p:cNvSpPr>
            <a:spLocks noGrp="1" noChangeArrowheads="1"/>
          </p:cNvSpPr>
          <p:nvPr>
            <p:ph idx="4294967295"/>
          </p:nvPr>
        </p:nvSpPr>
        <p:spPr>
          <a:xfrm>
            <a:off x="358775" y="1016000"/>
            <a:ext cx="8172450" cy="971550"/>
          </a:xfrm>
        </p:spPr>
        <p:txBody>
          <a:bodyPr/>
          <a:lstStyle/>
          <a:p>
            <a:r>
              <a:rPr lang="en-US" altLang="en-US" sz="2600" smtClean="0">
                <a:solidFill>
                  <a:srgbClr val="CC0000"/>
                </a:solidFill>
              </a:rPr>
              <a:t>2.5.3 </a:t>
            </a:r>
            <a:r>
              <a:rPr lang="zh-CN" altLang="en-US" sz="2600" smtClean="0">
                <a:solidFill>
                  <a:srgbClr val="CC0000"/>
                </a:solidFill>
              </a:rPr>
              <a:t>实验内容及步骤</a:t>
            </a:r>
            <a:endParaRPr lang="en-US" altLang="zh-CN" sz="2600" smtClean="0">
              <a:solidFill>
                <a:srgbClr val="CC0000"/>
              </a:solidFill>
            </a:endParaRPr>
          </a:p>
          <a:p>
            <a:r>
              <a:rPr lang="en-US" altLang="en-US" sz="2400" smtClean="0">
                <a:solidFill>
                  <a:srgbClr val="FF0000"/>
                </a:solidFill>
              </a:rPr>
              <a:t>1. SSID</a:t>
            </a:r>
            <a:r>
              <a:rPr lang="zh-CN" altLang="en-US" sz="2400" smtClean="0">
                <a:solidFill>
                  <a:srgbClr val="FF0000"/>
                </a:solidFill>
              </a:rPr>
              <a:t>和</a:t>
            </a:r>
            <a:r>
              <a:rPr lang="en-US" altLang="en-US" sz="2400" smtClean="0">
                <a:solidFill>
                  <a:srgbClr val="FF0000"/>
                </a:solidFill>
              </a:rPr>
              <a:t>WEP</a:t>
            </a:r>
            <a:r>
              <a:rPr lang="zh-CN" altLang="en-US" sz="2400" smtClean="0">
                <a:solidFill>
                  <a:srgbClr val="FF0000"/>
                </a:solidFill>
              </a:rPr>
              <a:t>设置</a:t>
            </a:r>
          </a:p>
        </p:txBody>
      </p:sp>
      <p:sp>
        <p:nvSpPr>
          <p:cNvPr id="77826" name="Rectangle 2"/>
          <p:cNvSpPr txBox="1">
            <a:spLocks noChangeArrowheads="1"/>
          </p:cNvSpPr>
          <p:nvPr/>
        </p:nvSpPr>
        <p:spPr bwMode="auto">
          <a:xfrm>
            <a:off x="611188" y="188913"/>
            <a:ext cx="8305800" cy="563562"/>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77827" name="圆角矩形 5"/>
          <p:cNvSpPr>
            <a:spLocks noChangeArrowheads="1"/>
          </p:cNvSpPr>
          <p:nvPr/>
        </p:nvSpPr>
        <p:spPr bwMode="auto">
          <a:xfrm>
            <a:off x="287338" y="1916113"/>
            <a:ext cx="8496300" cy="1152525"/>
          </a:xfrm>
          <a:prstGeom prst="roundRect">
            <a:avLst>
              <a:gd name="adj" fmla="val 16667"/>
            </a:avLst>
          </a:prstGeom>
          <a:solidFill>
            <a:schemeClr val="bg1"/>
          </a:solidFill>
          <a:ln w="25400">
            <a:solidFill>
              <a:schemeClr val="tx1"/>
            </a:solidFill>
            <a:round/>
          </a:ln>
        </p:spPr>
        <p:txBody>
          <a:bodyPr anchor="ctr"/>
          <a:lstStyle/>
          <a:p>
            <a:pPr indent="457200">
              <a:lnSpc>
                <a:spcPct val="80000"/>
              </a:lnSpc>
            </a:pPr>
            <a:r>
              <a:rPr lang="zh-CN" altLang="en-US" sz="2000" b="1"/>
              <a:t>1) 在安装了无线网卡的计算机上，从“控制面板”中打开“网络连接/网络和Internet连接”窗口（不同版本略有差异），如图2-19所示。</a:t>
            </a:r>
          </a:p>
          <a:p>
            <a:pPr indent="457200">
              <a:lnSpc>
                <a:spcPct val="80000"/>
              </a:lnSpc>
            </a:pPr>
            <a:r>
              <a:rPr lang="zh-CN" altLang="en-US" sz="2000" b="1"/>
              <a:t> 2) 点击“查看网络状况和任务”，进入显示“查看基本网络信息并设置连接”界面，如图2-20所示。</a:t>
            </a:r>
          </a:p>
        </p:txBody>
      </p:sp>
      <p:sp>
        <p:nvSpPr>
          <p:cNvPr id="77828" name="Rectangle 7"/>
          <p:cNvSpPr>
            <a:spLocks noChangeArrowheads="1"/>
          </p:cNvSpPr>
          <p:nvPr/>
        </p:nvSpPr>
        <p:spPr bwMode="auto">
          <a:xfrm>
            <a:off x="1008063" y="6521450"/>
            <a:ext cx="6716712" cy="304800"/>
          </a:xfrm>
          <a:prstGeom prst="rect">
            <a:avLst/>
          </a:prstGeom>
          <a:noFill/>
          <a:ln w="9525">
            <a:noFill/>
            <a:miter lim="800000"/>
          </a:ln>
        </p:spPr>
        <p:txBody>
          <a:bodyPr wrap="none" anchor="ctr">
            <a:spAutoFit/>
          </a:bodyPr>
          <a:lstStyle/>
          <a:p>
            <a:pPr>
              <a:tabLst>
                <a:tab pos="5220970" algn="r"/>
              </a:tabLst>
            </a:pPr>
            <a:r>
              <a:rPr lang="zh-CN" altLang="en-US" sz="1400" b="1">
                <a:solidFill>
                  <a:srgbClr val="FF0000"/>
                </a:solidFill>
              </a:rPr>
              <a:t>图</a:t>
            </a:r>
            <a:r>
              <a:rPr lang="en-US" altLang="zh-CN" sz="1400" b="1">
                <a:solidFill>
                  <a:srgbClr val="FF0000"/>
                </a:solidFill>
              </a:rPr>
              <a:t>2-19  “</a:t>
            </a:r>
            <a:r>
              <a:rPr lang="zh-CN" altLang="en-US" sz="1400" b="1">
                <a:solidFill>
                  <a:srgbClr val="FF0000"/>
                </a:solidFill>
              </a:rPr>
              <a:t>网络连接”窗口                                  图</a:t>
            </a:r>
            <a:r>
              <a:rPr lang="en-US" altLang="zh-CN" sz="1400" b="1">
                <a:solidFill>
                  <a:srgbClr val="FF0000"/>
                </a:solidFill>
              </a:rPr>
              <a:t>2-20  “</a:t>
            </a:r>
            <a:r>
              <a:rPr lang="zh-CN" altLang="en-US" sz="1400" b="1">
                <a:solidFill>
                  <a:srgbClr val="FF0000"/>
                </a:solidFill>
              </a:rPr>
              <a:t>无线网络连接属性”对话框</a:t>
            </a:r>
          </a:p>
        </p:txBody>
      </p:sp>
      <p:sp>
        <p:nvSpPr>
          <p:cNvPr id="77829"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2800" b="1">
                <a:solidFill>
                  <a:schemeClr val="bg1"/>
                </a:solidFill>
                <a:latin typeface="Verdana" panose="020B0604030504040204" pitchFamily="34" charset="0"/>
              </a:rPr>
              <a:t>2.5 </a:t>
            </a:r>
            <a:r>
              <a:rPr lang="zh-CN" altLang="en-US" sz="2800" b="1">
                <a:solidFill>
                  <a:schemeClr val="bg1"/>
                </a:solidFill>
                <a:latin typeface="Verdana" panose="020B0604030504040204" pitchFamily="34" charset="0"/>
              </a:rPr>
              <a:t>实验二 无线网络安全设置</a:t>
            </a:r>
          </a:p>
        </p:txBody>
      </p:sp>
      <p:pic>
        <p:nvPicPr>
          <p:cNvPr id="77830" name="图片 -2147482601"/>
          <p:cNvPicPr>
            <a:picLocks noChangeAspect="1" noChangeArrowheads="1"/>
          </p:cNvPicPr>
          <p:nvPr/>
        </p:nvPicPr>
        <p:blipFill>
          <a:blip r:embed="rId2" cstate="print"/>
          <a:srcRect/>
          <a:stretch>
            <a:fillRect/>
          </a:stretch>
        </p:blipFill>
        <p:spPr bwMode="auto">
          <a:xfrm>
            <a:off x="287338" y="3070225"/>
            <a:ext cx="3748087" cy="3451225"/>
          </a:xfrm>
          <a:prstGeom prst="rect">
            <a:avLst/>
          </a:prstGeom>
          <a:noFill/>
          <a:ln w="9525">
            <a:noFill/>
            <a:miter lim="800000"/>
            <a:headEnd/>
            <a:tailEnd/>
          </a:ln>
        </p:spPr>
      </p:pic>
      <p:pic>
        <p:nvPicPr>
          <p:cNvPr id="77831" name="图片 26"/>
          <p:cNvPicPr>
            <a:picLocks noChangeAspect="1" noChangeArrowheads="1"/>
          </p:cNvPicPr>
          <p:nvPr/>
        </p:nvPicPr>
        <p:blipFill>
          <a:blip r:embed="rId3" cstate="print"/>
          <a:srcRect/>
          <a:stretch>
            <a:fillRect/>
          </a:stretch>
        </p:blipFill>
        <p:spPr bwMode="auto">
          <a:xfrm>
            <a:off x="4321175" y="3068638"/>
            <a:ext cx="4210050" cy="3452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内容占位符 13"/>
          <p:cNvSpPr>
            <a:spLocks noGrp="1" noChangeArrowheads="1"/>
          </p:cNvSpPr>
          <p:nvPr>
            <p:ph idx="4294967295"/>
          </p:nvPr>
        </p:nvSpPr>
        <p:spPr>
          <a:xfrm>
            <a:off x="395288" y="1196975"/>
            <a:ext cx="8153400" cy="468313"/>
          </a:xfrm>
        </p:spPr>
        <p:txBody>
          <a:bodyPr/>
          <a:lstStyle/>
          <a:p>
            <a:r>
              <a:rPr lang="en-US" altLang="en-US" sz="2600" smtClean="0">
                <a:solidFill>
                  <a:srgbClr val="CC0000"/>
                </a:solidFill>
              </a:rPr>
              <a:t>2.5.3 </a:t>
            </a:r>
            <a:r>
              <a:rPr lang="zh-CN" altLang="en-US" sz="2600" smtClean="0">
                <a:solidFill>
                  <a:srgbClr val="CC0000"/>
                </a:solidFill>
              </a:rPr>
              <a:t>实验内容及步骤</a:t>
            </a:r>
            <a:endParaRPr lang="zh-CN" altLang="en-US" sz="2400" smtClean="0"/>
          </a:p>
        </p:txBody>
      </p:sp>
      <p:sp>
        <p:nvSpPr>
          <p:cNvPr id="78850" name="Rectangle 2"/>
          <p:cNvSpPr txBox="1">
            <a:spLocks noChangeArrowheads="1"/>
          </p:cNvSpPr>
          <p:nvPr/>
        </p:nvSpPr>
        <p:spPr bwMode="auto">
          <a:xfrm>
            <a:off x="611188" y="188913"/>
            <a:ext cx="8305800" cy="563562"/>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78851" name="圆角矩形 5"/>
          <p:cNvSpPr>
            <a:spLocks noChangeArrowheads="1"/>
          </p:cNvSpPr>
          <p:nvPr/>
        </p:nvSpPr>
        <p:spPr bwMode="auto">
          <a:xfrm>
            <a:off x="539750" y="1665288"/>
            <a:ext cx="8172450" cy="1908175"/>
          </a:xfrm>
          <a:prstGeom prst="roundRect">
            <a:avLst>
              <a:gd name="adj" fmla="val 16667"/>
            </a:avLst>
          </a:prstGeom>
          <a:solidFill>
            <a:schemeClr val="bg1"/>
          </a:solidFill>
          <a:ln w="25400">
            <a:solidFill>
              <a:schemeClr val="tx1"/>
            </a:solidFill>
            <a:round/>
          </a:ln>
        </p:spPr>
        <p:txBody>
          <a:bodyPr anchor="ctr"/>
          <a:lstStyle/>
          <a:p>
            <a:pPr>
              <a:lnSpc>
                <a:spcPct val="90000"/>
              </a:lnSpc>
            </a:pPr>
            <a:r>
              <a:rPr lang="zh-CN" altLang="en-US" sz="2100" b="1">
                <a:latin typeface="Times New Roman" panose="02020603050405020304" pitchFamily="18" charset="0"/>
                <a:ea typeface="楷体_GB2312" panose="02010609030101010101" pitchFamily="49" charset="-122"/>
              </a:rPr>
              <a:t>3) 单击“设置新的连接或网络”链接，出现显示“设置新的连接或网络”对话框，如图2-21所示。</a:t>
            </a:r>
          </a:p>
          <a:p>
            <a:pPr>
              <a:lnSpc>
                <a:spcPct val="90000"/>
              </a:lnSpc>
            </a:pPr>
            <a:r>
              <a:rPr lang="zh-CN" altLang="en-US" sz="2100" b="1">
                <a:latin typeface="Times New Roman" panose="02020603050405020304" pitchFamily="18" charset="0"/>
                <a:ea typeface="楷体_GB2312" panose="02010609030101010101" pitchFamily="49" charset="-122"/>
              </a:rPr>
              <a:t> 4) 可以“选择一个连接选项”，连接到Internet或设置新网络。</a:t>
            </a:r>
          </a:p>
          <a:p>
            <a:pPr>
              <a:lnSpc>
                <a:spcPct val="90000"/>
              </a:lnSpc>
            </a:pPr>
            <a:r>
              <a:rPr lang="zh-CN" altLang="en-US" sz="2100" b="1">
                <a:latin typeface="Times New Roman" panose="02020603050405020304" pitchFamily="18" charset="0"/>
                <a:ea typeface="楷体_GB2312" panose="02010609030101010101" pitchFamily="49" charset="-122"/>
              </a:rPr>
              <a:t>5) 单击“设置新网络”，打开“设置新网络”对话框，如图2-22所示。可以 “选择要配置的无线路由器或访问点”，选择后单击“下一步”按钮，设置新网络。</a:t>
            </a:r>
          </a:p>
        </p:txBody>
      </p:sp>
      <p:sp>
        <p:nvSpPr>
          <p:cNvPr id="78852" name="Rectangle 7"/>
          <p:cNvSpPr>
            <a:spLocks noChangeArrowheads="1"/>
          </p:cNvSpPr>
          <p:nvPr/>
        </p:nvSpPr>
        <p:spPr bwMode="auto">
          <a:xfrm>
            <a:off x="0" y="1430338"/>
            <a:ext cx="9144000" cy="0"/>
          </a:xfrm>
          <a:prstGeom prst="rect">
            <a:avLst/>
          </a:prstGeom>
          <a:noFill/>
          <a:ln w="9525">
            <a:noFill/>
            <a:miter lim="800000"/>
          </a:ln>
        </p:spPr>
        <p:txBody>
          <a:bodyPr wrap="none" anchor="ctr">
            <a:spAutoFit/>
          </a:bodyPr>
          <a:lstStyle/>
          <a:p>
            <a:endParaRPr lang="zh-CN" altLang="en-US"/>
          </a:p>
        </p:txBody>
      </p:sp>
      <p:sp>
        <p:nvSpPr>
          <p:cNvPr id="78853" name="Rectangle 8"/>
          <p:cNvSpPr>
            <a:spLocks noChangeArrowheads="1"/>
          </p:cNvSpPr>
          <p:nvPr/>
        </p:nvSpPr>
        <p:spPr bwMode="auto">
          <a:xfrm>
            <a:off x="4448175" y="3554413"/>
            <a:ext cx="247650" cy="244475"/>
          </a:xfrm>
          <a:prstGeom prst="rect">
            <a:avLst/>
          </a:prstGeom>
          <a:noFill/>
          <a:ln w="9525">
            <a:noFill/>
            <a:miter lim="800000"/>
          </a:ln>
        </p:spPr>
        <p:txBody>
          <a:bodyPr wrap="none" anchor="ctr">
            <a:spAutoFit/>
          </a:bodyPr>
          <a:lstStyle/>
          <a:p>
            <a:pPr algn="ctr"/>
            <a:r>
              <a:rPr lang="zh-CN" altLang="en-US" sz="1000">
                <a:latin typeface="Times New Roman" panose="02020603050405020304" pitchFamily="18" charset="0"/>
              </a:rPr>
              <a:t>  </a:t>
            </a:r>
            <a:endParaRPr lang="zh-CN" altLang="en-US">
              <a:latin typeface="宋体" panose="02010600030101010101" pitchFamily="2" charset="-122"/>
            </a:endParaRPr>
          </a:p>
        </p:txBody>
      </p:sp>
      <p:sp>
        <p:nvSpPr>
          <p:cNvPr id="78854" name="Rectangle 9"/>
          <p:cNvSpPr>
            <a:spLocks noChangeArrowheads="1"/>
          </p:cNvSpPr>
          <p:nvPr/>
        </p:nvSpPr>
        <p:spPr bwMode="auto">
          <a:xfrm>
            <a:off x="1169988" y="6567488"/>
            <a:ext cx="6002337" cy="304800"/>
          </a:xfrm>
          <a:prstGeom prst="rect">
            <a:avLst/>
          </a:prstGeom>
          <a:noFill/>
          <a:ln w="9525">
            <a:noFill/>
            <a:miter lim="800000"/>
          </a:ln>
        </p:spPr>
        <p:txBody>
          <a:bodyPr wrap="none" anchor="ctr">
            <a:spAutoFit/>
          </a:bodyPr>
          <a:lstStyle/>
          <a:p>
            <a:pPr>
              <a:tabLst>
                <a:tab pos="5220970" algn="r"/>
              </a:tabLst>
            </a:pPr>
            <a:r>
              <a:rPr lang="zh-CN" altLang="en-US" sz="1400" b="1">
                <a:solidFill>
                  <a:srgbClr val="FF0000"/>
                </a:solidFill>
                <a:latin typeface="Times New Roman" panose="02020603050405020304" pitchFamily="18" charset="0"/>
              </a:rPr>
              <a:t>图</a:t>
            </a:r>
            <a:r>
              <a:rPr lang="en-US" altLang="zh-CN" sz="1400" b="1">
                <a:solidFill>
                  <a:srgbClr val="FF0000"/>
                </a:solidFill>
                <a:latin typeface="Times New Roman" panose="02020603050405020304" pitchFamily="18" charset="0"/>
              </a:rPr>
              <a:t>2-21 </a:t>
            </a:r>
            <a:r>
              <a:rPr lang="en-US" altLang="zh-CN"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无线网络属性</a:t>
            </a:r>
            <a:r>
              <a:rPr lang="zh-CN" altLang="en-US"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对话框                                         图</a:t>
            </a:r>
            <a:r>
              <a:rPr lang="en-US" altLang="zh-CN" sz="1400" b="1">
                <a:solidFill>
                  <a:srgbClr val="FF0000"/>
                </a:solidFill>
                <a:latin typeface="Times New Roman" panose="02020603050405020304" pitchFamily="18" charset="0"/>
              </a:rPr>
              <a:t>2-22 </a:t>
            </a:r>
            <a:r>
              <a:rPr lang="en-US" altLang="zh-CN"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高级</a:t>
            </a:r>
            <a:r>
              <a:rPr lang="zh-CN" altLang="en-US"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对话框</a:t>
            </a:r>
            <a:endParaRPr lang="zh-CN" altLang="en-US" sz="1400" b="1">
              <a:solidFill>
                <a:srgbClr val="FF0000"/>
              </a:solidFill>
              <a:latin typeface="Times New Roman" panose="02020603050405020304" pitchFamily="18" charset="0"/>
              <a:cs typeface="Times New Roman" panose="02020603050405020304" pitchFamily="18" charset="0"/>
            </a:endParaRPr>
          </a:p>
        </p:txBody>
      </p:sp>
      <p:sp>
        <p:nvSpPr>
          <p:cNvPr id="78855"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2800" b="1">
                <a:solidFill>
                  <a:schemeClr val="bg1"/>
                </a:solidFill>
                <a:latin typeface="Verdana" panose="020B0604030504040204" pitchFamily="34" charset="0"/>
              </a:rPr>
              <a:t>2.5 </a:t>
            </a:r>
            <a:r>
              <a:rPr lang="zh-CN" altLang="en-US" sz="2800" b="1">
                <a:solidFill>
                  <a:schemeClr val="bg1"/>
                </a:solidFill>
                <a:latin typeface="Verdana" panose="020B0604030504040204" pitchFamily="34" charset="0"/>
              </a:rPr>
              <a:t>实验二 无线网络安全设置</a:t>
            </a:r>
          </a:p>
        </p:txBody>
      </p:sp>
      <p:pic>
        <p:nvPicPr>
          <p:cNvPr id="78856" name="图片 -2147482600"/>
          <p:cNvPicPr>
            <a:picLocks noChangeAspect="1" noChangeArrowheads="1"/>
          </p:cNvPicPr>
          <p:nvPr/>
        </p:nvPicPr>
        <p:blipFill>
          <a:blip r:embed="rId2" cstate="print"/>
          <a:srcRect/>
          <a:stretch>
            <a:fillRect/>
          </a:stretch>
        </p:blipFill>
        <p:spPr bwMode="auto">
          <a:xfrm>
            <a:off x="539750" y="3798888"/>
            <a:ext cx="3495675" cy="2601912"/>
          </a:xfrm>
          <a:prstGeom prst="rect">
            <a:avLst/>
          </a:prstGeom>
          <a:noFill/>
          <a:ln w="9525">
            <a:noFill/>
            <a:miter lim="800000"/>
            <a:headEnd/>
            <a:tailEnd/>
          </a:ln>
        </p:spPr>
      </p:pic>
      <p:pic>
        <p:nvPicPr>
          <p:cNvPr id="78857" name="图片 -2147482599"/>
          <p:cNvPicPr>
            <a:picLocks noChangeAspect="1" noChangeArrowheads="1"/>
          </p:cNvPicPr>
          <p:nvPr/>
        </p:nvPicPr>
        <p:blipFill>
          <a:blip r:embed="rId3" cstate="print"/>
          <a:srcRect/>
          <a:stretch>
            <a:fillRect/>
          </a:stretch>
        </p:blipFill>
        <p:spPr bwMode="auto">
          <a:xfrm>
            <a:off x="4448175" y="3798888"/>
            <a:ext cx="3590925" cy="2601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内容占位符 13"/>
          <p:cNvSpPr>
            <a:spLocks noGrp="1" noChangeArrowheads="1"/>
          </p:cNvSpPr>
          <p:nvPr>
            <p:ph idx="4294967295"/>
          </p:nvPr>
        </p:nvSpPr>
        <p:spPr>
          <a:xfrm>
            <a:off x="457200" y="1081088"/>
            <a:ext cx="8153400" cy="468312"/>
          </a:xfrm>
        </p:spPr>
        <p:txBody>
          <a:bodyPr/>
          <a:lstStyle/>
          <a:p>
            <a:pPr algn="just"/>
            <a:r>
              <a:rPr lang="en-US" altLang="zh-CN" smtClean="0"/>
              <a:t>2. </a:t>
            </a:r>
            <a:r>
              <a:rPr lang="zh-CN" altLang="en-US" smtClean="0"/>
              <a:t>运行无线网络安全向导</a:t>
            </a:r>
            <a:endParaRPr lang="zh-CN" altLang="en-US" sz="2400" smtClean="0"/>
          </a:p>
          <a:p>
            <a:pPr>
              <a:buFont typeface="Wingdings" panose="05000000000000000000" pitchFamily="2" charset="2"/>
              <a:buNone/>
            </a:pPr>
            <a:endParaRPr lang="zh-CN" altLang="en-US" sz="2400" smtClean="0"/>
          </a:p>
        </p:txBody>
      </p:sp>
      <p:sp>
        <p:nvSpPr>
          <p:cNvPr id="79874" name="Rectangle 2"/>
          <p:cNvSpPr txBox="1">
            <a:spLocks noChangeArrowheads="1"/>
          </p:cNvSpPr>
          <p:nvPr/>
        </p:nvSpPr>
        <p:spPr bwMode="auto">
          <a:xfrm>
            <a:off x="611188" y="188913"/>
            <a:ext cx="8305800" cy="563562"/>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79875" name="圆角矩形 5"/>
          <p:cNvSpPr>
            <a:spLocks noChangeArrowheads="1"/>
          </p:cNvSpPr>
          <p:nvPr/>
        </p:nvSpPr>
        <p:spPr bwMode="auto">
          <a:xfrm>
            <a:off x="323850" y="1549400"/>
            <a:ext cx="8461375" cy="1916113"/>
          </a:xfrm>
          <a:prstGeom prst="roundRect">
            <a:avLst>
              <a:gd name="adj" fmla="val 16667"/>
            </a:avLst>
          </a:prstGeom>
          <a:solidFill>
            <a:schemeClr val="bg1"/>
          </a:solidFill>
          <a:ln w="25400">
            <a:solidFill>
              <a:schemeClr val="tx1"/>
            </a:solidFill>
            <a:round/>
          </a:ln>
        </p:spPr>
        <p:txBody>
          <a:bodyPr anchor="ctr"/>
          <a:lstStyle/>
          <a:p>
            <a:pPr indent="457200"/>
            <a:r>
              <a:rPr lang="zh-CN" altLang="en-US" b="1"/>
              <a:t>Windows提供了“无线网络安全向导”设置无线网络，可将其他计算机加入该网络。</a:t>
            </a:r>
          </a:p>
          <a:p>
            <a:pPr indent="457200"/>
            <a:r>
              <a:rPr lang="zh-CN" altLang="en-US" b="1"/>
              <a:t>1) 在“无线网络连接”窗口中单击“为家庭或小型办公室设置无线网络”，显示“无线网络安装向导”对话框，如图2-23所示。</a:t>
            </a:r>
          </a:p>
          <a:p>
            <a:pPr indent="457200"/>
            <a:r>
              <a:rPr lang="zh-CN" altLang="en-US" b="1"/>
              <a:t>2) 单击“下一步”按钮，显示“为您的无线网络创建名称”对话框，如图2-24所示。在“网络名（SSID）”文本框中为网络设置一个名称，如lab。然后选择网络密钥的分配方式。默认为“自动分配网络密钥”。</a:t>
            </a:r>
          </a:p>
        </p:txBody>
      </p:sp>
      <p:sp>
        <p:nvSpPr>
          <p:cNvPr id="79876" name="Rectangle 7"/>
          <p:cNvSpPr>
            <a:spLocks noChangeArrowheads="1"/>
          </p:cNvSpPr>
          <p:nvPr/>
        </p:nvSpPr>
        <p:spPr bwMode="auto">
          <a:xfrm>
            <a:off x="0" y="1058863"/>
            <a:ext cx="9144000" cy="0"/>
          </a:xfrm>
          <a:prstGeom prst="rect">
            <a:avLst/>
          </a:prstGeom>
          <a:noFill/>
          <a:ln w="9525">
            <a:noFill/>
            <a:miter lim="800000"/>
          </a:ln>
        </p:spPr>
        <p:txBody>
          <a:bodyPr wrap="none" anchor="ctr">
            <a:spAutoFit/>
          </a:bodyPr>
          <a:lstStyle/>
          <a:p>
            <a:endParaRPr lang="zh-CN" altLang="en-US"/>
          </a:p>
        </p:txBody>
      </p:sp>
      <p:sp>
        <p:nvSpPr>
          <p:cNvPr id="79877" name="Rectangle 8"/>
          <p:cNvSpPr>
            <a:spLocks noChangeArrowheads="1"/>
          </p:cNvSpPr>
          <p:nvPr/>
        </p:nvSpPr>
        <p:spPr bwMode="auto">
          <a:xfrm>
            <a:off x="4464050" y="3192463"/>
            <a:ext cx="215900" cy="244475"/>
          </a:xfrm>
          <a:prstGeom prst="rect">
            <a:avLst/>
          </a:prstGeom>
          <a:noFill/>
          <a:ln w="9525">
            <a:noFill/>
            <a:miter lim="800000"/>
          </a:ln>
        </p:spPr>
        <p:txBody>
          <a:bodyPr wrap="none" anchor="ctr">
            <a:spAutoFit/>
          </a:bodyPr>
          <a:lstStyle/>
          <a:p>
            <a:pPr algn="ctr"/>
            <a:r>
              <a:rPr lang="zh-CN" altLang="en-US" sz="1000">
                <a:latin typeface="Times New Roman" panose="02020603050405020304" pitchFamily="18" charset="0"/>
              </a:rPr>
              <a:t> </a:t>
            </a:r>
            <a:endParaRPr lang="zh-CN" altLang="en-US">
              <a:latin typeface="宋体" panose="02010600030101010101" pitchFamily="2" charset="-122"/>
            </a:endParaRPr>
          </a:p>
        </p:txBody>
      </p:sp>
      <p:sp>
        <p:nvSpPr>
          <p:cNvPr id="79878" name="Rectangle 9"/>
          <p:cNvSpPr>
            <a:spLocks noChangeArrowheads="1"/>
          </p:cNvSpPr>
          <p:nvPr/>
        </p:nvSpPr>
        <p:spPr bwMode="auto">
          <a:xfrm>
            <a:off x="1042988" y="6591300"/>
            <a:ext cx="6816725" cy="304800"/>
          </a:xfrm>
          <a:prstGeom prst="rect">
            <a:avLst/>
          </a:prstGeom>
          <a:noFill/>
          <a:ln w="9525">
            <a:noFill/>
            <a:miter lim="800000"/>
          </a:ln>
        </p:spPr>
        <p:txBody>
          <a:bodyPr wrap="none" anchor="ctr">
            <a:spAutoFit/>
          </a:bodyPr>
          <a:lstStyle/>
          <a:p>
            <a:pPr>
              <a:tabLst>
                <a:tab pos="5220970" algn="r"/>
              </a:tabLst>
            </a:pPr>
            <a:r>
              <a:rPr lang="zh-CN" altLang="en-US" sz="1400" b="1">
                <a:solidFill>
                  <a:srgbClr val="FF0000"/>
                </a:solidFill>
                <a:latin typeface="Times New Roman" panose="02020603050405020304" pitchFamily="18" charset="0"/>
              </a:rPr>
              <a:t>图</a:t>
            </a:r>
            <a:r>
              <a:rPr lang="en-US" altLang="zh-CN" sz="1400" b="1">
                <a:solidFill>
                  <a:srgbClr val="FF0000"/>
                </a:solidFill>
                <a:latin typeface="Times New Roman" panose="02020603050405020304" pitchFamily="18" charset="0"/>
              </a:rPr>
              <a:t>2-23 </a:t>
            </a:r>
            <a:r>
              <a:rPr lang="en-US" altLang="zh-CN"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无线网络安全向导</a:t>
            </a:r>
            <a:r>
              <a:rPr lang="zh-CN" altLang="en-US"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对话框              图</a:t>
            </a:r>
            <a:r>
              <a:rPr lang="en-US" altLang="zh-CN" sz="1400" b="1">
                <a:solidFill>
                  <a:srgbClr val="FF0000"/>
                </a:solidFill>
                <a:latin typeface="Times New Roman" panose="02020603050405020304" pitchFamily="18" charset="0"/>
              </a:rPr>
              <a:t>2-24 </a:t>
            </a:r>
            <a:r>
              <a:rPr lang="en-US" altLang="zh-CN"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为您的无线网络创建名称</a:t>
            </a:r>
            <a:r>
              <a:rPr lang="zh-CN" altLang="en-US"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对话框 </a:t>
            </a:r>
            <a:endParaRPr lang="zh-CN" altLang="en-US" sz="1400" b="1">
              <a:solidFill>
                <a:srgbClr val="FF0000"/>
              </a:solidFill>
              <a:latin typeface="Times New Roman" panose="02020603050405020304" pitchFamily="18" charset="0"/>
              <a:cs typeface="Times New Roman" panose="02020603050405020304" pitchFamily="18" charset="0"/>
            </a:endParaRPr>
          </a:p>
        </p:txBody>
      </p:sp>
      <p:sp>
        <p:nvSpPr>
          <p:cNvPr id="79879"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2800" b="1">
                <a:solidFill>
                  <a:schemeClr val="bg1"/>
                </a:solidFill>
                <a:latin typeface="Verdana" panose="020B0604030504040204" pitchFamily="34" charset="0"/>
              </a:rPr>
              <a:t>2.5 </a:t>
            </a:r>
            <a:r>
              <a:rPr lang="zh-CN" altLang="en-US" sz="2800" b="1">
                <a:solidFill>
                  <a:schemeClr val="bg1"/>
                </a:solidFill>
                <a:latin typeface="Verdana" panose="020B0604030504040204" pitchFamily="34" charset="0"/>
              </a:rPr>
              <a:t>实验二 无线网络安全设置</a:t>
            </a:r>
          </a:p>
        </p:txBody>
      </p:sp>
      <p:pic>
        <p:nvPicPr>
          <p:cNvPr id="79880" name="图片 29"/>
          <p:cNvPicPr>
            <a:picLocks noChangeAspect="1" noChangeArrowheads="1"/>
          </p:cNvPicPr>
          <p:nvPr/>
        </p:nvPicPr>
        <p:blipFill>
          <a:blip r:embed="rId2" cstate="print"/>
          <a:srcRect/>
          <a:stretch>
            <a:fillRect/>
          </a:stretch>
        </p:blipFill>
        <p:spPr bwMode="auto">
          <a:xfrm>
            <a:off x="612775" y="3536950"/>
            <a:ext cx="3651250" cy="3038475"/>
          </a:xfrm>
          <a:prstGeom prst="rect">
            <a:avLst/>
          </a:prstGeom>
          <a:noFill/>
          <a:ln w="9525">
            <a:noFill/>
            <a:miter lim="800000"/>
            <a:headEnd/>
            <a:tailEnd/>
          </a:ln>
        </p:spPr>
      </p:pic>
      <p:pic>
        <p:nvPicPr>
          <p:cNvPr id="79881" name="图片 30"/>
          <p:cNvPicPr>
            <a:picLocks noChangeAspect="1" noChangeArrowheads="1"/>
          </p:cNvPicPr>
          <p:nvPr/>
        </p:nvPicPr>
        <p:blipFill>
          <a:blip r:embed="rId3" cstate="print"/>
          <a:srcRect/>
          <a:stretch>
            <a:fillRect/>
          </a:stretch>
        </p:blipFill>
        <p:spPr bwMode="auto">
          <a:xfrm>
            <a:off x="4464050" y="3536950"/>
            <a:ext cx="3736975" cy="3038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内容占位符 13"/>
          <p:cNvSpPr>
            <a:spLocks noGrp="1" noChangeArrowheads="1"/>
          </p:cNvSpPr>
          <p:nvPr>
            <p:ph idx="4294967295"/>
          </p:nvPr>
        </p:nvSpPr>
        <p:spPr>
          <a:xfrm>
            <a:off x="323850" y="1125538"/>
            <a:ext cx="8153400" cy="503237"/>
          </a:xfrm>
        </p:spPr>
        <p:txBody>
          <a:bodyPr/>
          <a:lstStyle/>
          <a:p>
            <a:r>
              <a:rPr lang="en-US" altLang="en-US" sz="2600" smtClean="0">
                <a:solidFill>
                  <a:srgbClr val="CC0000"/>
                </a:solidFill>
              </a:rPr>
              <a:t>2.5.3 </a:t>
            </a:r>
            <a:r>
              <a:rPr lang="zh-CN" altLang="en-US" sz="2600" smtClean="0">
                <a:solidFill>
                  <a:srgbClr val="CC0000"/>
                </a:solidFill>
              </a:rPr>
              <a:t>实验内容及步骤</a:t>
            </a:r>
            <a:endParaRPr lang="zh-CN" altLang="en-US" sz="2400" smtClean="0"/>
          </a:p>
        </p:txBody>
      </p:sp>
      <p:sp>
        <p:nvSpPr>
          <p:cNvPr id="80898" name="Rectangle 2"/>
          <p:cNvSpPr txBox="1">
            <a:spLocks noChangeArrowheads="1"/>
          </p:cNvSpPr>
          <p:nvPr/>
        </p:nvSpPr>
        <p:spPr bwMode="auto">
          <a:xfrm>
            <a:off x="611188" y="188913"/>
            <a:ext cx="8305800" cy="563562"/>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80899" name="圆角矩形 5"/>
          <p:cNvSpPr>
            <a:spLocks noChangeArrowheads="1"/>
          </p:cNvSpPr>
          <p:nvPr/>
        </p:nvSpPr>
        <p:spPr bwMode="auto">
          <a:xfrm>
            <a:off x="611188" y="1665288"/>
            <a:ext cx="8064500" cy="2159000"/>
          </a:xfrm>
          <a:prstGeom prst="roundRect">
            <a:avLst>
              <a:gd name="adj" fmla="val 16667"/>
            </a:avLst>
          </a:prstGeom>
          <a:solidFill>
            <a:schemeClr val="bg1"/>
          </a:solidFill>
          <a:ln w="25400">
            <a:solidFill>
              <a:schemeClr val="tx1"/>
            </a:solidFill>
            <a:round/>
          </a:ln>
        </p:spPr>
        <p:txBody>
          <a:bodyPr anchor="ctr"/>
          <a:lstStyle/>
          <a:p>
            <a:pPr indent="457200"/>
            <a:r>
              <a:rPr lang="zh-CN" altLang="en-US" sz="2000" b="1"/>
              <a:t>若希望用户手动输入密码才能加入网络，可选中“手动分配网络密钥”按钮，然后单击“下一步”，如图2-25所示的“输入无线网络的WEP密钥”对话框，可设置一个网络密钥。要求符合条件之一：5或13个字符；10或26个字符，并使用0-9和A-F之间字符。</a:t>
            </a:r>
          </a:p>
          <a:p>
            <a:pPr indent="457200"/>
            <a:r>
              <a:rPr lang="zh-CN" altLang="en-US" sz="2000" b="1"/>
              <a:t>3) 单击“下一步”按钮，如图2-26所示的“您想如何设置网络？”对话框，选择创建无线网络的方法。</a:t>
            </a:r>
          </a:p>
        </p:txBody>
      </p:sp>
      <p:pic>
        <p:nvPicPr>
          <p:cNvPr id="80900" name="Picture 5"/>
          <p:cNvPicPr>
            <a:picLocks noChangeAspect="1" noChangeArrowheads="1"/>
          </p:cNvPicPr>
          <p:nvPr/>
        </p:nvPicPr>
        <p:blipFill>
          <a:blip r:embed="rId2" cstate="print"/>
          <a:srcRect/>
          <a:stretch>
            <a:fillRect/>
          </a:stretch>
        </p:blipFill>
        <p:spPr bwMode="auto">
          <a:xfrm>
            <a:off x="576263" y="3897313"/>
            <a:ext cx="3779837" cy="2627312"/>
          </a:xfrm>
          <a:prstGeom prst="rect">
            <a:avLst/>
          </a:prstGeom>
          <a:noFill/>
          <a:ln w="9525">
            <a:noFill/>
            <a:miter lim="800000"/>
            <a:headEnd/>
            <a:tailEnd/>
          </a:ln>
        </p:spPr>
      </p:pic>
      <p:pic>
        <p:nvPicPr>
          <p:cNvPr id="80901" name="Picture 6"/>
          <p:cNvPicPr>
            <a:picLocks noChangeAspect="1" noChangeArrowheads="1"/>
          </p:cNvPicPr>
          <p:nvPr/>
        </p:nvPicPr>
        <p:blipFill>
          <a:blip r:embed="rId3" cstate="print"/>
          <a:srcRect/>
          <a:stretch>
            <a:fillRect/>
          </a:stretch>
        </p:blipFill>
        <p:spPr bwMode="auto">
          <a:xfrm>
            <a:off x="4572000" y="3933825"/>
            <a:ext cx="3671888" cy="2627313"/>
          </a:xfrm>
          <a:prstGeom prst="rect">
            <a:avLst/>
          </a:prstGeom>
          <a:noFill/>
          <a:ln w="9525">
            <a:noFill/>
            <a:miter lim="800000"/>
            <a:headEnd/>
            <a:tailEnd/>
          </a:ln>
        </p:spPr>
      </p:pic>
      <p:sp>
        <p:nvSpPr>
          <p:cNvPr id="80902" name="Rectangle 7"/>
          <p:cNvSpPr>
            <a:spLocks noChangeArrowheads="1"/>
          </p:cNvSpPr>
          <p:nvPr/>
        </p:nvSpPr>
        <p:spPr bwMode="auto">
          <a:xfrm>
            <a:off x="0" y="1087438"/>
            <a:ext cx="9144000" cy="0"/>
          </a:xfrm>
          <a:prstGeom prst="rect">
            <a:avLst/>
          </a:prstGeom>
          <a:noFill/>
          <a:ln w="9525">
            <a:noFill/>
            <a:miter lim="800000"/>
          </a:ln>
        </p:spPr>
        <p:txBody>
          <a:bodyPr wrap="none" anchor="ctr">
            <a:spAutoFit/>
          </a:bodyPr>
          <a:lstStyle/>
          <a:p>
            <a:endParaRPr lang="zh-CN" altLang="en-US"/>
          </a:p>
        </p:txBody>
      </p:sp>
      <p:sp>
        <p:nvSpPr>
          <p:cNvPr id="80903" name="Rectangle 8"/>
          <p:cNvSpPr>
            <a:spLocks noChangeArrowheads="1"/>
          </p:cNvSpPr>
          <p:nvPr/>
        </p:nvSpPr>
        <p:spPr bwMode="auto">
          <a:xfrm>
            <a:off x="4448175" y="3192463"/>
            <a:ext cx="247650" cy="244475"/>
          </a:xfrm>
          <a:prstGeom prst="rect">
            <a:avLst/>
          </a:prstGeom>
          <a:noFill/>
          <a:ln w="9525">
            <a:noFill/>
            <a:miter lim="800000"/>
          </a:ln>
        </p:spPr>
        <p:txBody>
          <a:bodyPr wrap="none" anchor="ctr">
            <a:spAutoFit/>
          </a:bodyPr>
          <a:lstStyle/>
          <a:p>
            <a:pPr algn="ctr"/>
            <a:r>
              <a:rPr lang="zh-CN" altLang="en-US" sz="1000">
                <a:latin typeface="Times New Roman" panose="02020603050405020304" pitchFamily="18" charset="0"/>
              </a:rPr>
              <a:t>  </a:t>
            </a:r>
            <a:endParaRPr lang="zh-CN" altLang="en-US">
              <a:latin typeface="宋体" panose="02010600030101010101" pitchFamily="2" charset="-122"/>
            </a:endParaRPr>
          </a:p>
        </p:txBody>
      </p:sp>
      <p:sp>
        <p:nvSpPr>
          <p:cNvPr id="80904" name="Rectangle 9"/>
          <p:cNvSpPr>
            <a:spLocks noChangeArrowheads="1"/>
          </p:cNvSpPr>
          <p:nvPr/>
        </p:nvSpPr>
        <p:spPr bwMode="auto">
          <a:xfrm>
            <a:off x="723900" y="6561138"/>
            <a:ext cx="7351713" cy="304800"/>
          </a:xfrm>
          <a:prstGeom prst="rect">
            <a:avLst/>
          </a:prstGeom>
          <a:noFill/>
          <a:ln w="9525">
            <a:noFill/>
            <a:miter lim="800000"/>
          </a:ln>
        </p:spPr>
        <p:txBody>
          <a:bodyPr wrap="none" anchor="ctr">
            <a:spAutoFit/>
          </a:bodyPr>
          <a:lstStyle/>
          <a:p>
            <a:pPr>
              <a:tabLst>
                <a:tab pos="5220970" algn="r"/>
              </a:tabLst>
            </a:pPr>
            <a:r>
              <a:rPr lang="zh-CN" altLang="en-US" sz="1400" b="1">
                <a:solidFill>
                  <a:srgbClr val="FF0000"/>
                </a:solidFill>
                <a:latin typeface="Times New Roman" panose="02020603050405020304" pitchFamily="18" charset="0"/>
              </a:rPr>
              <a:t>图</a:t>
            </a:r>
            <a:r>
              <a:rPr lang="en-US" altLang="zh-CN" sz="1400" b="1">
                <a:solidFill>
                  <a:srgbClr val="FF0000"/>
                </a:solidFill>
                <a:latin typeface="Times New Roman" panose="02020603050405020304" pitchFamily="18" charset="0"/>
              </a:rPr>
              <a:t>2-25 </a:t>
            </a:r>
            <a:r>
              <a:rPr lang="en-US" altLang="zh-CN"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输入无线网络的</a:t>
            </a:r>
            <a:r>
              <a:rPr lang="en-US" altLang="zh-CN" sz="1400" b="1">
                <a:solidFill>
                  <a:srgbClr val="FF0000"/>
                </a:solidFill>
                <a:latin typeface="Times New Roman" panose="02020603050405020304" pitchFamily="18" charset="0"/>
              </a:rPr>
              <a:t>WEP</a:t>
            </a:r>
            <a:r>
              <a:rPr lang="zh-CN" altLang="en-US" sz="1400" b="1">
                <a:solidFill>
                  <a:srgbClr val="FF0000"/>
                </a:solidFill>
                <a:latin typeface="Times New Roman" panose="02020603050405020304" pitchFamily="18" charset="0"/>
              </a:rPr>
              <a:t>密钥</a:t>
            </a:r>
            <a:r>
              <a:rPr lang="zh-CN" altLang="en-US"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对话框                           图</a:t>
            </a:r>
            <a:r>
              <a:rPr lang="en-US" altLang="zh-CN" sz="1400" b="1">
                <a:solidFill>
                  <a:srgbClr val="FF0000"/>
                </a:solidFill>
                <a:latin typeface="Times New Roman" panose="02020603050405020304" pitchFamily="18" charset="0"/>
              </a:rPr>
              <a:t>2-26</a:t>
            </a:r>
            <a:r>
              <a:rPr lang="en-US" altLang="zh-CN"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您想如何设置网络</a:t>
            </a:r>
            <a:r>
              <a:rPr lang="zh-CN" altLang="en-US" sz="1400" b="1">
                <a:solidFill>
                  <a:srgbClr val="FF0000"/>
                </a:solidFill>
                <a:latin typeface="Courier New" panose="02070309020205020404" pitchFamily="49" charset="0"/>
              </a:rPr>
              <a:t>”</a:t>
            </a:r>
            <a:r>
              <a:rPr lang="zh-CN" altLang="en-US" sz="1400" b="1">
                <a:solidFill>
                  <a:srgbClr val="FF0000"/>
                </a:solidFill>
                <a:latin typeface="Times New Roman" panose="02020603050405020304" pitchFamily="18" charset="0"/>
              </a:rPr>
              <a:t>对话框</a:t>
            </a:r>
            <a:endParaRPr lang="zh-CN" altLang="en-US" sz="1400" b="1">
              <a:solidFill>
                <a:srgbClr val="FF0000"/>
              </a:solidFill>
              <a:latin typeface="Times New Roman" panose="02020603050405020304" pitchFamily="18" charset="0"/>
              <a:cs typeface="Times New Roman" panose="02020603050405020304" pitchFamily="18" charset="0"/>
            </a:endParaRPr>
          </a:p>
        </p:txBody>
      </p:sp>
      <p:sp>
        <p:nvSpPr>
          <p:cNvPr id="80905"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2800" b="1">
                <a:solidFill>
                  <a:schemeClr val="bg1"/>
                </a:solidFill>
                <a:latin typeface="Verdana" panose="020B0604030504040204" pitchFamily="34" charset="0"/>
              </a:rPr>
              <a:t>2.5 </a:t>
            </a:r>
            <a:r>
              <a:rPr lang="zh-CN" altLang="en-US" sz="2800" b="1">
                <a:solidFill>
                  <a:schemeClr val="bg1"/>
                </a:solidFill>
                <a:latin typeface="Verdana" panose="020B0604030504040204" pitchFamily="34" charset="0"/>
              </a:rPr>
              <a:t>实验二 无线网络安全设置</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内容占位符 13"/>
          <p:cNvSpPr>
            <a:spLocks noGrp="1" noChangeArrowheads="1"/>
          </p:cNvSpPr>
          <p:nvPr>
            <p:ph idx="4294967295"/>
          </p:nvPr>
        </p:nvSpPr>
        <p:spPr>
          <a:xfrm>
            <a:off x="395288" y="1196975"/>
            <a:ext cx="8153400" cy="576263"/>
          </a:xfrm>
        </p:spPr>
        <p:txBody>
          <a:bodyPr/>
          <a:lstStyle/>
          <a:p>
            <a:r>
              <a:rPr lang="en-US" altLang="en-US" sz="2600" smtClean="0">
                <a:solidFill>
                  <a:srgbClr val="CC0000"/>
                </a:solidFill>
              </a:rPr>
              <a:t>2.5.3 </a:t>
            </a:r>
            <a:r>
              <a:rPr lang="zh-CN" altLang="en-US" sz="2600" smtClean="0">
                <a:solidFill>
                  <a:srgbClr val="CC0000"/>
                </a:solidFill>
              </a:rPr>
              <a:t>实验内容及步骤</a:t>
            </a:r>
          </a:p>
          <a:p>
            <a:pPr>
              <a:buFont typeface="Wingdings" panose="05000000000000000000" pitchFamily="2" charset="2"/>
              <a:buNone/>
            </a:pPr>
            <a:endParaRPr lang="zh-CN" altLang="en-US" sz="2400" smtClean="0"/>
          </a:p>
          <a:p>
            <a:pPr>
              <a:buFont typeface="Wingdings" panose="05000000000000000000" pitchFamily="2" charset="2"/>
              <a:buNone/>
            </a:pPr>
            <a:endParaRPr lang="zh-CN" altLang="en-US" sz="2400" smtClean="0"/>
          </a:p>
        </p:txBody>
      </p:sp>
      <p:sp>
        <p:nvSpPr>
          <p:cNvPr id="81922" name="Rectangle 2"/>
          <p:cNvSpPr txBox="1">
            <a:spLocks noChangeArrowheads="1"/>
          </p:cNvSpPr>
          <p:nvPr/>
        </p:nvSpPr>
        <p:spPr bwMode="auto">
          <a:xfrm>
            <a:off x="611188" y="188913"/>
            <a:ext cx="8305800" cy="563562"/>
          </a:xfrm>
          <a:prstGeom prst="rect">
            <a:avLst/>
          </a:prstGeom>
          <a:noFill/>
          <a:ln w="9525">
            <a:noFill/>
            <a:miter lim="800000"/>
          </a:ln>
        </p:spPr>
        <p:txBody>
          <a:bodyPr anchor="ctr"/>
          <a:lstStyle/>
          <a:p>
            <a:pPr algn="ctr"/>
            <a:endParaRPr lang="zh-CN" altLang="en-US" sz="3200" b="1">
              <a:solidFill>
                <a:schemeClr val="bg1"/>
              </a:solidFill>
              <a:latin typeface="Verdana" panose="020B0604030504040204" pitchFamily="34" charset="0"/>
            </a:endParaRPr>
          </a:p>
        </p:txBody>
      </p:sp>
      <p:sp>
        <p:nvSpPr>
          <p:cNvPr id="81923" name="圆角矩形 5"/>
          <p:cNvSpPr>
            <a:spLocks noChangeArrowheads="1"/>
          </p:cNvSpPr>
          <p:nvPr/>
        </p:nvSpPr>
        <p:spPr bwMode="auto">
          <a:xfrm>
            <a:off x="431800" y="1674813"/>
            <a:ext cx="4681538" cy="5183187"/>
          </a:xfrm>
          <a:prstGeom prst="roundRect">
            <a:avLst>
              <a:gd name="adj" fmla="val 16667"/>
            </a:avLst>
          </a:prstGeom>
          <a:solidFill>
            <a:schemeClr val="bg1"/>
          </a:solidFill>
          <a:ln w="25400">
            <a:solidFill>
              <a:schemeClr val="tx1"/>
            </a:solidFill>
            <a:round/>
          </a:ln>
        </p:spPr>
        <p:txBody>
          <a:bodyPr anchor="ctr"/>
          <a:lstStyle/>
          <a:p>
            <a:pPr indent="457200"/>
            <a:r>
              <a:rPr lang="zh-CN" altLang="en-US" b="1"/>
              <a:t>4) 可选择使用USB闪存驱动器和手动设置两种方式。使用闪存方式比较方便，但如果没有闪存盘，则可选中“手动设置网络”单选按钮，自己动手将每一台计算机加入网络。单击“下一步”按钮，显示“向导成功地完成”对话框，如图2-27所示，单击“完成”按钮完成安装向导。</a:t>
            </a:r>
          </a:p>
          <a:p>
            <a:pPr indent="457200"/>
            <a:r>
              <a:rPr lang="zh-CN" altLang="en-US" b="1"/>
              <a:t>按上述步骤在其他电脑中运行“无线网络安装向导”并将其加入lab网络。不用无线AP也可将其加入该网络，多台电脑可组成一无线网络，可互相共享文件。</a:t>
            </a:r>
          </a:p>
          <a:p>
            <a:pPr indent="457200"/>
            <a:r>
              <a:rPr lang="zh-CN" altLang="en-US" b="1"/>
              <a:t>5) 单击“关闭”和“确定”按钮。</a:t>
            </a:r>
          </a:p>
          <a:p>
            <a:pPr indent="457200"/>
            <a:r>
              <a:rPr lang="zh-CN" altLang="en-US" b="1"/>
              <a:t>在其他电脑中进行同样设置（须使用同一服务名），然后在“无线网络配置”选项卡中重复单击“刷新”按钮，建立电脑之间无线连接，表示无线网连接已成功。</a:t>
            </a:r>
          </a:p>
        </p:txBody>
      </p:sp>
      <p:pic>
        <p:nvPicPr>
          <p:cNvPr id="81924" name="Picture 5"/>
          <p:cNvPicPr>
            <a:picLocks noChangeAspect="1" noChangeArrowheads="1"/>
          </p:cNvPicPr>
          <p:nvPr/>
        </p:nvPicPr>
        <p:blipFill>
          <a:blip r:embed="rId2" cstate="print"/>
          <a:srcRect/>
          <a:stretch>
            <a:fillRect/>
          </a:stretch>
        </p:blipFill>
        <p:spPr bwMode="auto">
          <a:xfrm>
            <a:off x="5113338" y="2513013"/>
            <a:ext cx="3995737" cy="3506787"/>
          </a:xfrm>
          <a:prstGeom prst="rect">
            <a:avLst/>
          </a:prstGeom>
          <a:noFill/>
          <a:ln w="9525">
            <a:noFill/>
            <a:miter lim="800000"/>
            <a:headEnd/>
            <a:tailEnd/>
          </a:ln>
        </p:spPr>
      </p:pic>
      <p:sp>
        <p:nvSpPr>
          <p:cNvPr id="81925" name="Rectangle 6"/>
          <p:cNvSpPr>
            <a:spLocks noChangeArrowheads="1"/>
          </p:cNvSpPr>
          <p:nvPr/>
        </p:nvSpPr>
        <p:spPr bwMode="auto">
          <a:xfrm>
            <a:off x="6011863" y="6107113"/>
            <a:ext cx="2247900" cy="336550"/>
          </a:xfrm>
          <a:prstGeom prst="rect">
            <a:avLst/>
          </a:prstGeom>
          <a:noFill/>
          <a:ln w="9525">
            <a:noFill/>
            <a:miter lim="800000"/>
          </a:ln>
        </p:spPr>
        <p:txBody>
          <a:bodyPr wrap="none" anchor="ctr">
            <a:spAutoFit/>
          </a:bodyPr>
          <a:lstStyle/>
          <a:p>
            <a:r>
              <a:rPr lang="zh-CN" altLang="en-US" sz="1600" b="1"/>
              <a:t> </a:t>
            </a:r>
            <a:r>
              <a:rPr lang="zh-CN" altLang="en-US" sz="1600" b="1">
                <a:solidFill>
                  <a:srgbClr val="FF0000"/>
                </a:solidFill>
              </a:rPr>
              <a:t>图2-27  向导成功完成 </a:t>
            </a:r>
          </a:p>
        </p:txBody>
      </p:sp>
      <p:sp>
        <p:nvSpPr>
          <p:cNvPr id="81926" name="Rectangle 13"/>
          <p:cNvSpPr>
            <a:spLocks noChangeArrowheads="1"/>
          </p:cNvSpPr>
          <p:nvPr/>
        </p:nvSpPr>
        <p:spPr bwMode="auto">
          <a:xfrm>
            <a:off x="457200" y="152400"/>
            <a:ext cx="8305800" cy="563563"/>
          </a:xfrm>
          <a:prstGeom prst="rect">
            <a:avLst/>
          </a:prstGeom>
          <a:noFill/>
          <a:ln w="9525">
            <a:noFill/>
            <a:miter lim="800000"/>
          </a:ln>
        </p:spPr>
        <p:txBody>
          <a:bodyPr anchor="ctr"/>
          <a:lstStyle/>
          <a:p>
            <a:pPr algn="ctr" eaLnBrk="0" hangingPunct="0"/>
            <a:r>
              <a:rPr lang="en-US" altLang="zh-CN" sz="2800" b="1">
                <a:solidFill>
                  <a:schemeClr val="bg1"/>
                </a:solidFill>
                <a:latin typeface="Verdana" panose="020B0604030504040204" pitchFamily="34" charset="0"/>
              </a:rPr>
              <a:t>2.5 </a:t>
            </a:r>
            <a:r>
              <a:rPr lang="zh-CN" altLang="en-US" sz="2800" b="1">
                <a:solidFill>
                  <a:schemeClr val="bg1"/>
                </a:solidFill>
                <a:latin typeface="Verdana" panose="020B0604030504040204" pitchFamily="34" charset="0"/>
              </a:rPr>
              <a:t>实验二 无线网络安全设置</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240,&quot;width&quot;:19200}"/>
</p:tagLst>
</file>

<file path=ppt/theme/theme1.xml><?xml version="1.0" encoding="utf-8"?>
<a:theme xmlns:a="http://schemas.openxmlformats.org/drawingml/2006/main" name="Ch2 网络安全技术基础">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spPr>
      <a:bodyPr wrap="none" anchor="ctr"/>
      <a:lstStyle>
        <a:defPPr algn="dist">
          <a:spcBef>
            <a:spcPct val="20000"/>
          </a:spcBef>
          <a:buFont typeface="Wingdings" panose="05000000000000000000" pitchFamily="2" charset="2"/>
          <a:buNone/>
          <a:defRPr sz="2400">
            <a:solidFill>
              <a:schemeClr val="tx2"/>
            </a:solidFill>
          </a:defRPr>
        </a:defPPr>
      </a:lstStyle>
    </a:sp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1_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1_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Ch2 网络安全技术基础</Template>
  <TotalTime>837</TotalTime>
  <Words>10523</Words>
  <Application>Microsoft Office PowerPoint</Application>
  <PresentationFormat>全屏显示(4:3)</PresentationFormat>
  <Paragraphs>736</Paragraphs>
  <Slides>94</Slides>
  <Notes>1</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0</vt:i4>
      </vt:variant>
      <vt:variant>
        <vt:lpstr>幻灯片标题</vt:lpstr>
      </vt:variant>
      <vt:variant>
        <vt:i4>94</vt:i4>
      </vt:variant>
    </vt:vector>
  </HeadingPairs>
  <TitlesOfParts>
    <vt:vector size="112" baseType="lpstr">
      <vt:lpstr>方正粗黑宋简体</vt:lpstr>
      <vt:lpstr>仿宋</vt:lpstr>
      <vt:lpstr>仿宋_GB2312</vt:lpstr>
      <vt:lpstr>黑体</vt:lpstr>
      <vt:lpstr>华文楷体</vt:lpstr>
      <vt:lpstr>楷体</vt:lpstr>
      <vt:lpstr>楷体_GB2312</vt:lpstr>
      <vt:lpstr>宋体</vt:lpstr>
      <vt:lpstr>微软雅黑</vt:lpstr>
      <vt:lpstr>Arial</vt:lpstr>
      <vt:lpstr>Arial Black</vt:lpstr>
      <vt:lpstr>Calibri</vt:lpstr>
      <vt:lpstr>Courier New</vt:lpstr>
      <vt:lpstr>Times New Roman</vt:lpstr>
      <vt:lpstr>Verdana</vt:lpstr>
      <vt:lpstr>Wingdings</vt:lpstr>
      <vt:lpstr>Ch2 网络安全技术基础</vt:lpstr>
      <vt:lpstr>1_Default Design</vt:lpstr>
      <vt:lpstr>PowerPoint 演示文稿</vt:lpstr>
      <vt:lpstr>目    录</vt:lpstr>
      <vt:lpstr>教学目标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2.5 要点小结</vt:lpstr>
      <vt:lpstr>2.5 实验二 无线网络安全设置</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网络安全技术基础</dc:title>
  <dc:creator>dreamsummit</dc:creator>
  <cp:lastModifiedBy>rlp</cp:lastModifiedBy>
  <cp:revision>86</cp:revision>
  <dcterms:created xsi:type="dcterms:W3CDTF">2020-07-17T07:00:00Z</dcterms:created>
  <dcterms:modified xsi:type="dcterms:W3CDTF">2022-09-27T06:04:29Z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KSOSaveFontToCloudKey">
    <vt:lpwstr>353300516_btnclosed</vt:lpwstr>
  </property>
  <property fmtid="{D5CDD505-2E9C-101B-9397-08002B2CF9AE}" pid="4" name="ICV">
    <vt:lpwstr>DDADCDC1D6964E888D74CC43F7C81326</vt:lpwstr>
  </property>
</Properties>
</file>