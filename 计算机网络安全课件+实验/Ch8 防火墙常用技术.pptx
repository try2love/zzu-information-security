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8"/>
  </p:handoutMasterIdLst>
  <p:sldIdLst>
    <p:sldId id="495" r:id="rId3"/>
    <p:sldId id="496" r:id="rId5"/>
    <p:sldId id="488" r:id="rId6"/>
    <p:sldId id="261" r:id="rId7"/>
    <p:sldId id="366" r:id="rId8"/>
    <p:sldId id="490" r:id="rId9"/>
    <p:sldId id="497" r:id="rId10"/>
    <p:sldId id="367" r:id="rId11"/>
    <p:sldId id="498" r:id="rId12"/>
    <p:sldId id="499" r:id="rId13"/>
    <p:sldId id="500" r:id="rId14"/>
    <p:sldId id="501" r:id="rId15"/>
    <p:sldId id="368" r:id="rId16"/>
    <p:sldId id="502" r:id="rId17"/>
    <p:sldId id="369" r:id="rId18"/>
    <p:sldId id="371" r:id="rId19"/>
    <p:sldId id="504" r:id="rId20"/>
    <p:sldId id="372" r:id="rId21"/>
    <p:sldId id="373" r:id="rId22"/>
    <p:sldId id="505" r:id="rId23"/>
    <p:sldId id="506" r:id="rId24"/>
    <p:sldId id="507" r:id="rId25"/>
    <p:sldId id="508" r:id="rId26"/>
    <p:sldId id="509" r:id="rId27"/>
    <p:sldId id="510" r:id="rId28"/>
    <p:sldId id="629" r:id="rId29"/>
    <p:sldId id="511" r:id="rId30"/>
    <p:sldId id="512" r:id="rId31"/>
    <p:sldId id="513" r:id="rId32"/>
    <p:sldId id="514" r:id="rId33"/>
    <p:sldId id="515" r:id="rId34"/>
    <p:sldId id="516" r:id="rId35"/>
    <p:sldId id="517" r:id="rId36"/>
    <p:sldId id="518" r:id="rId37"/>
    <p:sldId id="519" r:id="rId38"/>
    <p:sldId id="520" r:id="rId39"/>
    <p:sldId id="521" r:id="rId40"/>
    <p:sldId id="522" r:id="rId41"/>
    <p:sldId id="523" r:id="rId42"/>
    <p:sldId id="630" r:id="rId43"/>
    <p:sldId id="524" r:id="rId44"/>
    <p:sldId id="525" r:id="rId45"/>
    <p:sldId id="526" r:id="rId46"/>
    <p:sldId id="527" r:id="rId47"/>
    <p:sldId id="528" r:id="rId48"/>
    <p:sldId id="530" r:id="rId49"/>
    <p:sldId id="529" r:id="rId50"/>
    <p:sldId id="572" r:id="rId51"/>
    <p:sldId id="573" r:id="rId52"/>
    <p:sldId id="574" r:id="rId53"/>
    <p:sldId id="575" r:id="rId54"/>
    <p:sldId id="576" r:id="rId55"/>
    <p:sldId id="577" r:id="rId56"/>
    <p:sldId id="578" r:id="rId57"/>
    <p:sldId id="579" r:id="rId58"/>
    <p:sldId id="580" r:id="rId59"/>
    <p:sldId id="581" r:id="rId60"/>
    <p:sldId id="582" r:id="rId61"/>
    <p:sldId id="583" r:id="rId62"/>
    <p:sldId id="584" r:id="rId63"/>
    <p:sldId id="585" r:id="rId64"/>
    <p:sldId id="586" r:id="rId65"/>
    <p:sldId id="587" r:id="rId66"/>
    <p:sldId id="588" r:id="rId67"/>
    <p:sldId id="589" r:id="rId68"/>
    <p:sldId id="590" r:id="rId69"/>
    <p:sldId id="591" r:id="rId70"/>
    <p:sldId id="592" r:id="rId71"/>
    <p:sldId id="593" r:id="rId72"/>
    <p:sldId id="594" r:id="rId73"/>
    <p:sldId id="595" r:id="rId74"/>
    <p:sldId id="596" r:id="rId75"/>
    <p:sldId id="375" r:id="rId76"/>
    <p:sldId id="377" r:id="rId77"/>
    <p:sldId id="379" r:id="rId78"/>
    <p:sldId id="381" r:id="rId79"/>
    <p:sldId id="383" r:id="rId80"/>
    <p:sldId id="385" r:id="rId81"/>
    <p:sldId id="387" r:id="rId82"/>
    <p:sldId id="388" r:id="rId83"/>
    <p:sldId id="491" r:id="rId84"/>
    <p:sldId id="389" r:id="rId85"/>
    <p:sldId id="489" r:id="rId86"/>
    <p:sldId id="392" r:id="rId87"/>
    <p:sldId id="393" r:id="rId88"/>
    <p:sldId id="394" r:id="rId89"/>
    <p:sldId id="395" r:id="rId90"/>
    <p:sldId id="396" r:id="rId91"/>
    <p:sldId id="397" r:id="rId92"/>
    <p:sldId id="399" r:id="rId93"/>
    <p:sldId id="400" r:id="rId94"/>
    <p:sldId id="401" r:id="rId95"/>
    <p:sldId id="402" r:id="rId96"/>
    <p:sldId id="493" r:id="rId97"/>
    <p:sldId id="494" r:id="rId98"/>
    <p:sldId id="405" r:id="rId99"/>
    <p:sldId id="406" r:id="rId100"/>
    <p:sldId id="407" r:id="rId101"/>
    <p:sldId id="492" r:id="rId102"/>
    <p:sldId id="433" r:id="rId103"/>
    <p:sldId id="434" r:id="rId104"/>
    <p:sldId id="435" r:id="rId105"/>
    <p:sldId id="436" r:id="rId106"/>
    <p:sldId id="437" r:id="rId107"/>
  </p:sldIdLst>
  <p:sldSz cx="9144000" cy="6858000" type="screen4x3"/>
  <p:notesSz cx="6858000" cy="9144000"/>
  <p:custDataLst>
    <p:tags r:id="rId112"/>
  </p:custDataLst>
  <p:defaultTextStyle>
    <a:defPPr>
      <a:defRPr lang="en-US"/>
    </a:defPPr>
    <a:lvl1pPr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FFFF"/>
    <a:srgbClr val="0066FF"/>
    <a:srgbClr val="CC0000"/>
    <a:srgbClr val="B2B2B2"/>
    <a:srgbClr val="2B166E"/>
    <a:srgbClr val="692A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12" autoAdjust="0"/>
    <p:restoredTop sz="94652" autoAdjust="0"/>
  </p:normalViewPr>
  <p:slideViewPr>
    <p:cSldViewPr>
      <p:cViewPr varScale="1">
        <p:scale>
          <a:sx n="109" d="100"/>
          <a:sy n="109" d="100"/>
        </p:scale>
        <p:origin x="1650" y="90"/>
      </p:cViewPr>
      <p:guideLst>
        <p:guide orient="horz" pos="2160"/>
        <p:guide pos="2857"/>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2" Type="http://schemas.openxmlformats.org/officeDocument/2006/relationships/tags" Target="tags/tag2.xml"/><Relationship Id="rId111" Type="http://schemas.openxmlformats.org/officeDocument/2006/relationships/tableStyles" Target="tableStyles.xml"/><Relationship Id="rId110" Type="http://schemas.openxmlformats.org/officeDocument/2006/relationships/viewProps" Target="viewProps.xml"/><Relationship Id="rId11" Type="http://schemas.openxmlformats.org/officeDocument/2006/relationships/slide" Target="slides/slide8.xml"/><Relationship Id="rId109" Type="http://schemas.openxmlformats.org/officeDocument/2006/relationships/presProps" Target="presProps.xml"/><Relationship Id="rId108" Type="http://schemas.openxmlformats.org/officeDocument/2006/relationships/handoutMaster" Target="handoutMasters/handoutMaster1.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4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lvl1pPr>
          </a:lstStyle>
          <a:p>
            <a:pPr>
              <a:defRPr/>
            </a:pPr>
            <a:fld id="{0F9B84EA-7D68-4D60-9CB1-D50884785D1C}" type="datetimeFigureOut">
              <a:rPr lang="zh-CN" altLang="en-US"/>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noProof="1"/>
            </a:lvl1pPr>
          </a:lstStyle>
          <a:p>
            <a:pPr>
              <a:defRPr/>
            </a:pP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vl1pPr>
          </a:lstStyle>
          <a:p>
            <a:fld id="{E5B6227F-0778-442F-A98B-0441B3C8EF16}"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0" hangingPunct="0">
              <a:spcBef>
                <a:spcPct val="20000"/>
              </a:spcBef>
              <a:buFont typeface="Wingdings" panose="05000000000000000000" pitchFamily="2" charset="2"/>
              <a:buNone/>
              <a:defRPr sz="1200">
                <a:latin typeface="Arial" panose="020B0604020202020204" pitchFamily="34" charset="0"/>
              </a:defRPr>
            </a:lvl1pPr>
          </a:lstStyle>
          <a:p>
            <a:pPr>
              <a:defRPr/>
            </a:pPr>
            <a:endParaRPr lang="zh-CN" altLang="en-US"/>
          </a:p>
        </p:txBody>
      </p:sp>
      <p:sp>
        <p:nvSpPr>
          <p:cNvPr id="9011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0" hangingPunct="0">
              <a:spcBef>
                <a:spcPct val="20000"/>
              </a:spcBef>
              <a:buFont typeface="Wingdings" panose="05000000000000000000" pitchFamily="2" charset="2"/>
              <a:buNone/>
              <a:defRPr sz="1200">
                <a:latin typeface="Arial" panose="020B0604020202020204" pitchFamily="34" charset="0"/>
              </a:defRPr>
            </a:lvl1pPr>
          </a:lstStyle>
          <a:p>
            <a:pPr>
              <a:defRPr/>
            </a:pPr>
            <a:fld id="{4BC77AB1-65D6-4F30-A6EB-A337728DCC0C}" type="datetimeFigureOut">
              <a:rPr lang="zh-CN" altLang="en-US"/>
            </a:fld>
            <a:endParaRPr lang="zh-CN" altLang="en-US"/>
          </a:p>
        </p:txBody>
      </p:sp>
      <p:sp>
        <p:nvSpPr>
          <p:cNvPr id="4100"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ln>
        </p:spPr>
      </p:sp>
      <p:sp>
        <p:nvSpPr>
          <p:cNvPr id="4101" name="Rectangle 5"/>
          <p:cNvSpPr>
            <a:spLocks noGrp="1" noChangeArrowheads="1"/>
          </p:cNvSpPr>
          <p:nvPr>
            <p:ph type="body" sz="quarter" idx="9"/>
          </p:nvPr>
        </p:nvSpPr>
        <p:spPr bwMode="auto">
          <a:xfrm>
            <a:off x="685800" y="4343400"/>
            <a:ext cx="5486400" cy="41148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9011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gn="l" eaLnBrk="0" hangingPunct="0">
              <a:spcBef>
                <a:spcPct val="20000"/>
              </a:spcBef>
              <a:buFont typeface="Wingdings" panose="05000000000000000000" pitchFamily="2" charset="2"/>
              <a:buNone/>
              <a:defRPr sz="1200">
                <a:latin typeface="Arial" panose="020B0604020202020204" pitchFamily="34" charset="0"/>
              </a:defRPr>
            </a:lvl1pPr>
          </a:lstStyle>
          <a:p>
            <a:pPr>
              <a:defRPr/>
            </a:pPr>
            <a:endParaRPr lang="en-US" altLang="zh-CN"/>
          </a:p>
        </p:txBody>
      </p:sp>
      <p:sp>
        <p:nvSpPr>
          <p:cNvPr id="9011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a:spcBef>
                <a:spcPct val="20000"/>
              </a:spcBef>
              <a:defRPr sz="1200"/>
            </a:lvl1pPr>
          </a:lstStyle>
          <a:p>
            <a:fld id="{E20ACF42-5DE7-49BD-8847-65947904823D}"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noChangeArrowheads="1" noTextEdit="1"/>
          </p:cNvSpPr>
          <p:nvPr>
            <p:ph type="sldImg" idx="4294967295"/>
          </p:nvPr>
        </p:nvSpPr>
        <p:spPr>
          <a:ln>
            <a:miter lim="800000"/>
          </a:ln>
        </p:spPr>
      </p:sp>
      <p:sp>
        <p:nvSpPr>
          <p:cNvPr id="7170" name="备注占位符 2"/>
          <p:cNvSpPr>
            <a:spLocks noGrp="1" noChangeArrowheads="1"/>
          </p:cNvSpPr>
          <p:nvPr>
            <p:ph type="body" idx="4294967295"/>
          </p:nvPr>
        </p:nvSpPr>
        <p:spPr/>
        <p:txBody>
          <a:bodyPr/>
          <a:lstStyle/>
          <a:p>
            <a:pPr eaLnBrk="1" hangingPunct="1"/>
            <a:endParaRPr lang="zh-CN" altLang="en-US" smtClean="0"/>
          </a:p>
        </p:txBody>
      </p:sp>
      <p:sp>
        <p:nvSpPr>
          <p:cNvPr id="7171" name="灯片编号占位符 3"/>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spcBef>
                <a:spcPct val="20000"/>
              </a:spcBef>
            </a:pPr>
            <a:fld id="{5FCC1EEA-70C2-44AE-884A-B4C06429DDE2}"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20ACF42-5DE7-49BD-8847-65947904823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20ACF42-5DE7-49BD-8847-65947904823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20ACF42-5DE7-49BD-8847-65947904823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https://blog.csdn.net/Jhd_02/article/details/125877939</a:t>
            </a:r>
            <a:endParaRPr lang="zh-CN" altLang="en-US" dirty="0"/>
          </a:p>
        </p:txBody>
      </p:sp>
      <p:sp>
        <p:nvSpPr>
          <p:cNvPr id="4" name="灯片编号占位符 3"/>
          <p:cNvSpPr>
            <a:spLocks noGrp="1"/>
          </p:cNvSpPr>
          <p:nvPr>
            <p:ph type="sldNum" sz="quarter" idx="10"/>
          </p:nvPr>
        </p:nvSpPr>
        <p:spPr/>
        <p:txBody>
          <a:bodyPr/>
          <a:lstStyle/>
          <a:p>
            <a:fld id="{E20ACF42-5DE7-49BD-8847-65947904823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20ACF42-5DE7-49BD-8847-65947904823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9"/>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44" descr="e_12"/>
          <p:cNvPicPr>
            <a:picLocks noChangeAspect="1" noChangeArrowheads="1"/>
          </p:cNvPicPr>
          <p:nvPr userDrawn="1"/>
        </p:nvPicPr>
        <p:blipFill>
          <a:blip r:embed="rId2" cstate="print"/>
          <a:srcRect r="14461"/>
          <a:stretch>
            <a:fillRect/>
          </a:stretch>
        </p:blipFill>
        <p:spPr bwMode="auto">
          <a:xfrm>
            <a:off x="0" y="0"/>
            <a:ext cx="9144000" cy="5157788"/>
          </a:xfrm>
          <a:prstGeom prst="rect">
            <a:avLst/>
          </a:prstGeom>
          <a:noFill/>
          <a:ln w="9525">
            <a:noFill/>
            <a:miter lim="800000"/>
            <a:headEnd/>
            <a:tailEnd/>
          </a:ln>
        </p:spPr>
      </p:pic>
      <p:sp>
        <p:nvSpPr>
          <p:cNvPr id="5" name="Rectangle 45"/>
          <p:cNvSpPr>
            <a:spLocks noChangeArrowheads="1"/>
          </p:cNvSpPr>
          <p:nvPr/>
        </p:nvSpPr>
        <p:spPr bwMode="ltGray">
          <a:xfrm>
            <a:off x="0" y="6611938"/>
            <a:ext cx="9144000" cy="260350"/>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wrap="none" anchor="ctr"/>
          <a:lstStyle/>
          <a:p>
            <a:pPr algn="dist">
              <a:spcBef>
                <a:spcPct val="20000"/>
              </a:spcBef>
              <a:buFont typeface="Wingdings" panose="05000000000000000000" pitchFamily="2" charset="2"/>
              <a:buNone/>
              <a:defRPr/>
            </a:pPr>
            <a:endParaRPr lang="zh-CN" altLang="en-US">
              <a:ea typeface="+mn-ea"/>
            </a:endParaRPr>
          </a:p>
        </p:txBody>
      </p:sp>
      <p:sp>
        <p:nvSpPr>
          <p:cNvPr id="3074" name="Rectangle 2"/>
          <p:cNvSpPr>
            <a:spLocks noGrp="1" noChangeArrowheads="1"/>
          </p:cNvSpPr>
          <p:nvPr>
            <p:ph type="ctrTitle"/>
          </p:nvPr>
        </p:nvSpPr>
        <p:spPr>
          <a:xfrm>
            <a:off x="3886200" y="1371600"/>
            <a:ext cx="4876800" cy="3276600"/>
          </a:xfrm>
          <a:effectLst>
            <a:outerShdw dist="53882" dir="2700000" algn="ctr" rotWithShape="0">
              <a:schemeClr val="tx2">
                <a:alpha val="50000"/>
              </a:schemeClr>
            </a:outerShdw>
          </a:effectLst>
        </p:spPr>
        <p:txBody>
          <a:bodyPr/>
          <a:lstStyle>
            <a:lvl1pPr algn="r">
              <a:defRPr sz="4000">
                <a:solidFill>
                  <a:srgbClr val="FFFFCC"/>
                </a:solidFill>
              </a:defRPr>
            </a:lvl1pPr>
          </a:lstStyle>
          <a:p>
            <a:r>
              <a:rPr lang="zh-CN" altLang="en-US" noProof="1" smtClean="0"/>
              <a:t>单击此处编辑母版标题样式</a:t>
            </a:r>
            <a:endParaRPr lang="en-US" altLang="zh-CN" noProof="1"/>
          </a:p>
        </p:txBody>
      </p:sp>
      <p:sp>
        <p:nvSpPr>
          <p:cNvPr id="3075" name="Rectangle 3"/>
          <p:cNvSpPr>
            <a:spLocks noGrp="1" noChangeArrowheads="1"/>
          </p:cNvSpPr>
          <p:nvPr>
            <p:ph type="subTitle" idx="1"/>
          </p:nvPr>
        </p:nvSpPr>
        <p:spPr bwMode="white">
          <a:xfrm>
            <a:off x="1752600" y="5638800"/>
            <a:ext cx="6172200" cy="457200"/>
          </a:xfrm>
        </p:spPr>
        <p:txBody>
          <a:bodyPr/>
          <a:lstStyle>
            <a:lvl1pPr marL="0" indent="0" algn="ctr">
              <a:buFont typeface="Wingdings" panose="05000000000000000000" pitchFamily="2" charset="2"/>
              <a:buNone/>
              <a:defRPr sz="1500"/>
            </a:lvl1pPr>
          </a:lstStyle>
          <a:p>
            <a:r>
              <a:rPr lang="zh-CN" altLang="en-US" noProof="1" smtClean="0"/>
              <a:t>单击此处编辑母版副标题样式</a:t>
            </a:r>
            <a:endParaRPr lang="en-US" altLang="zh-CN"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E9E20648-6291-4643-A8E7-571F44F4467A}"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Rectangle 6"/>
          <p:cNvSpPr>
            <a:spLocks noGrp="1" noChangeArrowheads="1"/>
          </p:cNvSpPr>
          <p:nvPr>
            <p:ph type="sldNum" sz="quarter" idx="10"/>
          </p:nvPr>
        </p:nvSpPr>
        <p:spPr/>
        <p:txBody>
          <a:bodyPr/>
          <a:lstStyle>
            <a:lvl1pPr>
              <a:defRPr/>
            </a:lvl1pPr>
          </a:lstStyle>
          <a:p>
            <a:fld id="{BEAD7D2B-91EF-4F9F-A791-C8740997CA5D}"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F12DE92E-347A-4DA8-944D-F617E657AF45}"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9F049257-9F25-44FF-92C6-030616C00937}"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86ABC210-8ABC-4B60-84D2-E9E540C0F555}"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6D06707A-35A3-4E9D-9E07-67637F315DBD}"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7E9AE4C2-88C0-4FAD-959E-4D27A58A6164}"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7C3998FB-64AD-4E71-AFB3-EB8AEB3B57D7}"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08A6FC09-7669-4606-8A60-71ACACE6E414}"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1A54852D-8046-4BEB-9EB0-B530529C2871}" type="slidenum">
              <a:rPr lang="zh-CN" altLang="en-US"/>
            </a:fld>
            <a:endParaRPr lang="zh-CN" altLang="en-US">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1026" name="Picture 43" descr="e_11p"/>
          <p:cNvPicPr>
            <a:picLocks noChangeAspect="1" noChangeArrowheads="1"/>
          </p:cNvPicPr>
          <p:nvPr/>
        </p:nvPicPr>
        <p:blipFill>
          <a:blip r:embed="rId12" cstate="print"/>
          <a:srcRect/>
          <a:stretch>
            <a:fillRect/>
          </a:stretch>
        </p:blipFill>
        <p:spPr bwMode="auto">
          <a:xfrm>
            <a:off x="0" y="0"/>
            <a:ext cx="9144000" cy="836613"/>
          </a:xfrm>
          <a:prstGeom prst="rect">
            <a:avLst/>
          </a:prstGeom>
          <a:noFill/>
          <a:ln w="9525">
            <a:noFill/>
            <a:miter lim="800000"/>
            <a:headEnd/>
            <a:tailEnd/>
          </a:ln>
        </p:spPr>
      </p:pic>
      <p:sp>
        <p:nvSpPr>
          <p:cNvPr id="1027"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defRPr sz="1400" b="1">
                <a:latin typeface="Verdana" panose="020B0604030504040204" pitchFamily="34" charset="0"/>
              </a:defRPr>
            </a:lvl1pPr>
          </a:lstStyle>
          <a:p>
            <a:fld id="{2545F3BD-C86F-420D-9AC1-459EB9797C11}" type="slidenum">
              <a:rPr lang="zh-CN" altLang="en-US"/>
            </a:fld>
            <a:endParaRPr lang="zh-CN" altLang="en-US"/>
          </a:p>
        </p:txBody>
      </p:sp>
      <p:sp>
        <p:nvSpPr>
          <p:cNvPr id="1029"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a:defRPr/>
            </a:pPr>
            <a:endParaRPr lang="en-US" altLang="zh-CN" sz="1000" b="1">
              <a:solidFill>
                <a:schemeClr val="bg1"/>
              </a:solidFill>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defRPr>
      </a:lvl2pPr>
      <a:lvl3pPr algn="ctr" rtl="0" eaLnBrk="1" fontAlgn="base" hangingPunct="1">
        <a:spcBef>
          <a:spcPct val="0"/>
        </a:spcBef>
        <a:spcAft>
          <a:spcPct val="0"/>
        </a:spcAft>
        <a:defRPr sz="3200" b="1">
          <a:solidFill>
            <a:schemeClr val="bg1"/>
          </a:solidFill>
          <a:latin typeface="Verdana" panose="020B0604030504040204" pitchFamily="34" charset="0"/>
        </a:defRPr>
      </a:lvl3pPr>
      <a:lvl4pPr algn="ctr" rtl="0" eaLnBrk="1" fontAlgn="base" hangingPunct="1">
        <a:spcBef>
          <a:spcPct val="0"/>
        </a:spcBef>
        <a:spcAft>
          <a:spcPct val="0"/>
        </a:spcAft>
        <a:defRPr sz="3200" b="1">
          <a:solidFill>
            <a:schemeClr val="bg1"/>
          </a:solidFill>
          <a:latin typeface="Verdana" panose="020B0604030504040204" pitchFamily="34" charset="0"/>
        </a:defRPr>
      </a:lvl4pPr>
      <a:lvl5pPr algn="ctr" rtl="0" eaLnBrk="1" fontAlgn="base" hangingPunct="1">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1" fontAlgn="base" hangingPunct="1">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1" fontAlgn="base" hangingPunct="1">
        <a:spcBef>
          <a:spcPct val="20000"/>
        </a:spcBef>
        <a:spcAft>
          <a:spcPct val="0"/>
        </a:spcAft>
        <a:defRPr sz="1600">
          <a:solidFill>
            <a:schemeClr val="tx1"/>
          </a:solidFill>
          <a:latin typeface="+mn-lt"/>
          <a:ea typeface="+mn-ea"/>
        </a:defRPr>
      </a:lvl4pPr>
      <a:lvl5pPr marL="2057400" indent="-228600" algn="l" rtl="0" eaLnBrk="1" fontAlgn="base" hangingPunct="1">
        <a:spcBef>
          <a:spcPct val="20000"/>
        </a:spcBef>
        <a:spcAft>
          <a:spcPct val="0"/>
        </a:spcAft>
        <a:buChar char="»"/>
        <a:defRPr sz="1400">
          <a:solidFill>
            <a:schemeClr val="tx1"/>
          </a:solidFill>
          <a:latin typeface="+mn-lt"/>
          <a:ea typeface="+mn-ea"/>
        </a:defRPr>
      </a:lvl5pPr>
      <a:lvl6pPr marL="2514600" indent="-228600" algn="l" rtl="0" eaLnBrk="1" fontAlgn="base" hangingPunct="1">
        <a:spcBef>
          <a:spcPct val="20000"/>
        </a:spcBef>
        <a:spcAft>
          <a:spcPct val="0"/>
        </a:spcAft>
        <a:buChar char="»"/>
        <a:defRPr sz="1400">
          <a:solidFill>
            <a:schemeClr val="tx1"/>
          </a:solidFill>
          <a:latin typeface="+mn-lt"/>
          <a:ea typeface="+mn-ea"/>
        </a:defRPr>
      </a:lvl6pPr>
      <a:lvl7pPr marL="2971800" indent="-228600" algn="l" rtl="0" eaLnBrk="1" fontAlgn="base" hangingPunct="1">
        <a:spcBef>
          <a:spcPct val="20000"/>
        </a:spcBef>
        <a:spcAft>
          <a:spcPct val="0"/>
        </a:spcAft>
        <a:buChar char="»"/>
        <a:defRPr sz="1400">
          <a:solidFill>
            <a:schemeClr val="tx1"/>
          </a:solidFill>
          <a:latin typeface="+mn-lt"/>
          <a:ea typeface="+mn-ea"/>
        </a:defRPr>
      </a:lvl7pPr>
      <a:lvl8pPr marL="3429000" indent="-228600" algn="l" rtl="0" eaLnBrk="1" fontAlgn="base" hangingPunct="1">
        <a:spcBef>
          <a:spcPct val="20000"/>
        </a:spcBef>
        <a:spcAft>
          <a:spcPct val="0"/>
        </a:spcAft>
        <a:buChar char="»"/>
        <a:defRPr sz="1400">
          <a:solidFill>
            <a:schemeClr val="tx1"/>
          </a:solidFill>
          <a:latin typeface="+mn-lt"/>
          <a:ea typeface="+mn-ea"/>
        </a:defRPr>
      </a:lvl8pPr>
      <a:lvl9pPr marL="3886200" indent="-228600" algn="l" rtl="0" eaLnBrk="1" fontAlgn="base" hangingPunct="1">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wm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w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hyperlink" Target="https://wenku.baidu.com/view/aaed53ca5901020206409c13.html"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baike.baidu.com/item/nat/320024?fr=aladdin"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tags" Target="../tags/tag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4.wmf"/><Relationship Id="rId1" Type="http://schemas.openxmlformats.org/officeDocument/2006/relationships/oleObject" Target="../embeddings/oleObject1.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2.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3.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28.emf"/><Relationship Id="rId1" Type="http://schemas.openxmlformats.org/officeDocument/2006/relationships/oleObject" Target="../embeddings/oleObject4.bin"/></Relationships>
</file>

<file path=ppt/slides/_rels/slide7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29.emf"/><Relationship Id="rId1" Type="http://schemas.openxmlformats.org/officeDocument/2006/relationships/oleObject" Target="../embeddings/oleObject5.bin"/></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30.emf"/><Relationship Id="rId1" Type="http://schemas.openxmlformats.org/officeDocument/2006/relationships/oleObject" Target="../embeddings/oleObject6.bin"/></Relationships>
</file>

<file path=ppt/slides/_rels/slide7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31.emf"/><Relationship Id="rId1" Type="http://schemas.openxmlformats.org/officeDocument/2006/relationships/oleObject" Target="../embeddings/oleObject7.bin"/></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32.emf"/><Relationship Id="rId1" Type="http://schemas.openxmlformats.org/officeDocument/2006/relationships/oleObject" Target="../embeddings/oleObject8.bin"/></Relationships>
</file>

<file path=ppt/slides/_rels/slide78.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33.emf"/><Relationship Id="rId1" Type="http://schemas.openxmlformats.org/officeDocument/2006/relationships/oleObject" Target="../embeddings/oleObject9.bin"/></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GI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35.emf"/><Relationship Id="rId1" Type="http://schemas.openxmlformats.org/officeDocument/2006/relationships/oleObject" Target="../embeddings/oleObject10.bin"/></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36.wmf"/><Relationship Id="rId1" Type="http://schemas.openxmlformats.org/officeDocument/2006/relationships/oleObject" Target="../embeddings/oleObject11.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86.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7.xml"/><Relationship Id="rId4" Type="http://schemas.openxmlformats.org/officeDocument/2006/relationships/image" Target="../media/image38.emf"/><Relationship Id="rId3" Type="http://schemas.openxmlformats.org/officeDocument/2006/relationships/oleObject" Target="../embeddings/oleObject13.bin"/><Relationship Id="rId2" Type="http://schemas.openxmlformats.org/officeDocument/2006/relationships/image" Target="../media/image37.emf"/><Relationship Id="rId1" Type="http://schemas.openxmlformats.org/officeDocument/2006/relationships/oleObject" Target="../embeddings/oleObject12.bin"/></Relationships>
</file>

<file path=ppt/slides/_rels/slide87.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39.emf"/><Relationship Id="rId1" Type="http://schemas.openxmlformats.org/officeDocument/2006/relationships/oleObject" Target="../embeddings/oleObject14.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41.emf"/><Relationship Id="rId3" Type="http://schemas.openxmlformats.org/officeDocument/2006/relationships/oleObject" Target="../embeddings/oleObject16.bin"/><Relationship Id="rId2" Type="http://schemas.openxmlformats.org/officeDocument/2006/relationships/image" Target="../media/image40.emf"/><Relationship Id="rId1" Type="http://schemas.openxmlformats.org/officeDocument/2006/relationships/oleObject" Target="../embeddings/oleObject15.bin"/></Relationships>
</file>

<file path=ppt/slides/_rels/slide90.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42.emf"/><Relationship Id="rId1" Type="http://schemas.openxmlformats.org/officeDocument/2006/relationships/oleObject" Target="../embeddings/oleObject17.bin"/></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wmf"/></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image" Target="../media/image14.GIF"/></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wmf"/></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GIF"/></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wmf"/></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GIF"/></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wmf"/></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wm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WordArt 15"/>
          <p:cNvSpPr>
            <a:spLocks noChangeArrowheads="1" noChangeShapeType="1" noTextEdit="1"/>
          </p:cNvSpPr>
          <p:nvPr/>
        </p:nvSpPr>
        <p:spPr bwMode="auto">
          <a:xfrm>
            <a:off x="3341688" y="1828800"/>
            <a:ext cx="5649912" cy="1066800"/>
          </a:xfrm>
          <a:prstGeom prst="rect">
            <a:avLst/>
          </a:prstGeom>
        </p:spPr>
        <p:txBody>
          <a:bodyPr wrap="none" fromWordArt="1">
            <a:prstTxWarp prst="textPlain">
              <a:avLst>
                <a:gd name="adj" fmla="val 50000"/>
              </a:avLst>
            </a:prstTxWarp>
          </a:bodyPr>
          <a:lstStyle/>
          <a:p>
            <a:pPr algn="ctr"/>
            <a:r>
              <a:rPr lang="zh-CN" altLang="en-US" sz="3600"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rPr>
              <a:t>计算机网络安全</a:t>
            </a:r>
            <a:endParaRPr lang="zh-CN" altLang="en-US" sz="3600"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endParaRPr>
          </a:p>
        </p:txBody>
      </p:sp>
      <p:sp>
        <p:nvSpPr>
          <p:cNvPr id="6151" name="流程图: 过程 9"/>
          <p:cNvSpPr>
            <a:spLocks noChangeArrowheads="1"/>
          </p:cNvSpPr>
          <p:nvPr/>
        </p:nvSpPr>
        <p:spPr bwMode="auto">
          <a:xfrm>
            <a:off x="152400" y="1905000"/>
            <a:ext cx="2514600" cy="990600"/>
          </a:xfrm>
          <a:prstGeom prst="flowChartProcess">
            <a:avLst/>
          </a:prstGeom>
          <a:noFill/>
          <a:ln w="9525">
            <a:noFill/>
            <a:miter lim="800000"/>
          </a:ln>
        </p:spPr>
        <p:txBody>
          <a:bodyPr/>
          <a:lstStyle/>
          <a:p>
            <a:pPr algn="dist" eaLnBrk="0" hangingPunct="0">
              <a:spcBef>
                <a:spcPct val="20000"/>
              </a:spcBef>
            </a:pPr>
            <a:endParaRPr lang="zh-CN" altLang="en-US">
              <a:ea typeface="宋体" panose="02010600030101010101" pitchFamily="2" charset="-122"/>
            </a:endParaRPr>
          </a:p>
        </p:txBody>
      </p:sp>
      <p:sp>
        <p:nvSpPr>
          <p:cNvPr id="4097" name="Rectangle 2"/>
          <p:cNvSpPr>
            <a:spLocks noGrp="1"/>
          </p:cNvSpPr>
          <p:nvPr/>
        </p:nvSpPr>
        <p:spPr>
          <a:xfrm>
            <a:off x="1691323" y="5400675"/>
            <a:ext cx="5761037" cy="762000"/>
          </a:xfrm>
          <a:prstGeom prst="rect">
            <a:avLst/>
          </a:prstGeom>
          <a:noFill/>
          <a:ln w="9525">
            <a:noFill/>
          </a:ln>
          <a:effectLst>
            <a:outerShdw dist="53882" dir="2699999" algn="ctr" rotWithShape="0">
              <a:schemeClr val="tx2">
                <a:alpha val="50000"/>
              </a:schemeClr>
            </a:outerShdw>
          </a:effectLst>
        </p:spPr>
        <p:txBody>
          <a:bodyPr anchor="ctr"/>
          <a:lstStyle>
            <a:lvl1pPr lvl="0">
              <a:buClrTx/>
              <a:buSzTx/>
              <a:buFontTx/>
              <a:defRPr/>
            </a:lvl1pPr>
          </a:lstStyle>
          <a:p>
            <a:r>
              <a:rPr lang="zh-CN" altLang="en-US" sz="36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8</a:t>
            </a:r>
            <a:r>
              <a:rPr lang="zh-CN" altLang="en-US" sz="36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章 防火墙常用技术</a:t>
            </a:r>
            <a:endPar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zh-CN" altLang="en-US" sz="3200" b="1" dirty="0" smtClean="0">
                <a:solidFill>
                  <a:schemeClr val="bg1"/>
                </a:solidFill>
              </a:rPr>
              <a:t>本章前言</a:t>
            </a:r>
            <a:endParaRPr lang="zh-CN" altLang="en-US" dirty="0"/>
          </a:p>
        </p:txBody>
      </p:sp>
      <p:sp>
        <p:nvSpPr>
          <p:cNvPr id="19" name="圆角矩形 18"/>
          <p:cNvSpPr/>
          <p:nvPr/>
        </p:nvSpPr>
        <p:spPr bwMode="gray">
          <a:xfrm>
            <a:off x="827584" y="1052736"/>
            <a:ext cx="7777480" cy="568863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spcBef>
                <a:spcPct val="15000"/>
              </a:spcBef>
              <a:defRPr/>
            </a:pPr>
            <a:endParaRPr lang="en-US" altLang="zh-CN"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b="1" dirty="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在现实中，一个内部网络与</a:t>
            </a:r>
            <a:r>
              <a:rPr lang="en-US" altLang="zh-CN" sz="2000" b="1" dirty="0" smtClean="0">
                <a:solidFill>
                  <a:schemeClr val="tx1"/>
                </a:solidFill>
                <a:latin typeface="Arial" panose="020B0604020202020204" pitchFamily="34" charset="0"/>
                <a:ea typeface="黑体" panose="02010609060101010101" pitchFamily="49" charset="-122"/>
              </a:rPr>
              <a:t>Internet</a:t>
            </a:r>
            <a:r>
              <a:rPr lang="zh-CN" altLang="en-US" sz="2000" b="1" dirty="0" smtClean="0">
                <a:solidFill>
                  <a:schemeClr val="tx1"/>
                </a:solidFill>
                <a:latin typeface="Arial" panose="020B0604020202020204" pitchFamily="34" charset="0"/>
                <a:ea typeface="黑体" panose="02010609060101010101" pitchFamily="49" charset="-122"/>
              </a:rPr>
              <a:t>连接，内网就可以访问外部网络并与之通信，同时，外部网络也可以访问内网并与之交互。为了安全起见，人们希望在内网和外网之间设立一个安全屏障，阻断来自外部网络对内部网络的威胁和入侵，提供扼守内网安全和审计的第一道关卡。人们习惯性地将其称为“防火墙”。</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防火墙是一种将内部网和外部网分开隔离的技术。其可以作为内外网或不同网络安全区域之间的出入口，通过执行访问策略来达到隔离和过滤的目的。</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在构建安全网络环境的过程中，防火墙作为第一道安全防线，对于网络系统的安全自然是非常重要的。</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在逻辑上，防火墙是一个分离器、一个限制器、一个分析器。可以有效监控内外网之间的任何活动，保证内部网络的安全。</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rgbClr val="FF0000"/>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rgbClr val="FF0000"/>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dirty="0">
              <a:solidFill>
                <a:schemeClr val="tx2"/>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3270250" y="228600"/>
            <a:ext cx="2159000" cy="533400"/>
          </a:xfrm>
        </p:spPr>
        <p:txBody>
          <a:bodyPr/>
          <a:lstStyle/>
          <a:p>
            <a:pPr eaLnBrk="1" hangingPunct="1"/>
            <a:r>
              <a:rPr lang="zh-CN" altLang="en-US" smtClean="0">
                <a:effectLst>
                  <a:outerShdw blurRad="38100" dist="38100" dir="2700000" algn="tl">
                    <a:srgbClr val="C0C0C0"/>
                  </a:outerShdw>
                </a:effectLst>
                <a:ea typeface="宋体" panose="02010600030101010101" pitchFamily="2" charset="-122"/>
              </a:rPr>
              <a:t>目    录</a:t>
            </a:r>
            <a:endParaRPr lang="zh-CN" altLang="en-US" smtClean="0">
              <a:effectLst>
                <a:outerShdw blurRad="38100" dist="38100" dir="2700000" algn="tl">
                  <a:srgbClr val="C0C0C0"/>
                </a:outerShdw>
              </a:effectLst>
              <a:ea typeface="宋体" panose="02010600030101010101" pitchFamily="2" charset="-122"/>
            </a:endParaRPr>
          </a:p>
        </p:txBody>
      </p:sp>
      <p:sp>
        <p:nvSpPr>
          <p:cNvPr id="7170"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endParaRPr lang="zh-CN" altLang="zh-CN">
              <a:latin typeface="宋体" panose="02010600030101010101" pitchFamily="2" charset="-122"/>
            </a:endParaRPr>
          </a:p>
        </p:txBody>
      </p:sp>
      <p:grpSp>
        <p:nvGrpSpPr>
          <p:cNvPr id="7171" name="Group 9"/>
          <p:cNvGrpSpPr/>
          <p:nvPr/>
        </p:nvGrpSpPr>
        <p:grpSpPr bwMode="auto">
          <a:xfrm>
            <a:off x="1912938" y="2124075"/>
            <a:ext cx="6237287" cy="619125"/>
            <a:chOff x="1296" y="1824"/>
            <a:chExt cx="3535" cy="432"/>
          </a:xfrm>
        </p:grpSpPr>
        <p:sp>
          <p:nvSpPr>
            <p:cNvPr id="3"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a:solidFill>
                  <a:schemeClr val="tx2"/>
                </a:solidFill>
                <a:latin typeface="+mn-lt"/>
                <a:ea typeface="+mn-ea"/>
              </a:endParaRPr>
            </a:p>
          </p:txBody>
        </p:sp>
        <p:sp>
          <p:nvSpPr>
            <p:cNvPr id="7173"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a:solidFill>
                  <a:schemeClr val="tx2"/>
                </a:solidFill>
                <a:latin typeface="宋体" panose="02010600030101010101" pitchFamily="2" charset="-122"/>
              </a:endParaRPr>
            </a:p>
          </p:txBody>
        </p:sp>
        <p:sp>
          <p:nvSpPr>
            <p:cNvPr id="7174" name="Text Box 12"/>
            <p:cNvSpPr txBox="1">
              <a:spLocks noChangeArrowheads="1"/>
            </p:cNvSpPr>
            <p:nvPr/>
          </p:nvSpPr>
          <p:spPr bwMode="auto">
            <a:xfrm>
              <a:off x="1680" y="1934"/>
              <a:ext cx="3151" cy="257"/>
            </a:xfrm>
            <a:prstGeom prst="rect">
              <a:avLst/>
            </a:prstGeom>
            <a:noFill/>
            <a:ln w="9525">
              <a:noFill/>
              <a:miter lim="800000"/>
            </a:ln>
          </p:spPr>
          <p:txBody>
            <a:bodyPr>
              <a:spAutoFit/>
            </a:bodyPr>
            <a:lstStyle/>
            <a:p>
              <a:r>
                <a:rPr lang="en-US" altLang="zh-CN" sz="1800" b="1" dirty="0">
                  <a:solidFill>
                    <a:schemeClr val="tx2"/>
                  </a:solidFill>
                  <a:latin typeface="宋体" panose="02010600030101010101" pitchFamily="2" charset="-122"/>
                </a:rPr>
                <a:t> 8.2 </a:t>
              </a:r>
              <a:r>
                <a:rPr lang="zh-CN" altLang="en-US" sz="1800" b="1" dirty="0" smtClean="0">
                  <a:solidFill>
                    <a:schemeClr val="tx2"/>
                  </a:solidFill>
                  <a:latin typeface="宋体" panose="02010600030101010101" pitchFamily="2" charset="-122"/>
                </a:rPr>
                <a:t>防火墙的关键技术</a:t>
              </a:r>
              <a:endParaRPr lang="zh-CN" altLang="en-US" sz="1800" b="1" dirty="0">
                <a:solidFill>
                  <a:schemeClr val="tx2"/>
                </a:solidFill>
                <a:latin typeface="宋体" panose="02010600030101010101" pitchFamily="2" charset="-122"/>
              </a:endParaRPr>
            </a:p>
          </p:txBody>
        </p:sp>
        <p:sp>
          <p:nvSpPr>
            <p:cNvPr id="7175" name="Text Box 13"/>
            <p:cNvSpPr txBox="1">
              <a:spLocks noChangeArrowheads="1"/>
            </p:cNvSpPr>
            <p:nvPr/>
          </p:nvSpPr>
          <p:spPr bwMode="auto">
            <a:xfrm>
              <a:off x="1393" y="1886"/>
              <a:ext cx="223" cy="321"/>
            </a:xfrm>
            <a:prstGeom prst="rect">
              <a:avLst/>
            </a:prstGeom>
            <a:noFill/>
            <a:ln w="9525">
              <a:noFill/>
              <a:miter lim="800000"/>
            </a:ln>
          </p:spPr>
          <p:txBody>
            <a:bodyPr>
              <a:spAutoFit/>
            </a:bodyPr>
            <a:lstStyle/>
            <a:p>
              <a:pPr algn="ctr" eaLnBrk="0" hangingPunct="0"/>
              <a:r>
                <a:rPr lang="en-US" altLang="zh-CN">
                  <a:solidFill>
                    <a:schemeClr val="tx2"/>
                  </a:solidFill>
                  <a:latin typeface="宋体" panose="02010600030101010101" pitchFamily="2" charset="-122"/>
                </a:rPr>
                <a:t>2</a:t>
              </a:r>
              <a:endParaRPr lang="en-US" altLang="zh-CN">
                <a:solidFill>
                  <a:schemeClr val="tx2"/>
                </a:solidFill>
                <a:latin typeface="宋体" panose="02010600030101010101" pitchFamily="2" charset="-122"/>
              </a:endParaRPr>
            </a:p>
          </p:txBody>
        </p:sp>
      </p:grpSp>
      <p:grpSp>
        <p:nvGrpSpPr>
          <p:cNvPr id="7176" name="Group 14"/>
          <p:cNvGrpSpPr/>
          <p:nvPr/>
        </p:nvGrpSpPr>
        <p:grpSpPr bwMode="auto">
          <a:xfrm>
            <a:off x="1895475" y="2895600"/>
            <a:ext cx="5472113" cy="668338"/>
            <a:chOff x="1296" y="1824"/>
            <a:chExt cx="3078" cy="432"/>
          </a:xfrm>
        </p:grpSpPr>
        <p:sp>
          <p:nvSpPr>
            <p:cNvPr id="4" name="AutoShape 15"/>
            <p:cNvSpPr>
              <a:spLocks noChangeArrowheads="1"/>
            </p:cNvSpPr>
            <p:nvPr/>
          </p:nvSpPr>
          <p:spPr bwMode="gray">
            <a:xfrm>
              <a:off x="1536" y="1899"/>
              <a:ext cx="2736" cy="28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a:solidFill>
                  <a:schemeClr val="tx2"/>
                </a:solidFill>
                <a:latin typeface="+mn-lt"/>
                <a:ea typeface="+mn-ea"/>
              </a:endParaRPr>
            </a:p>
          </p:txBody>
        </p:sp>
        <p:sp>
          <p:nvSpPr>
            <p:cNvPr id="7178"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lgn="dist">
                <a:spcBef>
                  <a:spcPct val="20000"/>
                </a:spcBef>
              </a:pPr>
              <a:endParaRPr lang="zh-CN" altLang="zh-CN">
                <a:solidFill>
                  <a:schemeClr val="tx2"/>
                </a:solidFill>
                <a:latin typeface="宋体" panose="02010600030101010101" pitchFamily="2" charset="-122"/>
              </a:endParaRPr>
            </a:p>
          </p:txBody>
        </p:sp>
        <p:sp>
          <p:nvSpPr>
            <p:cNvPr id="7179" name="Text Box 17"/>
            <p:cNvSpPr txBox="1">
              <a:spLocks noChangeArrowheads="1"/>
            </p:cNvSpPr>
            <p:nvPr/>
          </p:nvSpPr>
          <p:spPr bwMode="auto">
            <a:xfrm>
              <a:off x="1743" y="1936"/>
              <a:ext cx="2631" cy="238"/>
            </a:xfrm>
            <a:prstGeom prst="rect">
              <a:avLst/>
            </a:prstGeom>
            <a:noFill/>
            <a:ln w="9525">
              <a:noFill/>
              <a:miter lim="800000"/>
            </a:ln>
          </p:spPr>
          <p:txBody>
            <a:bodyPr>
              <a:spAutoFit/>
            </a:bodyPr>
            <a:lstStyle/>
            <a:p>
              <a:pPr eaLnBrk="0" hangingPunct="0"/>
              <a:r>
                <a:rPr lang="en-US" altLang="zh-CN" sz="1800" b="1" dirty="0" smtClean="0">
                  <a:solidFill>
                    <a:schemeClr val="tx2"/>
                  </a:solidFill>
                  <a:latin typeface="宋体" panose="02010600030101010101" pitchFamily="2" charset="-122"/>
                </a:rPr>
                <a:t>8.3 </a:t>
              </a:r>
              <a:r>
                <a:rPr lang="zh-CN" altLang="en-US" sz="1800" b="1" dirty="0" smtClean="0">
                  <a:solidFill>
                    <a:schemeClr val="tx2"/>
                  </a:solidFill>
                  <a:latin typeface="宋体" panose="02010600030101010101" pitchFamily="2" charset="-122"/>
                </a:rPr>
                <a:t>防火墙体系结构</a:t>
              </a:r>
              <a:endParaRPr lang="zh-CN" altLang="en-US" sz="1800" b="1" dirty="0">
                <a:solidFill>
                  <a:schemeClr val="tx2"/>
                </a:solidFill>
                <a:latin typeface="宋体" panose="02010600030101010101" pitchFamily="2" charset="-122"/>
              </a:endParaRPr>
            </a:p>
          </p:txBody>
        </p:sp>
        <p:sp>
          <p:nvSpPr>
            <p:cNvPr id="7180" name="Text Box 18"/>
            <p:cNvSpPr txBox="1">
              <a:spLocks noChangeArrowheads="1"/>
            </p:cNvSpPr>
            <p:nvPr/>
          </p:nvSpPr>
          <p:spPr bwMode="auto">
            <a:xfrm>
              <a:off x="1398" y="1885"/>
              <a:ext cx="212" cy="297"/>
            </a:xfrm>
            <a:prstGeom prst="rect">
              <a:avLst/>
            </a:prstGeom>
            <a:noFill/>
            <a:ln w="9525">
              <a:noFill/>
              <a:miter lim="800000"/>
            </a:ln>
          </p:spPr>
          <p:txBody>
            <a:bodyPr>
              <a:spAutoFit/>
            </a:bodyPr>
            <a:lstStyle/>
            <a:p>
              <a:pPr algn="ctr" eaLnBrk="0" hangingPunct="0"/>
              <a:r>
                <a:rPr lang="en-US" altLang="zh-CN">
                  <a:solidFill>
                    <a:schemeClr val="tx2"/>
                  </a:solidFill>
                  <a:latin typeface="宋体" panose="02010600030101010101" pitchFamily="2" charset="-122"/>
                </a:rPr>
                <a:t>3</a:t>
              </a:r>
              <a:endParaRPr lang="en-US" altLang="zh-CN">
                <a:solidFill>
                  <a:schemeClr val="tx2"/>
                </a:solidFill>
                <a:latin typeface="宋体" panose="02010600030101010101" pitchFamily="2" charset="-122"/>
              </a:endParaRPr>
            </a:p>
          </p:txBody>
        </p:sp>
      </p:grpSp>
      <p:sp>
        <p:nvSpPr>
          <p:cNvPr id="7181" name="Rectangle 51"/>
          <p:cNvSpPr>
            <a:spLocks noChangeArrowheads="1"/>
          </p:cNvSpPr>
          <p:nvPr/>
        </p:nvSpPr>
        <p:spPr bwMode="auto">
          <a:xfrm>
            <a:off x="2270125" y="4716463"/>
            <a:ext cx="4419600" cy="457200"/>
          </a:xfrm>
          <a:prstGeom prst="rect">
            <a:avLst/>
          </a:prstGeom>
          <a:noFill/>
          <a:ln w="9525">
            <a:noFill/>
            <a:miter lim="800000"/>
          </a:ln>
        </p:spPr>
        <p:txBody>
          <a:bodyPr>
            <a:spAutoFit/>
          </a:bodyPr>
          <a:lstStyle/>
          <a:p>
            <a:pPr algn="dist">
              <a:spcBef>
                <a:spcPct val="20000"/>
              </a:spcBef>
            </a:pPr>
            <a:r>
              <a:rPr lang="en-US" altLang="zh-CN">
                <a:solidFill>
                  <a:schemeClr val="tx2"/>
                </a:solidFill>
                <a:latin typeface="宋体" panose="02010600030101010101" pitchFamily="2" charset="-122"/>
              </a:rPr>
              <a:t> </a:t>
            </a:r>
            <a:endParaRPr lang="en-US" altLang="zh-CN">
              <a:solidFill>
                <a:schemeClr val="tx2"/>
              </a:solidFill>
              <a:latin typeface="宋体" panose="02010600030101010101" pitchFamily="2" charset="-122"/>
            </a:endParaRPr>
          </a:p>
        </p:txBody>
      </p:sp>
      <p:sp>
        <p:nvSpPr>
          <p:cNvPr id="7182" name="Rectangle 52"/>
          <p:cNvSpPr>
            <a:spLocks noChangeArrowheads="1"/>
          </p:cNvSpPr>
          <p:nvPr/>
        </p:nvSpPr>
        <p:spPr bwMode="auto">
          <a:xfrm>
            <a:off x="4346575" y="3313113"/>
            <a:ext cx="336550" cy="457200"/>
          </a:xfrm>
          <a:prstGeom prst="rect">
            <a:avLst/>
          </a:prstGeom>
          <a:noFill/>
          <a:ln w="9525">
            <a:noFill/>
            <a:miter lim="800000"/>
          </a:ln>
        </p:spPr>
        <p:txBody>
          <a:bodyPr wrap="none">
            <a:spAutoFit/>
          </a:bodyPr>
          <a:lstStyle/>
          <a:p>
            <a:pPr algn="dist">
              <a:spcBef>
                <a:spcPct val="20000"/>
              </a:spcBef>
            </a:pPr>
            <a:r>
              <a:rPr lang="en-US" altLang="zh-CN">
                <a:solidFill>
                  <a:schemeClr val="tx2"/>
                </a:solidFill>
                <a:latin typeface="宋体" panose="02010600030101010101" pitchFamily="2" charset="-122"/>
              </a:rPr>
              <a:t> </a:t>
            </a:r>
            <a:endParaRPr lang="en-US" altLang="zh-CN">
              <a:solidFill>
                <a:schemeClr val="tx2"/>
              </a:solidFill>
              <a:latin typeface="宋体" panose="02010600030101010101" pitchFamily="2" charset="-122"/>
            </a:endParaRPr>
          </a:p>
        </p:txBody>
      </p:sp>
      <p:grpSp>
        <p:nvGrpSpPr>
          <p:cNvPr id="7183" name="Group 4"/>
          <p:cNvGrpSpPr/>
          <p:nvPr/>
        </p:nvGrpSpPr>
        <p:grpSpPr bwMode="auto">
          <a:xfrm>
            <a:off x="1908175" y="1398588"/>
            <a:ext cx="5278438" cy="642937"/>
            <a:chOff x="1296" y="1824"/>
            <a:chExt cx="2970" cy="432"/>
          </a:xfrm>
        </p:grpSpPr>
        <p:sp>
          <p:nvSpPr>
            <p:cNvPr id="5" name="AutoShape 5"/>
            <p:cNvSpPr>
              <a:spLocks noChangeArrowheads="1"/>
            </p:cNvSpPr>
            <p:nvPr/>
          </p:nvSpPr>
          <p:spPr bwMode="gray">
            <a:xfrm>
              <a:off x="1530"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a:solidFill>
                  <a:schemeClr val="tx2"/>
                </a:solidFill>
                <a:latin typeface="+mn-lt"/>
                <a:ea typeface="+mn-ea"/>
              </a:endParaRPr>
            </a:p>
          </p:txBody>
        </p:sp>
        <p:sp>
          <p:nvSpPr>
            <p:cNvPr id="7185"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a:solidFill>
                  <a:schemeClr val="tx2"/>
                </a:solidFill>
                <a:latin typeface="宋体" panose="02010600030101010101" pitchFamily="2" charset="-122"/>
              </a:endParaRPr>
            </a:p>
          </p:txBody>
        </p:sp>
        <p:sp>
          <p:nvSpPr>
            <p:cNvPr id="7186" name="Text Box 7"/>
            <p:cNvSpPr txBox="1">
              <a:spLocks noChangeArrowheads="1"/>
            </p:cNvSpPr>
            <p:nvPr/>
          </p:nvSpPr>
          <p:spPr bwMode="auto">
            <a:xfrm>
              <a:off x="1746" y="1934"/>
              <a:ext cx="2160" cy="248"/>
            </a:xfrm>
            <a:prstGeom prst="rect">
              <a:avLst/>
            </a:prstGeom>
            <a:noFill/>
            <a:ln w="9525">
              <a:noFill/>
              <a:miter lim="800000"/>
            </a:ln>
          </p:spPr>
          <p:txBody>
            <a:bodyPr>
              <a:spAutoFit/>
            </a:bodyPr>
            <a:lstStyle/>
            <a:p>
              <a:pPr eaLnBrk="0" hangingPunct="0"/>
              <a:r>
                <a:rPr lang="en-US" altLang="zh-CN" sz="1800" b="1">
                  <a:solidFill>
                    <a:schemeClr val="tx2"/>
                  </a:solidFill>
                  <a:latin typeface="宋体" panose="02010600030101010101" pitchFamily="2" charset="-122"/>
                </a:rPr>
                <a:t>8.1  </a:t>
              </a:r>
              <a:r>
                <a:rPr lang="zh-CN" altLang="en-US" sz="1800" b="1">
                  <a:solidFill>
                    <a:schemeClr val="tx2"/>
                  </a:solidFill>
                  <a:latin typeface="宋体" panose="02010600030101010101" pitchFamily="2" charset="-122"/>
                </a:rPr>
                <a:t>防火墙概述</a:t>
              </a:r>
              <a:endParaRPr lang="zh-CN" altLang="en-US" sz="1800" b="1">
                <a:solidFill>
                  <a:schemeClr val="tx2"/>
                </a:solidFill>
                <a:latin typeface="宋体" panose="02010600030101010101" pitchFamily="2" charset="-122"/>
              </a:endParaRPr>
            </a:p>
          </p:txBody>
        </p:sp>
        <p:sp>
          <p:nvSpPr>
            <p:cNvPr id="7187" name="Text Box 8"/>
            <p:cNvSpPr txBox="1">
              <a:spLocks noChangeArrowheads="1"/>
            </p:cNvSpPr>
            <p:nvPr/>
          </p:nvSpPr>
          <p:spPr bwMode="auto">
            <a:xfrm>
              <a:off x="1398" y="1886"/>
              <a:ext cx="212" cy="309"/>
            </a:xfrm>
            <a:prstGeom prst="rect">
              <a:avLst/>
            </a:prstGeom>
            <a:noFill/>
            <a:ln w="9525">
              <a:noFill/>
              <a:miter lim="800000"/>
            </a:ln>
          </p:spPr>
          <p:txBody>
            <a:bodyPr>
              <a:spAutoFit/>
            </a:bodyPr>
            <a:lstStyle/>
            <a:p>
              <a:pPr algn="ctr" eaLnBrk="0" hangingPunct="0"/>
              <a:r>
                <a:rPr lang="en-US" altLang="zh-CN">
                  <a:solidFill>
                    <a:schemeClr val="tx2"/>
                  </a:solidFill>
                  <a:latin typeface="宋体" panose="02010600030101010101" pitchFamily="2" charset="-122"/>
                </a:rPr>
                <a:t>1</a:t>
              </a:r>
              <a:endParaRPr lang="en-US" altLang="zh-CN">
                <a:solidFill>
                  <a:schemeClr val="tx2"/>
                </a:solidFill>
                <a:latin typeface="宋体" panose="02010600030101010101" pitchFamily="2" charset="-122"/>
              </a:endParaRPr>
            </a:p>
          </p:txBody>
        </p:sp>
      </p:grpSp>
      <p:sp>
        <p:nvSpPr>
          <p:cNvPr id="7188" name="Rectangle 182"/>
          <p:cNvSpPr>
            <a:spLocks noChangeArrowheads="1"/>
          </p:cNvSpPr>
          <p:nvPr/>
        </p:nvSpPr>
        <p:spPr bwMode="auto">
          <a:xfrm>
            <a:off x="4387850" y="3313113"/>
            <a:ext cx="184150" cy="457200"/>
          </a:xfrm>
          <a:prstGeom prst="rect">
            <a:avLst/>
          </a:prstGeom>
          <a:noFill/>
          <a:ln w="9525">
            <a:noFill/>
            <a:miter lim="800000"/>
          </a:ln>
        </p:spPr>
        <p:txBody>
          <a:bodyPr wrap="none">
            <a:spAutoFit/>
          </a:bodyPr>
          <a:lstStyle/>
          <a:p>
            <a:pPr algn="dist" eaLnBrk="0" hangingPunct="0"/>
            <a:endParaRPr lang="zh-CN" altLang="zh-CN">
              <a:solidFill>
                <a:schemeClr val="tx2"/>
              </a:solidFill>
              <a:latin typeface="宋体" panose="02010600030101010101" pitchFamily="2" charset="-122"/>
            </a:endParaRPr>
          </a:p>
        </p:txBody>
      </p:sp>
      <p:pic>
        <p:nvPicPr>
          <p:cNvPr id="7189" name="Picture 25" descr="C:\Users\user\AppData\Local\Microsoft\Windows\Temporary Internet Files\Content.IE5\BRFJ06TV\MCj04114760000[1].wmf"/>
          <p:cNvPicPr>
            <a:picLocks noChangeAspect="1" noChangeArrowheads="1"/>
          </p:cNvPicPr>
          <p:nvPr/>
        </p:nvPicPr>
        <p:blipFill>
          <a:blip r:embed="rId1" cstate="print"/>
          <a:srcRect/>
          <a:stretch>
            <a:fillRect/>
          </a:stretch>
        </p:blipFill>
        <p:spPr bwMode="auto">
          <a:xfrm flipH="1">
            <a:off x="7435850" y="5275263"/>
            <a:ext cx="1600200" cy="1466850"/>
          </a:xfrm>
          <a:prstGeom prst="rect">
            <a:avLst/>
          </a:prstGeom>
          <a:noFill/>
          <a:ln w="9525">
            <a:noFill/>
            <a:miter lim="800000"/>
            <a:headEnd/>
            <a:tailEnd/>
          </a:ln>
        </p:spPr>
      </p:pic>
      <p:grpSp>
        <p:nvGrpSpPr>
          <p:cNvPr id="28" name="Group 4"/>
          <p:cNvGrpSpPr/>
          <p:nvPr/>
        </p:nvGrpSpPr>
        <p:grpSpPr bwMode="auto">
          <a:xfrm>
            <a:off x="1996943" y="3765157"/>
            <a:ext cx="5188790" cy="619125"/>
            <a:chOff x="1260" y="1838"/>
            <a:chExt cx="2893" cy="407"/>
          </a:xfrm>
        </p:grpSpPr>
        <p:sp>
          <p:nvSpPr>
            <p:cNvPr id="29" name="AutoShape 5"/>
            <p:cNvSpPr>
              <a:spLocks noChangeArrowheads="1"/>
            </p:cNvSpPr>
            <p:nvPr/>
          </p:nvSpPr>
          <p:spPr bwMode="gray">
            <a:xfrm>
              <a:off x="1536" y="1899"/>
              <a:ext cx="2605"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a:solidFill>
                  <a:schemeClr val="tx2"/>
                </a:solidFill>
                <a:latin typeface="+mn-lt"/>
                <a:ea typeface="+mn-ea"/>
              </a:endParaRPr>
            </a:p>
          </p:txBody>
        </p:sp>
        <p:sp>
          <p:nvSpPr>
            <p:cNvPr id="30" name="AutoShape 6"/>
            <p:cNvSpPr>
              <a:spLocks noChangeArrowheads="1"/>
            </p:cNvSpPr>
            <p:nvPr/>
          </p:nvSpPr>
          <p:spPr bwMode="auto">
            <a:xfrm>
              <a:off x="1260" y="1838"/>
              <a:ext cx="331" cy="407"/>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a:solidFill>
                  <a:schemeClr val="tx2"/>
                </a:solidFill>
                <a:latin typeface="宋体" panose="02010600030101010101" pitchFamily="2" charset="-122"/>
              </a:endParaRPr>
            </a:p>
          </p:txBody>
        </p:sp>
        <p:sp>
          <p:nvSpPr>
            <p:cNvPr id="31" name="Text Box 7"/>
            <p:cNvSpPr txBox="1">
              <a:spLocks noChangeArrowheads="1"/>
            </p:cNvSpPr>
            <p:nvPr/>
          </p:nvSpPr>
          <p:spPr bwMode="auto">
            <a:xfrm>
              <a:off x="1563" y="1934"/>
              <a:ext cx="2590" cy="243"/>
            </a:xfrm>
            <a:prstGeom prst="rect">
              <a:avLst/>
            </a:prstGeom>
            <a:noFill/>
            <a:ln w="9525">
              <a:noFill/>
              <a:miter lim="800000"/>
            </a:ln>
          </p:spPr>
          <p:txBody>
            <a:bodyPr wrap="square">
              <a:spAutoFit/>
            </a:bodyPr>
            <a:lstStyle/>
            <a:p>
              <a:pPr eaLnBrk="0" hangingPunct="0"/>
              <a:r>
                <a:rPr lang="en-US" altLang="zh-CN" sz="1800" b="1" dirty="0"/>
                <a:t> </a:t>
              </a:r>
              <a:r>
                <a:rPr lang="en-US" altLang="zh-CN" sz="1800" b="1" dirty="0" smtClean="0">
                  <a:solidFill>
                    <a:schemeClr val="tx2"/>
                  </a:solidFill>
                  <a:latin typeface="宋体" panose="02010600030101010101" pitchFamily="2" charset="-122"/>
                </a:rPr>
                <a:t>8.4 </a:t>
              </a:r>
              <a:r>
                <a:rPr lang="zh-CN" altLang="en-US" sz="1800" b="1" dirty="0" smtClean="0">
                  <a:solidFill>
                    <a:schemeClr val="tx2"/>
                  </a:solidFill>
                  <a:latin typeface="宋体" panose="02010600030101010101" pitchFamily="2" charset="-122"/>
                </a:rPr>
                <a:t>分布式防火墙</a:t>
              </a:r>
              <a:endParaRPr lang="zh-CN" altLang="en-US" sz="1800" b="1" dirty="0">
                <a:solidFill>
                  <a:schemeClr val="tx2"/>
                </a:solidFill>
                <a:latin typeface="宋体" panose="02010600030101010101" pitchFamily="2" charset="-122"/>
              </a:endParaRPr>
            </a:p>
          </p:txBody>
        </p:sp>
        <p:sp>
          <p:nvSpPr>
            <p:cNvPr id="32" name="Text Box 8"/>
            <p:cNvSpPr txBox="1">
              <a:spLocks noChangeArrowheads="1"/>
            </p:cNvSpPr>
            <p:nvPr/>
          </p:nvSpPr>
          <p:spPr bwMode="auto">
            <a:xfrm>
              <a:off x="1353" y="1886"/>
              <a:ext cx="167" cy="303"/>
            </a:xfrm>
            <a:prstGeom prst="rect">
              <a:avLst/>
            </a:prstGeom>
            <a:noFill/>
            <a:ln w="9525">
              <a:noFill/>
              <a:miter lim="800000"/>
            </a:ln>
          </p:spPr>
          <p:txBody>
            <a:bodyPr>
              <a:spAutoFit/>
            </a:bodyPr>
            <a:lstStyle/>
            <a:p>
              <a:pPr algn="ctr" eaLnBrk="0" hangingPunct="0"/>
              <a:r>
                <a:rPr lang="en-US" altLang="zh-CN">
                  <a:solidFill>
                    <a:schemeClr val="tx2"/>
                  </a:solidFill>
                  <a:latin typeface="宋体" panose="02010600030101010101" pitchFamily="2" charset="-122"/>
                </a:rPr>
                <a:t>4</a:t>
              </a:r>
              <a:endParaRPr lang="en-US" altLang="zh-CN">
                <a:solidFill>
                  <a:schemeClr val="tx2"/>
                </a:solidFill>
                <a:latin typeface="宋体" panose="02010600030101010101" pitchFamily="2" charset="-122"/>
              </a:endParaRPr>
            </a:p>
          </p:txBody>
        </p:sp>
      </p:grpSp>
      <p:grpSp>
        <p:nvGrpSpPr>
          <p:cNvPr id="33" name="Group 9"/>
          <p:cNvGrpSpPr/>
          <p:nvPr/>
        </p:nvGrpSpPr>
        <p:grpSpPr bwMode="auto">
          <a:xfrm>
            <a:off x="1912938" y="4624364"/>
            <a:ext cx="6237287" cy="619125"/>
            <a:chOff x="1296" y="1824"/>
            <a:chExt cx="3535" cy="432"/>
          </a:xfrm>
        </p:grpSpPr>
        <p:sp>
          <p:nvSpPr>
            <p:cNvPr id="34"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a:solidFill>
                  <a:schemeClr val="tx2"/>
                </a:solidFill>
                <a:latin typeface="+mn-lt"/>
                <a:ea typeface="+mn-ea"/>
              </a:endParaRPr>
            </a:p>
          </p:txBody>
        </p:sp>
        <p:sp>
          <p:nvSpPr>
            <p:cNvPr id="36"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a:solidFill>
                  <a:schemeClr val="tx2"/>
                </a:solidFill>
                <a:latin typeface="宋体" panose="02010600030101010101" pitchFamily="2" charset="-122"/>
              </a:endParaRPr>
            </a:p>
          </p:txBody>
        </p:sp>
        <p:sp>
          <p:nvSpPr>
            <p:cNvPr id="37" name="Text Box 12"/>
            <p:cNvSpPr txBox="1">
              <a:spLocks noChangeArrowheads="1"/>
            </p:cNvSpPr>
            <p:nvPr/>
          </p:nvSpPr>
          <p:spPr bwMode="auto">
            <a:xfrm>
              <a:off x="1680" y="1934"/>
              <a:ext cx="3151" cy="257"/>
            </a:xfrm>
            <a:prstGeom prst="rect">
              <a:avLst/>
            </a:prstGeom>
            <a:noFill/>
            <a:ln w="9525">
              <a:noFill/>
              <a:miter lim="800000"/>
            </a:ln>
          </p:spPr>
          <p:txBody>
            <a:bodyPr>
              <a:spAutoFit/>
            </a:bodyPr>
            <a:lstStyle/>
            <a:p>
              <a:r>
                <a:rPr lang="en-US" altLang="zh-CN" sz="1800" b="1" dirty="0">
                  <a:solidFill>
                    <a:schemeClr val="tx2"/>
                  </a:solidFill>
                  <a:latin typeface="宋体" panose="02010600030101010101" pitchFamily="2" charset="-122"/>
                </a:rPr>
                <a:t> </a:t>
              </a:r>
              <a:r>
                <a:rPr lang="en-US" altLang="zh-CN" sz="1800" b="1" dirty="0" smtClean="0">
                  <a:solidFill>
                    <a:schemeClr val="tx2"/>
                  </a:solidFill>
                  <a:latin typeface="宋体" panose="02010600030101010101" pitchFamily="2" charset="-122"/>
                </a:rPr>
                <a:t>8.5 </a:t>
              </a:r>
              <a:r>
                <a:rPr lang="zh-CN" altLang="en-US" sz="1800" b="1" dirty="0" smtClean="0">
                  <a:solidFill>
                    <a:schemeClr val="tx2"/>
                  </a:solidFill>
                  <a:latin typeface="宋体" panose="02010600030101010101" pitchFamily="2" charset="-122"/>
                </a:rPr>
                <a:t>防火墙发展历史</a:t>
              </a:r>
              <a:endParaRPr lang="zh-CN" altLang="en-US" sz="1800" b="1" dirty="0">
                <a:solidFill>
                  <a:schemeClr val="tx2"/>
                </a:solidFill>
                <a:latin typeface="宋体" panose="02010600030101010101" pitchFamily="2" charset="-122"/>
              </a:endParaRPr>
            </a:p>
          </p:txBody>
        </p:sp>
        <p:sp>
          <p:nvSpPr>
            <p:cNvPr id="38" name="Text Box 13"/>
            <p:cNvSpPr txBox="1">
              <a:spLocks noChangeArrowheads="1"/>
            </p:cNvSpPr>
            <p:nvPr/>
          </p:nvSpPr>
          <p:spPr bwMode="auto">
            <a:xfrm>
              <a:off x="1393" y="1886"/>
              <a:ext cx="223" cy="321"/>
            </a:xfrm>
            <a:prstGeom prst="rect">
              <a:avLst/>
            </a:prstGeom>
            <a:noFill/>
            <a:ln w="9525">
              <a:noFill/>
              <a:miter lim="800000"/>
            </a:ln>
          </p:spPr>
          <p:txBody>
            <a:bodyPr>
              <a:spAutoFit/>
            </a:bodyPr>
            <a:lstStyle/>
            <a:p>
              <a:pPr algn="ctr" eaLnBrk="0" hangingPunct="0"/>
              <a:r>
                <a:rPr lang="en-US" altLang="zh-CN" dirty="0" smtClean="0">
                  <a:solidFill>
                    <a:schemeClr val="tx2"/>
                  </a:solidFill>
                  <a:latin typeface="宋体" panose="02010600030101010101" pitchFamily="2" charset="-122"/>
                </a:rPr>
                <a:t>5</a:t>
              </a:r>
              <a:endParaRPr lang="en-US" altLang="zh-CN" dirty="0">
                <a:solidFill>
                  <a:schemeClr val="tx2"/>
                </a:solidFill>
                <a:latin typeface="宋体" panose="02010600030101010101" pitchFamily="2" charset="-122"/>
              </a:endParaRPr>
            </a:p>
          </p:txBody>
        </p:sp>
      </p:grpSp>
      <p:sp>
        <p:nvSpPr>
          <p:cNvPr id="2" name="文本框 1"/>
          <p:cNvSpPr txBox="1"/>
          <p:nvPr/>
        </p:nvSpPr>
        <p:spPr>
          <a:xfrm>
            <a:off x="10260330" y="4906645"/>
            <a:ext cx="3048000" cy="460375"/>
          </a:xfrm>
          <a:prstGeom prst="rect">
            <a:avLst/>
          </a:prstGeom>
          <a:noFill/>
        </p:spPr>
        <p:txBody>
          <a:bodyPr wrap="square" rtlCol="0">
            <a:spAutoFit/>
          </a:bodyPr>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idx="4294967295"/>
          </p:nvPr>
        </p:nvSpPr>
        <p:spPr>
          <a:xfrm>
            <a:off x="428625" y="161925"/>
            <a:ext cx="8178800" cy="533400"/>
          </a:xfrm>
        </p:spPr>
        <p:txBody>
          <a:bodyPr/>
          <a:lstStyle/>
          <a:p>
            <a:pPr eaLnBrk="1" hangingPunct="1"/>
            <a:r>
              <a:rPr lang="zh-CN" altLang="en-US" smtClean="0">
                <a:ea typeface="宋体" panose="02010600030101010101" pitchFamily="2" charset="-122"/>
              </a:rPr>
              <a:t>目    录</a:t>
            </a:r>
            <a:endParaRPr lang="zh-CN" altLang="en-US" smtClean="0">
              <a:ea typeface="宋体" panose="02010600030101010101" pitchFamily="2" charset="-122"/>
            </a:endParaRPr>
          </a:p>
        </p:txBody>
      </p:sp>
      <p:sp>
        <p:nvSpPr>
          <p:cNvPr id="8194"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endParaRPr lang="zh-CN" altLang="zh-CN">
              <a:latin typeface="宋体" panose="02010600030101010101" pitchFamily="2" charset="-122"/>
            </a:endParaRPr>
          </a:p>
        </p:txBody>
      </p:sp>
      <p:sp>
        <p:nvSpPr>
          <p:cNvPr id="12292" name="Text Box 7"/>
          <p:cNvSpPr txBox="1">
            <a:spLocks noChangeArrowheads="1"/>
          </p:cNvSpPr>
          <p:nvPr/>
        </p:nvSpPr>
        <p:spPr bwMode="gray">
          <a:xfrm>
            <a:off x="1116013" y="1341438"/>
            <a:ext cx="7186612" cy="3287054"/>
          </a:xfrm>
          <a:prstGeom prst="rect">
            <a:avLst/>
          </a:prstGeom>
          <a:noFill/>
          <a:ln w="9525" algn="ctr">
            <a:no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30000"/>
              </a:spcBef>
              <a:buFont typeface="Wingdings" panose="05000000000000000000" pitchFamily="2" charset="2"/>
              <a:buNone/>
              <a:defRPr/>
            </a:pPr>
            <a:r>
              <a:rPr lang="zh-CN" altLang="en-US" sz="36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教学目标</a:t>
            </a:r>
            <a:endParaRPr lang="zh-CN" altLang="en-US" sz="36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10000"/>
              </a:lnSpc>
              <a:spcBef>
                <a:spcPct val="30000"/>
              </a:spcBef>
              <a:defRPr/>
            </a:pPr>
            <a:endParaRPr lang="zh-CN" altLang="en-US" dirty="0"/>
          </a:p>
          <a:p>
            <a:pPr eaLnBrk="1" hangingPunct="1">
              <a:lnSpc>
                <a:spcPct val="110000"/>
              </a:lnSpc>
              <a:spcBef>
                <a:spcPct val="30000"/>
              </a:spcBef>
              <a:defRPr/>
            </a:pPr>
            <a:r>
              <a:rPr lang="zh-CN" altLang="en-US" b="1" dirty="0"/>
              <a:t>●掌握防火墙的</a:t>
            </a:r>
            <a:r>
              <a:rPr lang="zh-CN" altLang="en-US" b="1" dirty="0" smtClean="0"/>
              <a:t>概念、分类、作用、局限性等</a:t>
            </a:r>
            <a:endParaRPr lang="zh-CN" altLang="en-US" b="1" dirty="0"/>
          </a:p>
          <a:p>
            <a:pPr eaLnBrk="1" hangingPunct="1">
              <a:lnSpc>
                <a:spcPct val="110000"/>
              </a:lnSpc>
              <a:spcBef>
                <a:spcPct val="30000"/>
              </a:spcBef>
              <a:defRPr/>
            </a:pPr>
            <a:r>
              <a:rPr lang="zh-CN" altLang="en-US" b="1" dirty="0" smtClean="0"/>
              <a:t>●</a:t>
            </a:r>
            <a:r>
              <a:rPr lang="zh-CN" altLang="en-US" b="1" dirty="0"/>
              <a:t>理解</a:t>
            </a:r>
            <a:r>
              <a:rPr lang="zh-CN" altLang="en-US" b="1" dirty="0" smtClean="0"/>
              <a:t>防火墙的相关技术</a:t>
            </a:r>
            <a:endParaRPr lang="en-US" altLang="zh-CN" b="1" dirty="0" smtClean="0"/>
          </a:p>
          <a:p>
            <a:pPr eaLnBrk="1" hangingPunct="1">
              <a:lnSpc>
                <a:spcPct val="110000"/>
              </a:lnSpc>
              <a:spcBef>
                <a:spcPct val="30000"/>
              </a:spcBef>
              <a:defRPr/>
            </a:pPr>
            <a:r>
              <a:rPr lang="zh-CN" altLang="en-US" b="1" dirty="0" smtClean="0"/>
              <a:t>●</a:t>
            </a:r>
            <a:r>
              <a:rPr lang="zh-CN" altLang="en-US" b="1" dirty="0"/>
              <a:t>理解防火墙</a:t>
            </a:r>
            <a:r>
              <a:rPr lang="zh-CN" altLang="en-US" b="1" dirty="0" smtClean="0"/>
              <a:t>的体系结构</a:t>
            </a:r>
            <a:endParaRPr lang="en-US" altLang="zh-CN" b="1" dirty="0" smtClean="0"/>
          </a:p>
          <a:p>
            <a:pPr eaLnBrk="1" hangingPunct="1">
              <a:lnSpc>
                <a:spcPct val="110000"/>
              </a:lnSpc>
              <a:spcBef>
                <a:spcPct val="30000"/>
              </a:spcBef>
              <a:defRPr/>
            </a:pPr>
            <a:r>
              <a:rPr lang="zh-CN" altLang="en-US" b="1" dirty="0"/>
              <a:t>●</a:t>
            </a:r>
            <a:r>
              <a:rPr lang="zh-CN" altLang="en-US" b="1" dirty="0" smtClean="0"/>
              <a:t>理解分布式防火墙的概念和特点</a:t>
            </a:r>
            <a:endParaRPr lang="en-US" altLang="zh-CN" b="1" dirty="0" smtClean="0"/>
          </a:p>
        </p:txBody>
      </p:sp>
      <p:sp>
        <p:nvSpPr>
          <p:cNvPr id="12293" name="AutoShape 5"/>
          <p:cNvSpPr>
            <a:spLocks noChangeArrowheads="1"/>
          </p:cNvSpPr>
          <p:nvPr/>
        </p:nvSpPr>
        <p:spPr bwMode="auto">
          <a:xfrm>
            <a:off x="7518400" y="2636912"/>
            <a:ext cx="936625" cy="431800"/>
          </a:xfrm>
          <a:prstGeom prst="wedgeRoundRectCallout">
            <a:avLst>
              <a:gd name="adj1" fmla="val -71523"/>
              <a:gd name="adj2" fmla="val -17278"/>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2000">
                <a:solidFill>
                  <a:srgbClr val="FF0000"/>
                </a:solidFill>
                <a:effectLst>
                  <a:outerShdw blurRad="38100" dist="38100" dir="2700000" algn="tl">
                    <a:srgbClr val="000000"/>
                  </a:outerShdw>
                </a:effectLst>
                <a:latin typeface="Arial Black" panose="020B0A04020102020204" pitchFamily="34" charset="0"/>
              </a:rPr>
              <a:t>重点</a:t>
            </a:r>
            <a:endParaRPr lang="zh-CN" altLang="en-US" sz="2000">
              <a:solidFill>
                <a:srgbClr val="FF0000"/>
              </a:solidFill>
              <a:effectLst>
                <a:outerShdw blurRad="38100" dist="38100" dir="2700000" algn="tl">
                  <a:srgbClr val="000000"/>
                </a:outerShdw>
              </a:effectLst>
              <a:latin typeface="Arial Black" panose="020B0A04020102020204" pitchFamily="34" charset="0"/>
            </a:endParaRPr>
          </a:p>
        </p:txBody>
      </p:sp>
      <p:sp>
        <p:nvSpPr>
          <p:cNvPr id="2" name="AutoShape 5"/>
          <p:cNvSpPr>
            <a:spLocks noChangeArrowheads="1"/>
          </p:cNvSpPr>
          <p:nvPr/>
        </p:nvSpPr>
        <p:spPr bwMode="auto">
          <a:xfrm>
            <a:off x="4860032" y="3140968"/>
            <a:ext cx="936625" cy="431800"/>
          </a:xfrm>
          <a:prstGeom prst="wedgeRoundRectCallout">
            <a:avLst>
              <a:gd name="adj1" fmla="val -73051"/>
              <a:gd name="adj2" fmla="val -17648"/>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2000" dirty="0">
                <a:solidFill>
                  <a:srgbClr val="FF0000"/>
                </a:solidFill>
                <a:effectLst>
                  <a:outerShdw blurRad="38100" dist="38100" dir="2700000" algn="tl">
                    <a:srgbClr val="000000"/>
                  </a:outerShdw>
                </a:effectLst>
                <a:latin typeface="Arial Black" panose="020B0A04020102020204" pitchFamily="34" charset="0"/>
              </a:rPr>
              <a:t>难</a:t>
            </a:r>
            <a:r>
              <a:rPr lang="zh-CN" altLang="en-US" sz="2000" dirty="0" smtClean="0">
                <a:solidFill>
                  <a:srgbClr val="FF0000"/>
                </a:solidFill>
                <a:effectLst>
                  <a:outerShdw blurRad="38100" dist="38100" dir="2700000" algn="tl">
                    <a:srgbClr val="000000"/>
                  </a:outerShdw>
                </a:effectLst>
                <a:latin typeface="Arial Black" panose="020B0A04020102020204" pitchFamily="34" charset="0"/>
              </a:rPr>
              <a:t>点</a:t>
            </a:r>
            <a:endParaRPr lang="zh-CN" altLang="en-US" sz="2000" dirty="0">
              <a:solidFill>
                <a:srgbClr val="FF0000"/>
              </a:solidFill>
              <a:effectLst>
                <a:outerShdw blurRad="38100" dist="38100" dir="2700000" algn="tl">
                  <a:srgbClr val="000000"/>
                </a:outerShdw>
              </a:effectLst>
              <a:latin typeface="Arial Black" panose="020B0A04020102020204" pitchFamily="34" charset="0"/>
            </a:endParaRPr>
          </a:p>
        </p:txBody>
      </p:sp>
      <p:sp>
        <p:nvSpPr>
          <p:cNvPr id="8198" name="AutoShape 12"/>
          <p:cNvSpPr>
            <a:spLocks noChangeArrowheads="1"/>
          </p:cNvSpPr>
          <p:nvPr/>
        </p:nvSpPr>
        <p:spPr bwMode="auto">
          <a:xfrm>
            <a:off x="814388" y="2203450"/>
            <a:ext cx="7339012" cy="3429000"/>
          </a:xfrm>
          <a:prstGeom prst="flowChartAlternateProcess">
            <a:avLst/>
          </a:prstGeom>
          <a:noFill/>
          <a:ln w="22225">
            <a:solidFill>
              <a:schemeClr val="tx1"/>
            </a:solidFill>
            <a:miter lim="800000"/>
          </a:ln>
        </p:spPr>
        <p:txBody>
          <a:bodyPr wrap="none" anchor="ctr"/>
          <a:lstStyle/>
          <a:p>
            <a:endParaRPr lang="zh-CN" altLang="en-US" b="1"/>
          </a:p>
        </p:txBody>
      </p:sp>
      <p:pic>
        <p:nvPicPr>
          <p:cNvPr id="8199" name="Picture 13" descr="j0195384"/>
          <p:cNvPicPr>
            <a:picLocks noChangeAspect="1" noChangeArrowheads="1"/>
          </p:cNvPicPr>
          <p:nvPr/>
        </p:nvPicPr>
        <p:blipFill>
          <a:blip r:embed="rId1" cstate="print"/>
          <a:srcRect/>
          <a:stretch>
            <a:fillRect/>
          </a:stretch>
        </p:blipFill>
        <p:spPr bwMode="auto">
          <a:xfrm>
            <a:off x="6372225" y="4868863"/>
            <a:ext cx="1127125" cy="1150937"/>
          </a:xfrm>
          <a:prstGeom prst="rect">
            <a:avLst/>
          </a:prstGeom>
          <a:noFill/>
          <a:ln w="9525">
            <a:noFill/>
            <a:miter lim="800000"/>
            <a:headEnd/>
            <a:tailEnd/>
          </a:ln>
        </p:spPr>
      </p:pic>
      <p:sp>
        <p:nvSpPr>
          <p:cNvPr id="9" name="AutoShape 5"/>
          <p:cNvSpPr>
            <a:spLocks noChangeArrowheads="1"/>
          </p:cNvSpPr>
          <p:nvPr/>
        </p:nvSpPr>
        <p:spPr bwMode="auto">
          <a:xfrm>
            <a:off x="4932040" y="3668830"/>
            <a:ext cx="936625" cy="431800"/>
          </a:xfrm>
          <a:prstGeom prst="wedgeRoundRectCallout">
            <a:avLst>
              <a:gd name="adj1" fmla="val -73051"/>
              <a:gd name="adj2" fmla="val -17648"/>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2000" dirty="0">
                <a:solidFill>
                  <a:srgbClr val="FF0000"/>
                </a:solidFill>
                <a:effectLst>
                  <a:outerShdw blurRad="38100" dist="38100" dir="2700000" algn="tl">
                    <a:srgbClr val="000000"/>
                  </a:outerShdw>
                </a:effectLst>
                <a:latin typeface="Arial Black" panose="020B0A04020102020204" pitchFamily="34" charset="0"/>
              </a:rPr>
              <a:t>难</a:t>
            </a:r>
            <a:r>
              <a:rPr lang="zh-CN" altLang="en-US" sz="2000" dirty="0" smtClean="0">
                <a:solidFill>
                  <a:srgbClr val="FF0000"/>
                </a:solidFill>
                <a:effectLst>
                  <a:outerShdw blurRad="38100" dist="38100" dir="2700000" algn="tl">
                    <a:srgbClr val="000000"/>
                  </a:outerShdw>
                </a:effectLst>
                <a:latin typeface="Arial Black" panose="020B0A04020102020204" pitchFamily="34" charset="0"/>
              </a:rPr>
              <a:t>点</a:t>
            </a:r>
            <a:endParaRPr lang="zh-CN" altLang="en-US" sz="2000" dirty="0">
              <a:solidFill>
                <a:srgbClr val="FF0000"/>
              </a:solidFill>
              <a:effectLst>
                <a:outerShdw blurRad="38100" dist="38100" dir="2700000" algn="tl">
                  <a:srgbClr val="000000"/>
                </a:outerShdw>
              </a:effectLst>
              <a:latin typeface="Arial Black" panose="020B0A040201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3"/>
          <p:cNvSpPr>
            <a:spLocks noGrp="1" noChangeArrowheads="1"/>
          </p:cNvSpPr>
          <p:nvPr>
            <p:ph type="subTitle" idx="4294967295"/>
          </p:nvPr>
        </p:nvSpPr>
        <p:spPr>
          <a:xfrm>
            <a:off x="212725" y="1101725"/>
            <a:ext cx="7777163" cy="4391025"/>
          </a:xfrm>
        </p:spPr>
        <p:txBody>
          <a:bodyPr/>
          <a:lstStyle/>
          <a:p>
            <a:pPr marL="0" indent="0" algn="just" eaLnBrk="1" hangingPunct="1">
              <a:lnSpc>
                <a:spcPct val="90000"/>
              </a:lnSpc>
              <a:buFont typeface="Wingdings" panose="05000000000000000000" pitchFamily="2" charset="2"/>
              <a:buNone/>
            </a:pPr>
            <a:r>
              <a:rPr lang="en-US" altLang="zh-CN" sz="2600" dirty="0" smtClean="0">
                <a:solidFill>
                  <a:srgbClr val="FF0000"/>
                </a:solidFill>
              </a:rPr>
              <a:t>8.1.1 </a:t>
            </a:r>
            <a:r>
              <a:rPr lang="zh-CN" altLang="en-US" sz="2600" dirty="0" smtClean="0">
                <a:solidFill>
                  <a:srgbClr val="FF0000"/>
                </a:solidFill>
              </a:rPr>
              <a:t>防火墙的概念</a:t>
            </a:r>
            <a:endParaRPr lang="zh-CN" altLang="en-US" sz="2600" dirty="0" smtClean="0">
              <a:solidFill>
                <a:srgbClr val="FF0000"/>
              </a:solidFill>
            </a:endParaRPr>
          </a:p>
          <a:p>
            <a:pPr marL="0" indent="0" algn="just" eaLnBrk="1" hangingPunct="1">
              <a:lnSpc>
                <a:spcPct val="90000"/>
              </a:lnSpc>
              <a:buFont typeface="Wingdings" panose="05000000000000000000" pitchFamily="2" charset="2"/>
              <a:buNone/>
            </a:pPr>
            <a:endParaRPr lang="zh-CN" altLang="en-US" sz="2400" dirty="0" smtClean="0">
              <a:solidFill>
                <a:srgbClr val="FF0000"/>
              </a:solidFill>
            </a:endParaRPr>
          </a:p>
          <a:p>
            <a:pPr marL="0" indent="0" algn="just" eaLnBrk="1" hangingPunct="1">
              <a:lnSpc>
                <a:spcPct val="90000"/>
              </a:lnSpc>
              <a:buFont typeface="Wingdings" panose="05000000000000000000" pitchFamily="2" charset="2"/>
              <a:buNone/>
            </a:pPr>
            <a:endParaRPr lang="zh-CN" altLang="en-US" sz="2400" dirty="0" smtClean="0">
              <a:solidFill>
                <a:srgbClr val="FF0000"/>
              </a:solidFill>
            </a:endParaRPr>
          </a:p>
          <a:p>
            <a:pPr marL="0" indent="0" algn="just" eaLnBrk="1" hangingPunct="1">
              <a:lnSpc>
                <a:spcPct val="90000"/>
              </a:lnSpc>
              <a:buFont typeface="Wingdings" panose="05000000000000000000" pitchFamily="2" charset="2"/>
              <a:buNone/>
            </a:pPr>
            <a:endParaRPr lang="zh-CN" altLang="en-US" sz="2400" dirty="0" smtClean="0">
              <a:solidFill>
                <a:srgbClr val="FF0000"/>
              </a:solidFill>
            </a:endParaRPr>
          </a:p>
          <a:p>
            <a:pPr marL="0" indent="0" algn="just" eaLnBrk="1" hangingPunct="1">
              <a:lnSpc>
                <a:spcPct val="90000"/>
              </a:lnSpc>
              <a:buFont typeface="Wingdings" panose="05000000000000000000" pitchFamily="2" charset="2"/>
              <a:buNone/>
            </a:pPr>
            <a:endParaRPr lang="zh-CN" altLang="en-US" sz="1200" dirty="0" smtClean="0">
              <a:solidFill>
                <a:srgbClr val="FF0000"/>
              </a:solidFill>
            </a:endParaRPr>
          </a:p>
          <a:p>
            <a:pPr marL="0" indent="0" algn="just" eaLnBrk="1" hangingPunct="1">
              <a:lnSpc>
                <a:spcPct val="90000"/>
              </a:lnSpc>
              <a:buFont typeface="Wingdings" panose="05000000000000000000" pitchFamily="2" charset="2"/>
              <a:buNone/>
            </a:pPr>
            <a:r>
              <a:rPr lang="zh-CN" altLang="en-US" sz="2400" dirty="0" smtClean="0"/>
              <a:t>。</a:t>
            </a:r>
            <a:endParaRPr lang="zh-CN" altLang="en-US" sz="2400" dirty="0" smtClean="0"/>
          </a:p>
        </p:txBody>
      </p:sp>
      <p:sp>
        <p:nvSpPr>
          <p:cNvPr id="9218"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9219" name="AutoShape 7"/>
          <p:cNvSpPr>
            <a:spLocks noChangeArrowheads="1"/>
          </p:cNvSpPr>
          <p:nvPr/>
        </p:nvSpPr>
        <p:spPr bwMode="auto">
          <a:xfrm>
            <a:off x="457200" y="1676400"/>
            <a:ext cx="7532688" cy="3586163"/>
          </a:xfrm>
          <a:prstGeom prst="flowChartAlternateProcess">
            <a:avLst/>
          </a:prstGeom>
          <a:noFill/>
          <a:ln w="22225">
            <a:solidFill>
              <a:schemeClr val="tx1"/>
            </a:solidFill>
            <a:miter lim="800000"/>
          </a:ln>
        </p:spPr>
        <p:txBody>
          <a:bodyPr anchor="ctr"/>
          <a:lstStyle/>
          <a:p>
            <a:r>
              <a:rPr lang="en-US" altLang="zh-CN" b="1" dirty="0"/>
              <a:t>                   </a:t>
            </a:r>
            <a:r>
              <a:rPr lang="zh-CN" altLang="zh-CN" b="1" dirty="0"/>
              <a:t>自古以来，人们就使用造</a:t>
            </a:r>
            <a:r>
              <a:rPr lang="zh-CN" altLang="zh-CN" b="1" dirty="0" smtClean="0">
                <a:solidFill>
                  <a:srgbClr val="C00000"/>
                </a:solidFill>
              </a:rPr>
              <a:t>城墙</a:t>
            </a:r>
            <a:r>
              <a:rPr lang="zh-CN" altLang="zh-CN" b="1" dirty="0" smtClean="0"/>
              <a:t>阻挡</a:t>
            </a:r>
            <a:r>
              <a:rPr lang="zh-CN" altLang="zh-CN" b="1" dirty="0"/>
              <a:t>火灾</a:t>
            </a:r>
            <a:r>
              <a:rPr lang="en-US" altLang="zh-CN" b="1" dirty="0"/>
              <a:t>/</a:t>
            </a:r>
            <a:r>
              <a:rPr lang="zh-CN" altLang="zh-CN" b="1" dirty="0"/>
              <a:t>入侵者。两千多年前的春秋战国，当时的人们已经开始修筑长城来抵御来自北方的侵略者从而保护本国的居民。古代欧洲的国王们也建造了四面高墙环绕的城堡，用来保护自己的人民免遭入侵者的掠夺。而术语“</a:t>
            </a:r>
            <a:r>
              <a:rPr lang="zh-CN" altLang="zh-CN" b="1" dirty="0">
                <a:solidFill>
                  <a:srgbClr val="FF0000"/>
                </a:solidFill>
              </a:rPr>
              <a:t>防火墙</a:t>
            </a:r>
            <a:r>
              <a:rPr lang="zh-CN" altLang="zh-CN" b="1" dirty="0"/>
              <a:t>”是指在不同建筑物间的墙，将厨房等最可能发生火灾的地方与其他的建筑物隔离开来，防止火灾在不同的建筑之间蔓延。</a:t>
            </a:r>
            <a:endParaRPr lang="zh-CN" altLang="en-US" sz="1400" dirty="0"/>
          </a:p>
        </p:txBody>
      </p:sp>
      <p:sp>
        <p:nvSpPr>
          <p:cNvPr id="13" name="圆角矩形 12"/>
          <p:cNvSpPr/>
          <p:nvPr/>
        </p:nvSpPr>
        <p:spPr bwMode="gray">
          <a:xfrm>
            <a:off x="1100138" y="1738313"/>
            <a:ext cx="1143000" cy="487362"/>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Font typeface="Wingdings" panose="05000000000000000000" pitchFamily="2" charset="2"/>
              <a:buNone/>
              <a:defRPr/>
            </a:pPr>
            <a:r>
              <a:rPr lang="zh-CN" altLang="en-US" sz="1800" b="1" dirty="0">
                <a:solidFill>
                  <a:srgbClr val="002060"/>
                </a:solidFill>
                <a:latin typeface="宋体" panose="02010600030101010101" pitchFamily="2" charset="-122"/>
              </a:rPr>
              <a:t>案例</a:t>
            </a:r>
            <a:r>
              <a:rPr lang="en-US" altLang="zh-CN" sz="1800" b="1" dirty="0">
                <a:solidFill>
                  <a:srgbClr val="002060"/>
                </a:solidFill>
                <a:latin typeface="宋体" panose="02010600030101010101" pitchFamily="2" charset="-122"/>
              </a:rPr>
              <a:t>8-1</a:t>
            </a:r>
            <a:endParaRPr lang="zh-CN" altLang="en-US" sz="1800" b="1" dirty="0">
              <a:solidFill>
                <a:srgbClr val="002060"/>
              </a:solidFill>
              <a:latin typeface="宋体" panose="02010600030101010101" pitchFamily="2" charset="-122"/>
            </a:endParaRPr>
          </a:p>
        </p:txBody>
      </p:sp>
      <p:pic>
        <p:nvPicPr>
          <p:cNvPr id="9221" name="Picture 11"/>
          <p:cNvPicPr>
            <a:picLocks noChangeAspect="1" noChangeArrowheads="1"/>
          </p:cNvPicPr>
          <p:nvPr/>
        </p:nvPicPr>
        <p:blipFill>
          <a:blip r:embed="rId1" cstate="print"/>
          <a:srcRect/>
          <a:stretch>
            <a:fillRect/>
          </a:stretch>
        </p:blipFill>
        <p:spPr bwMode="auto">
          <a:xfrm>
            <a:off x="3997325" y="4972050"/>
            <a:ext cx="2647950" cy="17526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3"/>
          <p:cNvSpPr>
            <a:spLocks noGrp="1" noChangeArrowheads="1"/>
          </p:cNvSpPr>
          <p:nvPr>
            <p:ph type="subTitle" idx="4294967295"/>
          </p:nvPr>
        </p:nvSpPr>
        <p:spPr>
          <a:xfrm>
            <a:off x="684213" y="1295400"/>
            <a:ext cx="7777162" cy="2836863"/>
          </a:xfrm>
        </p:spPr>
        <p:txBody>
          <a:bodyPr/>
          <a:lstStyle/>
          <a:p>
            <a:pPr marL="0" indent="0" algn="just" eaLnBrk="1" hangingPunct="1">
              <a:lnSpc>
                <a:spcPct val="90000"/>
              </a:lnSpc>
              <a:buFont typeface="Wingdings" panose="05000000000000000000" pitchFamily="2" charset="2"/>
              <a:buNone/>
            </a:pPr>
            <a:r>
              <a:rPr lang="en-US" altLang="zh-CN" sz="2600" dirty="0" smtClean="0">
                <a:solidFill>
                  <a:srgbClr val="FF0000"/>
                </a:solidFill>
              </a:rPr>
              <a:t>8.1.1 </a:t>
            </a:r>
            <a:r>
              <a:rPr lang="zh-CN" altLang="en-US" sz="2600" dirty="0" smtClean="0">
                <a:solidFill>
                  <a:srgbClr val="FF0000"/>
                </a:solidFill>
              </a:rPr>
              <a:t>防火墙的概念</a:t>
            </a:r>
            <a:endParaRPr lang="zh-CN" altLang="en-US" sz="1200" dirty="0" smtClean="0">
              <a:solidFill>
                <a:srgbClr val="FF0000"/>
              </a:solidFill>
            </a:endParaRPr>
          </a:p>
          <a:p>
            <a:pPr marL="0" indent="0" algn="just" eaLnBrk="1" hangingPunct="1">
              <a:lnSpc>
                <a:spcPct val="90000"/>
              </a:lnSpc>
              <a:buFont typeface="Wingdings" panose="05000000000000000000" pitchFamily="2" charset="2"/>
              <a:buNone/>
            </a:pPr>
            <a:r>
              <a:rPr lang="zh-CN" altLang="en-US" sz="2400" dirty="0" smtClean="0">
                <a:solidFill>
                  <a:srgbClr val="CC0000"/>
                </a:solidFill>
              </a:rPr>
              <a:t>    </a:t>
            </a:r>
            <a:r>
              <a:rPr lang="zh-CN" altLang="en-US" sz="2400" dirty="0" smtClean="0">
                <a:solidFill>
                  <a:srgbClr val="FF0000"/>
                </a:solidFill>
              </a:rPr>
              <a:t>防火墙</a:t>
            </a:r>
            <a:r>
              <a:rPr lang="en-US" altLang="zh-CN" sz="2400" dirty="0" smtClean="0"/>
              <a:t>(firewall)</a:t>
            </a:r>
            <a:r>
              <a:rPr lang="zh-CN" altLang="en-US" sz="2400" b="0" dirty="0" smtClean="0"/>
              <a:t>是</a:t>
            </a:r>
            <a:r>
              <a:rPr lang="zh-CN" altLang="en-US" sz="2400" dirty="0" smtClean="0"/>
              <a:t>一种</a:t>
            </a:r>
            <a:r>
              <a:rPr lang="zh-CN" altLang="en-US" sz="2400" dirty="0" smtClean="0">
                <a:solidFill>
                  <a:srgbClr val="3333FF"/>
                </a:solidFill>
              </a:rPr>
              <a:t>隔离</a:t>
            </a:r>
            <a:r>
              <a:rPr lang="zh-CN" altLang="en-US" sz="2400" dirty="0" smtClean="0"/>
              <a:t>内部、外部网络之间的监控系统，通过执行访问控制策略保护网络安全的资源。</a:t>
            </a:r>
            <a:r>
              <a:rPr lang="zh-CN" altLang="en-US" sz="2400" dirty="0" smtClean="0">
                <a:solidFill>
                  <a:srgbClr val="CC0000"/>
                </a:solidFill>
              </a:rPr>
              <a:t>用于</a:t>
            </a:r>
            <a:r>
              <a:rPr lang="zh-CN" altLang="en-US" sz="2400" dirty="0" smtClean="0">
                <a:solidFill>
                  <a:srgbClr val="3333FF"/>
                </a:solidFill>
              </a:rPr>
              <a:t>隔离</a:t>
            </a:r>
            <a:r>
              <a:rPr lang="zh-CN" altLang="en-US" sz="2400" dirty="0" smtClean="0"/>
              <a:t>内部、外部网络，是内、外部网络通信的</a:t>
            </a:r>
            <a:r>
              <a:rPr lang="zh-CN" altLang="en-US" sz="2400" b="0" dirty="0" smtClean="0"/>
              <a:t>唯一</a:t>
            </a:r>
            <a:r>
              <a:rPr lang="zh-CN" altLang="en-US" sz="2400" dirty="0" smtClean="0"/>
              <a:t>途径，能够根据制定的访问规则对流经它的信息进行</a:t>
            </a:r>
            <a:r>
              <a:rPr lang="zh-CN" altLang="en-US" sz="2400" dirty="0" smtClean="0">
                <a:solidFill>
                  <a:srgbClr val="990033"/>
                </a:solidFill>
              </a:rPr>
              <a:t>监控和审查</a:t>
            </a:r>
            <a:r>
              <a:rPr lang="zh-CN" altLang="en-US" sz="2400" dirty="0" smtClean="0"/>
              <a:t>，从而保护内部网络不受外界的非法访问和攻击。网络防火墙的</a:t>
            </a:r>
            <a:r>
              <a:rPr lang="zh-CN" altLang="en-US" sz="2400" dirty="0" smtClean="0">
                <a:solidFill>
                  <a:srgbClr val="CC0000"/>
                </a:solidFill>
              </a:rPr>
              <a:t>结构</a:t>
            </a:r>
            <a:r>
              <a:rPr lang="zh-CN" altLang="en-US" sz="2400" dirty="0" smtClean="0"/>
              <a:t>如图</a:t>
            </a:r>
            <a:r>
              <a:rPr lang="en-US" altLang="zh-CN" sz="2400" dirty="0" smtClean="0"/>
              <a:t>8-1</a:t>
            </a:r>
            <a:r>
              <a:rPr lang="zh-CN" altLang="en-US" sz="2400" dirty="0" smtClean="0"/>
              <a:t>所示。</a:t>
            </a:r>
            <a:endParaRPr lang="zh-CN" altLang="en-US" sz="2400" dirty="0" smtClean="0"/>
          </a:p>
        </p:txBody>
      </p:sp>
      <p:sp>
        <p:nvSpPr>
          <p:cNvPr id="10242"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pic>
        <p:nvPicPr>
          <p:cNvPr id="10243" name="Picture 12"/>
          <p:cNvPicPr>
            <a:picLocks noChangeAspect="1" noChangeArrowheads="1"/>
          </p:cNvPicPr>
          <p:nvPr/>
        </p:nvPicPr>
        <p:blipFill>
          <a:blip r:embed="rId1" cstate="print"/>
          <a:srcRect/>
          <a:stretch>
            <a:fillRect/>
          </a:stretch>
        </p:blipFill>
        <p:spPr bwMode="auto">
          <a:xfrm>
            <a:off x="2344738" y="4024313"/>
            <a:ext cx="4892675" cy="2414587"/>
          </a:xfrm>
          <a:prstGeom prst="rect">
            <a:avLst/>
          </a:prstGeom>
          <a:noFill/>
          <a:ln w="9525">
            <a:noFill/>
            <a:miter lim="800000"/>
            <a:headEnd/>
            <a:tailEnd/>
          </a:ln>
        </p:spPr>
      </p:pic>
      <p:sp>
        <p:nvSpPr>
          <p:cNvPr id="10244" name="AutoShape 8"/>
          <p:cNvSpPr>
            <a:spLocks noChangeArrowheads="1"/>
          </p:cNvSpPr>
          <p:nvPr/>
        </p:nvSpPr>
        <p:spPr bwMode="auto">
          <a:xfrm>
            <a:off x="361950" y="1295400"/>
            <a:ext cx="8169275" cy="273050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3"/>
          <p:cNvSpPr>
            <a:spLocks noGrp="1" noChangeArrowheads="1"/>
          </p:cNvSpPr>
          <p:nvPr>
            <p:ph type="subTitle" idx="4294967295"/>
          </p:nvPr>
        </p:nvSpPr>
        <p:spPr>
          <a:xfrm>
            <a:off x="684213" y="1295400"/>
            <a:ext cx="7777162" cy="2836863"/>
          </a:xfrm>
        </p:spPr>
        <p:txBody>
          <a:bodyPr/>
          <a:lstStyle/>
          <a:p>
            <a:pPr marL="0" indent="0" algn="just" eaLnBrk="1" hangingPunct="1">
              <a:lnSpc>
                <a:spcPct val="90000"/>
              </a:lnSpc>
              <a:buFont typeface="Wingdings" panose="05000000000000000000" pitchFamily="2" charset="2"/>
              <a:buNone/>
            </a:pPr>
            <a:r>
              <a:rPr lang="en-US" altLang="zh-CN" sz="2600" dirty="0" smtClean="0">
                <a:solidFill>
                  <a:srgbClr val="FF0000"/>
                </a:solidFill>
              </a:rPr>
              <a:t>8.1.1 </a:t>
            </a:r>
            <a:r>
              <a:rPr lang="zh-CN" altLang="en-US" sz="2600" dirty="0" smtClean="0">
                <a:solidFill>
                  <a:srgbClr val="FF0000"/>
                </a:solidFill>
              </a:rPr>
              <a:t>防火墙的概念</a:t>
            </a:r>
            <a:endParaRPr lang="zh-CN" altLang="en-US" sz="1200" dirty="0" smtClean="0">
              <a:solidFill>
                <a:srgbClr val="FF0000"/>
              </a:solidFill>
            </a:endParaRPr>
          </a:p>
          <a:p>
            <a:pPr marL="0" indent="0" algn="just">
              <a:lnSpc>
                <a:spcPct val="90000"/>
              </a:lnSpc>
              <a:buNone/>
            </a:pPr>
            <a:r>
              <a:rPr lang="zh-CN" altLang="en-US" sz="2400" dirty="0"/>
              <a:t>防火墙，也称防护墙，是由</a:t>
            </a:r>
            <a:r>
              <a:rPr lang="en-US" altLang="zh-CN" sz="2400" dirty="0"/>
              <a:t>Check Point</a:t>
            </a:r>
            <a:r>
              <a:rPr lang="zh-CN" altLang="en-US" sz="2400" dirty="0"/>
              <a:t>创立者</a:t>
            </a:r>
            <a:r>
              <a:rPr lang="en-US" altLang="zh-CN" sz="2400" dirty="0"/>
              <a:t>Gil </a:t>
            </a:r>
            <a:r>
              <a:rPr lang="en-US" altLang="zh-CN" sz="2400" dirty="0" err="1"/>
              <a:t>Shwed</a:t>
            </a:r>
            <a:r>
              <a:rPr lang="zh-CN" altLang="en-US" sz="2400" dirty="0"/>
              <a:t>于</a:t>
            </a:r>
            <a:r>
              <a:rPr lang="en-US" altLang="zh-CN" sz="2400" dirty="0"/>
              <a:t>1993</a:t>
            </a:r>
            <a:r>
              <a:rPr lang="zh-CN" altLang="en-US" sz="2400" dirty="0"/>
              <a:t>年发明并引入互联网。防火墙是位于内部网和外部网之间的屏障，它按照系统管理员预先定义好的规则来</a:t>
            </a:r>
            <a:r>
              <a:rPr lang="zh-CN" altLang="en-US" sz="2400" dirty="0" smtClean="0"/>
              <a:t>控制数据</a:t>
            </a:r>
            <a:r>
              <a:rPr lang="zh-CN" altLang="en-US" sz="2400" dirty="0"/>
              <a:t>包的</a:t>
            </a:r>
            <a:r>
              <a:rPr lang="zh-CN" altLang="en-US" sz="2400" dirty="0" smtClean="0"/>
              <a:t>进出。</a:t>
            </a:r>
            <a:endParaRPr lang="en-US" altLang="zh-CN" sz="2400" dirty="0" smtClean="0"/>
          </a:p>
          <a:p>
            <a:pPr marL="0" indent="0" algn="just">
              <a:lnSpc>
                <a:spcPct val="90000"/>
              </a:lnSpc>
              <a:buNone/>
            </a:pPr>
            <a:r>
              <a:rPr lang="zh-CN" altLang="en-US" sz="2400" dirty="0"/>
              <a:t>防火墙是一个由软件和硬件设备组合而成，在</a:t>
            </a:r>
            <a:r>
              <a:rPr lang="zh-CN" altLang="en-US" sz="2400" dirty="0">
                <a:solidFill>
                  <a:srgbClr val="FF0000"/>
                </a:solidFill>
              </a:rPr>
              <a:t>内部网和外部网之间、专用网与公共网之间</a:t>
            </a:r>
            <a:r>
              <a:rPr lang="zh-CN" altLang="en-US" sz="2400" dirty="0"/>
              <a:t>的界面上构造的保护屏障</a:t>
            </a:r>
            <a:r>
              <a:rPr lang="zh-CN" altLang="en-US" sz="2400" dirty="0" smtClean="0"/>
              <a:t>。防火墙</a:t>
            </a:r>
            <a:r>
              <a:rPr lang="zh-CN" altLang="en-US" sz="2400" dirty="0" smtClean="0">
                <a:solidFill>
                  <a:srgbClr val="FF0000"/>
                </a:solidFill>
              </a:rPr>
              <a:t>也可以应用于企业内部不同区域</a:t>
            </a:r>
            <a:r>
              <a:rPr lang="zh-CN" altLang="en-US" sz="2400" dirty="0" smtClean="0"/>
              <a:t>的网络之间，进行安全防护。</a:t>
            </a:r>
            <a:r>
              <a:rPr lang="zh-CN" altLang="en-US" sz="2400" dirty="0"/>
              <a:t>防火墙</a:t>
            </a:r>
            <a:r>
              <a:rPr lang="zh-CN" altLang="en-US" sz="2400" dirty="0">
                <a:solidFill>
                  <a:srgbClr val="FF0000"/>
                </a:solidFill>
              </a:rPr>
              <a:t>本身具有较强的抗攻击能力</a:t>
            </a:r>
            <a:r>
              <a:rPr lang="zh-CN" altLang="en-US" sz="2400" dirty="0"/>
              <a:t>，它是提供信息安全服务、实现网络和信息安全的基础</a:t>
            </a:r>
            <a:r>
              <a:rPr lang="zh-CN" altLang="en-US" sz="2400" dirty="0" smtClean="0"/>
              <a:t>设施。</a:t>
            </a:r>
            <a:endParaRPr lang="en-US" altLang="zh-CN" sz="2400" dirty="0" smtClean="0"/>
          </a:p>
          <a:p>
            <a:pPr marL="0" indent="0" algn="just">
              <a:lnSpc>
                <a:spcPct val="90000"/>
              </a:lnSpc>
              <a:buNone/>
            </a:pPr>
            <a:r>
              <a:rPr lang="zh-CN" altLang="en-US" sz="2400" dirty="0" smtClean="0"/>
              <a:t>防火墙：对</a:t>
            </a:r>
            <a:r>
              <a:rPr lang="zh-CN" altLang="en-US" sz="2400" dirty="0"/>
              <a:t>经过的数据流进行解析，并实现访问控制及安全防护功能的网络安全产品。</a:t>
            </a:r>
            <a:r>
              <a:rPr lang="zh-CN" altLang="en-US" sz="2400" dirty="0" smtClean="0"/>
              <a:t>（</a:t>
            </a:r>
            <a:r>
              <a:rPr lang="zh-CN" altLang="en-US" sz="2400" dirty="0"/>
              <a:t>摘自</a:t>
            </a:r>
            <a:r>
              <a:rPr lang="zh-CN" altLang="en-US" sz="2400" dirty="0" smtClean="0"/>
              <a:t> </a:t>
            </a:r>
            <a:r>
              <a:rPr lang="en-US" altLang="zh-CN" sz="2400" dirty="0" smtClean="0"/>
              <a:t>《</a:t>
            </a:r>
            <a:r>
              <a:rPr lang="en-US" altLang="zh-CN" sz="2400" dirty="0" smtClean="0">
                <a:solidFill>
                  <a:srgbClr val="FF0000"/>
                </a:solidFill>
              </a:rPr>
              <a:t>GB/T </a:t>
            </a:r>
            <a:r>
              <a:rPr lang="en-US" altLang="zh-CN" sz="2400" dirty="0">
                <a:solidFill>
                  <a:srgbClr val="FF0000"/>
                </a:solidFill>
              </a:rPr>
              <a:t>20281-2020 </a:t>
            </a:r>
            <a:r>
              <a:rPr lang="zh-CN" altLang="en-US" sz="2400" dirty="0"/>
              <a:t>信息安全技术 防火墙安全技术要求和测试评价</a:t>
            </a:r>
            <a:r>
              <a:rPr lang="zh-CN" altLang="en-US" sz="2400" dirty="0" smtClean="0"/>
              <a:t>办法</a:t>
            </a:r>
            <a:r>
              <a:rPr lang="en-US" altLang="zh-CN" sz="2400" dirty="0" smtClean="0"/>
              <a:t>》</a:t>
            </a:r>
            <a:r>
              <a:rPr lang="zh-CN" altLang="en-US" sz="2400" dirty="0" smtClean="0"/>
              <a:t>）</a:t>
            </a:r>
            <a:endParaRPr lang="zh-CN" altLang="en-US" sz="2400" dirty="0" smtClean="0"/>
          </a:p>
        </p:txBody>
      </p:sp>
      <p:sp>
        <p:nvSpPr>
          <p:cNvPr id="10242"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10244" name="AutoShape 8"/>
          <p:cNvSpPr>
            <a:spLocks noChangeArrowheads="1"/>
          </p:cNvSpPr>
          <p:nvPr/>
        </p:nvSpPr>
        <p:spPr bwMode="auto">
          <a:xfrm>
            <a:off x="361950" y="1295400"/>
            <a:ext cx="8169275" cy="5445968"/>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8"/>
          <p:cNvSpPr>
            <a:spLocks noChangeArrowheads="1"/>
          </p:cNvSpPr>
          <p:nvPr/>
        </p:nvSpPr>
        <p:spPr bwMode="auto">
          <a:xfrm>
            <a:off x="0" y="2109788"/>
            <a:ext cx="9144000" cy="0"/>
          </a:xfrm>
          <a:prstGeom prst="rect">
            <a:avLst/>
          </a:prstGeom>
          <a:noFill/>
          <a:ln w="9525">
            <a:noFill/>
            <a:miter lim="800000"/>
          </a:ln>
        </p:spPr>
        <p:txBody>
          <a:bodyPr wrap="none" anchor="ctr">
            <a:spAutoFit/>
          </a:bodyPr>
          <a:lstStyle/>
          <a:p>
            <a:endParaRPr lang="zh-CN" altLang="en-US"/>
          </a:p>
        </p:txBody>
      </p:sp>
      <p:sp>
        <p:nvSpPr>
          <p:cNvPr id="11268"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pic>
        <p:nvPicPr>
          <p:cNvPr id="6"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0" y="1312874"/>
            <a:ext cx="3706632" cy="4309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1772816"/>
            <a:ext cx="5496428" cy="338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3"/>
          <p:cNvSpPr>
            <a:spLocks noGrp="1" noChangeArrowheads="1"/>
          </p:cNvSpPr>
          <p:nvPr>
            <p:ph type="subTitle" idx="4294967295"/>
          </p:nvPr>
        </p:nvSpPr>
        <p:spPr>
          <a:xfrm>
            <a:off x="684213" y="1295400"/>
            <a:ext cx="7777162" cy="2836863"/>
          </a:xfrm>
        </p:spPr>
        <p:txBody>
          <a:bodyPr/>
          <a:lstStyle/>
          <a:p>
            <a:pPr marL="0" indent="0" algn="just">
              <a:lnSpc>
                <a:spcPct val="90000"/>
              </a:lnSpc>
              <a:buNone/>
            </a:pPr>
            <a:r>
              <a:rPr lang="en-US" altLang="zh-CN" sz="2600" dirty="0" smtClean="0">
                <a:solidFill>
                  <a:srgbClr val="FF0000"/>
                </a:solidFill>
              </a:rPr>
              <a:t>8.1.2 </a:t>
            </a:r>
            <a:r>
              <a:rPr lang="zh-CN" altLang="en-US" sz="2600" dirty="0" smtClean="0">
                <a:solidFill>
                  <a:srgbClr val="FF0000"/>
                </a:solidFill>
              </a:rPr>
              <a:t>防火墙的分类</a:t>
            </a:r>
            <a:endParaRPr lang="en-US" altLang="zh-CN" sz="2600" dirty="0" smtClean="0">
              <a:solidFill>
                <a:srgbClr val="FF0000"/>
              </a:solidFill>
            </a:endParaRPr>
          </a:p>
          <a:p>
            <a:pPr marL="0" indent="0" algn="just">
              <a:lnSpc>
                <a:spcPct val="90000"/>
              </a:lnSpc>
              <a:buNone/>
            </a:pPr>
            <a:r>
              <a:rPr lang="zh-CN" altLang="en-US" sz="2800" dirty="0" smtClean="0"/>
              <a:t>按照</a:t>
            </a:r>
            <a:r>
              <a:rPr lang="zh-CN" altLang="en-US" sz="2800" dirty="0"/>
              <a:t>防火墙所在的</a:t>
            </a:r>
            <a:r>
              <a:rPr lang="zh-CN" altLang="en-US" sz="2800" dirty="0" smtClean="0"/>
              <a:t>层次分类主要可以</a:t>
            </a:r>
            <a:r>
              <a:rPr lang="zh-CN" altLang="en-US" sz="2800" dirty="0"/>
              <a:t>将防火墙分为网络层防火墙、应用层</a:t>
            </a:r>
            <a:r>
              <a:rPr lang="zh-CN" altLang="en-US" sz="2800" dirty="0" smtClean="0"/>
              <a:t>防火墙</a:t>
            </a:r>
            <a:endParaRPr lang="en-US" altLang="zh-CN" sz="2800" dirty="0" smtClean="0"/>
          </a:p>
          <a:p>
            <a:pPr marL="0" indent="0" algn="just">
              <a:lnSpc>
                <a:spcPct val="90000"/>
              </a:lnSpc>
              <a:buNone/>
            </a:pPr>
            <a:r>
              <a:rPr lang="zh-CN" altLang="en-US" sz="2600" dirty="0" smtClean="0">
                <a:solidFill>
                  <a:srgbClr val="FF0000"/>
                </a:solidFill>
              </a:rPr>
              <a:t>网络层</a:t>
            </a:r>
            <a:r>
              <a:rPr lang="zh-CN" altLang="en-US" sz="2600" dirty="0">
                <a:solidFill>
                  <a:srgbClr val="FF0000"/>
                </a:solidFill>
              </a:rPr>
              <a:t>防火墙</a:t>
            </a:r>
            <a:r>
              <a:rPr lang="zh-CN" altLang="en-US" sz="2600" dirty="0"/>
              <a:t>可视为一种 </a:t>
            </a:r>
            <a:r>
              <a:rPr lang="en-US" altLang="zh-CN" sz="2600" dirty="0"/>
              <a:t>IP </a:t>
            </a:r>
            <a:r>
              <a:rPr lang="zh-CN" altLang="en-US" sz="2600" dirty="0"/>
              <a:t>封包过滤器，运作在底层的</a:t>
            </a:r>
            <a:r>
              <a:rPr lang="en-US" altLang="zh-CN" sz="2600" dirty="0"/>
              <a:t>TCP/IP</a:t>
            </a:r>
            <a:r>
              <a:rPr lang="zh-CN" altLang="en-US" sz="2600" dirty="0"/>
              <a:t>协议堆栈上。可以以枚举的方式，只允许符合特定规则的封包通过，其余的一概禁止穿越</a:t>
            </a:r>
            <a:r>
              <a:rPr lang="zh-CN" altLang="en-US" sz="2600" dirty="0" smtClean="0"/>
              <a:t>防火墙。</a:t>
            </a:r>
            <a:r>
              <a:rPr lang="zh-CN" altLang="en-US" sz="2600" dirty="0"/>
              <a:t>这些规则通常可以经由管理员定义或修改，不过某些防火墙设备可能只能套用内置的规则</a:t>
            </a:r>
            <a:r>
              <a:rPr lang="zh-CN" altLang="en-US" sz="2600" dirty="0" smtClean="0"/>
              <a:t>。</a:t>
            </a:r>
            <a:endParaRPr lang="en-US" altLang="zh-CN" sz="2600" dirty="0" smtClean="0"/>
          </a:p>
          <a:p>
            <a:pPr marL="0" indent="0" algn="just">
              <a:lnSpc>
                <a:spcPct val="90000"/>
              </a:lnSpc>
              <a:buNone/>
            </a:pPr>
            <a:r>
              <a:rPr lang="zh-CN" altLang="en-US" sz="2600" dirty="0" smtClean="0">
                <a:solidFill>
                  <a:srgbClr val="FF0000"/>
                </a:solidFill>
              </a:rPr>
              <a:t>应用层防火墙</a:t>
            </a:r>
            <a:r>
              <a:rPr lang="zh-CN" altLang="en-US" sz="2600" dirty="0" smtClean="0"/>
              <a:t>是在</a:t>
            </a:r>
            <a:r>
              <a:rPr lang="en-US" altLang="zh-CN" sz="2600" dirty="0" smtClean="0"/>
              <a:t>TCP/IP</a:t>
            </a:r>
            <a:r>
              <a:rPr lang="zh-CN" altLang="en-US" sz="2600" dirty="0" smtClean="0"/>
              <a:t>栈的“应用层”上运作，如使用</a:t>
            </a:r>
            <a:r>
              <a:rPr lang="en-US" altLang="zh-CN" sz="2600" dirty="0" smtClean="0"/>
              <a:t>HTTP/HTTPS</a:t>
            </a:r>
            <a:r>
              <a:rPr lang="zh-CN" altLang="en-US" sz="2600" dirty="0" smtClean="0"/>
              <a:t>或使用</a:t>
            </a:r>
            <a:r>
              <a:rPr lang="en-US" altLang="zh-CN" sz="2600" dirty="0" smtClean="0"/>
              <a:t>FTP</a:t>
            </a:r>
            <a:r>
              <a:rPr lang="zh-CN" altLang="en-US" sz="2600" dirty="0" smtClean="0"/>
              <a:t>等应用层协议时的数据流都属于这一层。应用层防火墙可以通过监测进出某些应用程序的所有封包，找出不符合规则的内容进行阻止。</a:t>
            </a:r>
            <a:endParaRPr lang="en-US" altLang="zh-CN" sz="2600" dirty="0" smtClean="0"/>
          </a:p>
          <a:p>
            <a:pPr marL="0" indent="0" algn="just">
              <a:lnSpc>
                <a:spcPct val="90000"/>
              </a:lnSpc>
              <a:buNone/>
            </a:pPr>
            <a:r>
              <a:rPr lang="zh-CN" altLang="en-US" sz="2600" dirty="0">
                <a:solidFill>
                  <a:srgbClr val="FF0000"/>
                </a:solidFill>
              </a:rPr>
              <a:t>复合型</a:t>
            </a:r>
            <a:endParaRPr lang="zh-CN" altLang="en-US" sz="2600" dirty="0">
              <a:solidFill>
                <a:srgbClr val="FF0000"/>
              </a:solidFill>
            </a:endParaRPr>
          </a:p>
          <a:p>
            <a:pPr marL="0" indent="0" algn="just">
              <a:lnSpc>
                <a:spcPct val="90000"/>
              </a:lnSpc>
              <a:buNone/>
            </a:pPr>
            <a:endParaRPr lang="en-US" altLang="zh-CN" sz="2600" dirty="0" smtClean="0">
              <a:solidFill>
                <a:srgbClr val="FF0000"/>
              </a:solidFill>
            </a:endParaRPr>
          </a:p>
        </p:txBody>
      </p:sp>
      <p:sp>
        <p:nvSpPr>
          <p:cNvPr id="10242"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10244" name="AutoShape 8"/>
          <p:cNvSpPr>
            <a:spLocks noChangeArrowheads="1"/>
          </p:cNvSpPr>
          <p:nvPr/>
        </p:nvSpPr>
        <p:spPr bwMode="auto">
          <a:xfrm>
            <a:off x="361950" y="1295400"/>
            <a:ext cx="8169275" cy="556260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3"/>
          <p:cNvSpPr>
            <a:spLocks noGrp="1" noChangeArrowheads="1"/>
          </p:cNvSpPr>
          <p:nvPr>
            <p:ph type="subTitle" idx="4294967295"/>
          </p:nvPr>
        </p:nvSpPr>
        <p:spPr>
          <a:xfrm>
            <a:off x="684213" y="1295400"/>
            <a:ext cx="7777162" cy="5157936"/>
          </a:xfrm>
        </p:spPr>
        <p:txBody>
          <a:bodyPr/>
          <a:lstStyle/>
          <a:p>
            <a:pPr marL="0" indent="0" algn="just">
              <a:lnSpc>
                <a:spcPct val="90000"/>
              </a:lnSpc>
              <a:buNone/>
            </a:pPr>
            <a:r>
              <a:rPr lang="en-US" altLang="zh-CN" sz="2600" dirty="0" smtClean="0">
                <a:solidFill>
                  <a:srgbClr val="FF0000"/>
                </a:solidFill>
              </a:rPr>
              <a:t>8.1.2 </a:t>
            </a:r>
            <a:r>
              <a:rPr lang="zh-CN" altLang="en-US" sz="2600" dirty="0" smtClean="0">
                <a:solidFill>
                  <a:srgbClr val="FF0000"/>
                </a:solidFill>
              </a:rPr>
              <a:t>防火墙的分类</a:t>
            </a:r>
            <a:endParaRPr lang="en-US" altLang="zh-CN" sz="2600" dirty="0" smtClean="0">
              <a:solidFill>
                <a:srgbClr val="FF0000"/>
              </a:solidFill>
            </a:endParaRPr>
          </a:p>
          <a:p>
            <a:pPr marL="0" indent="0" algn="just">
              <a:lnSpc>
                <a:spcPct val="90000"/>
              </a:lnSpc>
              <a:buNone/>
            </a:pPr>
            <a:r>
              <a:rPr lang="zh-CN" altLang="en-US" sz="2800" dirty="0" smtClean="0"/>
              <a:t>按照防火墙存在的形态主要可以</a:t>
            </a:r>
            <a:r>
              <a:rPr lang="zh-CN" altLang="en-US" sz="2800" dirty="0"/>
              <a:t>将防火墙</a:t>
            </a:r>
            <a:r>
              <a:rPr lang="zh-CN" altLang="en-US" sz="2800" dirty="0" smtClean="0"/>
              <a:t>分为软件防火墙、硬件防火墙。</a:t>
            </a:r>
            <a:endParaRPr lang="en-US" altLang="zh-CN" sz="2800" dirty="0" smtClean="0"/>
          </a:p>
          <a:p>
            <a:pPr marL="0" indent="0" algn="just">
              <a:lnSpc>
                <a:spcPct val="90000"/>
              </a:lnSpc>
              <a:buNone/>
            </a:pPr>
            <a:r>
              <a:rPr lang="zh-CN" altLang="en-US" sz="2600" dirty="0">
                <a:solidFill>
                  <a:srgbClr val="FF0000"/>
                </a:solidFill>
              </a:rPr>
              <a:t>软件防火墙</a:t>
            </a:r>
            <a:r>
              <a:rPr lang="zh-CN" altLang="en-US" sz="2600" dirty="0"/>
              <a:t>的特点如下：</a:t>
            </a:r>
            <a:endParaRPr lang="zh-CN" altLang="en-US" sz="2600" dirty="0"/>
          </a:p>
          <a:p>
            <a:pPr marL="0" indent="0" algn="just">
              <a:lnSpc>
                <a:spcPct val="90000"/>
              </a:lnSpc>
              <a:buNone/>
            </a:pPr>
            <a:r>
              <a:rPr lang="zh-CN" altLang="en-US" sz="2600" dirty="0" smtClean="0"/>
              <a:t>主要</a:t>
            </a:r>
            <a:r>
              <a:rPr lang="zh-CN" altLang="en-US" sz="2600" dirty="0"/>
              <a:t>使用独立的软件实现防火墙的功能，需要准备额外的操作系统平台。</a:t>
            </a:r>
            <a:endParaRPr lang="zh-CN" altLang="en-US" sz="2600" dirty="0"/>
          </a:p>
          <a:p>
            <a:pPr marL="0" indent="0" algn="just">
              <a:lnSpc>
                <a:spcPct val="90000"/>
              </a:lnSpc>
              <a:buNone/>
            </a:pPr>
            <a:r>
              <a:rPr lang="zh-CN" altLang="en-US" sz="2600" dirty="0" smtClean="0"/>
              <a:t>安全性依赖底层</a:t>
            </a:r>
            <a:r>
              <a:rPr lang="zh-CN" altLang="en-US" sz="2600" dirty="0"/>
              <a:t>的操作系统。</a:t>
            </a:r>
            <a:endParaRPr lang="zh-CN" altLang="en-US" sz="2600" dirty="0"/>
          </a:p>
          <a:p>
            <a:pPr marL="0" indent="0" algn="just">
              <a:lnSpc>
                <a:spcPct val="90000"/>
              </a:lnSpc>
              <a:buNone/>
            </a:pPr>
            <a:r>
              <a:rPr lang="zh-CN" altLang="en-US" sz="2600" dirty="0" smtClean="0"/>
              <a:t>网络</a:t>
            </a:r>
            <a:r>
              <a:rPr lang="zh-CN" altLang="en-US" sz="2600" dirty="0"/>
              <a:t>适应性弱（主要以路由模式工作）。</a:t>
            </a:r>
            <a:endParaRPr lang="zh-CN" altLang="en-US" sz="2600" dirty="0"/>
          </a:p>
          <a:p>
            <a:pPr marL="0" indent="0" algn="just">
              <a:lnSpc>
                <a:spcPct val="90000"/>
              </a:lnSpc>
              <a:buNone/>
            </a:pPr>
            <a:r>
              <a:rPr lang="zh-CN" altLang="en-US" sz="2600" dirty="0" smtClean="0"/>
              <a:t>稳定性</a:t>
            </a:r>
            <a:r>
              <a:rPr lang="zh-CN" altLang="en-US" sz="2600" dirty="0"/>
              <a:t>高。</a:t>
            </a:r>
            <a:endParaRPr lang="zh-CN" altLang="en-US" sz="2600" dirty="0"/>
          </a:p>
          <a:p>
            <a:pPr marL="0" indent="0" algn="just">
              <a:lnSpc>
                <a:spcPct val="90000"/>
              </a:lnSpc>
              <a:buNone/>
            </a:pPr>
            <a:r>
              <a:rPr lang="zh-CN" altLang="en-US" sz="2600" dirty="0" smtClean="0"/>
              <a:t>软件</a:t>
            </a:r>
            <a:r>
              <a:rPr lang="zh-CN" altLang="en-US" sz="2600" dirty="0"/>
              <a:t>分发、升级比较方便。</a:t>
            </a:r>
            <a:endParaRPr lang="zh-CN" altLang="en-US" sz="2600" dirty="0"/>
          </a:p>
          <a:p>
            <a:pPr marL="0" indent="0" algn="just">
              <a:lnSpc>
                <a:spcPct val="90000"/>
              </a:lnSpc>
              <a:buNone/>
            </a:pPr>
            <a:endParaRPr lang="en-US" altLang="zh-CN" sz="2600" dirty="0" smtClean="0">
              <a:solidFill>
                <a:srgbClr val="FF0000"/>
              </a:solidFill>
            </a:endParaRPr>
          </a:p>
        </p:txBody>
      </p:sp>
      <p:sp>
        <p:nvSpPr>
          <p:cNvPr id="10242"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10244" name="AutoShape 8"/>
          <p:cNvSpPr>
            <a:spLocks noChangeArrowheads="1"/>
          </p:cNvSpPr>
          <p:nvPr/>
        </p:nvSpPr>
        <p:spPr bwMode="auto">
          <a:xfrm>
            <a:off x="361950" y="1295400"/>
            <a:ext cx="8169275" cy="5229944"/>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3"/>
          <p:cNvSpPr>
            <a:spLocks noGrp="1" noChangeArrowheads="1"/>
          </p:cNvSpPr>
          <p:nvPr>
            <p:ph type="subTitle" idx="4294967295"/>
          </p:nvPr>
        </p:nvSpPr>
        <p:spPr>
          <a:xfrm>
            <a:off x="684213" y="1295400"/>
            <a:ext cx="7777162" cy="5445968"/>
          </a:xfrm>
        </p:spPr>
        <p:txBody>
          <a:bodyPr/>
          <a:lstStyle/>
          <a:p>
            <a:pPr marL="0" indent="0" algn="just">
              <a:lnSpc>
                <a:spcPct val="90000"/>
              </a:lnSpc>
              <a:buNone/>
            </a:pPr>
            <a:r>
              <a:rPr lang="en-US" altLang="zh-CN" sz="2600" dirty="0" smtClean="0">
                <a:solidFill>
                  <a:srgbClr val="FF0000"/>
                </a:solidFill>
              </a:rPr>
              <a:t>8.1.2 </a:t>
            </a:r>
            <a:r>
              <a:rPr lang="zh-CN" altLang="en-US" sz="2600" dirty="0" smtClean="0">
                <a:solidFill>
                  <a:srgbClr val="FF0000"/>
                </a:solidFill>
              </a:rPr>
              <a:t>防火墙的分类</a:t>
            </a:r>
            <a:endParaRPr lang="en-US" altLang="zh-CN" sz="2600" dirty="0" smtClean="0">
              <a:solidFill>
                <a:srgbClr val="FF0000"/>
              </a:solidFill>
            </a:endParaRPr>
          </a:p>
          <a:p>
            <a:pPr marL="0" indent="0" algn="just">
              <a:lnSpc>
                <a:spcPct val="90000"/>
              </a:lnSpc>
              <a:buNone/>
            </a:pPr>
            <a:r>
              <a:rPr lang="zh-CN" altLang="en-US" sz="2600" dirty="0" smtClean="0">
                <a:solidFill>
                  <a:srgbClr val="FF0000"/>
                </a:solidFill>
              </a:rPr>
              <a:t>硬件</a:t>
            </a:r>
            <a:r>
              <a:rPr lang="zh-CN" altLang="en-US" sz="2600" dirty="0">
                <a:solidFill>
                  <a:srgbClr val="FF0000"/>
                </a:solidFill>
              </a:rPr>
              <a:t>防火墙</a:t>
            </a:r>
            <a:r>
              <a:rPr lang="zh-CN" altLang="en-US" sz="2600" dirty="0"/>
              <a:t>的特点如下：</a:t>
            </a:r>
            <a:endParaRPr lang="zh-CN" altLang="en-US" sz="2600" dirty="0"/>
          </a:p>
          <a:p>
            <a:pPr marL="0" indent="0" algn="just">
              <a:lnSpc>
                <a:spcPct val="90000"/>
              </a:lnSpc>
              <a:buNone/>
            </a:pPr>
            <a:r>
              <a:rPr lang="zh-CN" altLang="en-US" sz="2600" dirty="0"/>
              <a:t>使用专用的硬件和软件实现，不用准备额外的操作系统平台。</a:t>
            </a:r>
            <a:endParaRPr lang="zh-CN" altLang="en-US" sz="2600" dirty="0"/>
          </a:p>
          <a:p>
            <a:pPr marL="0" indent="0" algn="just">
              <a:lnSpc>
                <a:spcPct val="90000"/>
              </a:lnSpc>
              <a:buNone/>
            </a:pPr>
            <a:r>
              <a:rPr lang="zh-CN" altLang="en-US" sz="2600" dirty="0" smtClean="0"/>
              <a:t>安全性</a:t>
            </a:r>
            <a:r>
              <a:rPr lang="zh-CN" altLang="en-US" sz="2600" dirty="0"/>
              <a:t>完全取决于专用的操作系统。</a:t>
            </a:r>
            <a:endParaRPr lang="zh-CN" altLang="en-US" sz="2600" dirty="0"/>
          </a:p>
          <a:p>
            <a:pPr marL="0" indent="0" algn="just">
              <a:lnSpc>
                <a:spcPct val="90000"/>
              </a:lnSpc>
              <a:buNone/>
            </a:pPr>
            <a:r>
              <a:rPr lang="zh-CN" altLang="en-US" sz="2600" dirty="0" smtClean="0"/>
              <a:t>网络</a:t>
            </a:r>
            <a:r>
              <a:rPr lang="zh-CN" altLang="en-US" sz="2600" dirty="0"/>
              <a:t>适应性强（支持多种接入模式）。</a:t>
            </a:r>
            <a:endParaRPr lang="zh-CN" altLang="en-US" sz="2600" dirty="0"/>
          </a:p>
          <a:p>
            <a:pPr marL="0" indent="0" algn="just">
              <a:lnSpc>
                <a:spcPct val="90000"/>
              </a:lnSpc>
              <a:buNone/>
            </a:pPr>
            <a:r>
              <a:rPr lang="zh-CN" altLang="en-US" sz="2600" dirty="0" smtClean="0"/>
              <a:t>稳定性</a:t>
            </a:r>
            <a:r>
              <a:rPr lang="zh-CN" altLang="en-US" sz="2600" dirty="0"/>
              <a:t>较高。</a:t>
            </a:r>
            <a:endParaRPr lang="zh-CN" altLang="en-US" sz="2600" dirty="0"/>
          </a:p>
          <a:p>
            <a:pPr marL="0" indent="0" algn="just">
              <a:lnSpc>
                <a:spcPct val="90000"/>
              </a:lnSpc>
              <a:buNone/>
            </a:pPr>
            <a:r>
              <a:rPr lang="zh-CN" altLang="en-US" sz="2600" dirty="0" smtClean="0"/>
              <a:t>升级</a:t>
            </a:r>
            <a:r>
              <a:rPr lang="zh-CN" altLang="en-US" sz="2600" dirty="0"/>
              <a:t>、更新不太灵活</a:t>
            </a:r>
            <a:r>
              <a:rPr lang="zh-CN" altLang="en-US" sz="2600" dirty="0" smtClean="0"/>
              <a:t>。</a:t>
            </a:r>
            <a:endParaRPr lang="en-US" altLang="zh-CN" sz="2600" dirty="0" smtClean="0"/>
          </a:p>
          <a:p>
            <a:pPr marL="0" indent="0" algn="just">
              <a:lnSpc>
                <a:spcPct val="90000"/>
              </a:lnSpc>
              <a:buNone/>
            </a:pPr>
            <a:endParaRPr lang="en-US" altLang="zh-CN" sz="2600" dirty="0" smtClean="0"/>
          </a:p>
          <a:p>
            <a:pPr marL="0" indent="0" algn="just">
              <a:lnSpc>
                <a:spcPct val="90000"/>
              </a:lnSpc>
              <a:buNone/>
            </a:pPr>
            <a:r>
              <a:rPr lang="zh-CN" altLang="en-US" sz="2600" dirty="0" smtClean="0"/>
              <a:t>硬件体系结构又可细分为通用</a:t>
            </a:r>
            <a:r>
              <a:rPr lang="en-US" altLang="zh-CN" sz="2600" dirty="0" smtClean="0"/>
              <a:t>CPU</a:t>
            </a:r>
            <a:r>
              <a:rPr lang="zh-CN" altLang="en-US" sz="2600" dirty="0" smtClean="0"/>
              <a:t>架构、</a:t>
            </a:r>
            <a:r>
              <a:rPr lang="en-US" altLang="zh-CN" sz="2600" dirty="0" smtClean="0"/>
              <a:t>ASIC (</a:t>
            </a:r>
            <a:r>
              <a:rPr lang="zh-CN" altLang="en-US" sz="2600" dirty="0" smtClean="0"/>
              <a:t>专用集成电路</a:t>
            </a:r>
            <a:r>
              <a:rPr lang="en-US" altLang="zh-CN" sz="2600" dirty="0" smtClean="0"/>
              <a:t>)</a:t>
            </a:r>
            <a:r>
              <a:rPr lang="zh-CN" altLang="en-US" sz="2600" dirty="0" smtClean="0"/>
              <a:t>架构、</a:t>
            </a:r>
            <a:r>
              <a:rPr lang="en-US" altLang="zh-CN" sz="2600" dirty="0" smtClean="0"/>
              <a:t>NP</a:t>
            </a:r>
            <a:r>
              <a:rPr lang="zh-CN" altLang="en-US" sz="2600" dirty="0" smtClean="0"/>
              <a:t>（网络处理器）架构</a:t>
            </a:r>
            <a:endParaRPr lang="en-US" altLang="zh-CN" sz="2600" dirty="0" smtClean="0"/>
          </a:p>
          <a:p>
            <a:pPr marL="0" indent="0" algn="just">
              <a:lnSpc>
                <a:spcPct val="90000"/>
              </a:lnSpc>
              <a:buNone/>
            </a:pPr>
            <a:r>
              <a:rPr lang="en-US" altLang="zh-CN" sz="2000" dirty="0">
                <a:hlinkClick r:id="rId1"/>
              </a:rPr>
              <a:t>https://</a:t>
            </a:r>
            <a:r>
              <a:rPr lang="en-US" altLang="zh-CN" sz="2000" dirty="0" smtClean="0">
                <a:hlinkClick r:id="rId1"/>
              </a:rPr>
              <a:t>wenku.baidu.com/view/aaed53ca5901020206409c13.html</a:t>
            </a:r>
            <a:endParaRPr lang="en-US" altLang="zh-CN" sz="2000" dirty="0" smtClean="0">
              <a:hlinkClick r:id="rId1"/>
            </a:endParaRPr>
          </a:p>
          <a:p>
            <a:pPr marL="0" indent="0" algn="just">
              <a:lnSpc>
                <a:spcPct val="90000"/>
              </a:lnSpc>
              <a:buNone/>
            </a:pPr>
            <a:r>
              <a:rPr lang="en-US" altLang="zh-CN" sz="2000" dirty="0" smtClean="0"/>
              <a:t>https://wenku.baidu.com/view/79883529bdd5b9f3f90f76c66137ee06eff94eea.html?_wkts_=1669035320631&amp;bdQuery=%E9%98%B2%E7%81%AB%E5%A2%99%E7%A1%AC%E4%BB%B6%E6%9E%B6%E6%9E%84</a:t>
            </a:r>
            <a:endParaRPr lang="en-US" altLang="zh-CN" sz="2000" dirty="0" smtClean="0">
              <a:hlinkClick r:id="rId1"/>
            </a:endParaRPr>
          </a:p>
          <a:p>
            <a:pPr marL="0" indent="0" algn="just">
              <a:lnSpc>
                <a:spcPct val="90000"/>
              </a:lnSpc>
              <a:buNone/>
            </a:pPr>
            <a:endParaRPr lang="en-US" altLang="zh-CN" sz="2000" dirty="0" smtClean="0"/>
          </a:p>
          <a:p>
            <a:pPr marL="0" indent="0" algn="just">
              <a:lnSpc>
                <a:spcPct val="90000"/>
              </a:lnSpc>
              <a:buNone/>
            </a:pPr>
            <a:endParaRPr lang="zh-CN" altLang="en-US" sz="2600" dirty="0"/>
          </a:p>
          <a:p>
            <a:pPr marL="0" indent="0" algn="just">
              <a:lnSpc>
                <a:spcPct val="90000"/>
              </a:lnSpc>
              <a:buNone/>
            </a:pPr>
            <a:endParaRPr lang="en-US" altLang="zh-CN" sz="2600" dirty="0" smtClean="0">
              <a:solidFill>
                <a:srgbClr val="FF0000"/>
              </a:solidFill>
            </a:endParaRPr>
          </a:p>
        </p:txBody>
      </p:sp>
      <p:sp>
        <p:nvSpPr>
          <p:cNvPr id="10242"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10244" name="AutoShape 8"/>
          <p:cNvSpPr>
            <a:spLocks noChangeArrowheads="1"/>
          </p:cNvSpPr>
          <p:nvPr/>
        </p:nvSpPr>
        <p:spPr bwMode="auto">
          <a:xfrm>
            <a:off x="361950" y="1295400"/>
            <a:ext cx="8169275" cy="5562600"/>
          </a:xfrm>
          <a:prstGeom prst="flowChartAlternateProcess">
            <a:avLst/>
          </a:prstGeom>
          <a:noFill/>
          <a:ln w="22225">
            <a:solidFill>
              <a:srgbClr val="3366FF"/>
            </a:solidFill>
            <a:miter lim="800000"/>
          </a:ln>
        </p:spPr>
        <p:txBody>
          <a:bodyPr wrap="none" anchor="ctr"/>
          <a:lstStyle/>
          <a:p>
            <a:pPr eaLnBrk="0" hangingPunct="0"/>
            <a:endParaRPr lang="zh-CN" altLang="en-US"/>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3881" y="3861048"/>
            <a:ext cx="1904472" cy="1274026"/>
          </a:xfrm>
          <a:prstGeom prst="rect">
            <a:avLst/>
          </a:prstGeom>
        </p:spPr>
      </p:pic>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8193" y="2642774"/>
            <a:ext cx="1440160" cy="14401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3"/>
          <p:cNvSpPr>
            <a:spLocks noGrp="1" noChangeArrowheads="1"/>
          </p:cNvSpPr>
          <p:nvPr>
            <p:ph type="subTitle" idx="4294967295"/>
          </p:nvPr>
        </p:nvSpPr>
        <p:spPr>
          <a:xfrm>
            <a:off x="684213" y="1295400"/>
            <a:ext cx="7777162" cy="5157936"/>
          </a:xfrm>
        </p:spPr>
        <p:txBody>
          <a:bodyPr/>
          <a:lstStyle/>
          <a:p>
            <a:pPr marL="0" indent="0" algn="just">
              <a:lnSpc>
                <a:spcPct val="90000"/>
              </a:lnSpc>
              <a:buNone/>
            </a:pPr>
            <a:r>
              <a:rPr lang="en-US" altLang="zh-CN" sz="2600" dirty="0" smtClean="0">
                <a:solidFill>
                  <a:srgbClr val="FF0000"/>
                </a:solidFill>
              </a:rPr>
              <a:t>8.1.2 </a:t>
            </a:r>
            <a:r>
              <a:rPr lang="zh-CN" altLang="en-US" sz="2600" dirty="0" smtClean="0">
                <a:solidFill>
                  <a:srgbClr val="FF0000"/>
                </a:solidFill>
              </a:rPr>
              <a:t>防火墙的分类</a:t>
            </a:r>
            <a:endParaRPr lang="en-US" altLang="zh-CN" sz="2600" dirty="0" smtClean="0">
              <a:solidFill>
                <a:srgbClr val="FF0000"/>
              </a:solidFill>
            </a:endParaRPr>
          </a:p>
          <a:p>
            <a:pPr marL="0" indent="0" algn="just">
              <a:lnSpc>
                <a:spcPct val="90000"/>
              </a:lnSpc>
              <a:buNone/>
            </a:pPr>
            <a:r>
              <a:rPr lang="zh-CN" altLang="en-US" sz="2800" dirty="0" smtClean="0"/>
              <a:t>按照保护对象分类</a:t>
            </a:r>
            <a:endParaRPr lang="en-US" altLang="zh-CN" sz="2800" dirty="0" smtClean="0"/>
          </a:p>
          <a:p>
            <a:pPr marL="0" indent="0" algn="just">
              <a:lnSpc>
                <a:spcPct val="90000"/>
              </a:lnSpc>
              <a:buNone/>
            </a:pPr>
            <a:endParaRPr lang="en-US" altLang="zh-CN" sz="2600" dirty="0" smtClean="0">
              <a:solidFill>
                <a:srgbClr val="FF0000"/>
              </a:solidFill>
            </a:endParaRPr>
          </a:p>
        </p:txBody>
      </p:sp>
      <p:sp>
        <p:nvSpPr>
          <p:cNvPr id="10242"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10244" name="AutoShape 8"/>
          <p:cNvSpPr>
            <a:spLocks noChangeArrowheads="1"/>
          </p:cNvSpPr>
          <p:nvPr/>
        </p:nvSpPr>
        <p:spPr bwMode="auto">
          <a:xfrm>
            <a:off x="361950" y="1295400"/>
            <a:ext cx="8169275" cy="5229944"/>
          </a:xfrm>
          <a:prstGeom prst="flowChartAlternateProcess">
            <a:avLst/>
          </a:prstGeom>
          <a:noFill/>
          <a:ln w="22225">
            <a:solidFill>
              <a:srgbClr val="3366FF"/>
            </a:solidFill>
            <a:miter lim="800000"/>
          </a:ln>
        </p:spPr>
        <p:txBody>
          <a:bodyPr wrap="none" anchor="ctr"/>
          <a:lstStyle/>
          <a:p>
            <a:pPr eaLnBrk="0" hangingPunct="0"/>
            <a:endParaRPr lang="zh-CN" altLang="en-US"/>
          </a:p>
        </p:txBody>
      </p:sp>
      <p:pic>
        <p:nvPicPr>
          <p:cNvPr id="4" name="图片 3"/>
          <p:cNvPicPr>
            <a:picLocks noChangeAspect="1"/>
          </p:cNvPicPr>
          <p:nvPr/>
        </p:nvPicPr>
        <p:blipFill>
          <a:blip r:embed="rId1"/>
          <a:stretch>
            <a:fillRect/>
          </a:stretch>
        </p:blipFill>
        <p:spPr>
          <a:xfrm>
            <a:off x="808234" y="2276871"/>
            <a:ext cx="7364165" cy="391113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539750" y="1125538"/>
            <a:ext cx="8077200" cy="5471814"/>
          </a:xfrm>
          <a:prstGeom prst="rect">
            <a:avLst/>
          </a:prstGeom>
          <a:noFill/>
          <a:ln w="9525">
            <a:noFill/>
            <a:miter lim="800000"/>
          </a:ln>
        </p:spPr>
        <p:txBody>
          <a:bodyPr/>
          <a:lstStyle/>
          <a:p>
            <a:pPr algn="just">
              <a:spcBef>
                <a:spcPct val="20000"/>
              </a:spcBef>
            </a:pPr>
            <a:r>
              <a:rPr lang="en-US" altLang="zh-CN" sz="3200" dirty="0" smtClean="0">
                <a:solidFill>
                  <a:srgbClr val="FF0000"/>
                </a:solidFill>
              </a:rPr>
              <a:t>8.1.3 </a:t>
            </a:r>
            <a:r>
              <a:rPr lang="zh-CN" altLang="en-US" sz="3200" dirty="0">
                <a:solidFill>
                  <a:srgbClr val="FF0000"/>
                </a:solidFill>
              </a:rPr>
              <a:t>防火墙</a:t>
            </a:r>
            <a:r>
              <a:rPr lang="zh-CN" altLang="en-US" sz="3200" dirty="0" smtClean="0">
                <a:solidFill>
                  <a:srgbClr val="FF0000"/>
                </a:solidFill>
              </a:rPr>
              <a:t>的功能</a:t>
            </a:r>
            <a:endParaRPr lang="en-US" altLang="zh-CN" sz="3200" dirty="0" smtClean="0">
              <a:solidFill>
                <a:srgbClr val="FF0000"/>
              </a:solidFill>
            </a:endParaRPr>
          </a:p>
          <a:p>
            <a:pPr algn="just">
              <a:spcBef>
                <a:spcPct val="20000"/>
              </a:spcBef>
            </a:pPr>
            <a:r>
              <a:rPr lang="zh-CN" altLang="en-US" b="1" dirty="0" smtClean="0">
                <a:solidFill>
                  <a:srgbClr val="CC0000"/>
                </a:solidFill>
              </a:rPr>
              <a:t>实际上</a:t>
            </a:r>
            <a:r>
              <a:rPr lang="zh-CN" altLang="en-US" b="1" dirty="0">
                <a:solidFill>
                  <a:srgbClr val="CC0000"/>
                </a:solidFill>
              </a:rPr>
              <a:t>，</a:t>
            </a:r>
            <a:r>
              <a:rPr lang="zh-CN" altLang="en-US" b="1" dirty="0"/>
              <a:t>防火墙其实是一个分离器、限制器或分析器，它能够有效监控内部网络和外部网络之间的所有活动，</a:t>
            </a:r>
            <a:r>
              <a:rPr lang="zh-CN" altLang="en-US" b="1" dirty="0">
                <a:solidFill>
                  <a:srgbClr val="CC0000"/>
                </a:solidFill>
              </a:rPr>
              <a:t>主要功能</a:t>
            </a:r>
            <a:r>
              <a:rPr lang="zh-CN" altLang="en-US" b="1" dirty="0"/>
              <a:t>如下：</a:t>
            </a:r>
            <a:endParaRPr lang="zh-CN" altLang="en-US" b="1" dirty="0"/>
          </a:p>
          <a:p>
            <a:pPr eaLnBrk="0" hangingPunct="0">
              <a:spcBef>
                <a:spcPct val="20000"/>
              </a:spcBef>
              <a:buClr>
                <a:schemeClr val="bg1"/>
              </a:buClr>
              <a:buSzPct val="110000"/>
              <a:buFont typeface="Wingdings" panose="05000000000000000000" pitchFamily="2" charset="2"/>
              <a:buChar char="l"/>
            </a:pPr>
            <a:r>
              <a:rPr lang="zh-CN" altLang="en-US" b="1" dirty="0">
                <a:solidFill>
                  <a:schemeClr val="tx2"/>
                </a:solidFill>
                <a:latin typeface="华文楷体" panose="02010600040101010101" pitchFamily="2" charset="-122"/>
                <a:ea typeface="华文楷体" panose="02010600040101010101" pitchFamily="2" charset="-122"/>
              </a:rPr>
              <a:t>（</a:t>
            </a:r>
            <a:r>
              <a:rPr lang="en-US" altLang="zh-CN" b="1" dirty="0">
                <a:solidFill>
                  <a:schemeClr val="tx2"/>
                </a:solidFill>
                <a:latin typeface="华文楷体" panose="02010600040101010101" pitchFamily="2" charset="-122"/>
                <a:ea typeface="华文楷体" panose="02010600040101010101" pitchFamily="2" charset="-122"/>
              </a:rPr>
              <a:t>1</a:t>
            </a:r>
            <a:r>
              <a:rPr lang="zh-CN" altLang="en-US" b="1" dirty="0">
                <a:solidFill>
                  <a:schemeClr val="tx2"/>
                </a:solidFill>
                <a:latin typeface="华文楷体" panose="02010600040101010101" pitchFamily="2" charset="-122"/>
                <a:ea typeface="华文楷体" panose="02010600040101010101" pitchFamily="2" charset="-122"/>
              </a:rPr>
              <a:t>）建立一个集中的监视点。</a:t>
            </a:r>
            <a:endParaRPr lang="zh-CN" altLang="en-US" b="1" dirty="0">
              <a:solidFill>
                <a:schemeClr val="tx2"/>
              </a:solidFill>
              <a:latin typeface="华文楷体" panose="02010600040101010101" pitchFamily="2" charset="-122"/>
              <a:ea typeface="华文楷体" panose="02010600040101010101" pitchFamily="2" charset="-122"/>
            </a:endParaRPr>
          </a:p>
          <a:p>
            <a:pPr eaLnBrk="0" hangingPunct="0">
              <a:spcBef>
                <a:spcPct val="20000"/>
              </a:spcBef>
              <a:buClr>
                <a:schemeClr val="bg1"/>
              </a:buClr>
              <a:buSzPct val="110000"/>
              <a:buFont typeface="Wingdings" panose="05000000000000000000" pitchFamily="2" charset="2"/>
              <a:buChar char="l"/>
            </a:pPr>
            <a:r>
              <a:rPr lang="zh-CN" altLang="en-US" b="1" dirty="0">
                <a:solidFill>
                  <a:schemeClr val="tx2"/>
                </a:solidFill>
              </a:rPr>
              <a:t>（</a:t>
            </a:r>
            <a:r>
              <a:rPr lang="en-US" altLang="zh-CN" b="1" dirty="0">
                <a:solidFill>
                  <a:schemeClr val="tx2"/>
                </a:solidFill>
              </a:rPr>
              <a:t>2</a:t>
            </a:r>
            <a:r>
              <a:rPr lang="zh-CN" altLang="en-US" b="1" dirty="0">
                <a:solidFill>
                  <a:schemeClr val="tx2"/>
                </a:solidFill>
              </a:rPr>
              <a:t>）</a:t>
            </a:r>
            <a:r>
              <a:rPr lang="zh-CN" altLang="en-US" b="1" dirty="0">
                <a:solidFill>
                  <a:schemeClr val="tx2"/>
                </a:solidFill>
                <a:latin typeface="华文楷体" panose="02010600040101010101" pitchFamily="2" charset="-122"/>
                <a:ea typeface="华文楷体" panose="02010600040101010101" pitchFamily="2" charset="-122"/>
              </a:rPr>
              <a:t>隔绝内、外网络威胁，保护内部网络。</a:t>
            </a:r>
            <a:endParaRPr lang="zh-CN" altLang="en-US" b="1" dirty="0">
              <a:solidFill>
                <a:schemeClr val="tx2"/>
              </a:solidFill>
              <a:latin typeface="华文楷体" panose="02010600040101010101" pitchFamily="2" charset="-122"/>
              <a:ea typeface="华文楷体" panose="02010600040101010101" pitchFamily="2" charset="-122"/>
            </a:endParaRPr>
          </a:p>
          <a:p>
            <a:pPr eaLnBrk="0" hangingPunct="0">
              <a:spcBef>
                <a:spcPct val="20000"/>
              </a:spcBef>
              <a:buClr>
                <a:schemeClr val="bg1"/>
              </a:buClr>
              <a:buSzPct val="110000"/>
              <a:buFont typeface="Wingdings" panose="05000000000000000000" pitchFamily="2" charset="2"/>
              <a:buChar char="l"/>
            </a:pPr>
            <a:r>
              <a:rPr lang="zh-CN" altLang="en-US" b="1" dirty="0">
                <a:solidFill>
                  <a:schemeClr val="tx2"/>
                </a:solidFill>
              </a:rPr>
              <a:t>（</a:t>
            </a:r>
            <a:r>
              <a:rPr lang="en-US" altLang="zh-CN" b="1" dirty="0">
                <a:solidFill>
                  <a:schemeClr val="tx2"/>
                </a:solidFill>
              </a:rPr>
              <a:t>3</a:t>
            </a:r>
            <a:r>
              <a:rPr lang="zh-CN" altLang="en-US" b="1" dirty="0">
                <a:solidFill>
                  <a:schemeClr val="tx2"/>
                </a:solidFill>
              </a:rPr>
              <a:t>）</a:t>
            </a:r>
            <a:r>
              <a:rPr lang="zh-CN" altLang="en-US" b="1" dirty="0">
                <a:solidFill>
                  <a:schemeClr val="tx2"/>
                </a:solidFill>
                <a:latin typeface="华文楷体" panose="02010600040101010101" pitchFamily="2" charset="-122"/>
                <a:ea typeface="华文楷体" panose="02010600040101010101" pitchFamily="2" charset="-122"/>
              </a:rPr>
              <a:t>强化网络安全策略。</a:t>
            </a:r>
            <a:endParaRPr lang="zh-CN" altLang="en-US" b="1" dirty="0">
              <a:solidFill>
                <a:schemeClr val="tx2"/>
              </a:solidFill>
              <a:latin typeface="华文楷体" panose="02010600040101010101" pitchFamily="2" charset="-122"/>
              <a:ea typeface="华文楷体" panose="02010600040101010101" pitchFamily="2" charset="-122"/>
            </a:endParaRPr>
          </a:p>
          <a:p>
            <a:pPr eaLnBrk="0" hangingPunct="0">
              <a:spcBef>
                <a:spcPct val="20000"/>
              </a:spcBef>
              <a:buClr>
                <a:schemeClr val="bg1"/>
              </a:buClr>
              <a:buSzPct val="110000"/>
              <a:buFont typeface="Wingdings" panose="05000000000000000000" pitchFamily="2" charset="2"/>
              <a:buChar char="l"/>
            </a:pPr>
            <a:r>
              <a:rPr lang="zh-CN" altLang="en-US" b="1" dirty="0">
                <a:solidFill>
                  <a:schemeClr val="tx2"/>
                </a:solidFill>
              </a:rPr>
              <a:t>（</a:t>
            </a:r>
            <a:r>
              <a:rPr lang="en-US" altLang="zh-CN" b="1" dirty="0">
                <a:solidFill>
                  <a:schemeClr val="tx2"/>
                </a:solidFill>
              </a:rPr>
              <a:t>4</a:t>
            </a:r>
            <a:r>
              <a:rPr lang="zh-CN" altLang="en-US" b="1" dirty="0">
                <a:solidFill>
                  <a:schemeClr val="tx2"/>
                </a:solidFill>
              </a:rPr>
              <a:t>）</a:t>
            </a:r>
            <a:r>
              <a:rPr lang="zh-CN" altLang="en-US" b="1" dirty="0">
                <a:solidFill>
                  <a:schemeClr val="tx2"/>
                </a:solidFill>
                <a:latin typeface="华文楷体" panose="02010600040101010101" pitchFamily="2" charset="-122"/>
                <a:ea typeface="华文楷体" panose="02010600040101010101" pitchFamily="2" charset="-122"/>
              </a:rPr>
              <a:t>有效记录和审计内、外网络之间的活动</a:t>
            </a:r>
            <a:r>
              <a:rPr lang="zh-CN" altLang="en-US" b="1" dirty="0" smtClean="0">
                <a:solidFill>
                  <a:schemeClr val="tx2"/>
                </a:solidFill>
                <a:latin typeface="华文楷体" panose="02010600040101010101" pitchFamily="2" charset="-122"/>
                <a:ea typeface="华文楷体" panose="02010600040101010101" pitchFamily="2" charset="-122"/>
              </a:rPr>
              <a:t>。</a:t>
            </a:r>
            <a:endParaRPr lang="en-US" altLang="zh-CN" b="1" dirty="0" smtClean="0">
              <a:solidFill>
                <a:schemeClr val="tx2"/>
              </a:solidFill>
              <a:latin typeface="华文楷体" panose="02010600040101010101" pitchFamily="2" charset="-122"/>
              <a:ea typeface="华文楷体" panose="02010600040101010101" pitchFamily="2" charset="-122"/>
            </a:endParaRPr>
          </a:p>
          <a:p>
            <a:pPr eaLnBrk="0" hangingPunct="0">
              <a:spcBef>
                <a:spcPct val="20000"/>
              </a:spcBef>
              <a:buClr>
                <a:schemeClr val="bg1"/>
              </a:buClr>
              <a:buSzPct val="110000"/>
              <a:buFont typeface="Wingdings" panose="05000000000000000000" pitchFamily="2" charset="2"/>
              <a:buChar char="l"/>
            </a:pPr>
            <a:r>
              <a:rPr lang="zh-CN" altLang="en-US" b="1" dirty="0" smtClean="0">
                <a:solidFill>
                  <a:schemeClr val="tx2"/>
                </a:solidFill>
              </a:rPr>
              <a:t>（</a:t>
            </a:r>
            <a:r>
              <a:rPr lang="en-US" altLang="zh-CN" b="1" dirty="0" smtClean="0">
                <a:solidFill>
                  <a:schemeClr val="tx2"/>
                </a:solidFill>
              </a:rPr>
              <a:t>5</a:t>
            </a:r>
            <a:r>
              <a:rPr lang="zh-CN" altLang="en-US" b="1" dirty="0" smtClean="0">
                <a:solidFill>
                  <a:schemeClr val="tx2"/>
                </a:solidFill>
              </a:rPr>
              <a:t>）</a:t>
            </a:r>
            <a:r>
              <a:rPr lang="zh-CN" altLang="en-US" b="1" dirty="0" smtClean="0">
                <a:solidFill>
                  <a:schemeClr val="tx2"/>
                </a:solidFill>
                <a:latin typeface="华文楷体" panose="02010600040101010101" pitchFamily="2" charset="-122"/>
                <a:ea typeface="华文楷体" panose="02010600040101010101" pitchFamily="2" charset="-122"/>
              </a:rPr>
              <a:t>代理转发。</a:t>
            </a:r>
            <a:endParaRPr lang="en-US" altLang="zh-CN" b="1" dirty="0" smtClean="0">
              <a:solidFill>
                <a:schemeClr val="tx2"/>
              </a:solidFill>
              <a:latin typeface="华文楷体" panose="02010600040101010101" pitchFamily="2" charset="-122"/>
              <a:ea typeface="华文楷体" panose="02010600040101010101" pitchFamily="2" charset="-122"/>
            </a:endParaRPr>
          </a:p>
          <a:p>
            <a:pPr eaLnBrk="0" hangingPunct="0">
              <a:spcBef>
                <a:spcPct val="20000"/>
              </a:spcBef>
              <a:buClr>
                <a:schemeClr val="bg1"/>
              </a:buClr>
              <a:buSzPct val="110000"/>
              <a:buFont typeface="Wingdings" panose="05000000000000000000" pitchFamily="2" charset="2"/>
              <a:buChar char="l"/>
            </a:pPr>
            <a:r>
              <a:rPr lang="zh-CN" altLang="en-US" b="1" dirty="0" smtClean="0">
                <a:solidFill>
                  <a:schemeClr val="tx2"/>
                </a:solidFill>
              </a:rPr>
              <a:t>（</a:t>
            </a:r>
            <a:r>
              <a:rPr lang="en-US" altLang="zh-CN" b="1" dirty="0" smtClean="0">
                <a:solidFill>
                  <a:schemeClr val="tx2"/>
                </a:solidFill>
              </a:rPr>
              <a:t>6</a:t>
            </a:r>
            <a:r>
              <a:rPr lang="zh-CN" altLang="en-US" b="1" dirty="0" smtClean="0">
                <a:solidFill>
                  <a:schemeClr val="tx2"/>
                </a:solidFill>
              </a:rPr>
              <a:t>）</a:t>
            </a:r>
            <a:r>
              <a:rPr lang="zh-CN" altLang="en-US" b="1" dirty="0" smtClean="0">
                <a:solidFill>
                  <a:schemeClr val="tx2"/>
                </a:solidFill>
                <a:latin typeface="华文楷体" panose="02010600040101010101" pitchFamily="2" charset="-122"/>
                <a:ea typeface="华文楷体" panose="02010600040101010101" pitchFamily="2" charset="-122"/>
              </a:rPr>
              <a:t>网络地址转换</a:t>
            </a:r>
            <a:r>
              <a:rPr lang="en-US" altLang="zh-CN" b="1" dirty="0" smtClean="0">
                <a:solidFill>
                  <a:schemeClr val="tx2"/>
                </a:solidFill>
                <a:latin typeface="华文楷体" panose="02010600040101010101" pitchFamily="2" charset="-122"/>
                <a:ea typeface="华文楷体" panose="02010600040101010101" pitchFamily="2" charset="-122"/>
              </a:rPr>
              <a:t>NAT</a:t>
            </a:r>
            <a:r>
              <a:rPr lang="zh-CN" altLang="en-US" b="1" dirty="0" smtClean="0">
                <a:solidFill>
                  <a:schemeClr val="tx2"/>
                </a:solidFill>
                <a:latin typeface="华文楷体" panose="02010600040101010101" pitchFamily="2" charset="-122"/>
                <a:ea typeface="华文楷体" panose="02010600040101010101" pitchFamily="2" charset="-122"/>
              </a:rPr>
              <a:t>。</a:t>
            </a:r>
            <a:endParaRPr lang="en-US" altLang="zh-CN" b="1" dirty="0">
              <a:solidFill>
                <a:schemeClr val="tx2"/>
              </a:solidFill>
              <a:latin typeface="华文楷体" panose="02010600040101010101" pitchFamily="2" charset="-122"/>
              <a:ea typeface="华文楷体" panose="02010600040101010101" pitchFamily="2" charset="-122"/>
            </a:endParaRPr>
          </a:p>
          <a:p>
            <a:pPr eaLnBrk="0" hangingPunct="0">
              <a:spcBef>
                <a:spcPct val="20000"/>
              </a:spcBef>
              <a:buClr>
                <a:schemeClr val="bg1"/>
              </a:buClr>
              <a:buSzPct val="110000"/>
              <a:buFont typeface="Wingdings" panose="05000000000000000000" pitchFamily="2" charset="2"/>
              <a:buChar char="l"/>
            </a:pPr>
            <a:r>
              <a:rPr lang="zh-CN" altLang="en-US" b="1" dirty="0" smtClean="0">
                <a:solidFill>
                  <a:schemeClr val="tx2"/>
                </a:solidFill>
              </a:rPr>
              <a:t>（</a:t>
            </a:r>
            <a:r>
              <a:rPr lang="en-US" altLang="zh-CN" b="1" dirty="0" smtClean="0">
                <a:solidFill>
                  <a:schemeClr val="tx2"/>
                </a:solidFill>
              </a:rPr>
              <a:t>7</a:t>
            </a:r>
            <a:r>
              <a:rPr lang="zh-CN" altLang="en-US" b="1" dirty="0" smtClean="0">
                <a:solidFill>
                  <a:schemeClr val="tx2"/>
                </a:solidFill>
              </a:rPr>
              <a:t>）</a:t>
            </a:r>
            <a:r>
              <a:rPr lang="zh-CN" altLang="en-US" b="1" dirty="0" smtClean="0">
                <a:solidFill>
                  <a:schemeClr val="tx2"/>
                </a:solidFill>
                <a:latin typeface="华文楷体" panose="02010600040101010101" pitchFamily="2" charset="-122"/>
                <a:ea typeface="华文楷体" panose="02010600040101010101" pitchFamily="2" charset="-122"/>
              </a:rPr>
              <a:t>虚拟专用网</a:t>
            </a:r>
            <a:r>
              <a:rPr lang="en-US" altLang="zh-CN" b="1" dirty="0" smtClean="0">
                <a:solidFill>
                  <a:schemeClr val="tx2"/>
                </a:solidFill>
                <a:latin typeface="华文楷体" panose="02010600040101010101" pitchFamily="2" charset="-122"/>
                <a:ea typeface="华文楷体" panose="02010600040101010101" pitchFamily="2" charset="-122"/>
              </a:rPr>
              <a:t>VPN</a:t>
            </a:r>
            <a:r>
              <a:rPr lang="zh-CN" altLang="en-US" b="1" dirty="0" smtClean="0">
                <a:solidFill>
                  <a:schemeClr val="tx2"/>
                </a:solidFill>
                <a:latin typeface="华文楷体" panose="02010600040101010101" pitchFamily="2" charset="-122"/>
                <a:ea typeface="华文楷体" panose="02010600040101010101" pitchFamily="2" charset="-122"/>
              </a:rPr>
              <a:t>。</a:t>
            </a:r>
            <a:endParaRPr lang="en-US" altLang="zh-CN" b="1" dirty="0">
              <a:solidFill>
                <a:schemeClr val="tx2"/>
              </a:solidFill>
              <a:latin typeface="华文楷体" panose="02010600040101010101" pitchFamily="2" charset="-122"/>
              <a:ea typeface="华文楷体" panose="02010600040101010101" pitchFamily="2" charset="-122"/>
            </a:endParaRPr>
          </a:p>
          <a:p>
            <a:pPr eaLnBrk="0" hangingPunct="0">
              <a:spcBef>
                <a:spcPct val="20000"/>
              </a:spcBef>
              <a:buClr>
                <a:schemeClr val="bg1"/>
              </a:buClr>
              <a:buSzPct val="110000"/>
              <a:buFont typeface="Wingdings" panose="05000000000000000000" pitchFamily="2" charset="2"/>
              <a:buChar char="l"/>
            </a:pPr>
            <a:endParaRPr lang="en-US" altLang="zh-CN" b="1" dirty="0" smtClean="0">
              <a:solidFill>
                <a:schemeClr val="tx2"/>
              </a:solidFill>
              <a:latin typeface="华文楷体" panose="02010600040101010101" pitchFamily="2" charset="-122"/>
              <a:ea typeface="华文楷体" panose="02010600040101010101" pitchFamily="2" charset="-122"/>
            </a:endParaRPr>
          </a:p>
          <a:p>
            <a:pPr eaLnBrk="0" hangingPunct="0">
              <a:spcBef>
                <a:spcPct val="20000"/>
              </a:spcBef>
              <a:buClr>
                <a:schemeClr val="bg1"/>
              </a:buClr>
              <a:buSzPct val="110000"/>
              <a:buFont typeface="Wingdings" panose="05000000000000000000" pitchFamily="2" charset="2"/>
              <a:buChar char="l"/>
            </a:pPr>
            <a:endParaRPr lang="en-US" altLang="zh-CN" b="1" dirty="0" smtClean="0">
              <a:solidFill>
                <a:schemeClr val="tx2"/>
              </a:solidFill>
              <a:latin typeface="华文楷体" panose="02010600040101010101" pitchFamily="2" charset="-122"/>
              <a:ea typeface="华文楷体" panose="02010600040101010101" pitchFamily="2" charset="-122"/>
            </a:endParaRPr>
          </a:p>
          <a:p>
            <a:pPr eaLnBrk="0" hangingPunct="0">
              <a:spcBef>
                <a:spcPct val="20000"/>
              </a:spcBef>
              <a:buClr>
                <a:schemeClr val="bg1"/>
              </a:buClr>
              <a:buSzPct val="110000"/>
              <a:buFont typeface="Wingdings" panose="05000000000000000000" pitchFamily="2" charset="2"/>
              <a:buChar char="l"/>
            </a:pPr>
            <a:endParaRPr lang="zh-CN" altLang="en-US" b="1" dirty="0">
              <a:solidFill>
                <a:schemeClr val="tx2"/>
              </a:solidFill>
              <a:latin typeface="华文楷体" panose="02010600040101010101" pitchFamily="2" charset="-122"/>
              <a:ea typeface="华文楷体" panose="02010600040101010101" pitchFamily="2" charset="-122"/>
            </a:endParaRPr>
          </a:p>
        </p:txBody>
      </p:sp>
      <p:sp>
        <p:nvSpPr>
          <p:cNvPr id="12290"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8200" name="AutoShape 8"/>
          <p:cNvSpPr>
            <a:spLocks noChangeArrowheads="1"/>
          </p:cNvSpPr>
          <p:nvPr/>
        </p:nvSpPr>
        <p:spPr bwMode="auto">
          <a:xfrm>
            <a:off x="5580063" y="1268413"/>
            <a:ext cx="2025650" cy="431800"/>
          </a:xfrm>
          <a:prstGeom prst="wedgeRectCallout">
            <a:avLst>
              <a:gd name="adj1" fmla="val -41565"/>
              <a:gd name="adj2" fmla="val 69852"/>
            </a:avLst>
          </a:prstGeom>
          <a:solidFill>
            <a:srgbClr val="FFFF66"/>
          </a:solidFill>
          <a:ln w="9525">
            <a:solidFill>
              <a:schemeClr val="tx1"/>
            </a:solidFill>
            <a:miter lim="800000"/>
          </a:ln>
          <a:effectLst/>
        </p:spPr>
        <p:txBody>
          <a:bodyPr/>
          <a:lstStyle/>
          <a:p>
            <a:pPr algn="ctr">
              <a:defRPr/>
            </a:pPr>
            <a:r>
              <a:rPr lang="zh-CN" altLang="en-US" sz="2000">
                <a:solidFill>
                  <a:srgbClr val="FF0000"/>
                </a:solidFill>
                <a:effectLst>
                  <a:outerShdw blurRad="38100" dist="38100" dir="2700000" algn="tl">
                    <a:srgbClr val="000000"/>
                  </a:outerShdw>
                </a:effectLst>
              </a:rPr>
              <a:t>过滤防御系统</a:t>
            </a:r>
            <a:endParaRPr lang="zh-CN" altLang="en-US" sz="2000">
              <a:solidFill>
                <a:srgbClr val="FF0000"/>
              </a:solidFill>
              <a:effectLst>
                <a:outerShdw blurRad="38100" dist="38100" dir="2700000" algn="tl">
                  <a:srgbClr val="000000"/>
                </a:outerShdw>
              </a:effectLst>
            </a:endParaRPr>
          </a:p>
        </p:txBody>
      </p:sp>
      <p:sp>
        <p:nvSpPr>
          <p:cNvPr id="12294" name="AutoShape 8"/>
          <p:cNvSpPr>
            <a:spLocks noChangeArrowheads="1"/>
          </p:cNvSpPr>
          <p:nvPr/>
        </p:nvSpPr>
        <p:spPr bwMode="auto">
          <a:xfrm>
            <a:off x="307975" y="1125538"/>
            <a:ext cx="8169275" cy="5687838"/>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539750" y="1125538"/>
            <a:ext cx="8077200" cy="5471814"/>
          </a:xfrm>
          <a:prstGeom prst="rect">
            <a:avLst/>
          </a:prstGeom>
          <a:noFill/>
          <a:ln w="9525">
            <a:noFill/>
            <a:miter lim="800000"/>
          </a:ln>
        </p:spPr>
        <p:txBody>
          <a:bodyPr/>
          <a:lstStyle/>
          <a:p>
            <a:pPr algn="just">
              <a:spcBef>
                <a:spcPct val="20000"/>
              </a:spcBef>
            </a:pPr>
            <a:r>
              <a:rPr lang="en-US" altLang="zh-CN" sz="3200" dirty="0" smtClean="0">
                <a:solidFill>
                  <a:srgbClr val="FF0000"/>
                </a:solidFill>
              </a:rPr>
              <a:t>8.1.3 </a:t>
            </a:r>
            <a:r>
              <a:rPr lang="zh-CN" altLang="en-US" sz="3200" dirty="0">
                <a:solidFill>
                  <a:srgbClr val="FF0000"/>
                </a:solidFill>
              </a:rPr>
              <a:t>防火墙</a:t>
            </a:r>
            <a:r>
              <a:rPr lang="zh-CN" altLang="en-US" sz="3200" dirty="0" smtClean="0">
                <a:solidFill>
                  <a:srgbClr val="FF0000"/>
                </a:solidFill>
              </a:rPr>
              <a:t>的功能</a:t>
            </a:r>
            <a:endParaRPr lang="en-US" altLang="zh-CN" sz="3200" dirty="0" smtClean="0">
              <a:solidFill>
                <a:srgbClr val="FF0000"/>
              </a:solidFill>
            </a:endParaRPr>
          </a:p>
          <a:p>
            <a:pPr algn="just">
              <a:spcBef>
                <a:spcPct val="20000"/>
              </a:spcBef>
            </a:pPr>
            <a:r>
              <a:rPr lang="zh-CN" altLang="en-US" b="1" dirty="0">
                <a:solidFill>
                  <a:srgbClr val="CC0000"/>
                </a:solidFill>
              </a:rPr>
              <a:t>防火墙主要有五个</a:t>
            </a:r>
            <a:r>
              <a:rPr lang="zh-CN" altLang="en-US" b="1" dirty="0" smtClean="0">
                <a:solidFill>
                  <a:srgbClr val="CC0000"/>
                </a:solidFill>
              </a:rPr>
              <a:t>作用</a:t>
            </a:r>
            <a:endParaRPr lang="en-US" altLang="zh-CN" b="1" dirty="0" smtClean="0">
              <a:solidFill>
                <a:srgbClr val="CC0000"/>
              </a:solidFill>
            </a:endParaRPr>
          </a:p>
          <a:p>
            <a:pPr>
              <a:spcBef>
                <a:spcPct val="20000"/>
              </a:spcBef>
            </a:pPr>
            <a:r>
              <a:rPr lang="en-US" altLang="zh-CN" b="1" dirty="0" smtClean="0">
                <a:solidFill>
                  <a:schemeClr val="tx2"/>
                </a:solidFill>
                <a:latin typeface="+mn-ea"/>
                <a:ea typeface="+mn-ea"/>
              </a:rPr>
              <a:t>1.</a:t>
            </a:r>
            <a:r>
              <a:rPr lang="zh-CN" altLang="en-US" b="1" dirty="0" smtClean="0">
                <a:solidFill>
                  <a:schemeClr val="tx2"/>
                </a:solidFill>
                <a:latin typeface="+mn-ea"/>
                <a:ea typeface="+mn-ea"/>
              </a:rPr>
              <a:t>过滤</a:t>
            </a:r>
            <a:r>
              <a:rPr lang="zh-CN" altLang="en-US" b="1" dirty="0">
                <a:solidFill>
                  <a:schemeClr val="tx2"/>
                </a:solidFill>
                <a:latin typeface="+mn-ea"/>
                <a:ea typeface="+mn-ea"/>
              </a:rPr>
              <a:t>进出网络数据</a:t>
            </a:r>
            <a:endParaRPr lang="zh-CN" altLang="en-US" b="1" dirty="0">
              <a:solidFill>
                <a:schemeClr val="tx2"/>
              </a:solidFill>
              <a:latin typeface="+mn-ea"/>
              <a:ea typeface="+mn-ea"/>
            </a:endParaRPr>
          </a:p>
          <a:p>
            <a:pPr eaLnBrk="0" hangingPunct="0">
              <a:spcBef>
                <a:spcPct val="20000"/>
              </a:spcBef>
              <a:buClr>
                <a:schemeClr val="bg1"/>
              </a:buClr>
              <a:buSzPct val="110000"/>
            </a:pPr>
            <a:r>
              <a:rPr lang="en-US" altLang="zh-CN" b="1" dirty="0">
                <a:solidFill>
                  <a:schemeClr val="tx2"/>
                </a:solidFill>
                <a:latin typeface="+mn-ea"/>
                <a:ea typeface="+mn-ea"/>
              </a:rPr>
              <a:t>2.</a:t>
            </a:r>
            <a:r>
              <a:rPr lang="zh-CN" altLang="en-US" b="1" dirty="0">
                <a:solidFill>
                  <a:schemeClr val="tx2"/>
                </a:solidFill>
                <a:latin typeface="+mn-ea"/>
                <a:ea typeface="+mn-ea"/>
              </a:rPr>
              <a:t>监视网络的安全性</a:t>
            </a:r>
            <a:endParaRPr lang="zh-CN" altLang="en-US" b="1" dirty="0">
              <a:solidFill>
                <a:schemeClr val="tx2"/>
              </a:solidFill>
              <a:latin typeface="+mn-ea"/>
              <a:ea typeface="+mn-ea"/>
            </a:endParaRPr>
          </a:p>
          <a:p>
            <a:pPr eaLnBrk="0" hangingPunct="0">
              <a:spcBef>
                <a:spcPct val="20000"/>
              </a:spcBef>
              <a:buClr>
                <a:schemeClr val="bg1"/>
              </a:buClr>
              <a:buSzPct val="110000"/>
            </a:pPr>
            <a:r>
              <a:rPr lang="en-US" altLang="zh-CN" b="1" dirty="0">
                <a:solidFill>
                  <a:schemeClr val="tx2"/>
                </a:solidFill>
                <a:latin typeface="+mn-ea"/>
                <a:ea typeface="+mn-ea"/>
              </a:rPr>
              <a:t>3.</a:t>
            </a:r>
            <a:r>
              <a:rPr lang="zh-CN" altLang="en-US" b="1" dirty="0">
                <a:solidFill>
                  <a:schemeClr val="tx2"/>
                </a:solidFill>
                <a:latin typeface="+mn-ea"/>
                <a:ea typeface="+mn-ea"/>
              </a:rPr>
              <a:t>部署网络地址变换</a:t>
            </a:r>
            <a:endParaRPr lang="zh-CN" altLang="en-US" b="1" dirty="0">
              <a:solidFill>
                <a:schemeClr val="tx2"/>
              </a:solidFill>
              <a:latin typeface="+mn-ea"/>
              <a:ea typeface="+mn-ea"/>
            </a:endParaRPr>
          </a:p>
          <a:p>
            <a:pPr eaLnBrk="0" hangingPunct="0">
              <a:spcBef>
                <a:spcPct val="20000"/>
              </a:spcBef>
              <a:buClr>
                <a:schemeClr val="bg1"/>
              </a:buClr>
              <a:buSzPct val="110000"/>
            </a:pPr>
            <a:r>
              <a:rPr lang="en-US" altLang="zh-CN" b="1" dirty="0">
                <a:solidFill>
                  <a:schemeClr val="tx2"/>
                </a:solidFill>
                <a:latin typeface="+mn-ea"/>
                <a:ea typeface="+mn-ea"/>
              </a:rPr>
              <a:t>4.</a:t>
            </a:r>
            <a:r>
              <a:rPr lang="zh-CN" altLang="en-US" b="1" dirty="0">
                <a:solidFill>
                  <a:schemeClr val="tx2"/>
                </a:solidFill>
                <a:latin typeface="+mn-ea"/>
                <a:ea typeface="+mn-ea"/>
              </a:rPr>
              <a:t>审计和记录网络流量</a:t>
            </a:r>
            <a:endParaRPr lang="zh-CN" altLang="en-US" b="1" dirty="0">
              <a:solidFill>
                <a:schemeClr val="tx2"/>
              </a:solidFill>
              <a:latin typeface="+mn-ea"/>
              <a:ea typeface="+mn-ea"/>
            </a:endParaRPr>
          </a:p>
          <a:p>
            <a:pPr eaLnBrk="0" hangingPunct="0">
              <a:spcBef>
                <a:spcPct val="20000"/>
              </a:spcBef>
              <a:buClr>
                <a:schemeClr val="bg1"/>
              </a:buClr>
              <a:buSzPct val="110000"/>
            </a:pPr>
            <a:r>
              <a:rPr lang="en-US" altLang="zh-CN" b="1" dirty="0">
                <a:solidFill>
                  <a:schemeClr val="tx2"/>
                </a:solidFill>
                <a:latin typeface="+mn-ea"/>
                <a:ea typeface="+mn-ea"/>
              </a:rPr>
              <a:t>5.</a:t>
            </a:r>
            <a:r>
              <a:rPr lang="zh-CN" altLang="en-US" b="1" dirty="0">
                <a:solidFill>
                  <a:schemeClr val="tx2"/>
                </a:solidFill>
                <a:latin typeface="+mn-ea"/>
                <a:ea typeface="+mn-ea"/>
              </a:rPr>
              <a:t>发布服务信息</a:t>
            </a:r>
            <a:endParaRPr lang="zh-CN" altLang="en-US" b="1" dirty="0">
              <a:solidFill>
                <a:schemeClr val="tx2"/>
              </a:solidFill>
              <a:latin typeface="+mn-ea"/>
              <a:ea typeface="+mn-ea"/>
            </a:endParaRPr>
          </a:p>
          <a:p>
            <a:pPr eaLnBrk="0" hangingPunct="0">
              <a:spcBef>
                <a:spcPct val="20000"/>
              </a:spcBef>
              <a:buClr>
                <a:schemeClr val="bg1"/>
              </a:buClr>
              <a:buSzPct val="110000"/>
              <a:buFont typeface="Wingdings" panose="05000000000000000000" pitchFamily="2" charset="2"/>
              <a:buChar char="l"/>
            </a:pPr>
            <a:endParaRPr lang="en-US" altLang="zh-CN" b="1" dirty="0" smtClean="0">
              <a:solidFill>
                <a:schemeClr val="tx2"/>
              </a:solidFill>
              <a:latin typeface="华文楷体" panose="02010600040101010101" pitchFamily="2" charset="-122"/>
              <a:ea typeface="华文楷体" panose="02010600040101010101" pitchFamily="2" charset="-122"/>
            </a:endParaRPr>
          </a:p>
          <a:p>
            <a:pPr eaLnBrk="0" hangingPunct="0">
              <a:spcBef>
                <a:spcPct val="20000"/>
              </a:spcBef>
              <a:buClr>
                <a:schemeClr val="bg1"/>
              </a:buClr>
              <a:buSzPct val="110000"/>
              <a:buFont typeface="Wingdings" panose="05000000000000000000" pitchFamily="2" charset="2"/>
              <a:buChar char="l"/>
            </a:pPr>
            <a:endParaRPr lang="en-US" altLang="zh-CN" b="1" dirty="0" smtClean="0">
              <a:solidFill>
                <a:schemeClr val="tx2"/>
              </a:solidFill>
              <a:latin typeface="华文楷体" panose="02010600040101010101" pitchFamily="2" charset="-122"/>
              <a:ea typeface="华文楷体" panose="02010600040101010101" pitchFamily="2" charset="-122"/>
            </a:endParaRPr>
          </a:p>
          <a:p>
            <a:pPr eaLnBrk="0" hangingPunct="0">
              <a:spcBef>
                <a:spcPct val="20000"/>
              </a:spcBef>
              <a:buClr>
                <a:schemeClr val="bg1"/>
              </a:buClr>
              <a:buSzPct val="110000"/>
              <a:buFont typeface="Wingdings" panose="05000000000000000000" pitchFamily="2" charset="2"/>
              <a:buChar char="l"/>
            </a:pPr>
            <a:endParaRPr lang="zh-CN" altLang="en-US" b="1" dirty="0">
              <a:solidFill>
                <a:schemeClr val="tx2"/>
              </a:solidFill>
              <a:latin typeface="华文楷体" panose="02010600040101010101" pitchFamily="2" charset="-122"/>
              <a:ea typeface="华文楷体" panose="02010600040101010101" pitchFamily="2" charset="-122"/>
            </a:endParaRPr>
          </a:p>
        </p:txBody>
      </p:sp>
      <p:sp>
        <p:nvSpPr>
          <p:cNvPr id="12290"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12294" name="AutoShape 8"/>
          <p:cNvSpPr>
            <a:spLocks noChangeArrowheads="1"/>
          </p:cNvSpPr>
          <p:nvPr/>
        </p:nvSpPr>
        <p:spPr bwMode="auto">
          <a:xfrm>
            <a:off x="307975" y="1125538"/>
            <a:ext cx="8169275" cy="5687838"/>
          </a:xfrm>
          <a:prstGeom prst="flowChartAlternateProcess">
            <a:avLst/>
          </a:prstGeom>
          <a:noFill/>
          <a:ln w="22225">
            <a:solidFill>
              <a:srgbClr val="3366FF"/>
            </a:solidFill>
            <a:miter lim="800000"/>
          </a:ln>
        </p:spPr>
        <p:txBody>
          <a:bodyPr wrap="none" anchor="ctr"/>
          <a:lstStyle/>
          <a:p>
            <a:pPr eaLnBrk="0" hangingPunct="0"/>
            <a:endParaRPr lang="zh-CN" altLang="en-US"/>
          </a:p>
        </p:txBody>
      </p:sp>
      <p:pic>
        <p:nvPicPr>
          <p:cNvPr id="2" name="图片 1"/>
          <p:cNvPicPr>
            <a:picLocks noChangeAspect="1"/>
          </p:cNvPicPr>
          <p:nvPr/>
        </p:nvPicPr>
        <p:blipFill>
          <a:blip r:embed="rId1"/>
          <a:stretch>
            <a:fillRect/>
          </a:stretch>
        </p:blipFill>
        <p:spPr>
          <a:xfrm>
            <a:off x="4788024" y="1003243"/>
            <a:ext cx="4186649" cy="2975451"/>
          </a:xfrm>
          <a:prstGeom prst="rect">
            <a:avLst/>
          </a:prstGeom>
        </p:spPr>
      </p:pic>
      <p:pic>
        <p:nvPicPr>
          <p:cNvPr id="3" name="图片 2"/>
          <p:cNvPicPr>
            <a:picLocks noChangeAspect="1"/>
          </p:cNvPicPr>
          <p:nvPr/>
        </p:nvPicPr>
        <p:blipFill>
          <a:blip r:embed="rId2"/>
          <a:stretch>
            <a:fillRect/>
          </a:stretch>
        </p:blipFill>
        <p:spPr>
          <a:xfrm>
            <a:off x="3707904" y="4136049"/>
            <a:ext cx="4541515" cy="266387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ChangeArrowheads="1"/>
          </p:cNvSpPr>
          <p:nvPr/>
        </p:nvSpPr>
        <p:spPr bwMode="auto">
          <a:xfrm>
            <a:off x="609600" y="1295400"/>
            <a:ext cx="8283575" cy="5013325"/>
          </a:xfrm>
          <a:prstGeom prst="rect">
            <a:avLst/>
          </a:prstGeom>
          <a:noFill/>
          <a:ln w="9525">
            <a:noFill/>
            <a:miter lim="800000"/>
          </a:ln>
        </p:spPr>
        <p:txBody>
          <a:bodyPr/>
          <a:lstStyle/>
          <a:p>
            <a:pPr algn="just">
              <a:spcBef>
                <a:spcPct val="20000"/>
              </a:spcBef>
            </a:pPr>
            <a:r>
              <a:rPr lang="zh-CN" altLang="en-US" sz="3200" b="1" dirty="0" smtClean="0">
                <a:solidFill>
                  <a:srgbClr val="FF0000"/>
                </a:solidFill>
              </a:rPr>
              <a:t>防火墙</a:t>
            </a:r>
            <a:r>
              <a:rPr lang="zh-CN" altLang="en-US" sz="3200" b="1" dirty="0">
                <a:solidFill>
                  <a:srgbClr val="FF0000"/>
                </a:solidFill>
              </a:rPr>
              <a:t>的特性</a:t>
            </a:r>
            <a:endParaRPr lang="zh-CN" altLang="en-US" sz="3200" b="1" dirty="0">
              <a:solidFill>
                <a:srgbClr val="FF0000"/>
              </a:solidFill>
            </a:endParaRPr>
          </a:p>
          <a:p>
            <a:pPr eaLnBrk="0" hangingPunct="0">
              <a:spcBef>
                <a:spcPct val="20000"/>
              </a:spcBef>
            </a:pPr>
            <a:r>
              <a:rPr lang="zh-CN" altLang="en-US" b="1" dirty="0"/>
              <a:t>（</a:t>
            </a:r>
            <a:r>
              <a:rPr lang="en-US" altLang="zh-CN" b="1" dirty="0"/>
              <a:t>1</a:t>
            </a:r>
            <a:r>
              <a:rPr lang="zh-CN" altLang="en-US" b="1" dirty="0"/>
              <a:t>）安全、成熟、国际领先的特性。 </a:t>
            </a:r>
            <a:endParaRPr lang="zh-CN" altLang="en-US" b="1" dirty="0"/>
          </a:p>
          <a:p>
            <a:pPr eaLnBrk="0" hangingPunct="0">
              <a:spcBef>
                <a:spcPct val="20000"/>
              </a:spcBef>
            </a:pPr>
            <a:r>
              <a:rPr lang="zh-CN" altLang="en-US" b="1" dirty="0"/>
              <a:t>（</a:t>
            </a:r>
            <a:r>
              <a:rPr lang="en-US" altLang="zh-CN" b="1" dirty="0"/>
              <a:t>2</a:t>
            </a:r>
            <a:r>
              <a:rPr lang="zh-CN" altLang="en-US" b="1" dirty="0"/>
              <a:t>）具有专有的硬件平台和操作系统平台。 </a:t>
            </a:r>
            <a:endParaRPr lang="zh-CN" altLang="en-US" b="1" dirty="0"/>
          </a:p>
          <a:p>
            <a:pPr eaLnBrk="0" hangingPunct="0">
              <a:spcBef>
                <a:spcPct val="20000"/>
              </a:spcBef>
            </a:pPr>
            <a:r>
              <a:rPr lang="zh-CN" altLang="en-US" b="1" dirty="0"/>
              <a:t>（</a:t>
            </a:r>
            <a:r>
              <a:rPr lang="en-US" altLang="zh-CN" b="1" dirty="0"/>
              <a:t>3</a:t>
            </a:r>
            <a:r>
              <a:rPr lang="zh-CN" altLang="en-US" b="1" dirty="0"/>
              <a:t>）采用高性能的全状态检测</a:t>
            </a:r>
            <a:r>
              <a:rPr lang="zh-CN" altLang="en-US" b="1" dirty="0">
                <a:latin typeface="Times New Roman" panose="02020603050405020304" pitchFamily="18" charset="0"/>
              </a:rPr>
              <a:t>（</a:t>
            </a:r>
            <a:r>
              <a:rPr lang="en-US" altLang="zh-CN" b="1" dirty="0" err="1">
                <a:latin typeface="Times New Roman" panose="02020603050405020304" pitchFamily="18" charset="0"/>
              </a:rPr>
              <a:t>Stateful</a:t>
            </a:r>
            <a:r>
              <a:rPr lang="en-US" altLang="zh-CN" b="1" dirty="0">
                <a:latin typeface="Times New Roman" panose="02020603050405020304" pitchFamily="18" charset="0"/>
              </a:rPr>
              <a:t> Inspection</a:t>
            </a:r>
            <a:r>
              <a:rPr lang="zh-CN" altLang="en-US" b="1" dirty="0">
                <a:latin typeface="Times New Roman" panose="02020603050405020304" pitchFamily="18" charset="0"/>
              </a:rPr>
              <a:t>）</a:t>
            </a:r>
            <a:r>
              <a:rPr lang="zh-CN" altLang="en-US" b="1" dirty="0"/>
              <a:t>技术</a:t>
            </a:r>
            <a:endParaRPr lang="zh-CN" altLang="en-US" b="1" dirty="0"/>
          </a:p>
          <a:p>
            <a:pPr eaLnBrk="0" hangingPunct="0">
              <a:spcBef>
                <a:spcPct val="20000"/>
              </a:spcBef>
            </a:pPr>
            <a:r>
              <a:rPr lang="zh-CN" altLang="en-US" b="1" dirty="0"/>
              <a:t>（</a:t>
            </a:r>
            <a:r>
              <a:rPr lang="en-US" altLang="zh-CN" b="1" dirty="0"/>
              <a:t>4</a:t>
            </a:r>
            <a:r>
              <a:rPr lang="zh-CN" altLang="en-US" b="1" dirty="0"/>
              <a:t>）具有优异的管理功能，提供优异的</a:t>
            </a:r>
            <a:r>
              <a:rPr lang="en-US" altLang="zh-CN" b="1" dirty="0"/>
              <a:t>GUI</a:t>
            </a:r>
            <a:r>
              <a:rPr lang="zh-CN" altLang="en-US" b="1" dirty="0"/>
              <a:t>管理界面。 </a:t>
            </a:r>
            <a:endParaRPr lang="zh-CN" altLang="en-US" b="1" dirty="0"/>
          </a:p>
          <a:p>
            <a:pPr eaLnBrk="0" hangingPunct="0">
              <a:spcBef>
                <a:spcPct val="20000"/>
              </a:spcBef>
            </a:pPr>
            <a:r>
              <a:rPr lang="zh-CN" altLang="en-US" b="1" dirty="0"/>
              <a:t>（</a:t>
            </a:r>
            <a:r>
              <a:rPr lang="en-US" altLang="zh-CN" b="1" dirty="0"/>
              <a:t>5</a:t>
            </a:r>
            <a:r>
              <a:rPr lang="zh-CN" altLang="en-US" b="1" dirty="0"/>
              <a:t>）支持多种用户认证类型和多种认证机制。</a:t>
            </a:r>
            <a:endParaRPr lang="zh-CN" altLang="en-US" b="1" dirty="0"/>
          </a:p>
          <a:p>
            <a:r>
              <a:rPr lang="zh-CN" altLang="en-US" b="1" dirty="0"/>
              <a:t>（</a:t>
            </a:r>
            <a:r>
              <a:rPr lang="en-US" altLang="zh-CN" b="1" dirty="0"/>
              <a:t>6</a:t>
            </a:r>
            <a:r>
              <a:rPr lang="zh-CN" altLang="en-US" b="1" dirty="0"/>
              <a:t>）需要支持用户分组，并支持分组认证和授权。 </a:t>
            </a:r>
            <a:endParaRPr lang="zh-CN" altLang="en-US" b="1" dirty="0"/>
          </a:p>
          <a:p>
            <a:r>
              <a:rPr lang="zh-CN" altLang="en-US" b="1" dirty="0"/>
              <a:t>（</a:t>
            </a:r>
            <a:r>
              <a:rPr lang="en-US" altLang="zh-CN" b="1" dirty="0"/>
              <a:t>7</a:t>
            </a:r>
            <a:r>
              <a:rPr lang="zh-CN" altLang="en-US" b="1" dirty="0"/>
              <a:t>）支持内容过滤。 </a:t>
            </a:r>
            <a:endParaRPr lang="zh-CN" altLang="en-US" b="1" dirty="0"/>
          </a:p>
          <a:p>
            <a:r>
              <a:rPr lang="zh-CN" altLang="en-US" b="1" dirty="0"/>
              <a:t>（</a:t>
            </a:r>
            <a:r>
              <a:rPr lang="en-US" altLang="zh-CN" b="1" dirty="0"/>
              <a:t>8</a:t>
            </a:r>
            <a:r>
              <a:rPr lang="zh-CN" altLang="en-US" b="1" dirty="0"/>
              <a:t>）支持动态和静态地址翻译</a:t>
            </a:r>
            <a:r>
              <a:rPr lang="en-US" altLang="zh-CN" b="1" dirty="0"/>
              <a:t>(NAT)</a:t>
            </a:r>
            <a:r>
              <a:rPr lang="zh-CN" altLang="en-US" b="1" dirty="0"/>
              <a:t>。 </a:t>
            </a:r>
            <a:endParaRPr lang="zh-CN" altLang="en-US" b="1" dirty="0"/>
          </a:p>
          <a:p>
            <a:r>
              <a:rPr lang="zh-CN" altLang="en-US" b="1" dirty="0"/>
              <a:t>（</a:t>
            </a:r>
            <a:r>
              <a:rPr lang="en-US" altLang="zh-CN" b="1" dirty="0"/>
              <a:t>9</a:t>
            </a:r>
            <a:r>
              <a:rPr lang="zh-CN" altLang="en-US" b="1" dirty="0"/>
              <a:t>）支持高可用性，单台防火墙的故障不能影响系统的正常运行。 </a:t>
            </a:r>
            <a:endParaRPr lang="zh-CN" altLang="en-US" b="1" dirty="0"/>
          </a:p>
        </p:txBody>
      </p:sp>
      <p:sp>
        <p:nvSpPr>
          <p:cNvPr id="13314"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pic>
        <p:nvPicPr>
          <p:cNvPr id="13315" name="Picture 7" descr="j0300520"/>
          <p:cNvPicPr>
            <a:picLocks noChangeAspect="1" noChangeArrowheads="1"/>
          </p:cNvPicPr>
          <p:nvPr/>
        </p:nvPicPr>
        <p:blipFill>
          <a:blip r:embed="rId1" cstate="print"/>
          <a:srcRect/>
          <a:stretch>
            <a:fillRect/>
          </a:stretch>
        </p:blipFill>
        <p:spPr bwMode="auto">
          <a:xfrm>
            <a:off x="7019925" y="1341438"/>
            <a:ext cx="1150938" cy="925512"/>
          </a:xfrm>
          <a:prstGeom prst="rect">
            <a:avLst/>
          </a:prstGeom>
          <a:noFill/>
          <a:ln w="9525">
            <a:noFill/>
            <a:miter lim="800000"/>
            <a:headEnd/>
            <a:tailEnd/>
          </a:ln>
        </p:spPr>
      </p:pic>
      <p:sp>
        <p:nvSpPr>
          <p:cNvPr id="13316" name="AutoShape 8"/>
          <p:cNvSpPr>
            <a:spLocks noChangeArrowheads="1"/>
          </p:cNvSpPr>
          <p:nvPr/>
        </p:nvSpPr>
        <p:spPr bwMode="auto">
          <a:xfrm>
            <a:off x="361950" y="1196752"/>
            <a:ext cx="8169275" cy="4956398"/>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3"/>
          <p:cNvSpPr>
            <a:spLocks noChangeArrowheads="1"/>
          </p:cNvSpPr>
          <p:nvPr/>
        </p:nvSpPr>
        <p:spPr bwMode="auto">
          <a:xfrm>
            <a:off x="609600" y="1295400"/>
            <a:ext cx="7807325" cy="5257800"/>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 </a:t>
            </a:r>
            <a:r>
              <a:rPr lang="zh-CN" altLang="en-US" sz="3200" b="1" dirty="0">
                <a:solidFill>
                  <a:srgbClr val="FF0000"/>
                </a:solidFill>
              </a:rPr>
              <a:t>防火墙的特性</a:t>
            </a:r>
            <a:endParaRPr lang="zh-CN" altLang="en-US" sz="3200" b="1" dirty="0">
              <a:solidFill>
                <a:srgbClr val="CC0000"/>
              </a:solidFill>
            </a:endParaRPr>
          </a:p>
          <a:p>
            <a:r>
              <a:rPr lang="zh-CN" altLang="en-US" b="1" dirty="0"/>
              <a:t>（</a:t>
            </a:r>
            <a:r>
              <a:rPr lang="en-US" altLang="zh-CN" b="1" dirty="0"/>
              <a:t>10</a:t>
            </a:r>
            <a:r>
              <a:rPr lang="zh-CN" altLang="en-US" b="1" dirty="0"/>
              <a:t>）支持本地管理和远程管理。 </a:t>
            </a:r>
            <a:endParaRPr lang="zh-CN" altLang="en-US" b="1" dirty="0"/>
          </a:p>
          <a:p>
            <a:r>
              <a:rPr lang="zh-CN" altLang="en-US" b="1" dirty="0"/>
              <a:t>（</a:t>
            </a:r>
            <a:r>
              <a:rPr lang="en-US" altLang="zh-CN" b="1" dirty="0"/>
              <a:t>11</a:t>
            </a:r>
            <a:r>
              <a:rPr lang="zh-CN" altLang="en-US" b="1" dirty="0"/>
              <a:t>）支持日志管理和对日志的统计分析。</a:t>
            </a:r>
            <a:r>
              <a:rPr lang="zh-CN" altLang="en-US" dirty="0"/>
              <a:t> </a:t>
            </a:r>
            <a:endParaRPr lang="zh-CN" altLang="en-US" dirty="0"/>
          </a:p>
          <a:p>
            <a:r>
              <a:rPr lang="zh-CN" altLang="en-US" b="1" dirty="0"/>
              <a:t>（</a:t>
            </a:r>
            <a:r>
              <a:rPr lang="en-US" altLang="zh-CN" b="1" dirty="0"/>
              <a:t>12</a:t>
            </a:r>
            <a:r>
              <a:rPr lang="zh-CN" altLang="en-US" b="1" dirty="0"/>
              <a:t>）实时告警功能，在不影响性能的情况下，支持较大数量的连接数。 </a:t>
            </a:r>
            <a:endParaRPr lang="zh-CN" altLang="en-US" b="1" dirty="0"/>
          </a:p>
          <a:p>
            <a:pPr eaLnBrk="0" hangingPunct="0">
              <a:spcBef>
                <a:spcPct val="20000"/>
              </a:spcBef>
            </a:pPr>
            <a:r>
              <a:rPr lang="zh-CN" altLang="en-US" b="1" dirty="0"/>
              <a:t>（</a:t>
            </a:r>
            <a:r>
              <a:rPr lang="en-US" altLang="zh-CN" b="1" dirty="0"/>
              <a:t>13</a:t>
            </a:r>
            <a:r>
              <a:rPr lang="zh-CN" altLang="en-US" b="1" dirty="0"/>
              <a:t>）在保持足够的性能指标的前提下，能够提供尽量丰富的功能。 </a:t>
            </a:r>
            <a:endParaRPr lang="zh-CN" altLang="en-US" b="1" dirty="0"/>
          </a:p>
          <a:p>
            <a:pPr eaLnBrk="0" hangingPunct="0">
              <a:spcBef>
                <a:spcPct val="20000"/>
              </a:spcBef>
            </a:pPr>
            <a:r>
              <a:rPr lang="zh-CN" altLang="en-US" b="1" dirty="0"/>
              <a:t>（</a:t>
            </a:r>
            <a:r>
              <a:rPr lang="en-US" altLang="zh-CN" b="1" dirty="0"/>
              <a:t>14</a:t>
            </a:r>
            <a:r>
              <a:rPr lang="zh-CN" altLang="en-US" b="1" dirty="0"/>
              <a:t>）可以划分很多不同安全级别的区域，相同安全级别可控制是否相互通讯。 </a:t>
            </a:r>
            <a:endParaRPr lang="zh-CN" altLang="en-US" b="1" dirty="0"/>
          </a:p>
          <a:p>
            <a:pPr eaLnBrk="0" hangingPunct="0">
              <a:spcBef>
                <a:spcPct val="20000"/>
              </a:spcBef>
            </a:pPr>
            <a:r>
              <a:rPr lang="zh-CN" altLang="en-US" b="1" dirty="0"/>
              <a:t>（</a:t>
            </a:r>
            <a:r>
              <a:rPr lang="en-US" altLang="zh-CN" b="1" dirty="0"/>
              <a:t>15</a:t>
            </a:r>
            <a:r>
              <a:rPr lang="zh-CN" altLang="en-US" b="1" dirty="0"/>
              <a:t>）支持在线升级。 </a:t>
            </a:r>
            <a:endParaRPr lang="zh-CN" altLang="en-US" b="1" dirty="0"/>
          </a:p>
          <a:p>
            <a:pPr eaLnBrk="0" hangingPunct="0">
              <a:spcBef>
                <a:spcPct val="20000"/>
              </a:spcBef>
            </a:pPr>
            <a:r>
              <a:rPr lang="zh-CN" altLang="en-US" b="1" dirty="0"/>
              <a:t>（</a:t>
            </a:r>
            <a:r>
              <a:rPr lang="en-US" altLang="zh-CN" b="1" dirty="0"/>
              <a:t>16</a:t>
            </a:r>
            <a:r>
              <a:rPr lang="zh-CN" altLang="en-US" b="1" dirty="0"/>
              <a:t>）支持虚拟防火墙及对其资源限制等功能。 </a:t>
            </a:r>
            <a:endParaRPr lang="zh-CN" altLang="en-US" b="1" dirty="0"/>
          </a:p>
          <a:p>
            <a:pPr eaLnBrk="0" hangingPunct="0">
              <a:spcBef>
                <a:spcPct val="20000"/>
              </a:spcBef>
            </a:pPr>
            <a:r>
              <a:rPr lang="zh-CN" altLang="en-US" b="1" dirty="0"/>
              <a:t>（</a:t>
            </a:r>
            <a:r>
              <a:rPr lang="en-US" altLang="zh-CN" b="1" dirty="0"/>
              <a:t>17</a:t>
            </a:r>
            <a:r>
              <a:rPr lang="zh-CN" altLang="en-US" b="1" dirty="0"/>
              <a:t>）防火墙能够与入侵检测系统互动。</a:t>
            </a:r>
            <a:endParaRPr lang="zh-CN" altLang="en-US" b="1" dirty="0"/>
          </a:p>
        </p:txBody>
      </p:sp>
      <p:sp>
        <p:nvSpPr>
          <p:cNvPr id="14338"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14339" name="AutoShape 8"/>
          <p:cNvSpPr>
            <a:spLocks noChangeArrowheads="1"/>
          </p:cNvSpPr>
          <p:nvPr/>
        </p:nvSpPr>
        <p:spPr bwMode="auto">
          <a:xfrm>
            <a:off x="361950" y="1295400"/>
            <a:ext cx="8169275" cy="501392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3"/>
          <p:cNvSpPr>
            <a:spLocks noChangeArrowheads="1"/>
          </p:cNvSpPr>
          <p:nvPr/>
        </p:nvSpPr>
        <p:spPr bwMode="auto">
          <a:xfrm>
            <a:off x="468313" y="1125538"/>
            <a:ext cx="8077200" cy="5257800"/>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 8.1.5 </a:t>
            </a:r>
            <a:r>
              <a:rPr lang="zh-CN" altLang="en-US" sz="3200" b="1" dirty="0" smtClean="0">
                <a:solidFill>
                  <a:srgbClr val="FF0000"/>
                </a:solidFill>
              </a:rPr>
              <a:t>防火墙</a:t>
            </a:r>
            <a:r>
              <a:rPr lang="zh-CN" altLang="en-US" sz="3200" b="1" dirty="0">
                <a:solidFill>
                  <a:srgbClr val="FF0000"/>
                </a:solidFill>
              </a:rPr>
              <a:t>的主要</a:t>
            </a:r>
            <a:r>
              <a:rPr lang="zh-CN" altLang="en-US" sz="3200" b="1" dirty="0" smtClean="0">
                <a:solidFill>
                  <a:srgbClr val="FF0000"/>
                </a:solidFill>
              </a:rPr>
              <a:t>缺陷</a:t>
            </a:r>
            <a:endParaRPr lang="en-US" altLang="zh-CN" sz="3200" b="1" dirty="0" smtClean="0">
              <a:solidFill>
                <a:srgbClr val="FF0000"/>
              </a:solidFill>
            </a:endParaRPr>
          </a:p>
          <a:p>
            <a:pPr algn="just">
              <a:spcBef>
                <a:spcPct val="20000"/>
              </a:spcBef>
            </a:pPr>
            <a:r>
              <a:rPr lang="en-US" altLang="zh-CN" b="1" dirty="0" smtClean="0">
                <a:solidFill>
                  <a:schemeClr val="tx2"/>
                </a:solidFill>
              </a:rPr>
              <a:t>	</a:t>
            </a:r>
            <a:r>
              <a:rPr lang="zh-CN" altLang="en-US" b="1" dirty="0" smtClean="0">
                <a:solidFill>
                  <a:schemeClr val="tx2"/>
                </a:solidFill>
              </a:rPr>
              <a:t>防火墙不是解决所有网络安全问题的万能药，只是网络安全策略章的一个组成部分。</a:t>
            </a:r>
            <a:endParaRPr lang="zh-CN" altLang="en-US" b="1" dirty="0">
              <a:solidFill>
                <a:schemeClr val="tx2"/>
              </a:solidFill>
            </a:endParaRPr>
          </a:p>
          <a:p>
            <a:pPr>
              <a:spcBef>
                <a:spcPct val="20000"/>
              </a:spcBef>
            </a:pPr>
            <a:r>
              <a:rPr lang="zh-CN" altLang="en-US" sz="2800" b="1" dirty="0"/>
              <a:t>（</a:t>
            </a:r>
            <a:r>
              <a:rPr lang="en-US" altLang="zh-CN" sz="2800" b="1" dirty="0"/>
              <a:t>1</a:t>
            </a:r>
            <a:r>
              <a:rPr lang="zh-CN" altLang="en-US" sz="2800" b="1" dirty="0"/>
              <a:t>）不能防范</a:t>
            </a:r>
            <a:r>
              <a:rPr lang="zh-CN" altLang="en-US" sz="2800" b="1" dirty="0">
                <a:solidFill>
                  <a:srgbClr val="990033"/>
                </a:solidFill>
              </a:rPr>
              <a:t>不经由防火墙的攻击</a:t>
            </a:r>
            <a:r>
              <a:rPr lang="zh-CN" altLang="en-US" sz="2800" b="1" dirty="0"/>
              <a:t>。</a:t>
            </a:r>
            <a:endParaRPr lang="zh-CN" altLang="en-US" sz="2800" b="1" dirty="0"/>
          </a:p>
          <a:p>
            <a:pPr eaLnBrk="0" hangingPunct="0">
              <a:spcBef>
                <a:spcPct val="20000"/>
              </a:spcBef>
            </a:pPr>
            <a:endParaRPr lang="zh-CN" altLang="en-US" sz="2800" b="1" dirty="0"/>
          </a:p>
        </p:txBody>
      </p:sp>
      <p:sp>
        <p:nvSpPr>
          <p:cNvPr id="15362"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15364" name="AutoShape 8"/>
          <p:cNvSpPr>
            <a:spLocks noChangeArrowheads="1"/>
          </p:cNvSpPr>
          <p:nvPr/>
        </p:nvSpPr>
        <p:spPr bwMode="auto">
          <a:xfrm>
            <a:off x="376238" y="1125538"/>
            <a:ext cx="8169275" cy="5327798"/>
          </a:xfrm>
          <a:prstGeom prst="flowChartAlternateProcess">
            <a:avLst/>
          </a:prstGeom>
          <a:noFill/>
          <a:ln w="22225">
            <a:solidFill>
              <a:srgbClr val="3366FF"/>
            </a:solidFill>
            <a:miter lim="800000"/>
          </a:ln>
        </p:spPr>
        <p:txBody>
          <a:bodyPr wrap="none" anchor="ctr"/>
          <a:lstStyle/>
          <a:p>
            <a:pPr eaLnBrk="0" hangingPunct="0"/>
            <a:endParaRPr lang="zh-CN" altLang="en-US"/>
          </a:p>
        </p:txBody>
      </p:sp>
      <p:pic>
        <p:nvPicPr>
          <p:cNvPr id="5"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123728" y="3068960"/>
            <a:ext cx="4093766" cy="31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3"/>
          <p:cNvSpPr>
            <a:spLocks noChangeArrowheads="1"/>
          </p:cNvSpPr>
          <p:nvPr/>
        </p:nvSpPr>
        <p:spPr bwMode="auto">
          <a:xfrm>
            <a:off x="468313" y="1125538"/>
            <a:ext cx="8077200" cy="5257800"/>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 8.1.5 </a:t>
            </a:r>
            <a:r>
              <a:rPr lang="zh-CN" altLang="en-US" sz="3200" b="1" dirty="0" smtClean="0">
                <a:solidFill>
                  <a:srgbClr val="FF0000"/>
                </a:solidFill>
              </a:rPr>
              <a:t>防火墙</a:t>
            </a:r>
            <a:r>
              <a:rPr lang="zh-CN" altLang="en-US" sz="3200" b="1" dirty="0">
                <a:solidFill>
                  <a:srgbClr val="FF0000"/>
                </a:solidFill>
              </a:rPr>
              <a:t>的主要</a:t>
            </a:r>
            <a:r>
              <a:rPr lang="zh-CN" altLang="en-US" sz="3200" b="1" dirty="0" smtClean="0">
                <a:solidFill>
                  <a:srgbClr val="FF0000"/>
                </a:solidFill>
              </a:rPr>
              <a:t>缺陷</a:t>
            </a:r>
            <a:endParaRPr lang="en-US" altLang="zh-CN" sz="3200" b="1" dirty="0" smtClean="0">
              <a:solidFill>
                <a:srgbClr val="FF0000"/>
              </a:solidFill>
            </a:endParaRPr>
          </a:p>
          <a:p>
            <a:pPr algn="just">
              <a:spcBef>
                <a:spcPct val="20000"/>
              </a:spcBef>
            </a:pPr>
            <a:r>
              <a:rPr lang="zh-CN" altLang="en-US" sz="2800" b="1" dirty="0" smtClean="0"/>
              <a:t>（</a:t>
            </a:r>
            <a:r>
              <a:rPr lang="en-US" altLang="zh-CN" sz="2800" b="1" dirty="0"/>
              <a:t>2</a:t>
            </a:r>
            <a:r>
              <a:rPr lang="zh-CN" altLang="en-US" sz="2800" b="1" dirty="0"/>
              <a:t>）防火墙是一种</a:t>
            </a:r>
            <a:r>
              <a:rPr lang="zh-CN" altLang="en-US" sz="2800" b="1" dirty="0">
                <a:solidFill>
                  <a:srgbClr val="CC0000"/>
                </a:solidFill>
              </a:rPr>
              <a:t>被动</a:t>
            </a:r>
            <a:r>
              <a:rPr lang="zh-CN" altLang="en-US" sz="2800" b="1" dirty="0"/>
              <a:t>安全策略执行设备，即对于新的未知攻击或策略配置有误，无能为力。</a:t>
            </a:r>
            <a:endParaRPr lang="zh-CN" altLang="en-US" sz="2800" b="1" dirty="0"/>
          </a:p>
          <a:p>
            <a:pPr eaLnBrk="0" hangingPunct="0">
              <a:spcBef>
                <a:spcPct val="20000"/>
              </a:spcBef>
            </a:pPr>
            <a:r>
              <a:rPr lang="zh-CN" altLang="en-US" sz="2800" b="1" dirty="0"/>
              <a:t>（</a:t>
            </a:r>
            <a:r>
              <a:rPr lang="en-US" altLang="zh-CN" sz="2800" b="1" dirty="0"/>
              <a:t>3</a:t>
            </a:r>
            <a:r>
              <a:rPr lang="zh-CN" altLang="en-US" sz="2800" b="1" dirty="0"/>
              <a:t>）防火墙不能防止</a:t>
            </a:r>
            <a:r>
              <a:rPr lang="zh-CN" altLang="en-US" sz="2800" b="1" dirty="0">
                <a:solidFill>
                  <a:srgbClr val="CC0000"/>
                </a:solidFill>
              </a:rPr>
              <a:t>利用标准网络协议中的缺陷</a:t>
            </a:r>
            <a:r>
              <a:rPr lang="zh-CN" altLang="en-US" sz="2800" b="1" dirty="0"/>
              <a:t>进行的攻击。一旦防火墙允许某些标准网络协议，就不能防止利用协议缺陷的攻击。</a:t>
            </a:r>
            <a:endParaRPr lang="zh-CN" altLang="en-US" sz="2800" b="1" dirty="0"/>
          </a:p>
          <a:p>
            <a:pPr eaLnBrk="0" hangingPunct="0">
              <a:spcBef>
                <a:spcPct val="20000"/>
              </a:spcBef>
            </a:pPr>
            <a:r>
              <a:rPr lang="zh-CN" altLang="en-US" sz="2800" b="1" dirty="0"/>
              <a:t>（</a:t>
            </a:r>
            <a:r>
              <a:rPr lang="en-US" altLang="zh-CN" sz="2800" b="1" dirty="0"/>
              <a:t>4</a:t>
            </a:r>
            <a:r>
              <a:rPr lang="zh-CN" altLang="en-US" sz="2800" b="1" dirty="0"/>
              <a:t>）防火墙不能防止</a:t>
            </a:r>
            <a:r>
              <a:rPr lang="zh-CN" altLang="en-US" sz="2800" b="1" dirty="0">
                <a:solidFill>
                  <a:srgbClr val="CC0000"/>
                </a:solidFill>
              </a:rPr>
              <a:t>利用服务器系统漏洞</a:t>
            </a:r>
            <a:r>
              <a:rPr lang="zh-CN" altLang="en-US" sz="2800" b="1" dirty="0"/>
              <a:t>进行的攻击。</a:t>
            </a:r>
            <a:endParaRPr lang="zh-CN" altLang="en-US" sz="2800" b="1" dirty="0"/>
          </a:p>
        </p:txBody>
      </p:sp>
      <p:sp>
        <p:nvSpPr>
          <p:cNvPr id="15362"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15364" name="AutoShape 8"/>
          <p:cNvSpPr>
            <a:spLocks noChangeArrowheads="1"/>
          </p:cNvSpPr>
          <p:nvPr/>
        </p:nvSpPr>
        <p:spPr bwMode="auto">
          <a:xfrm>
            <a:off x="376238" y="1125538"/>
            <a:ext cx="8169275" cy="4859337"/>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3"/>
          <p:cNvSpPr>
            <a:spLocks noChangeArrowheads="1"/>
          </p:cNvSpPr>
          <p:nvPr/>
        </p:nvSpPr>
        <p:spPr bwMode="auto">
          <a:xfrm>
            <a:off x="611188" y="1268413"/>
            <a:ext cx="7849244" cy="5257800"/>
          </a:xfrm>
          <a:prstGeom prst="rect">
            <a:avLst/>
          </a:prstGeom>
          <a:noFill/>
          <a:ln w="9525">
            <a:noFill/>
            <a:miter lim="800000"/>
          </a:ln>
        </p:spPr>
        <p:txBody>
          <a:bodyPr/>
          <a:lstStyle/>
          <a:p>
            <a:pPr algn="just">
              <a:spcBef>
                <a:spcPct val="20000"/>
              </a:spcBef>
            </a:pPr>
            <a:r>
              <a:rPr lang="en-US" altLang="zh-CN" sz="3200" b="1" dirty="0">
                <a:solidFill>
                  <a:srgbClr val="FF0000"/>
                </a:solidFill>
              </a:rPr>
              <a:t>8.1.5 </a:t>
            </a:r>
            <a:r>
              <a:rPr lang="zh-CN" altLang="en-US" sz="3200" b="1" dirty="0">
                <a:solidFill>
                  <a:srgbClr val="FF0000"/>
                </a:solidFill>
              </a:rPr>
              <a:t>防火墙的主要缺陷</a:t>
            </a:r>
            <a:endParaRPr lang="en-US" altLang="zh-CN" sz="3200" b="1" dirty="0">
              <a:solidFill>
                <a:srgbClr val="FF0000"/>
              </a:solidFill>
            </a:endParaRPr>
          </a:p>
          <a:p>
            <a:pPr eaLnBrk="0" hangingPunct="0">
              <a:spcBef>
                <a:spcPct val="20000"/>
              </a:spcBef>
            </a:pPr>
            <a:r>
              <a:rPr lang="zh-CN" altLang="en-US" b="1" dirty="0" smtClean="0"/>
              <a:t>（</a:t>
            </a:r>
            <a:r>
              <a:rPr lang="en-US" altLang="zh-CN" b="1" dirty="0"/>
              <a:t>5</a:t>
            </a:r>
            <a:r>
              <a:rPr lang="zh-CN" altLang="en-US" b="1" dirty="0"/>
              <a:t>）防火墙不能防止</a:t>
            </a:r>
            <a:r>
              <a:rPr lang="zh-CN" altLang="en-US" b="1" dirty="0">
                <a:solidFill>
                  <a:srgbClr val="990033"/>
                </a:solidFill>
              </a:rPr>
              <a:t>数据驱动式的攻击</a:t>
            </a:r>
            <a:r>
              <a:rPr lang="zh-CN" altLang="en-US" b="1" dirty="0" smtClean="0"/>
              <a:t>。当有些表面看来无害的数据被邮件或下载到主机上进行执行进而发起攻击，如木马。</a:t>
            </a:r>
            <a:endParaRPr lang="zh-CN" altLang="en-US" b="1" dirty="0"/>
          </a:p>
          <a:p>
            <a:pPr eaLnBrk="0" hangingPunct="0">
              <a:spcBef>
                <a:spcPct val="20000"/>
              </a:spcBef>
            </a:pPr>
            <a:r>
              <a:rPr lang="zh-CN" altLang="en-US" b="1" dirty="0"/>
              <a:t>（</a:t>
            </a:r>
            <a:r>
              <a:rPr lang="en-US" altLang="zh-CN" b="1" dirty="0"/>
              <a:t>6</a:t>
            </a:r>
            <a:r>
              <a:rPr lang="zh-CN" altLang="en-US" b="1" dirty="0"/>
              <a:t>）防火墙无法保证</a:t>
            </a:r>
            <a:r>
              <a:rPr lang="zh-CN" altLang="en-US" b="1" dirty="0">
                <a:solidFill>
                  <a:srgbClr val="CC0000"/>
                </a:solidFill>
              </a:rPr>
              <a:t>准许服务的安全性</a:t>
            </a:r>
            <a:r>
              <a:rPr lang="zh-CN" altLang="en-US" b="1" dirty="0"/>
              <a:t>。</a:t>
            </a:r>
            <a:endParaRPr lang="zh-CN" altLang="en-US" b="1" dirty="0"/>
          </a:p>
          <a:p>
            <a:pPr eaLnBrk="0" hangingPunct="0">
              <a:spcBef>
                <a:spcPct val="20000"/>
              </a:spcBef>
            </a:pPr>
            <a:r>
              <a:rPr lang="zh-CN" altLang="en-US" b="1" dirty="0"/>
              <a:t>（</a:t>
            </a:r>
            <a:r>
              <a:rPr lang="en-US" altLang="zh-CN" b="1" dirty="0"/>
              <a:t>7</a:t>
            </a:r>
            <a:r>
              <a:rPr lang="zh-CN" altLang="en-US" b="1" dirty="0"/>
              <a:t>）防火墙不能防止</a:t>
            </a:r>
            <a:r>
              <a:rPr lang="zh-CN" altLang="en-US" b="1" dirty="0">
                <a:solidFill>
                  <a:srgbClr val="CC0000"/>
                </a:solidFill>
              </a:rPr>
              <a:t>本身的安全漏洞威胁</a:t>
            </a:r>
            <a:r>
              <a:rPr lang="zh-CN" altLang="en-US" b="1" dirty="0"/>
              <a:t>。</a:t>
            </a:r>
            <a:endParaRPr lang="zh-CN" altLang="en-US" b="1" dirty="0"/>
          </a:p>
          <a:p>
            <a:pPr eaLnBrk="0" hangingPunct="0">
              <a:spcBef>
                <a:spcPct val="20000"/>
              </a:spcBef>
            </a:pPr>
            <a:r>
              <a:rPr lang="zh-CN" altLang="en-US" b="1" dirty="0"/>
              <a:t>（</a:t>
            </a:r>
            <a:r>
              <a:rPr lang="en-US" altLang="zh-CN" b="1" dirty="0"/>
              <a:t>8</a:t>
            </a:r>
            <a:r>
              <a:rPr lang="zh-CN" altLang="en-US" b="1" dirty="0"/>
              <a:t>）不能防止</a:t>
            </a:r>
            <a:r>
              <a:rPr lang="zh-CN" altLang="en-US" b="1" dirty="0">
                <a:solidFill>
                  <a:srgbClr val="CC0000"/>
                </a:solidFill>
              </a:rPr>
              <a:t>感染了病毒的软件或文件的传输</a:t>
            </a:r>
            <a:r>
              <a:rPr lang="zh-CN" altLang="en-US" b="1" dirty="0"/>
              <a:t>。</a:t>
            </a:r>
            <a:endParaRPr lang="zh-CN" altLang="en-US" b="1" dirty="0"/>
          </a:p>
          <a:p>
            <a:pPr eaLnBrk="0" hangingPunct="0">
              <a:spcBef>
                <a:spcPct val="20000"/>
              </a:spcBef>
            </a:pPr>
            <a:r>
              <a:rPr lang="zh-CN" altLang="en-US" b="1" dirty="0"/>
              <a:t>      此外，防火墙在性能上</a:t>
            </a:r>
            <a:r>
              <a:rPr lang="zh-CN" altLang="en-US" b="1" dirty="0">
                <a:solidFill>
                  <a:srgbClr val="CC0000"/>
                </a:solidFill>
              </a:rPr>
              <a:t>不具备</a:t>
            </a:r>
            <a:r>
              <a:rPr lang="zh-CN" altLang="en-US" b="1" dirty="0"/>
              <a:t>实时监控入侵的能力，其功能与速度成</a:t>
            </a:r>
            <a:r>
              <a:rPr lang="zh-CN" altLang="en-US" b="1" dirty="0">
                <a:solidFill>
                  <a:srgbClr val="CC0000"/>
                </a:solidFill>
              </a:rPr>
              <a:t>反比</a:t>
            </a:r>
            <a:r>
              <a:rPr lang="zh-CN" altLang="en-US" b="1" dirty="0"/>
              <a:t>。防火墙的功能越多，对</a:t>
            </a:r>
            <a:r>
              <a:rPr lang="en-US" altLang="zh-CN" b="1" dirty="0"/>
              <a:t>CPU</a:t>
            </a:r>
            <a:r>
              <a:rPr lang="zh-CN" altLang="en-US" b="1" dirty="0"/>
              <a:t>和内存的消耗越大，速度越慢。管理上，人为因素对防火墙安全的影响也很大。因此，仅仅依靠现有的防火墙技术，是远远不够的。</a:t>
            </a:r>
            <a:endParaRPr lang="zh-CN" altLang="en-US" dirty="0"/>
          </a:p>
        </p:txBody>
      </p:sp>
      <p:sp>
        <p:nvSpPr>
          <p:cNvPr id="16386"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8.1 </a:t>
            </a:r>
            <a:r>
              <a:rPr lang="zh-CN" altLang="en-US" sz="3600" b="1">
                <a:solidFill>
                  <a:schemeClr val="bg1"/>
                </a:solidFill>
                <a:latin typeface="Verdana" panose="020B0604030504040204" pitchFamily="34" charset="0"/>
              </a:rPr>
              <a:t>防火墙概述</a:t>
            </a:r>
            <a:endParaRPr lang="zh-CN" altLang="en-US" sz="3600" b="1">
              <a:solidFill>
                <a:schemeClr val="bg1"/>
              </a:solidFill>
              <a:latin typeface="Verdana" panose="020B0604030504040204" pitchFamily="34" charset="0"/>
            </a:endParaRPr>
          </a:p>
        </p:txBody>
      </p:sp>
      <p:sp>
        <p:nvSpPr>
          <p:cNvPr id="16387" name="AutoShape 8"/>
          <p:cNvSpPr>
            <a:spLocks noChangeArrowheads="1"/>
          </p:cNvSpPr>
          <p:nvPr/>
        </p:nvSpPr>
        <p:spPr bwMode="auto">
          <a:xfrm>
            <a:off x="361950" y="1295400"/>
            <a:ext cx="8401050" cy="5157936"/>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157936"/>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3"/>
            <a:ext cx="7849244" cy="5257800"/>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8.2.1 </a:t>
            </a:r>
            <a:r>
              <a:rPr lang="zh-CN" altLang="en-US" sz="3200" b="1" dirty="0" smtClean="0">
                <a:solidFill>
                  <a:srgbClr val="FF0000"/>
                </a:solidFill>
              </a:rPr>
              <a:t>网络地址转换</a:t>
            </a:r>
            <a:r>
              <a:rPr lang="en-US" altLang="zh-CN" sz="3200" b="1" dirty="0" smtClean="0">
                <a:solidFill>
                  <a:srgbClr val="FF0000"/>
                </a:solidFill>
              </a:rPr>
              <a:t>(NAT)</a:t>
            </a:r>
            <a:endParaRPr lang="en-US" altLang="zh-CN" sz="3200" b="1" dirty="0">
              <a:solidFill>
                <a:srgbClr val="FF0000"/>
              </a:solidFill>
            </a:endParaRPr>
          </a:p>
          <a:p>
            <a:pPr eaLnBrk="0" hangingPunct="0">
              <a:spcBef>
                <a:spcPct val="20000"/>
              </a:spcBef>
            </a:pPr>
            <a:r>
              <a:rPr lang="en-US" altLang="zh-CN" b="1" dirty="0"/>
              <a:t>NAT</a:t>
            </a:r>
            <a:r>
              <a:rPr lang="zh-CN" altLang="en-US" b="1" dirty="0"/>
              <a:t>（</a:t>
            </a:r>
            <a:r>
              <a:rPr lang="en-US" altLang="zh-CN" b="1" dirty="0"/>
              <a:t>Network Address Translation</a:t>
            </a:r>
            <a:r>
              <a:rPr lang="zh-CN" altLang="en-US" b="1" dirty="0"/>
              <a:t>，网络</a:t>
            </a:r>
            <a:r>
              <a:rPr lang="zh-CN" altLang="en-US" b="1" dirty="0" smtClean="0"/>
              <a:t>地址转换</a:t>
            </a:r>
            <a:r>
              <a:rPr lang="zh-CN" altLang="en-US" b="1" dirty="0"/>
              <a:t>是</a:t>
            </a:r>
            <a:r>
              <a:rPr lang="en-US" altLang="zh-CN" b="1" dirty="0" smtClean="0"/>
              <a:t>IETF1994</a:t>
            </a:r>
            <a:r>
              <a:rPr lang="zh-CN" altLang="en-US" b="1" dirty="0"/>
              <a:t>年提出</a:t>
            </a:r>
            <a:r>
              <a:rPr lang="zh-CN" altLang="en-US" b="1" dirty="0" smtClean="0"/>
              <a:t>的</a:t>
            </a:r>
            <a:r>
              <a:rPr lang="zh-CN" altLang="en-US" b="1" dirty="0"/>
              <a:t>标准，当在专用网内部的一些</a:t>
            </a:r>
            <a:r>
              <a:rPr lang="zh-CN" altLang="en-US" b="1" dirty="0" smtClean="0"/>
              <a:t>主机（私网</a:t>
            </a:r>
            <a:r>
              <a:rPr lang="en-US" altLang="zh-CN" b="1" dirty="0" smtClean="0"/>
              <a:t>IP</a:t>
            </a:r>
            <a:r>
              <a:rPr lang="zh-CN" altLang="en-US" b="1" dirty="0" smtClean="0"/>
              <a:t>）想和公网上</a:t>
            </a:r>
            <a:r>
              <a:rPr lang="zh-CN" altLang="en-US" b="1" dirty="0"/>
              <a:t>的主机</a:t>
            </a:r>
            <a:r>
              <a:rPr lang="zh-CN" altLang="en-US" b="1" dirty="0" smtClean="0"/>
              <a:t>通信时</a:t>
            </a:r>
            <a:r>
              <a:rPr lang="zh-CN" altLang="en-US" b="1" dirty="0"/>
              <a:t>，可使用</a:t>
            </a:r>
            <a:r>
              <a:rPr lang="en-US" altLang="zh-CN" b="1" dirty="0"/>
              <a:t>NAT</a:t>
            </a:r>
            <a:r>
              <a:rPr lang="zh-CN" altLang="en-US" b="1" dirty="0"/>
              <a:t>方法</a:t>
            </a:r>
            <a:r>
              <a:rPr lang="zh-CN" altLang="en-US" b="1" dirty="0" smtClean="0"/>
              <a:t>。</a:t>
            </a:r>
            <a:r>
              <a:rPr lang="en-US" altLang="zh-CN" b="1" dirty="0" smtClean="0"/>
              <a:t>NAT</a:t>
            </a:r>
            <a:r>
              <a:rPr lang="zh-CN" altLang="en-US" b="1" dirty="0" smtClean="0"/>
              <a:t>最主要的</a:t>
            </a:r>
            <a:r>
              <a:rPr lang="zh-CN" altLang="en-US" b="1" dirty="0" smtClean="0">
                <a:solidFill>
                  <a:srgbClr val="FF0000"/>
                </a:solidFill>
              </a:rPr>
              <a:t>两个目的</a:t>
            </a:r>
            <a:r>
              <a:rPr lang="zh-CN" altLang="en-US" b="1" dirty="0" smtClean="0"/>
              <a:t>，一个是解决</a:t>
            </a:r>
            <a:r>
              <a:rPr lang="en-US" altLang="zh-CN" b="1" dirty="0" smtClean="0"/>
              <a:t>IP</a:t>
            </a:r>
            <a:r>
              <a:rPr lang="zh-CN" altLang="en-US" b="1" dirty="0" smtClean="0"/>
              <a:t>地址空间不足的问题，另一个是向外界隐藏内部网的结构。</a:t>
            </a:r>
            <a:endParaRPr lang="en-US" altLang="zh-CN" b="1" dirty="0" smtClean="0"/>
          </a:p>
          <a:p>
            <a:pPr eaLnBrk="0" hangingPunct="0">
              <a:spcBef>
                <a:spcPct val="20000"/>
              </a:spcBef>
            </a:pPr>
            <a:r>
              <a:rPr lang="en-US" altLang="zh-CN" dirty="0" smtClean="0"/>
              <a:t>NAT</a:t>
            </a:r>
            <a:r>
              <a:rPr lang="zh-CN" altLang="en-US" dirty="0"/>
              <a:t>的实现</a:t>
            </a:r>
            <a:r>
              <a:rPr lang="zh-CN" altLang="en-US" dirty="0">
                <a:solidFill>
                  <a:srgbClr val="FF0000"/>
                </a:solidFill>
              </a:rPr>
              <a:t>方式有三种</a:t>
            </a:r>
            <a:r>
              <a:rPr lang="zh-CN" altLang="en-US" dirty="0"/>
              <a:t>，即静态转换</a:t>
            </a:r>
            <a:r>
              <a:rPr lang="en-US" altLang="zh-CN" dirty="0"/>
              <a:t>Static Nat</a:t>
            </a:r>
            <a:r>
              <a:rPr lang="zh-CN" altLang="en-US" dirty="0"/>
              <a:t>、动态转换</a:t>
            </a:r>
            <a:r>
              <a:rPr lang="en-US" altLang="zh-CN" dirty="0"/>
              <a:t>Dynamic </a:t>
            </a:r>
            <a:r>
              <a:rPr lang="en-US" altLang="zh-CN" dirty="0" smtClean="0"/>
              <a:t>Nat(Pooled </a:t>
            </a:r>
            <a:r>
              <a:rPr lang="en-US" altLang="zh-CN" dirty="0"/>
              <a:t>NAT</a:t>
            </a:r>
            <a:r>
              <a:rPr lang="en-US" altLang="zh-CN" dirty="0" smtClean="0"/>
              <a:t>)</a:t>
            </a:r>
            <a:r>
              <a:rPr lang="zh-CN" altLang="en-US" dirty="0" smtClean="0"/>
              <a:t>和网络地址端口转换</a:t>
            </a:r>
            <a:r>
              <a:rPr lang="en-US" altLang="zh-CN" dirty="0"/>
              <a:t>NAPT(Network Address Port Translation)</a:t>
            </a:r>
            <a:r>
              <a:rPr lang="zh-CN" altLang="en-US" dirty="0" smtClean="0"/>
              <a:t>。</a:t>
            </a:r>
            <a:endParaRPr lang="en-US" altLang="zh-CN" dirty="0" smtClean="0"/>
          </a:p>
          <a:p>
            <a:pPr eaLnBrk="0" hangingPunct="0">
              <a:spcBef>
                <a:spcPct val="20000"/>
              </a:spcBef>
            </a:pPr>
            <a:r>
              <a:rPr lang="zh-CN" altLang="en-US" dirty="0"/>
              <a:t>详</a:t>
            </a:r>
            <a:r>
              <a:rPr lang="zh-CN" altLang="en-US" dirty="0" smtClean="0"/>
              <a:t>见：</a:t>
            </a:r>
            <a:endParaRPr lang="en-US" altLang="zh-CN" dirty="0" smtClean="0"/>
          </a:p>
          <a:p>
            <a:pPr eaLnBrk="0" hangingPunct="0">
              <a:spcBef>
                <a:spcPct val="20000"/>
              </a:spcBef>
            </a:pPr>
            <a:r>
              <a:rPr lang="en-US" altLang="zh-CN" dirty="0">
                <a:hlinkClick r:id="rId1"/>
              </a:rPr>
              <a:t>https://</a:t>
            </a:r>
            <a:r>
              <a:rPr lang="en-US" altLang="zh-CN" dirty="0" smtClean="0">
                <a:hlinkClick r:id="rId1"/>
              </a:rPr>
              <a:t>baike.baidu.com/item/nat/320024?fr=aladdin</a:t>
            </a:r>
            <a:endParaRPr lang="en-US" altLang="zh-CN" dirty="0" smtClean="0"/>
          </a:p>
          <a:p>
            <a:pPr eaLnBrk="0" hangingPunct="0">
              <a:spcBef>
                <a:spcPct val="20000"/>
              </a:spcBef>
            </a:pP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7849244" cy="5589587"/>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8.2.1 </a:t>
            </a:r>
            <a:r>
              <a:rPr lang="zh-CN" altLang="en-US" sz="3200" b="1" dirty="0" smtClean="0">
                <a:solidFill>
                  <a:srgbClr val="FF0000"/>
                </a:solidFill>
              </a:rPr>
              <a:t>网络地址转换</a:t>
            </a:r>
            <a:r>
              <a:rPr lang="en-US" altLang="zh-CN" sz="3200" b="1" dirty="0" smtClean="0">
                <a:solidFill>
                  <a:srgbClr val="FF0000"/>
                </a:solidFill>
              </a:rPr>
              <a:t>(NAT)</a:t>
            </a:r>
            <a:endParaRPr lang="en-US" altLang="zh-CN" sz="3200" b="1" dirty="0">
              <a:solidFill>
                <a:srgbClr val="FF0000"/>
              </a:solidFill>
            </a:endParaRPr>
          </a:p>
          <a:p>
            <a:pPr eaLnBrk="0" hangingPunct="0">
              <a:spcBef>
                <a:spcPct val="20000"/>
              </a:spcBef>
            </a:pPr>
            <a:r>
              <a:rPr lang="en-US" altLang="zh-CN" sz="2000" b="1" dirty="0" smtClean="0"/>
              <a:t>NAT</a:t>
            </a:r>
            <a:r>
              <a:rPr lang="zh-CN" altLang="en-US" sz="2000" b="1" dirty="0" smtClean="0"/>
              <a:t>协议的应用：</a:t>
            </a:r>
            <a:endParaRPr lang="en-US" altLang="zh-CN" sz="2000" b="1" dirty="0" smtClean="0"/>
          </a:p>
          <a:p>
            <a:pPr eaLnBrk="0" hangingPunct="0">
              <a:spcBef>
                <a:spcPct val="20000"/>
              </a:spcBef>
            </a:pPr>
            <a:r>
              <a:rPr lang="zh-CN" altLang="en-US" sz="2000" b="1" dirty="0" smtClean="0"/>
              <a:t>（</a:t>
            </a:r>
            <a:r>
              <a:rPr lang="en-US" altLang="zh-CN" sz="2000" b="1" dirty="0" smtClean="0"/>
              <a:t>1</a:t>
            </a:r>
            <a:r>
              <a:rPr lang="zh-CN" altLang="en-US" sz="2000" b="1" dirty="0" smtClean="0"/>
              <a:t>）数据包伪装：将内网数据包的地址信息改成统一的对外地址信息，不让内网主机直接暴露在因特网上，保证内网主机的安全。</a:t>
            </a:r>
            <a:endParaRPr lang="en-US" altLang="zh-CN" sz="2000" b="1" dirty="0" smtClean="0"/>
          </a:p>
          <a:p>
            <a:pPr eaLnBrk="0" hangingPunct="0">
              <a:spcBef>
                <a:spcPct val="20000"/>
              </a:spcBef>
            </a:pPr>
            <a:r>
              <a:rPr lang="zh-CN" altLang="en-US" sz="2000" b="1" dirty="0" smtClean="0"/>
              <a:t>（</a:t>
            </a:r>
            <a:r>
              <a:rPr lang="en-US" altLang="zh-CN" sz="2000" b="1" dirty="0" smtClean="0"/>
              <a:t>2</a:t>
            </a:r>
            <a:r>
              <a:rPr lang="zh-CN" altLang="en-US" sz="2000" b="1" dirty="0" smtClean="0"/>
              <a:t>）端口转发：当内网主机对外提供服务时，由于使用的是内部私有</a:t>
            </a:r>
            <a:r>
              <a:rPr lang="en-US" altLang="zh-CN" sz="2000" b="1" dirty="0" smtClean="0"/>
              <a:t>IP</a:t>
            </a:r>
            <a:r>
              <a:rPr lang="zh-CN" altLang="en-US" sz="2000" b="1" dirty="0" smtClean="0"/>
              <a:t>，外网无法直接访问。因此，需要在网关上进行端口转发，将特定服务的数据转发给内网主机。</a:t>
            </a:r>
            <a:endParaRPr lang="en-US" altLang="zh-CN" sz="2000" b="1" dirty="0" smtClean="0"/>
          </a:p>
          <a:p>
            <a:pPr eaLnBrk="0" hangingPunct="0">
              <a:spcBef>
                <a:spcPct val="20000"/>
              </a:spcBef>
            </a:pPr>
            <a:r>
              <a:rPr lang="zh-CN" altLang="en-US" sz="2000" b="1" dirty="0" smtClean="0"/>
              <a:t>（</a:t>
            </a:r>
            <a:r>
              <a:rPr lang="en-US" altLang="zh-CN" sz="2000" b="1" dirty="0" smtClean="0"/>
              <a:t>3</a:t>
            </a:r>
            <a:r>
              <a:rPr lang="zh-CN" altLang="en-US" sz="2000" b="1" dirty="0" smtClean="0"/>
              <a:t>）负载均衡：目的地址转换</a:t>
            </a:r>
            <a:r>
              <a:rPr lang="en-US" altLang="zh-CN" sz="2000" b="1" dirty="0" smtClean="0"/>
              <a:t>NAT</a:t>
            </a:r>
            <a:r>
              <a:rPr lang="zh-CN" altLang="en-US" sz="2000" b="1" dirty="0" smtClean="0"/>
              <a:t>可以重定向一些服务器的连接到其他随机选定的服务器，从而实现负载均衡。</a:t>
            </a:r>
            <a:endParaRPr lang="en-US" altLang="zh-CN" sz="2000" b="1" dirty="0" smtClean="0"/>
          </a:p>
          <a:p>
            <a:pPr eaLnBrk="0" hangingPunct="0">
              <a:spcBef>
                <a:spcPct val="20000"/>
              </a:spcBef>
            </a:pPr>
            <a:r>
              <a:rPr lang="zh-CN" altLang="en-US" sz="2000" b="1" dirty="0" smtClean="0"/>
              <a:t>（</a:t>
            </a:r>
            <a:r>
              <a:rPr lang="en-US" altLang="zh-CN" sz="2000" b="1" dirty="0" smtClean="0"/>
              <a:t>4</a:t>
            </a:r>
            <a:r>
              <a:rPr lang="zh-CN" altLang="en-US" sz="2000" b="1" dirty="0" smtClean="0"/>
              <a:t>）失效终结：目的地址转换</a:t>
            </a:r>
            <a:r>
              <a:rPr lang="en-US" altLang="zh-CN" sz="2000" b="1" dirty="0" smtClean="0"/>
              <a:t>NAT</a:t>
            </a:r>
            <a:r>
              <a:rPr lang="zh-CN" altLang="en-US" sz="2000" b="1" dirty="0" smtClean="0"/>
              <a:t>可以用来提供高可靠性的服务。如果一个系统有一台通过路由器访问的关键服务器，一旦路由器检测到该服务器停机，它可以使用目的地址转换</a:t>
            </a:r>
            <a:r>
              <a:rPr lang="en-US" altLang="zh-CN" sz="2000" b="1" dirty="0" smtClean="0"/>
              <a:t>NAT</a:t>
            </a:r>
            <a:r>
              <a:rPr lang="zh-CN" altLang="en-US" sz="2000" b="1" dirty="0" smtClean="0"/>
              <a:t>透明地把连接转移到一个备份服务器上。</a:t>
            </a:r>
            <a:endParaRPr lang="zh-CN" alt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7849244" cy="5589587"/>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8.2.1 </a:t>
            </a:r>
            <a:r>
              <a:rPr lang="zh-CN" altLang="en-US" sz="3200" b="1" dirty="0" smtClean="0">
                <a:solidFill>
                  <a:srgbClr val="FF0000"/>
                </a:solidFill>
              </a:rPr>
              <a:t>网络地址转换</a:t>
            </a:r>
            <a:r>
              <a:rPr lang="en-US" altLang="zh-CN" sz="3200" b="1" dirty="0" smtClean="0">
                <a:solidFill>
                  <a:srgbClr val="FF0000"/>
                </a:solidFill>
              </a:rPr>
              <a:t>(NAT)</a:t>
            </a:r>
            <a:endParaRPr lang="en-US" altLang="zh-CN" sz="3200" b="1" dirty="0">
              <a:solidFill>
                <a:srgbClr val="FF0000"/>
              </a:solidFill>
            </a:endParaRPr>
          </a:p>
          <a:p>
            <a:pPr eaLnBrk="0" hangingPunct="0">
              <a:spcBef>
                <a:spcPct val="20000"/>
              </a:spcBef>
            </a:pPr>
            <a:r>
              <a:rPr lang="en-US" altLang="zh-CN" sz="2000" b="1" dirty="0" smtClean="0"/>
              <a:t>NAT</a:t>
            </a:r>
            <a:r>
              <a:rPr lang="zh-CN" altLang="en-US" sz="2000" b="1" dirty="0" smtClean="0"/>
              <a:t>协议的应用：</a:t>
            </a:r>
            <a:endParaRPr lang="en-US" altLang="zh-CN" sz="2000" b="1" dirty="0" smtClean="0"/>
          </a:p>
          <a:p>
            <a:pPr eaLnBrk="0" hangingPunct="0">
              <a:spcBef>
                <a:spcPct val="20000"/>
              </a:spcBef>
            </a:pPr>
            <a:r>
              <a:rPr lang="zh-CN" altLang="en-US" sz="2000" b="1" dirty="0" smtClean="0"/>
              <a:t>（</a:t>
            </a:r>
            <a:r>
              <a:rPr lang="en-US" altLang="zh-CN" sz="2000" b="1" dirty="0"/>
              <a:t>5</a:t>
            </a:r>
            <a:r>
              <a:rPr lang="zh-CN" altLang="en-US" sz="2000" b="1" dirty="0" smtClean="0"/>
              <a:t>）透明代理：</a:t>
            </a:r>
            <a:r>
              <a:rPr lang="en-US" altLang="zh-CN" sz="2000" b="1" dirty="0" smtClean="0"/>
              <a:t>NAT</a:t>
            </a:r>
            <a:r>
              <a:rPr lang="zh-CN" altLang="en-US" sz="2000" b="1" dirty="0" smtClean="0"/>
              <a:t>可以把连接到因特网的</a:t>
            </a:r>
            <a:r>
              <a:rPr lang="en-US" altLang="zh-CN" sz="2000" b="1" dirty="0" smtClean="0"/>
              <a:t>HTTP</a:t>
            </a:r>
            <a:r>
              <a:rPr lang="zh-CN" altLang="en-US" sz="2000" b="1" dirty="0" smtClean="0"/>
              <a:t>连接重定向到一个指定的</a:t>
            </a:r>
            <a:r>
              <a:rPr lang="en-US" altLang="zh-CN" sz="2000" b="1" dirty="0" smtClean="0"/>
              <a:t>HTTP</a:t>
            </a:r>
            <a:r>
              <a:rPr lang="zh-CN" altLang="en-US" sz="2000" b="1" dirty="0" smtClean="0"/>
              <a:t>代理服务器以缓存数据和过滤请求。一些因特网服务提供商就使用这种技术来减少带宽的使用而不用让客户配置他们的浏览器支持代理连接。</a:t>
            </a:r>
            <a:endParaRPr lang="en-US" altLang="zh-CN" sz="2000" b="1"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7849244" cy="5589587"/>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8.2.2 </a:t>
            </a:r>
            <a:r>
              <a:rPr lang="zh-CN" altLang="en-US" sz="3200" b="1" dirty="0" smtClean="0">
                <a:solidFill>
                  <a:srgbClr val="FF0000"/>
                </a:solidFill>
              </a:rPr>
              <a:t>静态包过滤（</a:t>
            </a:r>
            <a:r>
              <a:rPr lang="en-US" altLang="zh-CN" sz="3200" b="1" dirty="0" smtClean="0">
                <a:solidFill>
                  <a:srgbClr val="FF0000"/>
                </a:solidFill>
              </a:rPr>
              <a:t>Packet Filtering</a:t>
            </a:r>
            <a:r>
              <a:rPr lang="zh-CN" altLang="en-US" sz="3200" b="1" dirty="0" smtClean="0">
                <a:solidFill>
                  <a:srgbClr val="FF0000"/>
                </a:solidFill>
              </a:rPr>
              <a:t>）</a:t>
            </a:r>
            <a:endParaRPr lang="en-US" altLang="zh-CN" sz="3200" b="1" dirty="0" smtClean="0">
              <a:solidFill>
                <a:srgbClr val="FF0000"/>
              </a:solidFill>
            </a:endParaRPr>
          </a:p>
          <a:p>
            <a:pPr algn="just">
              <a:spcBef>
                <a:spcPct val="20000"/>
              </a:spcBef>
            </a:pPr>
            <a:r>
              <a:rPr lang="zh-CN" altLang="en-US" b="1" dirty="0"/>
              <a:t>静态包过滤防火墙根据流经该设备的</a:t>
            </a:r>
            <a:r>
              <a:rPr lang="zh-CN" altLang="en-US" b="1" dirty="0" smtClean="0"/>
              <a:t>数据包首部信息</a:t>
            </a:r>
            <a:r>
              <a:rPr lang="zh-CN" altLang="en-US" b="1" dirty="0"/>
              <a:t>决定是否允许该数据包</a:t>
            </a:r>
            <a:r>
              <a:rPr lang="zh-CN" altLang="en-US" b="1" dirty="0" smtClean="0"/>
              <a:t>通过。</a:t>
            </a:r>
            <a:endParaRPr lang="en-US" altLang="zh-CN" b="1" dirty="0" smtClean="0"/>
          </a:p>
          <a:p>
            <a:pPr algn="just">
              <a:spcBef>
                <a:spcPct val="20000"/>
              </a:spcBef>
            </a:pPr>
            <a:endParaRPr lang="en-US" altLang="zh-CN" b="1" dirty="0" smtClean="0"/>
          </a:p>
        </p:txBody>
      </p:sp>
      <p:pic>
        <p:nvPicPr>
          <p:cNvPr id="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317750" y="2801541"/>
            <a:ext cx="4248150" cy="272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7849244" cy="5589587"/>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8.2.2 </a:t>
            </a:r>
            <a:r>
              <a:rPr lang="zh-CN" altLang="en-US" sz="3200" b="1" dirty="0" smtClean="0">
                <a:solidFill>
                  <a:srgbClr val="FF0000"/>
                </a:solidFill>
              </a:rPr>
              <a:t>静态包过滤</a:t>
            </a:r>
            <a:endParaRPr lang="en-US" altLang="zh-CN" sz="3200" b="1" dirty="0" smtClean="0">
              <a:solidFill>
                <a:srgbClr val="FF0000"/>
              </a:solidFill>
            </a:endParaRPr>
          </a:p>
          <a:p>
            <a:pPr algn="just">
              <a:spcBef>
                <a:spcPct val="20000"/>
              </a:spcBef>
            </a:pPr>
            <a:r>
              <a:rPr lang="zh-CN" altLang="en-US" b="1" dirty="0" smtClean="0"/>
              <a:t>静态包过滤的</a:t>
            </a:r>
            <a:r>
              <a:rPr lang="zh-CN" altLang="en-US" b="1" dirty="0" smtClean="0">
                <a:solidFill>
                  <a:srgbClr val="FF0000"/>
                </a:solidFill>
              </a:rPr>
              <a:t>判断依据</a:t>
            </a:r>
            <a:r>
              <a:rPr lang="zh-CN" altLang="en-US" b="1" dirty="0" smtClean="0"/>
              <a:t>：</a:t>
            </a:r>
            <a:endParaRPr lang="en-US" altLang="zh-CN" b="1" dirty="0" smtClean="0"/>
          </a:p>
          <a:p>
            <a:pPr algn="just">
              <a:spcBef>
                <a:spcPct val="20000"/>
              </a:spcBef>
            </a:pPr>
            <a:r>
              <a:rPr lang="zh-CN" altLang="en-US" b="1" dirty="0" smtClean="0"/>
              <a:t>数据包协议类型</a:t>
            </a:r>
            <a:r>
              <a:rPr lang="en-US" altLang="zh-CN" b="1" dirty="0" smtClean="0"/>
              <a:t>TCP</a:t>
            </a:r>
            <a:r>
              <a:rPr lang="zh-CN" altLang="en-US" b="1" dirty="0" smtClean="0"/>
              <a:t>、</a:t>
            </a:r>
            <a:r>
              <a:rPr lang="en-US" altLang="zh-CN" b="1" dirty="0" smtClean="0"/>
              <a:t>UDP</a:t>
            </a:r>
            <a:r>
              <a:rPr lang="zh-CN" altLang="en-US" b="1" dirty="0" smtClean="0"/>
              <a:t>、</a:t>
            </a:r>
            <a:r>
              <a:rPr lang="en-US" altLang="zh-CN" b="1" dirty="0" smtClean="0"/>
              <a:t>ICMP</a:t>
            </a:r>
            <a:r>
              <a:rPr lang="zh-CN" altLang="en-US" b="1" dirty="0" smtClean="0"/>
              <a:t>、</a:t>
            </a:r>
            <a:r>
              <a:rPr lang="en-US" altLang="zh-CN" b="1" dirty="0" smtClean="0"/>
              <a:t>IGMP</a:t>
            </a:r>
            <a:r>
              <a:rPr lang="zh-CN" altLang="en-US" b="1" dirty="0" smtClean="0"/>
              <a:t>等</a:t>
            </a:r>
            <a:endParaRPr lang="en-US" altLang="zh-CN" b="1" dirty="0" smtClean="0"/>
          </a:p>
          <a:p>
            <a:pPr algn="just">
              <a:spcBef>
                <a:spcPct val="20000"/>
              </a:spcBef>
            </a:pPr>
            <a:r>
              <a:rPr lang="zh-CN" altLang="en-US" b="1" dirty="0" smtClean="0"/>
              <a:t>源、目的</a:t>
            </a:r>
            <a:r>
              <a:rPr lang="en-US" altLang="zh-CN" b="1" dirty="0" smtClean="0"/>
              <a:t>IP</a:t>
            </a:r>
            <a:r>
              <a:rPr lang="zh-CN" altLang="en-US" b="1" dirty="0" smtClean="0"/>
              <a:t>地址</a:t>
            </a:r>
            <a:endParaRPr lang="en-US" altLang="zh-CN" b="1" dirty="0" smtClean="0"/>
          </a:p>
          <a:p>
            <a:pPr algn="just">
              <a:spcBef>
                <a:spcPct val="20000"/>
              </a:spcBef>
            </a:pPr>
            <a:r>
              <a:rPr lang="zh-CN" altLang="en-US" b="1" dirty="0" smtClean="0"/>
              <a:t>源、目的端口</a:t>
            </a:r>
            <a:r>
              <a:rPr lang="en-US" altLang="zh-CN" b="1" dirty="0" smtClean="0"/>
              <a:t>FTP</a:t>
            </a:r>
            <a:r>
              <a:rPr lang="zh-CN" altLang="en-US" b="1" dirty="0" smtClean="0"/>
              <a:t>、</a:t>
            </a:r>
            <a:r>
              <a:rPr lang="en-US" altLang="zh-CN" b="1" dirty="0" smtClean="0"/>
              <a:t>HTTP</a:t>
            </a:r>
            <a:r>
              <a:rPr lang="zh-CN" altLang="en-US" b="1" dirty="0" smtClean="0"/>
              <a:t>、</a:t>
            </a:r>
            <a:r>
              <a:rPr lang="en-US" altLang="zh-CN" b="1" dirty="0" smtClean="0"/>
              <a:t>DNS</a:t>
            </a:r>
            <a:r>
              <a:rPr lang="zh-CN" altLang="en-US" b="1" dirty="0" smtClean="0"/>
              <a:t>等</a:t>
            </a:r>
            <a:endParaRPr lang="en-US" altLang="zh-CN" b="1" dirty="0" smtClean="0"/>
          </a:p>
          <a:p>
            <a:pPr algn="just">
              <a:spcBef>
                <a:spcPct val="20000"/>
              </a:spcBef>
            </a:pPr>
            <a:r>
              <a:rPr lang="en-US" altLang="zh-CN" b="1" dirty="0" smtClean="0"/>
              <a:t>IP</a:t>
            </a:r>
            <a:r>
              <a:rPr lang="zh-CN" altLang="en-US" b="1" dirty="0" smtClean="0"/>
              <a:t>选项源路由、记录路由等</a:t>
            </a:r>
            <a:endParaRPr lang="en-US" altLang="zh-CN" b="1" dirty="0" smtClean="0"/>
          </a:p>
          <a:p>
            <a:pPr algn="just">
              <a:spcBef>
                <a:spcPct val="20000"/>
              </a:spcBef>
            </a:pPr>
            <a:r>
              <a:rPr lang="zh-CN" altLang="en-US" b="1" dirty="0" smtClean="0"/>
              <a:t>其他协议选项</a:t>
            </a:r>
            <a:r>
              <a:rPr lang="en-US" altLang="zh-CN" b="1" dirty="0" smtClean="0"/>
              <a:t>ICMP ECHO</a:t>
            </a:r>
            <a:r>
              <a:rPr lang="zh-CN" altLang="en-US" b="1" dirty="0" smtClean="0"/>
              <a:t>、</a:t>
            </a:r>
            <a:r>
              <a:rPr lang="en-US" altLang="zh-CN" b="1" dirty="0"/>
              <a:t> ICMP </a:t>
            </a:r>
            <a:r>
              <a:rPr lang="en-US" altLang="zh-CN" b="1" dirty="0" smtClean="0"/>
              <a:t>REPLY</a:t>
            </a:r>
            <a:r>
              <a:rPr lang="zh-CN" altLang="en-US" b="1" dirty="0" smtClean="0"/>
              <a:t>等</a:t>
            </a:r>
            <a:endParaRPr lang="en-US" altLang="zh-CN" b="1"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7849244" cy="5589587"/>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8.2.2 </a:t>
            </a:r>
            <a:r>
              <a:rPr lang="zh-CN" altLang="en-US" sz="3200" b="1" dirty="0" smtClean="0">
                <a:solidFill>
                  <a:srgbClr val="FF0000"/>
                </a:solidFill>
              </a:rPr>
              <a:t>静态包过滤</a:t>
            </a:r>
            <a:endParaRPr lang="en-US" altLang="zh-CN" sz="3200" b="1" dirty="0" smtClean="0">
              <a:solidFill>
                <a:srgbClr val="FF0000"/>
              </a:solidFill>
            </a:endParaRPr>
          </a:p>
          <a:p>
            <a:pPr algn="just">
              <a:spcBef>
                <a:spcPct val="20000"/>
              </a:spcBef>
            </a:pPr>
            <a:r>
              <a:rPr lang="zh-CN" altLang="en-US" b="1" dirty="0" smtClean="0"/>
              <a:t>静态</a:t>
            </a:r>
            <a:r>
              <a:rPr lang="zh-CN" altLang="en-US" b="1" dirty="0"/>
              <a:t>包过滤防火墙实现</a:t>
            </a:r>
            <a:r>
              <a:rPr lang="zh-CN" altLang="en-US" b="1" dirty="0">
                <a:solidFill>
                  <a:srgbClr val="FF0000"/>
                </a:solidFill>
              </a:rPr>
              <a:t>三个功能</a:t>
            </a:r>
            <a:endParaRPr lang="zh-CN" altLang="en-US" b="1" dirty="0">
              <a:solidFill>
                <a:srgbClr val="FF0000"/>
              </a:solidFill>
            </a:endParaRPr>
          </a:p>
          <a:p>
            <a:pPr algn="just">
              <a:spcBef>
                <a:spcPct val="20000"/>
              </a:spcBef>
            </a:pPr>
            <a:r>
              <a:rPr lang="zh-CN" altLang="en-US" b="1" dirty="0" smtClean="0"/>
              <a:t>接收</a:t>
            </a:r>
            <a:r>
              <a:rPr lang="zh-CN" altLang="en-US" b="1" dirty="0"/>
              <a:t>每个到达的数据包。</a:t>
            </a:r>
            <a:endParaRPr lang="zh-CN" altLang="en-US" b="1" dirty="0"/>
          </a:p>
          <a:p>
            <a:pPr algn="just">
              <a:spcBef>
                <a:spcPct val="20000"/>
              </a:spcBef>
            </a:pPr>
            <a:r>
              <a:rPr lang="zh-CN" altLang="en-US" b="1" dirty="0" smtClean="0"/>
              <a:t>对</a:t>
            </a:r>
            <a:r>
              <a:rPr lang="zh-CN" altLang="en-US" b="1" dirty="0"/>
              <a:t>数据包采用过滤规则，对数据包的</a:t>
            </a:r>
            <a:r>
              <a:rPr lang="en-US" altLang="zh-CN" b="1" dirty="0"/>
              <a:t>IP</a:t>
            </a:r>
            <a:r>
              <a:rPr lang="zh-CN" altLang="en-US" b="1" dirty="0"/>
              <a:t>头和传输字段内容进行检查。</a:t>
            </a:r>
            <a:endParaRPr lang="zh-CN" altLang="en-US" b="1" dirty="0"/>
          </a:p>
          <a:p>
            <a:pPr algn="just">
              <a:spcBef>
                <a:spcPct val="20000"/>
              </a:spcBef>
            </a:pPr>
            <a:r>
              <a:rPr lang="zh-CN" altLang="en-US" b="1" dirty="0" smtClean="0"/>
              <a:t>如果</a:t>
            </a:r>
            <a:r>
              <a:rPr lang="zh-CN" altLang="en-US" b="1" dirty="0"/>
              <a:t>没有规则与数据包头信息匹配，则对数据包施加默认规则</a:t>
            </a:r>
            <a:r>
              <a:rPr lang="zh-CN" altLang="en-US" b="1" dirty="0" smtClean="0"/>
              <a:t>。</a:t>
            </a:r>
            <a:endParaRPr lang="en-US" altLang="zh-CN" b="1" dirty="0" smtClean="0"/>
          </a:p>
          <a:p>
            <a:pPr algn="just">
              <a:spcBef>
                <a:spcPct val="20000"/>
              </a:spcBef>
            </a:pPr>
            <a:r>
              <a:rPr lang="zh-CN" altLang="en-US" b="1" dirty="0" smtClean="0"/>
              <a:t>默认规则：</a:t>
            </a:r>
            <a:endParaRPr lang="zh-CN" altLang="en-US" b="1" dirty="0" smtClean="0"/>
          </a:p>
          <a:p>
            <a:pPr algn="just">
              <a:spcBef>
                <a:spcPct val="20000"/>
              </a:spcBef>
            </a:pPr>
            <a:r>
              <a:rPr lang="zh-CN" altLang="en-US" sz="2000" b="1" dirty="0" smtClean="0"/>
              <a:t>“允许一切”，容易使用，没有明确拒绝则通过</a:t>
            </a:r>
            <a:r>
              <a:rPr lang="zh-CN" altLang="en-US" sz="2000" b="1" dirty="0" smtClean="0">
                <a:solidFill>
                  <a:srgbClr val="FF0000"/>
                </a:solidFill>
              </a:rPr>
              <a:t>（黑名单策略）</a:t>
            </a:r>
            <a:r>
              <a:rPr lang="zh-CN" altLang="en-US" sz="2000" b="1" dirty="0" smtClean="0"/>
              <a:t> “拒绝一切”，安全第一，没有明确通过则拒绝</a:t>
            </a:r>
            <a:r>
              <a:rPr lang="zh-CN" altLang="en-US" sz="2000" b="1" dirty="0" smtClean="0">
                <a:solidFill>
                  <a:srgbClr val="FF0000"/>
                </a:solidFill>
              </a:rPr>
              <a:t>（白名单策略）</a:t>
            </a:r>
            <a:endParaRPr lang="zh-CN" altLang="en-US" sz="2000" b="1" dirty="0" smtClean="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7849244" cy="5589587"/>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8.2.2 </a:t>
            </a:r>
            <a:r>
              <a:rPr lang="zh-CN" altLang="en-US" sz="3200" b="1" dirty="0" smtClean="0">
                <a:solidFill>
                  <a:srgbClr val="FF0000"/>
                </a:solidFill>
              </a:rPr>
              <a:t>静态包过滤</a:t>
            </a:r>
            <a:endParaRPr lang="zh-CN" altLang="en-US" sz="3200" b="1" dirty="0" smtClean="0">
              <a:solidFill>
                <a:srgbClr val="FF0000"/>
              </a:solidFill>
            </a:endParaRPr>
          </a:p>
          <a:p>
            <a:pPr algn="just">
              <a:spcBef>
                <a:spcPct val="20000"/>
              </a:spcBef>
            </a:pPr>
            <a:endParaRPr lang="en-US" altLang="zh-CN" sz="3200" b="1" dirty="0" smtClean="0">
              <a:solidFill>
                <a:srgbClr val="FF0000"/>
              </a:solidFill>
            </a:endParaRPr>
          </a:p>
          <a:p>
            <a:pPr algn="just">
              <a:spcBef>
                <a:spcPct val="20000"/>
              </a:spcBef>
            </a:pPr>
            <a:r>
              <a:rPr lang="zh-CN" altLang="en-US" sz="2000" b="1" dirty="0" smtClean="0">
                <a:sym typeface="+mn-ea"/>
              </a:rPr>
              <a:t>示例：该规则的作用是只允许内外网的邮件通信，其他的通信都禁止</a:t>
            </a:r>
            <a:endParaRPr lang="zh-CN" altLang="en-US" sz="2000" b="1" dirty="0" smtClean="0">
              <a:solidFill>
                <a:srgbClr val="FF0000"/>
              </a:solidFill>
            </a:endParaRPr>
          </a:p>
        </p:txBody>
      </p:sp>
      <p:pic>
        <p:nvPicPr>
          <p:cNvPr id="2" name="图片 1" descr="360截图20221127200514086"/>
          <p:cNvPicPr>
            <a:picLocks noChangeAspect="1"/>
          </p:cNvPicPr>
          <p:nvPr/>
        </p:nvPicPr>
        <p:blipFill>
          <a:blip r:embed="rId1"/>
          <a:stretch>
            <a:fillRect/>
          </a:stretch>
        </p:blipFill>
        <p:spPr>
          <a:xfrm>
            <a:off x="755650" y="2924810"/>
            <a:ext cx="7503160" cy="18573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7849244" cy="5589587"/>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8.2.2 </a:t>
            </a:r>
            <a:r>
              <a:rPr lang="zh-CN" altLang="en-US" sz="3200" b="1" dirty="0" smtClean="0">
                <a:solidFill>
                  <a:srgbClr val="FF0000"/>
                </a:solidFill>
              </a:rPr>
              <a:t>静态包过滤</a:t>
            </a:r>
            <a:endParaRPr lang="en-US" altLang="zh-CN" sz="3200" b="1" dirty="0" smtClean="0">
              <a:solidFill>
                <a:srgbClr val="FF0000"/>
              </a:solidFill>
            </a:endParaRPr>
          </a:p>
          <a:p>
            <a:pPr algn="just">
              <a:spcBef>
                <a:spcPct val="20000"/>
              </a:spcBef>
            </a:pPr>
            <a:r>
              <a:rPr lang="zh-CN" altLang="en-US" b="1" dirty="0"/>
              <a:t>静态包过滤防火墙的</a:t>
            </a:r>
            <a:r>
              <a:rPr lang="zh-CN" altLang="en-US" b="1" dirty="0">
                <a:solidFill>
                  <a:srgbClr val="FF0000"/>
                </a:solidFill>
              </a:rPr>
              <a:t>优点</a:t>
            </a:r>
            <a:endParaRPr lang="zh-CN" altLang="en-US" b="1" dirty="0">
              <a:solidFill>
                <a:srgbClr val="FF0000"/>
              </a:solidFill>
            </a:endParaRPr>
          </a:p>
          <a:p>
            <a:pPr algn="just">
              <a:spcBef>
                <a:spcPct val="20000"/>
              </a:spcBef>
            </a:pPr>
            <a:r>
              <a:rPr lang="zh-CN" altLang="en-US" b="1" dirty="0" smtClean="0"/>
              <a:t>逻辑</a:t>
            </a:r>
            <a:r>
              <a:rPr lang="zh-CN" altLang="en-US" b="1" dirty="0"/>
              <a:t>简单，价格便宜，成本低。</a:t>
            </a:r>
            <a:endParaRPr lang="zh-CN" altLang="en-US" b="1" dirty="0"/>
          </a:p>
          <a:p>
            <a:pPr algn="just">
              <a:spcBef>
                <a:spcPct val="20000"/>
              </a:spcBef>
            </a:pPr>
            <a:r>
              <a:rPr lang="zh-CN" altLang="en-US" b="1" dirty="0" smtClean="0"/>
              <a:t>对</a:t>
            </a:r>
            <a:r>
              <a:rPr lang="zh-CN" altLang="en-US" b="1" dirty="0"/>
              <a:t>网络性能的影响较小，有较强的透明性。</a:t>
            </a:r>
            <a:endParaRPr lang="zh-CN" altLang="en-US" b="1" dirty="0"/>
          </a:p>
          <a:p>
            <a:pPr algn="just">
              <a:spcBef>
                <a:spcPct val="20000"/>
              </a:spcBef>
            </a:pPr>
            <a:r>
              <a:rPr lang="zh-CN" altLang="en-US" b="1" dirty="0" smtClean="0"/>
              <a:t>并且</a:t>
            </a:r>
            <a:r>
              <a:rPr lang="zh-CN" altLang="en-US" b="1" dirty="0"/>
              <a:t>它的工作与应用层无关，无须改动任何客户机和主机上的应用程序，易于安装和使用。</a:t>
            </a:r>
            <a:endParaRPr lang="zh-CN" alt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7849244" cy="5589587"/>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8.2.2 </a:t>
            </a:r>
            <a:r>
              <a:rPr lang="zh-CN" altLang="en-US" sz="3200" b="1" dirty="0" smtClean="0">
                <a:solidFill>
                  <a:srgbClr val="FF0000"/>
                </a:solidFill>
              </a:rPr>
              <a:t>静态包过滤</a:t>
            </a:r>
            <a:endParaRPr lang="en-US" altLang="zh-CN" sz="3200" b="1" dirty="0" smtClean="0">
              <a:solidFill>
                <a:srgbClr val="FF0000"/>
              </a:solidFill>
            </a:endParaRPr>
          </a:p>
          <a:p>
            <a:pPr algn="just">
              <a:spcBef>
                <a:spcPct val="20000"/>
              </a:spcBef>
            </a:pPr>
            <a:r>
              <a:rPr lang="zh-CN" altLang="en-US" b="1" dirty="0"/>
              <a:t>静态包过滤防火墙</a:t>
            </a:r>
            <a:r>
              <a:rPr lang="zh-CN" altLang="en-US" b="1" dirty="0" smtClean="0"/>
              <a:t>的</a:t>
            </a:r>
            <a:r>
              <a:rPr lang="zh-CN" altLang="en-US" b="1" dirty="0" smtClean="0">
                <a:solidFill>
                  <a:srgbClr val="FF0000"/>
                </a:solidFill>
              </a:rPr>
              <a:t>缺点</a:t>
            </a:r>
            <a:endParaRPr lang="en-US" altLang="zh-CN" b="1" dirty="0" smtClean="0">
              <a:solidFill>
                <a:srgbClr val="FF0000"/>
              </a:solidFill>
            </a:endParaRPr>
          </a:p>
          <a:p>
            <a:pPr algn="just">
              <a:spcBef>
                <a:spcPct val="20000"/>
              </a:spcBef>
            </a:pPr>
            <a:r>
              <a:rPr lang="zh-CN" altLang="en-US" b="1" dirty="0"/>
              <a:t>配置基于包过滤方式的防火墙，需要对</a:t>
            </a:r>
            <a:r>
              <a:rPr lang="en-US" altLang="zh-CN" b="1" dirty="0"/>
              <a:t>IP</a:t>
            </a:r>
            <a:r>
              <a:rPr lang="zh-CN" altLang="en-US" b="1" dirty="0"/>
              <a:t>、</a:t>
            </a:r>
            <a:r>
              <a:rPr lang="en-US" altLang="zh-CN" b="1" dirty="0"/>
              <a:t>TCP </a:t>
            </a:r>
            <a:r>
              <a:rPr lang="zh-CN" altLang="en-US" b="1" dirty="0"/>
              <a:t>、</a:t>
            </a:r>
            <a:r>
              <a:rPr lang="en-US" altLang="zh-CN" b="1" dirty="0"/>
              <a:t>UDP </a:t>
            </a:r>
            <a:r>
              <a:rPr lang="zh-CN" altLang="en-US" b="1" dirty="0"/>
              <a:t>、</a:t>
            </a:r>
            <a:r>
              <a:rPr lang="en-US" altLang="zh-CN" b="1" dirty="0"/>
              <a:t>ICMP</a:t>
            </a:r>
            <a:r>
              <a:rPr lang="zh-CN" altLang="en-US" b="1" dirty="0"/>
              <a:t>等各种协议有深入的了解，否则容易出现因配置不当带来的问题。</a:t>
            </a:r>
            <a:endParaRPr lang="zh-CN" altLang="en-US" b="1" dirty="0"/>
          </a:p>
          <a:p>
            <a:pPr algn="just">
              <a:spcBef>
                <a:spcPct val="20000"/>
              </a:spcBef>
            </a:pPr>
            <a:r>
              <a:rPr lang="zh-CN" altLang="en-US" b="1" dirty="0" smtClean="0"/>
              <a:t>以</a:t>
            </a:r>
            <a:r>
              <a:rPr lang="zh-CN" altLang="en-US" b="1" dirty="0"/>
              <a:t>过滤判别的只有网络层和传输层的有限信息，因而各种安全要求不能得到充分满足。</a:t>
            </a:r>
            <a:endParaRPr lang="zh-CN" altLang="en-US" b="1" dirty="0"/>
          </a:p>
          <a:p>
            <a:pPr algn="just">
              <a:spcBef>
                <a:spcPct val="20000"/>
              </a:spcBef>
            </a:pPr>
            <a:r>
              <a:rPr lang="zh-CN" altLang="en-US" b="1" dirty="0" smtClean="0"/>
              <a:t>由于</a:t>
            </a:r>
            <a:r>
              <a:rPr lang="zh-CN" altLang="en-US" b="1" dirty="0"/>
              <a:t>数据包的地址及端口号都在数据包的头部，不能彻底防止 </a:t>
            </a:r>
            <a:r>
              <a:rPr lang="en-US" altLang="zh-CN" b="1" dirty="0"/>
              <a:t>IP</a:t>
            </a:r>
            <a:r>
              <a:rPr lang="zh-CN" altLang="en-US" b="1" dirty="0"/>
              <a:t>地址欺骗</a:t>
            </a:r>
            <a:r>
              <a:rPr lang="zh-CN" altLang="en-US" b="1" dirty="0" smtClean="0"/>
              <a:t>。</a:t>
            </a:r>
            <a:endParaRPr lang="en-US" altLang="zh-CN" b="1" dirty="0" smtClean="0"/>
          </a:p>
          <a:p>
            <a:pPr algn="just">
              <a:spcBef>
                <a:spcPct val="20000"/>
              </a:spcBef>
            </a:pPr>
            <a:r>
              <a:rPr lang="zh-CN" altLang="en-US" b="1" dirty="0" smtClean="0"/>
              <a:t>允许</a:t>
            </a:r>
            <a:r>
              <a:rPr lang="zh-CN" altLang="en-US" b="1" dirty="0"/>
              <a:t>外部客户和内部主机的直接连接。</a:t>
            </a:r>
            <a:endParaRPr lang="zh-CN" altLang="en-US" b="1" dirty="0"/>
          </a:p>
          <a:p>
            <a:pPr algn="just">
              <a:spcBef>
                <a:spcPct val="20000"/>
              </a:spcBef>
            </a:pPr>
            <a:r>
              <a:rPr lang="zh-CN" altLang="en-US" b="1" dirty="0" smtClean="0"/>
              <a:t>不</a:t>
            </a:r>
            <a:r>
              <a:rPr lang="zh-CN" altLang="en-US" b="1" dirty="0"/>
              <a:t>提供用户的鉴别机制。</a:t>
            </a:r>
            <a:endParaRPr lang="zh-CN" altLang="en-US" b="1" dirty="0"/>
          </a:p>
          <a:p>
            <a:pPr algn="just">
              <a:spcBef>
                <a:spcPct val="20000"/>
              </a:spcBef>
            </a:pPr>
            <a:r>
              <a:rPr lang="zh-CN" altLang="en-US" b="1" dirty="0" smtClean="0"/>
              <a:t>仅</a:t>
            </a:r>
            <a:r>
              <a:rPr lang="zh-CN" altLang="en-US" b="1" dirty="0"/>
              <a:t>工作在网络层，提供较低水平的安全性。</a:t>
            </a:r>
            <a:endParaRPr lang="zh-CN" altLang="en-US"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7849244" cy="5589587"/>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8.2.3 </a:t>
            </a:r>
            <a:r>
              <a:rPr lang="zh-CN" altLang="en-US" sz="3200" b="1" dirty="0" smtClean="0">
                <a:solidFill>
                  <a:srgbClr val="FF0000"/>
                </a:solidFill>
              </a:rPr>
              <a:t>动态包过滤</a:t>
            </a:r>
            <a:endParaRPr lang="en-US" altLang="zh-CN" sz="3200" b="1" dirty="0" smtClean="0">
              <a:solidFill>
                <a:srgbClr val="FF0000"/>
              </a:solidFill>
            </a:endParaRPr>
          </a:p>
          <a:p>
            <a:pPr algn="just">
              <a:spcBef>
                <a:spcPct val="20000"/>
              </a:spcBef>
            </a:pPr>
            <a:r>
              <a:rPr lang="zh-CN" altLang="en-US" b="1" dirty="0">
                <a:solidFill>
                  <a:srgbClr val="FF0000"/>
                </a:solidFill>
              </a:rPr>
              <a:t>动态包过滤防火墙</a:t>
            </a:r>
            <a:r>
              <a:rPr lang="zh-CN" altLang="en-US" b="1" dirty="0"/>
              <a:t>的特征与静态包过滤防火墙的特征非常相似。但多出一项工作：对外出数据包的身份做一个标记</a:t>
            </a:r>
            <a:r>
              <a:rPr lang="zh-CN" altLang="en-US" b="1" dirty="0" smtClean="0"/>
              <a:t>，此后对相同</a:t>
            </a:r>
            <a:r>
              <a:rPr lang="zh-CN" altLang="en-US" b="1" dirty="0"/>
              <a:t>连接的进入的数据包也被允许通过</a:t>
            </a:r>
            <a:r>
              <a:rPr lang="zh-CN" altLang="en-US" b="1" dirty="0" smtClean="0"/>
              <a:t>。采用这种技术的防火墙对通过其建立的每个连接都进行跟踪，根据需要可动态地在过滤规则中增加或更新条目。典型的动态包过滤防火墙能够感觉到新建连接与已建立连接之间的差别。</a:t>
            </a:r>
            <a:endParaRPr lang="zh-CN" altLang="en-US"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7849244" cy="5589587"/>
          </a:xfrm>
          <a:prstGeom prst="rect">
            <a:avLst/>
          </a:prstGeom>
          <a:noFill/>
          <a:ln w="9525">
            <a:noFill/>
            <a:miter lim="800000"/>
          </a:ln>
        </p:spPr>
        <p:txBody>
          <a:bodyPr/>
          <a:lstStyle/>
          <a:p>
            <a:pPr algn="just">
              <a:spcBef>
                <a:spcPct val="20000"/>
              </a:spcBef>
            </a:pPr>
            <a:r>
              <a:rPr lang="en-US" altLang="zh-CN" sz="3200" b="1" dirty="0" smtClean="0">
                <a:solidFill>
                  <a:srgbClr val="FF0000"/>
                </a:solidFill>
              </a:rPr>
              <a:t>8.2.3 </a:t>
            </a:r>
            <a:r>
              <a:rPr lang="zh-CN" altLang="en-US" sz="3200" b="1" dirty="0" smtClean="0">
                <a:solidFill>
                  <a:srgbClr val="FF0000"/>
                </a:solidFill>
              </a:rPr>
              <a:t>动态包过滤</a:t>
            </a:r>
            <a:endParaRPr lang="en-US" altLang="zh-CN" sz="3200" b="1" dirty="0" smtClean="0">
              <a:solidFill>
                <a:srgbClr val="FF0000"/>
              </a:solidFill>
            </a:endParaRPr>
          </a:p>
        </p:txBody>
      </p:sp>
      <p:pic>
        <p:nvPicPr>
          <p:cNvPr id="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55291" y="1938363"/>
            <a:ext cx="5761038" cy="432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8.2.4 </a:t>
            </a:r>
            <a:r>
              <a:rPr lang="zh-CN" altLang="en-US" sz="3200" b="1" dirty="0" smtClean="0">
                <a:solidFill>
                  <a:srgbClr val="FF0000"/>
                </a:solidFill>
              </a:rPr>
              <a:t>电路机网关</a:t>
            </a:r>
            <a:r>
              <a:rPr lang="zh-CN" altLang="en-US" sz="2800" b="1" dirty="0" smtClean="0">
                <a:solidFill>
                  <a:srgbClr val="FF0000"/>
                </a:solidFill>
              </a:rPr>
              <a:t>（</a:t>
            </a:r>
            <a:r>
              <a:rPr lang="en-US" altLang="zh-CN" sz="2800" b="1" dirty="0" smtClean="0">
                <a:solidFill>
                  <a:srgbClr val="FF0000"/>
                </a:solidFill>
              </a:rPr>
              <a:t>Circuit Level Gateway</a:t>
            </a:r>
            <a:r>
              <a:rPr lang="zh-CN" altLang="en-US" sz="2800" b="1" dirty="0" smtClean="0">
                <a:solidFill>
                  <a:srgbClr val="FF0000"/>
                </a:solidFill>
              </a:rPr>
              <a:t>）</a:t>
            </a:r>
            <a:endParaRPr lang="en-US" altLang="zh-CN" sz="2800" b="1" dirty="0" smtClean="0">
              <a:solidFill>
                <a:srgbClr val="FF0000"/>
              </a:solidFill>
            </a:endParaRPr>
          </a:p>
          <a:p>
            <a:pPr algn="just">
              <a:spcBef>
                <a:spcPct val="20000"/>
              </a:spcBef>
            </a:pPr>
            <a:r>
              <a:rPr lang="zh-CN" altLang="en-US" b="1" dirty="0">
                <a:solidFill>
                  <a:schemeClr val="tx2"/>
                </a:solidFill>
              </a:rPr>
              <a:t>电路级网关是一个通用代理服务器，它工作于</a:t>
            </a:r>
            <a:r>
              <a:rPr lang="en-US" altLang="zh-CN" b="1" dirty="0">
                <a:solidFill>
                  <a:schemeClr val="tx2"/>
                </a:solidFill>
              </a:rPr>
              <a:t>OSI</a:t>
            </a:r>
            <a:r>
              <a:rPr lang="zh-CN" altLang="en-US" b="1" dirty="0">
                <a:solidFill>
                  <a:schemeClr val="tx2"/>
                </a:solidFill>
              </a:rPr>
              <a:t>互联模型的会话层或是</a:t>
            </a:r>
            <a:r>
              <a:rPr lang="en-US" altLang="zh-CN" b="1" dirty="0">
                <a:solidFill>
                  <a:schemeClr val="tx2"/>
                </a:solidFill>
              </a:rPr>
              <a:t>TCP/IP </a:t>
            </a:r>
            <a:r>
              <a:rPr lang="zh-CN" altLang="en-US" b="1" dirty="0">
                <a:solidFill>
                  <a:schemeClr val="tx2"/>
                </a:solidFill>
              </a:rPr>
              <a:t>协议的</a:t>
            </a:r>
            <a:r>
              <a:rPr lang="en-US" altLang="zh-CN" b="1" dirty="0">
                <a:solidFill>
                  <a:schemeClr val="tx2"/>
                </a:solidFill>
              </a:rPr>
              <a:t>TCP</a:t>
            </a:r>
            <a:r>
              <a:rPr lang="zh-CN" altLang="en-US" b="1" dirty="0" smtClean="0">
                <a:solidFill>
                  <a:schemeClr val="tx2"/>
                </a:solidFill>
              </a:rPr>
              <a:t>层</a:t>
            </a:r>
            <a:r>
              <a:rPr lang="en-US" altLang="zh-CN" b="1" dirty="0" smtClean="0">
                <a:solidFill>
                  <a:schemeClr val="tx2"/>
                </a:solidFill>
              </a:rPr>
              <a:t>,</a:t>
            </a:r>
            <a:r>
              <a:rPr lang="zh-CN" altLang="en-US" b="1" dirty="0" smtClean="0">
                <a:solidFill>
                  <a:schemeClr val="tx2"/>
                </a:solidFill>
              </a:rPr>
              <a:t>这种技术也称作</a:t>
            </a:r>
            <a:r>
              <a:rPr lang="en-US" altLang="zh-CN" b="1" dirty="0" smtClean="0">
                <a:solidFill>
                  <a:schemeClr val="tx2"/>
                </a:solidFill>
              </a:rPr>
              <a:t>TCP Tunnels</a:t>
            </a:r>
            <a:r>
              <a:rPr lang="zh-CN" altLang="en-US" b="1" dirty="0" smtClean="0">
                <a:solidFill>
                  <a:schemeClr val="tx2"/>
                </a:solidFill>
              </a:rPr>
              <a:t>。</a:t>
            </a:r>
            <a:r>
              <a:rPr lang="zh-CN" altLang="en-US" b="1" dirty="0">
                <a:solidFill>
                  <a:schemeClr val="tx2"/>
                </a:solidFill>
              </a:rPr>
              <a:t>电路级网关适用于多个协议，但它不能识别在同一个协议栈上运行的不同的应用，当然也就不需要对不同的应用设置不同的代理模块，但这种代理需要对客户端作适当修改</a:t>
            </a:r>
            <a:r>
              <a:rPr lang="zh-CN" altLang="en-US" b="1" dirty="0" smtClean="0">
                <a:solidFill>
                  <a:schemeClr val="tx2"/>
                </a:solidFill>
              </a:rPr>
              <a:t>。</a:t>
            </a:r>
            <a:endParaRPr lang="en-US" altLang="zh-CN" b="1" dirty="0" smtClean="0">
              <a:solidFill>
                <a:schemeClr val="tx2"/>
              </a:solidFill>
            </a:endParaRPr>
          </a:p>
          <a:p>
            <a:pPr algn="just">
              <a:spcBef>
                <a:spcPct val="20000"/>
              </a:spcBef>
            </a:pPr>
            <a:r>
              <a:rPr lang="zh-CN" altLang="en-US" b="1" dirty="0">
                <a:solidFill>
                  <a:schemeClr val="tx2"/>
                </a:solidFill>
              </a:rPr>
              <a:t>电路级网关会与外部和内部建立两个会话，电路级网关的作用就像是中继计算器，在两个连接之间来回的复制</a:t>
            </a:r>
            <a:r>
              <a:rPr lang="zh-CN" altLang="en-US" b="1" dirty="0" smtClean="0">
                <a:solidFill>
                  <a:schemeClr val="tx2"/>
                </a:solidFill>
              </a:rPr>
              <a:t>数据，在</a:t>
            </a:r>
            <a:r>
              <a:rPr lang="zh-CN" altLang="en-US" b="1" dirty="0">
                <a:solidFill>
                  <a:schemeClr val="tx2"/>
                </a:solidFill>
              </a:rPr>
              <a:t>这两个会话间传递信息，让两边</a:t>
            </a:r>
            <a:r>
              <a:rPr lang="zh-CN" altLang="en-US" b="1" dirty="0" smtClean="0">
                <a:solidFill>
                  <a:schemeClr val="tx2"/>
                </a:solidFill>
              </a:rPr>
              <a:t>感觉</a:t>
            </a:r>
            <a:r>
              <a:rPr lang="zh-CN" altLang="en-US" b="1" dirty="0">
                <a:solidFill>
                  <a:schemeClr val="tx2"/>
                </a:solidFill>
              </a:rPr>
              <a:t>直接</a:t>
            </a:r>
            <a:r>
              <a:rPr lang="zh-CN" altLang="en-US" b="1" dirty="0" smtClean="0">
                <a:solidFill>
                  <a:schemeClr val="tx2"/>
                </a:solidFill>
              </a:rPr>
              <a:t>在</a:t>
            </a:r>
            <a:r>
              <a:rPr lang="zh-CN" altLang="en-US" b="1" dirty="0">
                <a:solidFill>
                  <a:schemeClr val="tx2"/>
                </a:solidFill>
              </a:rPr>
              <a:t>和对方</a:t>
            </a:r>
            <a:r>
              <a:rPr lang="zh-CN" altLang="en-US" b="1" dirty="0" smtClean="0">
                <a:solidFill>
                  <a:schemeClr val="tx2"/>
                </a:solidFill>
              </a:rPr>
              <a:t>通信。</a:t>
            </a:r>
            <a:endParaRPr lang="zh-CN" altLang="en-US" b="1" dirty="0">
              <a:solidFill>
                <a:schemeClr val="tx2"/>
              </a:solidFill>
            </a:endParaRPr>
          </a:p>
          <a:p>
            <a:pPr algn="just">
              <a:spcBef>
                <a:spcPct val="20000"/>
              </a:spcBef>
            </a:pPr>
            <a:r>
              <a:rPr lang="zh-CN" altLang="en-US" b="1" dirty="0">
                <a:solidFill>
                  <a:schemeClr val="tx2"/>
                </a:solidFill>
              </a:rPr>
              <a:t>它除了对包进行过滤检查之外，还要增加对连接过程中的</a:t>
            </a:r>
            <a:r>
              <a:rPr lang="zh-CN" altLang="en-US" b="1" dirty="0">
                <a:solidFill>
                  <a:srgbClr val="FF0000"/>
                </a:solidFill>
              </a:rPr>
              <a:t>握手信息及序列号合法性的验证</a:t>
            </a:r>
            <a:r>
              <a:rPr lang="zh-CN" altLang="en-US" b="1" dirty="0">
                <a:solidFill>
                  <a:schemeClr val="tx2"/>
                </a:solidFill>
              </a:rPr>
              <a:t>。比包过滤检查的数据更多，也更安全。</a:t>
            </a:r>
            <a:endParaRPr lang="en-US" altLang="zh-CN" b="1" dirty="0">
              <a:solidFill>
                <a:schemeClr val="tx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8.2.4 </a:t>
            </a:r>
            <a:r>
              <a:rPr lang="zh-CN" altLang="en-US" sz="3200" b="1" dirty="0" smtClean="0">
                <a:solidFill>
                  <a:srgbClr val="FF0000"/>
                </a:solidFill>
              </a:rPr>
              <a:t>电路机网关</a:t>
            </a:r>
            <a:r>
              <a:rPr lang="zh-CN" altLang="en-US" sz="2800" b="1" dirty="0" smtClean="0">
                <a:solidFill>
                  <a:srgbClr val="FF0000"/>
                </a:solidFill>
              </a:rPr>
              <a:t>（</a:t>
            </a:r>
            <a:r>
              <a:rPr lang="en-US" altLang="zh-CN" sz="2800" b="1" dirty="0" smtClean="0">
                <a:solidFill>
                  <a:srgbClr val="FF0000"/>
                </a:solidFill>
              </a:rPr>
              <a:t>Circuit Level Gateway</a:t>
            </a:r>
            <a:r>
              <a:rPr lang="zh-CN" altLang="en-US" sz="2800" b="1" dirty="0" smtClean="0">
                <a:solidFill>
                  <a:srgbClr val="FF0000"/>
                </a:solidFill>
              </a:rPr>
              <a:t>）</a:t>
            </a:r>
            <a:endParaRPr lang="en-US" altLang="zh-CN" sz="2800" b="1" dirty="0" smtClean="0">
              <a:solidFill>
                <a:srgbClr val="FF0000"/>
              </a:solidFill>
            </a:endParaRPr>
          </a:p>
          <a:p>
            <a:pPr>
              <a:spcBef>
                <a:spcPct val="20000"/>
              </a:spcBef>
            </a:pPr>
            <a:r>
              <a:rPr lang="zh-CN" altLang="en-US" sz="2800" b="1" dirty="0">
                <a:solidFill>
                  <a:schemeClr val="tx2"/>
                </a:solidFill>
              </a:rPr>
              <a:t>电路级网关的</a:t>
            </a:r>
            <a:r>
              <a:rPr lang="zh-CN" altLang="en-US" sz="2800" b="1" dirty="0">
                <a:solidFill>
                  <a:srgbClr val="FF0000"/>
                </a:solidFill>
              </a:rPr>
              <a:t>优点</a:t>
            </a:r>
            <a:endParaRPr lang="zh-CN" altLang="en-US" sz="2800" b="1" dirty="0">
              <a:solidFill>
                <a:srgbClr val="FF0000"/>
              </a:solidFill>
            </a:endParaRPr>
          </a:p>
          <a:p>
            <a:pPr>
              <a:spcBef>
                <a:spcPct val="20000"/>
              </a:spcBef>
            </a:pPr>
            <a:r>
              <a:rPr lang="zh-CN" altLang="en-US" sz="2800" b="1" dirty="0" smtClean="0">
                <a:solidFill>
                  <a:schemeClr val="tx2"/>
                </a:solidFill>
              </a:rPr>
              <a:t>对</a:t>
            </a:r>
            <a:r>
              <a:rPr lang="zh-CN" altLang="en-US" sz="2800" b="1" dirty="0">
                <a:solidFill>
                  <a:schemeClr val="tx2"/>
                </a:solidFill>
              </a:rPr>
              <a:t>网络性能有低度到适中程度的影响：工作的层次比包过滤防火墙高，因此过滤性能稍差，但比应用代理防火墙性能好。</a:t>
            </a:r>
            <a:endParaRPr lang="zh-CN" altLang="en-US" sz="2800" b="1" dirty="0">
              <a:solidFill>
                <a:schemeClr val="tx2"/>
              </a:solidFill>
            </a:endParaRPr>
          </a:p>
          <a:p>
            <a:pPr>
              <a:spcBef>
                <a:spcPct val="20000"/>
              </a:spcBef>
            </a:pPr>
            <a:r>
              <a:rPr lang="zh-CN" altLang="en-US" sz="2800" b="1" dirty="0" smtClean="0">
                <a:solidFill>
                  <a:schemeClr val="tx2"/>
                </a:solidFill>
              </a:rPr>
              <a:t>切断</a:t>
            </a:r>
            <a:r>
              <a:rPr lang="zh-CN" altLang="en-US" sz="2800" b="1" dirty="0">
                <a:solidFill>
                  <a:schemeClr val="tx2"/>
                </a:solidFill>
              </a:rPr>
              <a:t>了外部网络到防火墙后面的服务器的直接连接。</a:t>
            </a:r>
            <a:endParaRPr lang="zh-CN" altLang="en-US" sz="2800" b="1" dirty="0">
              <a:solidFill>
                <a:schemeClr val="tx2"/>
              </a:solidFill>
            </a:endParaRPr>
          </a:p>
          <a:p>
            <a:pPr>
              <a:spcBef>
                <a:spcPct val="20000"/>
              </a:spcBef>
            </a:pPr>
            <a:r>
              <a:rPr lang="zh-CN" altLang="en-US" sz="2800" b="1" dirty="0" smtClean="0">
                <a:solidFill>
                  <a:schemeClr val="tx2"/>
                </a:solidFill>
              </a:rPr>
              <a:t>比</a:t>
            </a:r>
            <a:r>
              <a:rPr lang="zh-CN" altLang="en-US" sz="2800" b="1" dirty="0">
                <a:solidFill>
                  <a:schemeClr val="tx2"/>
                </a:solidFill>
              </a:rPr>
              <a:t>静态、动态包过滤防火墙具有更高的安全性。</a:t>
            </a:r>
            <a:endParaRPr lang="zh-CN" altLang="en-US" sz="2800" b="1" dirty="0">
              <a:solidFill>
                <a:schemeClr val="tx2"/>
              </a:solidFill>
            </a:endParaRPr>
          </a:p>
          <a:p>
            <a:pPr>
              <a:spcBef>
                <a:spcPct val="20000"/>
              </a:spcBef>
            </a:pPr>
            <a:endParaRPr lang="en-US" altLang="zh-CN" sz="2800" b="1" dirty="0" smtClean="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8.2.4 </a:t>
            </a:r>
            <a:r>
              <a:rPr lang="zh-CN" altLang="en-US" sz="3200" b="1" dirty="0" smtClean="0">
                <a:solidFill>
                  <a:srgbClr val="FF0000"/>
                </a:solidFill>
              </a:rPr>
              <a:t>电路机网关</a:t>
            </a:r>
            <a:r>
              <a:rPr lang="zh-CN" altLang="en-US" sz="2800" b="1" dirty="0" smtClean="0">
                <a:solidFill>
                  <a:srgbClr val="FF0000"/>
                </a:solidFill>
              </a:rPr>
              <a:t>（</a:t>
            </a:r>
            <a:r>
              <a:rPr lang="en-US" altLang="zh-CN" sz="2800" b="1" dirty="0" smtClean="0">
                <a:solidFill>
                  <a:srgbClr val="FF0000"/>
                </a:solidFill>
              </a:rPr>
              <a:t>Circuit Level Gateway</a:t>
            </a:r>
            <a:r>
              <a:rPr lang="zh-CN" altLang="en-US" sz="2800" b="1" dirty="0" smtClean="0">
                <a:solidFill>
                  <a:srgbClr val="FF0000"/>
                </a:solidFill>
              </a:rPr>
              <a:t>）</a:t>
            </a:r>
            <a:endParaRPr lang="en-US" altLang="zh-CN" sz="2800" b="1" dirty="0" smtClean="0">
              <a:solidFill>
                <a:srgbClr val="FF0000"/>
              </a:solidFill>
            </a:endParaRPr>
          </a:p>
          <a:p>
            <a:pPr>
              <a:spcBef>
                <a:spcPct val="20000"/>
              </a:spcBef>
            </a:pPr>
            <a:r>
              <a:rPr lang="zh-CN" altLang="en-US" sz="2800" b="1" dirty="0">
                <a:solidFill>
                  <a:schemeClr val="tx2"/>
                </a:solidFill>
              </a:rPr>
              <a:t>电路级网关的</a:t>
            </a:r>
            <a:r>
              <a:rPr lang="zh-CN" altLang="en-US" sz="2800" b="1" dirty="0">
                <a:solidFill>
                  <a:srgbClr val="FF0000"/>
                </a:solidFill>
              </a:rPr>
              <a:t>缺点</a:t>
            </a:r>
            <a:r>
              <a:rPr lang="zh-CN" altLang="en-US" sz="2800" b="1" dirty="0">
                <a:solidFill>
                  <a:schemeClr val="tx2"/>
                </a:solidFill>
              </a:rPr>
              <a:t>：</a:t>
            </a:r>
            <a:endParaRPr lang="zh-CN" altLang="en-US" sz="2800" b="1" dirty="0">
              <a:solidFill>
                <a:schemeClr val="tx2"/>
              </a:solidFill>
            </a:endParaRPr>
          </a:p>
          <a:p>
            <a:pPr>
              <a:spcBef>
                <a:spcPct val="20000"/>
              </a:spcBef>
            </a:pPr>
            <a:r>
              <a:rPr lang="zh-CN" altLang="en-US" sz="2800" b="1" dirty="0" smtClean="0">
                <a:solidFill>
                  <a:schemeClr val="tx2"/>
                </a:solidFill>
              </a:rPr>
              <a:t>具有</a:t>
            </a:r>
            <a:r>
              <a:rPr lang="zh-CN" altLang="en-US" sz="2800" b="1" dirty="0">
                <a:solidFill>
                  <a:schemeClr val="tx2"/>
                </a:solidFill>
              </a:rPr>
              <a:t>一些包过滤防火墙固有的缺陷：比如无法对数据内容进行检测，以抵御应用层的攻击等。</a:t>
            </a:r>
            <a:endParaRPr lang="zh-CN" altLang="en-US" sz="2800" b="1" dirty="0">
              <a:solidFill>
                <a:schemeClr val="tx2"/>
              </a:solidFill>
            </a:endParaRPr>
          </a:p>
          <a:p>
            <a:pPr>
              <a:spcBef>
                <a:spcPct val="20000"/>
              </a:spcBef>
            </a:pPr>
            <a:r>
              <a:rPr lang="zh-CN" altLang="en-US" sz="2800" b="1" dirty="0" smtClean="0">
                <a:solidFill>
                  <a:schemeClr val="tx2"/>
                </a:solidFill>
              </a:rPr>
              <a:t>仅</a:t>
            </a:r>
            <a:r>
              <a:rPr lang="zh-CN" altLang="en-US" sz="2800" b="1" dirty="0">
                <a:solidFill>
                  <a:schemeClr val="tx2"/>
                </a:solidFill>
              </a:rPr>
              <a:t>提供低度到中等程度的安全性。</a:t>
            </a:r>
            <a:endParaRPr lang="zh-CN" altLang="en-US" sz="2800" b="1" dirty="0">
              <a:solidFill>
                <a:schemeClr val="tx2"/>
              </a:solidFill>
            </a:endParaRPr>
          </a:p>
          <a:p>
            <a:pPr>
              <a:spcBef>
                <a:spcPct val="20000"/>
              </a:spcBef>
            </a:pPr>
            <a:r>
              <a:rPr lang="zh-CN" altLang="en-US" sz="2800" b="1" dirty="0" smtClean="0">
                <a:solidFill>
                  <a:schemeClr val="tx2"/>
                </a:solidFill>
              </a:rPr>
              <a:t>当</a:t>
            </a:r>
            <a:r>
              <a:rPr lang="zh-CN" altLang="en-US" sz="2800" b="1" dirty="0">
                <a:solidFill>
                  <a:schemeClr val="tx2"/>
                </a:solidFill>
              </a:rPr>
              <a:t>增加新的内部程序或资源时，往往需要对许多电路级网关的代码进行修改。</a:t>
            </a:r>
            <a:endParaRPr lang="zh-CN" altLang="en-US" sz="2800" b="1" dirty="0">
              <a:solidFill>
                <a:schemeClr val="tx2"/>
              </a:solidFill>
            </a:endParaRPr>
          </a:p>
          <a:p>
            <a:pPr>
              <a:spcBef>
                <a:spcPct val="20000"/>
              </a:spcBef>
            </a:pPr>
            <a:endParaRPr lang="en-US" altLang="zh-CN" sz="2800" b="1" dirty="0" smtClean="0">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8.2.5 </a:t>
            </a:r>
            <a:r>
              <a:rPr lang="zh-CN" altLang="en-US" sz="3200" b="1" dirty="0" smtClean="0">
                <a:solidFill>
                  <a:srgbClr val="FF0000"/>
                </a:solidFill>
              </a:rPr>
              <a:t>应用层网关</a:t>
            </a:r>
            <a:r>
              <a:rPr lang="zh-CN" altLang="en-US" b="1" dirty="0" smtClean="0">
                <a:solidFill>
                  <a:srgbClr val="FF0000"/>
                </a:solidFill>
              </a:rPr>
              <a:t>（</a:t>
            </a:r>
            <a:r>
              <a:rPr lang="en-US" altLang="zh-CN" b="1" dirty="0" smtClean="0">
                <a:solidFill>
                  <a:srgbClr val="FF0000"/>
                </a:solidFill>
              </a:rPr>
              <a:t>Application Level Gateway</a:t>
            </a:r>
            <a:r>
              <a:rPr lang="zh-CN" altLang="en-US" b="1" dirty="0" smtClean="0">
                <a:solidFill>
                  <a:srgbClr val="FF0000"/>
                </a:solidFill>
              </a:rPr>
              <a:t>）</a:t>
            </a:r>
            <a:endParaRPr lang="en-US" altLang="zh-CN" b="1" dirty="0" smtClean="0">
              <a:solidFill>
                <a:srgbClr val="FF0000"/>
              </a:solidFill>
            </a:endParaRPr>
          </a:p>
          <a:p>
            <a:pPr>
              <a:spcBef>
                <a:spcPct val="20000"/>
              </a:spcBef>
            </a:pPr>
            <a:r>
              <a:rPr lang="zh-CN" altLang="en-US" b="1" dirty="0">
                <a:solidFill>
                  <a:schemeClr val="tx2"/>
                </a:solidFill>
              </a:rPr>
              <a:t>应用层</a:t>
            </a:r>
            <a:r>
              <a:rPr lang="zh-CN" altLang="en-US" b="1" dirty="0" smtClean="0">
                <a:solidFill>
                  <a:schemeClr val="tx2"/>
                </a:solidFill>
              </a:rPr>
              <a:t>网关</a:t>
            </a:r>
            <a:r>
              <a:rPr lang="zh-CN" altLang="en-US" b="1" dirty="0">
                <a:solidFill>
                  <a:schemeClr val="tx2"/>
                </a:solidFill>
              </a:rPr>
              <a:t>也</a:t>
            </a:r>
            <a:r>
              <a:rPr lang="zh-CN" altLang="en-US" b="1" dirty="0" smtClean="0">
                <a:solidFill>
                  <a:schemeClr val="tx2"/>
                </a:solidFill>
              </a:rPr>
              <a:t>叫代理（</a:t>
            </a:r>
            <a:r>
              <a:rPr lang="en-US" altLang="zh-CN" b="1" dirty="0" smtClean="0">
                <a:solidFill>
                  <a:schemeClr val="tx2"/>
                </a:solidFill>
              </a:rPr>
              <a:t>Proxy</a:t>
            </a:r>
            <a:r>
              <a:rPr lang="zh-CN" altLang="en-US" b="1" dirty="0" smtClean="0">
                <a:solidFill>
                  <a:schemeClr val="tx2"/>
                </a:solidFill>
              </a:rPr>
              <a:t>）服务器</a:t>
            </a:r>
            <a:r>
              <a:rPr lang="en-US" altLang="zh-CN" b="1" dirty="0" smtClean="0">
                <a:solidFill>
                  <a:schemeClr val="tx2"/>
                </a:solidFill>
              </a:rPr>
              <a:t>,</a:t>
            </a:r>
            <a:r>
              <a:rPr lang="zh-CN" altLang="en-US" b="1" dirty="0" smtClean="0">
                <a:solidFill>
                  <a:schemeClr val="tx2"/>
                </a:solidFill>
              </a:rPr>
              <a:t>是指代表客户处理连接请求的程序。当代理服务器得到一个客户的连接意图时，它将核实客户请求，并用特定的安全化的</a:t>
            </a:r>
            <a:r>
              <a:rPr lang="en-US" altLang="zh-CN" b="1" dirty="0" smtClean="0">
                <a:solidFill>
                  <a:schemeClr val="tx2"/>
                </a:solidFill>
              </a:rPr>
              <a:t>Proxy</a:t>
            </a:r>
            <a:r>
              <a:rPr lang="zh-CN" altLang="en-US" b="1" dirty="0" smtClean="0">
                <a:solidFill>
                  <a:schemeClr val="tx2"/>
                </a:solidFill>
              </a:rPr>
              <a:t>程序来处理连接请求，将处理后的请求传递到真实的服务器上，然后接收服务器的应答，并进一步处理后，将答复交给发出请求的最终客户。</a:t>
            </a:r>
            <a:endParaRPr lang="en-US" altLang="zh-CN" b="1" dirty="0" smtClean="0">
              <a:solidFill>
                <a:srgbClr val="FF0000"/>
              </a:solidFill>
            </a:endParaRPr>
          </a:p>
        </p:txBody>
      </p:sp>
      <p:pic>
        <p:nvPicPr>
          <p:cNvPr id="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491880" y="3712635"/>
            <a:ext cx="4890344" cy="2740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8.2.5 </a:t>
            </a:r>
            <a:r>
              <a:rPr lang="zh-CN" altLang="en-US" sz="3200" b="1" dirty="0" smtClean="0">
                <a:solidFill>
                  <a:srgbClr val="FF0000"/>
                </a:solidFill>
              </a:rPr>
              <a:t>应用层网关</a:t>
            </a:r>
            <a:r>
              <a:rPr lang="zh-CN" altLang="en-US" b="1" dirty="0" smtClean="0">
                <a:solidFill>
                  <a:srgbClr val="FF0000"/>
                </a:solidFill>
              </a:rPr>
              <a:t>（</a:t>
            </a:r>
            <a:r>
              <a:rPr lang="en-US" altLang="zh-CN" b="1" dirty="0" smtClean="0">
                <a:solidFill>
                  <a:srgbClr val="FF0000"/>
                </a:solidFill>
              </a:rPr>
              <a:t>Application Level Gateway</a:t>
            </a:r>
            <a:r>
              <a:rPr lang="zh-CN" altLang="en-US" b="1" dirty="0" smtClean="0">
                <a:solidFill>
                  <a:srgbClr val="FF0000"/>
                </a:solidFill>
              </a:rPr>
              <a:t>）</a:t>
            </a:r>
            <a:endParaRPr lang="en-US" altLang="zh-CN" b="1" dirty="0" smtClean="0">
              <a:solidFill>
                <a:srgbClr val="FF0000"/>
              </a:solidFill>
            </a:endParaRPr>
          </a:p>
          <a:p>
            <a:pPr>
              <a:spcBef>
                <a:spcPct val="20000"/>
              </a:spcBef>
            </a:pPr>
            <a:r>
              <a:rPr lang="zh-CN" altLang="en-US" b="1" dirty="0" smtClean="0">
                <a:solidFill>
                  <a:schemeClr val="tx2"/>
                </a:solidFill>
              </a:rPr>
              <a:t>应用层网关只能过滤特定服务的数据流，并且必须为特定的应用服务编写特定的代理程序，当各种类型的应用服务通过网关时，必须经过代理程序的过滤。</a:t>
            </a:r>
            <a:endParaRPr lang="en-US" altLang="zh-CN" b="1" dirty="0" smtClean="0">
              <a:solidFill>
                <a:schemeClr val="tx2"/>
              </a:solidFill>
            </a:endParaRPr>
          </a:p>
          <a:p>
            <a:pPr>
              <a:spcBef>
                <a:spcPct val="20000"/>
              </a:spcBef>
            </a:pPr>
            <a:r>
              <a:rPr lang="zh-CN" altLang="en-US" b="1" dirty="0" smtClean="0">
                <a:solidFill>
                  <a:schemeClr val="tx2"/>
                </a:solidFill>
              </a:rPr>
              <a:t>应用层代理可以对数据包的数据区进行分析并以此判断数据是否被允许通过。</a:t>
            </a:r>
            <a:endParaRPr lang="en-US" altLang="zh-CN" b="1" dirty="0" smtClean="0">
              <a:solidFill>
                <a:schemeClr val="tx2"/>
              </a:solidFill>
            </a:endParaRPr>
          </a:p>
        </p:txBody>
      </p:sp>
      <p:pic>
        <p:nvPicPr>
          <p:cNvPr id="7"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275856" y="3447448"/>
            <a:ext cx="4104878" cy="331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8.2.5 </a:t>
            </a:r>
            <a:r>
              <a:rPr lang="zh-CN" altLang="en-US" sz="3200" b="1" dirty="0" smtClean="0">
                <a:solidFill>
                  <a:srgbClr val="FF0000"/>
                </a:solidFill>
              </a:rPr>
              <a:t>应用层网关</a:t>
            </a:r>
            <a:r>
              <a:rPr lang="zh-CN" altLang="en-US" b="1" dirty="0" smtClean="0">
                <a:solidFill>
                  <a:srgbClr val="FF0000"/>
                </a:solidFill>
              </a:rPr>
              <a:t>（</a:t>
            </a:r>
            <a:r>
              <a:rPr lang="en-US" altLang="zh-CN" b="1" dirty="0" smtClean="0">
                <a:solidFill>
                  <a:srgbClr val="FF0000"/>
                </a:solidFill>
              </a:rPr>
              <a:t>Application Level Gateway</a:t>
            </a:r>
            <a:r>
              <a:rPr lang="zh-CN" altLang="en-US" b="1" dirty="0" smtClean="0">
                <a:solidFill>
                  <a:srgbClr val="FF0000"/>
                </a:solidFill>
              </a:rPr>
              <a:t>）</a:t>
            </a:r>
            <a:endParaRPr lang="en-US" altLang="zh-CN" b="1" dirty="0" smtClean="0">
              <a:solidFill>
                <a:srgbClr val="FF0000"/>
              </a:solidFill>
            </a:endParaRPr>
          </a:p>
          <a:p>
            <a:pPr>
              <a:spcBef>
                <a:spcPct val="20000"/>
              </a:spcBef>
            </a:pPr>
            <a:r>
              <a:rPr lang="zh-CN" altLang="en-US" b="1" dirty="0" smtClean="0">
                <a:solidFill>
                  <a:schemeClr val="tx2"/>
                </a:solidFill>
              </a:rPr>
              <a:t>应用层网关代理的</a:t>
            </a:r>
            <a:r>
              <a:rPr lang="zh-CN" altLang="en-US" b="1" dirty="0" smtClean="0">
                <a:solidFill>
                  <a:srgbClr val="FF0000"/>
                </a:solidFill>
              </a:rPr>
              <a:t>特点：</a:t>
            </a:r>
            <a:endParaRPr lang="en-US" altLang="zh-CN" b="1" dirty="0" smtClean="0">
              <a:solidFill>
                <a:srgbClr val="FF0000"/>
              </a:solidFill>
            </a:endParaRPr>
          </a:p>
          <a:p>
            <a:pPr>
              <a:spcBef>
                <a:spcPct val="20000"/>
              </a:spcBef>
            </a:pPr>
            <a:r>
              <a:rPr lang="zh-CN" altLang="en-US" b="1" dirty="0" smtClean="0">
                <a:solidFill>
                  <a:schemeClr val="tx2"/>
                </a:solidFill>
              </a:rPr>
              <a:t>必须针对每个服务运行一个代理</a:t>
            </a:r>
            <a:endParaRPr lang="en-US" altLang="zh-CN" b="1" dirty="0" smtClean="0">
              <a:solidFill>
                <a:schemeClr val="tx2"/>
              </a:solidFill>
            </a:endParaRPr>
          </a:p>
          <a:p>
            <a:pPr>
              <a:spcBef>
                <a:spcPct val="20000"/>
              </a:spcBef>
            </a:pPr>
            <a:r>
              <a:rPr lang="zh-CN" altLang="en-US" b="1" dirty="0" smtClean="0">
                <a:solidFill>
                  <a:schemeClr val="tx2"/>
                </a:solidFill>
              </a:rPr>
              <a:t>对数据包进行逐个检查和过滤，且应用代理对整个数据包进行检查，能够在应用层上对数据包进行过滤，从而可以避免数据驱动类型的攻击</a:t>
            </a:r>
            <a:endParaRPr lang="en-US" altLang="zh-CN" b="1" dirty="0" smtClean="0">
              <a:solidFill>
                <a:schemeClr val="tx2"/>
              </a:solidFill>
            </a:endParaRPr>
          </a:p>
          <a:p>
            <a:pPr>
              <a:spcBef>
                <a:spcPct val="20000"/>
              </a:spcBef>
            </a:pPr>
            <a:r>
              <a:rPr lang="zh-CN" altLang="en-US" b="1" dirty="0" smtClean="0">
                <a:solidFill>
                  <a:schemeClr val="tx2"/>
                </a:solidFill>
              </a:rPr>
              <a:t>代理程序不是对用户的整个数据包进行复制，而是在内部创建一个全新的空数据包，将外部的原始数据包中的内容复制到内建的新的空数据包中</a:t>
            </a:r>
            <a:endParaRPr lang="en-US" altLang="zh-CN" b="1" dirty="0" smtClean="0">
              <a:solidFill>
                <a:schemeClr val="tx2"/>
              </a:solidFill>
            </a:endParaRPr>
          </a:p>
          <a:p>
            <a:pPr>
              <a:spcBef>
                <a:spcPct val="20000"/>
              </a:spcBef>
            </a:pPr>
            <a:r>
              <a:rPr lang="zh-CN" altLang="en-US" b="1" dirty="0" smtClean="0">
                <a:solidFill>
                  <a:schemeClr val="tx2"/>
                </a:solidFill>
              </a:rPr>
              <a:t>当前最安全的防火墙结构之一</a:t>
            </a:r>
            <a:endParaRPr lang="en-US" altLang="zh-CN" b="1" dirty="0" smtClean="0">
              <a:solidFill>
                <a:schemeClr val="tx2"/>
              </a:solidFill>
            </a:endParaRPr>
          </a:p>
          <a:p>
            <a:pPr>
              <a:spcBef>
                <a:spcPct val="20000"/>
              </a:spcBef>
            </a:pPr>
            <a:endParaRPr lang="en-US" altLang="zh-CN" b="1" dirty="0" smtClean="0">
              <a:solidFill>
                <a:schemeClr val="tx2"/>
              </a:solidFill>
            </a:endParaRPr>
          </a:p>
          <a:p>
            <a:pPr>
              <a:spcBef>
                <a:spcPct val="20000"/>
              </a:spcBef>
            </a:pPr>
            <a:endParaRPr lang="en-US" altLang="zh-CN" b="1" dirty="0" smtClean="0">
              <a:solidFill>
                <a:schemeClr val="tx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8.2.5 </a:t>
            </a:r>
            <a:r>
              <a:rPr lang="zh-CN" altLang="en-US" sz="3200" b="1" dirty="0" smtClean="0">
                <a:solidFill>
                  <a:srgbClr val="FF0000"/>
                </a:solidFill>
              </a:rPr>
              <a:t>应用层网关</a:t>
            </a:r>
            <a:r>
              <a:rPr lang="zh-CN" altLang="en-US" b="1" dirty="0" smtClean="0">
                <a:solidFill>
                  <a:srgbClr val="FF0000"/>
                </a:solidFill>
              </a:rPr>
              <a:t>（</a:t>
            </a:r>
            <a:r>
              <a:rPr lang="en-US" altLang="zh-CN" b="1" dirty="0" smtClean="0">
                <a:solidFill>
                  <a:srgbClr val="FF0000"/>
                </a:solidFill>
              </a:rPr>
              <a:t>Application Level Gateway</a:t>
            </a:r>
            <a:r>
              <a:rPr lang="zh-CN" altLang="en-US" b="1" dirty="0" smtClean="0">
                <a:solidFill>
                  <a:srgbClr val="FF0000"/>
                </a:solidFill>
              </a:rPr>
              <a:t>）</a:t>
            </a:r>
            <a:endParaRPr lang="en-US" altLang="zh-CN" b="1" dirty="0" smtClean="0">
              <a:solidFill>
                <a:srgbClr val="FF0000"/>
              </a:solidFill>
            </a:endParaRPr>
          </a:p>
          <a:p>
            <a:pPr>
              <a:spcBef>
                <a:spcPct val="20000"/>
              </a:spcBef>
            </a:pPr>
            <a:r>
              <a:rPr lang="zh-CN" altLang="en-US" b="1" dirty="0" smtClean="0">
                <a:solidFill>
                  <a:schemeClr val="tx2"/>
                </a:solidFill>
              </a:rPr>
              <a:t>应用层网关代理的</a:t>
            </a:r>
            <a:r>
              <a:rPr lang="zh-CN" altLang="en-US" b="1" dirty="0" smtClean="0">
                <a:solidFill>
                  <a:srgbClr val="FF0000"/>
                </a:solidFill>
              </a:rPr>
              <a:t>优点：</a:t>
            </a:r>
            <a:endParaRPr lang="en-US" altLang="zh-CN" b="1" dirty="0" smtClean="0">
              <a:solidFill>
                <a:srgbClr val="FF0000"/>
              </a:solidFill>
            </a:endParaRPr>
          </a:p>
          <a:p>
            <a:pPr>
              <a:spcBef>
                <a:spcPct val="20000"/>
              </a:spcBef>
            </a:pPr>
            <a:r>
              <a:rPr lang="zh-CN" altLang="en-US" b="1" dirty="0" smtClean="0">
                <a:solidFill>
                  <a:schemeClr val="tx2"/>
                </a:solidFill>
              </a:rPr>
              <a:t>易于配置，界面友好</a:t>
            </a:r>
            <a:endParaRPr lang="en-US" altLang="zh-CN" b="1" dirty="0" smtClean="0">
              <a:solidFill>
                <a:schemeClr val="tx2"/>
              </a:solidFill>
            </a:endParaRPr>
          </a:p>
          <a:p>
            <a:pPr>
              <a:spcBef>
                <a:spcPct val="20000"/>
              </a:spcBef>
            </a:pPr>
            <a:r>
              <a:rPr lang="zh-CN" altLang="en-US" b="1" dirty="0">
                <a:solidFill>
                  <a:schemeClr val="tx2"/>
                </a:solidFill>
              </a:rPr>
              <a:t>不</a:t>
            </a:r>
            <a:r>
              <a:rPr lang="zh-CN" altLang="en-US" b="1" dirty="0" smtClean="0">
                <a:solidFill>
                  <a:schemeClr val="tx2"/>
                </a:solidFill>
              </a:rPr>
              <a:t>允许内、外网主机的直接连接</a:t>
            </a:r>
            <a:endParaRPr lang="en-US" altLang="zh-CN" b="1" dirty="0" smtClean="0">
              <a:solidFill>
                <a:schemeClr val="tx2"/>
              </a:solidFill>
            </a:endParaRPr>
          </a:p>
          <a:p>
            <a:pPr>
              <a:spcBef>
                <a:spcPct val="20000"/>
              </a:spcBef>
            </a:pPr>
            <a:r>
              <a:rPr lang="zh-CN" altLang="en-US" b="1" dirty="0" smtClean="0">
                <a:solidFill>
                  <a:schemeClr val="tx2"/>
                </a:solidFill>
              </a:rPr>
              <a:t>可以提供比包过滤更详细的日志记录</a:t>
            </a:r>
            <a:endParaRPr lang="en-US" altLang="zh-CN" b="1" dirty="0" smtClean="0">
              <a:solidFill>
                <a:schemeClr val="tx2"/>
              </a:solidFill>
            </a:endParaRPr>
          </a:p>
          <a:p>
            <a:pPr>
              <a:spcBef>
                <a:spcPct val="20000"/>
              </a:spcBef>
            </a:pPr>
            <a:r>
              <a:rPr lang="zh-CN" altLang="en-US" b="1" dirty="0" smtClean="0">
                <a:solidFill>
                  <a:schemeClr val="tx2"/>
                </a:solidFill>
              </a:rPr>
              <a:t>可以隐藏内部</a:t>
            </a:r>
            <a:r>
              <a:rPr lang="en-US" altLang="zh-CN" b="1" dirty="0" smtClean="0">
                <a:solidFill>
                  <a:schemeClr val="tx2"/>
                </a:solidFill>
              </a:rPr>
              <a:t>IP</a:t>
            </a:r>
            <a:r>
              <a:rPr lang="zh-CN" altLang="en-US" b="1" dirty="0" smtClean="0">
                <a:solidFill>
                  <a:schemeClr val="tx2"/>
                </a:solidFill>
              </a:rPr>
              <a:t>地址和网络结构</a:t>
            </a:r>
            <a:endParaRPr lang="en-US" altLang="zh-CN" b="1" dirty="0" smtClean="0">
              <a:solidFill>
                <a:schemeClr val="tx2"/>
              </a:solidFill>
            </a:endParaRPr>
          </a:p>
          <a:p>
            <a:pPr>
              <a:spcBef>
                <a:spcPct val="20000"/>
              </a:spcBef>
            </a:pPr>
            <a:r>
              <a:rPr lang="zh-CN" altLang="en-US" b="1" dirty="0" smtClean="0">
                <a:solidFill>
                  <a:schemeClr val="tx2"/>
                </a:solidFill>
              </a:rPr>
              <a:t>可以给单个用户授权</a:t>
            </a:r>
            <a:endParaRPr lang="en-US" altLang="zh-CN" b="1" dirty="0" smtClean="0">
              <a:solidFill>
                <a:schemeClr val="tx2"/>
              </a:solidFill>
            </a:endParaRPr>
          </a:p>
          <a:p>
            <a:pPr>
              <a:spcBef>
                <a:spcPct val="20000"/>
              </a:spcBef>
            </a:pPr>
            <a:r>
              <a:rPr lang="zh-CN" altLang="en-US" b="1" dirty="0">
                <a:solidFill>
                  <a:schemeClr val="tx2"/>
                </a:solidFill>
              </a:rPr>
              <a:t>可以</a:t>
            </a:r>
            <a:r>
              <a:rPr lang="zh-CN" altLang="en-US" b="1" dirty="0" smtClean="0">
                <a:solidFill>
                  <a:schemeClr val="tx2"/>
                </a:solidFill>
              </a:rPr>
              <a:t>为用户提供透明的加密机制</a:t>
            </a:r>
            <a:endParaRPr lang="en-US" altLang="zh-CN" b="1" dirty="0" smtClean="0">
              <a:solidFill>
                <a:schemeClr val="tx2"/>
              </a:solidFill>
            </a:endParaRPr>
          </a:p>
          <a:p>
            <a:pPr>
              <a:spcBef>
                <a:spcPct val="20000"/>
              </a:spcBef>
            </a:pPr>
            <a:r>
              <a:rPr lang="zh-CN" altLang="en-US" b="1" dirty="0" smtClean="0">
                <a:solidFill>
                  <a:schemeClr val="tx2"/>
                </a:solidFill>
              </a:rPr>
              <a:t>可以与认证、授权等安全手段方便地集成</a:t>
            </a:r>
            <a:endParaRPr lang="en-US" altLang="zh-CN" b="1" dirty="0" smtClean="0">
              <a:solidFill>
                <a:schemeClr val="tx2"/>
              </a:solidFill>
            </a:endParaRPr>
          </a:p>
          <a:p>
            <a:pPr>
              <a:spcBef>
                <a:spcPct val="20000"/>
              </a:spcBef>
            </a:pPr>
            <a:endParaRPr lang="en-US" altLang="zh-CN" b="1" dirty="0" smtClean="0">
              <a:solidFill>
                <a:schemeClr val="tx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8.2.5 </a:t>
            </a:r>
            <a:r>
              <a:rPr lang="zh-CN" altLang="en-US" sz="3200" b="1" dirty="0" smtClean="0">
                <a:solidFill>
                  <a:srgbClr val="FF0000"/>
                </a:solidFill>
              </a:rPr>
              <a:t>应用层网关</a:t>
            </a:r>
            <a:r>
              <a:rPr lang="zh-CN" altLang="en-US" b="1" dirty="0" smtClean="0">
                <a:solidFill>
                  <a:srgbClr val="FF0000"/>
                </a:solidFill>
              </a:rPr>
              <a:t>（</a:t>
            </a:r>
            <a:r>
              <a:rPr lang="en-US" altLang="zh-CN" b="1" dirty="0" smtClean="0">
                <a:solidFill>
                  <a:srgbClr val="FF0000"/>
                </a:solidFill>
              </a:rPr>
              <a:t>Application Level Gateway</a:t>
            </a:r>
            <a:r>
              <a:rPr lang="zh-CN" altLang="en-US" b="1" dirty="0" smtClean="0">
                <a:solidFill>
                  <a:srgbClr val="FF0000"/>
                </a:solidFill>
              </a:rPr>
              <a:t>）</a:t>
            </a:r>
            <a:endParaRPr lang="en-US" altLang="zh-CN" b="1" dirty="0" smtClean="0">
              <a:solidFill>
                <a:srgbClr val="FF0000"/>
              </a:solidFill>
            </a:endParaRPr>
          </a:p>
          <a:p>
            <a:pPr>
              <a:spcBef>
                <a:spcPct val="20000"/>
              </a:spcBef>
            </a:pPr>
            <a:r>
              <a:rPr lang="zh-CN" altLang="en-US" b="1" dirty="0" smtClean="0">
                <a:solidFill>
                  <a:schemeClr val="tx2"/>
                </a:solidFill>
              </a:rPr>
              <a:t>应用层网关代理的</a:t>
            </a:r>
            <a:r>
              <a:rPr lang="zh-CN" altLang="en-US" b="1" dirty="0" smtClean="0">
                <a:solidFill>
                  <a:srgbClr val="FF0000"/>
                </a:solidFill>
              </a:rPr>
              <a:t>缺点：</a:t>
            </a:r>
            <a:endParaRPr lang="en-US" altLang="zh-CN" b="1" dirty="0" smtClean="0">
              <a:solidFill>
                <a:srgbClr val="FF0000"/>
              </a:solidFill>
            </a:endParaRPr>
          </a:p>
          <a:p>
            <a:pPr>
              <a:spcBef>
                <a:spcPct val="20000"/>
              </a:spcBef>
            </a:pPr>
            <a:r>
              <a:rPr lang="zh-CN" altLang="en-US" b="1" dirty="0" smtClean="0">
                <a:solidFill>
                  <a:schemeClr val="tx2"/>
                </a:solidFill>
              </a:rPr>
              <a:t>速度比包过滤慢，当用户对内外网络网关的吞吐量要求比较高时，代理防火墙就会成为内外网络之间的瓶颈</a:t>
            </a:r>
            <a:endParaRPr lang="en-US" altLang="zh-CN" b="1" dirty="0" smtClean="0">
              <a:solidFill>
                <a:schemeClr val="tx2"/>
              </a:solidFill>
            </a:endParaRPr>
          </a:p>
          <a:p>
            <a:pPr>
              <a:spcBef>
                <a:spcPct val="20000"/>
              </a:spcBef>
            </a:pPr>
            <a:r>
              <a:rPr lang="zh-CN" altLang="en-US" b="1" dirty="0">
                <a:solidFill>
                  <a:schemeClr val="tx2"/>
                </a:solidFill>
              </a:rPr>
              <a:t>必须针对每个服务设置不同的代理</a:t>
            </a:r>
            <a:r>
              <a:rPr lang="zh-CN" altLang="en-US" b="1" dirty="0" smtClean="0">
                <a:solidFill>
                  <a:schemeClr val="tx2"/>
                </a:solidFill>
              </a:rPr>
              <a:t>服务器</a:t>
            </a:r>
            <a:endParaRPr lang="en-US" altLang="zh-CN" b="1" dirty="0" smtClean="0">
              <a:solidFill>
                <a:schemeClr val="tx2"/>
              </a:solidFill>
            </a:endParaRPr>
          </a:p>
          <a:p>
            <a:pPr>
              <a:spcBef>
                <a:spcPct val="20000"/>
              </a:spcBef>
            </a:pPr>
            <a:r>
              <a:rPr lang="zh-CN" altLang="en-US" b="1" dirty="0" smtClean="0">
                <a:solidFill>
                  <a:schemeClr val="tx2"/>
                </a:solidFill>
              </a:rPr>
              <a:t>代理对用户不透明，给用户使用带来不便</a:t>
            </a:r>
            <a:endParaRPr lang="en-US" altLang="zh-CN" b="1" dirty="0" smtClean="0">
              <a:solidFill>
                <a:schemeClr val="tx2"/>
              </a:solidFill>
            </a:endParaRPr>
          </a:p>
          <a:p>
            <a:pPr>
              <a:spcBef>
                <a:spcPct val="20000"/>
              </a:spcBef>
            </a:pPr>
            <a:r>
              <a:rPr lang="zh-CN" altLang="en-US" b="1" dirty="0" smtClean="0">
                <a:solidFill>
                  <a:schemeClr val="tx2"/>
                </a:solidFill>
              </a:rPr>
              <a:t>仅靠代理不能改变底层协议自身的安全缺陷</a:t>
            </a:r>
            <a:endParaRPr lang="en-US" altLang="zh-CN" b="1" dirty="0" smtClean="0">
              <a:solidFill>
                <a:schemeClr val="tx2"/>
              </a:solidFill>
            </a:endParaRPr>
          </a:p>
          <a:p>
            <a:pPr>
              <a:spcBef>
                <a:spcPct val="20000"/>
              </a:spcBef>
            </a:pPr>
            <a:endParaRPr lang="en-US" altLang="zh-CN" b="1" dirty="0" smtClean="0">
              <a:solidFill>
                <a:schemeClr val="tx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8.2.5 </a:t>
            </a:r>
            <a:r>
              <a:rPr lang="zh-CN" altLang="en-US" sz="3200" b="1" dirty="0" smtClean="0">
                <a:solidFill>
                  <a:srgbClr val="FF0000"/>
                </a:solidFill>
              </a:rPr>
              <a:t>应用层网关</a:t>
            </a:r>
            <a:r>
              <a:rPr lang="zh-CN" altLang="en-US" b="1" dirty="0" smtClean="0">
                <a:solidFill>
                  <a:srgbClr val="FF0000"/>
                </a:solidFill>
              </a:rPr>
              <a:t>（</a:t>
            </a:r>
            <a:r>
              <a:rPr lang="en-US" altLang="zh-CN" b="1" dirty="0" smtClean="0">
                <a:solidFill>
                  <a:srgbClr val="FF0000"/>
                </a:solidFill>
              </a:rPr>
              <a:t>Application Level Gateway</a:t>
            </a:r>
            <a:r>
              <a:rPr lang="zh-CN" altLang="en-US" b="1" dirty="0" smtClean="0">
                <a:solidFill>
                  <a:srgbClr val="FF0000"/>
                </a:solidFill>
              </a:rPr>
              <a:t>）</a:t>
            </a:r>
            <a:endParaRPr lang="en-US" altLang="zh-CN" b="1" dirty="0" smtClean="0">
              <a:solidFill>
                <a:srgbClr val="FF0000"/>
              </a:solidFill>
            </a:endParaRPr>
          </a:p>
          <a:p>
            <a:pPr>
              <a:spcBef>
                <a:spcPct val="20000"/>
              </a:spcBef>
            </a:pPr>
            <a:r>
              <a:rPr lang="zh-CN" altLang="en-US" b="1" dirty="0" smtClean="0">
                <a:solidFill>
                  <a:schemeClr val="tx2"/>
                </a:solidFill>
              </a:rPr>
              <a:t>针对应用型网关防火墙的性能问题，后来又出现了第二代</a:t>
            </a:r>
            <a:r>
              <a:rPr lang="zh-CN" altLang="en-US" b="1" dirty="0" smtClean="0">
                <a:solidFill>
                  <a:srgbClr val="FF0000"/>
                </a:solidFill>
              </a:rPr>
              <a:t>自适应代理（</a:t>
            </a:r>
            <a:r>
              <a:rPr lang="en-US" altLang="zh-CN" b="1" dirty="0" smtClean="0">
                <a:solidFill>
                  <a:srgbClr val="FF0000"/>
                </a:solidFill>
              </a:rPr>
              <a:t>Adaptive Proxy</a:t>
            </a:r>
            <a:r>
              <a:rPr lang="zh-CN" altLang="en-US" b="1" dirty="0" smtClean="0">
                <a:solidFill>
                  <a:srgbClr val="FF0000"/>
                </a:solidFill>
              </a:rPr>
              <a:t>）型防火墙，或称复合型防火墙。</a:t>
            </a:r>
            <a:endParaRPr lang="en-US" altLang="zh-CN" b="1" dirty="0" smtClean="0">
              <a:solidFill>
                <a:srgbClr val="FF0000"/>
              </a:solidFill>
            </a:endParaRPr>
          </a:p>
          <a:p>
            <a:pPr>
              <a:spcBef>
                <a:spcPct val="20000"/>
              </a:spcBef>
            </a:pPr>
            <a:r>
              <a:rPr lang="zh-CN" altLang="en-US" b="1" dirty="0">
                <a:solidFill>
                  <a:schemeClr val="tx2"/>
                </a:solidFill>
              </a:rPr>
              <a:t>组成这种类型防火墙的基本要素有两个：自适应代理服务器</a:t>
            </a:r>
            <a:r>
              <a:rPr lang="en-US" altLang="zh-CN" b="1" dirty="0">
                <a:solidFill>
                  <a:schemeClr val="tx2"/>
                </a:solidFill>
              </a:rPr>
              <a:t>(Adaptive Proxy Server)</a:t>
            </a:r>
            <a:r>
              <a:rPr lang="zh-CN" altLang="en-US" b="1" dirty="0">
                <a:solidFill>
                  <a:schemeClr val="tx2"/>
                </a:solidFill>
              </a:rPr>
              <a:t>与动态包过滤器</a:t>
            </a:r>
            <a:r>
              <a:rPr lang="en-US" altLang="zh-CN" b="1" dirty="0">
                <a:solidFill>
                  <a:schemeClr val="tx2"/>
                </a:solidFill>
              </a:rPr>
              <a:t>(Dynamic Packet filter)</a:t>
            </a:r>
            <a:r>
              <a:rPr lang="zh-CN" altLang="en-US" b="1" dirty="0">
                <a:solidFill>
                  <a:schemeClr val="tx2"/>
                </a:solidFill>
              </a:rPr>
              <a:t>。它</a:t>
            </a:r>
            <a:r>
              <a:rPr lang="zh-CN" altLang="en-US" b="1" dirty="0" smtClean="0">
                <a:solidFill>
                  <a:schemeClr val="tx2"/>
                </a:solidFill>
              </a:rPr>
              <a:t>可以</a:t>
            </a:r>
            <a:r>
              <a:rPr lang="zh-CN" altLang="en-US" b="1" dirty="0">
                <a:solidFill>
                  <a:schemeClr val="tx2"/>
                </a:solidFill>
              </a:rPr>
              <a:t>结合代理类型防火墙的安全性和包过滤防火墙的高速度等</a:t>
            </a:r>
            <a:r>
              <a:rPr lang="zh-CN" altLang="en-US" b="1" dirty="0" smtClean="0">
                <a:solidFill>
                  <a:schemeClr val="tx2"/>
                </a:solidFill>
              </a:rPr>
              <a:t>优点。在对防火墙进行配置时，用户仅仅将所需要的服务类型、安全级别等信息通过相应的</a:t>
            </a:r>
            <a:r>
              <a:rPr lang="en-US" altLang="zh-CN" b="1" dirty="0" smtClean="0">
                <a:solidFill>
                  <a:schemeClr val="tx2"/>
                </a:solidFill>
              </a:rPr>
              <a:t>Proxy</a:t>
            </a:r>
            <a:r>
              <a:rPr lang="zh-CN" altLang="en-US" b="1" dirty="0" smtClean="0">
                <a:solidFill>
                  <a:schemeClr val="tx2"/>
                </a:solidFill>
              </a:rPr>
              <a:t>的管理界面进行设置就可以了。然后，自适应代理就根据用户的配置信息，决定是使用代理服务从应用层代理请求还是从网络层过滤转发。如果是后者，它将动态地通知包过滤增减过滤规则。最终，满足了用户对速度和安全性的双重要求。</a:t>
            </a:r>
            <a:endParaRPr lang="en-US" altLang="zh-CN" b="1" dirty="0" smtClean="0">
              <a:solidFill>
                <a:schemeClr val="tx2"/>
              </a:solidFill>
            </a:endParaRPr>
          </a:p>
          <a:p>
            <a:pPr>
              <a:spcBef>
                <a:spcPct val="20000"/>
              </a:spcBef>
            </a:pPr>
            <a:endParaRPr lang="en-US" altLang="zh-CN" b="1" dirty="0" smtClean="0">
              <a:solidFill>
                <a:schemeClr val="tx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8.2.6 </a:t>
            </a:r>
            <a:r>
              <a:rPr lang="zh-CN" altLang="en-US" sz="3200" b="1" dirty="0" smtClean="0">
                <a:solidFill>
                  <a:srgbClr val="FF0000"/>
                </a:solidFill>
              </a:rPr>
              <a:t>状态检测防火墙</a:t>
            </a:r>
            <a:endParaRPr lang="en-US" altLang="zh-CN" b="1" dirty="0" smtClean="0">
              <a:solidFill>
                <a:srgbClr val="FF0000"/>
              </a:solidFill>
            </a:endParaRPr>
          </a:p>
          <a:p>
            <a:pPr>
              <a:spcBef>
                <a:spcPct val="20000"/>
              </a:spcBef>
            </a:pPr>
            <a:r>
              <a:rPr lang="zh-CN" altLang="en-US" b="1" dirty="0" smtClean="0">
                <a:solidFill>
                  <a:schemeClr val="tx2"/>
                </a:solidFill>
              </a:rPr>
              <a:t>基于状态检测技术的防火墙是由</a:t>
            </a:r>
            <a:r>
              <a:rPr lang="en-US" altLang="zh-CN" b="1" dirty="0" smtClean="0">
                <a:solidFill>
                  <a:schemeClr val="tx2"/>
                </a:solidFill>
              </a:rPr>
              <a:t>Check Point</a:t>
            </a:r>
            <a:r>
              <a:rPr lang="zh-CN" altLang="en-US" b="1" dirty="0" smtClean="0">
                <a:solidFill>
                  <a:schemeClr val="tx2"/>
                </a:solidFill>
              </a:rPr>
              <a:t>软件技术有限公司率先提出的，也称为动态包过滤防火墙，但在动态包过滤的基础上增加了更为复杂的状态检测机制而形成的。</a:t>
            </a:r>
            <a:endParaRPr lang="en-US" altLang="zh-CN" b="1" dirty="0" smtClean="0">
              <a:solidFill>
                <a:schemeClr val="tx2"/>
              </a:solidFill>
            </a:endParaRPr>
          </a:p>
          <a:p>
            <a:pPr>
              <a:spcBef>
                <a:spcPct val="20000"/>
              </a:spcBef>
            </a:pPr>
            <a:r>
              <a:rPr lang="zh-CN" altLang="en-US" b="1" dirty="0">
                <a:solidFill>
                  <a:schemeClr val="tx2"/>
                </a:solidFill>
              </a:rPr>
              <a:t>基于状态检测技术的</a:t>
            </a:r>
            <a:r>
              <a:rPr lang="zh-CN" altLang="en-US" b="1" dirty="0" smtClean="0">
                <a:solidFill>
                  <a:schemeClr val="tx2"/>
                </a:solidFill>
              </a:rPr>
              <a:t>防火墙通过一个在网关处执行安全策略的</a:t>
            </a:r>
            <a:r>
              <a:rPr lang="zh-CN" altLang="en-US" b="1" dirty="0" smtClean="0">
                <a:solidFill>
                  <a:srgbClr val="FF0000"/>
                </a:solidFill>
              </a:rPr>
              <a:t>检测引擎</a:t>
            </a:r>
            <a:r>
              <a:rPr lang="zh-CN" altLang="en-US" b="1" dirty="0" smtClean="0">
                <a:solidFill>
                  <a:schemeClr val="tx2"/>
                </a:solidFill>
              </a:rPr>
              <a:t>而获得好的安全性。</a:t>
            </a:r>
            <a:endParaRPr lang="en-US" altLang="zh-CN" b="1" dirty="0" smtClean="0">
              <a:solidFill>
                <a:schemeClr val="tx2"/>
              </a:solidFill>
            </a:endParaRPr>
          </a:p>
          <a:p>
            <a:pPr>
              <a:spcBef>
                <a:spcPct val="20000"/>
              </a:spcBef>
            </a:pPr>
            <a:r>
              <a:rPr lang="zh-CN" altLang="en-US" b="1" dirty="0" smtClean="0">
                <a:solidFill>
                  <a:schemeClr val="tx2"/>
                </a:solidFill>
              </a:rPr>
              <a:t>检测引擎在不影响网络正常运行的前提下，采取抽取有关数据的方法对网络通信的各层实施检测。它将抽取的状态信息动态地保存起来作为以后执行安全策略的参考。</a:t>
            </a:r>
            <a:r>
              <a:rPr lang="zh-CN" altLang="en-US" b="1" dirty="0" smtClean="0">
                <a:solidFill>
                  <a:srgbClr val="FF0000"/>
                </a:solidFill>
              </a:rPr>
              <a:t>检测引擎维护一个动态的状态信息表（会话表）并对其后续的数据包进行检查</a:t>
            </a:r>
            <a:r>
              <a:rPr lang="zh-CN" altLang="en-US" b="1" dirty="0" smtClean="0">
                <a:solidFill>
                  <a:schemeClr val="tx2"/>
                </a:solidFill>
              </a:rPr>
              <a:t>，一旦发现某个连接的参数有意外变化，则立即将其终止。</a:t>
            </a:r>
            <a:endParaRPr lang="en-US" altLang="zh-CN" b="1" dirty="0" smtClean="0">
              <a:solidFill>
                <a:schemeClr val="tx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8.2.6 </a:t>
            </a:r>
            <a:r>
              <a:rPr lang="zh-CN" altLang="en-US" sz="3200" b="1" dirty="0" smtClean="0">
                <a:solidFill>
                  <a:srgbClr val="FF0000"/>
                </a:solidFill>
              </a:rPr>
              <a:t>状态检测防火墙</a:t>
            </a:r>
            <a:endParaRPr lang="en-US" altLang="zh-CN" b="1" dirty="0" smtClean="0">
              <a:solidFill>
                <a:srgbClr val="FF0000"/>
              </a:solidFill>
            </a:endParaRPr>
          </a:p>
          <a:p>
            <a:pPr>
              <a:spcBef>
                <a:spcPct val="20000"/>
              </a:spcBef>
            </a:pPr>
            <a:r>
              <a:rPr lang="en-US" altLang="zh-CN" sz="2000" b="1" dirty="0" smtClean="0">
                <a:solidFill>
                  <a:schemeClr val="tx2"/>
                </a:solidFill>
              </a:rPr>
              <a:t>基于状态的防火墙通过利用TCP会话和UDP“伪”会话的状态信息进行网络访问</a:t>
            </a:r>
            <a:r>
              <a:rPr lang="zh-CN" altLang="en-US" sz="2000" b="1" dirty="0" smtClean="0">
                <a:solidFill>
                  <a:schemeClr val="tx2"/>
                </a:solidFill>
              </a:rPr>
              <a:t>控制</a:t>
            </a:r>
            <a:r>
              <a:rPr lang="en-US" altLang="zh-CN" sz="2000" b="1" dirty="0" smtClean="0">
                <a:solidFill>
                  <a:schemeClr val="tx2"/>
                </a:solidFill>
              </a:rPr>
              <a:t>机制。采用状态检查技术的防火墙首先建立并维护一张会话</a:t>
            </a:r>
            <a:r>
              <a:rPr lang="zh-CN" altLang="en-US" sz="2000" b="1" dirty="0" smtClean="0">
                <a:solidFill>
                  <a:schemeClr val="tx2"/>
                </a:solidFill>
              </a:rPr>
              <a:t>表，</a:t>
            </a:r>
            <a:r>
              <a:rPr lang="en-US" altLang="zh-CN" sz="2000" b="1" dirty="0" smtClean="0">
                <a:solidFill>
                  <a:schemeClr val="tx2"/>
                </a:solidFill>
              </a:rPr>
              <a:t>当有符合已定义安全策略</a:t>
            </a:r>
            <a:r>
              <a:rPr lang="zh-CN" altLang="en-US" sz="2000" b="1" dirty="0" smtClean="0">
                <a:solidFill>
                  <a:schemeClr val="tx2"/>
                </a:solidFill>
              </a:rPr>
              <a:t>（</a:t>
            </a:r>
            <a:r>
              <a:rPr lang="en-US" altLang="zh-CN" sz="2000" b="1" dirty="0" smtClean="0">
                <a:solidFill>
                  <a:schemeClr val="tx2"/>
                </a:solidFill>
              </a:rPr>
              <a:t>ACL</a:t>
            </a:r>
            <a:r>
              <a:rPr lang="zh-CN" altLang="en-US" sz="2000" b="1" dirty="0" smtClean="0">
                <a:solidFill>
                  <a:schemeClr val="tx2"/>
                </a:solidFill>
              </a:rPr>
              <a:t>）</a:t>
            </a:r>
            <a:r>
              <a:rPr lang="en-US" altLang="zh-CN" sz="2000" b="1" dirty="0" smtClean="0">
                <a:solidFill>
                  <a:schemeClr val="tx2"/>
                </a:solidFill>
              </a:rPr>
              <a:t>的TCP连接或UDP流时</a:t>
            </a:r>
            <a:r>
              <a:rPr lang="zh-CN" altLang="en-US" sz="2000" b="1" dirty="0" smtClean="0">
                <a:solidFill>
                  <a:schemeClr val="tx2"/>
                </a:solidFill>
              </a:rPr>
              <a:t>，</a:t>
            </a:r>
            <a:r>
              <a:rPr lang="en-US" altLang="zh-CN" sz="2000" b="1" dirty="0" smtClean="0">
                <a:solidFill>
                  <a:schemeClr val="tx2"/>
                </a:solidFill>
              </a:rPr>
              <a:t>防火墙会创建会话项</a:t>
            </a:r>
            <a:r>
              <a:rPr lang="zh-CN" altLang="en-US" sz="2000" b="1" dirty="0" smtClean="0">
                <a:solidFill>
                  <a:schemeClr val="tx2"/>
                </a:solidFill>
              </a:rPr>
              <a:t>，</a:t>
            </a:r>
            <a:r>
              <a:rPr lang="en-US" altLang="zh-CN" sz="2000" b="1" dirty="0" smtClean="0">
                <a:solidFill>
                  <a:schemeClr val="tx2"/>
                </a:solidFill>
              </a:rPr>
              <a:t>然后依据状态表项检查</a:t>
            </a:r>
            <a:r>
              <a:rPr lang="zh-CN" altLang="en-US" sz="2000" b="1" dirty="0" smtClean="0">
                <a:solidFill>
                  <a:schemeClr val="tx2"/>
                </a:solidFill>
              </a:rPr>
              <a:t>，与</a:t>
            </a:r>
            <a:r>
              <a:rPr lang="en-US" altLang="zh-CN" sz="2000" b="1" dirty="0" smtClean="0">
                <a:solidFill>
                  <a:schemeClr val="tx2"/>
                </a:solidFill>
              </a:rPr>
              <a:t>这些会话相关联的包才允许通过防火墙。</a:t>
            </a:r>
            <a:endParaRPr lang="en-US" altLang="zh-CN" sz="2000" b="1" dirty="0" smtClean="0">
              <a:solidFill>
                <a:schemeClr val="tx2"/>
              </a:solidFill>
            </a:endParaRPr>
          </a:p>
          <a:p>
            <a:pPr>
              <a:spcBef>
                <a:spcPct val="20000"/>
              </a:spcBef>
            </a:pPr>
            <a:r>
              <a:rPr lang="en-US" altLang="zh-CN" sz="2000" b="1" dirty="0" smtClean="0">
                <a:solidFill>
                  <a:schemeClr val="tx2"/>
                </a:solidFill>
              </a:rPr>
              <a:t>其处理包流程主要步骤如下:</a:t>
            </a:r>
            <a:endParaRPr lang="en-US" altLang="zh-CN" sz="2000" b="1" dirty="0" smtClean="0">
              <a:solidFill>
                <a:schemeClr val="tx2"/>
              </a:solidFill>
            </a:endParaRPr>
          </a:p>
          <a:p>
            <a:pPr>
              <a:spcBef>
                <a:spcPct val="20000"/>
              </a:spcBef>
            </a:pPr>
            <a:r>
              <a:rPr lang="en-US" altLang="zh-CN" sz="2000" b="1" dirty="0" smtClean="0">
                <a:solidFill>
                  <a:schemeClr val="tx2"/>
                </a:solidFill>
              </a:rPr>
              <a:t>(1)接收到数据包</a:t>
            </a:r>
            <a:r>
              <a:rPr lang="zh-CN" altLang="en-US" sz="2000" b="1" dirty="0" smtClean="0">
                <a:solidFill>
                  <a:schemeClr val="tx2"/>
                </a:solidFill>
              </a:rPr>
              <a:t>；</a:t>
            </a:r>
            <a:endParaRPr lang="en-US" altLang="zh-CN" sz="2000" b="1" dirty="0" smtClean="0">
              <a:solidFill>
                <a:schemeClr val="tx2"/>
              </a:solidFill>
            </a:endParaRPr>
          </a:p>
          <a:p>
            <a:pPr>
              <a:spcBef>
                <a:spcPct val="20000"/>
              </a:spcBef>
            </a:pPr>
            <a:r>
              <a:rPr lang="en-US" altLang="zh-CN" sz="2000" b="1" dirty="0" smtClean="0">
                <a:solidFill>
                  <a:schemeClr val="tx2"/>
                </a:solidFill>
              </a:rPr>
              <a:t>(2)检查数据包的有效性</a:t>
            </a:r>
            <a:r>
              <a:rPr lang="zh-CN" altLang="en-US" sz="2000" b="1" dirty="0" smtClean="0">
                <a:solidFill>
                  <a:schemeClr val="tx2"/>
                </a:solidFill>
              </a:rPr>
              <a:t>，若无效，则丢弃数据包并审计；</a:t>
            </a:r>
            <a:r>
              <a:rPr lang="en-US" altLang="zh-CN" sz="2000" b="1" dirty="0" smtClean="0">
                <a:solidFill>
                  <a:schemeClr val="tx2"/>
                </a:solidFill>
                <a:sym typeface="+mn-ea"/>
              </a:rPr>
              <a:t>(3)</a:t>
            </a:r>
            <a:r>
              <a:rPr lang="zh-CN" altLang="en-US" sz="2000" b="1" dirty="0" smtClean="0">
                <a:solidFill>
                  <a:schemeClr val="tx2"/>
                </a:solidFill>
                <a:sym typeface="+mn-ea"/>
              </a:rPr>
              <a:t>查找会话表，</a:t>
            </a:r>
            <a:r>
              <a:rPr lang="zh-CN" altLang="en-US" sz="2000" b="1" dirty="0" smtClean="0">
                <a:solidFill>
                  <a:schemeClr val="tx2"/>
                </a:solidFill>
              </a:rPr>
              <a:t>若找到，则进一步检查数据包的序列号和会话状态，</a:t>
            </a:r>
            <a:r>
              <a:rPr lang="en-US" altLang="zh-CN" sz="2000" b="1" dirty="0" smtClean="0">
                <a:solidFill>
                  <a:schemeClr val="tx2"/>
                </a:solidFill>
              </a:rPr>
              <a:t>若</a:t>
            </a:r>
            <a:r>
              <a:rPr lang="zh-CN" altLang="en-US" sz="2000" b="1" dirty="0" smtClean="0">
                <a:solidFill>
                  <a:schemeClr val="tx2"/>
                </a:solidFill>
              </a:rPr>
              <a:t>有</a:t>
            </a:r>
            <a:r>
              <a:rPr lang="en-US" altLang="zh-CN" sz="2000" b="1" dirty="0" smtClean="0">
                <a:solidFill>
                  <a:schemeClr val="tx2"/>
                </a:solidFill>
              </a:rPr>
              <a:t>效</a:t>
            </a:r>
            <a:r>
              <a:rPr lang="zh-CN" altLang="en-US" sz="2000" b="1" dirty="0" smtClean="0">
                <a:solidFill>
                  <a:schemeClr val="tx2"/>
                </a:solidFill>
              </a:rPr>
              <a:t>，</a:t>
            </a:r>
            <a:r>
              <a:rPr lang="en-US" altLang="zh-CN" sz="2000" b="1" dirty="0" smtClean="0">
                <a:solidFill>
                  <a:schemeClr val="tx2"/>
                </a:solidFill>
              </a:rPr>
              <a:t>则</a:t>
            </a:r>
            <a:r>
              <a:rPr lang="zh-CN" altLang="en-US" sz="2000" b="1" dirty="0" smtClean="0">
                <a:solidFill>
                  <a:schemeClr val="tx2"/>
                </a:solidFill>
              </a:rPr>
              <a:t>转发该数据包（</a:t>
            </a:r>
            <a:r>
              <a:rPr lang="zh-CN" altLang="en-US" sz="2000" b="1" dirty="0" smtClean="0">
                <a:solidFill>
                  <a:schemeClr val="accent1"/>
                </a:solidFill>
              </a:rPr>
              <a:t>也可能进行地址转换后路由</a:t>
            </a:r>
            <a:r>
              <a:rPr lang="zh-CN" altLang="en-US" sz="2000" b="1" dirty="0" smtClean="0">
                <a:solidFill>
                  <a:schemeClr val="tx2"/>
                </a:solidFill>
              </a:rPr>
              <a:t>），若无效，则丢弃数据包并审计。</a:t>
            </a:r>
            <a:endParaRPr lang="zh-CN" altLang="en-US" sz="2000" b="1" dirty="0" smtClean="0">
              <a:solidFill>
                <a:schemeClr val="tx2"/>
              </a:solidFill>
            </a:endParaRPr>
          </a:p>
          <a:p>
            <a:pPr>
              <a:spcBef>
                <a:spcPct val="20000"/>
              </a:spcBef>
            </a:pPr>
            <a:r>
              <a:rPr lang="zh-CN" altLang="en-US" sz="2000" b="1" dirty="0" smtClean="0">
                <a:solidFill>
                  <a:schemeClr val="tx2"/>
                </a:solidFill>
              </a:rPr>
              <a:t>（</a:t>
            </a:r>
            <a:r>
              <a:rPr lang="en-US" altLang="zh-CN" sz="2000" b="1" dirty="0" smtClean="0">
                <a:solidFill>
                  <a:schemeClr val="tx2"/>
                </a:solidFill>
              </a:rPr>
              <a:t>4</a:t>
            </a:r>
            <a:r>
              <a:rPr lang="zh-CN" altLang="en-US" sz="2000" b="1" dirty="0" smtClean="0">
                <a:solidFill>
                  <a:schemeClr val="tx2"/>
                </a:solidFill>
              </a:rPr>
              <a:t>）会话表中没有查找到新到的数据包信息时，则查找策略表，如符合策略，则增加新的会话项到会话表中，转发该数据包；否则，</a:t>
            </a:r>
            <a:r>
              <a:rPr lang="zh-CN" altLang="en-US" sz="2000" b="1" dirty="0" smtClean="0">
                <a:solidFill>
                  <a:schemeClr val="tx2"/>
                </a:solidFill>
                <a:sym typeface="+mn-ea"/>
              </a:rPr>
              <a:t>丢弃数据包并审计。</a:t>
            </a:r>
            <a:endParaRPr lang="zh-CN" altLang="en-US" sz="2000" b="1" dirty="0" smtClean="0">
              <a:solidFill>
                <a:schemeClr val="tx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8.2.6 </a:t>
            </a:r>
            <a:r>
              <a:rPr lang="zh-CN" altLang="en-US" sz="3200" b="1" dirty="0" smtClean="0">
                <a:solidFill>
                  <a:srgbClr val="FF0000"/>
                </a:solidFill>
              </a:rPr>
              <a:t>状态检测防火墙</a:t>
            </a:r>
            <a:endParaRPr lang="en-US" altLang="zh-CN" b="1" dirty="0" smtClean="0">
              <a:solidFill>
                <a:srgbClr val="FF0000"/>
              </a:solidFill>
            </a:endParaRPr>
          </a:p>
          <a:p>
            <a:pPr>
              <a:spcBef>
                <a:spcPct val="20000"/>
              </a:spcBef>
            </a:pPr>
            <a:r>
              <a:rPr lang="zh-CN" altLang="en-US" b="1" dirty="0" smtClean="0">
                <a:solidFill>
                  <a:schemeClr val="tx2"/>
                </a:solidFill>
              </a:rPr>
              <a:t>检测引擎支持多种协议和应用程序，并可以方便地实现扩充。状态检测技术跟踪连接状态的方式取决于数据包的协议类型（</a:t>
            </a:r>
            <a:r>
              <a:rPr lang="en-US" altLang="zh-CN" b="1" dirty="0" smtClean="0">
                <a:solidFill>
                  <a:schemeClr val="tx2"/>
                </a:solidFill>
              </a:rPr>
              <a:t>TCP/UDP</a:t>
            </a:r>
            <a:r>
              <a:rPr lang="zh-CN" altLang="en-US" b="1" dirty="0" smtClean="0">
                <a:solidFill>
                  <a:schemeClr val="tx2"/>
                </a:solidFill>
              </a:rPr>
              <a:t>）。</a:t>
            </a:r>
            <a:endParaRPr lang="en-US" altLang="zh-CN" b="1" dirty="0" smtClean="0">
              <a:solidFill>
                <a:schemeClr val="tx2"/>
              </a:solidFill>
            </a:endParaRPr>
          </a:p>
          <a:p>
            <a:pPr>
              <a:spcBef>
                <a:spcPct val="20000"/>
              </a:spcBef>
            </a:pPr>
            <a:r>
              <a:rPr lang="zh-CN" altLang="en-US" b="1" dirty="0" smtClean="0">
                <a:solidFill>
                  <a:schemeClr val="tx2"/>
                </a:solidFill>
              </a:rPr>
              <a:t>状态检测防火墙也可根据需要提供额外的服务，如将某些类型的连接重定向到审核服务中去。例如到专用</a:t>
            </a:r>
            <a:r>
              <a:rPr lang="en-US" altLang="zh-CN" b="1" dirty="0" smtClean="0">
                <a:solidFill>
                  <a:schemeClr val="tx2"/>
                </a:solidFill>
              </a:rPr>
              <a:t>Web</a:t>
            </a:r>
            <a:r>
              <a:rPr lang="zh-CN" altLang="en-US" b="1" dirty="0" smtClean="0">
                <a:solidFill>
                  <a:schemeClr val="tx2"/>
                </a:solidFill>
              </a:rPr>
              <a:t>服务器的连接首先被发到审核服务器进行审核。</a:t>
            </a:r>
            <a:endParaRPr lang="en-US" altLang="zh-CN" b="1" dirty="0" smtClean="0">
              <a:solidFill>
                <a:schemeClr val="tx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8.2.6 </a:t>
            </a:r>
            <a:r>
              <a:rPr lang="zh-CN" altLang="en-US" sz="3200" b="1" dirty="0" smtClean="0">
                <a:solidFill>
                  <a:srgbClr val="FF0000"/>
                </a:solidFill>
              </a:rPr>
              <a:t>状态检测防火墙</a:t>
            </a:r>
            <a:endParaRPr lang="en-US" altLang="zh-CN" b="1" dirty="0" smtClean="0">
              <a:solidFill>
                <a:srgbClr val="FF0000"/>
              </a:solidFill>
            </a:endParaRPr>
          </a:p>
          <a:p>
            <a:pPr>
              <a:spcBef>
                <a:spcPct val="20000"/>
              </a:spcBef>
            </a:pPr>
            <a:r>
              <a:rPr lang="zh-CN" altLang="en-US" b="1" dirty="0" smtClean="0">
                <a:solidFill>
                  <a:schemeClr val="tx2"/>
                </a:solidFill>
              </a:rPr>
              <a:t>状态</a:t>
            </a:r>
            <a:r>
              <a:rPr lang="zh-CN" altLang="en-US" b="1" dirty="0">
                <a:solidFill>
                  <a:schemeClr val="tx2"/>
                </a:solidFill>
              </a:rPr>
              <a:t>检测防火墙</a:t>
            </a:r>
            <a:r>
              <a:rPr lang="zh-CN" altLang="en-US" b="1" dirty="0">
                <a:solidFill>
                  <a:srgbClr val="FF0000"/>
                </a:solidFill>
              </a:rPr>
              <a:t>优点</a:t>
            </a:r>
            <a:endParaRPr lang="zh-CN" altLang="en-US" b="1" dirty="0">
              <a:solidFill>
                <a:srgbClr val="FF0000"/>
              </a:solidFill>
            </a:endParaRPr>
          </a:p>
          <a:p>
            <a:pPr>
              <a:spcBef>
                <a:spcPct val="20000"/>
              </a:spcBef>
            </a:pPr>
            <a:r>
              <a:rPr lang="zh-CN" altLang="en-US" b="1" dirty="0" smtClean="0">
                <a:solidFill>
                  <a:schemeClr val="tx2"/>
                </a:solidFill>
              </a:rPr>
              <a:t>具备</a:t>
            </a:r>
            <a:r>
              <a:rPr lang="zh-CN" altLang="en-US" b="1" dirty="0">
                <a:solidFill>
                  <a:schemeClr val="tx2"/>
                </a:solidFill>
              </a:rPr>
              <a:t>动态包过滤的所有优点，同时</a:t>
            </a:r>
            <a:r>
              <a:rPr lang="zh-CN" altLang="en-US" b="1" dirty="0" smtClean="0">
                <a:solidFill>
                  <a:schemeClr val="tx2"/>
                </a:solidFill>
              </a:rPr>
              <a:t>具有</a:t>
            </a:r>
            <a:r>
              <a:rPr lang="zh-CN" altLang="en-US" b="1" dirty="0">
                <a:solidFill>
                  <a:schemeClr val="tx2"/>
                </a:solidFill>
              </a:rPr>
              <a:t>相对</a:t>
            </a:r>
            <a:r>
              <a:rPr lang="zh-CN" altLang="en-US" b="1" dirty="0" smtClean="0">
                <a:solidFill>
                  <a:schemeClr val="tx2"/>
                </a:solidFill>
              </a:rPr>
              <a:t>更</a:t>
            </a:r>
            <a:r>
              <a:rPr lang="zh-CN" altLang="en-US" b="1" dirty="0">
                <a:solidFill>
                  <a:schemeClr val="tx2"/>
                </a:solidFill>
              </a:rPr>
              <a:t>高的安全性。</a:t>
            </a:r>
            <a:endParaRPr lang="zh-CN" altLang="en-US" b="1" dirty="0">
              <a:solidFill>
                <a:schemeClr val="tx2"/>
              </a:solidFill>
            </a:endParaRPr>
          </a:p>
          <a:p>
            <a:pPr>
              <a:spcBef>
                <a:spcPct val="20000"/>
              </a:spcBef>
            </a:pPr>
            <a:r>
              <a:rPr lang="zh-CN" altLang="en-US" b="1" dirty="0" smtClean="0">
                <a:solidFill>
                  <a:schemeClr val="tx2"/>
                </a:solidFill>
              </a:rPr>
              <a:t>没有</a:t>
            </a:r>
            <a:r>
              <a:rPr lang="zh-CN" altLang="en-US" b="1" dirty="0">
                <a:solidFill>
                  <a:schemeClr val="tx2"/>
                </a:solidFill>
              </a:rPr>
              <a:t>打破客户</a:t>
            </a:r>
            <a:r>
              <a:rPr lang="en-US" altLang="zh-CN" b="1" dirty="0">
                <a:solidFill>
                  <a:schemeClr val="tx2"/>
                </a:solidFill>
              </a:rPr>
              <a:t>/</a:t>
            </a:r>
            <a:r>
              <a:rPr lang="zh-CN" altLang="en-US" b="1" dirty="0">
                <a:solidFill>
                  <a:schemeClr val="tx2"/>
                </a:solidFill>
              </a:rPr>
              <a:t>服务器模型。</a:t>
            </a:r>
            <a:endParaRPr lang="zh-CN" altLang="en-US" b="1" dirty="0">
              <a:solidFill>
                <a:schemeClr val="tx2"/>
              </a:solidFill>
            </a:endParaRPr>
          </a:p>
          <a:p>
            <a:pPr>
              <a:spcBef>
                <a:spcPct val="20000"/>
              </a:spcBef>
            </a:pPr>
            <a:r>
              <a:rPr lang="zh-CN" altLang="en-US" b="1" dirty="0" smtClean="0">
                <a:solidFill>
                  <a:schemeClr val="tx2"/>
                </a:solidFill>
              </a:rPr>
              <a:t>提供</a:t>
            </a:r>
            <a:r>
              <a:rPr lang="zh-CN" altLang="en-US" b="1" dirty="0">
                <a:solidFill>
                  <a:schemeClr val="tx2"/>
                </a:solidFill>
              </a:rPr>
              <a:t>集成的动态包过滤功能。</a:t>
            </a:r>
            <a:endParaRPr lang="zh-CN" altLang="en-US" b="1" dirty="0">
              <a:solidFill>
                <a:schemeClr val="tx2"/>
              </a:solidFill>
            </a:endParaRPr>
          </a:p>
          <a:p>
            <a:pPr>
              <a:spcBef>
                <a:spcPct val="20000"/>
              </a:spcBef>
            </a:pPr>
            <a:r>
              <a:rPr lang="zh-CN" altLang="en-US" b="1" dirty="0" smtClean="0">
                <a:solidFill>
                  <a:schemeClr val="tx2"/>
                </a:solidFill>
              </a:rPr>
              <a:t>运行</a:t>
            </a:r>
            <a:r>
              <a:rPr lang="zh-CN" altLang="en-US" b="1" dirty="0">
                <a:solidFill>
                  <a:schemeClr val="tx2"/>
                </a:solidFill>
              </a:rPr>
              <a:t>速度更快</a:t>
            </a:r>
            <a:r>
              <a:rPr lang="zh-CN" altLang="en-US" b="1" dirty="0" smtClean="0">
                <a:solidFill>
                  <a:schemeClr val="tx2"/>
                </a:solidFill>
              </a:rPr>
              <a:t>。</a:t>
            </a:r>
            <a:endParaRPr lang="en-US" altLang="zh-CN" b="1" dirty="0" smtClean="0">
              <a:solidFill>
                <a:schemeClr val="tx2"/>
              </a:solidFill>
            </a:endParaRPr>
          </a:p>
          <a:p>
            <a:pPr>
              <a:spcBef>
                <a:spcPct val="20000"/>
              </a:spcBef>
            </a:pPr>
            <a:r>
              <a:rPr lang="zh-CN" altLang="en-US" b="1" dirty="0" smtClean="0">
                <a:solidFill>
                  <a:schemeClr val="tx2"/>
                </a:solidFill>
              </a:rPr>
              <a:t>应用范围广泛，同时支持</a:t>
            </a:r>
            <a:r>
              <a:rPr lang="en-US" altLang="zh-CN" b="1" dirty="0" smtClean="0">
                <a:solidFill>
                  <a:schemeClr val="tx2"/>
                </a:solidFill>
              </a:rPr>
              <a:t>TCP</a:t>
            </a:r>
            <a:r>
              <a:rPr lang="zh-CN" altLang="en-US" b="1" dirty="0" smtClean="0">
                <a:solidFill>
                  <a:schemeClr val="tx2"/>
                </a:solidFill>
              </a:rPr>
              <a:t>和</a:t>
            </a:r>
            <a:r>
              <a:rPr lang="en-US" altLang="zh-CN" b="1" dirty="0" smtClean="0">
                <a:solidFill>
                  <a:schemeClr val="tx2"/>
                </a:solidFill>
              </a:rPr>
              <a:t>UDP</a:t>
            </a:r>
            <a:endParaRPr lang="zh-CN" altLang="en-US" b="1" dirty="0">
              <a:solidFill>
                <a:schemeClr val="tx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8.2.6 </a:t>
            </a:r>
            <a:r>
              <a:rPr lang="zh-CN" altLang="en-US" sz="3200" b="1" dirty="0" smtClean="0">
                <a:solidFill>
                  <a:srgbClr val="FF0000"/>
                </a:solidFill>
              </a:rPr>
              <a:t>状态检测防火墙</a:t>
            </a:r>
            <a:endParaRPr lang="en-US" altLang="zh-CN" b="1" dirty="0" smtClean="0">
              <a:solidFill>
                <a:srgbClr val="FF0000"/>
              </a:solidFill>
            </a:endParaRPr>
          </a:p>
          <a:p>
            <a:pPr>
              <a:spcBef>
                <a:spcPct val="20000"/>
              </a:spcBef>
            </a:pPr>
            <a:r>
              <a:rPr lang="zh-CN" altLang="en-US" b="1" dirty="0">
                <a:solidFill>
                  <a:schemeClr val="tx2"/>
                </a:solidFill>
              </a:rPr>
              <a:t>状态检测防火墙</a:t>
            </a:r>
            <a:r>
              <a:rPr lang="zh-CN" altLang="en-US" b="1" dirty="0">
                <a:solidFill>
                  <a:srgbClr val="FF0000"/>
                </a:solidFill>
              </a:rPr>
              <a:t>缺点</a:t>
            </a:r>
            <a:endParaRPr lang="zh-CN" altLang="en-US" b="1" dirty="0">
              <a:solidFill>
                <a:srgbClr val="FF0000"/>
              </a:solidFill>
            </a:endParaRPr>
          </a:p>
          <a:p>
            <a:pPr>
              <a:spcBef>
                <a:spcPct val="20000"/>
              </a:spcBef>
            </a:pPr>
            <a:r>
              <a:rPr lang="zh-CN" altLang="en-US" b="1" dirty="0" smtClean="0">
                <a:solidFill>
                  <a:schemeClr val="tx2"/>
                </a:solidFill>
              </a:rPr>
              <a:t>检测</a:t>
            </a:r>
            <a:r>
              <a:rPr lang="zh-CN" altLang="en-US" b="1" dirty="0">
                <a:solidFill>
                  <a:schemeClr val="tx2"/>
                </a:solidFill>
              </a:rPr>
              <a:t>的层次仅限于网络层与传输层，无法对应用层内容进行检测，从而无法抵抗应用层的攻击。</a:t>
            </a:r>
            <a:endParaRPr lang="zh-CN" altLang="en-US" b="1" dirty="0">
              <a:solidFill>
                <a:schemeClr val="tx2"/>
              </a:solidFill>
            </a:endParaRPr>
          </a:p>
          <a:p>
            <a:pPr>
              <a:spcBef>
                <a:spcPct val="20000"/>
              </a:spcBef>
            </a:pPr>
            <a:r>
              <a:rPr lang="zh-CN" altLang="en-US" b="1" dirty="0" smtClean="0">
                <a:solidFill>
                  <a:schemeClr val="tx2"/>
                </a:solidFill>
              </a:rPr>
              <a:t>采用</a:t>
            </a:r>
            <a:r>
              <a:rPr lang="zh-CN" altLang="en-US" b="1" dirty="0">
                <a:solidFill>
                  <a:schemeClr val="tx2"/>
                </a:solidFill>
              </a:rPr>
              <a:t>单线程进程，对防火墙性能产生很大影响。</a:t>
            </a:r>
            <a:endParaRPr lang="zh-CN" altLang="en-US" b="1" dirty="0">
              <a:solidFill>
                <a:schemeClr val="tx2"/>
              </a:solidFill>
            </a:endParaRPr>
          </a:p>
          <a:p>
            <a:pPr>
              <a:spcBef>
                <a:spcPct val="20000"/>
              </a:spcBef>
            </a:pPr>
            <a:r>
              <a:rPr lang="zh-CN" altLang="en-US" b="1" dirty="0" smtClean="0">
                <a:solidFill>
                  <a:schemeClr val="tx2"/>
                </a:solidFill>
              </a:rPr>
              <a:t>没有</a:t>
            </a:r>
            <a:r>
              <a:rPr lang="zh-CN" altLang="en-US" b="1" dirty="0">
                <a:solidFill>
                  <a:schemeClr val="tx2"/>
                </a:solidFill>
              </a:rPr>
              <a:t>打破客户</a:t>
            </a:r>
            <a:r>
              <a:rPr lang="en-US" altLang="zh-CN" b="1" dirty="0">
                <a:solidFill>
                  <a:schemeClr val="tx2"/>
                </a:solidFill>
              </a:rPr>
              <a:t>/</a:t>
            </a:r>
            <a:r>
              <a:rPr lang="zh-CN" altLang="en-US" b="1" dirty="0">
                <a:solidFill>
                  <a:schemeClr val="tx2"/>
                </a:solidFill>
              </a:rPr>
              <a:t>服务器结构，会产生不可接受的安全风险</a:t>
            </a:r>
            <a:endParaRPr lang="zh-CN" altLang="en-US" b="1" dirty="0">
              <a:solidFill>
                <a:schemeClr val="tx2"/>
              </a:solidFill>
            </a:endParaRPr>
          </a:p>
          <a:p>
            <a:pPr>
              <a:spcBef>
                <a:spcPct val="20000"/>
              </a:spcBef>
            </a:pPr>
            <a:r>
              <a:rPr lang="zh-CN" altLang="en-US" b="1" dirty="0" smtClean="0">
                <a:solidFill>
                  <a:schemeClr val="tx2"/>
                </a:solidFill>
              </a:rPr>
              <a:t>不能</a:t>
            </a:r>
            <a:r>
              <a:rPr lang="zh-CN" altLang="en-US" b="1" dirty="0">
                <a:solidFill>
                  <a:schemeClr val="tx2"/>
                </a:solidFill>
              </a:rPr>
              <a:t>满足对高并发连接数量的要求。</a:t>
            </a:r>
            <a:endParaRPr lang="zh-CN" altLang="en-US" b="1" dirty="0">
              <a:solidFill>
                <a:schemeClr val="tx2"/>
              </a:solidFill>
            </a:endParaRPr>
          </a:p>
          <a:p>
            <a:pPr>
              <a:spcBef>
                <a:spcPct val="20000"/>
              </a:spcBef>
            </a:pPr>
            <a:r>
              <a:rPr lang="zh-CN" altLang="en-US" b="1" dirty="0" smtClean="0">
                <a:solidFill>
                  <a:schemeClr val="tx2"/>
                </a:solidFill>
              </a:rPr>
              <a:t>仅</a:t>
            </a:r>
            <a:r>
              <a:rPr lang="zh-CN" altLang="en-US" b="1" dirty="0">
                <a:solidFill>
                  <a:schemeClr val="tx2"/>
                </a:solidFill>
              </a:rPr>
              <a:t>能提供较低水平的安全性。</a:t>
            </a:r>
            <a:endParaRPr lang="zh-CN" altLang="en-US" b="1" dirty="0">
              <a:solidFill>
                <a:schemeClr val="tx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a:solidFill>
                  <a:schemeClr val="bg1"/>
                </a:solidFill>
                <a:latin typeface="Verdana" panose="020B0604030504040204" pitchFamily="34" charset="0"/>
              </a:rPr>
              <a:t>8.2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的关键技术</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268412"/>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8.2.7</a:t>
            </a:r>
            <a:r>
              <a:rPr lang="en-US" altLang="zh-CN" sz="2800" b="1" dirty="0" smtClean="0">
                <a:solidFill>
                  <a:srgbClr val="FF0000"/>
                </a:solidFill>
              </a:rPr>
              <a:t> </a:t>
            </a:r>
            <a:r>
              <a:rPr lang="zh-CN" altLang="en-US" sz="2800" b="1" dirty="0" smtClean="0">
                <a:solidFill>
                  <a:srgbClr val="FF0000"/>
                </a:solidFill>
              </a:rPr>
              <a:t>其他：切换代理防火墙和空气隙防火墙</a:t>
            </a:r>
            <a:endParaRPr lang="en-US" altLang="zh-CN" sz="2800" b="1" dirty="0" smtClean="0">
              <a:solidFill>
                <a:srgbClr val="FF0000"/>
              </a:solidFill>
            </a:endParaRPr>
          </a:p>
          <a:p>
            <a:pPr>
              <a:spcBef>
                <a:spcPct val="20000"/>
              </a:spcBef>
            </a:pPr>
            <a:r>
              <a:rPr lang="zh-CN" altLang="en-US" b="1" dirty="0" smtClean="0">
                <a:solidFill>
                  <a:srgbClr val="FF0000"/>
                </a:solidFill>
              </a:rPr>
              <a:t>切换代理</a:t>
            </a:r>
            <a:r>
              <a:rPr lang="zh-CN" altLang="en-US" b="1" dirty="0" smtClean="0">
                <a:solidFill>
                  <a:schemeClr val="tx2"/>
                </a:solidFill>
              </a:rPr>
              <a:t>是动态</a:t>
            </a:r>
            <a:r>
              <a:rPr lang="zh-CN" altLang="en-US" b="1" dirty="0">
                <a:solidFill>
                  <a:schemeClr val="tx2"/>
                </a:solidFill>
              </a:rPr>
              <a:t>过滤器和一个电路级代理的结合。许多</a:t>
            </a:r>
            <a:r>
              <a:rPr lang="zh-CN" altLang="en-US" b="1" dirty="0" smtClean="0">
                <a:solidFill>
                  <a:schemeClr val="tx2"/>
                </a:solidFill>
              </a:rPr>
              <a:t>实现方案中，切换代理首先作为电路级网关验证</a:t>
            </a:r>
            <a:r>
              <a:rPr lang="en-US" altLang="zh-CN" b="1" dirty="0" smtClean="0">
                <a:solidFill>
                  <a:schemeClr val="tx2"/>
                </a:solidFill>
              </a:rPr>
              <a:t>TCP</a:t>
            </a:r>
            <a:r>
              <a:rPr lang="zh-CN" altLang="en-US" b="1" dirty="0" smtClean="0">
                <a:solidFill>
                  <a:schemeClr val="tx2"/>
                </a:solidFill>
              </a:rPr>
              <a:t>的</a:t>
            </a:r>
            <a:r>
              <a:rPr lang="en-US" altLang="zh-CN" b="1" dirty="0" smtClean="0">
                <a:solidFill>
                  <a:schemeClr val="tx2"/>
                </a:solidFill>
              </a:rPr>
              <a:t>3</a:t>
            </a:r>
            <a:r>
              <a:rPr lang="zh-CN" altLang="en-US" b="1" dirty="0">
                <a:solidFill>
                  <a:schemeClr val="tx2"/>
                </a:solidFill>
              </a:rPr>
              <a:t>次</a:t>
            </a:r>
            <a:r>
              <a:rPr lang="zh-CN" altLang="en-US" b="1" dirty="0" smtClean="0">
                <a:solidFill>
                  <a:schemeClr val="tx2"/>
                </a:solidFill>
              </a:rPr>
              <a:t>握手，再切换到动态包过滤模式。</a:t>
            </a:r>
            <a:endParaRPr lang="en-US" altLang="zh-CN" b="1" dirty="0" smtClean="0">
              <a:solidFill>
                <a:schemeClr val="tx2"/>
              </a:solidFill>
            </a:endParaRPr>
          </a:p>
          <a:p>
            <a:pPr>
              <a:spcBef>
                <a:spcPct val="20000"/>
              </a:spcBef>
            </a:pPr>
            <a:r>
              <a:rPr lang="zh-CN" altLang="en-US" b="1" dirty="0">
                <a:solidFill>
                  <a:srgbClr val="FF0000"/>
                </a:solidFill>
              </a:rPr>
              <a:t>空气隙防火墙</a:t>
            </a:r>
            <a:r>
              <a:rPr lang="zh-CN" altLang="en-US" b="1" dirty="0">
                <a:solidFill>
                  <a:schemeClr val="tx2"/>
                </a:solidFill>
              </a:rPr>
              <a:t>：外部客户机连接所产生的连接数据被写入</a:t>
            </a:r>
            <a:r>
              <a:rPr lang="en-US" altLang="zh-CN" b="1" dirty="0" smtClean="0">
                <a:solidFill>
                  <a:schemeClr val="tx2"/>
                </a:solidFill>
              </a:rPr>
              <a:t>SCSI</a:t>
            </a:r>
            <a:r>
              <a:rPr lang="zh-CN" altLang="en-US" b="1" dirty="0">
                <a:solidFill>
                  <a:schemeClr val="tx2"/>
                </a:solidFill>
              </a:rPr>
              <a:t>（小型计算机系统接口）的硬盘</a:t>
            </a:r>
            <a:r>
              <a:rPr lang="en-US" altLang="zh-CN" b="1" dirty="0" smtClean="0">
                <a:solidFill>
                  <a:schemeClr val="tx2"/>
                </a:solidFill>
              </a:rPr>
              <a:t>E</a:t>
            </a:r>
            <a:r>
              <a:rPr lang="zh-CN" altLang="en-US" b="1" dirty="0">
                <a:solidFill>
                  <a:schemeClr val="tx2"/>
                </a:solidFill>
              </a:rPr>
              <a:t>－</a:t>
            </a:r>
            <a:r>
              <a:rPr lang="en-US" altLang="zh-CN" b="1" dirty="0">
                <a:solidFill>
                  <a:schemeClr val="tx2"/>
                </a:solidFill>
              </a:rPr>
              <a:t>disk </a:t>
            </a:r>
            <a:r>
              <a:rPr lang="zh-CN" altLang="en-US" b="1" dirty="0">
                <a:solidFill>
                  <a:schemeClr val="tx2"/>
                </a:solidFill>
              </a:rPr>
              <a:t>中，然后内部的连接再从该</a:t>
            </a:r>
            <a:r>
              <a:rPr lang="en-US" altLang="zh-CN" b="1" dirty="0">
                <a:solidFill>
                  <a:schemeClr val="tx2"/>
                </a:solidFill>
              </a:rPr>
              <a:t>SCSI</a:t>
            </a:r>
            <a:r>
              <a:rPr lang="zh-CN" altLang="en-US" b="1" dirty="0">
                <a:solidFill>
                  <a:schemeClr val="tx2"/>
                </a:solidFill>
              </a:rPr>
              <a:t>的</a:t>
            </a:r>
            <a:r>
              <a:rPr lang="en-US" altLang="zh-CN" b="1" dirty="0">
                <a:solidFill>
                  <a:schemeClr val="tx2"/>
                </a:solidFill>
              </a:rPr>
              <a:t>E</a:t>
            </a:r>
            <a:r>
              <a:rPr lang="zh-CN" altLang="en-US" b="1" dirty="0">
                <a:solidFill>
                  <a:schemeClr val="tx2"/>
                </a:solidFill>
              </a:rPr>
              <a:t>－</a:t>
            </a:r>
            <a:r>
              <a:rPr lang="en-US" altLang="zh-CN" b="1" dirty="0">
                <a:solidFill>
                  <a:schemeClr val="tx2"/>
                </a:solidFill>
              </a:rPr>
              <a:t>disk</a:t>
            </a:r>
            <a:r>
              <a:rPr lang="zh-CN" altLang="en-US" b="1" dirty="0">
                <a:solidFill>
                  <a:schemeClr val="tx2"/>
                </a:solidFill>
              </a:rPr>
              <a:t>中读取数据。防火墙切断了客户机到服务器的直接连接，并且对硬盘数据的读</a:t>
            </a:r>
            <a:r>
              <a:rPr lang="en-US" altLang="zh-CN" b="1" dirty="0">
                <a:solidFill>
                  <a:schemeClr val="tx2"/>
                </a:solidFill>
              </a:rPr>
              <a:t>/</a:t>
            </a:r>
            <a:r>
              <a:rPr lang="zh-CN" altLang="en-US" b="1" dirty="0">
                <a:solidFill>
                  <a:schemeClr val="tx2"/>
                </a:solidFill>
              </a:rPr>
              <a:t>写操作都是独立进行</a:t>
            </a:r>
            <a:r>
              <a:rPr lang="zh-CN" altLang="en-US" b="1" dirty="0" smtClean="0">
                <a:solidFill>
                  <a:schemeClr val="tx2"/>
                </a:solidFill>
              </a:rPr>
              <a:t>的。</a:t>
            </a:r>
            <a:endParaRPr lang="en-US" altLang="zh-CN" b="1" dirty="0" smtClean="0">
              <a:solidFill>
                <a:schemeClr val="tx2"/>
              </a:solidFill>
            </a:endParaRPr>
          </a:p>
          <a:p>
            <a:pPr>
              <a:spcBef>
                <a:spcPct val="20000"/>
              </a:spcBef>
            </a:pPr>
            <a:endParaRPr lang="zh-CN" altLang="en-US" b="1" dirty="0">
              <a:solidFill>
                <a:schemeClr val="tx2"/>
              </a:solidFill>
            </a:endParaRPr>
          </a:p>
        </p:txBody>
      </p:sp>
      <p:pic>
        <p:nvPicPr>
          <p:cNvPr id="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491880" y="4479822"/>
            <a:ext cx="4255344" cy="2283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38118" y="1412776"/>
            <a:ext cx="8005762" cy="5589587"/>
          </a:xfrm>
          <a:prstGeom prst="rect">
            <a:avLst/>
          </a:prstGeom>
          <a:noFill/>
          <a:ln w="9525">
            <a:noFill/>
            <a:miter lim="800000"/>
          </a:ln>
        </p:spPr>
        <p:txBody>
          <a:bodyPr/>
          <a:lstStyle/>
          <a:p>
            <a:pPr>
              <a:spcBef>
                <a:spcPct val="20000"/>
              </a:spcBef>
            </a:pPr>
            <a:r>
              <a:rPr lang="zh-CN" altLang="en-US" sz="2800" b="1" dirty="0">
                <a:solidFill>
                  <a:schemeClr val="tx2"/>
                </a:solidFill>
              </a:rPr>
              <a:t>防火墙工作于</a:t>
            </a:r>
            <a:r>
              <a:rPr lang="en-US" altLang="zh-CN" sz="2800" b="1" dirty="0">
                <a:solidFill>
                  <a:schemeClr val="tx2"/>
                </a:solidFill>
              </a:rPr>
              <a:t>OSI</a:t>
            </a:r>
            <a:r>
              <a:rPr lang="zh-CN" altLang="en-US" sz="2800" b="1" dirty="0">
                <a:solidFill>
                  <a:schemeClr val="tx2"/>
                </a:solidFill>
              </a:rPr>
              <a:t>模型的层次越高，能提供的安全保护等级就越高。</a:t>
            </a:r>
            <a:r>
              <a:rPr lang="zh-CN" altLang="en-US" sz="2800" b="1" dirty="0" smtClean="0">
                <a:solidFill>
                  <a:schemeClr val="tx2"/>
                </a:solidFill>
              </a:rPr>
              <a:t>如下图所</a:t>
            </a:r>
            <a:r>
              <a:rPr lang="zh-CN" altLang="en-US" sz="2800" b="1" dirty="0">
                <a:solidFill>
                  <a:schemeClr val="tx2"/>
                </a:solidFill>
              </a:rPr>
              <a:t>示</a:t>
            </a:r>
            <a:r>
              <a:rPr lang="zh-CN" altLang="en-US" sz="2800" b="1" dirty="0" smtClean="0">
                <a:solidFill>
                  <a:schemeClr val="tx2"/>
                </a:solidFill>
              </a:rPr>
              <a:t>为各种</a:t>
            </a:r>
            <a:r>
              <a:rPr lang="zh-CN" altLang="en-US" sz="2800" b="1" dirty="0">
                <a:solidFill>
                  <a:schemeClr val="tx2"/>
                </a:solidFill>
              </a:rPr>
              <a:t>类型防火墙与网络协议族之间的对应关系</a:t>
            </a:r>
            <a:r>
              <a:rPr lang="zh-CN" altLang="en-US" sz="2800" b="1" dirty="0" smtClean="0">
                <a:solidFill>
                  <a:schemeClr val="tx2"/>
                </a:solidFill>
              </a:rPr>
              <a:t>。</a:t>
            </a:r>
            <a:endParaRPr lang="en-US" altLang="zh-CN" sz="2800" b="1" dirty="0" smtClean="0">
              <a:solidFill>
                <a:schemeClr val="tx2"/>
              </a:solidFill>
            </a:endParaRPr>
          </a:p>
          <a:p>
            <a:pPr>
              <a:spcBef>
                <a:spcPct val="20000"/>
              </a:spcBef>
            </a:pPr>
            <a:endParaRPr lang="zh-CN" altLang="en-US" sz="2800" b="1" dirty="0">
              <a:solidFill>
                <a:schemeClr val="tx2"/>
              </a:solidFill>
            </a:endParaRPr>
          </a:p>
          <a:p>
            <a:pPr>
              <a:spcBef>
                <a:spcPct val="20000"/>
              </a:spcBef>
            </a:pPr>
            <a:endParaRPr lang="en-US" altLang="zh-CN" sz="3200" b="1" dirty="0" smtClean="0">
              <a:solidFill>
                <a:srgbClr val="FF0000"/>
              </a:solidFill>
            </a:endParaRPr>
          </a:p>
          <a:p>
            <a:pPr>
              <a:spcBef>
                <a:spcPct val="20000"/>
              </a:spcBef>
            </a:pPr>
            <a:endParaRPr lang="zh-CN" altLang="en-US" b="1" dirty="0">
              <a:solidFill>
                <a:schemeClr val="tx2"/>
              </a:solidFill>
            </a:endParaRPr>
          </a:p>
        </p:txBody>
      </p:sp>
      <p:pic>
        <p:nvPicPr>
          <p:cNvPr id="8"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96230" y="2867049"/>
            <a:ext cx="5313363"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8.3.1</a:t>
            </a:r>
            <a:r>
              <a:rPr lang="en-US" altLang="zh-CN" sz="2800" b="1" dirty="0" smtClean="0">
                <a:solidFill>
                  <a:srgbClr val="FF0000"/>
                </a:solidFill>
              </a:rPr>
              <a:t> </a:t>
            </a:r>
            <a:r>
              <a:rPr lang="zh-CN" altLang="en-US" sz="2800" b="1" dirty="0" smtClean="0">
                <a:solidFill>
                  <a:srgbClr val="FF0000"/>
                </a:solidFill>
              </a:rPr>
              <a:t>路由器防火墙</a:t>
            </a:r>
            <a:endParaRPr lang="en-US" altLang="zh-CN" sz="2800" b="1" dirty="0" smtClean="0">
              <a:solidFill>
                <a:srgbClr val="FF0000"/>
              </a:solidFill>
            </a:endParaRPr>
          </a:p>
          <a:p>
            <a:pPr>
              <a:spcBef>
                <a:spcPct val="20000"/>
              </a:spcBef>
            </a:pPr>
            <a:r>
              <a:rPr lang="zh-CN" altLang="en-US" b="1" noProof="0" dirty="0">
                <a:solidFill>
                  <a:schemeClr val="tx2"/>
                </a:solidFill>
                <a:latin typeface="宋体" panose="02010600030101010101" pitchFamily="2" charset="-122"/>
                <a:cs typeface="宋体" panose="02010600030101010101" pitchFamily="2" charset="-122"/>
                <a:sym typeface="+mn-ea"/>
              </a:rPr>
              <a:t>这种类型的防火墙是最简单的防火墙，其实就是一个路由器。它将筛选路由器当成一个防火墙使用，进行简单的数据包过滤。路由器通常支持一个或者多个防火墙功能；它们可被划分为用于 </a:t>
            </a:r>
            <a:r>
              <a:rPr lang="en-US" altLang="zh-CN" b="1" noProof="0" dirty="0">
                <a:solidFill>
                  <a:schemeClr val="tx2"/>
                </a:solidFill>
                <a:latin typeface="宋体" panose="02010600030101010101" pitchFamily="2" charset="-122"/>
                <a:cs typeface="宋体" panose="02010600030101010101" pitchFamily="2" charset="-122"/>
                <a:sym typeface="+mn-ea"/>
              </a:rPr>
              <a:t>Internet </a:t>
            </a:r>
            <a:r>
              <a:rPr lang="zh-CN" altLang="en-US" b="1" noProof="0" dirty="0">
                <a:solidFill>
                  <a:schemeClr val="tx2"/>
                </a:solidFill>
                <a:latin typeface="宋体" panose="02010600030101010101" pitchFamily="2" charset="-122"/>
                <a:cs typeface="宋体" panose="02010600030101010101" pitchFamily="2" charset="-122"/>
                <a:sym typeface="+mn-ea"/>
              </a:rPr>
              <a:t>连接的低端设备和传统的高端路由器。</a:t>
            </a:r>
            <a:endParaRPr lang="zh-CN" altLang="en-US" b="1" noProof="0" dirty="0">
              <a:solidFill>
                <a:schemeClr val="tx2"/>
              </a:solidFill>
              <a:latin typeface="宋体" panose="02010600030101010101" pitchFamily="2" charset="-122"/>
              <a:cs typeface="宋体" panose="02010600030101010101" pitchFamily="2" charset="-122"/>
              <a:sym typeface="+mn-ea"/>
            </a:endParaRPr>
          </a:p>
        </p:txBody>
      </p:sp>
      <p:pic>
        <p:nvPicPr>
          <p:cNvPr id="66564" name="图片 2"/>
          <p:cNvPicPr>
            <a:picLocks noChangeAspect="1"/>
          </p:cNvPicPr>
          <p:nvPr>
            <p:custDataLst>
              <p:tags r:id="rId1"/>
            </p:custDataLst>
          </p:nvPr>
        </p:nvPicPr>
        <p:blipFill>
          <a:blip r:embed="rId2"/>
          <a:stretch>
            <a:fillRect/>
          </a:stretch>
        </p:blipFill>
        <p:spPr>
          <a:xfrm>
            <a:off x="2411730" y="3429000"/>
            <a:ext cx="5101590" cy="3159125"/>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8.3.2</a:t>
            </a:r>
            <a:r>
              <a:rPr lang="en-US" altLang="zh-CN" sz="2800" b="1" dirty="0" smtClean="0">
                <a:solidFill>
                  <a:srgbClr val="FF0000"/>
                </a:solidFill>
              </a:rPr>
              <a:t> </a:t>
            </a:r>
            <a:r>
              <a:rPr lang="zh-CN" altLang="en-US" sz="2800" b="1" dirty="0" smtClean="0">
                <a:solidFill>
                  <a:srgbClr val="FF0000"/>
                </a:solidFill>
                <a:sym typeface="+mn-ea"/>
              </a:rPr>
              <a:t>双重宿主主机体系结构</a:t>
            </a:r>
            <a:endParaRPr lang="en-US" altLang="zh-CN" sz="2800" b="1" dirty="0" smtClean="0">
              <a:solidFill>
                <a:srgbClr val="FF0000"/>
              </a:solidFill>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b="1" noProof="0" dirty="0">
                <a:solidFill>
                  <a:schemeClr val="tx2"/>
                </a:solidFill>
                <a:latin typeface="宋体" panose="02010600030101010101" pitchFamily="2" charset="-122"/>
                <a:cs typeface="宋体" panose="02010600030101010101" pitchFamily="2" charset="-122"/>
                <a:sym typeface="+mn-ea"/>
              </a:rPr>
              <a:t>双重宿主（Dual-homed）主机防火墙至少有两个网络接口，它位于内部网络和外部网络之间，这样的主机可以充当与这些接口相连的网络之间的路由器，从一个网络接收</a:t>
            </a:r>
            <a:r>
              <a:rPr lang="en-US" altLang="zh-CN" b="1" noProof="0" dirty="0">
                <a:solidFill>
                  <a:schemeClr val="tx2"/>
                </a:solidFill>
                <a:latin typeface="宋体" panose="02010600030101010101" pitchFamily="2" charset="-122"/>
                <a:cs typeface="宋体" panose="02010600030101010101" pitchFamily="2" charset="-122"/>
                <a:sym typeface="+mn-ea"/>
              </a:rPr>
              <a:t>IP</a:t>
            </a:r>
            <a:r>
              <a:rPr lang="zh-CN" altLang="en-US" b="1" noProof="0" dirty="0">
                <a:solidFill>
                  <a:schemeClr val="tx2"/>
                </a:solidFill>
                <a:latin typeface="宋体" panose="02010600030101010101" pitchFamily="2" charset="-122"/>
                <a:cs typeface="宋体" panose="02010600030101010101" pitchFamily="2" charset="-122"/>
                <a:sym typeface="+mn-ea"/>
              </a:rPr>
              <a:t>数据并将之发送给另一网络。然而，实现</a:t>
            </a:r>
            <a:r>
              <a:rPr lang="zh-CN" b="1" noProof="0" dirty="0">
                <a:solidFill>
                  <a:schemeClr val="tx2"/>
                </a:solidFill>
                <a:latin typeface="宋体" panose="02010600030101010101" pitchFamily="2" charset="-122"/>
                <a:cs typeface="宋体" panose="02010600030101010101" pitchFamily="2" charset="-122"/>
                <a:sym typeface="+mn-ea"/>
              </a:rPr>
              <a:t>双重宿主主机的防火墙是禁止这种发送功能，完全阻止了内外网之间的</a:t>
            </a:r>
            <a:r>
              <a:rPr lang="en-US" altLang="zh-CN" b="1" noProof="0" dirty="0">
                <a:solidFill>
                  <a:schemeClr val="tx2"/>
                </a:solidFill>
                <a:latin typeface="宋体" panose="02010600030101010101" pitchFamily="2" charset="-122"/>
                <a:cs typeface="宋体" panose="02010600030101010101" pitchFamily="2" charset="-122"/>
                <a:sym typeface="+mn-ea"/>
              </a:rPr>
              <a:t>IP</a:t>
            </a:r>
            <a:r>
              <a:rPr lang="zh-CN" altLang="en-US" b="1" noProof="0" dirty="0">
                <a:solidFill>
                  <a:schemeClr val="tx2"/>
                </a:solidFill>
                <a:latin typeface="宋体" panose="02010600030101010101" pitchFamily="2" charset="-122"/>
                <a:cs typeface="宋体" panose="02010600030101010101" pitchFamily="2" charset="-122"/>
                <a:sym typeface="+mn-ea"/>
              </a:rPr>
              <a:t>通信。</a:t>
            </a:r>
            <a:endParaRPr lang="zh-CN" altLang="en-US" b="1" noProof="0"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外部网络能与双重宿主主机通信，内部网络也能与双重宿主主机通信。但是外部网络和内部网络不能直接通信，他们之间的通信必须经过双重宿主主机的过滤和控制。</a:t>
            </a:r>
            <a:endParaRPr lang="zh-CN" altLang="en-US" b="1" noProof="0"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noProof="0" dirty="0">
                <a:solidFill>
                  <a:schemeClr val="tx2"/>
                </a:solidFill>
                <a:latin typeface="宋体" panose="02010600030101010101" pitchFamily="2" charset="-122"/>
                <a:cs typeface="宋体" panose="02010600030101010101" pitchFamily="2" charset="-122"/>
                <a:sym typeface="+mn-ea"/>
              </a:rPr>
              <a:t>内部网络和外部网络之间的通信可通过应用层数据共享或应用层服务代理的方法实现。一般情况下采用服务代理的方法。</a:t>
            </a:r>
            <a:endParaRPr lang="zh-CN" altLang="en-US" b="1" noProof="0" dirty="0">
              <a:solidFill>
                <a:schemeClr val="tx2"/>
              </a:solidFill>
              <a:latin typeface="宋体" panose="02010600030101010101" pitchFamily="2" charset="-122"/>
              <a:cs typeface="宋体" panose="02010600030101010101" pitchFamily="2"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8.3.2</a:t>
            </a:r>
            <a:r>
              <a:rPr lang="en-US" altLang="zh-CN" sz="2800" b="1" dirty="0" smtClean="0">
                <a:solidFill>
                  <a:srgbClr val="FF0000"/>
                </a:solidFill>
              </a:rPr>
              <a:t> </a:t>
            </a:r>
            <a:r>
              <a:rPr lang="zh-CN" altLang="en-US" sz="2800" b="1" dirty="0" smtClean="0">
                <a:solidFill>
                  <a:srgbClr val="FF0000"/>
                </a:solidFill>
                <a:sym typeface="+mn-ea"/>
              </a:rPr>
              <a:t>双重宿主主机体系结构</a:t>
            </a:r>
            <a:endParaRPr lang="en-US" altLang="zh-CN" sz="2800" b="1" dirty="0" smtClean="0">
              <a:solidFill>
                <a:srgbClr val="FF0000"/>
              </a:solidFill>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endParaRPr lang="zh-CN" altLang="en-US" b="1" noProof="0" dirty="0">
              <a:solidFill>
                <a:schemeClr val="tx2"/>
              </a:solidFill>
              <a:latin typeface="宋体" panose="02010600030101010101" pitchFamily="2" charset="-122"/>
              <a:cs typeface="宋体" panose="02010600030101010101" pitchFamily="2" charset="-122"/>
              <a:sym typeface="+mn-ea"/>
            </a:endParaRPr>
          </a:p>
        </p:txBody>
      </p:sp>
      <p:sp>
        <p:nvSpPr>
          <p:cNvPr id="13313" name="文本占位符 223234"/>
          <p:cNvSpPr>
            <a:spLocks noGrp="1"/>
          </p:cNvSpPr>
          <p:nvPr/>
        </p:nvSpPr>
        <p:spPr>
          <a:xfrm>
            <a:off x="685800" y="6093460"/>
            <a:ext cx="7772400" cy="533400"/>
          </a:xfrm>
          <a:prstGeom prst="rect">
            <a:avLst/>
          </a:prstGeom>
          <a:noFill/>
          <a:ln w="9525">
            <a:noFill/>
          </a:ln>
        </p:spPr>
        <p:txBody>
          <a:bodyPr anchor="t" anchorCtr="0"/>
          <a:lstStyle>
            <a:lvl1pPr marL="0" lvl="0" indent="0" algn="l" defTabSz="914400" eaLnBrk="1" fontAlgn="base" latinLnBrk="0" hangingPunct="1">
              <a:lnSpc>
                <a:spcPct val="120000"/>
              </a:lnSpc>
              <a:spcBef>
                <a:spcPct val="20000"/>
              </a:spcBef>
              <a:spcAft>
                <a:spcPct val="0"/>
              </a:spcAft>
              <a:buClr>
                <a:schemeClr val="accent1"/>
              </a:buClr>
              <a:buNone/>
              <a:defRPr sz="2800" b="1" i="0" u="none" kern="1200" baseline="0">
                <a:solidFill>
                  <a:srgbClr val="080808"/>
                </a:solidFill>
                <a:latin typeface="+mn-lt"/>
                <a:ea typeface="+mn-ea"/>
                <a:cs typeface="+mn-cs"/>
              </a:defRPr>
            </a:lvl1pPr>
            <a:lvl2pPr marL="863600" lvl="1" indent="-285750" algn="l" defTabSz="914400" eaLnBrk="1" fontAlgn="base" latinLnBrk="0" hangingPunct="1">
              <a:lnSpc>
                <a:spcPct val="100000"/>
              </a:lnSpc>
              <a:spcBef>
                <a:spcPct val="20000"/>
              </a:spcBef>
              <a:spcAft>
                <a:spcPct val="0"/>
              </a:spcAft>
              <a:buClr>
                <a:schemeClr val="hlink"/>
              </a:buClr>
              <a:buChar char="–"/>
              <a:defRPr sz="2400" b="0" i="0" u="none" kern="1200" baseline="0">
                <a:solidFill>
                  <a:schemeClr val="tx1"/>
                </a:solidFill>
                <a:latin typeface="+mn-lt"/>
                <a:ea typeface="+mn-ea"/>
                <a:cs typeface="+mn-cs"/>
              </a:defRPr>
            </a:lvl2pPr>
            <a:lvl3pPr marL="1282700" lvl="2" indent="-228600" algn="l" defTabSz="914400" eaLnBrk="1" fontAlgn="base" latinLnBrk="0" hangingPunct="1">
              <a:lnSpc>
                <a:spcPct val="100000"/>
              </a:lnSpc>
              <a:spcBef>
                <a:spcPct val="20000"/>
              </a:spcBef>
              <a:spcAft>
                <a:spcPct val="0"/>
              </a:spcAft>
              <a:buClr>
                <a:schemeClr val="accent1"/>
              </a:buClr>
              <a:buChar char="•"/>
              <a:defRPr sz="2400" b="0" i="0" u="none" kern="1200" baseline="0">
                <a:solidFill>
                  <a:schemeClr val="tx1"/>
                </a:solidFill>
                <a:latin typeface="+mn-lt"/>
                <a:ea typeface="+mn-ea"/>
                <a:cs typeface="+mn-cs"/>
              </a:defRPr>
            </a:lvl3pPr>
            <a:lvl4pPr marL="1701800" lvl="3" indent="-228600" algn="l" defTabSz="914400" eaLnBrk="1" fontAlgn="base" latinLnBrk="0" hangingPunct="1">
              <a:lnSpc>
                <a:spcPct val="100000"/>
              </a:lnSpc>
              <a:spcBef>
                <a:spcPct val="20000"/>
              </a:spcBef>
              <a:spcAft>
                <a:spcPct val="0"/>
              </a:spcAft>
              <a:buClr>
                <a:schemeClr val="folHlink"/>
              </a:buClr>
              <a:buChar char="–"/>
              <a:defRPr sz="2000" b="0" i="0" u="none" kern="1200" baseline="0">
                <a:solidFill>
                  <a:schemeClr val="tx1"/>
                </a:solidFill>
                <a:latin typeface="+mn-lt"/>
                <a:ea typeface="+mn-ea"/>
                <a:cs typeface="+mn-cs"/>
              </a:defRPr>
            </a:lvl4pPr>
            <a:lvl5pPr marL="2120900" lvl="4"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9pPr>
          </a:lstStyle>
          <a:p>
            <a:pPr algn="ctr"/>
            <a:r>
              <a:rPr lang="zh-CN" altLang="en-US" sz="2400" dirty="0">
                <a:latin typeface="宋体" panose="02010600030101010101" pitchFamily="2" charset="-122"/>
              </a:rPr>
              <a:t>双重宿主主机体系结构</a:t>
            </a:r>
            <a:r>
              <a:rPr lang="zh-CN" altLang="en-US" sz="2400" dirty="0"/>
              <a:t> </a:t>
            </a:r>
            <a:endParaRPr lang="zh-CN" altLang="en-US" sz="2400" dirty="0"/>
          </a:p>
        </p:txBody>
      </p:sp>
      <p:graphicFrame>
        <p:nvGraphicFramePr>
          <p:cNvPr id="13315" name="对象 223235"/>
          <p:cNvGraphicFramePr/>
          <p:nvPr/>
        </p:nvGraphicFramePr>
        <p:xfrm>
          <a:off x="850265" y="1916430"/>
          <a:ext cx="7456805" cy="4025265"/>
        </p:xfrm>
        <a:graphic>
          <a:graphicData uri="http://schemas.openxmlformats.org/presentationml/2006/ole">
            <mc:AlternateContent xmlns:mc="http://schemas.openxmlformats.org/markup-compatibility/2006">
              <mc:Choice xmlns:v="urn:schemas-microsoft-com:vml" Requires="v">
                <p:oleObj spid="_x0000_s3126" name="" r:id="rId1" imgW="3738245" imgH="2843530" progId="Visio.Drawing.6">
                  <p:embed/>
                </p:oleObj>
              </mc:Choice>
              <mc:Fallback>
                <p:oleObj name="" r:id="rId1" imgW="3738245" imgH="2843530" progId="Visio.Drawing.6">
                  <p:embed/>
                  <p:pic>
                    <p:nvPicPr>
                      <p:cNvPr id="0" name="图片 3079"/>
                      <p:cNvPicPr/>
                      <p:nvPr/>
                    </p:nvPicPr>
                    <p:blipFill>
                      <a:blip r:embed="rId2"/>
                      <a:stretch>
                        <a:fillRect/>
                      </a:stretch>
                    </p:blipFill>
                    <p:spPr>
                      <a:xfrm>
                        <a:off x="850265" y="1916430"/>
                        <a:ext cx="7456805" cy="4025265"/>
                      </a:xfrm>
                      <a:prstGeom prst="rect">
                        <a:avLst/>
                      </a:prstGeom>
                      <a:noFill/>
                      <a:ln w="38100">
                        <a:noFill/>
                        <a:miter/>
                      </a:ln>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8.3.2</a:t>
            </a:r>
            <a:r>
              <a:rPr lang="en-US" altLang="zh-CN" sz="2800" b="1" dirty="0" smtClean="0">
                <a:solidFill>
                  <a:srgbClr val="FF0000"/>
                </a:solidFill>
              </a:rPr>
              <a:t> </a:t>
            </a:r>
            <a:r>
              <a:rPr lang="zh-CN" altLang="en-US" sz="2800" b="1" dirty="0" smtClean="0">
                <a:solidFill>
                  <a:srgbClr val="FF0000"/>
                </a:solidFill>
                <a:sym typeface="+mn-ea"/>
              </a:rPr>
              <a:t>双重宿主主机体系结构</a:t>
            </a:r>
            <a:endParaRPr lang="en-US" altLang="zh-CN" sz="2800" b="1" dirty="0" smtClean="0">
              <a:solidFill>
                <a:srgbClr val="FF0000"/>
              </a:solidFill>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双重宿主主机的</a:t>
            </a:r>
            <a:r>
              <a:rPr lang="zh-CN" altLang="en-US" b="1" noProof="0" dirty="0">
                <a:solidFill>
                  <a:srgbClr val="FF0000"/>
                </a:solidFill>
                <a:latin typeface="宋体" panose="02010600030101010101" pitchFamily="2" charset="-122"/>
                <a:cs typeface="宋体" panose="02010600030101010101" pitchFamily="2" charset="-122"/>
                <a:sym typeface="+mn-ea"/>
              </a:rPr>
              <a:t>特性</a:t>
            </a:r>
            <a:r>
              <a:rPr lang="zh-CN" altLang="en-US" b="1" noProof="0" dirty="0">
                <a:solidFill>
                  <a:schemeClr val="tx2"/>
                </a:solidFill>
                <a:latin typeface="宋体" panose="02010600030101010101" pitchFamily="2" charset="-122"/>
                <a:cs typeface="宋体" panose="02010600030101010101" pitchFamily="2" charset="-122"/>
                <a:sym typeface="+mn-ea"/>
              </a:rPr>
              <a:t>：自身安全至关重要（唯一通道），其用户口令控制安全是关键；其次必须支持较多用户的访问（中转站），其性能非常重要。</a:t>
            </a:r>
            <a:endParaRPr lang="zh-CN" altLang="en-US" b="1" noProof="0"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双重宿主主机防火墙的</a:t>
            </a:r>
            <a:r>
              <a:rPr lang="zh-CN" altLang="en-US" b="1" noProof="0" dirty="0">
                <a:solidFill>
                  <a:srgbClr val="FF0000"/>
                </a:solidFill>
                <a:latin typeface="宋体" panose="02010600030101010101" pitchFamily="2" charset="-122"/>
                <a:cs typeface="宋体" panose="02010600030101010101" pitchFamily="2" charset="-122"/>
                <a:sym typeface="+mn-ea"/>
              </a:rPr>
              <a:t>缺点</a:t>
            </a:r>
            <a:r>
              <a:rPr lang="zh-CN" altLang="en-US" b="1" noProof="0" dirty="0">
                <a:solidFill>
                  <a:schemeClr val="tx2"/>
                </a:solidFill>
                <a:latin typeface="宋体" panose="02010600030101010101" pitchFamily="2" charset="-122"/>
                <a:cs typeface="宋体" panose="02010600030101010101" pitchFamily="2" charset="-122"/>
                <a:sym typeface="+mn-ea"/>
              </a:rPr>
              <a:t>：作为隔开内外网的唯一屏障，一旦它被入侵，内部网络便向入侵者敞开大门。</a:t>
            </a:r>
            <a:endParaRPr lang="zh-CN" altLang="en-US" b="1" noProof="0" dirty="0">
              <a:solidFill>
                <a:schemeClr val="tx2"/>
              </a:solidFill>
              <a:latin typeface="宋体" panose="02010600030101010101" pitchFamily="2" charset="-122"/>
              <a:cs typeface="宋体" panose="02010600030101010101" pitchFamily="2" charset="-122"/>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8.3.3</a:t>
            </a:r>
            <a:r>
              <a:rPr lang="en-US" altLang="zh-CN" sz="2800" b="1" dirty="0" smtClean="0">
                <a:solidFill>
                  <a:srgbClr val="FF0000"/>
                </a:solidFill>
              </a:rPr>
              <a:t> </a:t>
            </a:r>
            <a:r>
              <a:rPr lang="zh-CN" altLang="en-US" sz="2800" b="1" dirty="0" smtClean="0">
                <a:solidFill>
                  <a:srgbClr val="FF0000"/>
                </a:solidFill>
                <a:sym typeface="+mn-ea"/>
              </a:rPr>
              <a:t>屏蔽主机体系结构</a:t>
            </a:r>
            <a:endParaRPr lang="en-US" altLang="zh-CN" sz="2800" b="1" dirty="0" smtClean="0">
              <a:solidFill>
                <a:srgbClr val="FF0000"/>
              </a:solidFill>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屏蔽主机体系结构通过一个过滤路由器（Screeningrouter）和一个与内部网络相连的堡垒主机（Bastionhost）共同承担安全责任。</a:t>
            </a:r>
            <a:endParaRPr lang="zh-CN" altLang="en-US" b="1" noProof="0" dirty="0">
              <a:solidFill>
                <a:schemeClr val="tx2"/>
              </a:solidFill>
              <a:latin typeface="宋体" panose="02010600030101010101" pitchFamily="2" charset="-122"/>
              <a:cs typeface="宋体" panose="02010600030101010101" pitchFamily="2" charset="-122"/>
              <a:sym typeface="+mn-ea"/>
            </a:endParaRPr>
          </a:p>
        </p:txBody>
      </p:sp>
      <p:sp>
        <p:nvSpPr>
          <p:cNvPr id="15361" name="文本占位符 225282"/>
          <p:cNvSpPr>
            <a:spLocks noGrp="1"/>
          </p:cNvSpPr>
          <p:nvPr/>
        </p:nvSpPr>
        <p:spPr>
          <a:xfrm>
            <a:off x="676275" y="6165215"/>
            <a:ext cx="7772400" cy="457200"/>
          </a:xfrm>
          <a:prstGeom prst="rect">
            <a:avLst/>
          </a:prstGeom>
          <a:noFill/>
          <a:ln w="9525">
            <a:noFill/>
          </a:ln>
        </p:spPr>
        <p:txBody>
          <a:bodyPr anchor="t" anchorCtr="0"/>
          <a:lstStyle>
            <a:lvl1pPr marL="0" lvl="0" indent="0" algn="l" defTabSz="914400" eaLnBrk="1" fontAlgn="base" latinLnBrk="0" hangingPunct="1">
              <a:lnSpc>
                <a:spcPct val="120000"/>
              </a:lnSpc>
              <a:spcBef>
                <a:spcPct val="20000"/>
              </a:spcBef>
              <a:spcAft>
                <a:spcPct val="0"/>
              </a:spcAft>
              <a:buClr>
                <a:schemeClr val="accent1"/>
              </a:buClr>
              <a:buNone/>
              <a:defRPr sz="2800" b="1" i="0" u="none" kern="1200" baseline="0">
                <a:solidFill>
                  <a:srgbClr val="080808"/>
                </a:solidFill>
                <a:latin typeface="+mn-lt"/>
                <a:ea typeface="+mn-ea"/>
                <a:cs typeface="+mn-cs"/>
              </a:defRPr>
            </a:lvl1pPr>
            <a:lvl2pPr marL="863600" lvl="1" indent="-285750" algn="l" defTabSz="914400" eaLnBrk="1" fontAlgn="base" latinLnBrk="0" hangingPunct="1">
              <a:lnSpc>
                <a:spcPct val="100000"/>
              </a:lnSpc>
              <a:spcBef>
                <a:spcPct val="20000"/>
              </a:spcBef>
              <a:spcAft>
                <a:spcPct val="0"/>
              </a:spcAft>
              <a:buClr>
                <a:schemeClr val="hlink"/>
              </a:buClr>
              <a:buChar char="–"/>
              <a:defRPr sz="2400" b="0" i="0" u="none" kern="1200" baseline="0">
                <a:solidFill>
                  <a:schemeClr val="tx1"/>
                </a:solidFill>
                <a:latin typeface="+mn-lt"/>
                <a:ea typeface="+mn-ea"/>
                <a:cs typeface="+mn-cs"/>
              </a:defRPr>
            </a:lvl2pPr>
            <a:lvl3pPr marL="1282700" lvl="2" indent="-228600" algn="l" defTabSz="914400" eaLnBrk="1" fontAlgn="base" latinLnBrk="0" hangingPunct="1">
              <a:lnSpc>
                <a:spcPct val="100000"/>
              </a:lnSpc>
              <a:spcBef>
                <a:spcPct val="20000"/>
              </a:spcBef>
              <a:spcAft>
                <a:spcPct val="0"/>
              </a:spcAft>
              <a:buClr>
                <a:schemeClr val="accent1"/>
              </a:buClr>
              <a:buChar char="•"/>
              <a:defRPr sz="2400" b="0" i="0" u="none" kern="1200" baseline="0">
                <a:solidFill>
                  <a:schemeClr val="tx1"/>
                </a:solidFill>
                <a:latin typeface="+mn-lt"/>
                <a:ea typeface="+mn-ea"/>
                <a:cs typeface="+mn-cs"/>
              </a:defRPr>
            </a:lvl3pPr>
            <a:lvl4pPr marL="1701800" lvl="3" indent="-228600" algn="l" defTabSz="914400" eaLnBrk="1" fontAlgn="base" latinLnBrk="0" hangingPunct="1">
              <a:lnSpc>
                <a:spcPct val="100000"/>
              </a:lnSpc>
              <a:spcBef>
                <a:spcPct val="20000"/>
              </a:spcBef>
              <a:spcAft>
                <a:spcPct val="0"/>
              </a:spcAft>
              <a:buClr>
                <a:schemeClr val="folHlink"/>
              </a:buClr>
              <a:buChar char="–"/>
              <a:defRPr sz="2000" b="0" i="0" u="none" kern="1200" baseline="0">
                <a:solidFill>
                  <a:schemeClr val="tx1"/>
                </a:solidFill>
                <a:latin typeface="+mn-lt"/>
                <a:ea typeface="+mn-ea"/>
                <a:cs typeface="+mn-cs"/>
              </a:defRPr>
            </a:lvl4pPr>
            <a:lvl5pPr marL="2120900" lvl="4"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9pPr>
          </a:lstStyle>
          <a:p>
            <a:pPr algn="ctr">
              <a:lnSpc>
                <a:spcPct val="110000"/>
              </a:lnSpc>
            </a:pPr>
            <a:r>
              <a:rPr lang="zh-CN" altLang="en-US" sz="2000" dirty="0">
                <a:latin typeface="宋体" panose="02010600030101010101" pitchFamily="2" charset="-122"/>
              </a:rPr>
              <a:t>屏蔽主机体系结构</a:t>
            </a:r>
            <a:r>
              <a:rPr lang="zh-CN" altLang="en-US" sz="2000" dirty="0"/>
              <a:t> </a:t>
            </a:r>
            <a:endParaRPr lang="zh-CN" altLang="en-US" sz="2000" dirty="0"/>
          </a:p>
        </p:txBody>
      </p:sp>
      <p:graphicFrame>
        <p:nvGraphicFramePr>
          <p:cNvPr id="15363" name="对象 225283"/>
          <p:cNvGraphicFramePr/>
          <p:nvPr/>
        </p:nvGraphicFramePr>
        <p:xfrm>
          <a:off x="1043940" y="3033395"/>
          <a:ext cx="6779260" cy="3091815"/>
        </p:xfrm>
        <a:graphic>
          <a:graphicData uri="http://schemas.openxmlformats.org/presentationml/2006/ole">
            <mc:AlternateContent xmlns:mc="http://schemas.openxmlformats.org/markup-compatibility/2006">
              <mc:Choice xmlns:v="urn:schemas-microsoft-com:vml" Requires="v">
                <p:oleObj spid="_x0000_s4141" name="" r:id="rId1" imgW="3738245" imgH="2909570" progId="Visio.Drawing.6">
                  <p:embed/>
                </p:oleObj>
              </mc:Choice>
              <mc:Fallback>
                <p:oleObj name="" r:id="rId1" imgW="3738245" imgH="2909570" progId="Visio.Drawing.6">
                  <p:embed/>
                  <p:pic>
                    <p:nvPicPr>
                      <p:cNvPr id="0" name="图片 3078"/>
                      <p:cNvPicPr/>
                      <p:nvPr/>
                    </p:nvPicPr>
                    <p:blipFill>
                      <a:blip r:embed="rId2"/>
                      <a:stretch>
                        <a:fillRect/>
                      </a:stretch>
                    </p:blipFill>
                    <p:spPr>
                      <a:xfrm>
                        <a:off x="1043940" y="3033395"/>
                        <a:ext cx="6779260" cy="3091815"/>
                      </a:xfrm>
                      <a:prstGeom prst="rect">
                        <a:avLst/>
                      </a:prstGeom>
                      <a:noFill/>
                      <a:ln w="38100">
                        <a:noFill/>
                        <a:miter/>
                      </a:ln>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8.3.3</a:t>
            </a:r>
            <a:r>
              <a:rPr lang="en-US" altLang="zh-CN" sz="2800" b="1" dirty="0" smtClean="0">
                <a:solidFill>
                  <a:srgbClr val="FF0000"/>
                </a:solidFill>
              </a:rPr>
              <a:t> </a:t>
            </a:r>
            <a:r>
              <a:rPr lang="zh-CN" altLang="en-US" sz="2800" b="1" dirty="0" smtClean="0">
                <a:solidFill>
                  <a:srgbClr val="FF0000"/>
                </a:solidFill>
                <a:sym typeface="+mn-ea"/>
              </a:rPr>
              <a:t>屏蔽主机体系结构</a:t>
            </a:r>
            <a:endParaRPr lang="en-US" altLang="zh-CN" sz="2800" b="1" dirty="0" smtClean="0">
              <a:solidFill>
                <a:srgbClr val="FF0000"/>
              </a:solidFill>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这种防火墙的典型构成是包过滤路由器和堡垒主机。包过滤路由器配置在内部网络和外部网络之间，保证外部系统对内部网络的操作只能经过堡垒主机。堡垒主机配置在内部网络上，是外部网络主机连接到内部网络主机的桥梁（如传送进来的电子邮件），它需要拥有高等级的安全。</a:t>
            </a:r>
            <a:endParaRPr lang="zh-CN" altLang="en-US" b="1" noProof="0"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noProof="0" dirty="0">
                <a:solidFill>
                  <a:schemeClr val="tx2"/>
                </a:solidFill>
                <a:latin typeface="宋体" panose="02010600030101010101" pitchFamily="2" charset="-122"/>
                <a:cs typeface="宋体" panose="02010600030101010101" pitchFamily="2" charset="-122"/>
                <a:sym typeface="+mn-ea"/>
              </a:rPr>
              <a:t>过滤路由器也允许堡垒主机开放可允许的连接到外部网络。</a:t>
            </a:r>
            <a:endParaRPr lang="zh-CN" altLang="en-US" b="1" noProof="0"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在该结构中的过滤路由器可按下列方法进行配置：</a:t>
            </a:r>
            <a:endParaRPr lang="zh-CN" altLang="en-US" b="1" noProof="0"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a:t>
            </a:r>
            <a:r>
              <a:rPr lang="en-US" altLang="zh-CN" b="1" noProof="0" dirty="0">
                <a:solidFill>
                  <a:schemeClr val="tx2"/>
                </a:solidFill>
                <a:latin typeface="宋体" panose="02010600030101010101" pitchFamily="2" charset="-122"/>
                <a:cs typeface="宋体" panose="02010600030101010101" pitchFamily="2" charset="-122"/>
                <a:sym typeface="+mn-ea"/>
              </a:rPr>
              <a:t>1</a:t>
            </a:r>
            <a:r>
              <a:rPr lang="zh-CN" altLang="en-US" b="1" noProof="0" dirty="0">
                <a:solidFill>
                  <a:schemeClr val="tx2"/>
                </a:solidFill>
                <a:latin typeface="宋体" panose="02010600030101010101" pitchFamily="2" charset="-122"/>
                <a:cs typeface="宋体" panose="02010600030101010101" pitchFamily="2" charset="-122"/>
                <a:sym typeface="+mn-ea"/>
              </a:rPr>
              <a:t>）允许内部主机为了某些服务请求与外部主机直接相连（即允许那些经过数据包过滤的服务）</a:t>
            </a:r>
            <a:endParaRPr lang="zh-CN" altLang="en-US" b="1" noProof="0"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a:t>
            </a:r>
            <a:r>
              <a:rPr lang="en-US" altLang="zh-CN" b="1" noProof="0" dirty="0">
                <a:solidFill>
                  <a:schemeClr val="tx2"/>
                </a:solidFill>
                <a:latin typeface="宋体" panose="02010600030101010101" pitchFamily="2" charset="-122"/>
                <a:cs typeface="宋体" panose="02010600030101010101" pitchFamily="2" charset="-122"/>
                <a:sym typeface="+mn-ea"/>
              </a:rPr>
              <a:t>2</a:t>
            </a:r>
            <a:r>
              <a:rPr lang="zh-CN" altLang="en-US" b="1" noProof="0" dirty="0">
                <a:solidFill>
                  <a:schemeClr val="tx2"/>
                </a:solidFill>
                <a:latin typeface="宋体" panose="02010600030101010101" pitchFamily="2" charset="-122"/>
                <a:cs typeface="宋体" panose="02010600030101010101" pitchFamily="2" charset="-122"/>
                <a:sym typeface="+mn-ea"/>
              </a:rPr>
              <a:t>）不允许所有来自外部主机的直接连接（强迫那些主机通过堡垒主机使用代理服务）。</a:t>
            </a:r>
            <a:endParaRPr lang="zh-CN" altLang="en-US" b="1" noProof="0"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用户可根据不同的服务混合使用这些手段。</a:t>
            </a:r>
            <a:endParaRPr lang="zh-CN" altLang="en-US" b="1" noProof="0" dirty="0">
              <a:solidFill>
                <a:schemeClr val="tx2"/>
              </a:solidFill>
              <a:latin typeface="宋体" panose="02010600030101010101" pitchFamily="2" charset="-122"/>
              <a:cs typeface="宋体" panose="02010600030101010101" pitchFamily="2" charset="-122"/>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8.3.3</a:t>
            </a:r>
            <a:r>
              <a:rPr lang="en-US" altLang="zh-CN" sz="2800" b="1" dirty="0" smtClean="0">
                <a:solidFill>
                  <a:srgbClr val="FF0000"/>
                </a:solidFill>
              </a:rPr>
              <a:t> </a:t>
            </a:r>
            <a:r>
              <a:rPr lang="zh-CN" altLang="en-US" sz="2800" b="1" dirty="0" smtClean="0">
                <a:solidFill>
                  <a:srgbClr val="FF0000"/>
                </a:solidFill>
                <a:sym typeface="+mn-ea"/>
              </a:rPr>
              <a:t>屏蔽主机体系结构</a:t>
            </a:r>
            <a:endParaRPr lang="en-US" altLang="zh-CN" sz="2800" b="1" dirty="0" smtClean="0">
              <a:solidFill>
                <a:srgbClr val="FF0000"/>
              </a:solidFill>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屏蔽主机体系结构</a:t>
            </a:r>
            <a:r>
              <a:rPr lang="zh-CN" altLang="en-US" b="1" noProof="0" dirty="0">
                <a:solidFill>
                  <a:srgbClr val="FF0000"/>
                </a:solidFill>
                <a:latin typeface="宋体" panose="02010600030101010101" pitchFamily="2" charset="-122"/>
                <a:cs typeface="宋体" panose="02010600030101010101" pitchFamily="2" charset="-122"/>
                <a:sym typeface="+mn-ea"/>
              </a:rPr>
              <a:t>优点</a:t>
            </a:r>
            <a:r>
              <a:rPr lang="zh-CN" altLang="en-US" b="1" noProof="0" dirty="0">
                <a:solidFill>
                  <a:schemeClr val="tx2"/>
                </a:solidFill>
                <a:latin typeface="宋体" panose="02010600030101010101" pitchFamily="2" charset="-122"/>
                <a:cs typeface="宋体" panose="02010600030101010101" pitchFamily="2" charset="-122"/>
                <a:sym typeface="+mn-ea"/>
              </a:rPr>
              <a:t>：安全性更高，双重保护，实现了网络层安全（包过滤）和应用层代理（代理服务）。</a:t>
            </a:r>
            <a:endParaRPr lang="zh-CN" altLang="en-US" b="1" noProof="0"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noProof="0" dirty="0">
                <a:solidFill>
                  <a:srgbClr val="FF0000"/>
                </a:solidFill>
                <a:latin typeface="宋体" panose="02010600030101010101" pitchFamily="2" charset="-122"/>
                <a:cs typeface="宋体" panose="02010600030101010101" pitchFamily="2" charset="-122"/>
                <a:sym typeface="+mn-ea"/>
              </a:rPr>
              <a:t>缺点</a:t>
            </a:r>
            <a:r>
              <a:rPr lang="zh-CN" altLang="en-US" b="1" noProof="0" dirty="0">
                <a:solidFill>
                  <a:schemeClr val="tx2"/>
                </a:solidFill>
                <a:latin typeface="宋体" panose="02010600030101010101" pitchFamily="2" charset="-122"/>
                <a:cs typeface="宋体" panose="02010600030101010101" pitchFamily="2" charset="-122"/>
                <a:sym typeface="+mn-ea"/>
              </a:rPr>
              <a:t>：过滤路由器能否正确配置是安全的关键，如果路由器被损坏，堡垒主机将被穿过，整个网络对入侵者是开放的。</a:t>
            </a:r>
            <a:endParaRPr lang="zh-CN" altLang="en-US" b="1" noProof="0" dirty="0">
              <a:solidFill>
                <a:schemeClr val="tx2"/>
              </a:solidFill>
              <a:latin typeface="宋体" panose="02010600030101010101" pitchFamily="2" charset="-122"/>
              <a:cs typeface="宋体" panose="02010600030101010101" pitchFamily="2" charset="-122"/>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8.3.4</a:t>
            </a:r>
            <a:r>
              <a:rPr lang="en-US" altLang="zh-CN" sz="2800" b="1" dirty="0" smtClean="0">
                <a:solidFill>
                  <a:srgbClr val="FF0000"/>
                </a:solidFill>
              </a:rPr>
              <a:t> </a:t>
            </a:r>
            <a:r>
              <a:rPr lang="zh-CN" altLang="en-US" sz="2800" b="1" dirty="0" smtClean="0">
                <a:solidFill>
                  <a:srgbClr val="FF0000"/>
                </a:solidFill>
                <a:sym typeface="+mn-ea"/>
              </a:rPr>
              <a:t>屏蔽子网体系结构</a:t>
            </a:r>
            <a:endParaRPr lang="en-US" altLang="zh-CN" sz="2800" b="1" dirty="0" smtClean="0">
              <a:solidFill>
                <a:srgbClr val="FF0000"/>
              </a:solidFill>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屏蔽主机体系结构中堡垒主机是非常诱人的攻击目标，是用户网络上最容易受到侵袭的机器，且堡垒主机和内部网络其他主机之间没有其他的防御手段，如果有人侵入了堡垒主机，就毫无阻挡地进入了内部系统。</a:t>
            </a:r>
            <a:endParaRPr lang="zh-CN" altLang="en-US" b="1" noProof="0"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a:solidFill>
                  <a:schemeClr val="tx2"/>
                </a:solidFill>
                <a:latin typeface="宋体" panose="02010600030101010101" pitchFamily="2" charset="-122"/>
                <a:cs typeface="宋体" panose="02010600030101010101" pitchFamily="2" charset="-122"/>
                <a:sym typeface="+mn-ea"/>
              </a:rPr>
              <a:t>屏蔽子网（Screened-subnet）体系结构就是通过增加额外的一层保护体系</a:t>
            </a:r>
            <a:r>
              <a:rPr lang="en-US" altLang="zh-CN" b="1" noProof="0" dirty="0">
                <a:solidFill>
                  <a:schemeClr val="tx2"/>
                </a:solidFill>
                <a:latin typeface="宋体" panose="02010600030101010101" pitchFamily="2" charset="-122"/>
                <a:cs typeface="宋体" panose="02010600030101010101" pitchFamily="2" charset="-122"/>
                <a:sym typeface="+mn-ea"/>
              </a:rPr>
              <a:t>——</a:t>
            </a:r>
            <a:r>
              <a:rPr lang="zh-CN" altLang="en-US" b="1" noProof="0" dirty="0">
                <a:solidFill>
                  <a:schemeClr val="tx2"/>
                </a:solidFill>
                <a:latin typeface="宋体" panose="02010600030101010101" pitchFamily="2" charset="-122"/>
                <a:cs typeface="宋体" panose="02010600030101010101" pitchFamily="2" charset="-122"/>
                <a:sym typeface="+mn-ea"/>
              </a:rPr>
              <a:t>周边网络，通过周边网络隔离堡垒主机，从而减少堡垒主机被侵入后的影响。</a:t>
            </a:r>
            <a:endParaRPr lang="zh-CN" altLang="en-US" b="1" noProof="0" dirty="0">
              <a:solidFill>
                <a:schemeClr val="tx2"/>
              </a:solidFill>
              <a:latin typeface="宋体" panose="02010600030101010101" pitchFamily="2" charset="-122"/>
              <a:cs typeface="宋体" panose="02010600030101010101" pitchFamily="2" charset="-122"/>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8.3.4</a:t>
            </a:r>
            <a:r>
              <a:rPr lang="en-US" altLang="zh-CN" sz="2800" b="1" dirty="0" smtClean="0">
                <a:solidFill>
                  <a:srgbClr val="FF0000"/>
                </a:solidFill>
              </a:rPr>
              <a:t> </a:t>
            </a:r>
            <a:r>
              <a:rPr lang="zh-CN" altLang="en-US" sz="2800" b="1" dirty="0" smtClean="0">
                <a:solidFill>
                  <a:srgbClr val="FF0000"/>
                </a:solidFill>
                <a:sym typeface="+mn-ea"/>
              </a:rPr>
              <a:t>屏蔽子网体系结构</a:t>
            </a:r>
            <a:endParaRPr lang="en-US" altLang="zh-CN" sz="2800" b="1" dirty="0" smtClean="0">
              <a:solidFill>
                <a:srgbClr val="FF0000"/>
              </a:solidFill>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endParaRPr lang="zh-CN" altLang="en-US" b="1" noProof="0" dirty="0">
              <a:solidFill>
                <a:schemeClr val="tx2"/>
              </a:solidFill>
              <a:latin typeface="宋体" panose="02010600030101010101" pitchFamily="2" charset="-122"/>
              <a:cs typeface="宋体" panose="02010600030101010101" pitchFamily="2" charset="-122"/>
              <a:sym typeface="+mn-ea"/>
            </a:endParaRPr>
          </a:p>
        </p:txBody>
      </p:sp>
      <p:graphicFrame>
        <p:nvGraphicFramePr>
          <p:cNvPr id="16387" name="对象 226307"/>
          <p:cNvGraphicFramePr/>
          <p:nvPr/>
        </p:nvGraphicFramePr>
        <p:xfrm>
          <a:off x="1043940" y="1988820"/>
          <a:ext cx="7238365" cy="4125595"/>
        </p:xfrm>
        <a:graphic>
          <a:graphicData uri="http://schemas.openxmlformats.org/presentationml/2006/ole">
            <mc:AlternateContent xmlns:mc="http://schemas.openxmlformats.org/markup-compatibility/2006">
              <mc:Choice xmlns:v="urn:schemas-microsoft-com:vml" Requires="v">
                <p:oleObj spid="_x0000_s5165" name="" r:id="rId1" imgW="2108200" imgH="1797050" progId="Visio.Drawing.6">
                  <p:embed/>
                </p:oleObj>
              </mc:Choice>
              <mc:Fallback>
                <p:oleObj name="" r:id="rId1" imgW="2108200" imgH="1797050" progId="Visio.Drawing.6">
                  <p:embed/>
                  <p:pic>
                    <p:nvPicPr>
                      <p:cNvPr id="0" name="图片 3080"/>
                      <p:cNvPicPr/>
                      <p:nvPr/>
                    </p:nvPicPr>
                    <p:blipFill>
                      <a:blip r:embed="rId2"/>
                      <a:stretch>
                        <a:fillRect/>
                      </a:stretch>
                    </p:blipFill>
                    <p:spPr>
                      <a:xfrm>
                        <a:off x="1043940" y="1988820"/>
                        <a:ext cx="7238365" cy="4125595"/>
                      </a:xfrm>
                      <a:prstGeom prst="rect">
                        <a:avLst/>
                      </a:prstGeom>
                      <a:noFill/>
                      <a:ln w="38100">
                        <a:noFill/>
                        <a:miter/>
                      </a:ln>
                    </p:spPr>
                  </p:pic>
                </p:oleObj>
              </mc:Fallback>
            </mc:AlternateContent>
          </a:graphicData>
        </a:graphic>
      </p:graphicFrame>
      <p:sp>
        <p:nvSpPr>
          <p:cNvPr id="15361" name="文本占位符 225282"/>
          <p:cNvSpPr>
            <a:spLocks noGrp="1"/>
          </p:cNvSpPr>
          <p:nvPr/>
        </p:nvSpPr>
        <p:spPr>
          <a:xfrm>
            <a:off x="676275" y="6165215"/>
            <a:ext cx="7772400" cy="457200"/>
          </a:xfrm>
          <a:prstGeom prst="rect">
            <a:avLst/>
          </a:prstGeom>
          <a:noFill/>
          <a:ln w="9525">
            <a:noFill/>
          </a:ln>
        </p:spPr>
        <p:txBody>
          <a:bodyPr anchor="t" anchorCtr="0"/>
          <a:lstStyle>
            <a:lvl1pPr marL="0" lvl="0" indent="0" algn="l" defTabSz="914400" eaLnBrk="1" fontAlgn="base" latinLnBrk="0" hangingPunct="1">
              <a:lnSpc>
                <a:spcPct val="120000"/>
              </a:lnSpc>
              <a:spcBef>
                <a:spcPct val="20000"/>
              </a:spcBef>
              <a:spcAft>
                <a:spcPct val="0"/>
              </a:spcAft>
              <a:buClr>
                <a:schemeClr val="accent1"/>
              </a:buClr>
              <a:buNone/>
              <a:defRPr sz="2800" b="1" i="0" u="none" kern="1200" baseline="0">
                <a:solidFill>
                  <a:srgbClr val="080808"/>
                </a:solidFill>
                <a:latin typeface="+mn-lt"/>
                <a:ea typeface="+mn-ea"/>
                <a:cs typeface="+mn-cs"/>
              </a:defRPr>
            </a:lvl1pPr>
            <a:lvl2pPr marL="863600" lvl="1" indent="-285750" algn="l" defTabSz="914400" eaLnBrk="1" fontAlgn="base" latinLnBrk="0" hangingPunct="1">
              <a:lnSpc>
                <a:spcPct val="100000"/>
              </a:lnSpc>
              <a:spcBef>
                <a:spcPct val="20000"/>
              </a:spcBef>
              <a:spcAft>
                <a:spcPct val="0"/>
              </a:spcAft>
              <a:buClr>
                <a:schemeClr val="hlink"/>
              </a:buClr>
              <a:buChar char="–"/>
              <a:defRPr sz="2400" b="0" i="0" u="none" kern="1200" baseline="0">
                <a:solidFill>
                  <a:schemeClr val="tx1"/>
                </a:solidFill>
                <a:latin typeface="+mn-lt"/>
                <a:ea typeface="+mn-ea"/>
                <a:cs typeface="+mn-cs"/>
              </a:defRPr>
            </a:lvl2pPr>
            <a:lvl3pPr marL="1282700" lvl="2" indent="-228600" algn="l" defTabSz="914400" eaLnBrk="1" fontAlgn="base" latinLnBrk="0" hangingPunct="1">
              <a:lnSpc>
                <a:spcPct val="100000"/>
              </a:lnSpc>
              <a:spcBef>
                <a:spcPct val="20000"/>
              </a:spcBef>
              <a:spcAft>
                <a:spcPct val="0"/>
              </a:spcAft>
              <a:buClr>
                <a:schemeClr val="accent1"/>
              </a:buClr>
              <a:buChar char="•"/>
              <a:defRPr sz="2400" b="0" i="0" u="none" kern="1200" baseline="0">
                <a:solidFill>
                  <a:schemeClr val="tx1"/>
                </a:solidFill>
                <a:latin typeface="+mn-lt"/>
                <a:ea typeface="+mn-ea"/>
                <a:cs typeface="+mn-cs"/>
              </a:defRPr>
            </a:lvl3pPr>
            <a:lvl4pPr marL="1701800" lvl="3" indent="-228600" algn="l" defTabSz="914400" eaLnBrk="1" fontAlgn="base" latinLnBrk="0" hangingPunct="1">
              <a:lnSpc>
                <a:spcPct val="100000"/>
              </a:lnSpc>
              <a:spcBef>
                <a:spcPct val="20000"/>
              </a:spcBef>
              <a:spcAft>
                <a:spcPct val="0"/>
              </a:spcAft>
              <a:buClr>
                <a:schemeClr val="folHlink"/>
              </a:buClr>
              <a:buChar char="–"/>
              <a:defRPr sz="2000" b="0" i="0" u="none" kern="1200" baseline="0">
                <a:solidFill>
                  <a:schemeClr val="tx1"/>
                </a:solidFill>
                <a:latin typeface="+mn-lt"/>
                <a:ea typeface="+mn-ea"/>
                <a:cs typeface="+mn-cs"/>
              </a:defRPr>
            </a:lvl4pPr>
            <a:lvl5pPr marL="2120900" lvl="4"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Char char="»"/>
              <a:defRPr sz="2000" b="0" i="0" u="none" kern="1200" baseline="0">
                <a:solidFill>
                  <a:schemeClr val="tx1"/>
                </a:solidFill>
                <a:latin typeface="+mn-lt"/>
                <a:ea typeface="+mn-ea"/>
                <a:cs typeface="+mn-cs"/>
              </a:defRPr>
            </a:lvl9pPr>
          </a:lstStyle>
          <a:p>
            <a:pPr algn="ctr">
              <a:lnSpc>
                <a:spcPct val="110000"/>
              </a:lnSpc>
            </a:pPr>
            <a:r>
              <a:rPr lang="zh-CN" altLang="en-US" sz="2000" dirty="0">
                <a:latin typeface="宋体" panose="02010600030101010101" pitchFamily="2" charset="-122"/>
              </a:rPr>
              <a:t>屏蔽主机体系结构</a:t>
            </a:r>
            <a:r>
              <a:rPr lang="zh-CN" altLang="en-US" sz="2000" dirty="0"/>
              <a:t> </a:t>
            </a:r>
            <a:endParaRPr lang="zh-CN" alt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8.3.4</a:t>
            </a:r>
            <a:r>
              <a:rPr lang="en-US" altLang="zh-CN" sz="2800" b="1" dirty="0" smtClean="0">
                <a:solidFill>
                  <a:srgbClr val="FF0000"/>
                </a:solidFill>
              </a:rPr>
              <a:t> </a:t>
            </a:r>
            <a:r>
              <a:rPr lang="zh-CN" altLang="en-US" sz="2800" b="1" dirty="0" smtClean="0">
                <a:solidFill>
                  <a:srgbClr val="FF0000"/>
                </a:solidFill>
                <a:sym typeface="+mn-ea"/>
              </a:rPr>
              <a:t>屏蔽子网体系结构</a:t>
            </a:r>
            <a:endParaRPr lang="en-US" altLang="zh-CN" sz="2800" b="1" dirty="0" smtClean="0">
              <a:solidFill>
                <a:srgbClr val="FF0000"/>
              </a:solidFill>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sz="2800" b="1" dirty="0">
                <a:solidFill>
                  <a:srgbClr val="FF0000"/>
                </a:solidFill>
                <a:latin typeface="宋体" panose="02010600030101010101" pitchFamily="2" charset="-122"/>
                <a:sym typeface="+mn-ea"/>
              </a:rPr>
              <a:t>周边网络</a:t>
            </a:r>
            <a:r>
              <a:rPr lang="zh-CN" altLang="en-US" sz="2800" b="1" dirty="0">
                <a:solidFill>
                  <a:schemeClr val="tx2"/>
                </a:solidFill>
                <a:latin typeface="宋体" panose="02010600030101010101" pitchFamily="2" charset="-122"/>
                <a:sym typeface="+mn-ea"/>
              </a:rPr>
              <a:t>是一个防护层,是在外部网络与被保护的内部网络之间的附加网络,提供一个附加的保护层防止内部信息流的暴露</a:t>
            </a:r>
            <a:r>
              <a:rPr lang="zh-CN" altLang="en-US" sz="2800" b="1" dirty="0">
                <a:solidFill>
                  <a:schemeClr val="tx2"/>
                </a:solidFill>
                <a:sym typeface="+mn-ea"/>
              </a:rPr>
              <a:t> 。比如如果某人侵入周边网络上的堡垒主机，他仅能侦听到周边网络上的通信，所有周边网络上的通信仅通过周边网络来源于外部网络或堡垒主机，所以即使堡垒主机被损坏，内部的通信也将是安全的。</a:t>
            </a:r>
            <a:endParaRPr lang="zh-CN" altLang="en-US" sz="2800" b="1" dirty="0">
              <a:solidFill>
                <a:schemeClr val="tx2"/>
              </a:solidFill>
              <a:sym typeface="+mn-ea"/>
            </a:endParaRPr>
          </a:p>
          <a:p>
            <a:pPr>
              <a:spcBef>
                <a:spcPct val="20000"/>
              </a:spcBef>
            </a:pPr>
            <a:r>
              <a:rPr lang="zh-CN" altLang="en-US" sz="2800" b="1" noProof="0" dirty="0">
                <a:solidFill>
                  <a:schemeClr val="tx2"/>
                </a:solidFill>
                <a:latin typeface="宋体" panose="02010600030101010101" pitchFamily="2" charset="-122"/>
                <a:cs typeface="宋体" panose="02010600030101010101" pitchFamily="2" charset="-122"/>
                <a:sym typeface="+mn-ea"/>
              </a:rPr>
              <a:t>周边网络上也可以放置一些公开的信息服务器，它们是可牺牲主机，可能会受到攻击，因此又被称作</a:t>
            </a:r>
            <a:r>
              <a:rPr lang="en-US" altLang="zh-CN" sz="2800" b="1" noProof="0" dirty="0">
                <a:solidFill>
                  <a:schemeClr val="tx2"/>
                </a:solidFill>
                <a:latin typeface="宋体" panose="02010600030101010101" pitchFamily="2" charset="-122"/>
                <a:cs typeface="宋体" panose="02010600030101010101" pitchFamily="2" charset="-122"/>
                <a:sym typeface="+mn-ea"/>
              </a:rPr>
              <a:t>DMZ</a:t>
            </a:r>
            <a:r>
              <a:rPr lang="zh-CN" altLang="en-US" sz="2800" b="1" noProof="0" dirty="0">
                <a:solidFill>
                  <a:schemeClr val="tx2"/>
                </a:solidFill>
                <a:latin typeface="宋体" panose="02010600030101010101" pitchFamily="2" charset="-122"/>
                <a:cs typeface="宋体" panose="02010600030101010101" pitchFamily="2" charset="-122"/>
                <a:sym typeface="+mn-ea"/>
              </a:rPr>
              <a:t>（</a:t>
            </a:r>
            <a:r>
              <a:rPr lang="en-US" altLang="zh-CN" sz="2800" b="1" noProof="0" dirty="0">
                <a:solidFill>
                  <a:schemeClr val="tx2"/>
                </a:solidFill>
                <a:latin typeface="宋体" panose="02010600030101010101" pitchFamily="2" charset="-122"/>
                <a:cs typeface="宋体" panose="02010600030101010101" pitchFamily="2" charset="-122"/>
                <a:sym typeface="+mn-ea"/>
              </a:rPr>
              <a:t>Demilitary Zone</a:t>
            </a:r>
            <a:r>
              <a:rPr lang="zh-CN" altLang="en-US" sz="2800" b="1" noProof="0" dirty="0">
                <a:solidFill>
                  <a:schemeClr val="tx2"/>
                </a:solidFill>
                <a:latin typeface="宋体" panose="02010600030101010101" pitchFamily="2" charset="-122"/>
                <a:cs typeface="宋体" panose="02010600030101010101" pitchFamily="2" charset="-122"/>
                <a:sym typeface="+mn-ea"/>
              </a:rPr>
              <a:t>）。</a:t>
            </a:r>
            <a:endParaRPr lang="en-US" altLang="zh-CN" sz="2800" b="1" noProof="0" dirty="0">
              <a:solidFill>
                <a:schemeClr val="tx2"/>
              </a:solidFill>
              <a:latin typeface="宋体" panose="02010600030101010101" pitchFamily="2" charset="-122"/>
              <a:cs typeface="宋体" panose="02010600030101010101" pitchFamily="2" charset="-122"/>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8.3.4</a:t>
            </a:r>
            <a:r>
              <a:rPr lang="en-US" altLang="zh-CN" sz="2800" b="1" dirty="0" smtClean="0">
                <a:solidFill>
                  <a:srgbClr val="FF0000"/>
                </a:solidFill>
              </a:rPr>
              <a:t> </a:t>
            </a:r>
            <a:r>
              <a:rPr lang="zh-CN" altLang="en-US" sz="2800" b="1" dirty="0" smtClean="0">
                <a:solidFill>
                  <a:srgbClr val="FF0000"/>
                </a:solidFill>
                <a:sym typeface="+mn-ea"/>
              </a:rPr>
              <a:t>屏蔽子网体系结构</a:t>
            </a:r>
            <a:endParaRPr lang="en-US" altLang="zh-CN" sz="2800" b="1" dirty="0" smtClean="0">
              <a:solidFill>
                <a:srgbClr val="FF0000"/>
              </a:solidFill>
            </a:endParaRPr>
          </a:p>
          <a:p>
            <a:pPr algn="just">
              <a:lnSpc>
                <a:spcPct val="110000"/>
              </a:lnSpc>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sz="2800" b="1" dirty="0">
                <a:solidFill>
                  <a:srgbClr val="FF0000"/>
                </a:solidFill>
                <a:latin typeface="宋体" panose="02010600030101010101" pitchFamily="2" charset="-122"/>
                <a:sym typeface="+mn-ea"/>
              </a:rPr>
              <a:t>堡垒主机</a:t>
            </a:r>
            <a:r>
              <a:rPr lang="zh-CN" altLang="en-US" sz="2800" b="1" dirty="0">
                <a:solidFill>
                  <a:schemeClr val="tx2"/>
                </a:solidFill>
                <a:latin typeface="宋体" panose="02010600030101010101" pitchFamily="2" charset="-122"/>
                <a:sym typeface="+mn-ea"/>
              </a:rPr>
              <a:t>是整个防御体系的核心。堡垒主机可被认为是应用层网关，可以运行各种代理服务程序。比如接收外来的电子邮件（</a:t>
            </a:r>
            <a:r>
              <a:rPr lang="en-US" altLang="zh-CN" sz="2800" b="1" dirty="0">
                <a:solidFill>
                  <a:schemeClr val="tx2"/>
                </a:solidFill>
                <a:ea typeface="Arial Unicode MS" pitchFamily="34" charset="-122"/>
                <a:sym typeface="+mn-ea"/>
              </a:rPr>
              <a:t>SMTP</a:t>
            </a:r>
            <a:r>
              <a:rPr lang="en-US" altLang="zh-CN" sz="2800" b="1" dirty="0">
                <a:solidFill>
                  <a:schemeClr val="tx2"/>
                </a:solidFill>
                <a:latin typeface="宋体" panose="02010600030101010101" pitchFamily="2" charset="-122"/>
                <a:sym typeface="+mn-ea"/>
              </a:rPr>
              <a:t>），</a:t>
            </a:r>
            <a:r>
              <a:rPr lang="zh-CN" altLang="en-US" sz="2800" b="1" dirty="0">
                <a:solidFill>
                  <a:schemeClr val="tx2"/>
                </a:solidFill>
                <a:latin typeface="宋体" panose="02010600030101010101" pitchFamily="2" charset="-122"/>
                <a:sym typeface="+mn-ea"/>
              </a:rPr>
              <a:t>再分发给相应的站点；接收外来的</a:t>
            </a:r>
            <a:r>
              <a:rPr lang="en-US" altLang="zh-CN" sz="2800" b="1" dirty="0">
                <a:solidFill>
                  <a:schemeClr val="tx2"/>
                </a:solidFill>
                <a:ea typeface="Arial Unicode MS" pitchFamily="34" charset="-122"/>
                <a:sym typeface="+mn-ea"/>
              </a:rPr>
              <a:t>FTP</a:t>
            </a:r>
            <a:r>
              <a:rPr lang="zh-CN" altLang="en-US" sz="2800" b="1" dirty="0">
                <a:solidFill>
                  <a:schemeClr val="tx2"/>
                </a:solidFill>
                <a:latin typeface="宋体" panose="02010600030101010101" pitchFamily="2" charset="-122"/>
                <a:sym typeface="+mn-ea"/>
              </a:rPr>
              <a:t>连接，再转接到内部网的匿名</a:t>
            </a:r>
            <a:r>
              <a:rPr lang="en-US" altLang="zh-CN" sz="2800" b="1" dirty="0">
                <a:solidFill>
                  <a:schemeClr val="tx2"/>
                </a:solidFill>
                <a:ea typeface="Arial Unicode MS" pitchFamily="34" charset="-122"/>
                <a:sym typeface="+mn-ea"/>
              </a:rPr>
              <a:t>FTP</a:t>
            </a:r>
            <a:r>
              <a:rPr lang="zh-CN" altLang="en-US" sz="2800" b="1" dirty="0">
                <a:solidFill>
                  <a:schemeClr val="tx2"/>
                </a:solidFill>
                <a:latin typeface="宋体" panose="02010600030101010101" pitchFamily="2" charset="-122"/>
                <a:sym typeface="+mn-ea"/>
              </a:rPr>
              <a:t>服务器；接收外来的对有关内部网站点的域名服务（</a:t>
            </a:r>
            <a:r>
              <a:rPr lang="en-US" altLang="zh-CN" sz="2800" b="1" dirty="0">
                <a:solidFill>
                  <a:schemeClr val="tx2"/>
                </a:solidFill>
                <a:ea typeface="Arial Unicode MS" pitchFamily="34" charset="-122"/>
                <a:sym typeface="+mn-ea"/>
              </a:rPr>
              <a:t>DNS</a:t>
            </a:r>
            <a:r>
              <a:rPr lang="en-US" altLang="zh-CN" sz="2800" b="1" dirty="0">
                <a:solidFill>
                  <a:schemeClr val="tx2"/>
                </a:solidFill>
                <a:latin typeface="宋体" panose="02010600030101010101" pitchFamily="2" charset="-122"/>
                <a:sym typeface="+mn-ea"/>
              </a:rPr>
              <a:t>）</a:t>
            </a:r>
            <a:r>
              <a:rPr lang="zh-CN" altLang="en-US" sz="2800" b="1" dirty="0">
                <a:solidFill>
                  <a:schemeClr val="tx2"/>
                </a:solidFill>
                <a:latin typeface="宋体" panose="02010600030101010101" pitchFamily="2" charset="-122"/>
                <a:sym typeface="+mn-ea"/>
              </a:rPr>
              <a:t>查询。</a:t>
            </a:r>
            <a:endParaRPr lang="zh-CN" altLang="en-US" sz="2800" b="1" dirty="0">
              <a:solidFill>
                <a:schemeClr val="tx2"/>
              </a:solidFill>
              <a:latin typeface="宋体" panose="02010600030101010101" pitchFamily="2" charset="-122"/>
              <a:sym typeface="+mn-ea"/>
            </a:endParaRPr>
          </a:p>
          <a:p>
            <a:pPr algn="just">
              <a:lnSpc>
                <a:spcPct val="110000"/>
              </a:lnSpc>
            </a:pPr>
            <a:r>
              <a:rPr lang="en-US" altLang="zh-CN" sz="2800" b="1" dirty="0">
                <a:solidFill>
                  <a:schemeClr val="tx2"/>
                </a:solidFill>
                <a:latin typeface="宋体" panose="02010600030101010101" pitchFamily="2" charset="-122"/>
                <a:sym typeface="+mn-ea"/>
              </a:rPr>
              <a:t>	</a:t>
            </a:r>
            <a:r>
              <a:rPr lang="zh-CN" altLang="en-US" sz="2800" b="1" dirty="0">
                <a:solidFill>
                  <a:schemeClr val="tx2"/>
                </a:solidFill>
                <a:latin typeface="宋体" panose="02010600030101010101" pitchFamily="2" charset="-122"/>
                <a:sym typeface="+mn-ea"/>
              </a:rPr>
              <a:t>对于出站服务不一定要求所有的服务都经过堡垒主机的代理，但对于入站服务一般应要求所有服务都通过堡垒主机。</a:t>
            </a:r>
            <a:endParaRPr lang="zh-CN" altLang="en-US" sz="2800" b="1" dirty="0">
              <a:solidFill>
                <a:schemeClr val="tx2"/>
              </a:solidFill>
            </a:endParaRPr>
          </a:p>
          <a:p>
            <a:pPr>
              <a:spcBef>
                <a:spcPct val="20000"/>
              </a:spcBef>
            </a:pPr>
            <a:endParaRPr lang="zh-CN" altLang="en-US" sz="2800" b="1" noProof="0" dirty="0">
              <a:solidFill>
                <a:schemeClr val="tx2"/>
              </a:solidFill>
              <a:latin typeface="宋体" panose="02010600030101010101" pitchFamily="2" charset="-122"/>
              <a:cs typeface="宋体" panose="02010600030101010101" pitchFamily="2" charset="-122"/>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8.3.4</a:t>
            </a:r>
            <a:r>
              <a:rPr lang="en-US" altLang="zh-CN" sz="2800" b="1" dirty="0" smtClean="0">
                <a:solidFill>
                  <a:srgbClr val="FF0000"/>
                </a:solidFill>
              </a:rPr>
              <a:t> </a:t>
            </a:r>
            <a:r>
              <a:rPr lang="zh-CN" altLang="en-US" sz="2800" b="1" dirty="0" smtClean="0">
                <a:solidFill>
                  <a:srgbClr val="FF0000"/>
                </a:solidFill>
                <a:sym typeface="+mn-ea"/>
              </a:rPr>
              <a:t>屏蔽子网体系结构</a:t>
            </a:r>
            <a:endParaRPr lang="en-US" altLang="zh-CN" sz="2800" b="1" dirty="0" smtClean="0">
              <a:solidFill>
                <a:srgbClr val="FF0000"/>
              </a:solidFill>
            </a:endParaRPr>
          </a:p>
          <a:p>
            <a:pPr algn="just">
              <a:lnSpc>
                <a:spcPct val="110000"/>
              </a:lnSpc>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dirty="0">
                <a:solidFill>
                  <a:srgbClr val="FF0000"/>
                </a:solidFill>
                <a:latin typeface="宋体" panose="02010600030101010101" pitchFamily="2" charset="-122"/>
                <a:sym typeface="+mn-ea"/>
              </a:rPr>
              <a:t>外部路由器（访问路由器）</a:t>
            </a:r>
            <a:r>
              <a:rPr lang="zh-CN" altLang="en-US" b="1" dirty="0">
                <a:solidFill>
                  <a:schemeClr val="tx2"/>
                </a:solidFill>
                <a:latin typeface="宋体" panose="02010600030101010101" pitchFamily="2" charset="-122"/>
                <a:sym typeface="+mn-ea"/>
              </a:rPr>
              <a:t>作用主要是保护周边网络和内部网络使之免受来自外部网络的侵犯。实际上，外部路由器倾向于让所有的外出请求通过，通常只执行非常少的数据包过滤。保护内部计算机的数据包过滤规则在内部路由器上和外部路由器上基本是一样的。</a:t>
            </a:r>
            <a:endParaRPr lang="zh-CN" altLang="en-US" b="1" dirty="0">
              <a:solidFill>
                <a:schemeClr val="tx2"/>
              </a:solidFill>
              <a:latin typeface="宋体" panose="02010600030101010101" pitchFamily="2" charset="-122"/>
              <a:sym typeface="+mn-ea"/>
            </a:endParaRPr>
          </a:p>
          <a:p>
            <a:pPr algn="just">
              <a:lnSpc>
                <a:spcPct val="110000"/>
              </a:lnSpc>
            </a:pPr>
            <a:r>
              <a:rPr lang="en-US" altLang="zh-CN" b="1" dirty="0">
                <a:solidFill>
                  <a:schemeClr val="tx2"/>
                </a:solidFill>
                <a:latin typeface="宋体" panose="02010600030101010101" pitchFamily="2" charset="-122"/>
                <a:sym typeface="+mn-ea"/>
              </a:rPr>
              <a:t>	</a:t>
            </a:r>
            <a:r>
              <a:rPr lang="zh-CN" altLang="en-US" b="1" dirty="0">
                <a:solidFill>
                  <a:schemeClr val="tx2"/>
                </a:solidFill>
                <a:latin typeface="宋体" panose="02010600030101010101" pitchFamily="2" charset="-122"/>
                <a:sym typeface="+mn-ea"/>
              </a:rPr>
              <a:t>有时外部路由器由</a:t>
            </a:r>
            <a:r>
              <a:rPr lang="en-US" altLang="zh-CN" b="1" dirty="0">
                <a:solidFill>
                  <a:schemeClr val="tx2"/>
                </a:solidFill>
                <a:latin typeface="宋体" panose="02010600030101010101" pitchFamily="2" charset="-122"/>
                <a:sym typeface="+mn-ea"/>
              </a:rPr>
              <a:t>ISP</a:t>
            </a:r>
            <a:r>
              <a:rPr lang="zh-CN" altLang="en-US" b="1" dirty="0">
                <a:solidFill>
                  <a:schemeClr val="tx2"/>
                </a:solidFill>
                <a:latin typeface="宋体" panose="02010600030101010101" pitchFamily="2" charset="-122"/>
                <a:sym typeface="+mn-ea"/>
              </a:rPr>
              <a:t>提供，所以用户对外部路由器的访问是受限的，</a:t>
            </a:r>
            <a:r>
              <a:rPr lang="en-US" altLang="zh-CN" b="1" dirty="0">
                <a:solidFill>
                  <a:schemeClr val="tx2"/>
                </a:solidFill>
                <a:latin typeface="宋体" panose="02010600030101010101" pitchFamily="2" charset="-122"/>
                <a:sym typeface="+mn-ea"/>
              </a:rPr>
              <a:t>ISP</a:t>
            </a:r>
            <a:r>
              <a:rPr lang="zh-CN" altLang="en-US" b="1" dirty="0">
                <a:solidFill>
                  <a:schemeClr val="tx2"/>
                </a:solidFill>
                <a:latin typeface="宋体" panose="02010600030101010101" pitchFamily="2" charset="-122"/>
                <a:sym typeface="+mn-ea"/>
              </a:rPr>
              <a:t>更愿意放入一些通用型的数据包过滤规则来维护路由器。因此，对于安全保障而言，不能像依靠内部路由器那样依靠外部路由器。</a:t>
            </a:r>
            <a:endParaRPr lang="zh-CN" altLang="en-US" b="1" dirty="0">
              <a:solidFill>
                <a:schemeClr val="tx2"/>
              </a:solidFill>
              <a:ea typeface="Arial Unicode MS" pitchFamily="34" charset="-122"/>
            </a:endParaRPr>
          </a:p>
          <a:p>
            <a:pPr algn="just">
              <a:lnSpc>
                <a:spcPct val="110000"/>
              </a:lnSpc>
            </a:pPr>
            <a:endParaRPr lang="zh-CN" altLang="en-US"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8.3.4</a:t>
            </a:r>
            <a:r>
              <a:rPr lang="en-US" altLang="zh-CN" sz="2800" b="1" dirty="0" smtClean="0">
                <a:solidFill>
                  <a:srgbClr val="FF0000"/>
                </a:solidFill>
              </a:rPr>
              <a:t> </a:t>
            </a:r>
            <a:r>
              <a:rPr lang="zh-CN" altLang="en-US" sz="2800" b="1" dirty="0" smtClean="0">
                <a:solidFill>
                  <a:srgbClr val="FF0000"/>
                </a:solidFill>
                <a:sym typeface="+mn-ea"/>
              </a:rPr>
              <a:t>屏蔽子网体系结构</a:t>
            </a:r>
            <a:endParaRPr lang="en-US" altLang="zh-CN" sz="2800" b="1" dirty="0" smtClean="0">
              <a:solidFill>
                <a:srgbClr val="FF0000"/>
              </a:solidFill>
            </a:endParaRPr>
          </a:p>
          <a:p>
            <a:pPr algn="just">
              <a:lnSpc>
                <a:spcPct val="110000"/>
              </a:lnSpc>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sz="2800" b="1" dirty="0">
                <a:solidFill>
                  <a:srgbClr val="FF0000"/>
                </a:solidFill>
                <a:latin typeface="宋体" panose="02010600030101010101" pitchFamily="2" charset="-122"/>
                <a:sym typeface="+mn-ea"/>
              </a:rPr>
              <a:t>内部路由器（阻塞路由器）</a:t>
            </a:r>
            <a:r>
              <a:rPr lang="zh-CN" altLang="en-US" sz="2800" b="1" dirty="0">
                <a:solidFill>
                  <a:schemeClr val="tx2"/>
                </a:solidFill>
                <a:latin typeface="宋体" panose="02010600030101010101" pitchFamily="2" charset="-122"/>
                <a:sym typeface="+mn-ea"/>
              </a:rPr>
              <a:t>主要作用是保护内部网络不受外部网络和周边网络的侵害，它执行大部分的过滤工作。它允许从内部网到外部网有选择的外连服务，这些服务根据内部网络的需要和安全规则选定。</a:t>
            </a:r>
            <a:endParaRPr lang="zh-CN" altLang="en-US" sz="2800" b="1" dirty="0">
              <a:solidFill>
                <a:schemeClr val="tx2"/>
              </a:solidFill>
              <a:latin typeface="宋体" panose="02010600030101010101" pitchFamily="2" charset="-122"/>
              <a:sym typeface="+mn-ea"/>
            </a:endParaRPr>
          </a:p>
          <a:p>
            <a:pPr algn="just">
              <a:lnSpc>
                <a:spcPct val="110000"/>
              </a:lnSpc>
            </a:pPr>
            <a:r>
              <a:rPr lang="en-US" altLang="zh-CN" sz="2800" b="1" dirty="0">
                <a:solidFill>
                  <a:schemeClr val="tx2"/>
                </a:solidFill>
                <a:latin typeface="宋体" panose="02010600030101010101" pitchFamily="2" charset="-122"/>
                <a:sym typeface="+mn-ea"/>
              </a:rPr>
              <a:t>	</a:t>
            </a:r>
            <a:r>
              <a:rPr lang="zh-CN" altLang="en-US" sz="2800" b="1" dirty="0">
                <a:solidFill>
                  <a:schemeClr val="tx2"/>
                </a:solidFill>
                <a:latin typeface="宋体" panose="02010600030101010101" pitchFamily="2" charset="-122"/>
                <a:sym typeface="+mn-ea"/>
              </a:rPr>
              <a:t>内部路由器可以设定，使周边网络上的堡垒主机和内部网之间传递的各种服务不同于内部网和外部网之间传递的各种服务。限制堡垒主机和内部网之间的服务的理由是减少在堡垒主机被入侵后而受到侵袭的内部主机的数量。</a:t>
            </a:r>
            <a:endParaRPr lang="zh-CN" altLang="en-US" sz="2800" b="1" dirty="0">
              <a:solidFill>
                <a:schemeClr val="tx2"/>
              </a:solidFill>
              <a:latin typeface="宋体" panose="02010600030101010101" pitchFamily="2" charset="-122"/>
              <a:sym typeface="+mn-ea"/>
            </a:endParaRPr>
          </a:p>
          <a:p>
            <a:pPr algn="just">
              <a:lnSpc>
                <a:spcPct val="110000"/>
              </a:lnSpc>
            </a:pPr>
            <a:r>
              <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8.3 </a:t>
            </a:r>
            <a:r>
              <a:rPr lang="zh-CN" altLang="en-US" sz="3600" b="1" dirty="0">
                <a:solidFill>
                  <a:schemeClr val="bg1"/>
                </a:solidFill>
                <a:latin typeface="Verdana" panose="020B0604030504040204" pitchFamily="34" charset="0"/>
              </a:rPr>
              <a:t>防火墙</a:t>
            </a:r>
            <a:r>
              <a:rPr lang="zh-CN" altLang="en-US" sz="3600" b="1" dirty="0" smtClean="0">
                <a:solidFill>
                  <a:schemeClr val="bg1"/>
                </a:solidFill>
                <a:latin typeface="Verdana" panose="020B0604030504040204" pitchFamily="34" charset="0"/>
              </a:rPr>
              <a:t>的体系结构</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8.3.5</a:t>
            </a:r>
            <a:r>
              <a:rPr lang="en-US" altLang="zh-CN" sz="2800" b="1" dirty="0" smtClean="0">
                <a:solidFill>
                  <a:srgbClr val="FF0000"/>
                </a:solidFill>
              </a:rPr>
              <a:t> </a:t>
            </a:r>
            <a:r>
              <a:rPr lang="zh-CN" altLang="en-US" sz="2800" b="1" dirty="0" smtClean="0">
                <a:solidFill>
                  <a:srgbClr val="FF0000"/>
                </a:solidFill>
                <a:sym typeface="+mn-ea"/>
              </a:rPr>
              <a:t>组合形式</a:t>
            </a:r>
            <a:endParaRPr lang="zh-CN" altLang="en-US" sz="2800" b="1" dirty="0" smtClean="0">
              <a:solidFill>
                <a:srgbClr val="FF0000"/>
              </a:solidFill>
              <a:sym typeface="+mn-ea"/>
            </a:endParaRPr>
          </a:p>
          <a:p>
            <a:pPr>
              <a:spcBef>
                <a:spcPct val="20000"/>
              </a:spcBef>
            </a:pPr>
            <a:r>
              <a:rPr lang="zh-CN" altLang="en-US" b="1" dirty="0" smtClean="0">
                <a:solidFill>
                  <a:schemeClr val="tx2"/>
                </a:solidFill>
                <a:latin typeface="宋体" panose="02010600030101010101" pitchFamily="2" charset="-122"/>
                <a:sym typeface="+mn-ea"/>
              </a:rPr>
              <a:t>建造防火墙时，一般很少采用单一的技术，通常是解决不同问题的技术的组合。这种组合取决于网络中心对外提供什么样的服务，能够接受什么等级的风险，以及投资的大小或技术人员的技术、时间等因素。一般有以下一些形式：</a:t>
            </a:r>
            <a:endParaRPr lang="zh-CN" altLang="en-US" b="1" dirty="0" smtClean="0">
              <a:solidFill>
                <a:schemeClr val="tx2"/>
              </a:solidFill>
              <a:latin typeface="宋体" panose="02010600030101010101" pitchFamily="2" charset="-122"/>
              <a:sym typeface="+mn-ea"/>
            </a:endParaRPr>
          </a:p>
          <a:p>
            <a:pPr>
              <a:spcBef>
                <a:spcPct val="20000"/>
              </a:spcBef>
            </a:pPr>
            <a:r>
              <a:rPr lang="zh-CN" altLang="en-US" b="1" dirty="0">
                <a:solidFill>
                  <a:schemeClr val="tx2"/>
                </a:solidFill>
                <a:latin typeface="宋体" panose="02010600030101010101" pitchFamily="2" charset="-122"/>
                <a:sym typeface="+mn-ea"/>
              </a:rPr>
              <a:t>（</a:t>
            </a:r>
            <a:r>
              <a:rPr lang="zh-CN" altLang="en-US" b="1" dirty="0">
                <a:solidFill>
                  <a:schemeClr val="tx2"/>
                </a:solidFill>
                <a:ea typeface="Arial Unicode MS" pitchFamily="34" charset="-122"/>
                <a:sym typeface="+mn-ea"/>
              </a:rPr>
              <a:t>1</a:t>
            </a:r>
            <a:r>
              <a:rPr lang="zh-CN" altLang="en-US" b="1" dirty="0">
                <a:solidFill>
                  <a:schemeClr val="tx2"/>
                </a:solidFill>
                <a:latin typeface="宋体" panose="02010600030101010101" pitchFamily="2" charset="-122"/>
                <a:sym typeface="+mn-ea"/>
              </a:rPr>
              <a:t>）使用多堡垒主机；</a:t>
            </a:r>
            <a:endParaRPr lang="zh-CN" altLang="en-US" b="1" dirty="0">
              <a:solidFill>
                <a:schemeClr val="tx2"/>
              </a:solidFill>
              <a:ea typeface="Arial Unicode MS" pitchFamily="34" charset="-122"/>
            </a:endParaRPr>
          </a:p>
          <a:p>
            <a:pPr algn="just">
              <a:lnSpc>
                <a:spcPct val="110000"/>
              </a:lnSpc>
            </a:pPr>
            <a:r>
              <a:rPr lang="zh-CN" altLang="en-US" b="1" dirty="0">
                <a:solidFill>
                  <a:schemeClr val="tx2"/>
                </a:solidFill>
                <a:latin typeface="宋体" panose="02010600030101010101" pitchFamily="2" charset="-122"/>
                <a:sym typeface="+mn-ea"/>
              </a:rPr>
              <a:t>（</a:t>
            </a:r>
            <a:r>
              <a:rPr lang="zh-CN" altLang="en-US" b="1" dirty="0">
                <a:solidFill>
                  <a:schemeClr val="tx2"/>
                </a:solidFill>
                <a:ea typeface="Arial Unicode MS" pitchFamily="34" charset="-122"/>
                <a:sym typeface="+mn-ea"/>
              </a:rPr>
              <a:t>2</a:t>
            </a:r>
            <a:r>
              <a:rPr lang="zh-CN" altLang="en-US" b="1" dirty="0">
                <a:solidFill>
                  <a:schemeClr val="tx2"/>
                </a:solidFill>
                <a:latin typeface="宋体" panose="02010600030101010101" pitchFamily="2" charset="-122"/>
                <a:sym typeface="+mn-ea"/>
              </a:rPr>
              <a:t>）合并内部路由器与外部路由器；</a:t>
            </a:r>
            <a:endParaRPr lang="zh-CN" altLang="en-US" b="1" dirty="0">
              <a:solidFill>
                <a:schemeClr val="tx2"/>
              </a:solidFill>
              <a:ea typeface="Arial Unicode MS" pitchFamily="34" charset="-122"/>
            </a:endParaRPr>
          </a:p>
          <a:p>
            <a:pPr algn="just">
              <a:lnSpc>
                <a:spcPct val="110000"/>
              </a:lnSpc>
            </a:pPr>
            <a:r>
              <a:rPr lang="zh-CN" altLang="en-US" b="1" dirty="0">
                <a:solidFill>
                  <a:schemeClr val="tx2"/>
                </a:solidFill>
                <a:latin typeface="宋体" panose="02010600030101010101" pitchFamily="2" charset="-122"/>
                <a:sym typeface="+mn-ea"/>
              </a:rPr>
              <a:t>（</a:t>
            </a:r>
            <a:r>
              <a:rPr lang="zh-CN" altLang="en-US" b="1" dirty="0">
                <a:solidFill>
                  <a:schemeClr val="tx2"/>
                </a:solidFill>
                <a:ea typeface="Arial Unicode MS" pitchFamily="34" charset="-122"/>
                <a:sym typeface="+mn-ea"/>
              </a:rPr>
              <a:t>3</a:t>
            </a:r>
            <a:r>
              <a:rPr lang="zh-CN" altLang="en-US" b="1" dirty="0">
                <a:solidFill>
                  <a:schemeClr val="tx2"/>
                </a:solidFill>
                <a:latin typeface="宋体" panose="02010600030101010101" pitchFamily="2" charset="-122"/>
                <a:sym typeface="+mn-ea"/>
              </a:rPr>
              <a:t>）合并堡垒主机与外部路由器；</a:t>
            </a:r>
            <a:endParaRPr lang="zh-CN" altLang="en-US" b="1" dirty="0">
              <a:solidFill>
                <a:schemeClr val="tx2"/>
              </a:solidFill>
              <a:ea typeface="Arial Unicode MS" pitchFamily="34" charset="-122"/>
            </a:endParaRPr>
          </a:p>
          <a:p>
            <a:pPr algn="just">
              <a:lnSpc>
                <a:spcPct val="110000"/>
              </a:lnSpc>
            </a:pPr>
            <a:r>
              <a:rPr lang="zh-CN" altLang="en-US" b="1" dirty="0">
                <a:solidFill>
                  <a:schemeClr val="tx2"/>
                </a:solidFill>
                <a:latin typeface="宋体" panose="02010600030101010101" pitchFamily="2" charset="-122"/>
                <a:sym typeface="+mn-ea"/>
              </a:rPr>
              <a:t>（</a:t>
            </a:r>
            <a:r>
              <a:rPr lang="zh-CN" altLang="en-US" b="1" dirty="0">
                <a:solidFill>
                  <a:schemeClr val="tx2"/>
                </a:solidFill>
                <a:ea typeface="Arial Unicode MS" pitchFamily="34" charset="-122"/>
                <a:sym typeface="+mn-ea"/>
              </a:rPr>
              <a:t>4</a:t>
            </a:r>
            <a:r>
              <a:rPr lang="zh-CN" altLang="en-US" b="1" dirty="0">
                <a:solidFill>
                  <a:schemeClr val="tx2"/>
                </a:solidFill>
                <a:latin typeface="宋体" panose="02010600030101010101" pitchFamily="2" charset="-122"/>
                <a:sym typeface="+mn-ea"/>
              </a:rPr>
              <a:t>）合并堡垒主机与内部路由器；</a:t>
            </a:r>
            <a:endParaRPr lang="zh-CN" altLang="en-US" b="1" dirty="0">
              <a:solidFill>
                <a:schemeClr val="tx2"/>
              </a:solidFill>
              <a:ea typeface="Arial Unicode MS" pitchFamily="34" charset="-122"/>
            </a:endParaRPr>
          </a:p>
          <a:p>
            <a:pPr algn="just">
              <a:lnSpc>
                <a:spcPct val="110000"/>
              </a:lnSpc>
            </a:pPr>
            <a:r>
              <a:rPr lang="zh-CN" altLang="en-US" b="1" dirty="0">
                <a:solidFill>
                  <a:schemeClr val="tx2"/>
                </a:solidFill>
                <a:latin typeface="宋体" panose="02010600030101010101" pitchFamily="2" charset="-122"/>
                <a:sym typeface="+mn-ea"/>
              </a:rPr>
              <a:t>（</a:t>
            </a:r>
            <a:r>
              <a:rPr lang="zh-CN" altLang="en-US" b="1" dirty="0">
                <a:solidFill>
                  <a:schemeClr val="tx2"/>
                </a:solidFill>
                <a:ea typeface="Arial Unicode MS" pitchFamily="34" charset="-122"/>
                <a:sym typeface="+mn-ea"/>
              </a:rPr>
              <a:t>5</a:t>
            </a:r>
            <a:r>
              <a:rPr lang="zh-CN" altLang="en-US" b="1" dirty="0">
                <a:solidFill>
                  <a:schemeClr val="tx2"/>
                </a:solidFill>
                <a:latin typeface="宋体" panose="02010600030101010101" pitchFamily="2" charset="-122"/>
                <a:sym typeface="+mn-ea"/>
              </a:rPr>
              <a:t>）使用多台内部路由器；</a:t>
            </a:r>
            <a:endParaRPr lang="zh-CN" altLang="en-US" b="1" dirty="0">
              <a:solidFill>
                <a:schemeClr val="tx2"/>
              </a:solidFill>
              <a:ea typeface="Arial Unicode MS" pitchFamily="34" charset="-122"/>
            </a:endParaRPr>
          </a:p>
          <a:p>
            <a:pPr algn="just">
              <a:lnSpc>
                <a:spcPct val="110000"/>
              </a:lnSpc>
            </a:pPr>
            <a:r>
              <a:rPr lang="zh-CN" altLang="en-US" b="1" dirty="0">
                <a:solidFill>
                  <a:schemeClr val="tx2"/>
                </a:solidFill>
                <a:latin typeface="宋体" panose="02010600030101010101" pitchFamily="2" charset="-122"/>
                <a:sym typeface="+mn-ea"/>
              </a:rPr>
              <a:t>（</a:t>
            </a:r>
            <a:r>
              <a:rPr lang="zh-CN" altLang="en-US" b="1" dirty="0">
                <a:solidFill>
                  <a:schemeClr val="tx2"/>
                </a:solidFill>
                <a:ea typeface="Arial Unicode MS" pitchFamily="34" charset="-122"/>
                <a:sym typeface="+mn-ea"/>
              </a:rPr>
              <a:t>6</a:t>
            </a:r>
            <a:r>
              <a:rPr lang="zh-CN" altLang="en-US" b="1" dirty="0">
                <a:solidFill>
                  <a:schemeClr val="tx2"/>
                </a:solidFill>
                <a:latin typeface="宋体" panose="02010600030101010101" pitchFamily="2" charset="-122"/>
                <a:sym typeface="+mn-ea"/>
              </a:rPr>
              <a:t>）使用多台外部路由器；</a:t>
            </a:r>
            <a:endParaRPr lang="zh-CN" altLang="en-US" b="1" dirty="0">
              <a:solidFill>
                <a:schemeClr val="tx2"/>
              </a:solidFill>
              <a:ea typeface="Arial Unicode MS" pitchFamily="34" charset="-122"/>
            </a:endParaRPr>
          </a:p>
          <a:p>
            <a:pPr algn="just">
              <a:lnSpc>
                <a:spcPct val="110000"/>
              </a:lnSpc>
            </a:pPr>
            <a:r>
              <a:rPr lang="zh-CN" altLang="en-US" b="1" dirty="0">
                <a:solidFill>
                  <a:schemeClr val="tx2"/>
                </a:solidFill>
                <a:latin typeface="宋体" panose="02010600030101010101" pitchFamily="2" charset="-122"/>
                <a:sym typeface="+mn-ea"/>
              </a:rPr>
              <a:t>（</a:t>
            </a:r>
            <a:r>
              <a:rPr lang="zh-CN" altLang="en-US" b="1" dirty="0">
                <a:solidFill>
                  <a:schemeClr val="tx2"/>
                </a:solidFill>
                <a:ea typeface="Arial Unicode MS" pitchFamily="34" charset="-122"/>
                <a:sym typeface="+mn-ea"/>
              </a:rPr>
              <a:t>7</a:t>
            </a:r>
            <a:r>
              <a:rPr lang="zh-CN" altLang="en-US" b="1" dirty="0">
                <a:solidFill>
                  <a:schemeClr val="tx2"/>
                </a:solidFill>
                <a:latin typeface="宋体" panose="02010600030101010101" pitchFamily="2" charset="-122"/>
                <a:sym typeface="+mn-ea"/>
              </a:rPr>
              <a:t>）使用多个周边网络；</a:t>
            </a:r>
            <a:endParaRPr lang="zh-CN" altLang="en-US" b="1" dirty="0">
              <a:solidFill>
                <a:schemeClr val="tx2"/>
              </a:solidFill>
              <a:ea typeface="Arial Unicode MS" pitchFamily="34" charset="-122"/>
            </a:endParaRPr>
          </a:p>
          <a:p>
            <a:pPr>
              <a:lnSpc>
                <a:spcPct val="110000"/>
              </a:lnSpc>
            </a:pPr>
            <a:r>
              <a:rPr lang="zh-CN" altLang="en-US" b="1" dirty="0">
                <a:solidFill>
                  <a:schemeClr val="tx2"/>
                </a:solidFill>
                <a:latin typeface="宋体" panose="02010600030101010101" pitchFamily="2" charset="-122"/>
                <a:sym typeface="+mn-ea"/>
              </a:rPr>
              <a:t>（</a:t>
            </a:r>
            <a:r>
              <a:rPr lang="zh-CN" altLang="en-US" b="1" dirty="0">
                <a:solidFill>
                  <a:schemeClr val="tx2"/>
                </a:solidFill>
                <a:sym typeface="+mn-ea"/>
              </a:rPr>
              <a:t>8</a:t>
            </a:r>
            <a:r>
              <a:rPr lang="zh-CN" altLang="en-US" b="1" dirty="0">
                <a:solidFill>
                  <a:schemeClr val="tx2"/>
                </a:solidFill>
                <a:latin typeface="宋体" panose="02010600030101010101" pitchFamily="2" charset="-122"/>
                <a:sym typeface="+mn-ea"/>
              </a:rPr>
              <a:t>）使用双重宿主主机与屏蔽子网。</a:t>
            </a:r>
            <a:endParaRPr lang="en-US" altLang="zh-CN" sz="2800" b="1" dirty="0" smtClean="0">
              <a:solidFill>
                <a:srgbClr val="FF0000"/>
              </a:solidFill>
            </a:endParaRPr>
          </a:p>
          <a:p>
            <a:pPr algn="just">
              <a:lnSpc>
                <a:spcPct val="110000"/>
              </a:lnSpc>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8.4 </a:t>
            </a:r>
            <a:r>
              <a:rPr lang="zh-CN" altLang="en-US" sz="3600" b="1" dirty="0" smtClean="0">
                <a:solidFill>
                  <a:schemeClr val="bg1"/>
                </a:solidFill>
                <a:latin typeface="Verdana" panose="020B0604030504040204" pitchFamily="34" charset="0"/>
              </a:rPr>
              <a:t>分布式防火墙</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005762" cy="5589587"/>
          </a:xfrm>
          <a:prstGeom prst="rect">
            <a:avLst/>
          </a:prstGeom>
          <a:noFill/>
          <a:ln w="9525">
            <a:noFill/>
            <a:miter lim="800000"/>
          </a:ln>
        </p:spPr>
        <p:txBody>
          <a:bodyPr/>
          <a:lstStyle/>
          <a:p>
            <a:pPr>
              <a:spcBef>
                <a:spcPct val="20000"/>
              </a:spcBef>
            </a:pPr>
            <a:r>
              <a:rPr lang="en-US" altLang="zh-CN" sz="3200" b="1" dirty="0" smtClean="0">
                <a:solidFill>
                  <a:srgbClr val="FF0000"/>
                </a:solidFill>
              </a:rPr>
              <a:t>	</a:t>
            </a:r>
            <a:r>
              <a:rPr lang="zh-CN" altLang="en-US" sz="3200" b="1" dirty="0" smtClean="0">
                <a:solidFill>
                  <a:schemeClr val="tx2"/>
                </a:solidFill>
              </a:rPr>
              <a:t>传统</a:t>
            </a:r>
            <a:r>
              <a:rPr lang="zh-CN" altLang="en-US" sz="3200" b="1" dirty="0">
                <a:solidFill>
                  <a:schemeClr val="tx2"/>
                </a:solidFill>
              </a:rPr>
              <a:t>防火墙由于通常在网络边界站岗，又名“边界防火墙”，如果说他对于来自外部网的攻击还算得上是个称职的卫士的话，那么对于</a:t>
            </a:r>
            <a:r>
              <a:rPr lang="en-US" altLang="zh-CN" sz="3200" b="1" dirty="0">
                <a:solidFill>
                  <a:schemeClr val="tx2"/>
                </a:solidFill>
              </a:rPr>
              <a:t>80%</a:t>
            </a:r>
            <a:r>
              <a:rPr lang="zh-CN" altLang="en-US" sz="3200" b="1" dirty="0">
                <a:solidFill>
                  <a:schemeClr val="tx2"/>
                </a:solidFill>
              </a:rPr>
              <a:t>来自内部网的攻击或越权访问他就显得心有余而力不足了，为此诞生了一种新兴的防火墙技术“分布式防火墙”</a:t>
            </a:r>
            <a:r>
              <a:rPr lang="en-US" altLang="zh-CN" sz="3200" b="1" dirty="0">
                <a:solidFill>
                  <a:schemeClr val="tx2"/>
                </a:solidFill>
              </a:rPr>
              <a:t>(Distributed Firewalls)</a:t>
            </a:r>
            <a:r>
              <a:rPr lang="zh-CN" altLang="en-US" sz="3200" b="1" dirty="0">
                <a:solidFill>
                  <a:schemeClr val="tx2"/>
                </a:solidFill>
              </a:rPr>
              <a:t>，他的专长就在于堵住内部网的漏洞。</a:t>
            </a:r>
            <a:endParaRPr lang="en-US" altLang="zh-CN" sz="3200" b="1" dirty="0" smtClean="0">
              <a:solidFill>
                <a:schemeClr val="tx2"/>
              </a:solidFill>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8.4 </a:t>
            </a:r>
            <a:r>
              <a:rPr lang="zh-CN" altLang="en-US" sz="3600" b="1" dirty="0" smtClean="0">
                <a:solidFill>
                  <a:schemeClr val="bg1"/>
                </a:solidFill>
                <a:latin typeface="Verdana" panose="020B0604030504040204" pitchFamily="34" charset="0"/>
              </a:rPr>
              <a:t>分布式防火墙</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505" y="1306830"/>
            <a:ext cx="8151495" cy="5412740"/>
          </a:xfrm>
          <a:prstGeom prst="rect">
            <a:avLst/>
          </a:prstGeom>
          <a:noFill/>
          <a:ln w="9525">
            <a:noFill/>
            <a:miter lim="800000"/>
          </a:ln>
        </p:spPr>
        <p:txBody>
          <a:bodyPr/>
          <a:lstStyle/>
          <a:p>
            <a:pPr>
              <a:spcBef>
                <a:spcPct val="20000"/>
              </a:spcBef>
            </a:pPr>
            <a:r>
              <a:rPr lang="en-US" altLang="zh-CN" sz="3200" b="1" dirty="0" smtClean="0">
                <a:solidFill>
                  <a:srgbClr val="FF0000"/>
                </a:solidFill>
              </a:rPr>
              <a:t>8.4.1</a:t>
            </a:r>
            <a:r>
              <a:rPr lang="en-US" altLang="zh-CN" sz="2800" b="1" dirty="0" smtClean="0">
                <a:solidFill>
                  <a:srgbClr val="FF0000"/>
                </a:solidFill>
              </a:rPr>
              <a:t> </a:t>
            </a:r>
            <a:r>
              <a:rPr lang="zh-CN" altLang="en-US" sz="2800" b="1" dirty="0" smtClean="0">
                <a:solidFill>
                  <a:srgbClr val="FF0000"/>
                </a:solidFill>
                <a:sym typeface="+mn-ea"/>
              </a:rPr>
              <a:t>传统防火墙的局限性</a:t>
            </a:r>
            <a:endParaRPr lang="en-US" altLang="zh-CN" sz="2800" b="1" dirty="0" smtClean="0">
              <a:solidFill>
                <a:srgbClr val="FF0000"/>
              </a:solidFill>
              <a:sym typeface="+mn-ea"/>
            </a:endParaRPr>
          </a:p>
          <a:p>
            <a:pPr>
              <a:spcBef>
                <a:spcPct val="20000"/>
              </a:spcBef>
            </a:pPr>
            <a:r>
              <a:rPr lang="en-US" altLang="zh-CN" sz="2800" b="1" noProof="0" dirty="0" smtClean="0">
                <a:solidFill>
                  <a:srgbClr val="FF0000"/>
                </a:solidFill>
                <a:latin typeface="宋体" panose="02010600030101010101" pitchFamily="2" charset="-122"/>
                <a:cs typeface="宋体" panose="02010600030101010101" pitchFamily="2" charset="-122"/>
                <a:sym typeface="+mn-ea"/>
              </a:rPr>
              <a:t>1</a:t>
            </a:r>
            <a:r>
              <a:rPr lang="zh-CN" altLang="en-US" sz="2800" b="1" noProof="0" dirty="0" smtClean="0">
                <a:solidFill>
                  <a:srgbClr val="FF0000"/>
                </a:solidFill>
                <a:latin typeface="宋体" panose="02010600030101010101" pitchFamily="2" charset="-122"/>
                <a:cs typeface="宋体" panose="02010600030101010101" pitchFamily="2" charset="-122"/>
                <a:sym typeface="+mn-ea"/>
              </a:rPr>
              <a:t>、</a:t>
            </a:r>
            <a:r>
              <a:rPr lang="zh-CN" altLang="en-US" sz="2800" b="1" dirty="0" smtClean="0">
                <a:solidFill>
                  <a:srgbClr val="FF0000"/>
                </a:solidFill>
                <a:latin typeface="宋体" panose="02010600030101010101" pitchFamily="2" charset="-122"/>
                <a:cs typeface="宋体" panose="02010600030101010101" pitchFamily="2" charset="-122"/>
                <a:sym typeface="+mn-ea"/>
              </a:rPr>
              <a:t>结构性</a:t>
            </a:r>
            <a:r>
              <a:rPr lang="zh-CN" altLang="en-US" sz="2800" b="1" dirty="0">
                <a:solidFill>
                  <a:srgbClr val="FF0000"/>
                </a:solidFill>
                <a:latin typeface="宋体" panose="02010600030101010101" pitchFamily="2" charset="-122"/>
                <a:cs typeface="宋体" panose="02010600030101010101" pitchFamily="2" charset="-122"/>
                <a:sym typeface="+mn-ea"/>
              </a:rPr>
              <a:t>上受限制</a:t>
            </a:r>
            <a:endParaRPr lang="zh-CN" altLang="en-US" sz="2800" b="1" dirty="0">
              <a:solidFill>
                <a:srgbClr val="FF0000"/>
              </a:solidFill>
              <a:latin typeface="宋体" panose="02010600030101010101" pitchFamily="2" charset="-122"/>
              <a:cs typeface="宋体" panose="02010600030101010101" pitchFamily="2" charset="-122"/>
              <a:sym typeface="+mn-ea"/>
            </a:endParaRPr>
          </a:p>
          <a:p>
            <a:pPr>
              <a:spcBef>
                <a:spcPct val="20000"/>
              </a:spcBef>
            </a:pPr>
            <a:r>
              <a:rPr lang="zh-CN" altLang="en-US" sz="2800" b="1" dirty="0">
                <a:solidFill>
                  <a:srgbClr val="FF0000"/>
                </a:solidFill>
                <a:latin typeface="宋体" panose="02010600030101010101" pitchFamily="2" charset="-122"/>
                <a:cs typeface="宋体" panose="02010600030101010101" pitchFamily="2" charset="-122"/>
                <a:sym typeface="+mn-ea"/>
              </a:rPr>
              <a:t>　　</a:t>
            </a:r>
            <a:r>
              <a:rPr lang="zh-CN" altLang="en-US" sz="2800" b="1" dirty="0">
                <a:solidFill>
                  <a:schemeClr val="tx2"/>
                </a:solidFill>
                <a:latin typeface="宋体" panose="02010600030101010101" pitchFamily="2" charset="-122"/>
                <a:cs typeface="宋体" panose="02010600030101010101" pitchFamily="2" charset="-122"/>
                <a:sym typeface="+mn-ea"/>
              </a:rPr>
              <a:t>边界防火墙的工作机理依赖于网络的物理拓扑结构。但随着越来越多的企业利用互联网构架自己的跨地区网络，例如家庭移动办公和服务器托管越来越普遍，所谓内部企业网已经变成一个逻辑上的</a:t>
            </a:r>
            <a:r>
              <a:rPr lang="zh-CN" altLang="en-US" sz="2800" b="1" dirty="0" smtClean="0">
                <a:solidFill>
                  <a:schemeClr val="tx2"/>
                </a:solidFill>
                <a:latin typeface="宋体" panose="02010600030101010101" pitchFamily="2" charset="-122"/>
                <a:cs typeface="宋体" panose="02010600030101010101" pitchFamily="2" charset="-122"/>
                <a:sym typeface="+mn-ea"/>
              </a:rPr>
              <a:t>概念。</a:t>
            </a:r>
            <a:endParaRPr lang="en-US" altLang="zh-CN" sz="2800" b="1" dirty="0" smtClean="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sz="2800" b="1" dirty="0">
                <a:solidFill>
                  <a:schemeClr val="tx2"/>
                </a:solidFill>
                <a:latin typeface="宋体" panose="02010600030101010101" pitchFamily="2" charset="-122"/>
                <a:cs typeface="宋体" panose="02010600030101010101" pitchFamily="2" charset="-122"/>
                <a:sym typeface="+mn-ea"/>
              </a:rPr>
              <a:t>	</a:t>
            </a:r>
            <a:r>
              <a:rPr lang="zh-CN" altLang="en-US" sz="2800" b="1" dirty="0" smtClean="0">
                <a:solidFill>
                  <a:schemeClr val="tx2"/>
                </a:solidFill>
                <a:latin typeface="宋体" panose="02010600030101010101" pitchFamily="2" charset="-122"/>
                <a:cs typeface="宋体" panose="02010600030101010101" pitchFamily="2" charset="-122"/>
                <a:sym typeface="+mn-ea"/>
              </a:rPr>
              <a:t>另一方面，电子商务的应用要求商务伙伴之间在一定的权限下可以进入彼此的内部网络。所以，企业网的边界已经是一个逻辑的边界，物理的边界日趋模糊，边界防火墙的应用受到了愈来愈多的结构限制。</a:t>
            </a:r>
            <a:endParaRPr lang="zh-CN" altLang="en-US" sz="2800"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smtClean="0">
                <a:solidFill>
                  <a:schemeClr val="tx2"/>
                </a:solidFill>
                <a:latin typeface="宋体" panose="02010600030101010101" pitchFamily="2" charset="-122"/>
                <a:cs typeface="宋体" panose="02010600030101010101" pitchFamily="2" charset="-122"/>
                <a:sym typeface="+mn-ea"/>
              </a:rPr>
              <a:t>	</a:t>
            </a:r>
            <a:r>
              <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8.4 </a:t>
            </a:r>
            <a:r>
              <a:rPr lang="zh-CN" altLang="en-US" sz="3600" b="1" dirty="0" smtClean="0">
                <a:solidFill>
                  <a:schemeClr val="bg1"/>
                </a:solidFill>
                <a:latin typeface="Verdana" panose="020B0604030504040204" pitchFamily="34" charset="0"/>
              </a:rPr>
              <a:t>分布式防火墙</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151812" cy="5290229"/>
          </a:xfrm>
          <a:prstGeom prst="rect">
            <a:avLst/>
          </a:prstGeom>
          <a:noFill/>
          <a:ln w="9525">
            <a:noFill/>
            <a:miter lim="800000"/>
          </a:ln>
        </p:spPr>
        <p:txBody>
          <a:bodyPr/>
          <a:lstStyle/>
          <a:p>
            <a:pPr>
              <a:spcBef>
                <a:spcPct val="20000"/>
              </a:spcBef>
            </a:pPr>
            <a:r>
              <a:rPr lang="en-US" altLang="zh-CN" sz="3200" b="1" dirty="0" smtClean="0">
                <a:solidFill>
                  <a:srgbClr val="FF0000"/>
                </a:solidFill>
              </a:rPr>
              <a:t>8.4.1</a:t>
            </a:r>
            <a:r>
              <a:rPr lang="en-US" altLang="zh-CN" sz="2800" b="1" dirty="0" smtClean="0">
                <a:solidFill>
                  <a:srgbClr val="FF0000"/>
                </a:solidFill>
              </a:rPr>
              <a:t> </a:t>
            </a:r>
            <a:r>
              <a:rPr lang="zh-CN" altLang="en-US" sz="2800" b="1" dirty="0" smtClean="0">
                <a:solidFill>
                  <a:srgbClr val="FF0000"/>
                </a:solidFill>
                <a:sym typeface="+mn-ea"/>
              </a:rPr>
              <a:t>传统防火墙的局限性</a:t>
            </a:r>
            <a:endParaRPr lang="en-US" altLang="zh-CN" sz="2800" b="1" dirty="0" smtClean="0">
              <a:solidFill>
                <a:srgbClr val="FF0000"/>
              </a:solidFill>
              <a:sym typeface="+mn-ea"/>
            </a:endParaRPr>
          </a:p>
          <a:p>
            <a:pPr>
              <a:spcBef>
                <a:spcPct val="20000"/>
              </a:spcBef>
            </a:pPr>
            <a:r>
              <a:rPr lang="en-US" altLang="zh-CN" sz="2800" b="1" noProof="0" dirty="0" smtClean="0">
                <a:solidFill>
                  <a:srgbClr val="FF0000"/>
                </a:solidFill>
                <a:latin typeface="宋体" panose="02010600030101010101" pitchFamily="2" charset="-122"/>
                <a:cs typeface="宋体" panose="02010600030101010101" pitchFamily="2" charset="-122"/>
                <a:sym typeface="+mn-ea"/>
              </a:rPr>
              <a:t>2</a:t>
            </a:r>
            <a:r>
              <a:rPr lang="zh-CN" altLang="en-US" sz="2800" b="1" noProof="0" dirty="0" smtClean="0">
                <a:solidFill>
                  <a:srgbClr val="FF0000"/>
                </a:solidFill>
                <a:latin typeface="宋体" panose="02010600030101010101" pitchFamily="2" charset="-122"/>
                <a:cs typeface="宋体" panose="02010600030101010101" pitchFamily="2" charset="-122"/>
                <a:sym typeface="+mn-ea"/>
              </a:rPr>
              <a:t>、</a:t>
            </a:r>
            <a:r>
              <a:rPr lang="zh-CN" altLang="en-US" sz="2800" b="1" dirty="0" smtClean="0">
                <a:solidFill>
                  <a:srgbClr val="FF0000"/>
                </a:solidFill>
                <a:latin typeface="宋体" panose="02010600030101010101" pitchFamily="2" charset="-122"/>
                <a:cs typeface="宋体" panose="02010600030101010101" pitchFamily="2" charset="-122"/>
                <a:sym typeface="+mn-ea"/>
              </a:rPr>
              <a:t>内部不够安全</a:t>
            </a:r>
            <a:endParaRPr lang="en-US" altLang="zh-CN" sz="2800" b="1" dirty="0" smtClean="0">
              <a:solidFill>
                <a:srgbClr val="FF0000"/>
              </a:solidFill>
              <a:latin typeface="宋体" panose="02010600030101010101" pitchFamily="2" charset="-122"/>
              <a:cs typeface="宋体" panose="02010600030101010101" pitchFamily="2" charset="-122"/>
              <a:sym typeface="+mn-ea"/>
            </a:endParaRPr>
          </a:p>
          <a:p>
            <a:pPr>
              <a:spcBef>
                <a:spcPct val="20000"/>
              </a:spcBef>
            </a:pPr>
            <a:r>
              <a:rPr lang="zh-CN" altLang="en-US" sz="2800" b="1" dirty="0">
                <a:solidFill>
                  <a:srgbClr val="FF0000"/>
                </a:solidFill>
                <a:latin typeface="宋体" panose="02010600030101010101" pitchFamily="2" charset="-122"/>
                <a:cs typeface="宋体" panose="02010600030101010101" pitchFamily="2" charset="-122"/>
                <a:sym typeface="+mn-ea"/>
              </a:rPr>
              <a:t>　　</a:t>
            </a:r>
            <a:r>
              <a:rPr lang="zh-CN" altLang="en-US" sz="2800" b="1" dirty="0">
                <a:solidFill>
                  <a:schemeClr val="tx2"/>
                </a:solidFill>
                <a:latin typeface="宋体" panose="02010600030101010101" pitchFamily="2" charset="-122"/>
                <a:cs typeface="宋体" panose="02010600030101010101" pitchFamily="2" charset="-122"/>
                <a:sym typeface="+mn-ea"/>
              </a:rPr>
              <a:t>边界</a:t>
            </a:r>
            <a:r>
              <a:rPr lang="zh-CN" altLang="en-US" sz="2800" b="1" dirty="0" smtClean="0">
                <a:solidFill>
                  <a:schemeClr val="tx2"/>
                </a:solidFill>
                <a:latin typeface="宋体" panose="02010600030101010101" pitchFamily="2" charset="-122"/>
                <a:cs typeface="宋体" panose="02010600030101010101" pitchFamily="2" charset="-122"/>
                <a:sym typeface="+mn-ea"/>
              </a:rPr>
              <a:t>防火墙设置安全策略的一个基本假设是：网路的外部的所有人是不可信任的，另一边即内部的所有人是可信任的。实际上，</a:t>
            </a:r>
            <a:r>
              <a:rPr lang="en-US" altLang="zh-CN" sz="2800" b="1" dirty="0">
                <a:solidFill>
                  <a:schemeClr val="tx2"/>
                </a:solidFill>
                <a:latin typeface="宋体" panose="02010600030101010101" pitchFamily="2" charset="-122"/>
                <a:cs typeface="宋体" panose="02010600030101010101" pitchFamily="2" charset="-122"/>
                <a:sym typeface="+mn-ea"/>
              </a:rPr>
              <a:t>80</a:t>
            </a:r>
            <a:r>
              <a:rPr lang="en-US" altLang="zh-CN" sz="2800" b="1" dirty="0" smtClean="0">
                <a:solidFill>
                  <a:schemeClr val="tx2"/>
                </a:solidFill>
                <a:latin typeface="宋体" panose="02010600030101010101" pitchFamily="2" charset="-122"/>
                <a:cs typeface="宋体" panose="02010600030101010101" pitchFamily="2" charset="-122"/>
                <a:sym typeface="+mn-ea"/>
              </a:rPr>
              <a:t>%</a:t>
            </a:r>
            <a:r>
              <a:rPr lang="zh-CN" altLang="en-US" sz="2800" b="1" dirty="0" smtClean="0">
                <a:solidFill>
                  <a:schemeClr val="tx2"/>
                </a:solidFill>
                <a:latin typeface="宋体" panose="02010600030101010101" pitchFamily="2" charset="-122"/>
                <a:cs typeface="宋体" panose="02010600030101010101" pitchFamily="2" charset="-122"/>
                <a:sym typeface="+mn-ea"/>
              </a:rPr>
              <a:t>的</a:t>
            </a:r>
            <a:r>
              <a:rPr lang="zh-CN" altLang="en-US" sz="2800" b="1" dirty="0">
                <a:solidFill>
                  <a:schemeClr val="tx2"/>
                </a:solidFill>
                <a:latin typeface="宋体" panose="02010600030101010101" pitchFamily="2" charset="-122"/>
                <a:cs typeface="宋体" panose="02010600030101010101" pitchFamily="2" charset="-122"/>
                <a:sym typeface="+mn-ea"/>
              </a:rPr>
              <a:t>攻击或越权访问来自内部</a:t>
            </a:r>
            <a:r>
              <a:rPr lang="zh-CN" altLang="en-US" sz="2800" b="1" dirty="0" smtClean="0">
                <a:solidFill>
                  <a:schemeClr val="tx2"/>
                </a:solidFill>
                <a:latin typeface="宋体" panose="02010600030101010101" pitchFamily="2" charset="-122"/>
                <a:cs typeface="宋体" panose="02010600030101010101" pitchFamily="2" charset="-122"/>
                <a:sym typeface="+mn-ea"/>
              </a:rPr>
              <a:t>网，边界防火墙对付网络安全的主要威胁时束手无策。</a:t>
            </a:r>
            <a:r>
              <a:rPr lang="en-US" altLang="zh-CN" b="1" noProof="0" dirty="0" smtClean="0">
                <a:solidFill>
                  <a:schemeClr val="tx2"/>
                </a:solidFill>
                <a:latin typeface="宋体" panose="02010600030101010101" pitchFamily="2" charset="-122"/>
                <a:cs typeface="宋体" panose="02010600030101010101" pitchFamily="2" charset="-122"/>
                <a:sym typeface="+mn-ea"/>
              </a:rPr>
              <a:t>	</a:t>
            </a:r>
            <a:r>
              <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8.4 </a:t>
            </a:r>
            <a:r>
              <a:rPr lang="zh-CN" altLang="en-US" sz="3600" b="1" dirty="0" smtClean="0">
                <a:solidFill>
                  <a:schemeClr val="bg1"/>
                </a:solidFill>
                <a:latin typeface="Verdana" panose="020B0604030504040204" pitchFamily="34" charset="0"/>
              </a:rPr>
              <a:t>分布式防火墙</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151812" cy="5290229"/>
          </a:xfrm>
          <a:prstGeom prst="rect">
            <a:avLst/>
          </a:prstGeom>
          <a:noFill/>
          <a:ln w="9525">
            <a:noFill/>
            <a:miter lim="800000"/>
          </a:ln>
        </p:spPr>
        <p:txBody>
          <a:bodyPr/>
          <a:lstStyle/>
          <a:p>
            <a:pPr>
              <a:spcBef>
                <a:spcPct val="20000"/>
              </a:spcBef>
            </a:pPr>
            <a:r>
              <a:rPr lang="en-US" altLang="zh-CN" sz="3200" b="1" dirty="0" smtClean="0">
                <a:solidFill>
                  <a:srgbClr val="FF0000"/>
                </a:solidFill>
              </a:rPr>
              <a:t>8.4.1</a:t>
            </a:r>
            <a:r>
              <a:rPr lang="en-US" altLang="zh-CN" sz="2800" b="1" dirty="0" smtClean="0">
                <a:solidFill>
                  <a:srgbClr val="FF0000"/>
                </a:solidFill>
              </a:rPr>
              <a:t> </a:t>
            </a:r>
            <a:r>
              <a:rPr lang="zh-CN" altLang="en-US" sz="2800" b="1" dirty="0" smtClean="0">
                <a:solidFill>
                  <a:srgbClr val="FF0000"/>
                </a:solidFill>
                <a:sym typeface="+mn-ea"/>
              </a:rPr>
              <a:t>传统防火墙的局限性</a:t>
            </a:r>
            <a:endParaRPr lang="en-US" altLang="zh-CN" sz="2800" b="1" dirty="0" smtClean="0">
              <a:solidFill>
                <a:srgbClr val="FF0000"/>
              </a:solidFill>
              <a:sym typeface="+mn-ea"/>
            </a:endParaRPr>
          </a:p>
          <a:p>
            <a:pPr>
              <a:spcBef>
                <a:spcPct val="20000"/>
              </a:spcBef>
            </a:pPr>
            <a:r>
              <a:rPr lang="en-US" altLang="zh-CN" sz="2800" b="1" noProof="0" dirty="0" smtClean="0">
                <a:solidFill>
                  <a:srgbClr val="FF0000"/>
                </a:solidFill>
                <a:latin typeface="宋体" panose="02010600030101010101" pitchFamily="2" charset="-122"/>
                <a:cs typeface="宋体" panose="02010600030101010101" pitchFamily="2" charset="-122"/>
                <a:sym typeface="+mn-ea"/>
              </a:rPr>
              <a:t>3</a:t>
            </a:r>
            <a:r>
              <a:rPr lang="zh-CN" altLang="en-US" sz="2800" b="1" noProof="0" dirty="0" smtClean="0">
                <a:solidFill>
                  <a:srgbClr val="FF0000"/>
                </a:solidFill>
                <a:latin typeface="宋体" panose="02010600030101010101" pitchFamily="2" charset="-122"/>
                <a:cs typeface="宋体" panose="02010600030101010101" pitchFamily="2" charset="-122"/>
                <a:sym typeface="+mn-ea"/>
              </a:rPr>
              <a:t>、效率不高，故障点多</a:t>
            </a:r>
            <a:endParaRPr lang="en-US" altLang="zh-CN" sz="2800" b="1" dirty="0" smtClean="0">
              <a:solidFill>
                <a:srgbClr val="FF0000"/>
              </a:solidFill>
              <a:latin typeface="宋体" panose="02010600030101010101" pitchFamily="2" charset="-122"/>
              <a:cs typeface="宋体" panose="02010600030101010101" pitchFamily="2" charset="-122"/>
              <a:sym typeface="+mn-ea"/>
            </a:endParaRPr>
          </a:p>
          <a:p>
            <a:pPr>
              <a:spcBef>
                <a:spcPct val="20000"/>
              </a:spcBef>
            </a:pPr>
            <a:r>
              <a:rPr lang="zh-CN" altLang="en-US" sz="2800" b="1" dirty="0">
                <a:solidFill>
                  <a:srgbClr val="FF0000"/>
                </a:solidFill>
                <a:latin typeface="宋体" panose="02010600030101010101" pitchFamily="2" charset="-122"/>
                <a:cs typeface="宋体" panose="02010600030101010101" pitchFamily="2" charset="-122"/>
                <a:sym typeface="+mn-ea"/>
              </a:rPr>
              <a:t>　</a:t>
            </a:r>
            <a:r>
              <a:rPr lang="zh-CN" altLang="en-US" b="1" dirty="0">
                <a:solidFill>
                  <a:srgbClr val="FF0000"/>
                </a:solidFill>
                <a:latin typeface="宋体" panose="02010600030101010101" pitchFamily="2" charset="-122"/>
                <a:cs typeface="宋体" panose="02010600030101010101" pitchFamily="2" charset="-122"/>
                <a:sym typeface="+mn-ea"/>
              </a:rPr>
              <a:t>　</a:t>
            </a:r>
            <a:r>
              <a:rPr lang="zh-CN" altLang="en-US" b="1" dirty="0">
                <a:solidFill>
                  <a:schemeClr val="tx2"/>
                </a:solidFill>
                <a:latin typeface="宋体" panose="02010600030101010101" pitchFamily="2" charset="-122"/>
                <a:cs typeface="宋体" panose="02010600030101010101" pitchFamily="2" charset="-122"/>
                <a:sym typeface="+mn-ea"/>
              </a:rPr>
              <a:t>边界</a:t>
            </a:r>
            <a:r>
              <a:rPr lang="zh-CN" altLang="en-US" b="1" dirty="0" smtClean="0">
                <a:solidFill>
                  <a:schemeClr val="tx2"/>
                </a:solidFill>
                <a:latin typeface="宋体" panose="02010600030101010101" pitchFamily="2" charset="-122"/>
                <a:cs typeface="宋体" panose="02010600030101010101" pitchFamily="2" charset="-122"/>
                <a:sym typeface="+mn-ea"/>
              </a:rPr>
              <a:t>防火墙把检查机制集中在网络边界的单点，造成了网络访问的瓶颈，这也是目前防火墙用户在选择防火墙产品时首先考察其检测效率，而安全机制不得不放在其次的因素。</a:t>
            </a:r>
            <a:endParaRPr lang="en-US" altLang="zh-CN" b="1" dirty="0" smtClean="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a:solidFill>
                  <a:schemeClr val="tx2"/>
                </a:solidFill>
                <a:latin typeface="宋体" panose="02010600030101010101" pitchFamily="2" charset="-122"/>
                <a:cs typeface="宋体" panose="02010600030101010101" pitchFamily="2" charset="-122"/>
                <a:sym typeface="+mn-ea"/>
              </a:rPr>
              <a:t>	</a:t>
            </a:r>
            <a:r>
              <a:rPr lang="zh-CN" altLang="en-US" b="1" noProof="0" dirty="0" smtClean="0">
                <a:solidFill>
                  <a:schemeClr val="tx2"/>
                </a:solidFill>
                <a:latin typeface="宋体" panose="02010600030101010101" pitchFamily="2" charset="-122"/>
                <a:cs typeface="宋体" panose="02010600030101010101" pitchFamily="2" charset="-122"/>
                <a:sym typeface="+mn-ea"/>
              </a:rPr>
              <a:t>边界防火墙厂商也在不遗余力地提高防火墙单机的处理能力，甚至采用防火墙集群技术来解决这个问题；另外，安全策略的复杂性也使效率问题雪上加霜，防火墙针对不同的应用和多样的系统要求，不得不经常在效率和安全策略之间折中平衡，从而产生了许多策略性的安全隐患；最后，边界防火墙也存在着单点故障的风险，一旦出问题或被攻克，整个内部网络将会完全暴露在外部攻击者面前。</a:t>
            </a:r>
            <a:r>
              <a:rPr lang="en-US" altLang="zh-CN" b="1" noProof="0" dirty="0" smtClean="0">
                <a:solidFill>
                  <a:schemeClr val="tx2"/>
                </a:solidFill>
                <a:latin typeface="宋体" panose="02010600030101010101" pitchFamily="2" charset="-122"/>
                <a:cs typeface="宋体" panose="02010600030101010101" pitchFamily="2" charset="-122"/>
                <a:sym typeface="+mn-ea"/>
              </a:rPr>
              <a:t>	</a:t>
            </a:r>
            <a:r>
              <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8.4 </a:t>
            </a:r>
            <a:r>
              <a:rPr lang="zh-CN" altLang="en-US" sz="3600" b="1" dirty="0" smtClean="0">
                <a:solidFill>
                  <a:schemeClr val="bg1"/>
                </a:solidFill>
                <a:latin typeface="Verdana" panose="020B0604030504040204" pitchFamily="34" charset="0"/>
              </a:rPr>
              <a:t>分布式防火墙</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151812" cy="5290229"/>
          </a:xfrm>
          <a:prstGeom prst="rect">
            <a:avLst/>
          </a:prstGeom>
          <a:noFill/>
          <a:ln w="9525">
            <a:noFill/>
            <a:miter lim="800000"/>
          </a:ln>
        </p:spPr>
        <p:txBody>
          <a:bodyPr/>
          <a:lstStyle/>
          <a:p>
            <a:pPr>
              <a:spcBef>
                <a:spcPct val="20000"/>
              </a:spcBef>
            </a:pPr>
            <a:r>
              <a:rPr lang="en-US" altLang="zh-CN" sz="3200" b="1" dirty="0" smtClean="0">
                <a:solidFill>
                  <a:srgbClr val="FF0000"/>
                </a:solidFill>
              </a:rPr>
              <a:t>8.4.2 </a:t>
            </a:r>
            <a:r>
              <a:rPr lang="en-US" altLang="zh-CN" sz="2800" b="1" dirty="0" smtClean="0">
                <a:solidFill>
                  <a:srgbClr val="FF0000"/>
                </a:solidFill>
              </a:rPr>
              <a:t> </a:t>
            </a:r>
            <a:r>
              <a:rPr lang="zh-CN" altLang="en-US" sz="2800" b="1" dirty="0" smtClean="0">
                <a:solidFill>
                  <a:srgbClr val="FF0000"/>
                </a:solidFill>
                <a:sym typeface="+mn-ea"/>
              </a:rPr>
              <a:t>分布式防火墙</a:t>
            </a:r>
            <a:endParaRPr lang="en-US" altLang="zh-CN" sz="2800" b="1" dirty="0" smtClean="0">
              <a:solidFill>
                <a:srgbClr val="FF0000"/>
              </a:solidFill>
              <a:sym typeface="+mn-ea"/>
            </a:endParaRPr>
          </a:p>
          <a:p>
            <a:pPr>
              <a:spcBef>
                <a:spcPct val="20000"/>
              </a:spcBef>
            </a:pPr>
            <a:r>
              <a:rPr lang="zh-CN" altLang="en-US" sz="2800" b="1" dirty="0">
                <a:solidFill>
                  <a:schemeClr val="tx2"/>
                </a:solidFill>
                <a:latin typeface="宋体" panose="02010600030101010101" pitchFamily="2" charset="-122"/>
                <a:cs typeface="宋体" panose="02010600030101010101" pitchFamily="2" charset="-122"/>
                <a:sym typeface="+mn-ea"/>
              </a:rPr>
              <a:t>针对传统边界防火墙的缺欠，专家提出“分布式防火墙”的概念</a:t>
            </a:r>
            <a:r>
              <a:rPr lang="en-US" altLang="zh-CN" sz="2800" b="1" dirty="0" smtClean="0">
                <a:solidFill>
                  <a:schemeClr val="tx2"/>
                </a:solidFill>
                <a:latin typeface="宋体" panose="02010600030101010101" pitchFamily="2" charset="-122"/>
                <a:cs typeface="宋体" panose="02010600030101010101" pitchFamily="2" charset="-122"/>
                <a:sym typeface="+mn-ea"/>
              </a:rPr>
              <a:t>,</a:t>
            </a:r>
            <a:r>
              <a:rPr lang="zh-CN" altLang="en-US" sz="2800" b="1" dirty="0" smtClean="0">
                <a:solidFill>
                  <a:schemeClr val="tx2"/>
                </a:solidFill>
                <a:latin typeface="宋体" panose="02010600030101010101" pitchFamily="2" charset="-122"/>
                <a:cs typeface="宋体" panose="02010600030101010101" pitchFamily="2" charset="-122"/>
                <a:sym typeface="+mn-ea"/>
              </a:rPr>
              <a:t>广义来讲，</a:t>
            </a:r>
            <a:r>
              <a:rPr lang="zh-CN" altLang="en-US" sz="2800" b="1" dirty="0">
                <a:solidFill>
                  <a:schemeClr val="tx2"/>
                </a:solidFill>
                <a:latin typeface="宋体" panose="02010600030101010101" pitchFamily="2" charset="-122"/>
                <a:cs typeface="宋体" panose="02010600030101010101" pitchFamily="2" charset="-122"/>
                <a:sym typeface="+mn-ea"/>
              </a:rPr>
              <a:t>分布式</a:t>
            </a:r>
            <a:r>
              <a:rPr lang="zh-CN" altLang="en-US" sz="2800" b="1" dirty="0" smtClean="0">
                <a:solidFill>
                  <a:schemeClr val="tx2"/>
                </a:solidFill>
                <a:latin typeface="宋体" panose="02010600030101010101" pitchFamily="2" charset="-122"/>
                <a:cs typeface="宋体" panose="02010600030101010101" pitchFamily="2" charset="-122"/>
                <a:sym typeface="+mn-ea"/>
              </a:rPr>
              <a:t>防火墙是一种新的防火墙体系结构，它包含网络防火墙、主机防火墙和管理中心三部分。</a:t>
            </a:r>
            <a:r>
              <a:rPr lang="en-US" altLang="zh-CN" b="1" noProof="0" dirty="0" smtClean="0">
                <a:solidFill>
                  <a:schemeClr val="tx2"/>
                </a:solidFill>
                <a:latin typeface="宋体" panose="02010600030101010101" pitchFamily="2" charset="-122"/>
                <a:cs typeface="宋体" panose="02010600030101010101" pitchFamily="2" charset="-122"/>
                <a:sym typeface="+mn-ea"/>
              </a:rPr>
              <a:t>	</a:t>
            </a:r>
            <a:r>
              <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pic>
        <p:nvPicPr>
          <p:cNvPr id="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75271" y="3668772"/>
            <a:ext cx="5155282" cy="2898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8.4 </a:t>
            </a:r>
            <a:r>
              <a:rPr lang="zh-CN" altLang="en-US" sz="3600" b="1" dirty="0" smtClean="0">
                <a:solidFill>
                  <a:schemeClr val="bg1"/>
                </a:solidFill>
                <a:latin typeface="Verdana" panose="020B0604030504040204" pitchFamily="34" charset="0"/>
              </a:rPr>
              <a:t>分布式防火墙</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151812" cy="5290229"/>
          </a:xfrm>
          <a:prstGeom prst="rect">
            <a:avLst/>
          </a:prstGeom>
          <a:noFill/>
          <a:ln w="9525">
            <a:noFill/>
            <a:miter lim="800000"/>
          </a:ln>
        </p:spPr>
        <p:txBody>
          <a:bodyPr/>
          <a:lstStyle/>
          <a:p>
            <a:pPr>
              <a:spcBef>
                <a:spcPct val="20000"/>
              </a:spcBef>
            </a:pPr>
            <a:r>
              <a:rPr lang="en-US" altLang="zh-CN" sz="3200" b="1" dirty="0" smtClean="0">
                <a:solidFill>
                  <a:srgbClr val="FF0000"/>
                </a:solidFill>
              </a:rPr>
              <a:t>8.4.2 </a:t>
            </a:r>
            <a:r>
              <a:rPr lang="en-US" altLang="zh-CN" sz="2800" b="1" dirty="0" smtClean="0">
                <a:solidFill>
                  <a:srgbClr val="FF0000"/>
                </a:solidFill>
              </a:rPr>
              <a:t> </a:t>
            </a:r>
            <a:r>
              <a:rPr lang="zh-CN" altLang="en-US" sz="2800" b="1" dirty="0" smtClean="0">
                <a:solidFill>
                  <a:srgbClr val="FF0000"/>
                </a:solidFill>
                <a:sym typeface="+mn-ea"/>
              </a:rPr>
              <a:t>分布式防火墙</a:t>
            </a:r>
            <a:endParaRPr lang="en-US" altLang="zh-CN" sz="2800" b="1" dirty="0" smtClean="0">
              <a:solidFill>
                <a:srgbClr val="FF0000"/>
              </a:solidFill>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1.</a:t>
            </a:r>
            <a:r>
              <a:rPr lang="zh-CN" altLang="en-US" b="1" dirty="0">
                <a:solidFill>
                  <a:schemeClr val="tx2"/>
                </a:solidFill>
                <a:latin typeface="宋体" panose="02010600030101010101" pitchFamily="2" charset="-122"/>
                <a:cs typeface="宋体" panose="02010600030101010101" pitchFamily="2" charset="-122"/>
                <a:sym typeface="+mn-ea"/>
              </a:rPr>
              <a:t>网络防火墙</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dirty="0">
                <a:solidFill>
                  <a:schemeClr val="tx2"/>
                </a:solidFill>
                <a:latin typeface="宋体" panose="02010600030101010101" pitchFamily="2" charset="-122"/>
                <a:cs typeface="宋体" panose="02010600030101010101" pitchFamily="2" charset="-122"/>
                <a:sym typeface="+mn-ea"/>
              </a:rPr>
              <a:t>用于内部网与外部网</a:t>
            </a:r>
            <a:r>
              <a:rPr lang="zh-CN" altLang="en-US" b="1" dirty="0" smtClean="0">
                <a:solidFill>
                  <a:schemeClr val="tx2"/>
                </a:solidFill>
                <a:latin typeface="宋体" panose="02010600030101010101" pitchFamily="2" charset="-122"/>
                <a:cs typeface="宋体" panose="02010600030101010101" pitchFamily="2" charset="-122"/>
                <a:sym typeface="+mn-ea"/>
              </a:rPr>
              <a:t>之间和</a:t>
            </a:r>
            <a:r>
              <a:rPr lang="zh-CN" altLang="en-US" b="1" dirty="0">
                <a:solidFill>
                  <a:schemeClr val="tx2"/>
                </a:solidFill>
                <a:latin typeface="宋体" panose="02010600030101010101" pitchFamily="2" charset="-122"/>
                <a:cs typeface="宋体" panose="02010600030101010101" pitchFamily="2" charset="-122"/>
                <a:sym typeface="+mn-ea"/>
              </a:rPr>
              <a:t>内部网子网之间的防护</a:t>
            </a:r>
            <a:r>
              <a:rPr lang="zh-CN" altLang="en-US" b="1" dirty="0" smtClean="0">
                <a:solidFill>
                  <a:schemeClr val="tx2"/>
                </a:solidFill>
                <a:latin typeface="宋体" panose="02010600030101010101" pitchFamily="2" charset="-122"/>
                <a:cs typeface="宋体" panose="02010600030101010101" pitchFamily="2" charset="-122"/>
                <a:sym typeface="+mn-ea"/>
              </a:rPr>
              <a:t>产品</a:t>
            </a:r>
            <a:endParaRPr lang="en-US" altLang="zh-CN" b="1" dirty="0" smtClean="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smtClean="0">
                <a:solidFill>
                  <a:schemeClr val="tx2"/>
                </a:solidFill>
                <a:latin typeface="宋体" panose="02010600030101010101" pitchFamily="2" charset="-122"/>
                <a:cs typeface="宋体" panose="02010600030101010101" pitchFamily="2" charset="-122"/>
                <a:sym typeface="+mn-ea"/>
              </a:rPr>
              <a:t>2</a:t>
            </a:r>
            <a:r>
              <a:rPr lang="en-US" altLang="zh-CN" b="1" dirty="0">
                <a:solidFill>
                  <a:schemeClr val="tx2"/>
                </a:solidFill>
                <a:latin typeface="宋体" panose="02010600030101010101" pitchFamily="2" charset="-122"/>
                <a:cs typeface="宋体" panose="02010600030101010101" pitchFamily="2" charset="-122"/>
                <a:sym typeface="+mn-ea"/>
              </a:rPr>
              <a:t>.</a:t>
            </a:r>
            <a:r>
              <a:rPr lang="zh-CN" altLang="en-US" b="1" dirty="0">
                <a:solidFill>
                  <a:schemeClr val="tx2"/>
                </a:solidFill>
                <a:latin typeface="宋体" panose="02010600030101010101" pitchFamily="2" charset="-122"/>
                <a:cs typeface="宋体" panose="02010600030101010101" pitchFamily="2" charset="-122"/>
                <a:sym typeface="+mn-ea"/>
              </a:rPr>
              <a:t>主机防火墙 </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dirty="0">
                <a:solidFill>
                  <a:schemeClr val="tx2"/>
                </a:solidFill>
                <a:latin typeface="宋体" panose="02010600030101010101" pitchFamily="2" charset="-122"/>
                <a:cs typeface="宋体" panose="02010600030101010101" pitchFamily="2" charset="-122"/>
                <a:sym typeface="+mn-ea"/>
              </a:rPr>
              <a:t>对于网络中的服务器和桌面机进行防护，这些主机的物理位置可能在内部网中，也可能在内部网外，如托管服务器或移动办公的便携机。</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3.</a:t>
            </a:r>
            <a:r>
              <a:rPr lang="zh-CN" altLang="en-US" b="1" dirty="0">
                <a:solidFill>
                  <a:schemeClr val="tx2"/>
                </a:solidFill>
                <a:latin typeface="宋体" panose="02010600030101010101" pitchFamily="2" charset="-122"/>
                <a:cs typeface="宋体" panose="02010600030101010101" pitchFamily="2" charset="-122"/>
                <a:sym typeface="+mn-ea"/>
              </a:rPr>
              <a:t>管理中心</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noProof="0" dirty="0" smtClean="0">
                <a:solidFill>
                  <a:schemeClr val="tx2"/>
                </a:solidFill>
                <a:latin typeface="宋体" panose="02010600030101010101" pitchFamily="2" charset="-122"/>
                <a:cs typeface="宋体" panose="02010600030101010101" pitchFamily="2" charset="-122"/>
                <a:sym typeface="+mn-ea"/>
              </a:rPr>
              <a:t>分布式防火墙中的每个防火墙作为安全监测机制，根据安全性需要可布置在网络中任何需要的位置上，但安全策略必须是统一策划和管理的，安全策略的分发及日志的汇总都是管理中心应具备的</a:t>
            </a:r>
            <a:r>
              <a:rPr lang="zh-CN" altLang="en-US" b="1" dirty="0">
                <a:solidFill>
                  <a:schemeClr val="tx2"/>
                </a:solidFill>
                <a:latin typeface="宋体" panose="02010600030101010101" pitchFamily="2" charset="-122"/>
                <a:cs typeface="宋体" panose="02010600030101010101" pitchFamily="2" charset="-122"/>
                <a:sym typeface="+mn-ea"/>
              </a:rPr>
              <a:t>功能。管理</a:t>
            </a:r>
            <a:r>
              <a:rPr lang="zh-CN" altLang="en-US" b="1" dirty="0" smtClean="0">
                <a:solidFill>
                  <a:schemeClr val="tx2"/>
                </a:solidFill>
                <a:latin typeface="宋体" panose="02010600030101010101" pitchFamily="2" charset="-122"/>
                <a:cs typeface="宋体" panose="02010600030101010101" pitchFamily="2" charset="-122"/>
                <a:sym typeface="+mn-ea"/>
              </a:rPr>
              <a:t>中心是分布式防火墙的核心和重要特征之一。</a:t>
            </a:r>
            <a:r>
              <a:rPr lang="en-US" altLang="zh-CN" b="1" noProof="0" dirty="0" smtClean="0">
                <a:solidFill>
                  <a:schemeClr val="tx2"/>
                </a:solidFill>
                <a:latin typeface="宋体" panose="02010600030101010101" pitchFamily="2" charset="-122"/>
                <a:cs typeface="宋体" panose="02010600030101010101" pitchFamily="2" charset="-122"/>
                <a:sym typeface="+mn-ea"/>
              </a:rPr>
              <a:t>	</a:t>
            </a:r>
            <a:r>
              <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8.4 </a:t>
            </a:r>
            <a:r>
              <a:rPr lang="zh-CN" altLang="en-US" sz="3600" b="1" dirty="0" smtClean="0">
                <a:solidFill>
                  <a:schemeClr val="bg1"/>
                </a:solidFill>
                <a:latin typeface="Verdana" panose="020B0604030504040204" pitchFamily="34" charset="0"/>
              </a:rPr>
              <a:t>分布式防火墙</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151812" cy="5290229"/>
          </a:xfrm>
          <a:prstGeom prst="rect">
            <a:avLst/>
          </a:prstGeom>
          <a:noFill/>
          <a:ln w="9525">
            <a:noFill/>
            <a:miter lim="800000"/>
          </a:ln>
        </p:spPr>
        <p:txBody>
          <a:bodyPr/>
          <a:lstStyle/>
          <a:p>
            <a:pPr>
              <a:spcBef>
                <a:spcPct val="20000"/>
              </a:spcBef>
            </a:pPr>
            <a:r>
              <a:rPr lang="en-US" altLang="zh-CN" sz="3200" b="1" dirty="0" smtClean="0">
                <a:solidFill>
                  <a:srgbClr val="FF0000"/>
                </a:solidFill>
              </a:rPr>
              <a:t>8.4.3 </a:t>
            </a:r>
            <a:r>
              <a:rPr lang="en-US" altLang="zh-CN" sz="2800" b="1" dirty="0" smtClean="0">
                <a:solidFill>
                  <a:srgbClr val="FF0000"/>
                </a:solidFill>
              </a:rPr>
              <a:t> </a:t>
            </a:r>
            <a:r>
              <a:rPr lang="zh-CN" altLang="en-US" sz="2800" b="1" dirty="0" smtClean="0">
                <a:solidFill>
                  <a:srgbClr val="FF0000"/>
                </a:solidFill>
                <a:sym typeface="+mn-ea"/>
              </a:rPr>
              <a:t>分布式防火墙的优点</a:t>
            </a:r>
            <a:endParaRPr lang="en-US" altLang="zh-CN" sz="2800" b="1" dirty="0" smtClean="0">
              <a:solidFill>
                <a:srgbClr val="FF0000"/>
              </a:solidFill>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1.</a:t>
            </a:r>
            <a:r>
              <a:rPr lang="zh-CN" altLang="en-US" b="1" dirty="0">
                <a:solidFill>
                  <a:schemeClr val="tx2"/>
                </a:solidFill>
                <a:latin typeface="宋体" panose="02010600030101010101" pitchFamily="2" charset="-122"/>
                <a:cs typeface="宋体" panose="02010600030101010101" pitchFamily="2" charset="-122"/>
                <a:sym typeface="+mn-ea"/>
              </a:rPr>
              <a:t>系统的安全性提高了</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dirty="0">
                <a:solidFill>
                  <a:schemeClr val="tx2"/>
                </a:solidFill>
                <a:latin typeface="宋体" panose="02010600030101010101" pitchFamily="2" charset="-122"/>
                <a:cs typeface="宋体" panose="02010600030101010101" pitchFamily="2" charset="-122"/>
                <a:sym typeface="+mn-ea"/>
              </a:rPr>
              <a:t>	增加了针对主机的入侵监测和防护功能。 </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dirty="0">
                <a:solidFill>
                  <a:schemeClr val="tx2"/>
                </a:solidFill>
                <a:latin typeface="宋体" panose="02010600030101010101" pitchFamily="2" charset="-122"/>
                <a:cs typeface="宋体" panose="02010600030101010101" pitchFamily="2" charset="-122"/>
                <a:sym typeface="+mn-ea"/>
              </a:rPr>
              <a:t>	加强了对来自内部攻击的防范。</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dirty="0">
                <a:solidFill>
                  <a:schemeClr val="tx2"/>
                </a:solidFill>
                <a:latin typeface="宋体" panose="02010600030101010101" pitchFamily="2" charset="-122"/>
                <a:cs typeface="宋体" panose="02010600030101010101" pitchFamily="2" charset="-122"/>
                <a:sym typeface="+mn-ea"/>
              </a:rPr>
              <a:t>	可以实施全方位的安全策略。</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dirty="0">
                <a:solidFill>
                  <a:schemeClr val="tx2"/>
                </a:solidFill>
                <a:latin typeface="宋体" panose="02010600030101010101" pitchFamily="2" charset="-122"/>
                <a:cs typeface="宋体" panose="02010600030101010101" pitchFamily="2" charset="-122"/>
                <a:sym typeface="+mn-ea"/>
              </a:rPr>
              <a:t>	提供了多层次立体的防范体系</a:t>
            </a:r>
            <a:r>
              <a:rPr lang="zh-CN" altLang="en-US" b="1" dirty="0" smtClean="0">
                <a:solidFill>
                  <a:schemeClr val="tx2"/>
                </a:solidFill>
                <a:latin typeface="宋体" panose="02010600030101010101" pitchFamily="2" charset="-122"/>
                <a:cs typeface="宋体" panose="02010600030101010101" pitchFamily="2" charset="-122"/>
                <a:sym typeface="+mn-ea"/>
              </a:rPr>
              <a:t>。</a:t>
            </a:r>
            <a:endParaRPr lang="en-US" altLang="zh-CN" b="1" dirty="0" smtClean="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2.</a:t>
            </a:r>
            <a:r>
              <a:rPr lang="zh-CN" altLang="en-US" b="1" dirty="0">
                <a:solidFill>
                  <a:schemeClr val="tx2"/>
                </a:solidFill>
                <a:latin typeface="宋体" panose="02010600030101010101" pitchFamily="2" charset="-122"/>
                <a:cs typeface="宋体" panose="02010600030101010101" pitchFamily="2" charset="-122"/>
                <a:sym typeface="+mn-ea"/>
              </a:rPr>
              <a:t>保证了系统的性能</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3</a:t>
            </a:r>
            <a:r>
              <a:rPr lang="en-US" altLang="zh-CN" b="1" dirty="0" smtClean="0">
                <a:solidFill>
                  <a:schemeClr val="tx2"/>
                </a:solidFill>
                <a:latin typeface="宋体" panose="02010600030101010101" pitchFamily="2" charset="-122"/>
                <a:cs typeface="宋体" panose="02010600030101010101" pitchFamily="2" charset="-122"/>
                <a:sym typeface="+mn-ea"/>
              </a:rPr>
              <a:t>.</a:t>
            </a:r>
            <a:r>
              <a:rPr lang="zh-CN" altLang="en-US" b="1" dirty="0" smtClean="0">
                <a:solidFill>
                  <a:schemeClr val="tx2"/>
                </a:solidFill>
                <a:latin typeface="宋体" panose="02010600030101010101" pitchFamily="2" charset="-122"/>
                <a:cs typeface="宋体" panose="02010600030101010101" pitchFamily="2" charset="-122"/>
                <a:sym typeface="+mn-ea"/>
              </a:rPr>
              <a:t>随</a:t>
            </a:r>
            <a:r>
              <a:rPr lang="zh-CN" altLang="en-US" b="1" dirty="0">
                <a:solidFill>
                  <a:schemeClr val="tx2"/>
                </a:solidFill>
                <a:latin typeface="宋体" panose="02010600030101010101" pitchFamily="2" charset="-122"/>
                <a:cs typeface="宋体" panose="02010600030101010101" pitchFamily="2" charset="-122"/>
                <a:sym typeface="+mn-ea"/>
              </a:rPr>
              <a:t>系统扩充提供了安全防护无限扩充的能力</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4.</a:t>
            </a:r>
            <a:r>
              <a:rPr lang="zh-CN" altLang="en-US" b="1" dirty="0">
                <a:solidFill>
                  <a:schemeClr val="tx2"/>
                </a:solidFill>
                <a:latin typeface="宋体" panose="02010600030101010101" pitchFamily="2" charset="-122"/>
                <a:cs typeface="宋体" panose="02010600030101010101" pitchFamily="2" charset="-122"/>
                <a:sym typeface="+mn-ea"/>
              </a:rPr>
              <a:t>应用更为广泛，支持</a:t>
            </a:r>
            <a:r>
              <a:rPr lang="en-US" altLang="zh-CN" b="1" dirty="0">
                <a:solidFill>
                  <a:schemeClr val="tx2"/>
                </a:solidFill>
                <a:latin typeface="宋体" panose="02010600030101010101" pitchFamily="2" charset="-122"/>
                <a:cs typeface="宋体" panose="02010600030101010101" pitchFamily="2" charset="-122"/>
                <a:sym typeface="+mn-ea"/>
              </a:rPr>
              <a:t>VPN</a:t>
            </a:r>
            <a:r>
              <a:rPr lang="zh-CN" altLang="en-US" b="1" dirty="0">
                <a:solidFill>
                  <a:schemeClr val="tx2"/>
                </a:solidFill>
                <a:latin typeface="宋体" panose="02010600030101010101" pitchFamily="2" charset="-122"/>
                <a:cs typeface="宋体" panose="02010600030101010101" pitchFamily="2" charset="-122"/>
                <a:sym typeface="+mn-ea"/>
              </a:rPr>
              <a:t>通信</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endParaRPr lang="zh-CN" altLang="en-US" b="1" dirty="0" smtClean="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smtClean="0">
                <a:solidFill>
                  <a:schemeClr val="tx2"/>
                </a:solidFill>
                <a:latin typeface="宋体" panose="02010600030101010101" pitchFamily="2" charset="-122"/>
                <a:cs typeface="宋体" panose="02010600030101010101" pitchFamily="2" charset="-122"/>
                <a:sym typeface="+mn-ea"/>
              </a:rPr>
              <a:t>	</a:t>
            </a:r>
            <a:r>
              <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8.5 </a:t>
            </a:r>
            <a:r>
              <a:rPr lang="zh-CN" altLang="en-US" sz="3600" b="1" dirty="0" smtClean="0">
                <a:solidFill>
                  <a:schemeClr val="bg1"/>
                </a:solidFill>
                <a:latin typeface="Verdana" panose="020B0604030504040204" pitchFamily="34" charset="0"/>
              </a:rPr>
              <a:t>防火墙发展历史</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151812" cy="5290229"/>
          </a:xfrm>
          <a:prstGeom prst="rect">
            <a:avLst/>
          </a:prstGeom>
          <a:noFill/>
          <a:ln w="9525">
            <a:noFill/>
            <a:miter lim="800000"/>
          </a:ln>
        </p:spPr>
        <p:txBody>
          <a:bodyPr/>
          <a:lstStyle/>
          <a:p>
            <a:pPr>
              <a:spcBef>
                <a:spcPct val="20000"/>
              </a:spcBef>
            </a:pPr>
            <a:r>
              <a:rPr lang="en-US" altLang="zh-CN" sz="3200" b="1" dirty="0" smtClean="0">
                <a:solidFill>
                  <a:srgbClr val="FF0000"/>
                </a:solidFill>
              </a:rPr>
              <a:t>8.5.1 </a:t>
            </a:r>
            <a:r>
              <a:rPr lang="en-US" altLang="zh-CN" sz="2800" b="1" dirty="0" smtClean="0">
                <a:solidFill>
                  <a:srgbClr val="FF0000"/>
                </a:solidFill>
              </a:rPr>
              <a:t> </a:t>
            </a:r>
            <a:r>
              <a:rPr lang="zh-CN" altLang="en-US" sz="2800" b="1" dirty="0" smtClean="0">
                <a:solidFill>
                  <a:srgbClr val="FF0000"/>
                </a:solidFill>
                <a:sym typeface="+mn-ea"/>
              </a:rPr>
              <a:t>发展历史</a:t>
            </a:r>
            <a:endParaRPr lang="en-US" altLang="zh-CN" sz="2800" b="1" dirty="0" smtClean="0">
              <a:solidFill>
                <a:srgbClr val="FF0000"/>
              </a:solidFill>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1.</a:t>
            </a:r>
            <a:r>
              <a:rPr lang="zh-CN" altLang="en-US" b="1" dirty="0">
                <a:solidFill>
                  <a:schemeClr val="tx2"/>
                </a:solidFill>
                <a:latin typeface="宋体" panose="02010600030101010101" pitchFamily="2" charset="-122"/>
                <a:cs typeface="宋体" panose="02010600030101010101" pitchFamily="2" charset="-122"/>
                <a:sym typeface="+mn-ea"/>
              </a:rPr>
              <a:t>第一代防火墙</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dirty="0">
                <a:solidFill>
                  <a:schemeClr val="tx2"/>
                </a:solidFill>
                <a:latin typeface="宋体" panose="02010600030101010101" pitchFamily="2" charset="-122"/>
                <a:cs typeface="宋体" panose="02010600030101010101" pitchFamily="2" charset="-122"/>
                <a:sym typeface="+mn-ea"/>
              </a:rPr>
              <a:t>第一代防火墙技术几乎与路由器同时出现，采用了包过滤（</a:t>
            </a:r>
            <a:r>
              <a:rPr lang="en-US" altLang="zh-CN" b="1" dirty="0">
                <a:solidFill>
                  <a:schemeClr val="tx2"/>
                </a:solidFill>
                <a:latin typeface="宋体" panose="02010600030101010101" pitchFamily="2" charset="-122"/>
                <a:cs typeface="宋体" panose="02010600030101010101" pitchFamily="2" charset="-122"/>
                <a:sym typeface="+mn-ea"/>
              </a:rPr>
              <a:t>Packet filter</a:t>
            </a:r>
            <a:r>
              <a:rPr lang="zh-CN" altLang="en-US" b="1" dirty="0">
                <a:solidFill>
                  <a:schemeClr val="tx2"/>
                </a:solidFill>
                <a:latin typeface="宋体" panose="02010600030101010101" pitchFamily="2" charset="-122"/>
                <a:cs typeface="宋体" panose="02010600030101010101" pitchFamily="2" charset="-122"/>
                <a:sym typeface="+mn-ea"/>
              </a:rPr>
              <a:t>）技术。</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2.</a:t>
            </a:r>
            <a:r>
              <a:rPr lang="zh-CN" altLang="en-US" b="1" dirty="0">
                <a:solidFill>
                  <a:schemeClr val="tx2"/>
                </a:solidFill>
                <a:latin typeface="宋体" panose="02010600030101010101" pitchFamily="2" charset="-122"/>
                <a:cs typeface="宋体" panose="02010600030101010101" pitchFamily="2" charset="-122"/>
                <a:sym typeface="+mn-ea"/>
              </a:rPr>
              <a:t>第二代防火墙</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dirty="0">
                <a:solidFill>
                  <a:schemeClr val="tx2"/>
                </a:solidFill>
                <a:latin typeface="宋体" panose="02010600030101010101" pitchFamily="2" charset="-122"/>
                <a:cs typeface="宋体" panose="02010600030101010101" pitchFamily="2" charset="-122"/>
                <a:sym typeface="+mn-ea"/>
              </a:rPr>
              <a:t>第一代防火墙技术主要在路由器上实现，后来将此安全功能独立出来专门用来实现安全过滤功能。</a:t>
            </a:r>
            <a:r>
              <a:rPr lang="en-US" altLang="zh-CN" b="1" dirty="0">
                <a:solidFill>
                  <a:schemeClr val="tx2"/>
                </a:solidFill>
                <a:latin typeface="宋体" panose="02010600030101010101" pitchFamily="2" charset="-122"/>
                <a:cs typeface="宋体" panose="02010600030101010101" pitchFamily="2" charset="-122"/>
                <a:sym typeface="+mn-ea"/>
              </a:rPr>
              <a:t>1989</a:t>
            </a:r>
            <a:r>
              <a:rPr lang="zh-CN" altLang="en-US" b="1" dirty="0">
                <a:solidFill>
                  <a:schemeClr val="tx2"/>
                </a:solidFill>
                <a:latin typeface="宋体" panose="02010600030101010101" pitchFamily="2" charset="-122"/>
                <a:cs typeface="宋体" panose="02010600030101010101" pitchFamily="2" charset="-122"/>
                <a:sym typeface="+mn-ea"/>
              </a:rPr>
              <a:t>年，贝尔实验室的</a:t>
            </a:r>
            <a:r>
              <a:rPr lang="en-US" altLang="zh-CN" b="1" dirty="0">
                <a:solidFill>
                  <a:schemeClr val="tx2"/>
                </a:solidFill>
                <a:latin typeface="宋体" panose="02010600030101010101" pitchFamily="2" charset="-122"/>
                <a:cs typeface="宋体" panose="02010600030101010101" pitchFamily="2" charset="-122"/>
                <a:sym typeface="+mn-ea"/>
              </a:rPr>
              <a:t>Dave </a:t>
            </a:r>
            <a:r>
              <a:rPr lang="en-US" altLang="zh-CN" b="1" dirty="0" err="1">
                <a:solidFill>
                  <a:schemeClr val="tx2"/>
                </a:solidFill>
                <a:latin typeface="宋体" panose="02010600030101010101" pitchFamily="2" charset="-122"/>
                <a:cs typeface="宋体" panose="02010600030101010101" pitchFamily="2" charset="-122"/>
                <a:sym typeface="+mn-ea"/>
              </a:rPr>
              <a:t>Presotto</a:t>
            </a:r>
            <a:r>
              <a:rPr lang="zh-CN" altLang="en-US" b="1" dirty="0">
                <a:solidFill>
                  <a:schemeClr val="tx2"/>
                </a:solidFill>
                <a:latin typeface="宋体" panose="02010600030101010101" pitchFamily="2" charset="-122"/>
                <a:cs typeface="宋体" panose="02010600030101010101" pitchFamily="2" charset="-122"/>
                <a:sym typeface="+mn-ea"/>
              </a:rPr>
              <a:t>和</a:t>
            </a:r>
            <a:r>
              <a:rPr lang="en-US" altLang="zh-CN" b="1" dirty="0">
                <a:solidFill>
                  <a:schemeClr val="tx2"/>
                </a:solidFill>
                <a:latin typeface="宋体" panose="02010600030101010101" pitchFamily="2" charset="-122"/>
                <a:cs typeface="宋体" panose="02010600030101010101" pitchFamily="2" charset="-122"/>
                <a:sym typeface="+mn-ea"/>
              </a:rPr>
              <a:t>Howard </a:t>
            </a:r>
            <a:r>
              <a:rPr lang="en-US" altLang="zh-CN" b="1" dirty="0" err="1">
                <a:solidFill>
                  <a:schemeClr val="tx2"/>
                </a:solidFill>
                <a:latin typeface="宋体" panose="02010600030101010101" pitchFamily="2" charset="-122"/>
                <a:cs typeface="宋体" panose="02010600030101010101" pitchFamily="2" charset="-122"/>
                <a:sym typeface="+mn-ea"/>
              </a:rPr>
              <a:t>Trickey</a:t>
            </a:r>
            <a:r>
              <a:rPr lang="zh-CN" altLang="en-US" b="1" dirty="0">
                <a:solidFill>
                  <a:schemeClr val="tx2"/>
                </a:solidFill>
                <a:latin typeface="宋体" panose="02010600030101010101" pitchFamily="2" charset="-122"/>
                <a:cs typeface="宋体" panose="02010600030101010101" pitchFamily="2" charset="-122"/>
                <a:sym typeface="+mn-ea"/>
              </a:rPr>
              <a:t>推出了第二代防火墙，即电路层防火墙，同时提出了第三代防火墙</a:t>
            </a:r>
            <a:r>
              <a:rPr lang="en-US" altLang="zh-CN" b="1" dirty="0">
                <a:solidFill>
                  <a:schemeClr val="tx2"/>
                </a:solidFill>
                <a:latin typeface="宋体" panose="02010600030101010101" pitchFamily="2" charset="-122"/>
                <a:cs typeface="宋体" panose="02010600030101010101" pitchFamily="2" charset="-122"/>
                <a:sym typeface="+mn-ea"/>
              </a:rPr>
              <a:t>——</a:t>
            </a:r>
            <a:r>
              <a:rPr lang="zh-CN" altLang="en-US" b="1" dirty="0">
                <a:solidFill>
                  <a:schemeClr val="tx2"/>
                </a:solidFill>
                <a:latin typeface="宋体" panose="02010600030101010101" pitchFamily="2" charset="-122"/>
                <a:cs typeface="宋体" panose="02010600030101010101" pitchFamily="2" charset="-122"/>
                <a:sym typeface="+mn-ea"/>
              </a:rPr>
              <a:t>应用层防火墙（代理防火墙）的初步结构。 </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3.</a:t>
            </a:r>
            <a:r>
              <a:rPr lang="zh-CN" altLang="en-US" b="1" dirty="0">
                <a:solidFill>
                  <a:schemeClr val="tx2"/>
                </a:solidFill>
                <a:latin typeface="宋体" panose="02010600030101010101" pitchFamily="2" charset="-122"/>
                <a:cs typeface="宋体" panose="02010600030101010101" pitchFamily="2" charset="-122"/>
                <a:sym typeface="+mn-ea"/>
              </a:rPr>
              <a:t>第三代防火墙</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dirty="0" smtClean="0">
                <a:solidFill>
                  <a:schemeClr val="tx2"/>
                </a:solidFill>
                <a:latin typeface="宋体" panose="02010600030101010101" pitchFamily="2" charset="-122"/>
                <a:cs typeface="宋体" panose="02010600030101010101" pitchFamily="2" charset="-122"/>
                <a:sym typeface="+mn-ea"/>
              </a:rPr>
              <a:t>代理防火墙的出现，同时引发了对承载代理程序的操作系统的安全需求，即对防火墙本身的安全问题的安全需求。</a:t>
            </a:r>
            <a:endParaRPr lang="zh-CN" altLang="en-US" b="1" dirty="0" smtClean="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smtClean="0">
                <a:solidFill>
                  <a:schemeClr val="tx2"/>
                </a:solidFill>
                <a:latin typeface="宋体" panose="02010600030101010101" pitchFamily="2" charset="-122"/>
                <a:cs typeface="宋体" panose="02010600030101010101" pitchFamily="2" charset="-122"/>
                <a:sym typeface="+mn-ea"/>
              </a:rPr>
              <a:t>	</a:t>
            </a:r>
            <a:r>
              <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8.5 </a:t>
            </a:r>
            <a:r>
              <a:rPr lang="zh-CN" altLang="en-US" sz="3600" b="1" dirty="0" smtClean="0">
                <a:solidFill>
                  <a:schemeClr val="bg1"/>
                </a:solidFill>
                <a:latin typeface="Verdana" panose="020B0604030504040204" pitchFamily="34" charset="0"/>
              </a:rPr>
              <a:t>防火墙发展历史</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151812" cy="5290229"/>
          </a:xfrm>
          <a:prstGeom prst="rect">
            <a:avLst/>
          </a:prstGeom>
          <a:noFill/>
          <a:ln w="9525">
            <a:noFill/>
            <a:miter lim="800000"/>
          </a:ln>
        </p:spPr>
        <p:txBody>
          <a:bodyPr/>
          <a:lstStyle/>
          <a:p>
            <a:pPr>
              <a:spcBef>
                <a:spcPct val="20000"/>
              </a:spcBef>
            </a:pPr>
            <a:r>
              <a:rPr lang="en-US" altLang="zh-CN" sz="3200" b="1" dirty="0" smtClean="0">
                <a:solidFill>
                  <a:srgbClr val="FF0000"/>
                </a:solidFill>
              </a:rPr>
              <a:t>8.5.1 </a:t>
            </a:r>
            <a:r>
              <a:rPr lang="en-US" altLang="zh-CN" sz="2800" b="1" dirty="0" smtClean="0">
                <a:solidFill>
                  <a:srgbClr val="FF0000"/>
                </a:solidFill>
              </a:rPr>
              <a:t> </a:t>
            </a:r>
            <a:r>
              <a:rPr lang="zh-CN" altLang="en-US" sz="2800" b="1" dirty="0" smtClean="0">
                <a:solidFill>
                  <a:srgbClr val="FF0000"/>
                </a:solidFill>
                <a:sym typeface="+mn-ea"/>
              </a:rPr>
              <a:t>发展历史</a:t>
            </a:r>
            <a:endParaRPr lang="en-US" altLang="zh-CN" sz="2800" b="1" dirty="0" smtClean="0">
              <a:solidFill>
                <a:srgbClr val="FF0000"/>
              </a:solidFill>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4.</a:t>
            </a:r>
            <a:r>
              <a:rPr lang="zh-CN" altLang="en-US" b="1" dirty="0">
                <a:solidFill>
                  <a:schemeClr val="tx2"/>
                </a:solidFill>
                <a:latin typeface="宋体" panose="02010600030101010101" pitchFamily="2" charset="-122"/>
                <a:cs typeface="宋体" panose="02010600030101010101" pitchFamily="2" charset="-122"/>
                <a:sym typeface="+mn-ea"/>
              </a:rPr>
              <a:t>第四代防火墙 </a:t>
            </a:r>
            <a:endParaRPr lang="en-US" altLang="zh-CN" b="1" dirty="0" smtClean="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smtClean="0">
                <a:solidFill>
                  <a:schemeClr val="tx2"/>
                </a:solidFill>
                <a:latin typeface="宋体" panose="02010600030101010101" pitchFamily="2" charset="-122"/>
                <a:cs typeface="宋体" panose="02010600030101010101" pitchFamily="2" charset="-122"/>
                <a:sym typeface="+mn-ea"/>
              </a:rPr>
              <a:t>1992</a:t>
            </a:r>
            <a:r>
              <a:rPr lang="zh-CN" altLang="en-US" b="1" dirty="0" smtClean="0">
                <a:solidFill>
                  <a:schemeClr val="tx2"/>
                </a:solidFill>
                <a:latin typeface="宋体" panose="02010600030101010101" pitchFamily="2" charset="-122"/>
                <a:cs typeface="宋体" panose="02010600030101010101" pitchFamily="2" charset="-122"/>
                <a:sym typeface="+mn-ea"/>
              </a:rPr>
              <a:t>年，</a:t>
            </a:r>
            <a:r>
              <a:rPr lang="en-US" altLang="zh-CN" b="1" dirty="0" smtClean="0">
                <a:solidFill>
                  <a:schemeClr val="tx2"/>
                </a:solidFill>
                <a:latin typeface="宋体" panose="02010600030101010101" pitchFamily="2" charset="-122"/>
                <a:cs typeface="宋体" panose="02010600030101010101" pitchFamily="2" charset="-122"/>
                <a:sym typeface="+mn-ea"/>
              </a:rPr>
              <a:t>USC</a:t>
            </a:r>
            <a:r>
              <a:rPr lang="zh-CN" altLang="en-US" b="1" dirty="0" smtClean="0">
                <a:solidFill>
                  <a:schemeClr val="tx2"/>
                </a:solidFill>
                <a:latin typeface="宋体" panose="02010600030101010101" pitchFamily="2" charset="-122"/>
                <a:cs typeface="宋体" panose="02010600030101010101" pitchFamily="2" charset="-122"/>
                <a:sym typeface="+mn-ea"/>
              </a:rPr>
              <a:t>信息科学院的</a:t>
            </a:r>
            <a:r>
              <a:rPr lang="en-US" altLang="zh-CN" b="1" dirty="0" smtClean="0">
                <a:solidFill>
                  <a:schemeClr val="tx2"/>
                </a:solidFill>
                <a:latin typeface="宋体" panose="02010600030101010101" pitchFamily="2" charset="-122"/>
                <a:cs typeface="宋体" panose="02010600030101010101" pitchFamily="2" charset="-122"/>
                <a:sym typeface="+mn-ea"/>
              </a:rPr>
              <a:t>Bob Braden</a:t>
            </a:r>
            <a:r>
              <a:rPr lang="zh-CN" altLang="en-US" b="1" dirty="0" smtClean="0">
                <a:solidFill>
                  <a:schemeClr val="tx2"/>
                </a:solidFill>
                <a:latin typeface="宋体" panose="02010600030101010101" pitchFamily="2" charset="-122"/>
                <a:cs typeface="宋体" panose="02010600030101010101" pitchFamily="2" charset="-122"/>
                <a:sym typeface="+mn-ea"/>
              </a:rPr>
              <a:t>开发出了基于动态包过滤的第四代防火墙，后来演变为状态监视（</a:t>
            </a:r>
            <a:r>
              <a:rPr lang="en-US" altLang="zh-CN" b="1" dirty="0" err="1" smtClean="0">
                <a:solidFill>
                  <a:schemeClr val="tx2"/>
                </a:solidFill>
                <a:latin typeface="宋体" panose="02010600030101010101" pitchFamily="2" charset="-122"/>
                <a:cs typeface="宋体" panose="02010600030101010101" pitchFamily="2" charset="-122"/>
                <a:sym typeface="+mn-ea"/>
              </a:rPr>
              <a:t>Stateful</a:t>
            </a:r>
            <a:r>
              <a:rPr lang="en-US" altLang="zh-CN" b="1" dirty="0" smtClean="0">
                <a:solidFill>
                  <a:schemeClr val="tx2"/>
                </a:solidFill>
                <a:latin typeface="宋体" panose="02010600030101010101" pitchFamily="2" charset="-122"/>
                <a:cs typeface="宋体" panose="02010600030101010101" pitchFamily="2" charset="-122"/>
                <a:sym typeface="+mn-ea"/>
              </a:rPr>
              <a:t> Inspection</a:t>
            </a:r>
            <a:r>
              <a:rPr lang="zh-CN" altLang="en-US" b="1" dirty="0" smtClean="0">
                <a:solidFill>
                  <a:schemeClr val="tx2"/>
                </a:solidFill>
                <a:latin typeface="宋体" panose="02010600030101010101" pitchFamily="2" charset="-122"/>
                <a:cs typeface="宋体" panose="02010600030101010101" pitchFamily="2" charset="-122"/>
                <a:sym typeface="+mn-ea"/>
              </a:rPr>
              <a:t>）技术。</a:t>
            </a:r>
            <a:r>
              <a:rPr lang="en-US" altLang="zh-CN" b="1" dirty="0" smtClean="0">
                <a:solidFill>
                  <a:schemeClr val="tx2"/>
                </a:solidFill>
                <a:latin typeface="宋体" panose="02010600030101010101" pitchFamily="2" charset="-122"/>
                <a:cs typeface="宋体" panose="02010600030101010101" pitchFamily="2" charset="-122"/>
                <a:sym typeface="+mn-ea"/>
              </a:rPr>
              <a:t>1994</a:t>
            </a:r>
            <a:r>
              <a:rPr lang="zh-CN" altLang="en-US" b="1" dirty="0" smtClean="0">
                <a:solidFill>
                  <a:schemeClr val="tx2"/>
                </a:solidFill>
                <a:latin typeface="宋体" panose="02010600030101010101" pitchFamily="2" charset="-122"/>
                <a:cs typeface="宋体" panose="02010600030101010101" pitchFamily="2" charset="-122"/>
                <a:sym typeface="+mn-ea"/>
              </a:rPr>
              <a:t>年，以色列的</a:t>
            </a:r>
            <a:r>
              <a:rPr lang="en-US" altLang="zh-CN" b="1" dirty="0" err="1" smtClean="0">
                <a:solidFill>
                  <a:schemeClr val="tx2"/>
                </a:solidFill>
                <a:latin typeface="宋体" panose="02010600030101010101" pitchFamily="2" charset="-122"/>
                <a:cs typeface="宋体" panose="02010600030101010101" pitchFamily="2" charset="-122"/>
                <a:sym typeface="+mn-ea"/>
              </a:rPr>
              <a:t>CheckPoint</a:t>
            </a:r>
            <a:r>
              <a:rPr lang="zh-CN" altLang="en-US" b="1" dirty="0" smtClean="0">
                <a:solidFill>
                  <a:schemeClr val="tx2"/>
                </a:solidFill>
                <a:latin typeface="宋体" panose="02010600030101010101" pitchFamily="2" charset="-122"/>
                <a:cs typeface="宋体" panose="02010600030101010101" pitchFamily="2" charset="-122"/>
                <a:sym typeface="+mn-ea"/>
              </a:rPr>
              <a:t>公司开发出了第一个采用这种技术的商业化的产品。</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5.</a:t>
            </a:r>
            <a:r>
              <a:rPr lang="zh-CN" altLang="en-US" b="1" dirty="0">
                <a:solidFill>
                  <a:schemeClr val="tx2"/>
                </a:solidFill>
                <a:latin typeface="宋体" panose="02010600030101010101" pitchFamily="2" charset="-122"/>
                <a:cs typeface="宋体" panose="02010600030101010101" pitchFamily="2" charset="-122"/>
                <a:sym typeface="+mn-ea"/>
              </a:rPr>
              <a:t>第五代防火墙 </a:t>
            </a:r>
            <a:endParaRPr lang="en-US" altLang="zh-CN" b="1" dirty="0" smtClean="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smtClean="0">
                <a:solidFill>
                  <a:schemeClr val="tx2"/>
                </a:solidFill>
                <a:latin typeface="宋体" panose="02010600030101010101" pitchFamily="2" charset="-122"/>
                <a:cs typeface="宋体" panose="02010600030101010101" pitchFamily="2" charset="-122"/>
                <a:sym typeface="+mn-ea"/>
              </a:rPr>
              <a:t>1998</a:t>
            </a:r>
            <a:r>
              <a:rPr lang="zh-CN" altLang="en-US" b="1" dirty="0" smtClean="0">
                <a:solidFill>
                  <a:schemeClr val="tx2"/>
                </a:solidFill>
                <a:latin typeface="宋体" panose="02010600030101010101" pitchFamily="2" charset="-122"/>
                <a:cs typeface="宋体" panose="02010600030101010101" pitchFamily="2" charset="-122"/>
                <a:sym typeface="+mn-ea"/>
              </a:rPr>
              <a:t>年，</a:t>
            </a:r>
            <a:r>
              <a:rPr lang="en-US" altLang="zh-CN" b="1" dirty="0" smtClean="0">
                <a:solidFill>
                  <a:schemeClr val="tx2"/>
                </a:solidFill>
                <a:latin typeface="宋体" panose="02010600030101010101" pitchFamily="2" charset="-122"/>
                <a:cs typeface="宋体" panose="02010600030101010101" pitchFamily="2" charset="-122"/>
                <a:sym typeface="+mn-ea"/>
              </a:rPr>
              <a:t>NAI</a:t>
            </a:r>
            <a:r>
              <a:rPr lang="zh-CN" altLang="en-US" b="1" dirty="0" smtClean="0">
                <a:solidFill>
                  <a:schemeClr val="tx2"/>
                </a:solidFill>
                <a:latin typeface="宋体" panose="02010600030101010101" pitchFamily="2" charset="-122"/>
                <a:cs typeface="宋体" panose="02010600030101010101" pitchFamily="2" charset="-122"/>
                <a:sym typeface="+mn-ea"/>
              </a:rPr>
              <a:t>公司推出了了一种自适应代理技术，并应用于其产品，可以称为第五代防火墙。</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noProof="0" dirty="0" smtClean="0">
                <a:solidFill>
                  <a:schemeClr val="tx2"/>
                </a:solidFill>
                <a:latin typeface="宋体" panose="02010600030101010101" pitchFamily="2" charset="-122"/>
                <a:cs typeface="宋体" panose="02010600030101010101" pitchFamily="2" charset="-122"/>
                <a:sym typeface="+mn-ea"/>
              </a:rPr>
              <a:t>	</a:t>
            </a:r>
            <a:r>
              <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8.5 </a:t>
            </a:r>
            <a:r>
              <a:rPr lang="zh-CN" altLang="en-US" sz="3600" b="1" dirty="0" smtClean="0">
                <a:solidFill>
                  <a:schemeClr val="bg1"/>
                </a:solidFill>
                <a:latin typeface="Verdana" panose="020B0604030504040204" pitchFamily="34" charset="0"/>
              </a:rPr>
              <a:t>防火墙发展历史</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151812" cy="5290229"/>
          </a:xfrm>
          <a:prstGeom prst="rect">
            <a:avLst/>
          </a:prstGeom>
          <a:noFill/>
          <a:ln w="9525">
            <a:noFill/>
            <a:miter lim="800000"/>
          </a:ln>
        </p:spPr>
        <p:txBody>
          <a:bodyPr/>
          <a:lstStyle/>
          <a:p>
            <a:pPr>
              <a:spcBef>
                <a:spcPct val="20000"/>
              </a:spcBef>
            </a:pPr>
            <a:r>
              <a:rPr lang="en-US" altLang="zh-CN" sz="3200" b="1" dirty="0" smtClean="0">
                <a:solidFill>
                  <a:srgbClr val="FF0000"/>
                </a:solidFill>
              </a:rPr>
              <a:t>8.5.1 </a:t>
            </a:r>
            <a:r>
              <a:rPr lang="en-US" altLang="zh-CN" sz="2800" b="1" dirty="0" smtClean="0">
                <a:solidFill>
                  <a:srgbClr val="FF0000"/>
                </a:solidFill>
              </a:rPr>
              <a:t> </a:t>
            </a:r>
            <a:r>
              <a:rPr lang="zh-CN" altLang="en-US" sz="2800" b="1" dirty="0" smtClean="0">
                <a:solidFill>
                  <a:srgbClr val="FF0000"/>
                </a:solidFill>
                <a:sym typeface="+mn-ea"/>
              </a:rPr>
              <a:t>发展历史</a:t>
            </a:r>
            <a:endParaRPr lang="en-US" altLang="zh-CN" sz="2800" b="1" dirty="0" smtClean="0">
              <a:solidFill>
                <a:srgbClr val="FF0000"/>
              </a:solidFill>
              <a:sym typeface="+mn-ea"/>
            </a:endParaRPr>
          </a:p>
          <a:p>
            <a:pPr>
              <a:spcBef>
                <a:spcPct val="20000"/>
              </a:spcBef>
            </a:pPr>
            <a:r>
              <a:rPr lang="en-US" altLang="zh-CN" b="1" dirty="0" smtClean="0">
                <a:solidFill>
                  <a:schemeClr val="tx2"/>
                </a:solidFill>
                <a:latin typeface="宋体" panose="02010600030101010101" pitchFamily="2" charset="-122"/>
                <a:cs typeface="宋体" panose="02010600030101010101" pitchFamily="2" charset="-122"/>
                <a:sym typeface="+mn-ea"/>
              </a:rPr>
              <a:t>6</a:t>
            </a:r>
            <a:r>
              <a:rPr lang="en-US" altLang="zh-CN" b="1" dirty="0">
                <a:solidFill>
                  <a:schemeClr val="tx2"/>
                </a:solidFill>
                <a:latin typeface="宋体" panose="02010600030101010101" pitchFamily="2" charset="-122"/>
                <a:cs typeface="宋体" panose="02010600030101010101" pitchFamily="2" charset="-122"/>
                <a:sym typeface="+mn-ea"/>
              </a:rPr>
              <a:t>.</a:t>
            </a:r>
            <a:r>
              <a:rPr lang="zh-CN" altLang="en-US" b="1" dirty="0">
                <a:solidFill>
                  <a:schemeClr val="tx2"/>
                </a:solidFill>
                <a:latin typeface="宋体" panose="02010600030101010101" pitchFamily="2" charset="-122"/>
                <a:cs typeface="宋体" panose="02010600030101010101" pitchFamily="2" charset="-122"/>
                <a:sym typeface="+mn-ea"/>
              </a:rPr>
              <a:t>一体化安全网关</a:t>
            </a:r>
            <a:r>
              <a:rPr lang="en-US" altLang="zh-CN" b="1" dirty="0" smtClean="0">
                <a:solidFill>
                  <a:schemeClr val="tx2"/>
                </a:solidFill>
                <a:latin typeface="宋体" panose="02010600030101010101" pitchFamily="2" charset="-122"/>
                <a:cs typeface="宋体" panose="02010600030101010101" pitchFamily="2" charset="-122"/>
                <a:sym typeface="+mn-ea"/>
              </a:rPr>
              <a:t>UTM</a:t>
            </a:r>
            <a:r>
              <a:rPr lang="zh-CN" altLang="en-US" b="1" dirty="0" smtClean="0">
                <a:solidFill>
                  <a:schemeClr val="tx2"/>
                </a:solidFill>
                <a:latin typeface="宋体" panose="02010600030101010101" pitchFamily="2" charset="-122"/>
                <a:cs typeface="宋体" panose="02010600030101010101" pitchFamily="2" charset="-122"/>
                <a:sym typeface="+mn-ea"/>
              </a:rPr>
              <a:t>（</a:t>
            </a:r>
            <a:r>
              <a:rPr lang="en-US" altLang="zh-CN" b="1" dirty="0" smtClean="0">
                <a:solidFill>
                  <a:schemeClr val="tx2"/>
                </a:solidFill>
                <a:latin typeface="宋体" panose="02010600030101010101" pitchFamily="2" charset="-122"/>
                <a:cs typeface="宋体" panose="02010600030101010101" pitchFamily="2" charset="-122"/>
                <a:sym typeface="+mn-ea"/>
              </a:rPr>
              <a:t>Unified Threat Management</a:t>
            </a:r>
            <a:r>
              <a:rPr lang="zh-CN" altLang="en-US" b="1" dirty="0" smtClean="0">
                <a:solidFill>
                  <a:schemeClr val="tx2"/>
                </a:solidFill>
                <a:latin typeface="宋体" panose="02010600030101010101" pitchFamily="2" charset="-122"/>
                <a:cs typeface="宋体" panose="02010600030101010101" pitchFamily="2" charset="-122"/>
                <a:sym typeface="+mn-ea"/>
              </a:rPr>
              <a:t>）防火墙</a:t>
            </a:r>
            <a:endParaRPr lang="en-US" altLang="zh-CN" b="1" dirty="0" smtClean="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smtClean="0">
                <a:solidFill>
                  <a:schemeClr val="tx2"/>
                </a:solidFill>
                <a:latin typeface="宋体" panose="02010600030101010101" pitchFamily="2" charset="-122"/>
                <a:cs typeface="宋体" panose="02010600030101010101" pitchFamily="2" charset="-122"/>
                <a:sym typeface="+mn-ea"/>
              </a:rPr>
              <a:t>UTM</a:t>
            </a:r>
            <a:r>
              <a:rPr lang="zh-CN" altLang="en-US" b="1" dirty="0" smtClean="0">
                <a:solidFill>
                  <a:schemeClr val="tx2"/>
                </a:solidFill>
                <a:latin typeface="宋体" panose="02010600030101010101" pitchFamily="2" charset="-122"/>
                <a:cs typeface="宋体" panose="02010600030101010101" pitchFamily="2" charset="-122"/>
                <a:sym typeface="+mn-ea"/>
              </a:rPr>
              <a:t>是在防火墙基础上发展起来的，具备防火墙、</a:t>
            </a:r>
            <a:r>
              <a:rPr lang="en-US" altLang="zh-CN" b="1" dirty="0" smtClean="0">
                <a:solidFill>
                  <a:schemeClr val="tx2"/>
                </a:solidFill>
                <a:latin typeface="宋体" panose="02010600030101010101" pitchFamily="2" charset="-122"/>
                <a:cs typeface="宋体" panose="02010600030101010101" pitchFamily="2" charset="-122"/>
                <a:sym typeface="+mn-ea"/>
              </a:rPr>
              <a:t>IPS</a:t>
            </a:r>
            <a:r>
              <a:rPr lang="zh-CN" altLang="en-US" b="1" dirty="0" smtClean="0">
                <a:solidFill>
                  <a:schemeClr val="tx2"/>
                </a:solidFill>
                <a:latin typeface="宋体" panose="02010600030101010101" pitchFamily="2" charset="-122"/>
                <a:cs typeface="宋体" panose="02010600030101010101" pitchFamily="2" charset="-122"/>
                <a:sym typeface="+mn-ea"/>
              </a:rPr>
              <a:t>、防病毒、防垃圾邮件等综合功能，同时开启多项功能会降低</a:t>
            </a:r>
            <a:r>
              <a:rPr lang="en-US" altLang="zh-CN" b="1" dirty="0" smtClean="0">
                <a:solidFill>
                  <a:schemeClr val="tx2"/>
                </a:solidFill>
                <a:latin typeface="宋体" panose="02010600030101010101" pitchFamily="2" charset="-122"/>
                <a:cs typeface="宋体" panose="02010600030101010101" pitchFamily="2" charset="-122"/>
                <a:sym typeface="+mn-ea"/>
              </a:rPr>
              <a:t>UTM</a:t>
            </a:r>
            <a:r>
              <a:rPr lang="zh-CN" altLang="en-US" b="1" dirty="0" smtClean="0">
                <a:solidFill>
                  <a:schemeClr val="tx2"/>
                </a:solidFill>
                <a:latin typeface="宋体" panose="02010600030101010101" pitchFamily="2" charset="-122"/>
                <a:cs typeface="宋体" panose="02010600030101010101" pitchFamily="2" charset="-122"/>
                <a:sym typeface="+mn-ea"/>
              </a:rPr>
              <a:t>的处理性能，在性能要求不高的领域，出现了</a:t>
            </a:r>
            <a:r>
              <a:rPr lang="en-US" altLang="zh-CN" b="1" dirty="0" smtClean="0">
                <a:solidFill>
                  <a:schemeClr val="tx2"/>
                </a:solidFill>
                <a:latin typeface="宋体" panose="02010600030101010101" pitchFamily="2" charset="-122"/>
                <a:cs typeface="宋体" panose="02010600030101010101" pitchFamily="2" charset="-122"/>
                <a:sym typeface="+mn-ea"/>
              </a:rPr>
              <a:t>UTM</a:t>
            </a:r>
            <a:r>
              <a:rPr lang="zh-CN" altLang="en-US" b="1" dirty="0" smtClean="0">
                <a:solidFill>
                  <a:schemeClr val="tx2"/>
                </a:solidFill>
                <a:latin typeface="宋体" panose="02010600030101010101" pitchFamily="2" charset="-122"/>
                <a:cs typeface="宋体" panose="02010600030101010101" pitchFamily="2" charset="-122"/>
                <a:sym typeface="+mn-ea"/>
              </a:rPr>
              <a:t>代替防火墙的趋势。</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b="1" dirty="0">
                <a:solidFill>
                  <a:schemeClr val="tx2"/>
                </a:solidFill>
                <a:latin typeface="宋体" panose="02010600030101010101" pitchFamily="2" charset="-122"/>
                <a:cs typeface="宋体" panose="02010600030101010101" pitchFamily="2" charset="-122"/>
                <a:sym typeface="+mn-ea"/>
              </a:rPr>
              <a:t>7.</a:t>
            </a:r>
            <a:r>
              <a:rPr lang="zh-CN" altLang="en-US" b="1" dirty="0">
                <a:solidFill>
                  <a:schemeClr val="tx2"/>
                </a:solidFill>
                <a:latin typeface="宋体" panose="02010600030101010101" pitchFamily="2" charset="-122"/>
                <a:cs typeface="宋体" panose="02010600030101010101" pitchFamily="2" charset="-122"/>
                <a:sym typeface="+mn-ea"/>
              </a:rPr>
              <a:t>其它类型防火墙</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zh-CN" altLang="en-US" b="1" noProof="0" dirty="0" smtClean="0">
                <a:solidFill>
                  <a:schemeClr val="tx2"/>
                </a:solidFill>
                <a:latin typeface="宋体" panose="02010600030101010101" pitchFamily="2" charset="-122"/>
                <a:cs typeface="宋体" panose="02010600030101010101" pitchFamily="2" charset="-122"/>
                <a:sym typeface="+mn-ea"/>
              </a:rPr>
              <a:t>瑞星软件防火墙、赛门铁克防火墙、</a:t>
            </a:r>
            <a:r>
              <a:rPr lang="en-US" altLang="zh-CN" b="1" noProof="0" dirty="0" smtClean="0">
                <a:solidFill>
                  <a:schemeClr val="tx2"/>
                </a:solidFill>
                <a:latin typeface="宋体" panose="02010600030101010101" pitchFamily="2" charset="-122"/>
                <a:cs typeface="宋体" panose="02010600030101010101" pitchFamily="2" charset="-122"/>
                <a:sym typeface="+mn-ea"/>
              </a:rPr>
              <a:t>win7/10</a:t>
            </a:r>
            <a:r>
              <a:rPr lang="zh-CN" altLang="en-US" b="1" dirty="0" smtClean="0">
                <a:solidFill>
                  <a:schemeClr val="tx2"/>
                </a:solidFill>
                <a:latin typeface="宋体" panose="02010600030101010101" pitchFamily="2" charset="-122"/>
                <a:cs typeface="宋体" panose="02010600030101010101" pitchFamily="2" charset="-122"/>
                <a:sym typeface="+mn-ea"/>
              </a:rPr>
              <a:t>中集成的防火墙等</a:t>
            </a:r>
            <a:r>
              <a:rPr lang="en-US" altLang="zh-CN" b="1" noProof="0" dirty="0" smtClean="0">
                <a:solidFill>
                  <a:schemeClr val="tx2"/>
                </a:solidFill>
                <a:latin typeface="宋体" panose="02010600030101010101" pitchFamily="2" charset="-122"/>
                <a:cs typeface="宋体" panose="02010600030101010101" pitchFamily="2" charset="-122"/>
                <a:sym typeface="+mn-ea"/>
              </a:rPr>
              <a:t>	</a:t>
            </a:r>
            <a:r>
              <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dirty="0" smtClean="0">
                <a:solidFill>
                  <a:schemeClr val="bg1"/>
                </a:solidFill>
                <a:latin typeface="Verdana" panose="020B0604030504040204" pitchFamily="34" charset="0"/>
              </a:rPr>
              <a:t>8.5 </a:t>
            </a:r>
            <a:r>
              <a:rPr lang="zh-CN" altLang="en-US" sz="3600" b="1" dirty="0" smtClean="0">
                <a:solidFill>
                  <a:schemeClr val="bg1"/>
                </a:solidFill>
                <a:latin typeface="Verdana" panose="020B0604030504040204" pitchFamily="34" charset="0"/>
              </a:rPr>
              <a:t>防火墙发展历史</a:t>
            </a:r>
            <a:endParaRPr lang="zh-CN" altLang="en-US" sz="3600" b="1" dirty="0">
              <a:solidFill>
                <a:schemeClr val="bg1"/>
              </a:solidFill>
              <a:latin typeface="Verdana" panose="020B0604030504040204" pitchFamily="34" charset="0"/>
            </a:endParaRPr>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151812" cy="5290229"/>
          </a:xfrm>
          <a:prstGeom prst="rect">
            <a:avLst/>
          </a:prstGeom>
          <a:noFill/>
          <a:ln w="9525">
            <a:noFill/>
            <a:miter lim="800000"/>
          </a:ln>
        </p:spPr>
        <p:txBody>
          <a:bodyPr/>
          <a:lstStyle/>
          <a:p>
            <a:pPr>
              <a:spcBef>
                <a:spcPct val="20000"/>
              </a:spcBef>
            </a:pPr>
            <a:r>
              <a:rPr lang="en-US" altLang="zh-CN" sz="3200" b="1" dirty="0" smtClean="0">
                <a:solidFill>
                  <a:srgbClr val="FF0000"/>
                </a:solidFill>
              </a:rPr>
              <a:t>8.5.2 </a:t>
            </a:r>
            <a:r>
              <a:rPr lang="en-US" altLang="zh-CN" sz="2800" b="1" dirty="0" smtClean="0">
                <a:solidFill>
                  <a:srgbClr val="FF0000"/>
                </a:solidFill>
              </a:rPr>
              <a:t> </a:t>
            </a:r>
            <a:r>
              <a:rPr lang="zh-CN" altLang="en-US" sz="2800" b="1" dirty="0" smtClean="0">
                <a:solidFill>
                  <a:srgbClr val="FF0000"/>
                </a:solidFill>
                <a:sym typeface="+mn-ea"/>
              </a:rPr>
              <a:t>防火墙产品</a:t>
            </a:r>
            <a:endParaRPr lang="en-US" altLang="zh-CN" sz="2800" b="1" dirty="0" smtClean="0">
              <a:solidFill>
                <a:srgbClr val="FF0000"/>
              </a:solidFill>
              <a:sym typeface="+mn-ea"/>
            </a:endParaRPr>
          </a:p>
          <a:p>
            <a:pPr>
              <a:spcBef>
                <a:spcPct val="20000"/>
              </a:spcBef>
            </a:pPr>
            <a:r>
              <a:rPr lang="zh-CN" altLang="en-US" b="1" dirty="0" smtClean="0">
                <a:solidFill>
                  <a:schemeClr val="tx2"/>
                </a:solidFill>
                <a:latin typeface="宋体" panose="02010600030101010101" pitchFamily="2" charset="-122"/>
                <a:cs typeface="宋体" panose="02010600030101010101" pitchFamily="2" charset="-122"/>
                <a:sym typeface="+mn-ea"/>
              </a:rPr>
              <a:t>目前</a:t>
            </a:r>
            <a:r>
              <a:rPr lang="zh-CN" altLang="en-US" b="1" dirty="0">
                <a:solidFill>
                  <a:schemeClr val="tx2"/>
                </a:solidFill>
                <a:latin typeface="宋体" panose="02010600030101010101" pitchFamily="2" charset="-122"/>
                <a:cs typeface="宋体" panose="02010600030101010101" pitchFamily="2" charset="-122"/>
                <a:sym typeface="+mn-ea"/>
              </a:rPr>
              <a:t>国内在使用的防火墙有很多国内外的品牌。国外品牌的优势主要是在技术和知名度上比国内产品高。而国内防火墙厂商对国内用户了解更加透彻，价格上也更具有优势。防火墙产品中，国外主流厂商为思科（</a:t>
            </a:r>
            <a:r>
              <a:rPr lang="en-US" altLang="zh-CN" b="1" dirty="0">
                <a:solidFill>
                  <a:schemeClr val="tx2"/>
                </a:solidFill>
                <a:latin typeface="宋体" panose="02010600030101010101" pitchFamily="2" charset="-122"/>
                <a:cs typeface="宋体" panose="02010600030101010101" pitchFamily="2" charset="-122"/>
                <a:sym typeface="+mn-ea"/>
              </a:rPr>
              <a:t>Cisco</a:t>
            </a:r>
            <a:r>
              <a:rPr lang="zh-CN" altLang="en-US" b="1" dirty="0">
                <a:solidFill>
                  <a:schemeClr val="tx2"/>
                </a:solidFill>
                <a:latin typeface="宋体" panose="02010600030101010101" pitchFamily="2" charset="-122"/>
                <a:cs typeface="宋体" panose="02010600030101010101" pitchFamily="2" charset="-122"/>
                <a:sym typeface="+mn-ea"/>
              </a:rPr>
              <a:t>）、</a:t>
            </a:r>
            <a:r>
              <a:rPr lang="en-US" altLang="zh-CN" b="1" dirty="0" err="1">
                <a:solidFill>
                  <a:schemeClr val="tx2"/>
                </a:solidFill>
                <a:latin typeface="宋体" panose="02010600030101010101" pitchFamily="2" charset="-122"/>
                <a:cs typeface="宋体" panose="02010600030101010101" pitchFamily="2" charset="-122"/>
                <a:sym typeface="+mn-ea"/>
              </a:rPr>
              <a:t>CheckPoint</a:t>
            </a:r>
            <a:r>
              <a:rPr lang="zh-CN" altLang="en-US" b="1" dirty="0">
                <a:solidFill>
                  <a:schemeClr val="tx2"/>
                </a:solidFill>
                <a:latin typeface="宋体" panose="02010600030101010101" pitchFamily="2" charset="-122"/>
                <a:cs typeface="宋体" panose="02010600030101010101" pitchFamily="2" charset="-122"/>
                <a:sym typeface="+mn-ea"/>
              </a:rPr>
              <a:t>、</a:t>
            </a:r>
            <a:r>
              <a:rPr lang="en-US" altLang="zh-CN" b="1" dirty="0" err="1">
                <a:solidFill>
                  <a:schemeClr val="tx2"/>
                </a:solidFill>
                <a:latin typeface="宋体" panose="02010600030101010101" pitchFamily="2" charset="-122"/>
                <a:cs typeface="宋体" panose="02010600030101010101" pitchFamily="2" charset="-122"/>
                <a:sym typeface="+mn-ea"/>
              </a:rPr>
              <a:t>NetScreen</a:t>
            </a:r>
            <a:r>
              <a:rPr lang="zh-CN" altLang="en-US" b="1" dirty="0">
                <a:solidFill>
                  <a:schemeClr val="tx2"/>
                </a:solidFill>
                <a:latin typeface="宋体" panose="02010600030101010101" pitchFamily="2" charset="-122"/>
                <a:cs typeface="宋体" panose="02010600030101010101" pitchFamily="2" charset="-122"/>
                <a:sym typeface="+mn-ea"/>
              </a:rPr>
              <a:t>等，国内主流厂商为华为、东软、天融信、山石网科、网御神州、联想等，它们都提供不同级别的防火墙产品。</a:t>
            </a:r>
            <a:endParaRPr lang="zh-CN" altLang="en-US" b="1" dirty="0">
              <a:solidFill>
                <a:schemeClr val="tx2"/>
              </a:solidFill>
              <a:latin typeface="宋体" panose="02010600030101010101" pitchFamily="2" charset="-122"/>
              <a:cs typeface="宋体" panose="02010600030101010101" pitchFamily="2" charset="-122"/>
              <a:sym typeface="+mn-ea"/>
            </a:endParaRPr>
          </a:p>
          <a:p>
            <a:pPr>
              <a:spcBef>
                <a:spcPct val="20000"/>
              </a:spcBef>
            </a:pPr>
            <a:r>
              <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5111774"/>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sp>
        <p:nvSpPr>
          <p:cNvPr id="9" name="AutoShape 8"/>
          <p:cNvSpPr>
            <a:spLocks noChangeArrowheads="1"/>
          </p:cNvSpPr>
          <p:nvPr/>
        </p:nvSpPr>
        <p:spPr bwMode="auto">
          <a:xfrm>
            <a:off x="361950" y="1295400"/>
            <a:ext cx="8401050" cy="537396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10" name="Rectangle 3"/>
          <p:cNvSpPr>
            <a:spLocks noChangeArrowheads="1"/>
          </p:cNvSpPr>
          <p:nvPr/>
        </p:nvSpPr>
        <p:spPr bwMode="auto">
          <a:xfrm>
            <a:off x="611188" y="1307123"/>
            <a:ext cx="8151812" cy="5290229"/>
          </a:xfrm>
          <a:prstGeom prst="rect">
            <a:avLst/>
          </a:prstGeom>
          <a:noFill/>
          <a:ln w="9525">
            <a:noFill/>
            <a:miter lim="800000"/>
          </a:ln>
        </p:spPr>
        <p:txBody>
          <a:bodyPr/>
          <a:lstStyle/>
          <a:p>
            <a:pPr>
              <a:spcBef>
                <a:spcPct val="20000"/>
              </a:spcBef>
            </a:pPr>
            <a:endPar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endParaRPr>
          </a:p>
          <a:p>
            <a:pPr>
              <a:spcBef>
                <a:spcPct val="20000"/>
              </a:spcBef>
            </a:pPr>
            <a:endParaRPr lang="en-US" altLang="zh-CN" sz="2800" b="1" dirty="0">
              <a:solidFill>
                <a:schemeClr val="tx2"/>
              </a:solidFill>
              <a:latin typeface="宋体" panose="02010600030101010101" pitchFamily="2" charset="-122"/>
              <a:ea typeface="Arial Unicode MS" pitchFamily="34" charset="-122"/>
              <a:cs typeface="宋体" panose="02010600030101010101" pitchFamily="2" charset="-122"/>
              <a:sym typeface="+mn-ea"/>
            </a:endParaRPr>
          </a:p>
          <a:p>
            <a:pPr>
              <a:spcBef>
                <a:spcPct val="20000"/>
              </a:spcBef>
            </a:pPr>
            <a:endPar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endParaRPr>
          </a:p>
          <a:p>
            <a:pPr>
              <a:spcBef>
                <a:spcPct val="20000"/>
              </a:spcBef>
            </a:pPr>
            <a:r>
              <a:rPr lang="zh-CN" altLang="en-US"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以下原书课件请查看自学！</a:t>
            </a:r>
            <a:r>
              <a:rPr lang="en-US" altLang="zh-CN" sz="2800" b="1" noProof="0" dirty="0" smtClean="0">
                <a:solidFill>
                  <a:schemeClr val="tx2"/>
                </a:solidFill>
                <a:latin typeface="宋体" panose="02010600030101010101" pitchFamily="2" charset="-122"/>
                <a:ea typeface="Arial Unicode MS" pitchFamily="34" charset="-122"/>
                <a:cs typeface="宋体" panose="02010600030101010101" pitchFamily="2" charset="-122"/>
                <a:sym typeface="+mn-ea"/>
              </a:rPr>
              <a:t>	</a:t>
            </a:r>
            <a:endParaRPr lang="en-US" altLang="zh-CN" sz="2800" b="1" noProof="0" dirty="0">
              <a:solidFill>
                <a:schemeClr val="tx2"/>
              </a:solidFill>
              <a:latin typeface="宋体" panose="02010600030101010101" pitchFamily="2" charset="-122"/>
              <a:ea typeface="Arial Unicode MS" pitchFamily="34" charset="-122"/>
              <a:cs typeface="宋体" panose="02010600030101010101" pitchFamily="2" charset="-122"/>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539750" y="1125538"/>
            <a:ext cx="8077200" cy="3240087"/>
          </a:xfrm>
          <a:prstGeom prst="rect">
            <a:avLst/>
          </a:prstGeom>
          <a:noFill/>
          <a:ln>
            <a:noFill/>
          </a:ln>
        </p:spPr>
        <p:txBody>
          <a:bodyPr/>
          <a:lstStyle/>
          <a:p>
            <a:pPr eaLnBrk="0" hangingPunct="0">
              <a:spcBef>
                <a:spcPct val="20000"/>
              </a:spcBef>
            </a:pPr>
            <a:r>
              <a:rPr lang="en-US" altLang="zh-CN" sz="2800" b="1" dirty="0" smtClean="0">
                <a:solidFill>
                  <a:srgbClr val="FF0000"/>
                </a:solidFill>
              </a:rPr>
              <a:t>     </a:t>
            </a:r>
            <a:r>
              <a:rPr lang="zh-CN" altLang="en-US" sz="2800" b="1" dirty="0">
                <a:solidFill>
                  <a:srgbClr val="FF0000"/>
                </a:solidFill>
              </a:rPr>
              <a:t>以防火墙的技术分类</a:t>
            </a:r>
            <a:endParaRPr lang="zh-CN" altLang="en-US" sz="2800" b="1" dirty="0">
              <a:solidFill>
                <a:srgbClr val="FF0000"/>
              </a:solidFill>
            </a:endParaRPr>
          </a:p>
          <a:p>
            <a:pPr eaLnBrk="0" hangingPunct="0">
              <a:spcBef>
                <a:spcPct val="20000"/>
              </a:spcBef>
            </a:pPr>
            <a:r>
              <a:rPr lang="zh-CN" altLang="en-US" b="1" dirty="0"/>
              <a:t>       </a:t>
            </a:r>
            <a:r>
              <a:rPr lang="zh-CN" altLang="en-US" b="1" dirty="0">
                <a:solidFill>
                  <a:srgbClr val="CC0000"/>
                </a:solidFill>
              </a:rPr>
              <a:t>按照防火墙的技术分类</a:t>
            </a:r>
            <a:r>
              <a:rPr lang="zh-CN" altLang="en-US" b="1" dirty="0"/>
              <a:t>，分为包过滤型和应用代理型</a:t>
            </a:r>
            <a:endParaRPr lang="zh-CN" altLang="en-US" b="1" dirty="0"/>
          </a:p>
          <a:p>
            <a:pPr eaLnBrk="0" hangingPunct="0">
              <a:spcBef>
                <a:spcPct val="20000"/>
              </a:spcBef>
            </a:pPr>
            <a:r>
              <a:rPr lang="en-US" altLang="zh-CN" b="1" dirty="0"/>
              <a:t>       </a:t>
            </a:r>
            <a:r>
              <a:rPr lang="en-US" altLang="zh-CN" b="1" dirty="0">
                <a:solidFill>
                  <a:schemeClr val="tx2"/>
                </a:solidFill>
              </a:rPr>
              <a:t>1</a:t>
            </a:r>
            <a:r>
              <a:rPr lang="zh-CN" altLang="en-US" b="1" dirty="0">
                <a:solidFill>
                  <a:schemeClr val="tx2"/>
                </a:solidFill>
              </a:rPr>
              <a:t>．包过滤</a:t>
            </a:r>
            <a:r>
              <a:rPr lang="en-US" altLang="zh-CN" b="1" dirty="0">
                <a:solidFill>
                  <a:schemeClr val="tx2"/>
                </a:solidFill>
              </a:rPr>
              <a:t>(Packet filtering)</a:t>
            </a:r>
            <a:r>
              <a:rPr lang="zh-CN" altLang="en-US" b="1" dirty="0">
                <a:solidFill>
                  <a:schemeClr val="tx2"/>
                </a:solidFill>
              </a:rPr>
              <a:t>型</a:t>
            </a:r>
            <a:endParaRPr lang="zh-CN" altLang="en-US" b="1" dirty="0">
              <a:solidFill>
                <a:schemeClr val="tx2"/>
              </a:solidFill>
            </a:endParaRPr>
          </a:p>
          <a:p>
            <a:pPr eaLnBrk="0" hangingPunct="0">
              <a:spcBef>
                <a:spcPct val="20000"/>
              </a:spcBef>
            </a:pPr>
            <a:r>
              <a:rPr lang="zh-CN" altLang="en-US" b="1" dirty="0"/>
              <a:t>       包过滤型防火墙</a:t>
            </a:r>
            <a:r>
              <a:rPr lang="zh-CN" altLang="en-US" b="1" dirty="0">
                <a:solidFill>
                  <a:srgbClr val="CC0000"/>
                </a:solidFill>
              </a:rPr>
              <a:t>工作在</a:t>
            </a:r>
            <a:r>
              <a:rPr lang="en-US" altLang="zh-CN" b="1" dirty="0"/>
              <a:t>OSI</a:t>
            </a:r>
            <a:r>
              <a:rPr lang="zh-CN" altLang="en-US" b="1" dirty="0"/>
              <a:t>网络参考模型的网络层和传输层，根据</a:t>
            </a:r>
            <a:r>
              <a:rPr lang="zh-CN" altLang="en-US" b="1" dirty="0">
                <a:solidFill>
                  <a:srgbClr val="339933"/>
                </a:solidFill>
                <a:effectLst>
                  <a:outerShdw blurRad="38100" dist="38100" dir="2700000" algn="tl">
                    <a:srgbClr val="C0C0C0"/>
                  </a:outerShdw>
                </a:effectLst>
              </a:rPr>
              <a:t>数据包头</a:t>
            </a:r>
            <a:r>
              <a:rPr lang="zh-CN" altLang="en-US" b="1" dirty="0"/>
              <a:t>源地址、目的地址、端口号和协议类型等</a:t>
            </a:r>
            <a:r>
              <a:rPr lang="zh-CN" altLang="en-US" b="1" dirty="0">
                <a:solidFill>
                  <a:srgbClr val="990033"/>
                </a:solidFill>
              </a:rPr>
              <a:t>标志</a:t>
            </a:r>
            <a:r>
              <a:rPr lang="zh-CN" altLang="en-US" b="1" dirty="0"/>
              <a:t>确定是否允许通过。只有</a:t>
            </a:r>
            <a:r>
              <a:rPr lang="zh-CN" altLang="en-US" b="1" dirty="0">
                <a:solidFill>
                  <a:srgbClr val="990033"/>
                </a:solidFill>
              </a:rPr>
              <a:t>满足过滤条件</a:t>
            </a:r>
            <a:r>
              <a:rPr lang="zh-CN" altLang="en-US" b="1" dirty="0"/>
              <a:t>的数据包才被转发到相应的目的地，其余数据包则被从数据流中丢弃。其</a:t>
            </a:r>
            <a:r>
              <a:rPr lang="zh-CN" altLang="en-US" b="1" dirty="0">
                <a:solidFill>
                  <a:srgbClr val="CC0000"/>
                </a:solidFill>
              </a:rPr>
              <a:t>网络结构</a:t>
            </a:r>
            <a:r>
              <a:rPr lang="zh-CN" altLang="en-US" b="1" dirty="0"/>
              <a:t>如图</a:t>
            </a:r>
            <a:r>
              <a:rPr lang="en-US" altLang="zh-CN" b="1" dirty="0"/>
              <a:t>8-2</a:t>
            </a:r>
            <a:r>
              <a:rPr lang="zh-CN" altLang="en-US" b="1" dirty="0"/>
              <a:t>所示</a:t>
            </a:r>
            <a:r>
              <a:rPr lang="zh-CN" altLang="en-US" dirty="0"/>
              <a:t>。 </a:t>
            </a:r>
            <a:endParaRPr lang="zh-CN" altLang="en-US" dirty="0"/>
          </a:p>
        </p:txBody>
      </p:sp>
      <p:sp>
        <p:nvSpPr>
          <p:cNvPr id="18434"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graphicFrame>
        <p:nvGraphicFramePr>
          <p:cNvPr id="18435" name="Object 6"/>
          <p:cNvGraphicFramePr>
            <a:graphicFrameLocks noChangeAspect="1"/>
          </p:cNvGraphicFramePr>
          <p:nvPr/>
        </p:nvGraphicFramePr>
        <p:xfrm>
          <a:off x="2087563" y="4365625"/>
          <a:ext cx="4968875" cy="2305050"/>
        </p:xfrm>
        <a:graphic>
          <a:graphicData uri="http://schemas.openxmlformats.org/presentationml/2006/ole">
            <mc:AlternateContent xmlns:mc="http://schemas.openxmlformats.org/markup-compatibility/2006">
              <mc:Choice xmlns:v="urn:schemas-microsoft-com:vml" Requires="v">
                <p:oleObj spid="_x0000_s6189" name="" r:id="rId1" imgW="8856980" imgH="3989070" progId="">
                  <p:embed/>
                </p:oleObj>
              </mc:Choice>
              <mc:Fallback>
                <p:oleObj name="" r:id="rId1" imgW="8856980" imgH="3989070" progId="">
                  <p:embed/>
                  <p:pic>
                    <p:nvPicPr>
                      <p:cNvPr id="0" name="Object 6"/>
                      <p:cNvPicPr>
                        <a:picLocks noChangeAspect="1"/>
                      </p:cNvPicPr>
                      <p:nvPr/>
                    </p:nvPicPr>
                    <p:blipFill>
                      <a:blip r:embed="rId2"/>
                      <a:stretch>
                        <a:fillRect/>
                      </a:stretch>
                    </p:blipFill>
                    <p:spPr>
                      <a:xfrm>
                        <a:off x="2087563" y="4365625"/>
                        <a:ext cx="4968875" cy="2305050"/>
                      </a:xfrm>
                      <a:prstGeom prst="rect">
                        <a:avLst/>
                      </a:prstGeom>
                      <a:noFill/>
                      <a:ln w="38100">
                        <a:noFill/>
                      </a:ln>
                    </p:spPr>
                  </p:pic>
                </p:oleObj>
              </mc:Fallback>
            </mc:AlternateContent>
          </a:graphicData>
        </a:graphic>
      </p:graphicFrame>
      <p:sp>
        <p:nvSpPr>
          <p:cNvPr id="18436" name="Rectangle 8"/>
          <p:cNvSpPr>
            <a:spLocks noChangeArrowheads="1"/>
          </p:cNvSpPr>
          <p:nvPr/>
        </p:nvSpPr>
        <p:spPr bwMode="auto">
          <a:xfrm>
            <a:off x="3459163" y="6519863"/>
            <a:ext cx="2647950" cy="307975"/>
          </a:xfrm>
          <a:prstGeom prst="rect">
            <a:avLst/>
          </a:prstGeom>
          <a:noFill/>
          <a:ln w="9525">
            <a:noFill/>
            <a:miter lim="800000"/>
          </a:ln>
        </p:spPr>
        <p:txBody>
          <a:bodyPr wrap="none" anchor="ctr">
            <a:spAutoFit/>
          </a:bodyPr>
          <a:lstStyle/>
          <a:p>
            <a:pPr algn="ctr" eaLnBrk="0" hangingPunct="0"/>
            <a:r>
              <a:rPr lang="zh-CN" altLang="en-US" sz="1400" b="1"/>
              <a:t>图</a:t>
            </a:r>
            <a:r>
              <a:rPr lang="en-US" altLang="zh-CN" sz="1400" b="1"/>
              <a:t>8-2 </a:t>
            </a:r>
            <a:r>
              <a:rPr lang="zh-CN" altLang="en-US" sz="1400" b="1"/>
              <a:t>包过滤防火墙的网络结构</a:t>
            </a:r>
            <a:endParaRPr lang="zh-CN" altLang="en-US" sz="1400" b="1"/>
          </a:p>
        </p:txBody>
      </p:sp>
      <p:sp>
        <p:nvSpPr>
          <p:cNvPr id="18437"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8.2 </a:t>
            </a:r>
            <a:r>
              <a:rPr lang="zh-CN" altLang="en-US" sz="3600" b="1">
                <a:solidFill>
                  <a:schemeClr val="bg1"/>
                </a:solidFill>
                <a:latin typeface="Verdana" panose="020B0604030504040204" pitchFamily="34" charset="0"/>
              </a:rPr>
              <a:t>防火墙的类型</a:t>
            </a:r>
            <a:endParaRPr lang="zh-CN" altLang="en-US" sz="3600" b="1">
              <a:solidFill>
                <a:schemeClr val="bg1"/>
              </a:solidFill>
              <a:latin typeface="Verdana" panose="020B0604030504040204" pitchFamily="34" charset="0"/>
            </a:endParaRPr>
          </a:p>
        </p:txBody>
      </p:sp>
      <p:sp>
        <p:nvSpPr>
          <p:cNvPr id="18438" name="AutoShape 8"/>
          <p:cNvSpPr>
            <a:spLocks noChangeArrowheads="1"/>
          </p:cNvSpPr>
          <p:nvPr/>
        </p:nvSpPr>
        <p:spPr bwMode="auto">
          <a:xfrm>
            <a:off x="342900" y="1125538"/>
            <a:ext cx="8169275" cy="3240087"/>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ChangeArrowheads="1"/>
          </p:cNvSpPr>
          <p:nvPr/>
        </p:nvSpPr>
        <p:spPr bwMode="auto">
          <a:xfrm>
            <a:off x="395288" y="1125538"/>
            <a:ext cx="8497887" cy="3717925"/>
          </a:xfrm>
          <a:prstGeom prst="rect">
            <a:avLst/>
          </a:prstGeom>
          <a:noFill/>
          <a:ln>
            <a:noFill/>
          </a:ln>
        </p:spPr>
        <p:txBody>
          <a:bodyPr/>
          <a:lstStyle/>
          <a:p>
            <a:pPr eaLnBrk="0" hangingPunct="0">
              <a:spcBef>
                <a:spcPct val="20000"/>
              </a:spcBef>
            </a:pPr>
            <a:r>
              <a:rPr lang="zh-CN" altLang="en-US" dirty="0"/>
              <a:t>      </a:t>
            </a:r>
            <a:r>
              <a:rPr lang="zh-CN" altLang="en-US" b="1" dirty="0"/>
              <a:t>整个防火墙技术发展过程中，</a:t>
            </a:r>
            <a:r>
              <a:rPr lang="zh-CN" altLang="en-US" b="1" dirty="0">
                <a:solidFill>
                  <a:srgbClr val="CC0000"/>
                </a:solidFill>
              </a:rPr>
              <a:t>包过滤技术</a:t>
            </a:r>
            <a:r>
              <a:rPr lang="zh-CN" altLang="en-US" b="1" dirty="0"/>
              <a:t>出现了</a:t>
            </a:r>
            <a:r>
              <a:rPr lang="zh-CN" altLang="en-US" b="1" dirty="0">
                <a:solidFill>
                  <a:srgbClr val="990033"/>
                </a:solidFill>
              </a:rPr>
              <a:t>两种不同版本</a:t>
            </a:r>
            <a:r>
              <a:rPr lang="en-US" altLang="zh-CN" b="1" dirty="0"/>
              <a:t>,</a:t>
            </a:r>
            <a:r>
              <a:rPr lang="zh-CN" altLang="en-US" b="1" dirty="0"/>
              <a:t>称为“第一代静态包过滤”和“第二代动态包过滤”</a:t>
            </a:r>
            <a:r>
              <a:rPr lang="en-US" altLang="zh-CN" b="1" dirty="0"/>
              <a:t>.</a:t>
            </a:r>
            <a:endParaRPr lang="zh-CN" altLang="en-US" b="1" dirty="0"/>
          </a:p>
          <a:p>
            <a:pPr eaLnBrk="0" hangingPunct="0">
              <a:spcBef>
                <a:spcPct val="20000"/>
              </a:spcBef>
            </a:pPr>
            <a:r>
              <a:rPr lang="zh-CN" altLang="en-US" b="1" dirty="0"/>
              <a:t>      （</a:t>
            </a:r>
            <a:r>
              <a:rPr lang="en-US" altLang="zh-CN" b="1" dirty="0"/>
              <a:t>1</a:t>
            </a:r>
            <a:r>
              <a:rPr lang="zh-CN" altLang="en-US" b="1" dirty="0"/>
              <a:t>）第一代静态包过滤类型防火墙</a:t>
            </a:r>
            <a:endParaRPr lang="zh-CN" altLang="en-US" b="1" dirty="0"/>
          </a:p>
          <a:p>
            <a:pPr eaLnBrk="0" hangingPunct="0">
              <a:spcBef>
                <a:spcPct val="20000"/>
              </a:spcBef>
            </a:pPr>
            <a:r>
              <a:rPr lang="zh-CN" altLang="en-US" b="1" dirty="0"/>
              <a:t>      这类防火墙几乎是与路由器同时产生的，根据定义好的</a:t>
            </a:r>
            <a:r>
              <a:rPr lang="zh-CN" altLang="en-US" b="1" dirty="0">
                <a:solidFill>
                  <a:srgbClr val="990033"/>
                </a:solidFill>
              </a:rPr>
              <a:t>过滤规则</a:t>
            </a:r>
            <a:r>
              <a:rPr lang="zh-CN" altLang="en-US" b="1" dirty="0"/>
              <a:t>审查每个</a:t>
            </a:r>
            <a:r>
              <a:rPr lang="zh-CN" altLang="en-US" b="1" dirty="0">
                <a:solidFill>
                  <a:srgbClr val="339933"/>
                </a:solidFill>
                <a:effectLst>
                  <a:outerShdw blurRad="38100" dist="38100" dir="2700000" algn="tl">
                    <a:srgbClr val="C0C0C0"/>
                  </a:outerShdw>
                </a:effectLst>
              </a:rPr>
              <a:t>数据包</a:t>
            </a:r>
            <a:r>
              <a:rPr lang="en-US" altLang="zh-CN" b="1" dirty="0"/>
              <a:t>,</a:t>
            </a:r>
            <a:r>
              <a:rPr lang="zh-CN" altLang="en-US" b="1" dirty="0"/>
              <a:t>以便确定其是否与某条</a:t>
            </a:r>
            <a:r>
              <a:rPr lang="zh-CN" altLang="en-US" b="1" dirty="0">
                <a:solidFill>
                  <a:srgbClr val="990033"/>
                </a:solidFill>
              </a:rPr>
              <a:t>包过滤规则匹配</a:t>
            </a:r>
            <a:r>
              <a:rPr lang="zh-CN" altLang="en-US" b="1" dirty="0"/>
              <a:t>。</a:t>
            </a:r>
            <a:r>
              <a:rPr lang="zh-CN" altLang="en-US" b="1" u="sng" dirty="0"/>
              <a:t>过滤规则</a:t>
            </a:r>
            <a:r>
              <a:rPr lang="zh-CN" altLang="en-US" b="1" u="sng" dirty="0">
                <a:solidFill>
                  <a:srgbClr val="990033"/>
                </a:solidFill>
              </a:rPr>
              <a:t>基于数据包的报头信息</a:t>
            </a:r>
            <a:r>
              <a:rPr lang="zh-CN" altLang="en-US" b="1" dirty="0"/>
              <a:t>进行制订。报头信息中包括</a:t>
            </a:r>
            <a:r>
              <a:rPr lang="en-US" altLang="zh-CN" b="1" dirty="0"/>
              <a:t>IP</a:t>
            </a:r>
            <a:r>
              <a:rPr lang="zh-CN" altLang="en-US" b="1" dirty="0"/>
              <a:t>源地址、</a:t>
            </a:r>
            <a:r>
              <a:rPr lang="en-US" altLang="zh-CN" b="1" dirty="0"/>
              <a:t>IP</a:t>
            </a:r>
            <a:r>
              <a:rPr lang="zh-CN" altLang="en-US" b="1" dirty="0"/>
              <a:t>目标地址、传输协议</a:t>
            </a:r>
            <a:r>
              <a:rPr lang="en-US" altLang="zh-CN" b="1" dirty="0"/>
              <a:t>(TCP</a:t>
            </a:r>
            <a:r>
              <a:rPr lang="zh-CN" altLang="en-US" b="1" dirty="0"/>
              <a:t>、</a:t>
            </a:r>
            <a:r>
              <a:rPr lang="en-US" altLang="zh-CN" b="1" dirty="0"/>
              <a:t>UDP</a:t>
            </a:r>
            <a:r>
              <a:rPr lang="zh-CN" altLang="en-US" b="1" dirty="0"/>
              <a:t>、</a:t>
            </a:r>
            <a:r>
              <a:rPr lang="en-US" altLang="zh-CN" b="1" dirty="0"/>
              <a:t>ICMP</a:t>
            </a:r>
            <a:r>
              <a:rPr lang="zh-CN" altLang="en-US" b="1" dirty="0"/>
              <a:t>等</a:t>
            </a:r>
            <a:r>
              <a:rPr lang="en-US" altLang="zh-CN" b="1" dirty="0"/>
              <a:t>)</a:t>
            </a:r>
            <a:r>
              <a:rPr lang="zh-CN" altLang="en-US" b="1" dirty="0"/>
              <a:t>、</a:t>
            </a:r>
            <a:r>
              <a:rPr lang="en-US" altLang="zh-CN" b="1" dirty="0"/>
              <a:t>TCP/UDP</a:t>
            </a:r>
            <a:r>
              <a:rPr lang="zh-CN" altLang="en-US" b="1" dirty="0"/>
              <a:t>目标端口、</a:t>
            </a:r>
            <a:r>
              <a:rPr lang="en-US" altLang="zh-CN" b="1" dirty="0"/>
              <a:t>ICMP</a:t>
            </a:r>
            <a:r>
              <a:rPr lang="zh-CN" altLang="en-US" b="1" dirty="0"/>
              <a:t>消息类型等</a:t>
            </a:r>
            <a:r>
              <a:rPr lang="en-US" altLang="zh-CN" b="1" dirty="0"/>
              <a:t>.</a:t>
            </a:r>
            <a:r>
              <a:rPr lang="zh-CN" altLang="en-US" b="1" dirty="0"/>
              <a:t>其数据通路如图</a:t>
            </a:r>
            <a:r>
              <a:rPr lang="en-US" altLang="zh-CN" b="1" dirty="0"/>
              <a:t>8-3</a:t>
            </a:r>
            <a:r>
              <a:rPr lang="zh-CN" altLang="en-US" dirty="0"/>
              <a:t>。</a:t>
            </a:r>
            <a:r>
              <a:rPr lang="zh-CN" altLang="en-US" sz="2800" dirty="0"/>
              <a:t> </a:t>
            </a:r>
            <a:endParaRPr lang="zh-CN" altLang="en-US" sz="2800" dirty="0"/>
          </a:p>
        </p:txBody>
      </p:sp>
      <p:sp>
        <p:nvSpPr>
          <p:cNvPr id="19458" name="Rectangle 7"/>
          <p:cNvSpPr>
            <a:spLocks noChangeArrowheads="1"/>
          </p:cNvSpPr>
          <p:nvPr/>
        </p:nvSpPr>
        <p:spPr bwMode="auto">
          <a:xfrm>
            <a:off x="0" y="2743200"/>
            <a:ext cx="9144000" cy="0"/>
          </a:xfrm>
          <a:prstGeom prst="rect">
            <a:avLst/>
          </a:prstGeom>
          <a:noFill/>
          <a:ln w="9525">
            <a:noFill/>
            <a:miter lim="800000"/>
          </a:ln>
        </p:spPr>
        <p:txBody>
          <a:bodyPr wrap="none" anchor="ctr">
            <a:spAutoFit/>
          </a:bodyPr>
          <a:lstStyle/>
          <a:p>
            <a:endParaRPr lang="zh-CN" altLang="en-US" b="1"/>
          </a:p>
        </p:txBody>
      </p:sp>
      <p:graphicFrame>
        <p:nvGraphicFramePr>
          <p:cNvPr id="19459" name="Object 6"/>
          <p:cNvGraphicFramePr>
            <a:graphicFrameLocks noChangeAspect="1"/>
          </p:cNvGraphicFramePr>
          <p:nvPr/>
        </p:nvGraphicFramePr>
        <p:xfrm>
          <a:off x="2771775" y="4365625"/>
          <a:ext cx="4105275" cy="2232025"/>
        </p:xfrm>
        <a:graphic>
          <a:graphicData uri="http://schemas.openxmlformats.org/presentationml/2006/ole">
            <mc:AlternateContent xmlns:mc="http://schemas.openxmlformats.org/markup-compatibility/2006">
              <mc:Choice xmlns:v="urn:schemas-microsoft-com:vml" Requires="v">
                <p:oleObj spid="_x0000_s7213" name="" r:id="rId1" imgW="4473575" imgH="2187575" progId="">
                  <p:embed/>
                </p:oleObj>
              </mc:Choice>
              <mc:Fallback>
                <p:oleObj name="" r:id="rId1" imgW="4473575" imgH="2187575" progId="">
                  <p:embed/>
                  <p:pic>
                    <p:nvPicPr>
                      <p:cNvPr id="0" name="Object 6"/>
                      <p:cNvPicPr>
                        <a:picLocks noChangeAspect="1"/>
                      </p:cNvPicPr>
                      <p:nvPr/>
                    </p:nvPicPr>
                    <p:blipFill>
                      <a:blip r:embed="rId2">
                        <a:grayscl/>
                      </a:blip>
                      <a:stretch>
                        <a:fillRect/>
                      </a:stretch>
                    </p:blipFill>
                    <p:spPr>
                      <a:xfrm>
                        <a:off x="2771775" y="4365625"/>
                        <a:ext cx="4105275" cy="2232025"/>
                      </a:xfrm>
                      <a:prstGeom prst="rect">
                        <a:avLst/>
                      </a:prstGeom>
                      <a:noFill/>
                      <a:ln w="38100">
                        <a:noFill/>
                      </a:ln>
                    </p:spPr>
                  </p:pic>
                </p:oleObj>
              </mc:Fallback>
            </mc:AlternateContent>
          </a:graphicData>
        </a:graphic>
      </p:graphicFrame>
      <p:sp>
        <p:nvSpPr>
          <p:cNvPr id="19460" name="Rectangle 10"/>
          <p:cNvSpPr>
            <a:spLocks noChangeArrowheads="1"/>
          </p:cNvSpPr>
          <p:nvPr/>
        </p:nvSpPr>
        <p:spPr bwMode="auto">
          <a:xfrm>
            <a:off x="2806700" y="6521450"/>
            <a:ext cx="3511550" cy="304800"/>
          </a:xfrm>
          <a:prstGeom prst="rect">
            <a:avLst/>
          </a:prstGeom>
          <a:noFill/>
          <a:ln w="9525">
            <a:noFill/>
            <a:miter lim="800000"/>
          </a:ln>
        </p:spPr>
        <p:txBody>
          <a:bodyPr wrap="none" anchor="ctr">
            <a:spAutoFit/>
          </a:bodyPr>
          <a:lstStyle/>
          <a:p>
            <a:pPr algn="ctr" eaLnBrk="0" hangingPunct="0"/>
            <a:r>
              <a:rPr lang="zh-CN" altLang="en-US" sz="1400" b="1"/>
              <a:t>图</a:t>
            </a:r>
            <a:r>
              <a:rPr lang="en-US" altLang="zh-CN" sz="1400" b="1"/>
              <a:t>8-3 </a:t>
            </a:r>
            <a:r>
              <a:rPr lang="zh-CN" altLang="en-US" sz="1400" b="1"/>
              <a:t>第一代静态包过滤防火墙的数据通路</a:t>
            </a:r>
            <a:endParaRPr lang="zh-CN" altLang="en-US" sz="1400" b="1"/>
          </a:p>
        </p:txBody>
      </p:sp>
      <p:sp>
        <p:nvSpPr>
          <p:cNvPr id="19461"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8.2 </a:t>
            </a:r>
            <a:r>
              <a:rPr lang="zh-CN" altLang="en-US" sz="3600" b="1">
                <a:solidFill>
                  <a:schemeClr val="bg1"/>
                </a:solidFill>
                <a:latin typeface="Verdana" panose="020B0604030504040204" pitchFamily="34" charset="0"/>
              </a:rPr>
              <a:t>防火墙的类型</a:t>
            </a:r>
            <a:endParaRPr lang="zh-CN" altLang="en-US" sz="3600" b="1">
              <a:solidFill>
                <a:schemeClr val="bg1"/>
              </a:solidFill>
              <a:latin typeface="Verdana" panose="020B0604030504040204" pitchFamily="34" charset="0"/>
            </a:endParaRPr>
          </a:p>
        </p:txBody>
      </p:sp>
      <p:sp>
        <p:nvSpPr>
          <p:cNvPr id="19462" name="AutoShape 8"/>
          <p:cNvSpPr>
            <a:spLocks noChangeArrowheads="1"/>
          </p:cNvSpPr>
          <p:nvPr/>
        </p:nvSpPr>
        <p:spPr bwMode="auto">
          <a:xfrm>
            <a:off x="361950" y="1181100"/>
            <a:ext cx="8407400" cy="3184525"/>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0482" name="Rectangle 3"/>
          <p:cNvSpPr>
            <a:spLocks noChangeArrowheads="1"/>
          </p:cNvSpPr>
          <p:nvPr/>
        </p:nvSpPr>
        <p:spPr bwMode="auto">
          <a:xfrm>
            <a:off x="609600" y="1295400"/>
            <a:ext cx="8077200" cy="2925763"/>
          </a:xfrm>
          <a:prstGeom prst="rect">
            <a:avLst/>
          </a:prstGeom>
          <a:noFill/>
          <a:ln w="9525">
            <a:noFill/>
            <a:miter lim="800000"/>
          </a:ln>
        </p:spPr>
        <p:txBody>
          <a:bodyPr/>
          <a:lstStyle/>
          <a:p>
            <a:pPr eaLnBrk="0" hangingPunct="0">
              <a:spcBef>
                <a:spcPct val="20000"/>
              </a:spcBef>
            </a:pPr>
            <a:r>
              <a:rPr lang="zh-CN" altLang="en-US" b="1"/>
              <a:t>（</a:t>
            </a:r>
            <a:r>
              <a:rPr lang="en-US" altLang="zh-CN" b="1"/>
              <a:t>2</a:t>
            </a:r>
            <a:r>
              <a:rPr lang="zh-CN" altLang="en-US" b="1"/>
              <a:t>）第二代动态包过滤类型防火墙</a:t>
            </a:r>
            <a:endParaRPr lang="zh-CN" altLang="en-US" b="1"/>
          </a:p>
          <a:p>
            <a:pPr eaLnBrk="0" hangingPunct="0">
              <a:spcBef>
                <a:spcPct val="20000"/>
              </a:spcBef>
            </a:pPr>
            <a:r>
              <a:rPr lang="zh-CN" altLang="en-US" b="1"/>
              <a:t>      这类防火墙采用</a:t>
            </a:r>
            <a:r>
              <a:rPr lang="zh-CN" altLang="en-US" b="1">
                <a:solidFill>
                  <a:srgbClr val="990033"/>
                </a:solidFill>
              </a:rPr>
              <a:t>动态设置包过滤规则</a:t>
            </a:r>
            <a:r>
              <a:rPr lang="zh-CN" altLang="en-US" b="1"/>
              <a:t>的方法，避免了静态包过滤所具有的问题。这种技术后来发展成为</a:t>
            </a:r>
            <a:r>
              <a:rPr lang="zh-CN" altLang="en-US" b="1">
                <a:solidFill>
                  <a:srgbClr val="CC0000"/>
                </a:solidFill>
              </a:rPr>
              <a:t>包状态监测</a:t>
            </a:r>
            <a:r>
              <a:rPr lang="en-US" altLang="zh-CN" b="1"/>
              <a:t>(Stateful Inspection)</a:t>
            </a:r>
            <a:r>
              <a:rPr lang="zh-CN" altLang="en-US" b="1"/>
              <a:t>技术。采用这种技术的防火墙对通过其建立的每一个连接都进行</a:t>
            </a:r>
            <a:r>
              <a:rPr lang="zh-CN" altLang="en-US" b="1">
                <a:solidFill>
                  <a:srgbClr val="CC0000"/>
                </a:solidFill>
              </a:rPr>
              <a:t>跟踪</a:t>
            </a:r>
            <a:r>
              <a:rPr lang="zh-CN" altLang="en-US" b="1"/>
              <a:t>，并且根据需要可动态地在过滤规则中</a:t>
            </a:r>
            <a:r>
              <a:rPr lang="zh-CN" altLang="en-US" b="1">
                <a:solidFill>
                  <a:srgbClr val="990033"/>
                </a:solidFill>
              </a:rPr>
              <a:t>增加或更新条目</a:t>
            </a:r>
            <a:r>
              <a:rPr lang="zh-CN" altLang="en-US" b="1"/>
              <a:t>，具体数据通路如图</a:t>
            </a:r>
            <a:r>
              <a:rPr lang="en-US" altLang="zh-CN" b="1"/>
              <a:t>8-4</a:t>
            </a:r>
            <a:r>
              <a:rPr lang="zh-CN" altLang="en-US" b="1"/>
              <a:t>。</a:t>
            </a:r>
            <a:endParaRPr lang="zh-CN" altLang="en-US" b="1"/>
          </a:p>
        </p:txBody>
      </p:sp>
      <p:sp>
        <p:nvSpPr>
          <p:cNvPr id="20483" name="Rectangle 7"/>
          <p:cNvSpPr>
            <a:spLocks noChangeArrowheads="1"/>
          </p:cNvSpPr>
          <p:nvPr/>
        </p:nvSpPr>
        <p:spPr bwMode="auto">
          <a:xfrm>
            <a:off x="0" y="2576513"/>
            <a:ext cx="9144000" cy="0"/>
          </a:xfrm>
          <a:prstGeom prst="rect">
            <a:avLst/>
          </a:prstGeom>
          <a:noFill/>
          <a:ln w="9525">
            <a:noFill/>
            <a:miter lim="800000"/>
          </a:ln>
        </p:spPr>
        <p:txBody>
          <a:bodyPr wrap="none" anchor="ctr">
            <a:spAutoFit/>
          </a:bodyPr>
          <a:lstStyle/>
          <a:p>
            <a:endParaRPr lang="zh-CN" altLang="en-US" b="1"/>
          </a:p>
        </p:txBody>
      </p:sp>
      <p:graphicFrame>
        <p:nvGraphicFramePr>
          <p:cNvPr id="20484" name="Object 6"/>
          <p:cNvGraphicFramePr>
            <a:graphicFrameLocks noChangeAspect="1"/>
          </p:cNvGraphicFramePr>
          <p:nvPr/>
        </p:nvGraphicFramePr>
        <p:xfrm>
          <a:off x="2411413" y="3573463"/>
          <a:ext cx="4392612" cy="2943225"/>
        </p:xfrm>
        <a:graphic>
          <a:graphicData uri="http://schemas.openxmlformats.org/presentationml/2006/ole">
            <mc:AlternateContent xmlns:mc="http://schemas.openxmlformats.org/markup-compatibility/2006">
              <mc:Choice xmlns:v="urn:schemas-microsoft-com:vml" Requires="v">
                <p:oleObj spid="_x0000_s8237" name="" r:id="rId1" imgW="4473575" imgH="2626360" progId="">
                  <p:embed/>
                </p:oleObj>
              </mc:Choice>
              <mc:Fallback>
                <p:oleObj name="" r:id="rId1" imgW="4473575" imgH="2626360" progId="">
                  <p:embed/>
                  <p:pic>
                    <p:nvPicPr>
                      <p:cNvPr id="0" name="Object 6"/>
                      <p:cNvPicPr>
                        <a:picLocks noChangeAspect="1"/>
                      </p:cNvPicPr>
                      <p:nvPr/>
                    </p:nvPicPr>
                    <p:blipFill>
                      <a:blip r:embed="rId2">
                        <a:grayscl/>
                      </a:blip>
                      <a:stretch>
                        <a:fillRect/>
                      </a:stretch>
                    </p:blipFill>
                    <p:spPr>
                      <a:xfrm>
                        <a:off x="2411413" y="3573463"/>
                        <a:ext cx="4392612" cy="2943225"/>
                      </a:xfrm>
                      <a:prstGeom prst="rect">
                        <a:avLst/>
                      </a:prstGeom>
                      <a:noFill/>
                      <a:ln w="38100">
                        <a:noFill/>
                      </a:ln>
                    </p:spPr>
                  </p:pic>
                </p:oleObj>
              </mc:Fallback>
            </mc:AlternateContent>
          </a:graphicData>
        </a:graphic>
      </p:graphicFrame>
      <p:sp>
        <p:nvSpPr>
          <p:cNvPr id="20485" name="Rectangle 10"/>
          <p:cNvSpPr>
            <a:spLocks noChangeArrowheads="1"/>
          </p:cNvSpPr>
          <p:nvPr/>
        </p:nvSpPr>
        <p:spPr bwMode="auto">
          <a:xfrm>
            <a:off x="2900363" y="6521450"/>
            <a:ext cx="3155950" cy="304800"/>
          </a:xfrm>
          <a:prstGeom prst="rect">
            <a:avLst/>
          </a:prstGeom>
          <a:noFill/>
          <a:ln w="9525">
            <a:noFill/>
            <a:miter lim="800000"/>
          </a:ln>
        </p:spPr>
        <p:txBody>
          <a:bodyPr wrap="none" anchor="ctr">
            <a:spAutoFit/>
          </a:bodyPr>
          <a:lstStyle/>
          <a:p>
            <a:pPr algn="ctr" eaLnBrk="0" hangingPunct="0"/>
            <a:r>
              <a:rPr lang="zh-CN" altLang="en-US" sz="1400" b="1"/>
              <a:t>图</a:t>
            </a:r>
            <a:r>
              <a:rPr lang="en-US" altLang="zh-CN" sz="1400" b="1"/>
              <a:t>8-4 </a:t>
            </a:r>
            <a:r>
              <a:rPr lang="zh-CN" altLang="en-US" sz="1400" b="1"/>
              <a:t>第二代包过滤防火墙的数据通路</a:t>
            </a:r>
            <a:endParaRPr lang="zh-CN" altLang="en-US" sz="1400" b="1"/>
          </a:p>
        </p:txBody>
      </p:sp>
      <p:sp>
        <p:nvSpPr>
          <p:cNvPr id="20486"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8.2 </a:t>
            </a:r>
            <a:r>
              <a:rPr lang="zh-CN" altLang="en-US" sz="3600" b="1">
                <a:solidFill>
                  <a:schemeClr val="bg1"/>
                </a:solidFill>
                <a:latin typeface="Verdana" panose="020B0604030504040204" pitchFamily="34" charset="0"/>
              </a:rPr>
              <a:t>防火墙的类型</a:t>
            </a:r>
            <a:endParaRPr lang="zh-CN" altLang="en-US" sz="3600" b="1">
              <a:solidFill>
                <a:schemeClr val="bg1"/>
              </a:solidFill>
              <a:latin typeface="Verdana" panose="020B0604030504040204" pitchFamily="34" charset="0"/>
            </a:endParaRPr>
          </a:p>
        </p:txBody>
      </p:sp>
      <p:sp>
        <p:nvSpPr>
          <p:cNvPr id="20487" name="AutoShape 8"/>
          <p:cNvSpPr>
            <a:spLocks noChangeArrowheads="1"/>
          </p:cNvSpPr>
          <p:nvPr/>
        </p:nvSpPr>
        <p:spPr bwMode="auto">
          <a:xfrm>
            <a:off x="361950" y="1295400"/>
            <a:ext cx="8169275" cy="2278063"/>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3"/>
          <p:cNvSpPr>
            <a:spLocks noChangeArrowheads="1"/>
          </p:cNvSpPr>
          <p:nvPr/>
        </p:nvSpPr>
        <p:spPr bwMode="auto">
          <a:xfrm>
            <a:off x="611188" y="1196975"/>
            <a:ext cx="8077200" cy="2278063"/>
          </a:xfrm>
          <a:prstGeom prst="rect">
            <a:avLst/>
          </a:prstGeom>
          <a:noFill/>
          <a:ln w="9525">
            <a:noFill/>
            <a:miter lim="800000"/>
          </a:ln>
        </p:spPr>
        <p:txBody>
          <a:bodyPr/>
          <a:lstStyle/>
          <a:p>
            <a:pPr eaLnBrk="0" hangingPunct="0">
              <a:spcBef>
                <a:spcPct val="20000"/>
              </a:spcBef>
            </a:pPr>
            <a:r>
              <a:rPr lang="en-US" altLang="zh-CN" b="1">
                <a:solidFill>
                  <a:srgbClr val="CC0000"/>
                </a:solidFill>
              </a:rPr>
              <a:t>      2</a:t>
            </a:r>
            <a:r>
              <a:rPr lang="zh-CN" altLang="en-US" b="1">
                <a:solidFill>
                  <a:srgbClr val="CC0000"/>
                </a:solidFill>
              </a:rPr>
              <a:t>．应用代理</a:t>
            </a:r>
            <a:r>
              <a:rPr lang="en-US" altLang="zh-CN" b="1">
                <a:solidFill>
                  <a:srgbClr val="CC0000"/>
                </a:solidFill>
              </a:rPr>
              <a:t>(Application Proxy)</a:t>
            </a:r>
            <a:r>
              <a:rPr lang="zh-CN" altLang="en-US" b="1">
                <a:solidFill>
                  <a:srgbClr val="CC0000"/>
                </a:solidFill>
              </a:rPr>
              <a:t>型</a:t>
            </a:r>
            <a:endParaRPr lang="zh-CN" altLang="en-US" b="1">
              <a:solidFill>
                <a:srgbClr val="CC0000"/>
              </a:solidFill>
            </a:endParaRPr>
          </a:p>
          <a:p>
            <a:pPr eaLnBrk="0" hangingPunct="0">
              <a:spcBef>
                <a:spcPct val="20000"/>
              </a:spcBef>
            </a:pPr>
            <a:r>
              <a:rPr lang="zh-CN" altLang="en-US" b="1"/>
              <a:t>      应用代理型防火墙是工作在</a:t>
            </a:r>
            <a:r>
              <a:rPr lang="en-US" altLang="zh-CN" b="1"/>
              <a:t>OSI</a:t>
            </a:r>
            <a:r>
              <a:rPr lang="zh-CN" altLang="en-US" b="1"/>
              <a:t>的最高层，即应用层。其</a:t>
            </a:r>
            <a:r>
              <a:rPr lang="zh-CN" altLang="en-US" b="1">
                <a:solidFill>
                  <a:srgbClr val="CC0000"/>
                </a:solidFill>
              </a:rPr>
              <a:t>特点</a:t>
            </a:r>
            <a:r>
              <a:rPr lang="zh-CN" altLang="en-US" b="1"/>
              <a:t>是完全“阻隔”了网络通信流，通过对每种应用服务编制专门的代理程序，实现</a:t>
            </a:r>
            <a:r>
              <a:rPr lang="zh-CN" altLang="en-US" b="1">
                <a:solidFill>
                  <a:srgbClr val="990033"/>
                </a:solidFill>
              </a:rPr>
              <a:t>监视和控制应用层通信流</a:t>
            </a:r>
            <a:r>
              <a:rPr lang="zh-CN" altLang="en-US" b="1"/>
              <a:t>的作用。其典型网络结构如图</a:t>
            </a:r>
            <a:r>
              <a:rPr lang="en-US" altLang="zh-CN" b="1"/>
              <a:t>8-5</a:t>
            </a:r>
            <a:r>
              <a:rPr lang="zh-CN" altLang="en-US" b="1"/>
              <a:t>所示</a:t>
            </a:r>
            <a:r>
              <a:rPr lang="zh-CN" altLang="en-US" sz="3200" b="1"/>
              <a:t>。</a:t>
            </a:r>
            <a:endParaRPr lang="zh-CN" altLang="en-US" sz="3200" b="1">
              <a:solidFill>
                <a:srgbClr val="CC0000"/>
              </a:solidFill>
            </a:endParaRPr>
          </a:p>
        </p:txBody>
      </p:sp>
      <p:sp>
        <p:nvSpPr>
          <p:cNvPr id="21506" name="Rectangle 8"/>
          <p:cNvSpPr>
            <a:spLocks noChangeArrowheads="1"/>
          </p:cNvSpPr>
          <p:nvPr/>
        </p:nvSpPr>
        <p:spPr bwMode="auto">
          <a:xfrm>
            <a:off x="0" y="2462213"/>
            <a:ext cx="9144000" cy="0"/>
          </a:xfrm>
          <a:prstGeom prst="rect">
            <a:avLst/>
          </a:prstGeom>
          <a:noFill/>
          <a:ln w="9525">
            <a:noFill/>
            <a:miter lim="800000"/>
          </a:ln>
        </p:spPr>
        <p:txBody>
          <a:bodyPr wrap="none" anchor="ctr">
            <a:spAutoFit/>
          </a:bodyPr>
          <a:lstStyle/>
          <a:p>
            <a:endParaRPr lang="zh-CN" altLang="en-US" b="1"/>
          </a:p>
        </p:txBody>
      </p:sp>
      <p:graphicFrame>
        <p:nvGraphicFramePr>
          <p:cNvPr id="21507" name="Object 7"/>
          <p:cNvGraphicFramePr>
            <a:graphicFrameLocks noChangeAspect="1"/>
          </p:cNvGraphicFramePr>
          <p:nvPr/>
        </p:nvGraphicFramePr>
        <p:xfrm>
          <a:off x="2411413" y="3357563"/>
          <a:ext cx="5111750" cy="3024187"/>
        </p:xfrm>
        <a:graphic>
          <a:graphicData uri="http://schemas.openxmlformats.org/presentationml/2006/ole">
            <mc:AlternateContent xmlns:mc="http://schemas.openxmlformats.org/markup-compatibility/2006">
              <mc:Choice xmlns:v="urn:schemas-microsoft-com:vml" Requires="v">
                <p:oleObj spid="_x0000_s9261" name="" r:id="rId1" imgW="8848090" imgH="4088130" progId="">
                  <p:embed/>
                </p:oleObj>
              </mc:Choice>
              <mc:Fallback>
                <p:oleObj name="" r:id="rId1" imgW="8848090" imgH="4088130" progId="">
                  <p:embed/>
                  <p:pic>
                    <p:nvPicPr>
                      <p:cNvPr id="0" name="Object 7"/>
                      <p:cNvPicPr>
                        <a:picLocks noChangeAspect="1"/>
                      </p:cNvPicPr>
                      <p:nvPr/>
                    </p:nvPicPr>
                    <p:blipFill>
                      <a:blip r:embed="rId2"/>
                      <a:stretch>
                        <a:fillRect/>
                      </a:stretch>
                    </p:blipFill>
                    <p:spPr>
                      <a:xfrm>
                        <a:off x="2411413" y="3357563"/>
                        <a:ext cx="5111750" cy="3024187"/>
                      </a:xfrm>
                      <a:prstGeom prst="rect">
                        <a:avLst/>
                      </a:prstGeom>
                      <a:noFill/>
                      <a:ln w="38100">
                        <a:noFill/>
                      </a:ln>
                    </p:spPr>
                  </p:pic>
                </p:oleObj>
              </mc:Fallback>
            </mc:AlternateContent>
          </a:graphicData>
        </a:graphic>
      </p:graphicFrame>
      <p:sp>
        <p:nvSpPr>
          <p:cNvPr id="21508" name="Rectangle 9"/>
          <p:cNvSpPr>
            <a:spLocks noChangeArrowheads="1"/>
          </p:cNvSpPr>
          <p:nvPr/>
        </p:nvSpPr>
        <p:spPr bwMode="auto">
          <a:xfrm>
            <a:off x="3508375" y="6265863"/>
            <a:ext cx="3006725" cy="307975"/>
          </a:xfrm>
          <a:prstGeom prst="rect">
            <a:avLst/>
          </a:prstGeom>
          <a:noFill/>
          <a:ln w="9525">
            <a:noFill/>
            <a:miter lim="800000"/>
          </a:ln>
        </p:spPr>
        <p:txBody>
          <a:bodyPr wrap="none" anchor="ctr">
            <a:spAutoFit/>
          </a:bodyPr>
          <a:lstStyle/>
          <a:p>
            <a:pPr algn="ctr" eaLnBrk="0" hangingPunct="0"/>
            <a:r>
              <a:rPr lang="zh-CN" altLang="en-US" sz="1400" b="1"/>
              <a:t>图</a:t>
            </a:r>
            <a:r>
              <a:rPr lang="en-US" altLang="zh-CN" sz="1400" b="1"/>
              <a:t>8-5 </a:t>
            </a:r>
            <a:r>
              <a:rPr lang="zh-CN" altLang="en-US" sz="1400" b="1"/>
              <a:t>应用代理型防火墙的网络结构</a:t>
            </a:r>
            <a:endParaRPr lang="zh-CN" altLang="en-US" sz="1400" b="1"/>
          </a:p>
        </p:txBody>
      </p:sp>
      <p:sp>
        <p:nvSpPr>
          <p:cNvPr id="21509"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8.2 </a:t>
            </a:r>
            <a:r>
              <a:rPr lang="zh-CN" altLang="en-US" sz="3600" b="1">
                <a:solidFill>
                  <a:schemeClr val="bg1"/>
                </a:solidFill>
                <a:latin typeface="Verdana" panose="020B0604030504040204" pitchFamily="34" charset="0"/>
              </a:rPr>
              <a:t>防火墙的类型</a:t>
            </a:r>
            <a:endParaRPr lang="zh-CN" altLang="en-US" sz="3600" b="1">
              <a:solidFill>
                <a:schemeClr val="bg1"/>
              </a:solidFill>
              <a:latin typeface="Verdana" panose="020B0604030504040204" pitchFamily="34" charset="0"/>
            </a:endParaRPr>
          </a:p>
        </p:txBody>
      </p:sp>
      <p:sp>
        <p:nvSpPr>
          <p:cNvPr id="21510" name="AutoShape 8"/>
          <p:cNvSpPr>
            <a:spLocks noChangeArrowheads="1"/>
          </p:cNvSpPr>
          <p:nvPr/>
        </p:nvSpPr>
        <p:spPr bwMode="auto">
          <a:xfrm>
            <a:off x="361950" y="1196975"/>
            <a:ext cx="8169275" cy="2160588"/>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a:spLocks noChangeArrowheads="1"/>
          </p:cNvSpPr>
          <p:nvPr/>
        </p:nvSpPr>
        <p:spPr bwMode="auto">
          <a:xfrm>
            <a:off x="539750" y="1052513"/>
            <a:ext cx="8077200" cy="3357562"/>
          </a:xfrm>
          <a:prstGeom prst="rect">
            <a:avLst/>
          </a:prstGeom>
          <a:noFill/>
          <a:ln w="9525">
            <a:noFill/>
            <a:miter lim="800000"/>
          </a:ln>
        </p:spPr>
        <p:txBody>
          <a:bodyPr/>
          <a:lstStyle/>
          <a:p>
            <a:pPr eaLnBrk="0" hangingPunct="0">
              <a:spcBef>
                <a:spcPct val="20000"/>
              </a:spcBef>
            </a:pPr>
            <a:r>
              <a:rPr lang="zh-CN" altLang="en-US" b="1"/>
              <a:t>      在代理型防火墙技术发展中，经历了</a:t>
            </a:r>
            <a:r>
              <a:rPr lang="zh-CN" altLang="en-US" b="1">
                <a:solidFill>
                  <a:srgbClr val="990033"/>
                </a:solidFill>
              </a:rPr>
              <a:t>两个不同的版本</a:t>
            </a:r>
            <a:r>
              <a:rPr lang="zh-CN" altLang="en-US" b="1"/>
              <a:t>。</a:t>
            </a:r>
            <a:endParaRPr lang="zh-CN" altLang="en-US" b="1"/>
          </a:p>
          <a:p>
            <a:pPr eaLnBrk="0" hangingPunct="0">
              <a:spcBef>
                <a:spcPct val="20000"/>
              </a:spcBef>
            </a:pPr>
            <a:r>
              <a:rPr lang="zh-CN" altLang="en-US" b="1"/>
              <a:t>     （</a:t>
            </a:r>
            <a:r>
              <a:rPr lang="en-US" altLang="zh-CN" b="1"/>
              <a:t>1</a:t>
            </a:r>
            <a:r>
              <a:rPr lang="zh-CN" altLang="en-US" b="1"/>
              <a:t>）第一代应用网关</a:t>
            </a:r>
            <a:r>
              <a:rPr lang="en-US" altLang="zh-CN" b="1"/>
              <a:t>(Application Gateway)</a:t>
            </a:r>
            <a:r>
              <a:rPr lang="zh-CN" altLang="en-US" b="1"/>
              <a:t>型防火墙</a:t>
            </a:r>
            <a:endParaRPr lang="zh-CN" altLang="en-US" b="1"/>
          </a:p>
          <a:p>
            <a:pPr eaLnBrk="0" hangingPunct="0">
              <a:spcBef>
                <a:spcPct val="20000"/>
              </a:spcBef>
            </a:pPr>
            <a:r>
              <a:rPr lang="zh-CN" altLang="en-US" b="1"/>
              <a:t>      这类防火墙是通过一种代理</a:t>
            </a:r>
            <a:r>
              <a:rPr lang="en-US" altLang="zh-CN" b="1"/>
              <a:t>(Proxy)</a:t>
            </a:r>
            <a:r>
              <a:rPr lang="zh-CN" altLang="en-US" b="1"/>
              <a:t>技术参与到一个</a:t>
            </a:r>
            <a:r>
              <a:rPr lang="en-US" altLang="zh-CN" b="1"/>
              <a:t>TCP</a:t>
            </a:r>
            <a:r>
              <a:rPr lang="zh-CN" altLang="en-US" b="1"/>
              <a:t>连接的全过程。如图</a:t>
            </a:r>
            <a:r>
              <a:rPr lang="en-US" altLang="zh-CN" b="1"/>
              <a:t>8-6</a:t>
            </a:r>
            <a:r>
              <a:rPr lang="zh-CN" altLang="en-US" b="1"/>
              <a:t>，从内部发出的数据包经过这样的防火墙处理后，就好像是源于防火墙外部网卡一样，从而可以达到</a:t>
            </a:r>
            <a:r>
              <a:rPr lang="zh-CN" altLang="en-US" b="1">
                <a:solidFill>
                  <a:srgbClr val="990033"/>
                </a:solidFill>
              </a:rPr>
              <a:t>隐藏内部网结构</a:t>
            </a:r>
            <a:r>
              <a:rPr lang="zh-CN" altLang="en-US" b="1"/>
              <a:t>的作用。这种类型的防火墙被网络安全专家和媒体公认为是最安全的防火墙。</a:t>
            </a:r>
            <a:r>
              <a:rPr lang="zh-CN" altLang="en-US" b="1">
                <a:solidFill>
                  <a:srgbClr val="990033"/>
                </a:solidFill>
              </a:rPr>
              <a:t>核心技术</a:t>
            </a:r>
            <a:r>
              <a:rPr lang="zh-CN" altLang="en-US" b="1"/>
              <a:t>就是</a:t>
            </a:r>
            <a:r>
              <a:rPr lang="zh-CN" altLang="en-US" b="1">
                <a:solidFill>
                  <a:srgbClr val="990033"/>
                </a:solidFill>
              </a:rPr>
              <a:t>代理服务器技术</a:t>
            </a:r>
            <a:r>
              <a:rPr lang="zh-CN" altLang="en-US" b="1"/>
              <a:t>。</a:t>
            </a:r>
            <a:endParaRPr lang="zh-CN" altLang="en-US" b="1"/>
          </a:p>
        </p:txBody>
      </p:sp>
      <p:sp>
        <p:nvSpPr>
          <p:cNvPr id="22530" name="Rectangle 7"/>
          <p:cNvSpPr>
            <a:spLocks noChangeArrowheads="1"/>
          </p:cNvSpPr>
          <p:nvPr/>
        </p:nvSpPr>
        <p:spPr bwMode="auto">
          <a:xfrm>
            <a:off x="0" y="2795588"/>
            <a:ext cx="9144000" cy="0"/>
          </a:xfrm>
          <a:prstGeom prst="rect">
            <a:avLst/>
          </a:prstGeom>
          <a:noFill/>
          <a:ln w="9525">
            <a:noFill/>
            <a:miter lim="800000"/>
          </a:ln>
        </p:spPr>
        <p:txBody>
          <a:bodyPr wrap="none" anchor="ctr">
            <a:spAutoFit/>
          </a:bodyPr>
          <a:lstStyle/>
          <a:p>
            <a:endParaRPr lang="zh-CN" altLang="en-US" b="1"/>
          </a:p>
        </p:txBody>
      </p:sp>
      <p:graphicFrame>
        <p:nvGraphicFramePr>
          <p:cNvPr id="22531" name="Object 6"/>
          <p:cNvGraphicFramePr>
            <a:graphicFrameLocks noChangeAspect="1"/>
          </p:cNvGraphicFramePr>
          <p:nvPr/>
        </p:nvGraphicFramePr>
        <p:xfrm>
          <a:off x="2627313" y="4149725"/>
          <a:ext cx="4032250" cy="2303463"/>
        </p:xfrm>
        <a:graphic>
          <a:graphicData uri="http://schemas.openxmlformats.org/presentationml/2006/ole">
            <mc:AlternateContent xmlns:mc="http://schemas.openxmlformats.org/markup-compatibility/2006">
              <mc:Choice xmlns:v="urn:schemas-microsoft-com:vml" Requires="v">
                <p:oleObj spid="_x0000_s10285" name="" r:id="rId1" imgW="4177665" imgH="2187575" progId="">
                  <p:embed/>
                </p:oleObj>
              </mc:Choice>
              <mc:Fallback>
                <p:oleObj name="" r:id="rId1" imgW="4177665" imgH="2187575" progId="">
                  <p:embed/>
                  <p:pic>
                    <p:nvPicPr>
                      <p:cNvPr id="0" name="Object 6"/>
                      <p:cNvPicPr>
                        <a:picLocks noChangeAspect="1"/>
                      </p:cNvPicPr>
                      <p:nvPr/>
                    </p:nvPicPr>
                    <p:blipFill>
                      <a:blip r:embed="rId2">
                        <a:grayscl/>
                      </a:blip>
                      <a:stretch>
                        <a:fillRect/>
                      </a:stretch>
                    </p:blipFill>
                    <p:spPr>
                      <a:xfrm>
                        <a:off x="2627313" y="4149725"/>
                        <a:ext cx="4032250" cy="2303463"/>
                      </a:xfrm>
                      <a:prstGeom prst="rect">
                        <a:avLst/>
                      </a:prstGeom>
                      <a:noFill/>
                      <a:ln w="38100">
                        <a:noFill/>
                      </a:ln>
                    </p:spPr>
                  </p:pic>
                </p:oleObj>
              </mc:Fallback>
            </mc:AlternateContent>
          </a:graphicData>
        </a:graphic>
      </p:graphicFrame>
      <p:sp>
        <p:nvSpPr>
          <p:cNvPr id="22532" name="Rectangle 8"/>
          <p:cNvSpPr>
            <a:spLocks noChangeArrowheads="1"/>
          </p:cNvSpPr>
          <p:nvPr/>
        </p:nvSpPr>
        <p:spPr bwMode="auto">
          <a:xfrm>
            <a:off x="2819400" y="6380163"/>
            <a:ext cx="3365500" cy="307975"/>
          </a:xfrm>
          <a:prstGeom prst="rect">
            <a:avLst/>
          </a:prstGeom>
          <a:noFill/>
          <a:ln w="9525">
            <a:noFill/>
            <a:miter lim="800000"/>
          </a:ln>
        </p:spPr>
        <p:txBody>
          <a:bodyPr wrap="none" anchor="ctr">
            <a:spAutoFit/>
          </a:bodyPr>
          <a:lstStyle/>
          <a:p>
            <a:pPr algn="ctr" eaLnBrk="0" hangingPunct="0"/>
            <a:r>
              <a:rPr lang="zh-CN" altLang="en-US" sz="1400" b="1"/>
              <a:t>图</a:t>
            </a:r>
            <a:r>
              <a:rPr lang="en-US" altLang="zh-CN" sz="1400" b="1"/>
              <a:t>8-6 </a:t>
            </a:r>
            <a:r>
              <a:rPr lang="zh-CN" altLang="en-US" sz="1400" b="1"/>
              <a:t>第一代应用网关型防火墙数据通路</a:t>
            </a:r>
            <a:endParaRPr lang="zh-CN" altLang="en-US" sz="1400" b="1"/>
          </a:p>
        </p:txBody>
      </p:sp>
      <p:sp>
        <p:nvSpPr>
          <p:cNvPr id="22533"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8.2 </a:t>
            </a:r>
            <a:r>
              <a:rPr lang="zh-CN" altLang="en-US" sz="3600" b="1">
                <a:solidFill>
                  <a:schemeClr val="bg1"/>
                </a:solidFill>
                <a:latin typeface="Verdana" panose="020B0604030504040204" pitchFamily="34" charset="0"/>
              </a:rPr>
              <a:t>防火墙的类型</a:t>
            </a:r>
            <a:endParaRPr lang="zh-CN" altLang="en-US" sz="3600" b="1">
              <a:solidFill>
                <a:schemeClr val="bg1"/>
              </a:solidFill>
              <a:latin typeface="Verdana" panose="020B0604030504040204" pitchFamily="34" charset="0"/>
            </a:endParaRPr>
          </a:p>
        </p:txBody>
      </p:sp>
      <p:sp>
        <p:nvSpPr>
          <p:cNvPr id="22534" name="AutoShape 8"/>
          <p:cNvSpPr>
            <a:spLocks noChangeArrowheads="1"/>
          </p:cNvSpPr>
          <p:nvPr/>
        </p:nvSpPr>
        <p:spPr bwMode="auto">
          <a:xfrm>
            <a:off x="361950" y="1136650"/>
            <a:ext cx="8169275" cy="3013075"/>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0" y="1052513"/>
            <a:ext cx="86106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3554" name="Rectangle 3"/>
          <p:cNvSpPr>
            <a:spLocks noChangeArrowheads="1"/>
          </p:cNvSpPr>
          <p:nvPr/>
        </p:nvSpPr>
        <p:spPr bwMode="auto">
          <a:xfrm>
            <a:off x="539750" y="1052513"/>
            <a:ext cx="8077200" cy="2808287"/>
          </a:xfrm>
          <a:prstGeom prst="rect">
            <a:avLst/>
          </a:prstGeom>
          <a:noFill/>
          <a:ln w="9525">
            <a:noFill/>
            <a:miter lim="800000"/>
          </a:ln>
        </p:spPr>
        <p:txBody>
          <a:bodyPr/>
          <a:lstStyle/>
          <a:p>
            <a:pPr eaLnBrk="0" hangingPunct="0">
              <a:spcBef>
                <a:spcPct val="20000"/>
              </a:spcBef>
            </a:pPr>
            <a:r>
              <a:rPr lang="zh-CN" altLang="en-US" b="1" dirty="0" smtClean="0"/>
              <a:t>  （</a:t>
            </a:r>
            <a:r>
              <a:rPr lang="en-US" altLang="zh-CN" b="1" dirty="0"/>
              <a:t>2</a:t>
            </a:r>
            <a:r>
              <a:rPr lang="zh-CN" altLang="en-US" b="1" dirty="0"/>
              <a:t>）第二代自适应代理</a:t>
            </a:r>
            <a:r>
              <a:rPr lang="en-US" altLang="zh-CN" b="1" dirty="0"/>
              <a:t>(Adaptive proxy)</a:t>
            </a:r>
            <a:r>
              <a:rPr lang="zh-CN" altLang="en-US" b="1" dirty="0"/>
              <a:t>型防火墙</a:t>
            </a:r>
            <a:endParaRPr lang="zh-CN" altLang="en-US" b="1" dirty="0"/>
          </a:p>
          <a:p>
            <a:pPr eaLnBrk="0" hangingPunct="0">
              <a:spcBef>
                <a:spcPct val="20000"/>
              </a:spcBef>
            </a:pPr>
            <a:r>
              <a:rPr lang="zh-CN" altLang="en-US" b="1" dirty="0"/>
              <a:t>      近几年才得到广泛应用的一种新防火墙类型。可以</a:t>
            </a:r>
            <a:r>
              <a:rPr lang="zh-CN" altLang="en-US" b="1" dirty="0">
                <a:solidFill>
                  <a:srgbClr val="CC0000"/>
                </a:solidFill>
              </a:rPr>
              <a:t>结合</a:t>
            </a:r>
            <a:r>
              <a:rPr lang="zh-CN" altLang="en-US" b="1" u="sng" dirty="0"/>
              <a:t>代理类型防火墙的安全性</a:t>
            </a:r>
            <a:r>
              <a:rPr lang="zh-CN" altLang="en-US" b="1" dirty="0"/>
              <a:t>和</a:t>
            </a:r>
            <a:r>
              <a:rPr lang="zh-CN" altLang="en-US" b="1" u="sng" dirty="0"/>
              <a:t>包过滤防火墙的高速度</a:t>
            </a:r>
            <a:r>
              <a:rPr lang="zh-CN" altLang="en-US" b="1" dirty="0"/>
              <a:t>等</a:t>
            </a:r>
            <a:r>
              <a:rPr lang="zh-CN" altLang="en-US" b="1" dirty="0">
                <a:solidFill>
                  <a:srgbClr val="990033"/>
                </a:solidFill>
              </a:rPr>
              <a:t>优点</a:t>
            </a:r>
            <a:r>
              <a:rPr lang="en-US" altLang="zh-CN" b="1" dirty="0"/>
              <a:t>,</a:t>
            </a:r>
            <a:r>
              <a:rPr lang="zh-CN" altLang="en-US" b="1" dirty="0"/>
              <a:t>在毫不损失安全性的基础之上将代理型防火墙的性能提高</a:t>
            </a:r>
            <a:r>
              <a:rPr lang="en-US" altLang="zh-CN" b="1" dirty="0"/>
              <a:t>10</a:t>
            </a:r>
            <a:r>
              <a:rPr lang="zh-CN" altLang="en-US" b="1" dirty="0"/>
              <a:t>倍以上。此类防火墙的数据通路如图</a:t>
            </a:r>
            <a:r>
              <a:rPr lang="en-US" altLang="zh-CN" b="1" dirty="0"/>
              <a:t>8-7</a:t>
            </a:r>
            <a:r>
              <a:rPr lang="zh-CN" altLang="en-US" b="1" dirty="0"/>
              <a:t>。组成这种类型防火墙的</a:t>
            </a:r>
            <a:r>
              <a:rPr lang="zh-CN" altLang="en-US" b="1" dirty="0">
                <a:solidFill>
                  <a:srgbClr val="CC0000"/>
                </a:solidFill>
              </a:rPr>
              <a:t>基本要素</a:t>
            </a:r>
            <a:r>
              <a:rPr lang="zh-CN" altLang="en-US" b="1" dirty="0"/>
              <a:t>有两个：自适应代理服务器</a:t>
            </a:r>
            <a:r>
              <a:rPr lang="en-US" altLang="zh-CN" b="1" dirty="0"/>
              <a:t>(Adaptive Proxy Server)</a:t>
            </a:r>
            <a:r>
              <a:rPr lang="zh-CN" altLang="en-US" b="1" dirty="0"/>
              <a:t>与动态包过滤器</a:t>
            </a:r>
            <a:r>
              <a:rPr lang="en-US" altLang="zh-CN" b="1" dirty="0"/>
              <a:t>(Dynamic Packet filter)</a:t>
            </a:r>
            <a:r>
              <a:rPr lang="zh-CN" altLang="en-US" b="1" dirty="0"/>
              <a:t>。</a:t>
            </a:r>
            <a:endParaRPr lang="zh-CN" altLang="en-US" b="1" dirty="0"/>
          </a:p>
        </p:txBody>
      </p:sp>
      <p:sp>
        <p:nvSpPr>
          <p:cNvPr id="23555" name="Rectangle 7"/>
          <p:cNvSpPr>
            <a:spLocks noChangeArrowheads="1"/>
          </p:cNvSpPr>
          <p:nvPr/>
        </p:nvSpPr>
        <p:spPr bwMode="auto">
          <a:xfrm>
            <a:off x="0" y="2762250"/>
            <a:ext cx="9144000" cy="0"/>
          </a:xfrm>
          <a:prstGeom prst="rect">
            <a:avLst/>
          </a:prstGeom>
          <a:noFill/>
          <a:ln w="9525">
            <a:noFill/>
            <a:miter lim="800000"/>
          </a:ln>
        </p:spPr>
        <p:txBody>
          <a:bodyPr wrap="none" anchor="ctr">
            <a:spAutoFit/>
          </a:bodyPr>
          <a:lstStyle/>
          <a:p>
            <a:endParaRPr lang="zh-CN" altLang="en-US" b="1"/>
          </a:p>
        </p:txBody>
      </p:sp>
      <p:graphicFrame>
        <p:nvGraphicFramePr>
          <p:cNvPr id="23556" name="Object 6"/>
          <p:cNvGraphicFramePr>
            <a:graphicFrameLocks noChangeAspect="1"/>
          </p:cNvGraphicFramePr>
          <p:nvPr/>
        </p:nvGraphicFramePr>
        <p:xfrm>
          <a:off x="2771775" y="3933825"/>
          <a:ext cx="4752975" cy="2455863"/>
        </p:xfrm>
        <a:graphic>
          <a:graphicData uri="http://schemas.openxmlformats.org/presentationml/2006/ole">
            <mc:AlternateContent xmlns:mc="http://schemas.openxmlformats.org/markup-compatibility/2006">
              <mc:Choice xmlns:v="urn:schemas-microsoft-com:vml" Requires="v">
                <p:oleObj spid="_x0000_s11309" name="" r:id="rId1" imgW="4177665" imgH="2277110" progId="">
                  <p:embed/>
                </p:oleObj>
              </mc:Choice>
              <mc:Fallback>
                <p:oleObj name="" r:id="rId1" imgW="4177665" imgH="2277110" progId="">
                  <p:embed/>
                  <p:pic>
                    <p:nvPicPr>
                      <p:cNvPr id="0" name="Object 6"/>
                      <p:cNvPicPr>
                        <a:picLocks noChangeAspect="1"/>
                      </p:cNvPicPr>
                      <p:nvPr/>
                    </p:nvPicPr>
                    <p:blipFill>
                      <a:blip r:embed="rId2">
                        <a:grayscl/>
                      </a:blip>
                      <a:stretch>
                        <a:fillRect/>
                      </a:stretch>
                    </p:blipFill>
                    <p:spPr>
                      <a:xfrm>
                        <a:off x="2771775" y="3933825"/>
                        <a:ext cx="4752975" cy="2455863"/>
                      </a:xfrm>
                      <a:prstGeom prst="rect">
                        <a:avLst/>
                      </a:prstGeom>
                      <a:noFill/>
                      <a:ln w="38100">
                        <a:noFill/>
                      </a:ln>
                    </p:spPr>
                  </p:pic>
                </p:oleObj>
              </mc:Fallback>
            </mc:AlternateContent>
          </a:graphicData>
        </a:graphic>
      </p:graphicFrame>
      <p:sp>
        <p:nvSpPr>
          <p:cNvPr id="23557" name="Rectangle 8"/>
          <p:cNvSpPr>
            <a:spLocks noChangeArrowheads="1"/>
          </p:cNvSpPr>
          <p:nvPr/>
        </p:nvSpPr>
        <p:spPr bwMode="auto">
          <a:xfrm>
            <a:off x="3295650" y="6519863"/>
            <a:ext cx="3543300" cy="307975"/>
          </a:xfrm>
          <a:prstGeom prst="rect">
            <a:avLst/>
          </a:prstGeom>
          <a:noFill/>
          <a:ln w="9525">
            <a:noFill/>
            <a:miter lim="800000"/>
          </a:ln>
        </p:spPr>
        <p:txBody>
          <a:bodyPr wrap="none" anchor="ctr">
            <a:spAutoFit/>
          </a:bodyPr>
          <a:lstStyle/>
          <a:p>
            <a:pPr algn="ctr" eaLnBrk="0" hangingPunct="0"/>
            <a:r>
              <a:rPr lang="zh-CN" altLang="en-US" sz="1400" b="1"/>
              <a:t>图</a:t>
            </a:r>
            <a:r>
              <a:rPr lang="en-US" altLang="zh-CN" sz="1400" b="1"/>
              <a:t>8-7 </a:t>
            </a:r>
            <a:r>
              <a:rPr lang="zh-CN" altLang="en-US" sz="1400" b="1"/>
              <a:t>第二代自适应代理型防火墙数据通路</a:t>
            </a:r>
            <a:endParaRPr lang="zh-CN" altLang="en-US" sz="1400" b="1"/>
          </a:p>
        </p:txBody>
      </p:sp>
      <p:sp>
        <p:nvSpPr>
          <p:cNvPr id="23558"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8.2 </a:t>
            </a:r>
            <a:r>
              <a:rPr lang="zh-CN" altLang="en-US" sz="3600" b="1">
                <a:solidFill>
                  <a:schemeClr val="bg1"/>
                </a:solidFill>
                <a:latin typeface="Verdana" panose="020B0604030504040204" pitchFamily="34" charset="0"/>
              </a:rPr>
              <a:t>防火墙的类型</a:t>
            </a:r>
            <a:endParaRPr lang="zh-CN" altLang="en-US" sz="3600" b="1">
              <a:solidFill>
                <a:schemeClr val="bg1"/>
              </a:solidFill>
              <a:latin typeface="Verdana" panose="020B0604030504040204" pitchFamily="34" charset="0"/>
            </a:endParaRPr>
          </a:p>
        </p:txBody>
      </p:sp>
      <p:sp>
        <p:nvSpPr>
          <p:cNvPr id="23559" name="AutoShape 8"/>
          <p:cNvSpPr>
            <a:spLocks noChangeArrowheads="1"/>
          </p:cNvSpPr>
          <p:nvPr/>
        </p:nvSpPr>
        <p:spPr bwMode="auto">
          <a:xfrm>
            <a:off x="361950" y="1127125"/>
            <a:ext cx="8169275" cy="2733675"/>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ChangeArrowheads="1"/>
          </p:cNvSpPr>
          <p:nvPr/>
        </p:nvSpPr>
        <p:spPr bwMode="auto">
          <a:xfrm>
            <a:off x="609600" y="1295400"/>
            <a:ext cx="8077200" cy="4149725"/>
          </a:xfrm>
          <a:prstGeom prst="rect">
            <a:avLst/>
          </a:prstGeom>
          <a:noFill/>
          <a:ln w="9525">
            <a:noFill/>
            <a:miter lim="800000"/>
          </a:ln>
        </p:spPr>
        <p:txBody>
          <a:bodyPr/>
          <a:lstStyle/>
          <a:p>
            <a:pPr algn="just">
              <a:spcBef>
                <a:spcPct val="20000"/>
              </a:spcBef>
            </a:pPr>
            <a:r>
              <a:rPr lang="en-US" altLang="zh-CN" sz="2800" b="1" dirty="0" smtClean="0">
                <a:solidFill>
                  <a:srgbClr val="FF0000"/>
                </a:solidFill>
              </a:rPr>
              <a:t>  8.2.3  </a:t>
            </a:r>
            <a:r>
              <a:rPr lang="zh-CN" altLang="en-US" sz="2800" b="1" dirty="0">
                <a:solidFill>
                  <a:srgbClr val="FF0000"/>
                </a:solidFill>
              </a:rPr>
              <a:t>以防火墙体系结构分类</a:t>
            </a:r>
            <a:endParaRPr lang="zh-CN" altLang="en-US" sz="2800" b="1" dirty="0">
              <a:solidFill>
                <a:srgbClr val="FF0000"/>
              </a:solidFill>
            </a:endParaRPr>
          </a:p>
          <a:p>
            <a:pPr eaLnBrk="0" hangingPunct="0">
              <a:spcBef>
                <a:spcPct val="20000"/>
              </a:spcBef>
            </a:pPr>
            <a:r>
              <a:rPr lang="zh-CN" altLang="en-US" b="1" dirty="0"/>
              <a:t>      </a:t>
            </a:r>
            <a:r>
              <a:rPr lang="zh-CN" altLang="en-US" b="1" dirty="0">
                <a:solidFill>
                  <a:srgbClr val="CC0000"/>
                </a:solidFill>
              </a:rPr>
              <a:t>主要有</a:t>
            </a:r>
            <a:r>
              <a:rPr lang="zh-CN" altLang="en-US" b="1" dirty="0"/>
              <a:t>：单一主机防火墙、路由器集成式防火墙和分布式防火墙</a:t>
            </a:r>
            <a:r>
              <a:rPr lang="zh-CN" altLang="en-US" b="1" dirty="0">
                <a:solidFill>
                  <a:srgbClr val="CC0000"/>
                </a:solidFill>
              </a:rPr>
              <a:t>三种</a:t>
            </a:r>
            <a:r>
              <a:rPr lang="zh-CN" altLang="en-US" b="1" dirty="0"/>
              <a:t>。</a:t>
            </a:r>
            <a:endParaRPr lang="zh-CN" altLang="en-US" b="1" dirty="0"/>
          </a:p>
          <a:p>
            <a:pPr eaLnBrk="0" hangingPunct="0">
              <a:spcBef>
                <a:spcPct val="20000"/>
              </a:spcBef>
            </a:pPr>
            <a:r>
              <a:rPr lang="zh-CN" altLang="en-US" b="1" dirty="0" smtClean="0"/>
              <a:t>  （</a:t>
            </a:r>
            <a:r>
              <a:rPr lang="en-US" altLang="zh-CN" b="1" dirty="0"/>
              <a:t>1</a:t>
            </a:r>
            <a:r>
              <a:rPr lang="zh-CN" altLang="en-US" b="1" dirty="0"/>
              <a:t>）单一主机防火墙是最为传统的防火墙，独立于其它网络设备，它</a:t>
            </a:r>
            <a:r>
              <a:rPr lang="zh-CN" altLang="en-US" b="1" dirty="0">
                <a:solidFill>
                  <a:srgbClr val="990033"/>
                </a:solidFill>
              </a:rPr>
              <a:t>位于</a:t>
            </a:r>
            <a:r>
              <a:rPr lang="zh-CN" altLang="en-US" b="1" dirty="0"/>
              <a:t>网络边界。</a:t>
            </a:r>
            <a:endParaRPr lang="zh-CN" altLang="en-US" b="1" dirty="0"/>
          </a:p>
          <a:p>
            <a:pPr eaLnBrk="0" hangingPunct="0">
              <a:spcBef>
                <a:spcPct val="20000"/>
              </a:spcBef>
            </a:pPr>
            <a:r>
              <a:rPr lang="zh-CN" altLang="en-US" b="1" dirty="0" smtClean="0"/>
              <a:t>  （</a:t>
            </a:r>
            <a:r>
              <a:rPr lang="en-US" altLang="zh-CN" b="1" dirty="0"/>
              <a:t>2</a:t>
            </a:r>
            <a:r>
              <a:rPr lang="zh-CN" altLang="en-US" b="1" dirty="0"/>
              <a:t>）路由器集成式防火墙是将防火墙功能集成在中、高档路由器中，大大降低了网络设备购买成本。</a:t>
            </a:r>
            <a:endParaRPr lang="zh-CN" altLang="en-US" b="1" dirty="0"/>
          </a:p>
          <a:p>
            <a:pPr eaLnBrk="0" hangingPunct="0">
              <a:spcBef>
                <a:spcPct val="20000"/>
              </a:spcBef>
            </a:pPr>
            <a:r>
              <a:rPr lang="zh-CN" altLang="en-US" b="1" dirty="0" smtClean="0"/>
              <a:t>  （</a:t>
            </a:r>
            <a:r>
              <a:rPr lang="en-US" altLang="zh-CN" b="1" dirty="0"/>
              <a:t>3</a:t>
            </a:r>
            <a:r>
              <a:rPr lang="zh-CN" altLang="en-US" b="1" dirty="0"/>
              <a:t>）分布式防火墙不是只是位于网络边界，而是</a:t>
            </a:r>
            <a:r>
              <a:rPr lang="zh-CN" altLang="en-US" b="1" dirty="0">
                <a:solidFill>
                  <a:srgbClr val="990033"/>
                </a:solidFill>
              </a:rPr>
              <a:t>渗透于</a:t>
            </a:r>
            <a:r>
              <a:rPr lang="zh-CN" altLang="en-US" b="1" dirty="0"/>
              <a:t>网络的每一台主机，对整个内部网络的主机实施保护。</a:t>
            </a:r>
            <a:r>
              <a:rPr lang="zh-CN" altLang="en-US" sz="3200" dirty="0"/>
              <a:t> </a:t>
            </a:r>
            <a:endParaRPr lang="zh-CN" altLang="en-US" sz="3200" dirty="0"/>
          </a:p>
        </p:txBody>
      </p:sp>
      <p:sp>
        <p:nvSpPr>
          <p:cNvPr id="24579"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8.2.2 </a:t>
            </a:r>
            <a:r>
              <a:rPr lang="zh-CN" altLang="en-US" sz="3600" b="1">
                <a:solidFill>
                  <a:schemeClr val="bg1"/>
                </a:solidFill>
                <a:latin typeface="Verdana" panose="020B0604030504040204" pitchFamily="34" charset="0"/>
              </a:rPr>
              <a:t>防火墙的类型</a:t>
            </a:r>
            <a:endParaRPr lang="zh-CN" altLang="en-US" sz="3600" b="1">
              <a:solidFill>
                <a:schemeClr val="bg1"/>
              </a:solidFill>
              <a:latin typeface="Verdana" panose="020B0604030504040204" pitchFamily="34" charset="0"/>
            </a:endParaRPr>
          </a:p>
        </p:txBody>
      </p:sp>
      <p:pic>
        <p:nvPicPr>
          <p:cNvPr id="24580" name="Picture 7" descr="MC900441341[1]"/>
          <p:cNvPicPr>
            <a:picLocks noChangeAspect="1" noChangeArrowheads="1"/>
          </p:cNvPicPr>
          <p:nvPr/>
        </p:nvPicPr>
        <p:blipFill>
          <a:blip r:embed="rId1" cstate="print"/>
          <a:srcRect/>
          <a:stretch>
            <a:fillRect/>
          </a:stretch>
        </p:blipFill>
        <p:spPr bwMode="auto">
          <a:xfrm>
            <a:off x="5724525" y="5013325"/>
            <a:ext cx="1627188" cy="1627188"/>
          </a:xfrm>
          <a:prstGeom prst="rect">
            <a:avLst/>
          </a:prstGeom>
          <a:noFill/>
          <a:ln w="9525">
            <a:noFill/>
            <a:miter lim="800000"/>
            <a:headEnd/>
            <a:tailEnd/>
          </a:ln>
        </p:spPr>
      </p:pic>
      <p:sp>
        <p:nvSpPr>
          <p:cNvPr id="24581" name="AutoShape 8"/>
          <p:cNvSpPr>
            <a:spLocks noChangeArrowheads="1"/>
          </p:cNvSpPr>
          <p:nvPr/>
        </p:nvSpPr>
        <p:spPr bwMode="auto">
          <a:xfrm>
            <a:off x="487363"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ChangeArrowheads="1"/>
          </p:cNvSpPr>
          <p:nvPr/>
        </p:nvSpPr>
        <p:spPr bwMode="auto">
          <a:xfrm>
            <a:off x="609600" y="1295400"/>
            <a:ext cx="8077200" cy="3717925"/>
          </a:xfrm>
          <a:prstGeom prst="rect">
            <a:avLst/>
          </a:prstGeom>
          <a:noFill/>
          <a:ln w="9525">
            <a:noFill/>
            <a:miter lim="800000"/>
          </a:ln>
        </p:spPr>
        <p:txBody>
          <a:bodyPr/>
          <a:lstStyle/>
          <a:p>
            <a:pPr eaLnBrk="0" hangingPunct="0">
              <a:spcBef>
                <a:spcPct val="20000"/>
              </a:spcBef>
            </a:pPr>
            <a:r>
              <a:rPr lang="en-US" altLang="zh-CN" sz="2800" b="1" dirty="0" smtClean="0">
                <a:solidFill>
                  <a:srgbClr val="FF0000"/>
                </a:solidFill>
              </a:rPr>
              <a:t>  8.2.4  </a:t>
            </a:r>
            <a:r>
              <a:rPr lang="zh-CN" altLang="en-US" sz="2800" b="1" dirty="0">
                <a:solidFill>
                  <a:srgbClr val="FF0000"/>
                </a:solidFill>
              </a:rPr>
              <a:t>防火墙在性能等级上的分类</a:t>
            </a:r>
            <a:endParaRPr lang="zh-CN" altLang="en-US" sz="2800" b="1" dirty="0">
              <a:solidFill>
                <a:srgbClr val="FF0000"/>
              </a:solidFill>
            </a:endParaRPr>
          </a:p>
          <a:p>
            <a:pPr eaLnBrk="0" hangingPunct="0">
              <a:spcBef>
                <a:spcPct val="20000"/>
              </a:spcBef>
            </a:pPr>
            <a:r>
              <a:rPr lang="zh-CN" altLang="en-US" sz="3200" b="1" dirty="0"/>
              <a:t>      </a:t>
            </a:r>
            <a:r>
              <a:rPr lang="zh-CN" altLang="en-US" b="1" dirty="0"/>
              <a:t>如果</a:t>
            </a:r>
            <a:r>
              <a:rPr lang="zh-CN" altLang="en-US" b="1" dirty="0">
                <a:solidFill>
                  <a:srgbClr val="CC0000"/>
                </a:solidFill>
              </a:rPr>
              <a:t>按防火墙的性能来分</a:t>
            </a:r>
            <a:r>
              <a:rPr lang="zh-CN" altLang="en-US" b="1" dirty="0"/>
              <a:t>可以分为百兆级防火墙和千兆级防火墙</a:t>
            </a:r>
            <a:r>
              <a:rPr lang="zh-CN" altLang="en-US" b="1" dirty="0">
                <a:solidFill>
                  <a:srgbClr val="CC0000"/>
                </a:solidFill>
              </a:rPr>
              <a:t>两类</a:t>
            </a:r>
            <a:r>
              <a:rPr lang="zh-CN" altLang="en-US" b="1" dirty="0"/>
              <a:t>。</a:t>
            </a:r>
            <a:endParaRPr lang="zh-CN" altLang="en-US" b="1" dirty="0"/>
          </a:p>
          <a:p>
            <a:pPr eaLnBrk="0" hangingPunct="0">
              <a:spcBef>
                <a:spcPct val="20000"/>
              </a:spcBef>
            </a:pPr>
            <a:r>
              <a:rPr lang="zh-CN" altLang="en-US" b="1" dirty="0"/>
              <a:t>      因为防火墙通常位于网络边界，所以不可能只是十兆级的。这主要是指</a:t>
            </a:r>
            <a:r>
              <a:rPr lang="zh-CN" altLang="en-US" b="1" dirty="0">
                <a:solidFill>
                  <a:srgbClr val="990033"/>
                </a:solidFill>
              </a:rPr>
              <a:t>防火的通道带宽</a:t>
            </a:r>
            <a:r>
              <a:rPr lang="en-US" altLang="zh-CN" b="1" dirty="0"/>
              <a:t>(Bandwidth)</a:t>
            </a:r>
            <a:r>
              <a:rPr lang="zh-CN" altLang="en-US" b="1" dirty="0"/>
              <a:t>，或</a:t>
            </a:r>
            <a:r>
              <a:rPr lang="zh-CN" altLang="en-US" b="1" dirty="0">
                <a:solidFill>
                  <a:srgbClr val="990033"/>
                </a:solidFill>
              </a:rPr>
              <a:t>吞吐率</a:t>
            </a:r>
            <a:r>
              <a:rPr lang="zh-CN" altLang="en-US" b="1" dirty="0"/>
              <a:t>。当然通道带宽越宽，性能越高，这样的防火墙因包过滤或应用代理所产生的延时也越小，对整个网络通信性能的影响也就越小。</a:t>
            </a:r>
            <a:endParaRPr lang="zh-CN" altLang="en-US" b="1" dirty="0"/>
          </a:p>
        </p:txBody>
      </p:sp>
      <p:sp>
        <p:nvSpPr>
          <p:cNvPr id="25603"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8.2.2 </a:t>
            </a:r>
            <a:r>
              <a:rPr lang="zh-CN" altLang="en-US" sz="3600" b="1">
                <a:solidFill>
                  <a:schemeClr val="bg1"/>
                </a:solidFill>
                <a:latin typeface="Verdana" panose="020B0604030504040204" pitchFamily="34" charset="0"/>
              </a:rPr>
              <a:t>防火墙的类型</a:t>
            </a:r>
            <a:endParaRPr lang="zh-CN" altLang="en-US" sz="3600" b="1">
              <a:solidFill>
                <a:schemeClr val="bg1"/>
              </a:solidFill>
              <a:latin typeface="Verdana" panose="020B0604030504040204" pitchFamily="34" charset="0"/>
            </a:endParaRPr>
          </a:p>
        </p:txBody>
      </p:sp>
      <p:sp>
        <p:nvSpPr>
          <p:cNvPr id="25604" name="AutoShape 8"/>
          <p:cNvSpPr>
            <a:spLocks noChangeArrowheads="1"/>
          </p:cNvSpPr>
          <p:nvPr/>
        </p:nvSpPr>
        <p:spPr bwMode="auto">
          <a:xfrm>
            <a:off x="487363"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pic>
        <p:nvPicPr>
          <p:cNvPr id="6" name="Picture 7" descr="j0300520"/>
          <p:cNvPicPr>
            <a:picLocks noChangeAspect="1" noChangeArrowheads="1"/>
          </p:cNvPicPr>
          <p:nvPr/>
        </p:nvPicPr>
        <p:blipFill>
          <a:blip r:embed="rId1" cstate="print"/>
          <a:srcRect/>
          <a:stretch>
            <a:fillRect/>
          </a:stretch>
        </p:blipFill>
        <p:spPr bwMode="auto">
          <a:xfrm>
            <a:off x="5013498" y="4725144"/>
            <a:ext cx="1150938" cy="1142008"/>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5" name="AutoShape 9"/>
          <p:cNvSpPr>
            <a:spLocks noChangeArrowheads="1"/>
          </p:cNvSpPr>
          <p:nvPr/>
        </p:nvSpPr>
        <p:spPr bwMode="auto">
          <a:xfrm>
            <a:off x="395288" y="1377950"/>
            <a:ext cx="8316912" cy="3089275"/>
          </a:xfrm>
          <a:prstGeom prst="flowChartAlternateProcess">
            <a:avLst/>
          </a:prstGeom>
          <a:solidFill>
            <a:srgbClr val="FFFF99"/>
          </a:solidFill>
          <a:ln w="25400">
            <a:solidFill>
              <a:srgbClr val="00CCFF"/>
            </a:solidFill>
            <a:miter lim="800000"/>
          </a:ln>
        </p:spPr>
        <p:txBody>
          <a:bodyPr anchor="ctr"/>
          <a:lstStyle/>
          <a:p>
            <a:pPr>
              <a:defRPr/>
            </a:pPr>
            <a:r>
              <a:rPr lang="zh-CN" altLang="en-US"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讨论思考：</a:t>
            </a:r>
            <a:endParaRPr lang="zh-CN" altLang="en-US"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endParaRPr>
          </a:p>
          <a:p>
            <a:pPr>
              <a:defRPr/>
            </a:pPr>
            <a:r>
              <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rPr>
              <a:t>（</a:t>
            </a:r>
            <a:r>
              <a:rPr lang="en-US" altLang="zh-CN" dirty="0">
                <a:effectLst>
                  <a:outerShdw blurRad="38100" dist="38100" dir="2700000" algn="tl">
                    <a:srgbClr val="000000"/>
                  </a:outerShdw>
                </a:effectLst>
                <a:latin typeface="楷体_GB2312" panose="02010609030101010101" pitchFamily="49" charset="-122"/>
                <a:ea typeface="楷体_GB2312" panose="02010609030101010101" pitchFamily="49" charset="-122"/>
              </a:rPr>
              <a:t>1</a:t>
            </a:r>
            <a:r>
              <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rPr>
              <a:t>）软件防火墙、硬件防火墙和芯片防火墙的主要区别是什么？</a:t>
            </a:r>
            <a:endPar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endParaRPr>
          </a:p>
          <a:p>
            <a:pPr>
              <a:defRPr/>
            </a:pPr>
            <a:r>
              <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rPr>
              <a:t>（</a:t>
            </a:r>
            <a:r>
              <a:rPr lang="en-US" altLang="zh-CN" dirty="0">
                <a:effectLst>
                  <a:outerShdw blurRad="38100" dist="38100" dir="2700000" algn="tl">
                    <a:srgbClr val="000000"/>
                  </a:outerShdw>
                </a:effectLst>
                <a:latin typeface="楷体_GB2312" panose="02010609030101010101" pitchFamily="49" charset="-122"/>
                <a:ea typeface="楷体_GB2312" panose="02010609030101010101" pitchFamily="49" charset="-122"/>
              </a:rPr>
              <a:t>2</a:t>
            </a:r>
            <a:r>
              <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rPr>
              <a:t>）包过滤防火墙工作在</a:t>
            </a:r>
            <a:r>
              <a:rPr lang="en-US" altLang="zh-CN" dirty="0">
                <a:effectLst>
                  <a:outerShdw blurRad="38100" dist="38100" dir="2700000" algn="tl">
                    <a:srgbClr val="000000"/>
                  </a:outerShdw>
                </a:effectLst>
                <a:latin typeface="楷体_GB2312" panose="02010609030101010101" pitchFamily="49" charset="-122"/>
                <a:ea typeface="楷体_GB2312" panose="02010609030101010101" pitchFamily="49" charset="-122"/>
              </a:rPr>
              <a:t>OSI</a:t>
            </a:r>
            <a:r>
              <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rPr>
              <a:t>模型的哪一层？</a:t>
            </a:r>
            <a:endPar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endParaRPr>
          </a:p>
          <a:p>
            <a:pPr>
              <a:defRPr/>
            </a:pPr>
            <a:r>
              <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rPr>
              <a:t>（</a:t>
            </a:r>
            <a:r>
              <a:rPr lang="en-US" altLang="zh-CN" dirty="0">
                <a:effectLst>
                  <a:outerShdw blurRad="38100" dist="38100" dir="2700000" algn="tl">
                    <a:srgbClr val="000000"/>
                  </a:outerShdw>
                </a:effectLst>
                <a:latin typeface="楷体_GB2312" panose="02010609030101010101" pitchFamily="49" charset="-122"/>
                <a:ea typeface="楷体_GB2312" panose="02010609030101010101" pitchFamily="49" charset="-122"/>
              </a:rPr>
              <a:t>3</a:t>
            </a:r>
            <a:r>
              <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rPr>
              <a:t>）应用代理防火墙为什么比包过滤防火墙的性能要好？</a:t>
            </a:r>
            <a:endPar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endParaRPr>
          </a:p>
          <a:p>
            <a:pPr>
              <a:defRPr/>
            </a:pPr>
            <a:r>
              <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rPr>
              <a:t>（</a:t>
            </a:r>
            <a:r>
              <a:rPr lang="en-US" altLang="zh-CN" dirty="0">
                <a:effectLst>
                  <a:outerShdw blurRad="38100" dist="38100" dir="2700000" algn="tl">
                    <a:srgbClr val="000000"/>
                  </a:outerShdw>
                </a:effectLst>
                <a:latin typeface="楷体_GB2312" panose="02010609030101010101" pitchFamily="49" charset="-122"/>
                <a:ea typeface="楷体_GB2312" panose="02010609030101010101" pitchFamily="49" charset="-122"/>
              </a:rPr>
              <a:t>4</a:t>
            </a:r>
            <a:r>
              <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rPr>
              <a:t>）什么是</a:t>
            </a:r>
            <a:r>
              <a:rPr lang="en-US" altLang="zh-CN" dirty="0">
                <a:effectLst>
                  <a:outerShdw blurRad="38100" dist="38100" dir="2700000" algn="tl">
                    <a:srgbClr val="000000"/>
                  </a:outerShdw>
                </a:effectLst>
                <a:latin typeface="楷体_GB2312" panose="02010609030101010101" pitchFamily="49" charset="-122"/>
                <a:ea typeface="楷体_GB2312" panose="02010609030101010101" pitchFamily="49" charset="-122"/>
              </a:rPr>
              <a:t>DMZ</a:t>
            </a:r>
            <a:r>
              <a:rPr lang="zh-CN" altLang="en-US" dirty="0">
                <a:effectLst>
                  <a:outerShdw blurRad="38100" dist="38100" dir="2700000" algn="tl">
                    <a:srgbClr val="000000"/>
                  </a:outerShdw>
                </a:effectLst>
                <a:latin typeface="楷体_GB2312" panose="02010609030101010101" pitchFamily="49" charset="-122"/>
                <a:ea typeface="楷体_GB2312" panose="02010609030101010101" pitchFamily="49" charset="-122"/>
              </a:rPr>
              <a:t>？有什么作用？</a:t>
            </a:r>
            <a:endParaRPr lang="en-US" altLang="zh-CN" dirty="0">
              <a:effectLst>
                <a:outerShdw blurRad="38100" dist="38100" dir="2700000" algn="tl">
                  <a:srgbClr val="000000"/>
                </a:outerShdw>
              </a:effectLst>
              <a:latin typeface="楷体_GB2312" panose="02010609030101010101" pitchFamily="49" charset="-122"/>
              <a:ea typeface="楷体_GB2312" panose="02010609030101010101" pitchFamily="49" charset="-122"/>
            </a:endParaRPr>
          </a:p>
        </p:txBody>
      </p:sp>
      <p:sp>
        <p:nvSpPr>
          <p:cNvPr id="26626" name="Rectangle 2"/>
          <p:cNvSpPr>
            <a:spLocks noChangeArrowheads="1"/>
          </p:cNvSpPr>
          <p:nvPr/>
        </p:nvSpPr>
        <p:spPr bwMode="auto">
          <a:xfrm>
            <a:off x="9715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8.2.2 </a:t>
            </a:r>
            <a:r>
              <a:rPr lang="zh-CN" altLang="en-US" sz="3600" b="1">
                <a:solidFill>
                  <a:schemeClr val="bg1"/>
                </a:solidFill>
                <a:latin typeface="Verdana" panose="020B0604030504040204" pitchFamily="34" charset="0"/>
              </a:rPr>
              <a:t>防火墙的类型</a:t>
            </a:r>
            <a:endParaRPr lang="zh-CN" altLang="en-US" sz="3600" b="1">
              <a:solidFill>
                <a:schemeClr val="bg1"/>
              </a:solidFill>
              <a:latin typeface="Verdana" panose="020B060403050404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3"/>
          <p:cNvSpPr>
            <a:spLocks noChangeArrowheads="1"/>
          </p:cNvSpPr>
          <p:nvPr/>
        </p:nvSpPr>
        <p:spPr bwMode="auto">
          <a:xfrm>
            <a:off x="395288" y="1052513"/>
            <a:ext cx="8353425" cy="4032250"/>
          </a:xfrm>
          <a:prstGeom prst="rect">
            <a:avLst/>
          </a:prstGeom>
          <a:noFill/>
          <a:ln w="9525">
            <a:noFill/>
            <a:miter lim="800000"/>
          </a:ln>
        </p:spPr>
        <p:txBody>
          <a:bodyPr/>
          <a:lstStyle/>
          <a:p>
            <a:pPr algn="just">
              <a:spcBef>
                <a:spcPct val="20000"/>
              </a:spcBef>
            </a:pPr>
            <a:r>
              <a:rPr lang="en-US" altLang="zh-CN" sz="2800" b="1">
                <a:solidFill>
                  <a:srgbClr val="FF0000"/>
                </a:solidFill>
              </a:rPr>
              <a:t> 1  </a:t>
            </a:r>
            <a:r>
              <a:rPr lang="zh-CN" altLang="en-US" sz="2800" b="1">
                <a:solidFill>
                  <a:srgbClr val="FF0000"/>
                </a:solidFill>
              </a:rPr>
              <a:t>企业网络体系结构</a:t>
            </a:r>
            <a:endParaRPr lang="zh-CN" altLang="en-US" sz="2800" b="1">
              <a:solidFill>
                <a:srgbClr val="FF0000"/>
              </a:solidFill>
            </a:endParaRPr>
          </a:p>
          <a:p>
            <a:pPr eaLnBrk="0" hangingPunct="0">
              <a:spcBef>
                <a:spcPct val="20000"/>
              </a:spcBef>
            </a:pPr>
            <a:r>
              <a:rPr lang="zh-CN" altLang="en-US" sz="2300" b="1"/>
              <a:t>      </a:t>
            </a:r>
            <a:r>
              <a:rPr lang="zh-CN" altLang="en-US" sz="2300" b="1">
                <a:solidFill>
                  <a:srgbClr val="CC0000"/>
                </a:solidFill>
              </a:rPr>
              <a:t>企业网络体系结构</a:t>
            </a:r>
            <a:r>
              <a:rPr lang="zh-CN" altLang="en-US" sz="2300" b="1"/>
              <a:t>如图</a:t>
            </a:r>
            <a:r>
              <a:rPr lang="en-US" altLang="zh-CN" sz="2300" b="1"/>
              <a:t>8-8</a:t>
            </a:r>
            <a:r>
              <a:rPr lang="zh-CN" altLang="en-US" sz="2300" b="1"/>
              <a:t>，</a:t>
            </a:r>
            <a:r>
              <a:rPr lang="zh-CN" altLang="en-US" sz="2300" b="1">
                <a:solidFill>
                  <a:srgbClr val="CC0000"/>
                </a:solidFill>
              </a:rPr>
              <a:t>由三个区域组成</a:t>
            </a:r>
            <a:r>
              <a:rPr lang="zh-CN" altLang="en-US" sz="2300" b="1"/>
              <a:t>：</a:t>
            </a:r>
            <a:endParaRPr lang="zh-CN" altLang="en-US" sz="2300" b="1"/>
          </a:p>
          <a:p>
            <a:pPr eaLnBrk="0" hangingPunct="0">
              <a:spcBef>
                <a:spcPct val="20000"/>
              </a:spcBef>
            </a:pPr>
            <a:r>
              <a:rPr lang="zh-CN" altLang="en-US" sz="2300" b="1"/>
              <a:t>      </a:t>
            </a:r>
            <a:r>
              <a:rPr lang="zh-CN" altLang="en-US" sz="2300" b="1">
                <a:latin typeface="宋体" panose="02010600030101010101" pitchFamily="2" charset="-122"/>
              </a:rPr>
              <a:t>①</a:t>
            </a:r>
            <a:r>
              <a:rPr lang="zh-CN" altLang="en-US" sz="2300" b="1">
                <a:solidFill>
                  <a:srgbClr val="990033"/>
                </a:solidFill>
              </a:rPr>
              <a:t>边界网络</a:t>
            </a:r>
            <a:r>
              <a:rPr lang="zh-CN" altLang="en-US" sz="2300" b="1"/>
              <a:t>：此网络通过路由器直接面向 </a:t>
            </a:r>
            <a:r>
              <a:rPr lang="en-US" altLang="zh-CN" sz="2300" b="1"/>
              <a:t>Internet</a:t>
            </a:r>
            <a:r>
              <a:rPr lang="zh-CN" altLang="en-US" sz="2300" b="1"/>
              <a:t>，应该以基本网络通信</a:t>
            </a:r>
            <a:r>
              <a:rPr lang="zh-CN" altLang="en-US" sz="2300" b="1">
                <a:solidFill>
                  <a:srgbClr val="990033"/>
                </a:solidFill>
              </a:rPr>
              <a:t>筛选</a:t>
            </a:r>
            <a:r>
              <a:rPr lang="zh-CN" altLang="en-US" sz="2300" b="1"/>
              <a:t>的形式提供初始层面的保护。</a:t>
            </a:r>
            <a:endParaRPr lang="zh-CN" altLang="en-US" sz="2300" b="1"/>
          </a:p>
          <a:p>
            <a:pPr eaLnBrk="0" hangingPunct="0">
              <a:spcBef>
                <a:spcPct val="20000"/>
              </a:spcBef>
            </a:pPr>
            <a:r>
              <a:rPr lang="zh-CN" altLang="en-US" sz="2300" b="1"/>
              <a:t>       </a:t>
            </a:r>
            <a:r>
              <a:rPr lang="zh-CN" altLang="en-US" sz="2300" b="1">
                <a:latin typeface="宋体" panose="02010600030101010101" pitchFamily="2" charset="-122"/>
              </a:rPr>
              <a:t>②</a:t>
            </a:r>
            <a:r>
              <a:rPr lang="zh-CN" altLang="en-US" sz="2300" b="1">
                <a:solidFill>
                  <a:srgbClr val="990033"/>
                </a:solidFill>
              </a:rPr>
              <a:t>外围网络</a:t>
            </a:r>
            <a:r>
              <a:rPr lang="zh-CN" altLang="en-US" sz="2300" b="1"/>
              <a:t>：此网络通常称为 </a:t>
            </a:r>
            <a:r>
              <a:rPr lang="en-US" altLang="zh-CN" sz="2300" b="1">
                <a:solidFill>
                  <a:srgbClr val="990033"/>
                </a:solidFill>
              </a:rPr>
              <a:t>DMZ</a:t>
            </a:r>
            <a:r>
              <a:rPr lang="zh-CN" altLang="en-US" sz="2300" b="1"/>
              <a:t>（</a:t>
            </a:r>
            <a:r>
              <a:rPr lang="en-US" altLang="zh-CN" sz="2300" b="1"/>
              <a:t>demilitarized zone network</a:t>
            </a:r>
            <a:r>
              <a:rPr lang="zh-CN" altLang="en-US" sz="2300" b="1"/>
              <a:t>，</a:t>
            </a:r>
            <a:r>
              <a:rPr lang="zh-CN" altLang="en-US" sz="2300" b="1">
                <a:solidFill>
                  <a:srgbClr val="990033"/>
                </a:solidFill>
              </a:rPr>
              <a:t>无戒备区网络</a:t>
            </a:r>
            <a:r>
              <a:rPr lang="zh-CN" altLang="en-US" sz="2300" b="1"/>
              <a:t>）或</a:t>
            </a:r>
            <a:r>
              <a:rPr lang="zh-CN" altLang="en-US" sz="2300" b="1">
                <a:solidFill>
                  <a:srgbClr val="990033"/>
                </a:solidFill>
              </a:rPr>
              <a:t>边缘网络</a:t>
            </a:r>
            <a:r>
              <a:rPr lang="zh-CN" altLang="en-US" sz="2300" b="1"/>
              <a:t>，它将外来用户与 </a:t>
            </a:r>
            <a:r>
              <a:rPr lang="en-US" altLang="zh-CN" sz="2300" b="1"/>
              <a:t>Web </a:t>
            </a:r>
            <a:r>
              <a:rPr lang="zh-CN" altLang="en-US" sz="2300" b="1"/>
              <a:t>服务器或其他服务链接起来。然后，</a:t>
            </a:r>
            <a:r>
              <a:rPr lang="en-US" altLang="zh-CN" sz="2300" b="1"/>
              <a:t>Web </a:t>
            </a:r>
            <a:r>
              <a:rPr lang="zh-CN" altLang="en-US" sz="2300" b="1"/>
              <a:t>服务器将通过内部防火墙链接到内部网络。</a:t>
            </a:r>
            <a:endParaRPr lang="zh-CN" altLang="en-US" sz="2300" b="1"/>
          </a:p>
          <a:p>
            <a:pPr eaLnBrk="0" hangingPunct="0">
              <a:spcBef>
                <a:spcPct val="20000"/>
              </a:spcBef>
            </a:pPr>
            <a:r>
              <a:rPr lang="zh-CN" altLang="en-US" sz="2300" b="1"/>
              <a:t>      </a:t>
            </a:r>
            <a:r>
              <a:rPr lang="zh-CN" altLang="en-US" sz="2300" b="1">
                <a:latin typeface="宋体" panose="02010600030101010101" pitchFamily="2" charset="-122"/>
              </a:rPr>
              <a:t>③</a:t>
            </a:r>
            <a:r>
              <a:rPr lang="zh-CN" altLang="en-US" sz="2300" b="1">
                <a:solidFill>
                  <a:srgbClr val="990033"/>
                </a:solidFill>
              </a:rPr>
              <a:t>内部网络</a:t>
            </a:r>
            <a:r>
              <a:rPr lang="zh-CN" altLang="en-US" sz="2300" b="1"/>
              <a:t>：内部网络则链接各个内部服务器（如 </a:t>
            </a:r>
            <a:r>
              <a:rPr lang="en-US" altLang="zh-CN" sz="2300" b="1"/>
              <a:t>SQL Server</a:t>
            </a:r>
            <a:r>
              <a:rPr lang="zh-CN" altLang="en-US" sz="2300" b="1"/>
              <a:t>）和内部用户。</a:t>
            </a:r>
            <a:endParaRPr lang="zh-CN" altLang="en-US" sz="2300" b="1"/>
          </a:p>
        </p:txBody>
      </p:sp>
      <p:sp>
        <p:nvSpPr>
          <p:cNvPr id="27650" name="Rectangle 2"/>
          <p:cNvSpPr>
            <a:spLocks noChangeArrowheads="1"/>
          </p:cNvSpPr>
          <p:nvPr/>
        </p:nvSpPr>
        <p:spPr bwMode="auto">
          <a:xfrm>
            <a:off x="14033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 </a:t>
            </a:r>
            <a:r>
              <a:rPr lang="zh-CN" altLang="en-US" sz="3600" b="1">
                <a:solidFill>
                  <a:schemeClr val="bg1"/>
                </a:solidFill>
                <a:latin typeface="Verdana" panose="020B0604030504040204" pitchFamily="34" charset="0"/>
              </a:rPr>
              <a:t>防火墙的主要应用</a:t>
            </a:r>
            <a:endParaRPr lang="zh-CN" altLang="en-US" sz="3600" b="1">
              <a:solidFill>
                <a:schemeClr val="bg1"/>
              </a:solidFill>
              <a:latin typeface="Verdana" panose="020B0604030504040204" pitchFamily="34" charset="0"/>
            </a:endParaRPr>
          </a:p>
        </p:txBody>
      </p:sp>
      <p:graphicFrame>
        <p:nvGraphicFramePr>
          <p:cNvPr id="27651" name="Object 8"/>
          <p:cNvGraphicFramePr>
            <a:graphicFrameLocks noChangeAspect="1"/>
          </p:cNvGraphicFramePr>
          <p:nvPr/>
        </p:nvGraphicFramePr>
        <p:xfrm>
          <a:off x="827088" y="4948238"/>
          <a:ext cx="7489825" cy="1909762"/>
        </p:xfrm>
        <a:graphic>
          <a:graphicData uri="http://schemas.openxmlformats.org/presentationml/2006/ole">
            <mc:AlternateContent xmlns:mc="http://schemas.openxmlformats.org/markup-compatibility/2006">
              <mc:Choice xmlns:v="urn:schemas-microsoft-com:vml" Requires="v">
                <p:oleObj spid="_x0000_s12333" name="" r:id="rId1" imgW="10093960" imgH="2447290" progId="">
                  <p:embed/>
                </p:oleObj>
              </mc:Choice>
              <mc:Fallback>
                <p:oleObj name="" r:id="rId1" imgW="10093960" imgH="2447290" progId="">
                  <p:embed/>
                  <p:pic>
                    <p:nvPicPr>
                      <p:cNvPr id="0" name="Object 8"/>
                      <p:cNvPicPr>
                        <a:picLocks noChangeAspect="1"/>
                      </p:cNvPicPr>
                      <p:nvPr/>
                    </p:nvPicPr>
                    <p:blipFill>
                      <a:blip r:embed="rId2"/>
                      <a:stretch>
                        <a:fillRect/>
                      </a:stretch>
                    </p:blipFill>
                    <p:spPr>
                      <a:xfrm>
                        <a:off x="827088" y="4948238"/>
                        <a:ext cx="7489825" cy="1909762"/>
                      </a:xfrm>
                      <a:prstGeom prst="rect">
                        <a:avLst/>
                      </a:prstGeom>
                      <a:noFill/>
                      <a:ln w="38100">
                        <a:noFill/>
                      </a:ln>
                    </p:spPr>
                  </p:pic>
                </p:oleObj>
              </mc:Fallback>
            </mc:AlternateContent>
          </a:graphicData>
        </a:graphic>
      </p:graphicFrame>
      <p:sp>
        <p:nvSpPr>
          <p:cNvPr id="27652" name="Rectangle 10"/>
          <p:cNvSpPr>
            <a:spLocks noChangeArrowheads="1"/>
          </p:cNvSpPr>
          <p:nvPr/>
        </p:nvSpPr>
        <p:spPr bwMode="auto">
          <a:xfrm>
            <a:off x="3132138" y="6505575"/>
            <a:ext cx="2378075" cy="336550"/>
          </a:xfrm>
          <a:prstGeom prst="rect">
            <a:avLst/>
          </a:prstGeom>
          <a:noFill/>
          <a:ln w="9525">
            <a:noFill/>
            <a:miter lim="800000"/>
          </a:ln>
        </p:spPr>
        <p:txBody>
          <a:bodyPr wrap="none" anchor="ctr">
            <a:spAutoFit/>
          </a:bodyPr>
          <a:lstStyle/>
          <a:p>
            <a:pPr algn="ctr" eaLnBrk="0" hangingPunct="0"/>
            <a:r>
              <a:rPr lang="zh-CN" altLang="en-US" sz="1600" b="1"/>
              <a:t>图</a:t>
            </a:r>
            <a:r>
              <a:rPr lang="en-US" altLang="zh-CN" sz="1600" b="1"/>
              <a:t>8-8 </a:t>
            </a:r>
            <a:r>
              <a:rPr lang="zh-CN" altLang="en-US" sz="1600" b="1"/>
              <a:t>企业网络体系结构</a:t>
            </a:r>
            <a:endParaRPr lang="zh-CN" altLang="en-US" sz="1600" b="1"/>
          </a:p>
        </p:txBody>
      </p:sp>
      <p:sp>
        <p:nvSpPr>
          <p:cNvPr id="27653" name="Oval 7"/>
          <p:cNvSpPr>
            <a:spLocks noChangeArrowheads="1"/>
          </p:cNvSpPr>
          <p:nvPr/>
        </p:nvSpPr>
        <p:spPr bwMode="auto">
          <a:xfrm>
            <a:off x="6300788" y="4797425"/>
            <a:ext cx="2087562" cy="2060575"/>
          </a:xfrm>
          <a:prstGeom prst="ellipse">
            <a:avLst/>
          </a:prstGeom>
          <a:noFill/>
          <a:ln w="19050">
            <a:solidFill>
              <a:srgbClr val="FF0000"/>
            </a:solidFill>
            <a:round/>
          </a:ln>
        </p:spPr>
        <p:txBody>
          <a:bodyPr wrap="none" anchor="ctr"/>
          <a:lstStyle/>
          <a:p>
            <a:endParaRPr lang="zh-CN" altLang="en-US" b="1"/>
          </a:p>
        </p:txBody>
      </p:sp>
      <p:sp>
        <p:nvSpPr>
          <p:cNvPr id="27654" name="AutoShape 8"/>
          <p:cNvSpPr>
            <a:spLocks noChangeArrowheads="1"/>
          </p:cNvSpPr>
          <p:nvPr/>
        </p:nvSpPr>
        <p:spPr bwMode="auto">
          <a:xfrm>
            <a:off x="319088" y="1155700"/>
            <a:ext cx="8337550" cy="3792538"/>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9"/>
          <p:cNvSpPr>
            <a:spLocks noChangeArrowheads="1"/>
          </p:cNvSpPr>
          <p:nvPr/>
        </p:nvSpPr>
        <p:spPr bwMode="auto">
          <a:xfrm>
            <a:off x="0" y="1633538"/>
            <a:ext cx="9144000" cy="0"/>
          </a:xfrm>
          <a:prstGeom prst="rect">
            <a:avLst/>
          </a:prstGeom>
          <a:noFill/>
          <a:ln w="9525">
            <a:noFill/>
            <a:miter lim="800000"/>
          </a:ln>
        </p:spPr>
        <p:txBody>
          <a:bodyPr wrap="none" anchor="ctr">
            <a:spAutoFit/>
          </a:bodyPr>
          <a:lstStyle/>
          <a:p>
            <a:endParaRPr lang="zh-CN" altLang="en-US"/>
          </a:p>
        </p:txBody>
      </p:sp>
      <p:graphicFrame>
        <p:nvGraphicFramePr>
          <p:cNvPr id="28674" name="Object 8"/>
          <p:cNvGraphicFramePr>
            <a:graphicFrameLocks noChangeAspect="1"/>
          </p:cNvGraphicFramePr>
          <p:nvPr/>
        </p:nvGraphicFramePr>
        <p:xfrm>
          <a:off x="395288" y="1484313"/>
          <a:ext cx="7200900" cy="5113337"/>
        </p:xfrm>
        <a:graphic>
          <a:graphicData uri="http://schemas.openxmlformats.org/presentationml/2006/ole">
            <mc:AlternateContent xmlns:mc="http://schemas.openxmlformats.org/markup-compatibility/2006">
              <mc:Choice xmlns:v="urn:schemas-microsoft-com:vml" Requires="v">
                <p:oleObj spid="_x0000_s13357" name="" r:id="rId1" imgW="31584900" imgH="23907750" progId="">
                  <p:embed/>
                </p:oleObj>
              </mc:Choice>
              <mc:Fallback>
                <p:oleObj name="" r:id="rId1" imgW="31584900" imgH="23907750" progId="">
                  <p:embed/>
                  <p:pic>
                    <p:nvPicPr>
                      <p:cNvPr id="0" name="Object 8"/>
                      <p:cNvPicPr>
                        <a:picLocks noChangeAspect="1"/>
                      </p:cNvPicPr>
                      <p:nvPr/>
                    </p:nvPicPr>
                    <p:blipFill>
                      <a:blip r:embed="rId2"/>
                      <a:stretch>
                        <a:fillRect/>
                      </a:stretch>
                    </p:blipFill>
                    <p:spPr>
                      <a:xfrm>
                        <a:off x="395288" y="1484313"/>
                        <a:ext cx="7200900" cy="5113337"/>
                      </a:xfrm>
                      <a:prstGeom prst="rect">
                        <a:avLst/>
                      </a:prstGeom>
                      <a:noFill/>
                      <a:ln w="38100">
                        <a:noFill/>
                      </a:ln>
                    </p:spPr>
                  </p:pic>
                </p:oleObj>
              </mc:Fallback>
            </mc:AlternateContent>
          </a:graphicData>
        </a:graphic>
      </p:graphicFrame>
      <p:sp>
        <p:nvSpPr>
          <p:cNvPr id="28675" name="Rectangle 11"/>
          <p:cNvSpPr>
            <a:spLocks noChangeArrowheads="1"/>
          </p:cNvSpPr>
          <p:nvPr/>
        </p:nvSpPr>
        <p:spPr bwMode="auto">
          <a:xfrm>
            <a:off x="2700338" y="6521450"/>
            <a:ext cx="3817937" cy="304800"/>
          </a:xfrm>
          <a:prstGeom prst="rect">
            <a:avLst/>
          </a:prstGeom>
          <a:noFill/>
          <a:ln w="9525">
            <a:noFill/>
            <a:miter lim="800000"/>
          </a:ln>
        </p:spPr>
        <p:txBody>
          <a:bodyPr anchor="ctr">
            <a:spAutoFit/>
          </a:bodyPr>
          <a:lstStyle/>
          <a:p>
            <a:pPr eaLnBrk="0" hangingPunct="0"/>
            <a:r>
              <a:rPr lang="zh-CN" altLang="en-US" sz="1400" b="1"/>
              <a:t>图</a:t>
            </a:r>
            <a:r>
              <a:rPr lang="en-US" altLang="zh-CN" sz="1400" b="1"/>
              <a:t>8-9 </a:t>
            </a:r>
            <a:r>
              <a:rPr lang="zh-CN" altLang="en-US" sz="1400" b="1"/>
              <a:t>使用天网防火墙典型企业结构</a:t>
            </a:r>
            <a:endParaRPr lang="zh-CN" altLang="en-US" sz="1400" b="1"/>
          </a:p>
        </p:txBody>
      </p:sp>
      <p:sp>
        <p:nvSpPr>
          <p:cNvPr id="28676" name="Rectangle 9"/>
          <p:cNvSpPr>
            <a:spLocks noChangeArrowheads="1"/>
          </p:cNvSpPr>
          <p:nvPr/>
        </p:nvSpPr>
        <p:spPr bwMode="auto">
          <a:xfrm>
            <a:off x="684213" y="1095375"/>
            <a:ext cx="7613650" cy="427038"/>
          </a:xfrm>
          <a:prstGeom prst="rect">
            <a:avLst/>
          </a:prstGeom>
          <a:noFill/>
          <a:ln w="9525">
            <a:noFill/>
            <a:miter lim="800000"/>
          </a:ln>
        </p:spPr>
        <p:txBody>
          <a:bodyPr wrap="none" anchor="ctr">
            <a:spAutoFit/>
          </a:bodyPr>
          <a:lstStyle/>
          <a:p>
            <a:pPr eaLnBrk="0" hangingPunct="0"/>
            <a:r>
              <a:rPr lang="zh-CN" altLang="en-US" sz="2200" b="1"/>
              <a:t>以</a:t>
            </a:r>
            <a:r>
              <a:rPr lang="zh-CN" altLang="en-US" sz="2200" b="1">
                <a:solidFill>
                  <a:srgbClr val="990033"/>
                </a:solidFill>
              </a:rPr>
              <a:t>天网防火墙</a:t>
            </a:r>
            <a:r>
              <a:rPr lang="zh-CN" altLang="en-US" sz="2200" b="1"/>
              <a:t>为例，</a:t>
            </a:r>
            <a:r>
              <a:rPr lang="zh-CN" altLang="en-US" sz="2200" b="1">
                <a:solidFill>
                  <a:srgbClr val="CC0000"/>
                </a:solidFill>
              </a:rPr>
              <a:t>组建的小型企业网络方案</a:t>
            </a:r>
            <a:r>
              <a:rPr lang="zh-CN" altLang="en-US" sz="2200" b="1"/>
              <a:t>如图</a:t>
            </a:r>
            <a:r>
              <a:rPr lang="en-US" altLang="zh-CN" sz="2200" b="1"/>
              <a:t>8-9</a:t>
            </a:r>
            <a:r>
              <a:rPr lang="zh-CN" altLang="en-US" sz="2200" b="1"/>
              <a:t>所示。</a:t>
            </a:r>
            <a:endParaRPr lang="zh-CN" altLang="en-US" sz="2200" b="1"/>
          </a:p>
        </p:txBody>
      </p:sp>
      <p:sp>
        <p:nvSpPr>
          <p:cNvPr id="28677" name="Rectangle 2"/>
          <p:cNvSpPr>
            <a:spLocks noChangeArrowheads="1"/>
          </p:cNvSpPr>
          <p:nvPr/>
        </p:nvSpPr>
        <p:spPr bwMode="auto">
          <a:xfrm>
            <a:off x="14033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 </a:t>
            </a:r>
            <a:r>
              <a:rPr lang="zh-CN" altLang="en-US" sz="3600" b="1">
                <a:solidFill>
                  <a:schemeClr val="bg1"/>
                </a:solidFill>
                <a:latin typeface="Verdana" panose="020B0604030504040204" pitchFamily="34" charset="0"/>
              </a:rPr>
              <a:t>防火墙的主要应用</a:t>
            </a:r>
            <a:endParaRPr lang="zh-CN" altLang="en-US" sz="3600" b="1">
              <a:solidFill>
                <a:schemeClr val="bg1"/>
              </a:solidFill>
              <a:latin typeface="Verdana" panose="020B0604030504040204" pitchFamily="3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3"/>
          <p:cNvSpPr>
            <a:spLocks noChangeArrowheads="1"/>
          </p:cNvSpPr>
          <p:nvPr/>
        </p:nvSpPr>
        <p:spPr bwMode="auto">
          <a:xfrm>
            <a:off x="468313" y="1052513"/>
            <a:ext cx="8077200" cy="3024187"/>
          </a:xfrm>
          <a:prstGeom prst="rect">
            <a:avLst/>
          </a:prstGeom>
          <a:noFill/>
          <a:ln w="9525">
            <a:noFill/>
            <a:miter lim="800000"/>
          </a:ln>
        </p:spPr>
        <p:txBody>
          <a:bodyPr/>
          <a:lstStyle/>
          <a:p>
            <a:pPr algn="just">
              <a:spcBef>
                <a:spcPct val="20000"/>
              </a:spcBef>
            </a:pPr>
            <a:r>
              <a:rPr lang="en-US" altLang="zh-CN" sz="2800" b="1">
                <a:solidFill>
                  <a:srgbClr val="FF0000"/>
                </a:solidFill>
              </a:rPr>
              <a:t>  2  </a:t>
            </a:r>
            <a:r>
              <a:rPr lang="zh-CN" altLang="en-US" sz="2800" b="1">
                <a:solidFill>
                  <a:srgbClr val="FF0000"/>
                </a:solidFill>
              </a:rPr>
              <a:t>内部防火墙系统应用</a:t>
            </a:r>
            <a:endParaRPr lang="zh-CN" altLang="en-US" sz="2800" b="1">
              <a:solidFill>
                <a:srgbClr val="FF0000"/>
              </a:solidFill>
            </a:endParaRPr>
          </a:p>
          <a:p>
            <a:pPr eaLnBrk="0" hangingPunct="0">
              <a:lnSpc>
                <a:spcPct val="90000"/>
              </a:lnSpc>
              <a:spcBef>
                <a:spcPct val="5000"/>
              </a:spcBef>
            </a:pPr>
            <a:r>
              <a:rPr lang="zh-CN" altLang="en-US" sz="2200"/>
              <a:t>      </a:t>
            </a:r>
            <a:r>
              <a:rPr lang="zh-CN" altLang="en-US" sz="2200" b="1"/>
              <a:t>内部防火墙</a:t>
            </a:r>
            <a:r>
              <a:rPr lang="zh-CN" altLang="en-US" sz="2200" b="1">
                <a:solidFill>
                  <a:srgbClr val="990033"/>
                </a:solidFill>
              </a:rPr>
              <a:t>用于</a:t>
            </a:r>
            <a:r>
              <a:rPr lang="zh-CN" altLang="en-US" sz="2200" b="1"/>
              <a:t>控制对内网访问和从内网访问。</a:t>
            </a:r>
            <a:r>
              <a:rPr lang="zh-CN" altLang="en-US" sz="2200" b="1">
                <a:solidFill>
                  <a:srgbClr val="990033"/>
                </a:solidFill>
              </a:rPr>
              <a:t>用户类型</a:t>
            </a:r>
            <a:r>
              <a:rPr lang="zh-CN" altLang="en-US" sz="2200" b="1"/>
              <a:t>：</a:t>
            </a:r>
            <a:endParaRPr lang="zh-CN" altLang="en-US" sz="2200" b="1"/>
          </a:p>
          <a:p>
            <a:pPr eaLnBrk="0" hangingPunct="0">
              <a:lnSpc>
                <a:spcPct val="90000"/>
              </a:lnSpc>
              <a:spcBef>
                <a:spcPct val="5000"/>
              </a:spcBef>
            </a:pPr>
            <a:r>
              <a:rPr lang="zh-CN" altLang="en-US" sz="2200" b="1"/>
              <a:t>      </a:t>
            </a:r>
            <a:r>
              <a:rPr lang="en-US" altLang="zh-CN" sz="2200" b="1"/>
              <a:t>1</a:t>
            </a:r>
            <a:r>
              <a:rPr lang="zh-CN" altLang="en-US" sz="2200" b="1"/>
              <a:t>）</a:t>
            </a:r>
            <a:r>
              <a:rPr lang="zh-CN" altLang="en-US" sz="2200" b="1">
                <a:solidFill>
                  <a:srgbClr val="FF0000"/>
                </a:solidFill>
              </a:rPr>
              <a:t>完全信任用户</a:t>
            </a:r>
            <a:r>
              <a:rPr lang="zh-CN" altLang="en-US" sz="2200" b="1"/>
              <a:t>：例如组织的雇员，可以是要到外围区域或 </a:t>
            </a:r>
            <a:r>
              <a:rPr lang="en-US" altLang="zh-CN" sz="2200" b="1"/>
              <a:t>Internet </a:t>
            </a:r>
            <a:r>
              <a:rPr lang="zh-CN" altLang="en-US" sz="2200" b="1"/>
              <a:t>的内部用户、外部用户（如分支办事处工作人员）、远程用户或在家中办公的用户。</a:t>
            </a:r>
            <a:endParaRPr lang="zh-CN" altLang="en-US" sz="2200" b="1"/>
          </a:p>
          <a:p>
            <a:pPr eaLnBrk="0" hangingPunct="0">
              <a:lnSpc>
                <a:spcPct val="90000"/>
              </a:lnSpc>
              <a:spcBef>
                <a:spcPct val="5000"/>
              </a:spcBef>
            </a:pPr>
            <a:r>
              <a:rPr lang="zh-CN" altLang="en-US" sz="2200" b="1"/>
              <a:t>      </a:t>
            </a:r>
            <a:r>
              <a:rPr lang="en-US" altLang="zh-CN" sz="2200" b="1"/>
              <a:t>2</a:t>
            </a:r>
            <a:r>
              <a:rPr lang="zh-CN" altLang="en-US" sz="2200" b="1"/>
              <a:t>）</a:t>
            </a:r>
            <a:r>
              <a:rPr lang="zh-CN" altLang="en-US" sz="2200" b="1">
                <a:solidFill>
                  <a:srgbClr val="FF0000"/>
                </a:solidFill>
              </a:rPr>
              <a:t>部分信任用户</a:t>
            </a:r>
            <a:r>
              <a:rPr lang="zh-CN" altLang="en-US" sz="2200" b="1"/>
              <a:t>：例如组织的业务合作伙伴，这类用户的信任级别比不受信任的用户高。但是，其信任级别经常比组织的雇员要低。</a:t>
            </a:r>
            <a:endParaRPr lang="zh-CN" altLang="en-US" sz="2200" b="1"/>
          </a:p>
          <a:p>
            <a:pPr eaLnBrk="0" hangingPunct="0">
              <a:lnSpc>
                <a:spcPct val="90000"/>
              </a:lnSpc>
              <a:spcBef>
                <a:spcPct val="5000"/>
              </a:spcBef>
            </a:pPr>
            <a:r>
              <a:rPr lang="zh-CN" altLang="en-US" sz="2200" b="1"/>
              <a:t>      </a:t>
            </a:r>
            <a:r>
              <a:rPr lang="en-US" altLang="zh-CN" sz="2200" b="1"/>
              <a:t>3</a:t>
            </a:r>
            <a:r>
              <a:rPr lang="zh-CN" altLang="en-US" sz="2200" b="1"/>
              <a:t>）</a:t>
            </a:r>
            <a:r>
              <a:rPr lang="zh-CN" altLang="en-US" sz="2200" b="1">
                <a:solidFill>
                  <a:srgbClr val="FF0000"/>
                </a:solidFill>
              </a:rPr>
              <a:t>不信任用户</a:t>
            </a:r>
            <a:r>
              <a:rPr lang="zh-CN" altLang="en-US" sz="2200" b="1"/>
              <a:t>：例如组织公共网站的用户。</a:t>
            </a:r>
            <a:endParaRPr lang="zh-CN" altLang="en-US" sz="2200" b="1"/>
          </a:p>
        </p:txBody>
      </p:sp>
      <p:sp>
        <p:nvSpPr>
          <p:cNvPr id="29698" name="Rectangle 2"/>
          <p:cNvSpPr>
            <a:spLocks noChangeArrowheads="1"/>
          </p:cNvSpPr>
          <p:nvPr/>
        </p:nvSpPr>
        <p:spPr bwMode="auto">
          <a:xfrm>
            <a:off x="14033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 </a:t>
            </a:r>
            <a:r>
              <a:rPr lang="zh-CN" altLang="en-US" sz="3600" b="1">
                <a:solidFill>
                  <a:schemeClr val="bg1"/>
                </a:solidFill>
                <a:latin typeface="Verdana" panose="020B0604030504040204" pitchFamily="34" charset="0"/>
              </a:rPr>
              <a:t>防火墙的主要应用</a:t>
            </a:r>
            <a:endParaRPr lang="zh-CN" altLang="en-US" sz="3600" b="1">
              <a:solidFill>
                <a:schemeClr val="bg1"/>
              </a:solidFill>
              <a:latin typeface="Verdana" panose="020B0604030504040204" pitchFamily="34" charset="0"/>
            </a:endParaRPr>
          </a:p>
        </p:txBody>
      </p:sp>
      <p:sp>
        <p:nvSpPr>
          <p:cNvPr id="29699" name="Rectangle 7"/>
          <p:cNvSpPr>
            <a:spLocks noChangeArrowheads="1"/>
          </p:cNvSpPr>
          <p:nvPr/>
        </p:nvSpPr>
        <p:spPr bwMode="auto">
          <a:xfrm>
            <a:off x="2987675" y="4076700"/>
            <a:ext cx="3059113" cy="304800"/>
          </a:xfrm>
          <a:prstGeom prst="rect">
            <a:avLst/>
          </a:prstGeom>
          <a:noFill/>
          <a:ln w="9525">
            <a:noFill/>
            <a:miter lim="800000"/>
          </a:ln>
        </p:spPr>
        <p:txBody>
          <a:bodyPr anchor="ctr">
            <a:spAutoFit/>
          </a:bodyPr>
          <a:lstStyle/>
          <a:p>
            <a:pPr eaLnBrk="0" hangingPunct="0"/>
            <a:r>
              <a:rPr lang="zh-CN" altLang="en-US" sz="1400" b="1">
                <a:solidFill>
                  <a:srgbClr val="1F38ED"/>
                </a:solidFill>
                <a:latin typeface="Times New Roman" panose="02020603050405020304" pitchFamily="18" charset="0"/>
              </a:rPr>
              <a:t>表 </a:t>
            </a:r>
            <a:r>
              <a:rPr lang="en-US" altLang="zh-CN" sz="1400" b="1">
                <a:solidFill>
                  <a:srgbClr val="1F38ED"/>
                </a:solidFill>
                <a:latin typeface="Times New Roman" panose="02020603050405020304" pitchFamily="18" charset="0"/>
              </a:rPr>
              <a:t>9-1</a:t>
            </a:r>
            <a:r>
              <a:rPr lang="zh-CN" altLang="en-US" sz="1400" b="1">
                <a:solidFill>
                  <a:srgbClr val="1F38ED"/>
                </a:solidFill>
                <a:latin typeface="Times New Roman" panose="02020603050405020304" pitchFamily="18" charset="0"/>
              </a:rPr>
              <a:t>内部防火墙类别选择问题</a:t>
            </a:r>
            <a:endParaRPr lang="zh-CN" altLang="en-US" sz="1400" b="1">
              <a:solidFill>
                <a:srgbClr val="1F38ED"/>
              </a:solidFill>
            </a:endParaRPr>
          </a:p>
        </p:txBody>
      </p:sp>
      <p:graphicFrame>
        <p:nvGraphicFramePr>
          <p:cNvPr id="24606" name="Group 30"/>
          <p:cNvGraphicFramePr>
            <a:graphicFrameLocks noGrp="1"/>
          </p:cNvGraphicFramePr>
          <p:nvPr/>
        </p:nvGraphicFramePr>
        <p:xfrm>
          <a:off x="971550" y="4365625"/>
          <a:ext cx="7704138" cy="2563814"/>
        </p:xfrm>
        <a:graphic>
          <a:graphicData uri="http://schemas.openxmlformats.org/drawingml/2006/table">
            <a:tbl>
              <a:tblPr/>
              <a:tblGrid>
                <a:gridCol w="2339975"/>
                <a:gridCol w="5364163"/>
              </a:tblGrid>
              <a:tr h="298706">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问题</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以此容量实现的防火墙的典型特征</a:t>
                      </a:r>
                      <a:endParaRPr kumimoji="0" lang="zh-CN" altLang="en-US" sz="1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r>
              <a:tr h="717469">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所需的防火墙功能，如安全管理员所指定的</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这是所需的安全程度与功能的成本以及增加的安全可能导致的性能的潜在下降之间的权衡。虽然许多组织希望这一容量的防火墙提供最高的安全性，但是有些组织并不愿意接受伴随而来的性能降低。例如，对于容量非常大的非电子商务网站，基于通过使用静态数据包筛选器而不是应用程序层筛选获得的较高级别的吞吐量，可能允许较低级别的安全。</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3022">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无论是专用物理设备，提供其他功能，还是物理设备上的逻辑防火墙</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这取决于所需的性能、数据的敏感性和需要从外围区域进行访问的频率。</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798">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设备的管理功能要求如组织的管理体系结构所指定的。</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通常使用某种形式的日志，但是通常还需要事件监视机制。您可能在这里选择不允许远程管理以阻止恶意用户远程管理设备。 </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798">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吞吐量要求很可能由组织内的网络和服务管理员来确定。</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这些将根据每个环境而变化，但是设备或服务器中硬件的功能以及要使用的防火墙功能将确定整个网络的可用吞吐量。</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3021">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可用性要求</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5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也要取决于来自</a:t>
                      </a: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Web </a:t>
                      </a: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服务器的访问要求。如果它们主要用于处理提供网页的信息请求，则内部网络的通信量将很低。但是，电子商务环境将需要高级别的可用性</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9724" name="AutoShape 8"/>
          <p:cNvSpPr>
            <a:spLocks noChangeArrowheads="1"/>
          </p:cNvSpPr>
          <p:nvPr/>
        </p:nvSpPr>
        <p:spPr bwMode="auto">
          <a:xfrm>
            <a:off x="487363" y="1154113"/>
            <a:ext cx="8169275" cy="2998787"/>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0722" name="Rectangle 3"/>
          <p:cNvSpPr>
            <a:spLocks noChangeArrowheads="1"/>
          </p:cNvSpPr>
          <p:nvPr/>
        </p:nvSpPr>
        <p:spPr bwMode="auto">
          <a:xfrm>
            <a:off x="609600" y="1295400"/>
            <a:ext cx="8077200" cy="3429000"/>
          </a:xfrm>
          <a:prstGeom prst="rect">
            <a:avLst/>
          </a:prstGeom>
          <a:noFill/>
          <a:ln w="9525">
            <a:noFill/>
            <a:miter lim="800000"/>
          </a:ln>
        </p:spPr>
        <p:txBody>
          <a:bodyPr/>
          <a:lstStyle/>
          <a:p>
            <a:pPr algn="just">
              <a:spcBef>
                <a:spcPct val="20000"/>
              </a:spcBef>
            </a:pPr>
            <a:r>
              <a:rPr lang="en-US" altLang="zh-CN" b="1">
                <a:solidFill>
                  <a:srgbClr val="CC0000"/>
                </a:solidFill>
              </a:rPr>
              <a:t>     (1).</a:t>
            </a:r>
            <a:r>
              <a:rPr lang="zh-CN" altLang="en-US" b="1">
                <a:solidFill>
                  <a:srgbClr val="CC0000"/>
                </a:solidFill>
              </a:rPr>
              <a:t>内部防火墙规则</a:t>
            </a:r>
            <a:endParaRPr lang="zh-CN" altLang="en-US" b="1">
              <a:solidFill>
                <a:srgbClr val="CC0000"/>
              </a:solidFill>
            </a:endParaRPr>
          </a:p>
          <a:p>
            <a:pPr algn="just">
              <a:spcBef>
                <a:spcPct val="20000"/>
              </a:spcBef>
            </a:pPr>
            <a:r>
              <a:rPr lang="zh-CN" altLang="en-US" b="1">
                <a:solidFill>
                  <a:srgbClr val="FF0000"/>
                </a:solidFill>
              </a:rPr>
              <a:t>      堡垒（</a:t>
            </a:r>
            <a:r>
              <a:rPr lang="en-US" altLang="zh-CN" b="1">
                <a:solidFill>
                  <a:srgbClr val="FF0000"/>
                </a:solidFill>
              </a:rPr>
              <a:t>Bastion</a:t>
            </a:r>
            <a:r>
              <a:rPr lang="zh-CN" altLang="en-US" b="1">
                <a:solidFill>
                  <a:srgbClr val="FF0000"/>
                </a:solidFill>
              </a:rPr>
              <a:t>）主机</a:t>
            </a:r>
            <a:r>
              <a:rPr lang="zh-CN" altLang="en-US" b="1"/>
              <a:t>，堡垒主机是</a:t>
            </a:r>
            <a:r>
              <a:rPr lang="zh-CN" altLang="en-US" b="1">
                <a:solidFill>
                  <a:srgbClr val="CC0000"/>
                </a:solidFill>
              </a:rPr>
              <a:t>位于</a:t>
            </a:r>
            <a:r>
              <a:rPr lang="zh-CN" altLang="en-US" b="1"/>
              <a:t>外围网络中的服务器，向内部和外部用户提供服务。堡垒主机</a:t>
            </a:r>
            <a:r>
              <a:rPr lang="zh-CN" altLang="en-US" b="1">
                <a:solidFill>
                  <a:srgbClr val="CC0000"/>
                </a:solidFill>
              </a:rPr>
              <a:t>包括</a:t>
            </a:r>
            <a:r>
              <a:rPr lang="zh-CN" altLang="en-US" b="1"/>
              <a:t> </a:t>
            </a:r>
            <a:r>
              <a:rPr lang="en-US" altLang="zh-CN" b="1"/>
              <a:t>Web </a:t>
            </a:r>
            <a:r>
              <a:rPr lang="zh-CN" altLang="en-US" b="1"/>
              <a:t>服务器和 </a:t>
            </a:r>
            <a:r>
              <a:rPr lang="en-US" altLang="zh-CN" b="1"/>
              <a:t>VPN </a:t>
            </a:r>
            <a:r>
              <a:rPr lang="zh-CN" altLang="en-US" b="1"/>
              <a:t>服务器。</a:t>
            </a:r>
            <a:r>
              <a:rPr lang="zh-CN" altLang="en-US"/>
              <a:t> </a:t>
            </a:r>
            <a:endParaRPr lang="zh-CN" altLang="en-US"/>
          </a:p>
          <a:p>
            <a:pPr algn="just">
              <a:spcBef>
                <a:spcPct val="20000"/>
              </a:spcBef>
            </a:pPr>
            <a:r>
              <a:rPr lang="en-US" altLang="zh-CN" b="1">
                <a:solidFill>
                  <a:srgbClr val="CC0000"/>
                </a:solidFill>
              </a:rPr>
              <a:t>      (2).</a:t>
            </a:r>
            <a:r>
              <a:rPr lang="zh-CN" altLang="en-US" b="1">
                <a:solidFill>
                  <a:srgbClr val="CC0000"/>
                </a:solidFill>
              </a:rPr>
              <a:t>内部防火墙的可用性</a:t>
            </a:r>
            <a:endParaRPr lang="zh-CN" altLang="en-US" b="1">
              <a:solidFill>
                <a:srgbClr val="CC0000"/>
              </a:solidFill>
            </a:endParaRPr>
          </a:p>
          <a:p>
            <a:pPr algn="just">
              <a:spcBef>
                <a:spcPct val="20000"/>
              </a:spcBef>
            </a:pPr>
            <a:r>
              <a:rPr lang="zh-CN" altLang="en-US" b="1"/>
              <a:t>      为了增加防火墙的可用性，可以将它实现为具有或不具有</a:t>
            </a:r>
            <a:r>
              <a:rPr lang="zh-CN" altLang="en-US" b="1">
                <a:solidFill>
                  <a:srgbClr val="990033"/>
                </a:solidFill>
              </a:rPr>
              <a:t>冗余组件</a:t>
            </a:r>
            <a:r>
              <a:rPr lang="zh-CN" altLang="en-US" b="1"/>
              <a:t>的单一防火墙设备，或合并了某些类型的故障转移和</a:t>
            </a:r>
            <a:r>
              <a:rPr lang="en-US" altLang="zh-CN" b="1"/>
              <a:t>/</a:t>
            </a:r>
            <a:r>
              <a:rPr lang="zh-CN" altLang="en-US" b="1"/>
              <a:t>或负载平衡机制的防火墙的冗余对。</a:t>
            </a:r>
            <a:r>
              <a:rPr lang="zh-CN" altLang="en-US" sz="3200"/>
              <a:t> </a:t>
            </a:r>
            <a:endParaRPr lang="zh-CN" altLang="en-US" sz="3200"/>
          </a:p>
        </p:txBody>
      </p:sp>
      <p:sp>
        <p:nvSpPr>
          <p:cNvPr id="30723" name="Rectangle 2"/>
          <p:cNvSpPr>
            <a:spLocks noChangeArrowheads="1"/>
          </p:cNvSpPr>
          <p:nvPr/>
        </p:nvSpPr>
        <p:spPr bwMode="auto">
          <a:xfrm>
            <a:off x="14033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 </a:t>
            </a:r>
            <a:r>
              <a:rPr lang="zh-CN" altLang="en-US" sz="3600" b="1">
                <a:solidFill>
                  <a:schemeClr val="bg1"/>
                </a:solidFill>
                <a:latin typeface="Verdana" panose="020B0604030504040204" pitchFamily="34" charset="0"/>
              </a:rPr>
              <a:t>防火墙的主要应用</a:t>
            </a:r>
            <a:endParaRPr lang="zh-CN" altLang="en-US" sz="3600" b="1">
              <a:solidFill>
                <a:schemeClr val="bg1"/>
              </a:solidFill>
              <a:latin typeface="Verdana" panose="020B0604030504040204" pitchFamily="34" charset="0"/>
            </a:endParaRPr>
          </a:p>
        </p:txBody>
      </p:sp>
      <p:pic>
        <p:nvPicPr>
          <p:cNvPr id="30724" name="Picture 7" descr="MC900441341[1]"/>
          <p:cNvPicPr>
            <a:picLocks noChangeAspect="1" noChangeArrowheads="1"/>
          </p:cNvPicPr>
          <p:nvPr/>
        </p:nvPicPr>
        <p:blipFill>
          <a:blip r:embed="rId1" cstate="print"/>
          <a:srcRect/>
          <a:stretch>
            <a:fillRect/>
          </a:stretch>
        </p:blipFill>
        <p:spPr bwMode="auto">
          <a:xfrm>
            <a:off x="5435600" y="4724400"/>
            <a:ext cx="1916113" cy="1916113"/>
          </a:xfrm>
          <a:prstGeom prst="rect">
            <a:avLst/>
          </a:prstGeom>
          <a:noFill/>
          <a:ln w="9525">
            <a:noFill/>
            <a:miter lim="800000"/>
            <a:headEnd/>
            <a:tailEnd/>
          </a:ln>
        </p:spPr>
      </p:pic>
      <p:sp>
        <p:nvSpPr>
          <p:cNvPr id="30725" name="AutoShape 7"/>
          <p:cNvSpPr>
            <a:spLocks noChangeArrowheads="1"/>
          </p:cNvSpPr>
          <p:nvPr/>
        </p:nvSpPr>
        <p:spPr bwMode="auto">
          <a:xfrm>
            <a:off x="611188" y="4724400"/>
            <a:ext cx="4608512" cy="865188"/>
          </a:xfrm>
          <a:prstGeom prst="wedgeRectCallout">
            <a:avLst>
              <a:gd name="adj1" fmla="val -23407"/>
              <a:gd name="adj2" fmla="val -64130"/>
            </a:avLst>
          </a:prstGeom>
          <a:solidFill>
            <a:srgbClr val="FFFF66"/>
          </a:solidFill>
          <a:ln w="9525">
            <a:solidFill>
              <a:schemeClr val="tx1"/>
            </a:solidFill>
            <a:miter lim="800000"/>
          </a:ln>
        </p:spPr>
        <p:txBody>
          <a:bodyPr/>
          <a:lstStyle/>
          <a:p>
            <a:r>
              <a:rPr lang="zh-CN" altLang="en-US" sz="1600" b="1"/>
              <a:t>为某些很可能发生故障的组件（如电源）</a:t>
            </a:r>
            <a:r>
              <a:rPr lang="zh-CN" altLang="en-US" sz="1600" b="1">
                <a:solidFill>
                  <a:srgbClr val="990033"/>
                </a:solidFill>
              </a:rPr>
              <a:t>配置备用系统</a:t>
            </a:r>
            <a:r>
              <a:rPr lang="zh-CN" altLang="en-US" sz="1600" b="1"/>
              <a:t>，可改进防火墙的适应性，因为如果第一个组件发生故障，不会对运营造成任何影响。 </a:t>
            </a:r>
            <a:endParaRPr lang="zh-CN" altLang="en-US" sz="1600" b="1"/>
          </a:p>
        </p:txBody>
      </p:sp>
      <p:sp>
        <p:nvSpPr>
          <p:cNvPr id="30726" name="AutoShape 8"/>
          <p:cNvSpPr>
            <a:spLocks noChangeArrowheads="1"/>
          </p:cNvSpPr>
          <p:nvPr/>
        </p:nvSpPr>
        <p:spPr bwMode="auto">
          <a:xfrm>
            <a:off x="487363"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1746" name="Rectangle 3"/>
          <p:cNvSpPr>
            <a:spLocks noChangeArrowheads="1"/>
          </p:cNvSpPr>
          <p:nvPr/>
        </p:nvSpPr>
        <p:spPr bwMode="auto">
          <a:xfrm>
            <a:off x="755650" y="1412875"/>
            <a:ext cx="8077200" cy="5257800"/>
          </a:xfrm>
          <a:prstGeom prst="rect">
            <a:avLst/>
          </a:prstGeom>
          <a:noFill/>
          <a:ln w="9525">
            <a:noFill/>
            <a:miter lim="800000"/>
          </a:ln>
        </p:spPr>
        <p:txBody>
          <a:bodyPr/>
          <a:lstStyle/>
          <a:p>
            <a:pPr eaLnBrk="0" hangingPunct="0">
              <a:spcBef>
                <a:spcPct val="20000"/>
              </a:spcBef>
            </a:pPr>
            <a:r>
              <a:rPr lang="zh-CN" altLang="en-US" sz="2300" b="1"/>
              <a:t>（</a:t>
            </a:r>
            <a:r>
              <a:rPr lang="en-US" altLang="zh-CN" sz="2300" b="1"/>
              <a:t>1</a:t>
            </a:r>
            <a:r>
              <a:rPr lang="zh-CN" altLang="en-US" sz="2300" b="1"/>
              <a:t>）没有冗余组件的单一防火墙</a:t>
            </a:r>
            <a:endParaRPr lang="zh-CN" altLang="en-US" sz="2300" b="1"/>
          </a:p>
          <a:p>
            <a:pPr eaLnBrk="0" hangingPunct="0">
              <a:spcBef>
                <a:spcPct val="20000"/>
              </a:spcBef>
            </a:pPr>
            <a:endParaRPr lang="zh-CN" altLang="en-US" sz="2300" b="1"/>
          </a:p>
          <a:p>
            <a:pPr eaLnBrk="0" hangingPunct="0">
              <a:spcBef>
                <a:spcPct val="20000"/>
              </a:spcBef>
            </a:pPr>
            <a:endParaRPr lang="zh-CN" altLang="en-US" sz="2300" b="1"/>
          </a:p>
          <a:p>
            <a:pPr eaLnBrk="0" hangingPunct="0">
              <a:spcBef>
                <a:spcPct val="20000"/>
              </a:spcBef>
            </a:pPr>
            <a:endParaRPr lang="zh-CN" altLang="en-US" sz="2300" b="1"/>
          </a:p>
          <a:p>
            <a:pPr eaLnBrk="0" hangingPunct="0">
              <a:spcBef>
                <a:spcPct val="20000"/>
              </a:spcBef>
            </a:pPr>
            <a:endParaRPr lang="zh-CN" altLang="en-US" sz="2300" b="1"/>
          </a:p>
          <a:p>
            <a:pPr eaLnBrk="0" hangingPunct="0">
              <a:spcBef>
                <a:spcPct val="20000"/>
              </a:spcBef>
            </a:pPr>
            <a:endParaRPr lang="zh-CN" altLang="en-US" sz="2300" b="1"/>
          </a:p>
          <a:p>
            <a:pPr eaLnBrk="0" hangingPunct="0">
              <a:spcBef>
                <a:spcPct val="20000"/>
              </a:spcBef>
            </a:pPr>
            <a:r>
              <a:rPr lang="zh-CN" altLang="en-US" sz="2300" b="1"/>
              <a:t>（</a:t>
            </a:r>
            <a:r>
              <a:rPr lang="en-US" altLang="zh-CN" sz="2300" b="1"/>
              <a:t>2</a:t>
            </a:r>
            <a:r>
              <a:rPr lang="zh-CN" altLang="en-US" sz="2300" b="1"/>
              <a:t>）具有冗余组件的单一防火墙</a:t>
            </a:r>
            <a:endParaRPr lang="zh-CN" altLang="en-US" sz="2300" b="1"/>
          </a:p>
          <a:p>
            <a:pPr eaLnBrk="0" hangingPunct="0">
              <a:spcBef>
                <a:spcPct val="20000"/>
              </a:spcBef>
            </a:pPr>
            <a:endParaRPr lang="zh-CN" altLang="en-US" sz="2300" b="1"/>
          </a:p>
        </p:txBody>
      </p:sp>
      <p:sp>
        <p:nvSpPr>
          <p:cNvPr id="31747" name="Rectangle 9"/>
          <p:cNvSpPr>
            <a:spLocks noChangeArrowheads="1"/>
          </p:cNvSpPr>
          <p:nvPr/>
        </p:nvSpPr>
        <p:spPr bwMode="auto">
          <a:xfrm>
            <a:off x="0" y="2705100"/>
            <a:ext cx="9144000" cy="0"/>
          </a:xfrm>
          <a:prstGeom prst="rect">
            <a:avLst/>
          </a:prstGeom>
          <a:noFill/>
          <a:ln w="9525">
            <a:noFill/>
            <a:miter lim="800000"/>
          </a:ln>
        </p:spPr>
        <p:txBody>
          <a:bodyPr wrap="none" anchor="ctr">
            <a:spAutoFit/>
          </a:bodyPr>
          <a:lstStyle/>
          <a:p>
            <a:endParaRPr lang="zh-CN" altLang="en-US"/>
          </a:p>
        </p:txBody>
      </p:sp>
      <p:sp>
        <p:nvSpPr>
          <p:cNvPr id="31748" name="Rectangle 11"/>
          <p:cNvSpPr>
            <a:spLocks noChangeArrowheads="1"/>
          </p:cNvSpPr>
          <p:nvPr/>
        </p:nvSpPr>
        <p:spPr bwMode="auto">
          <a:xfrm>
            <a:off x="0" y="2705100"/>
            <a:ext cx="9144000" cy="0"/>
          </a:xfrm>
          <a:prstGeom prst="rect">
            <a:avLst/>
          </a:prstGeom>
          <a:noFill/>
          <a:ln w="9525">
            <a:noFill/>
            <a:miter lim="800000"/>
          </a:ln>
        </p:spPr>
        <p:txBody>
          <a:bodyPr wrap="none" anchor="ctr">
            <a:spAutoFit/>
          </a:bodyPr>
          <a:lstStyle/>
          <a:p>
            <a:endParaRPr lang="zh-CN" altLang="en-US"/>
          </a:p>
        </p:txBody>
      </p:sp>
      <p:sp>
        <p:nvSpPr>
          <p:cNvPr id="31749" name="Rectangle 14"/>
          <p:cNvSpPr>
            <a:spLocks noChangeArrowheads="1"/>
          </p:cNvSpPr>
          <p:nvPr/>
        </p:nvSpPr>
        <p:spPr bwMode="auto">
          <a:xfrm>
            <a:off x="3203575" y="3716338"/>
            <a:ext cx="2898775" cy="304800"/>
          </a:xfrm>
          <a:prstGeom prst="rect">
            <a:avLst/>
          </a:prstGeom>
          <a:noFill/>
          <a:ln w="9525">
            <a:noFill/>
            <a:miter lim="800000"/>
          </a:ln>
        </p:spPr>
        <p:txBody>
          <a:bodyPr wrap="none" anchor="ctr">
            <a:spAutoFit/>
          </a:bodyPr>
          <a:lstStyle/>
          <a:p>
            <a:pPr eaLnBrk="0" hangingPunct="0"/>
            <a:r>
              <a:rPr lang="zh-CN" altLang="en-US" sz="1400" b="1"/>
              <a:t>图</a:t>
            </a:r>
            <a:r>
              <a:rPr lang="en-US" altLang="zh-CN" sz="1400" b="1"/>
              <a:t>8-10</a:t>
            </a:r>
            <a:r>
              <a:rPr lang="zh-CN" altLang="en-US" sz="1400" b="1"/>
              <a:t>没有冗余组件的单一防火墙 </a:t>
            </a:r>
            <a:endParaRPr lang="zh-CN" altLang="en-US" sz="1400" b="1"/>
          </a:p>
        </p:txBody>
      </p:sp>
      <p:sp>
        <p:nvSpPr>
          <p:cNvPr id="31750" name="Rectangle 15"/>
          <p:cNvSpPr>
            <a:spLocks noChangeArrowheads="1"/>
          </p:cNvSpPr>
          <p:nvPr/>
        </p:nvSpPr>
        <p:spPr bwMode="auto">
          <a:xfrm>
            <a:off x="3059113" y="6237288"/>
            <a:ext cx="2898775" cy="304800"/>
          </a:xfrm>
          <a:prstGeom prst="rect">
            <a:avLst/>
          </a:prstGeom>
          <a:noFill/>
          <a:ln w="9525">
            <a:noFill/>
            <a:miter lim="800000"/>
          </a:ln>
        </p:spPr>
        <p:txBody>
          <a:bodyPr wrap="none" anchor="ctr">
            <a:spAutoFit/>
          </a:bodyPr>
          <a:lstStyle/>
          <a:p>
            <a:pPr algn="ctr" eaLnBrk="0" hangingPunct="0"/>
            <a:r>
              <a:rPr lang="zh-CN" altLang="en-US" sz="1400" b="1"/>
              <a:t>图</a:t>
            </a:r>
            <a:r>
              <a:rPr lang="en-US" altLang="zh-CN" sz="1400" b="1"/>
              <a:t>8-11 </a:t>
            </a:r>
            <a:r>
              <a:rPr lang="zh-CN" altLang="en-US" sz="1400" b="1"/>
              <a:t>具有冗余组件的单一防火墙</a:t>
            </a:r>
            <a:endParaRPr lang="zh-CN" altLang="en-US" sz="1400" b="1"/>
          </a:p>
        </p:txBody>
      </p:sp>
      <p:sp>
        <p:nvSpPr>
          <p:cNvPr id="31751" name="Rectangle 2"/>
          <p:cNvSpPr>
            <a:spLocks noChangeArrowheads="1"/>
          </p:cNvSpPr>
          <p:nvPr/>
        </p:nvSpPr>
        <p:spPr bwMode="auto">
          <a:xfrm>
            <a:off x="14033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 </a:t>
            </a:r>
            <a:r>
              <a:rPr lang="zh-CN" altLang="en-US" sz="3600" b="1">
                <a:solidFill>
                  <a:schemeClr val="bg1"/>
                </a:solidFill>
                <a:latin typeface="Verdana" panose="020B0604030504040204" pitchFamily="34" charset="0"/>
              </a:rPr>
              <a:t>防火墙的主要应用</a:t>
            </a:r>
            <a:endParaRPr lang="zh-CN" altLang="en-US" sz="3600" b="1">
              <a:solidFill>
                <a:schemeClr val="bg1"/>
              </a:solidFill>
              <a:latin typeface="Verdana" panose="020B0604030504040204" pitchFamily="34" charset="0"/>
            </a:endParaRPr>
          </a:p>
        </p:txBody>
      </p:sp>
      <p:sp>
        <p:nvSpPr>
          <p:cNvPr id="31752" name="Rectangle 14"/>
          <p:cNvSpPr>
            <a:spLocks noChangeArrowheads="1"/>
          </p:cNvSpPr>
          <p:nvPr/>
        </p:nvSpPr>
        <p:spPr bwMode="auto">
          <a:xfrm>
            <a:off x="0" y="2914650"/>
            <a:ext cx="9144000" cy="0"/>
          </a:xfrm>
          <a:prstGeom prst="rect">
            <a:avLst/>
          </a:prstGeom>
          <a:noFill/>
          <a:ln w="9525">
            <a:noFill/>
            <a:miter lim="800000"/>
          </a:ln>
        </p:spPr>
        <p:txBody>
          <a:bodyPr wrap="none" anchor="ctr">
            <a:spAutoFit/>
          </a:bodyPr>
          <a:lstStyle/>
          <a:p>
            <a:endParaRPr lang="zh-CN" altLang="en-US" b="1"/>
          </a:p>
        </p:txBody>
      </p:sp>
      <p:sp>
        <p:nvSpPr>
          <p:cNvPr id="31753" name="Rectangle 16"/>
          <p:cNvSpPr>
            <a:spLocks noChangeArrowheads="1"/>
          </p:cNvSpPr>
          <p:nvPr/>
        </p:nvSpPr>
        <p:spPr bwMode="auto">
          <a:xfrm>
            <a:off x="0" y="2900363"/>
            <a:ext cx="9144000" cy="0"/>
          </a:xfrm>
          <a:prstGeom prst="rect">
            <a:avLst/>
          </a:prstGeom>
          <a:noFill/>
          <a:ln w="9525">
            <a:noFill/>
            <a:miter lim="800000"/>
          </a:ln>
        </p:spPr>
        <p:txBody>
          <a:bodyPr wrap="none" anchor="ctr">
            <a:spAutoFit/>
          </a:bodyPr>
          <a:lstStyle/>
          <a:p>
            <a:endParaRPr lang="zh-CN" altLang="en-US" b="1"/>
          </a:p>
        </p:txBody>
      </p:sp>
      <p:sp>
        <p:nvSpPr>
          <p:cNvPr id="31754" name="Rectangle 18"/>
          <p:cNvSpPr>
            <a:spLocks noChangeArrowheads="1"/>
          </p:cNvSpPr>
          <p:nvPr/>
        </p:nvSpPr>
        <p:spPr bwMode="auto">
          <a:xfrm>
            <a:off x="0" y="2900363"/>
            <a:ext cx="9144000" cy="0"/>
          </a:xfrm>
          <a:prstGeom prst="rect">
            <a:avLst/>
          </a:prstGeom>
          <a:noFill/>
          <a:ln w="9525">
            <a:noFill/>
            <a:miter lim="800000"/>
          </a:ln>
        </p:spPr>
        <p:txBody>
          <a:bodyPr wrap="none" anchor="ctr">
            <a:spAutoFit/>
          </a:bodyPr>
          <a:lstStyle/>
          <a:p>
            <a:endParaRPr lang="zh-CN" altLang="en-US" b="1"/>
          </a:p>
        </p:txBody>
      </p:sp>
      <p:graphicFrame>
        <p:nvGraphicFramePr>
          <p:cNvPr id="31755" name="Object 17"/>
          <p:cNvGraphicFramePr>
            <a:graphicFrameLocks noChangeAspect="1"/>
          </p:cNvGraphicFramePr>
          <p:nvPr/>
        </p:nvGraphicFramePr>
        <p:xfrm>
          <a:off x="1187450" y="4581525"/>
          <a:ext cx="7058025" cy="1728788"/>
        </p:xfrm>
        <a:graphic>
          <a:graphicData uri="http://schemas.openxmlformats.org/presentationml/2006/ole">
            <mc:AlternateContent xmlns:mc="http://schemas.openxmlformats.org/markup-compatibility/2006">
              <mc:Choice xmlns:v="urn:schemas-microsoft-com:vml" Requires="v">
                <p:oleObj spid="_x0000_s14425" name="" r:id="rId1" imgW="7440930" imgH="2007870" progId="">
                  <p:embed/>
                </p:oleObj>
              </mc:Choice>
              <mc:Fallback>
                <p:oleObj name="" r:id="rId1" imgW="7440930" imgH="2007870" progId="">
                  <p:embed/>
                  <p:pic>
                    <p:nvPicPr>
                      <p:cNvPr id="0" name="Object 17"/>
                      <p:cNvPicPr>
                        <a:picLocks noChangeAspect="1"/>
                      </p:cNvPicPr>
                      <p:nvPr/>
                    </p:nvPicPr>
                    <p:blipFill>
                      <a:blip r:embed="rId2"/>
                      <a:stretch>
                        <a:fillRect/>
                      </a:stretch>
                    </p:blipFill>
                    <p:spPr>
                      <a:xfrm>
                        <a:off x="1187450" y="4581525"/>
                        <a:ext cx="7058025" cy="1728788"/>
                      </a:xfrm>
                      <a:prstGeom prst="rect">
                        <a:avLst/>
                      </a:prstGeom>
                      <a:noFill/>
                      <a:ln w="38100">
                        <a:noFill/>
                      </a:ln>
                    </p:spPr>
                  </p:pic>
                </p:oleObj>
              </mc:Fallback>
            </mc:AlternateContent>
          </a:graphicData>
        </a:graphic>
      </p:graphicFrame>
      <p:sp>
        <p:nvSpPr>
          <p:cNvPr id="31756" name="Rectangle 20"/>
          <p:cNvSpPr>
            <a:spLocks noChangeArrowheads="1"/>
          </p:cNvSpPr>
          <p:nvPr/>
        </p:nvSpPr>
        <p:spPr bwMode="auto">
          <a:xfrm>
            <a:off x="0" y="2914650"/>
            <a:ext cx="9144000" cy="0"/>
          </a:xfrm>
          <a:prstGeom prst="rect">
            <a:avLst/>
          </a:prstGeom>
          <a:noFill/>
          <a:ln w="9525">
            <a:noFill/>
            <a:miter lim="800000"/>
          </a:ln>
        </p:spPr>
        <p:txBody>
          <a:bodyPr wrap="none" anchor="ctr">
            <a:spAutoFit/>
          </a:bodyPr>
          <a:lstStyle/>
          <a:p>
            <a:endParaRPr lang="zh-CN" altLang="en-US" b="1"/>
          </a:p>
        </p:txBody>
      </p:sp>
      <p:graphicFrame>
        <p:nvGraphicFramePr>
          <p:cNvPr id="31757" name="Object 19"/>
          <p:cNvGraphicFramePr>
            <a:graphicFrameLocks noChangeAspect="1"/>
          </p:cNvGraphicFramePr>
          <p:nvPr/>
        </p:nvGraphicFramePr>
        <p:xfrm>
          <a:off x="1619250" y="1844675"/>
          <a:ext cx="6265863" cy="1944688"/>
        </p:xfrm>
        <a:graphic>
          <a:graphicData uri="http://schemas.openxmlformats.org/presentationml/2006/ole">
            <mc:AlternateContent xmlns:mc="http://schemas.openxmlformats.org/markup-compatibility/2006">
              <mc:Choice xmlns:v="urn:schemas-microsoft-com:vml" Requires="v">
                <p:oleObj spid="_x0000_s14426" name="" r:id="rId3" imgW="7440930" imgH="2007870" progId="">
                  <p:embed/>
                </p:oleObj>
              </mc:Choice>
              <mc:Fallback>
                <p:oleObj name="" r:id="rId3" imgW="7440930" imgH="2007870" progId="">
                  <p:embed/>
                  <p:pic>
                    <p:nvPicPr>
                      <p:cNvPr id="0" name="Object 19"/>
                      <p:cNvPicPr>
                        <a:picLocks noChangeAspect="1"/>
                      </p:cNvPicPr>
                      <p:nvPr/>
                    </p:nvPicPr>
                    <p:blipFill>
                      <a:blip r:embed="rId4"/>
                      <a:stretch>
                        <a:fillRect/>
                      </a:stretch>
                    </p:blipFill>
                    <p:spPr>
                      <a:xfrm>
                        <a:off x="1619250" y="1844675"/>
                        <a:ext cx="6265863" cy="1944688"/>
                      </a:xfrm>
                      <a:prstGeom prst="rect">
                        <a:avLst/>
                      </a:prstGeom>
                      <a:noFill/>
                      <a:ln w="38100">
                        <a:noFill/>
                      </a:ln>
                    </p:spPr>
                  </p:pic>
                </p:oleObj>
              </mc:Fallback>
            </mc:AlternateContent>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2770" name="Rectangle 3"/>
          <p:cNvSpPr>
            <a:spLocks noChangeArrowheads="1"/>
          </p:cNvSpPr>
          <p:nvPr/>
        </p:nvSpPr>
        <p:spPr bwMode="auto">
          <a:xfrm>
            <a:off x="609600" y="1295400"/>
            <a:ext cx="8077200" cy="620713"/>
          </a:xfrm>
          <a:prstGeom prst="rect">
            <a:avLst/>
          </a:prstGeom>
          <a:noFill/>
          <a:ln w="9525">
            <a:noFill/>
            <a:miter lim="800000"/>
          </a:ln>
        </p:spPr>
        <p:txBody>
          <a:bodyPr/>
          <a:lstStyle/>
          <a:p>
            <a:pPr algn="just">
              <a:spcBef>
                <a:spcPct val="20000"/>
              </a:spcBef>
            </a:pPr>
            <a:r>
              <a:rPr lang="zh-CN" altLang="en-US" sz="2800" b="1"/>
              <a:t>（</a:t>
            </a:r>
            <a:r>
              <a:rPr lang="en-US" altLang="zh-CN" sz="2800" b="1"/>
              <a:t>3</a:t>
            </a:r>
            <a:r>
              <a:rPr lang="zh-CN" altLang="en-US" sz="2800" b="1"/>
              <a:t>）容错防火墙</a:t>
            </a:r>
            <a:r>
              <a:rPr lang="zh-CN" altLang="en-US" sz="3200"/>
              <a:t> </a:t>
            </a:r>
            <a:endParaRPr lang="zh-CN" altLang="en-US" sz="3200"/>
          </a:p>
        </p:txBody>
      </p:sp>
      <p:sp>
        <p:nvSpPr>
          <p:cNvPr id="32771" name="Rectangle 9"/>
          <p:cNvSpPr>
            <a:spLocks noChangeArrowheads="1"/>
          </p:cNvSpPr>
          <p:nvPr/>
        </p:nvSpPr>
        <p:spPr bwMode="auto">
          <a:xfrm>
            <a:off x="3276600" y="5300663"/>
            <a:ext cx="1801813" cy="304800"/>
          </a:xfrm>
          <a:prstGeom prst="rect">
            <a:avLst/>
          </a:prstGeom>
          <a:noFill/>
          <a:ln w="9525">
            <a:noFill/>
            <a:miter lim="800000"/>
          </a:ln>
        </p:spPr>
        <p:txBody>
          <a:bodyPr wrap="none" anchor="ctr">
            <a:spAutoFit/>
          </a:bodyPr>
          <a:lstStyle/>
          <a:p>
            <a:pPr eaLnBrk="0" hangingPunct="0"/>
            <a:r>
              <a:rPr lang="zh-CN" altLang="en-US" sz="1400" b="1"/>
              <a:t>图</a:t>
            </a:r>
            <a:r>
              <a:rPr lang="en-US" altLang="zh-CN" sz="1400" b="1"/>
              <a:t>8-12   </a:t>
            </a:r>
            <a:r>
              <a:rPr lang="zh-CN" altLang="en-US" sz="1400" b="1"/>
              <a:t>容错防火墙 </a:t>
            </a:r>
            <a:endParaRPr lang="zh-CN" altLang="en-US" sz="1400" b="1"/>
          </a:p>
        </p:txBody>
      </p:sp>
      <p:sp>
        <p:nvSpPr>
          <p:cNvPr id="32772" name="Rectangle 2"/>
          <p:cNvSpPr>
            <a:spLocks noChangeArrowheads="1"/>
          </p:cNvSpPr>
          <p:nvPr/>
        </p:nvSpPr>
        <p:spPr bwMode="auto">
          <a:xfrm>
            <a:off x="14033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 </a:t>
            </a:r>
            <a:r>
              <a:rPr lang="zh-CN" altLang="en-US" sz="3600" b="1">
                <a:solidFill>
                  <a:schemeClr val="bg1"/>
                </a:solidFill>
                <a:latin typeface="Verdana" panose="020B0604030504040204" pitchFamily="34" charset="0"/>
              </a:rPr>
              <a:t>防火墙的主要应用</a:t>
            </a:r>
            <a:endParaRPr lang="zh-CN" altLang="en-US" sz="3600" b="1">
              <a:solidFill>
                <a:schemeClr val="bg1"/>
              </a:solidFill>
              <a:latin typeface="Verdana" panose="020B0604030504040204" pitchFamily="34" charset="0"/>
            </a:endParaRPr>
          </a:p>
        </p:txBody>
      </p:sp>
      <p:sp>
        <p:nvSpPr>
          <p:cNvPr id="32773" name="Rectangle 10"/>
          <p:cNvSpPr>
            <a:spLocks noChangeArrowheads="1"/>
          </p:cNvSpPr>
          <p:nvPr/>
        </p:nvSpPr>
        <p:spPr bwMode="auto">
          <a:xfrm>
            <a:off x="0" y="2695575"/>
            <a:ext cx="9144000" cy="0"/>
          </a:xfrm>
          <a:prstGeom prst="rect">
            <a:avLst/>
          </a:prstGeom>
          <a:noFill/>
          <a:ln w="9525">
            <a:noFill/>
            <a:miter lim="800000"/>
          </a:ln>
        </p:spPr>
        <p:txBody>
          <a:bodyPr wrap="none" anchor="ctr">
            <a:spAutoFit/>
          </a:bodyPr>
          <a:lstStyle/>
          <a:p>
            <a:endParaRPr lang="zh-CN" altLang="en-US" b="1"/>
          </a:p>
        </p:txBody>
      </p:sp>
      <p:sp>
        <p:nvSpPr>
          <p:cNvPr id="32774" name="Rectangle 12"/>
          <p:cNvSpPr>
            <a:spLocks noChangeArrowheads="1"/>
          </p:cNvSpPr>
          <p:nvPr/>
        </p:nvSpPr>
        <p:spPr bwMode="auto">
          <a:xfrm>
            <a:off x="0" y="2695575"/>
            <a:ext cx="9144000" cy="0"/>
          </a:xfrm>
          <a:prstGeom prst="rect">
            <a:avLst/>
          </a:prstGeom>
          <a:noFill/>
          <a:ln w="9525">
            <a:noFill/>
            <a:miter lim="800000"/>
          </a:ln>
        </p:spPr>
        <p:txBody>
          <a:bodyPr wrap="none" anchor="ctr">
            <a:spAutoFit/>
          </a:bodyPr>
          <a:lstStyle/>
          <a:p>
            <a:endParaRPr lang="zh-CN" altLang="en-US" b="1"/>
          </a:p>
        </p:txBody>
      </p:sp>
      <p:graphicFrame>
        <p:nvGraphicFramePr>
          <p:cNvPr id="32775" name="Object 11"/>
          <p:cNvGraphicFramePr>
            <a:graphicFrameLocks noChangeAspect="1"/>
          </p:cNvGraphicFramePr>
          <p:nvPr/>
        </p:nvGraphicFramePr>
        <p:xfrm>
          <a:off x="539750" y="2060575"/>
          <a:ext cx="8064500" cy="2984500"/>
        </p:xfrm>
        <a:graphic>
          <a:graphicData uri="http://schemas.openxmlformats.org/presentationml/2006/ole">
            <mc:AlternateContent xmlns:mc="http://schemas.openxmlformats.org/markup-compatibility/2006">
              <mc:Choice xmlns:v="urn:schemas-microsoft-com:vml" Requires="v">
                <p:oleObj spid="_x0000_s15405" name="" r:id="rId1" imgW="6938645" imgH="2931160" progId="">
                  <p:embed/>
                </p:oleObj>
              </mc:Choice>
              <mc:Fallback>
                <p:oleObj name="" r:id="rId1" imgW="6938645" imgH="2931160" progId="">
                  <p:embed/>
                  <p:pic>
                    <p:nvPicPr>
                      <p:cNvPr id="0" name="Object 11"/>
                      <p:cNvPicPr>
                        <a:picLocks noChangeAspect="1"/>
                      </p:cNvPicPr>
                      <p:nvPr/>
                    </p:nvPicPr>
                    <p:blipFill>
                      <a:blip r:embed="rId2"/>
                      <a:stretch>
                        <a:fillRect/>
                      </a:stretch>
                    </p:blipFill>
                    <p:spPr>
                      <a:xfrm>
                        <a:off x="539750" y="2060575"/>
                        <a:ext cx="8064500" cy="2984500"/>
                      </a:xfrm>
                      <a:prstGeom prst="rect">
                        <a:avLst/>
                      </a:prstGeom>
                      <a:noFill/>
                      <a:ln w="38100">
                        <a:noFill/>
                      </a:ln>
                    </p:spPr>
                  </p:pic>
                </p:oleObj>
              </mc:Fallback>
            </mc:AlternateContent>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3"/>
          <p:cNvSpPr>
            <a:spLocks noChangeArrowheads="1"/>
          </p:cNvSpPr>
          <p:nvPr/>
        </p:nvSpPr>
        <p:spPr bwMode="auto">
          <a:xfrm>
            <a:off x="323850" y="981075"/>
            <a:ext cx="8077200" cy="3213100"/>
          </a:xfrm>
          <a:prstGeom prst="rect">
            <a:avLst/>
          </a:prstGeom>
          <a:noFill/>
          <a:ln w="9525">
            <a:noFill/>
            <a:miter lim="800000"/>
          </a:ln>
        </p:spPr>
        <p:txBody>
          <a:bodyPr/>
          <a:lstStyle/>
          <a:p>
            <a:pPr algn="just">
              <a:spcBef>
                <a:spcPct val="20000"/>
              </a:spcBef>
            </a:pPr>
            <a:r>
              <a:rPr lang="en-US" altLang="zh-CN" sz="2800" b="1">
                <a:solidFill>
                  <a:srgbClr val="FF0000"/>
                </a:solidFill>
              </a:rPr>
              <a:t>     3  </a:t>
            </a:r>
            <a:r>
              <a:rPr lang="zh-CN" altLang="en-US" sz="2800" b="1">
                <a:solidFill>
                  <a:srgbClr val="FF0000"/>
                </a:solidFill>
              </a:rPr>
              <a:t>外围防火墙系统设计</a:t>
            </a:r>
            <a:r>
              <a:rPr lang="zh-CN" altLang="en-US" sz="2800"/>
              <a:t> </a:t>
            </a:r>
            <a:endParaRPr lang="zh-CN" altLang="en-US" sz="2800"/>
          </a:p>
          <a:p>
            <a:pPr eaLnBrk="0" hangingPunct="0">
              <a:lnSpc>
                <a:spcPct val="90000"/>
              </a:lnSpc>
              <a:spcBef>
                <a:spcPct val="5000"/>
              </a:spcBef>
            </a:pPr>
            <a:r>
              <a:rPr lang="zh-CN" altLang="en-US" sz="2200" b="1">
                <a:solidFill>
                  <a:srgbClr val="CC0000"/>
                </a:solidFill>
              </a:rPr>
              <a:t>      设置外围防火墙</a:t>
            </a:r>
            <a:r>
              <a:rPr lang="zh-CN" altLang="en-US" sz="2200" b="1"/>
              <a:t>是为了满足组织</a:t>
            </a:r>
            <a:r>
              <a:rPr lang="zh-CN" altLang="en-US" sz="2200" b="1">
                <a:solidFill>
                  <a:srgbClr val="990033"/>
                </a:solidFill>
              </a:rPr>
              <a:t>边界之外用户</a:t>
            </a:r>
            <a:r>
              <a:rPr lang="zh-CN" altLang="en-US" sz="2200" b="1"/>
              <a:t>的需要。这些</a:t>
            </a:r>
            <a:r>
              <a:rPr lang="zh-CN" altLang="en-US" sz="2200" b="1">
                <a:solidFill>
                  <a:srgbClr val="CC0000"/>
                </a:solidFill>
              </a:rPr>
              <a:t>用户类型</a:t>
            </a:r>
            <a:r>
              <a:rPr lang="zh-CN" altLang="en-US" sz="2200" b="1"/>
              <a:t>包括：</a:t>
            </a:r>
            <a:endParaRPr lang="zh-CN" altLang="en-US" sz="2200" b="1"/>
          </a:p>
          <a:p>
            <a:pPr eaLnBrk="0" hangingPunct="0">
              <a:lnSpc>
                <a:spcPct val="90000"/>
              </a:lnSpc>
              <a:spcBef>
                <a:spcPct val="5000"/>
              </a:spcBef>
            </a:pPr>
            <a:r>
              <a:rPr lang="zh-CN" altLang="en-US" sz="2200" b="1">
                <a:solidFill>
                  <a:srgbClr val="FF0000"/>
                </a:solidFill>
              </a:rPr>
              <a:t>      完全信任用户：</a:t>
            </a:r>
            <a:r>
              <a:rPr lang="zh-CN" altLang="en-US" sz="2200" b="1"/>
              <a:t>例如组织的员工，如各个分支办事处工作人员、远程用户或者在家工作的用户。</a:t>
            </a:r>
            <a:endParaRPr lang="zh-CN" altLang="en-US" sz="2200" b="1"/>
          </a:p>
          <a:p>
            <a:pPr eaLnBrk="0" hangingPunct="0">
              <a:lnSpc>
                <a:spcPct val="90000"/>
              </a:lnSpc>
              <a:spcBef>
                <a:spcPct val="5000"/>
              </a:spcBef>
            </a:pPr>
            <a:r>
              <a:rPr lang="zh-CN" altLang="en-US" sz="2200" b="1">
                <a:solidFill>
                  <a:srgbClr val="FF0000"/>
                </a:solidFill>
              </a:rPr>
              <a:t>      部分信任用户：</a:t>
            </a:r>
            <a:r>
              <a:rPr lang="zh-CN" altLang="en-US" sz="2200" b="1"/>
              <a:t>例如组织的业务合作伙伴，这类用户的信任级别比不受信任的用户高。但是，这类用户通常又比组织的员工低一个信任级别。</a:t>
            </a:r>
            <a:endParaRPr lang="zh-CN" altLang="en-US" sz="2200" b="1"/>
          </a:p>
          <a:p>
            <a:pPr eaLnBrk="0" hangingPunct="0">
              <a:lnSpc>
                <a:spcPct val="85000"/>
              </a:lnSpc>
            </a:pPr>
            <a:r>
              <a:rPr lang="zh-CN" altLang="en-US" sz="2200" b="1">
                <a:solidFill>
                  <a:srgbClr val="FF0000"/>
                </a:solidFill>
              </a:rPr>
              <a:t>      不信任用户：</a:t>
            </a:r>
            <a:r>
              <a:rPr lang="zh-CN" altLang="en-US" sz="2200" b="1"/>
              <a:t>例如组织公共网站的用户。</a:t>
            </a:r>
            <a:r>
              <a:rPr lang="zh-CN" altLang="en-US" sz="3200"/>
              <a:t> </a:t>
            </a:r>
            <a:endParaRPr lang="zh-CN" altLang="en-US" sz="3200"/>
          </a:p>
        </p:txBody>
      </p:sp>
      <p:sp>
        <p:nvSpPr>
          <p:cNvPr id="33794" name="Rectangle 2"/>
          <p:cNvSpPr>
            <a:spLocks noChangeArrowheads="1"/>
          </p:cNvSpPr>
          <p:nvPr/>
        </p:nvSpPr>
        <p:spPr bwMode="auto">
          <a:xfrm>
            <a:off x="14033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 </a:t>
            </a:r>
            <a:r>
              <a:rPr lang="zh-CN" altLang="en-US" sz="3600" b="1">
                <a:solidFill>
                  <a:schemeClr val="bg1"/>
                </a:solidFill>
                <a:latin typeface="Verdana" panose="020B0604030504040204" pitchFamily="34" charset="0"/>
              </a:rPr>
              <a:t>防火墙的主要应用</a:t>
            </a:r>
            <a:endParaRPr lang="zh-CN" altLang="en-US" sz="3600" b="1">
              <a:solidFill>
                <a:schemeClr val="bg1"/>
              </a:solidFill>
              <a:latin typeface="Verdana" panose="020B0604030504040204" pitchFamily="34" charset="0"/>
            </a:endParaRPr>
          </a:p>
        </p:txBody>
      </p:sp>
      <p:sp>
        <p:nvSpPr>
          <p:cNvPr id="33795" name="Rectangle 7"/>
          <p:cNvSpPr>
            <a:spLocks noChangeArrowheads="1"/>
          </p:cNvSpPr>
          <p:nvPr/>
        </p:nvSpPr>
        <p:spPr bwMode="auto">
          <a:xfrm>
            <a:off x="2771775" y="3933825"/>
            <a:ext cx="3744913" cy="304800"/>
          </a:xfrm>
          <a:prstGeom prst="rect">
            <a:avLst/>
          </a:prstGeom>
          <a:noFill/>
          <a:ln w="9525">
            <a:noFill/>
            <a:miter lim="800000"/>
          </a:ln>
        </p:spPr>
        <p:txBody>
          <a:bodyPr anchor="ctr">
            <a:spAutoFit/>
          </a:bodyPr>
          <a:lstStyle/>
          <a:p>
            <a:pPr eaLnBrk="0" hangingPunct="0"/>
            <a:r>
              <a:rPr lang="zh-CN" altLang="en-US" sz="1400" b="1">
                <a:latin typeface="Times New Roman" panose="02020603050405020304" pitchFamily="18" charset="0"/>
              </a:rPr>
              <a:t>表</a:t>
            </a:r>
            <a:r>
              <a:rPr lang="en-US" altLang="zh-CN" sz="1400" b="1">
                <a:latin typeface="Times New Roman" panose="02020603050405020304" pitchFamily="18" charset="0"/>
              </a:rPr>
              <a:t>8-2 </a:t>
            </a:r>
            <a:r>
              <a:rPr lang="zh-CN" altLang="en-US" sz="1400" b="1">
                <a:latin typeface="Times New Roman" panose="02020603050405020304" pitchFamily="18" charset="0"/>
              </a:rPr>
              <a:t>外围防火墙类别选择问题</a:t>
            </a:r>
            <a:endParaRPr lang="zh-CN" altLang="en-US" sz="1400" b="1"/>
          </a:p>
        </p:txBody>
      </p:sp>
      <p:graphicFrame>
        <p:nvGraphicFramePr>
          <p:cNvPr id="105558" name="Group 86"/>
          <p:cNvGraphicFramePr>
            <a:graphicFrameLocks noGrp="1"/>
          </p:cNvGraphicFramePr>
          <p:nvPr/>
        </p:nvGraphicFramePr>
        <p:xfrm>
          <a:off x="971550" y="4181475"/>
          <a:ext cx="7561263" cy="2682876"/>
        </p:xfrm>
        <a:graphic>
          <a:graphicData uri="http://schemas.openxmlformats.org/drawingml/2006/table">
            <a:tbl>
              <a:tblPr/>
              <a:tblGrid>
                <a:gridCol w="2046288"/>
                <a:gridCol w="5514975"/>
              </a:tblGrid>
              <a:tr h="243898">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问题</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在此位置实现的典型防火墙特征</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206">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安全管理员指定的必需防火墙功能</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这是一个必需安全性级别与功能成本以及增加安全性可能导致的性能下降之间的平衡问题。虽然很多组织想通过外围防火墙得到最高的安全性，但有些组织不想影响性能。例如，不涉及电子商务的高容量网站，在通过使用静态数据包筛选器而不是使用应用程序层筛选而获取较高级别吞吐量的基础上，可能允许较低级别的安全性。</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8770">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该设备是一个专门的物理设备、提供其他功能，还是物理设备上的一个逻辑防火墙</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作为 </a:t>
                      </a: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Internet </a:t>
                      </a: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和企业网络之间的通道，外围防火墙通常实现为专用的设备，这样是为了在该设备被侵入时将攻击的范围和内部网络的可访问性降到最低。</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33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组织的管理体系结构决定了设备的可管理性要求</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通常，需要使用某些形式的记录，一般还同时需要一种事件监视机制。为了防止恶意用户远程管理该设备，此处可能不允许远程管理，而只允许本地管理。</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33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吞吐量要求可能是由组织内部的网络和服务管理员决定的</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这些要求会根据每个环境的不同而发生变化，但是设备或者服务器中的硬件处理能力以及所使用的防火墙功能将决定可用的网络整体吞吐量。</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334">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可用性要求</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作为大型组织通往 </a:t>
                      </a: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Internet </a:t>
                      </a:r>
                      <a:r>
                        <a:rPr kumimoji="0" lang="zh-CN" altLang="en-US"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的通道，通常需要高级的可用性，尤其是当外围防火墙用于保护一个产生营业收入的网站时。</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3820" name="AutoShape 8"/>
          <p:cNvSpPr>
            <a:spLocks noChangeArrowheads="1"/>
          </p:cNvSpPr>
          <p:nvPr/>
        </p:nvSpPr>
        <p:spPr bwMode="auto">
          <a:xfrm>
            <a:off x="363538" y="1073150"/>
            <a:ext cx="8169275" cy="2860675"/>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3"/>
          <p:cNvSpPr>
            <a:spLocks noChangeArrowheads="1"/>
          </p:cNvSpPr>
          <p:nvPr/>
        </p:nvSpPr>
        <p:spPr bwMode="auto">
          <a:xfrm>
            <a:off x="539750" y="1125538"/>
            <a:ext cx="8077200" cy="1295400"/>
          </a:xfrm>
          <a:prstGeom prst="rect">
            <a:avLst/>
          </a:prstGeom>
          <a:noFill/>
          <a:ln w="9525">
            <a:noFill/>
            <a:miter lim="800000"/>
          </a:ln>
        </p:spPr>
        <p:txBody>
          <a:bodyPr/>
          <a:lstStyle/>
          <a:p>
            <a:pPr algn="just">
              <a:spcBef>
                <a:spcPct val="20000"/>
              </a:spcBef>
            </a:pPr>
            <a:r>
              <a:rPr lang="en-US" altLang="zh-CN" b="1">
                <a:solidFill>
                  <a:srgbClr val="CC0000"/>
                </a:solidFill>
              </a:rPr>
              <a:t>  1.</a:t>
            </a:r>
            <a:r>
              <a:rPr lang="zh-CN" altLang="en-US" b="1">
                <a:solidFill>
                  <a:srgbClr val="CC0000"/>
                </a:solidFill>
              </a:rPr>
              <a:t>外围防火墙规则</a:t>
            </a:r>
            <a:endParaRPr lang="zh-CN" altLang="en-US" b="1">
              <a:solidFill>
                <a:srgbClr val="CC0000"/>
              </a:solidFill>
            </a:endParaRPr>
          </a:p>
          <a:p>
            <a:pPr algn="just">
              <a:spcBef>
                <a:spcPct val="20000"/>
              </a:spcBef>
            </a:pPr>
            <a:r>
              <a:rPr lang="en-US" altLang="zh-CN" b="1">
                <a:solidFill>
                  <a:srgbClr val="CC0000"/>
                </a:solidFill>
              </a:rPr>
              <a:t>  2.</a:t>
            </a:r>
            <a:r>
              <a:rPr lang="zh-CN" altLang="en-US" b="1">
                <a:solidFill>
                  <a:srgbClr val="CC0000"/>
                </a:solidFill>
              </a:rPr>
              <a:t>外围防火墙可用性</a:t>
            </a:r>
            <a:endParaRPr lang="zh-CN" altLang="en-US" b="1">
              <a:solidFill>
                <a:srgbClr val="CC0000"/>
              </a:solidFill>
            </a:endParaRPr>
          </a:p>
          <a:p>
            <a:pPr algn="just">
              <a:spcBef>
                <a:spcPct val="20000"/>
              </a:spcBef>
            </a:pPr>
            <a:r>
              <a:rPr lang="zh-CN" altLang="en-US"/>
              <a:t> </a:t>
            </a:r>
            <a:r>
              <a:rPr lang="zh-CN" altLang="en-US" b="1"/>
              <a:t>（</a:t>
            </a:r>
            <a:r>
              <a:rPr lang="en-US" altLang="zh-CN" b="1"/>
              <a:t>1</a:t>
            </a:r>
            <a:r>
              <a:rPr lang="zh-CN" altLang="en-US" b="1"/>
              <a:t>）单个无冗余组件的防火墙</a:t>
            </a:r>
            <a:endParaRPr lang="en-US" altLang="zh-CN" b="1"/>
          </a:p>
        </p:txBody>
      </p:sp>
      <p:sp>
        <p:nvSpPr>
          <p:cNvPr id="34818" name="Rectangle 9"/>
          <p:cNvSpPr>
            <a:spLocks noChangeArrowheads="1"/>
          </p:cNvSpPr>
          <p:nvPr/>
        </p:nvSpPr>
        <p:spPr bwMode="auto">
          <a:xfrm>
            <a:off x="2700338" y="3789363"/>
            <a:ext cx="2770187" cy="304800"/>
          </a:xfrm>
          <a:prstGeom prst="rect">
            <a:avLst/>
          </a:prstGeom>
          <a:noFill/>
          <a:ln w="9525">
            <a:noFill/>
            <a:miter lim="800000"/>
          </a:ln>
        </p:spPr>
        <p:txBody>
          <a:bodyPr wrap="none" anchor="ctr">
            <a:spAutoFit/>
          </a:bodyPr>
          <a:lstStyle/>
          <a:p>
            <a:pPr eaLnBrk="0" hangingPunct="0"/>
            <a:r>
              <a:rPr lang="zh-CN" altLang="en-US" sz="1400" b="1"/>
              <a:t>图</a:t>
            </a:r>
            <a:r>
              <a:rPr lang="en-US" altLang="zh-CN" sz="1400" b="1"/>
              <a:t>8-13 </a:t>
            </a:r>
            <a:r>
              <a:rPr lang="zh-CN" altLang="en-US" sz="1400" b="1"/>
              <a:t>单个无冗余组件的防火墙</a:t>
            </a:r>
            <a:r>
              <a:rPr lang="zh-CN" altLang="en-US" sz="1400"/>
              <a:t> </a:t>
            </a:r>
            <a:endParaRPr lang="zh-CN" altLang="en-US" sz="1400"/>
          </a:p>
        </p:txBody>
      </p:sp>
      <p:sp>
        <p:nvSpPr>
          <p:cNvPr id="34819" name="Rectangle 2"/>
          <p:cNvSpPr>
            <a:spLocks noChangeArrowheads="1"/>
          </p:cNvSpPr>
          <p:nvPr/>
        </p:nvSpPr>
        <p:spPr bwMode="auto">
          <a:xfrm>
            <a:off x="14033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 </a:t>
            </a:r>
            <a:r>
              <a:rPr lang="zh-CN" altLang="en-US" sz="3600" b="1">
                <a:solidFill>
                  <a:schemeClr val="bg1"/>
                </a:solidFill>
                <a:latin typeface="Verdana" panose="020B0604030504040204" pitchFamily="34" charset="0"/>
              </a:rPr>
              <a:t>防火墙的主要应用</a:t>
            </a:r>
            <a:endParaRPr lang="zh-CN" altLang="en-US" sz="3600" b="1">
              <a:solidFill>
                <a:schemeClr val="bg1"/>
              </a:solidFill>
              <a:latin typeface="Verdana" panose="020B0604030504040204" pitchFamily="34" charset="0"/>
            </a:endParaRPr>
          </a:p>
        </p:txBody>
      </p:sp>
      <p:sp>
        <p:nvSpPr>
          <p:cNvPr id="34820" name="Rectangle 10"/>
          <p:cNvSpPr>
            <a:spLocks noChangeArrowheads="1"/>
          </p:cNvSpPr>
          <p:nvPr/>
        </p:nvSpPr>
        <p:spPr bwMode="auto">
          <a:xfrm>
            <a:off x="0" y="3019425"/>
            <a:ext cx="9144000" cy="0"/>
          </a:xfrm>
          <a:prstGeom prst="rect">
            <a:avLst/>
          </a:prstGeom>
          <a:noFill/>
          <a:ln w="9525">
            <a:noFill/>
            <a:miter lim="800000"/>
          </a:ln>
        </p:spPr>
        <p:txBody>
          <a:bodyPr wrap="none" anchor="ctr">
            <a:spAutoFit/>
          </a:bodyPr>
          <a:lstStyle/>
          <a:p>
            <a:endParaRPr lang="zh-CN" altLang="en-US" b="1"/>
          </a:p>
        </p:txBody>
      </p:sp>
      <p:graphicFrame>
        <p:nvGraphicFramePr>
          <p:cNvPr id="34821" name="Object 9"/>
          <p:cNvGraphicFramePr>
            <a:graphicFrameLocks noChangeAspect="1"/>
          </p:cNvGraphicFramePr>
          <p:nvPr/>
        </p:nvGraphicFramePr>
        <p:xfrm>
          <a:off x="900113" y="2420938"/>
          <a:ext cx="7056437" cy="1439862"/>
        </p:xfrm>
        <a:graphic>
          <a:graphicData uri="http://schemas.openxmlformats.org/presentationml/2006/ole">
            <mc:AlternateContent xmlns:mc="http://schemas.openxmlformats.org/markup-compatibility/2006">
              <mc:Choice xmlns:v="urn:schemas-microsoft-com:vml" Requires="v">
                <p:oleObj spid="_x0000_s16473" name="" r:id="rId1" imgW="7969885" imgH="1793240" progId="">
                  <p:embed/>
                </p:oleObj>
              </mc:Choice>
              <mc:Fallback>
                <p:oleObj name="" r:id="rId1" imgW="7969885" imgH="1793240" progId="">
                  <p:embed/>
                  <p:pic>
                    <p:nvPicPr>
                      <p:cNvPr id="0" name="Object 9"/>
                      <p:cNvPicPr>
                        <a:picLocks noChangeAspect="1"/>
                      </p:cNvPicPr>
                      <p:nvPr/>
                    </p:nvPicPr>
                    <p:blipFill>
                      <a:blip r:embed="rId2"/>
                      <a:stretch>
                        <a:fillRect/>
                      </a:stretch>
                    </p:blipFill>
                    <p:spPr>
                      <a:xfrm>
                        <a:off x="900113" y="2420938"/>
                        <a:ext cx="7056437" cy="1439862"/>
                      </a:xfrm>
                      <a:prstGeom prst="rect">
                        <a:avLst/>
                      </a:prstGeom>
                      <a:noFill/>
                      <a:ln w="38100">
                        <a:noFill/>
                      </a:ln>
                    </p:spPr>
                  </p:pic>
                </p:oleObj>
              </mc:Fallback>
            </mc:AlternateContent>
          </a:graphicData>
        </a:graphic>
      </p:graphicFrame>
      <p:sp>
        <p:nvSpPr>
          <p:cNvPr id="34822" name="Rectangle 8"/>
          <p:cNvSpPr>
            <a:spLocks noChangeArrowheads="1"/>
          </p:cNvSpPr>
          <p:nvPr/>
        </p:nvSpPr>
        <p:spPr bwMode="auto">
          <a:xfrm>
            <a:off x="2771775" y="6381750"/>
            <a:ext cx="2770188" cy="304800"/>
          </a:xfrm>
          <a:prstGeom prst="rect">
            <a:avLst/>
          </a:prstGeom>
          <a:noFill/>
          <a:ln w="9525">
            <a:noFill/>
            <a:miter lim="800000"/>
          </a:ln>
        </p:spPr>
        <p:txBody>
          <a:bodyPr wrap="none" anchor="ctr">
            <a:spAutoFit/>
          </a:bodyPr>
          <a:lstStyle/>
          <a:p>
            <a:pPr eaLnBrk="0" hangingPunct="0"/>
            <a:r>
              <a:rPr lang="zh-CN" altLang="en-US" sz="1400" b="1"/>
              <a:t>图</a:t>
            </a:r>
            <a:r>
              <a:rPr lang="en-US" altLang="zh-CN" sz="1400" b="1"/>
              <a:t>8-14 </a:t>
            </a:r>
            <a:r>
              <a:rPr lang="zh-CN" altLang="en-US" sz="1400" b="1"/>
              <a:t>单个带冗余组件的防火墙 </a:t>
            </a:r>
            <a:endParaRPr lang="zh-CN" altLang="en-US" sz="1400" b="1"/>
          </a:p>
        </p:txBody>
      </p:sp>
      <p:graphicFrame>
        <p:nvGraphicFramePr>
          <p:cNvPr id="34823" name="Object 12"/>
          <p:cNvGraphicFramePr>
            <a:graphicFrameLocks noChangeAspect="1"/>
          </p:cNvGraphicFramePr>
          <p:nvPr/>
        </p:nvGraphicFramePr>
        <p:xfrm>
          <a:off x="684213" y="4691063"/>
          <a:ext cx="7200900" cy="1690687"/>
        </p:xfrm>
        <a:graphic>
          <a:graphicData uri="http://schemas.openxmlformats.org/presentationml/2006/ole">
            <mc:AlternateContent xmlns:mc="http://schemas.openxmlformats.org/markup-compatibility/2006">
              <mc:Choice xmlns:v="urn:schemas-microsoft-com:vml" Requires="v">
                <p:oleObj spid="_x0000_s16474" name="" r:id="rId3" imgW="7969885" imgH="2026285" progId="">
                  <p:embed/>
                </p:oleObj>
              </mc:Choice>
              <mc:Fallback>
                <p:oleObj name="" r:id="rId3" imgW="7969885" imgH="2026285" progId="">
                  <p:embed/>
                  <p:pic>
                    <p:nvPicPr>
                      <p:cNvPr id="0" name="Object 12"/>
                      <p:cNvPicPr>
                        <a:picLocks noChangeAspect="1"/>
                      </p:cNvPicPr>
                      <p:nvPr/>
                    </p:nvPicPr>
                    <p:blipFill>
                      <a:blip r:embed="rId4"/>
                      <a:stretch>
                        <a:fillRect/>
                      </a:stretch>
                    </p:blipFill>
                    <p:spPr>
                      <a:xfrm>
                        <a:off x="684213" y="4691063"/>
                        <a:ext cx="7200900" cy="1690687"/>
                      </a:xfrm>
                      <a:prstGeom prst="rect">
                        <a:avLst/>
                      </a:prstGeom>
                      <a:noFill/>
                      <a:ln w="38100">
                        <a:noFill/>
                      </a:ln>
                    </p:spPr>
                  </p:pic>
                </p:oleObj>
              </mc:Fallback>
            </mc:AlternateContent>
          </a:graphicData>
        </a:graphic>
      </p:graphicFrame>
      <p:sp>
        <p:nvSpPr>
          <p:cNvPr id="34824" name="Rectangle 3"/>
          <p:cNvSpPr>
            <a:spLocks noChangeArrowheads="1"/>
          </p:cNvSpPr>
          <p:nvPr/>
        </p:nvSpPr>
        <p:spPr bwMode="auto">
          <a:xfrm>
            <a:off x="684213" y="4149725"/>
            <a:ext cx="4899025" cy="549275"/>
          </a:xfrm>
          <a:prstGeom prst="rect">
            <a:avLst/>
          </a:prstGeom>
          <a:noFill/>
          <a:ln w="9525">
            <a:noFill/>
            <a:miter lim="800000"/>
          </a:ln>
        </p:spPr>
        <p:txBody>
          <a:bodyPr/>
          <a:lstStyle/>
          <a:p>
            <a:pPr algn="just">
              <a:spcBef>
                <a:spcPct val="20000"/>
              </a:spcBef>
            </a:pPr>
            <a:r>
              <a:rPr lang="zh-CN" altLang="en-US" b="1"/>
              <a:t>（</a:t>
            </a:r>
            <a:r>
              <a:rPr lang="en-US" altLang="zh-CN" b="1"/>
              <a:t>2</a:t>
            </a:r>
            <a:r>
              <a:rPr lang="zh-CN" altLang="en-US" b="1"/>
              <a:t>）单个带冗余组件的防火墙</a:t>
            </a:r>
            <a:endParaRPr lang="zh-CN" altLang="en-US" b="1"/>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5842" name="Rectangle 3"/>
          <p:cNvSpPr>
            <a:spLocks noChangeArrowheads="1"/>
          </p:cNvSpPr>
          <p:nvPr/>
        </p:nvSpPr>
        <p:spPr bwMode="auto">
          <a:xfrm>
            <a:off x="609600" y="1295400"/>
            <a:ext cx="8077200" cy="5257800"/>
          </a:xfrm>
          <a:prstGeom prst="rect">
            <a:avLst/>
          </a:prstGeom>
          <a:noFill/>
          <a:ln w="9525">
            <a:noFill/>
            <a:miter lim="800000"/>
          </a:ln>
        </p:spPr>
        <p:txBody>
          <a:bodyPr/>
          <a:lstStyle/>
          <a:p>
            <a:r>
              <a:rPr lang="zh-CN" altLang="en-US" sz="3200" b="1"/>
              <a:t>（</a:t>
            </a:r>
            <a:r>
              <a:rPr lang="en-US" altLang="zh-CN" sz="3200" b="1"/>
              <a:t>3</a:t>
            </a:r>
            <a:r>
              <a:rPr lang="zh-CN" altLang="en-US" sz="3200" b="1"/>
              <a:t>）容错防火墙</a:t>
            </a:r>
            <a:endParaRPr lang="zh-CN" altLang="en-US" sz="3200" b="1"/>
          </a:p>
        </p:txBody>
      </p:sp>
      <p:sp>
        <p:nvSpPr>
          <p:cNvPr id="35843" name="Rectangle 11"/>
          <p:cNvSpPr>
            <a:spLocks noChangeArrowheads="1"/>
          </p:cNvSpPr>
          <p:nvPr/>
        </p:nvSpPr>
        <p:spPr bwMode="auto">
          <a:xfrm>
            <a:off x="3492500" y="4667250"/>
            <a:ext cx="1933575" cy="336550"/>
          </a:xfrm>
          <a:prstGeom prst="rect">
            <a:avLst/>
          </a:prstGeom>
          <a:noFill/>
          <a:ln w="9525">
            <a:noFill/>
            <a:miter lim="800000"/>
          </a:ln>
        </p:spPr>
        <p:txBody>
          <a:bodyPr wrap="none" anchor="ctr">
            <a:spAutoFit/>
          </a:bodyPr>
          <a:lstStyle/>
          <a:p>
            <a:pPr eaLnBrk="0" hangingPunct="0"/>
            <a:r>
              <a:rPr lang="zh-CN" altLang="en-US" sz="1600" b="1"/>
              <a:t>图</a:t>
            </a:r>
            <a:r>
              <a:rPr lang="en-US" altLang="zh-CN" sz="1600" b="1"/>
              <a:t>8-15 </a:t>
            </a:r>
            <a:r>
              <a:rPr lang="zh-CN" altLang="en-US" sz="1600" b="1"/>
              <a:t>容错防火墙 </a:t>
            </a:r>
            <a:endParaRPr lang="zh-CN" altLang="en-US" sz="1600" b="1"/>
          </a:p>
        </p:txBody>
      </p:sp>
      <p:sp>
        <p:nvSpPr>
          <p:cNvPr id="35844" name="Rectangle 2"/>
          <p:cNvSpPr>
            <a:spLocks noChangeArrowheads="1"/>
          </p:cNvSpPr>
          <p:nvPr/>
        </p:nvSpPr>
        <p:spPr bwMode="auto">
          <a:xfrm>
            <a:off x="1403350" y="260350"/>
            <a:ext cx="6562725"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 </a:t>
            </a:r>
            <a:r>
              <a:rPr lang="zh-CN" altLang="en-US" sz="3600" b="1">
                <a:solidFill>
                  <a:schemeClr val="bg1"/>
                </a:solidFill>
                <a:latin typeface="Verdana" panose="020B0604030504040204" pitchFamily="34" charset="0"/>
              </a:rPr>
              <a:t>防火墙的主要应用</a:t>
            </a:r>
            <a:endParaRPr lang="zh-CN" altLang="en-US" sz="3600" b="1">
              <a:solidFill>
                <a:schemeClr val="bg1"/>
              </a:solidFill>
              <a:latin typeface="Verdana" panose="020B0604030504040204" pitchFamily="34" charset="0"/>
            </a:endParaRPr>
          </a:p>
        </p:txBody>
      </p:sp>
      <p:sp>
        <p:nvSpPr>
          <p:cNvPr id="35845" name="Rectangle 10"/>
          <p:cNvSpPr>
            <a:spLocks noChangeArrowheads="1"/>
          </p:cNvSpPr>
          <p:nvPr/>
        </p:nvSpPr>
        <p:spPr bwMode="auto">
          <a:xfrm>
            <a:off x="0" y="2843213"/>
            <a:ext cx="9144000" cy="0"/>
          </a:xfrm>
          <a:prstGeom prst="rect">
            <a:avLst/>
          </a:prstGeom>
          <a:noFill/>
          <a:ln w="9525">
            <a:noFill/>
            <a:miter lim="800000"/>
          </a:ln>
        </p:spPr>
        <p:txBody>
          <a:bodyPr wrap="none" anchor="ctr">
            <a:spAutoFit/>
          </a:bodyPr>
          <a:lstStyle/>
          <a:p>
            <a:endParaRPr lang="zh-CN" altLang="en-US" b="1"/>
          </a:p>
        </p:txBody>
      </p:sp>
      <p:graphicFrame>
        <p:nvGraphicFramePr>
          <p:cNvPr id="35846" name="Object 9"/>
          <p:cNvGraphicFramePr>
            <a:graphicFrameLocks noChangeAspect="1"/>
          </p:cNvGraphicFramePr>
          <p:nvPr/>
        </p:nvGraphicFramePr>
        <p:xfrm>
          <a:off x="684213" y="1916113"/>
          <a:ext cx="7775575" cy="2449512"/>
        </p:xfrm>
        <a:graphic>
          <a:graphicData uri="http://schemas.openxmlformats.org/presentationml/2006/ole">
            <mc:AlternateContent xmlns:mc="http://schemas.openxmlformats.org/markup-compatibility/2006">
              <mc:Choice xmlns:v="urn:schemas-microsoft-com:vml" Requires="v">
                <p:oleObj spid="_x0000_s17453" name="" r:id="rId1" imgW="9350375" imgH="2931160" progId="">
                  <p:embed/>
                </p:oleObj>
              </mc:Choice>
              <mc:Fallback>
                <p:oleObj name="" r:id="rId1" imgW="9350375" imgH="2931160" progId="">
                  <p:embed/>
                  <p:pic>
                    <p:nvPicPr>
                      <p:cNvPr id="0" name="Object 9"/>
                      <p:cNvPicPr>
                        <a:picLocks noChangeAspect="1"/>
                      </p:cNvPicPr>
                      <p:nvPr/>
                    </p:nvPicPr>
                    <p:blipFill>
                      <a:blip r:embed="rId2"/>
                      <a:stretch>
                        <a:fillRect/>
                      </a:stretch>
                    </p:blipFill>
                    <p:spPr>
                      <a:xfrm>
                        <a:off x="684213" y="1916113"/>
                        <a:ext cx="7775575" cy="2449512"/>
                      </a:xfrm>
                      <a:prstGeom prst="rect">
                        <a:avLst/>
                      </a:prstGeom>
                      <a:noFill/>
                      <a:ln w="38100">
                        <a:noFill/>
                      </a:ln>
                    </p:spPr>
                  </p:pic>
                </p:oleObj>
              </mc:Fallback>
            </mc:AlternateContent>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6866" name="Rectangle 3"/>
          <p:cNvSpPr>
            <a:spLocks noChangeArrowheads="1"/>
          </p:cNvSpPr>
          <p:nvPr/>
        </p:nvSpPr>
        <p:spPr bwMode="auto">
          <a:xfrm>
            <a:off x="609600" y="1295400"/>
            <a:ext cx="8077200" cy="4725988"/>
          </a:xfrm>
          <a:prstGeom prst="rect">
            <a:avLst/>
          </a:prstGeom>
          <a:noFill/>
          <a:ln w="9525">
            <a:noFill/>
            <a:miter lim="800000"/>
          </a:ln>
        </p:spPr>
        <p:txBody>
          <a:bodyPr/>
          <a:lstStyle/>
          <a:p>
            <a:pPr algn="just">
              <a:spcBef>
                <a:spcPct val="20000"/>
              </a:spcBef>
            </a:pPr>
            <a:r>
              <a:rPr lang="en-US" altLang="zh-CN" sz="2800" b="1">
                <a:solidFill>
                  <a:srgbClr val="CC0000"/>
                </a:solidFill>
              </a:rPr>
              <a:t>1</a:t>
            </a:r>
            <a:r>
              <a:rPr lang="zh-CN" altLang="en-US" sz="2800" b="1">
                <a:solidFill>
                  <a:srgbClr val="CC0000"/>
                </a:solidFill>
              </a:rPr>
              <a:t>．</a:t>
            </a:r>
            <a:r>
              <a:rPr lang="en-US" altLang="zh-CN" sz="2800" b="1">
                <a:solidFill>
                  <a:srgbClr val="CC0000"/>
                </a:solidFill>
              </a:rPr>
              <a:t>SYN Flood</a:t>
            </a:r>
            <a:r>
              <a:rPr lang="zh-CN" altLang="en-US" sz="2800" b="1">
                <a:solidFill>
                  <a:srgbClr val="CC0000"/>
                </a:solidFill>
              </a:rPr>
              <a:t>攻击原理</a:t>
            </a:r>
            <a:endParaRPr lang="zh-CN" altLang="en-US" sz="2800" b="1">
              <a:solidFill>
                <a:srgbClr val="CC0000"/>
              </a:solidFill>
            </a:endParaRPr>
          </a:p>
          <a:p>
            <a:pPr algn="just">
              <a:spcBef>
                <a:spcPct val="20000"/>
              </a:spcBef>
            </a:pPr>
            <a:r>
              <a:rPr lang="en-US" altLang="zh-CN" sz="2800" b="1"/>
              <a:t>      SYN Flood</a:t>
            </a:r>
            <a:r>
              <a:rPr lang="zh-CN" altLang="en-US" sz="2800" b="1"/>
              <a:t>攻击所利用的是</a:t>
            </a:r>
            <a:r>
              <a:rPr lang="en-US" altLang="zh-CN" sz="2800" b="1"/>
              <a:t>TCP</a:t>
            </a:r>
            <a:r>
              <a:rPr lang="zh-CN" altLang="en-US" sz="2800" b="1"/>
              <a:t>协议存在的漏洞。</a:t>
            </a:r>
            <a:r>
              <a:rPr lang="en-US" altLang="zh-CN" sz="2800" b="1">
                <a:solidFill>
                  <a:srgbClr val="990033"/>
                </a:solidFill>
              </a:rPr>
              <a:t>TCP</a:t>
            </a:r>
            <a:r>
              <a:rPr lang="zh-CN" altLang="en-US" sz="2800" b="1">
                <a:solidFill>
                  <a:srgbClr val="990033"/>
                </a:solidFill>
              </a:rPr>
              <a:t>协议</a:t>
            </a:r>
            <a:r>
              <a:rPr lang="zh-CN" altLang="en-US" sz="2800" b="1"/>
              <a:t>是</a:t>
            </a:r>
            <a:r>
              <a:rPr lang="zh-CN" altLang="en-US" sz="2800" b="1">
                <a:solidFill>
                  <a:srgbClr val="990033"/>
                </a:solidFill>
              </a:rPr>
              <a:t>面向连接的</a:t>
            </a:r>
            <a:r>
              <a:rPr lang="zh-CN" altLang="en-US" sz="2800" b="1"/>
              <a:t>，在每次发送数据以前，都会在服务器与客户端之间先虚拟出一条路线，称</a:t>
            </a:r>
            <a:r>
              <a:rPr lang="en-US" altLang="zh-CN" sz="2800" b="1">
                <a:solidFill>
                  <a:srgbClr val="990033"/>
                </a:solidFill>
              </a:rPr>
              <a:t>TCP</a:t>
            </a:r>
            <a:r>
              <a:rPr lang="zh-CN" altLang="en-US" sz="2800" b="1">
                <a:solidFill>
                  <a:srgbClr val="990033"/>
                </a:solidFill>
              </a:rPr>
              <a:t>连接</a:t>
            </a:r>
            <a:r>
              <a:rPr lang="zh-CN" altLang="en-US" sz="2800" b="1"/>
              <a:t>，以后的各数据通信都经由该路线进行，直到本次</a:t>
            </a:r>
            <a:r>
              <a:rPr lang="en-US" altLang="zh-CN" sz="2800" b="1"/>
              <a:t>TCP</a:t>
            </a:r>
            <a:r>
              <a:rPr lang="zh-CN" altLang="en-US" sz="2800" b="1"/>
              <a:t>连接结束。而</a:t>
            </a:r>
            <a:r>
              <a:rPr lang="en-US" altLang="zh-CN" sz="2800" b="1">
                <a:solidFill>
                  <a:srgbClr val="990033"/>
                </a:solidFill>
              </a:rPr>
              <a:t>UDP</a:t>
            </a:r>
            <a:r>
              <a:rPr lang="zh-CN" altLang="en-US" sz="2800" b="1">
                <a:solidFill>
                  <a:srgbClr val="990033"/>
                </a:solidFill>
              </a:rPr>
              <a:t>协议</a:t>
            </a:r>
            <a:r>
              <a:rPr lang="zh-CN" altLang="en-US" sz="2800" b="1"/>
              <a:t>则是无连接的协议，基于</a:t>
            </a:r>
            <a:r>
              <a:rPr lang="en-US" altLang="zh-CN" sz="2800" b="1"/>
              <a:t>UDP</a:t>
            </a:r>
            <a:r>
              <a:rPr lang="zh-CN" altLang="en-US" sz="2800" b="1"/>
              <a:t>协议的通信，各数据报并不经由相同的路线。在整个</a:t>
            </a:r>
            <a:r>
              <a:rPr lang="en-US" altLang="zh-CN" sz="2800" b="1"/>
              <a:t>TCP</a:t>
            </a:r>
            <a:r>
              <a:rPr lang="zh-CN" altLang="en-US" sz="2800" b="1"/>
              <a:t>连接中需要经过三次协商，俗称“</a:t>
            </a:r>
            <a:r>
              <a:rPr lang="zh-CN" altLang="en-US" sz="2800" b="1">
                <a:solidFill>
                  <a:srgbClr val="990033"/>
                </a:solidFill>
              </a:rPr>
              <a:t>三次握手</a:t>
            </a:r>
            <a:r>
              <a:rPr lang="zh-CN" altLang="en-US" sz="2800" b="1"/>
              <a:t>”来完成。</a:t>
            </a:r>
            <a:r>
              <a:rPr lang="zh-CN" altLang="en-US" sz="2800"/>
              <a:t> </a:t>
            </a:r>
            <a:endParaRPr lang="zh-CN" altLang="en-US" sz="2800"/>
          </a:p>
        </p:txBody>
      </p:sp>
      <p:pic>
        <p:nvPicPr>
          <p:cNvPr id="36867" name="Picture 6" descr="j0234657"/>
          <p:cNvPicPr>
            <a:picLocks noChangeAspect="1" noChangeArrowheads="1"/>
          </p:cNvPicPr>
          <p:nvPr/>
        </p:nvPicPr>
        <p:blipFill>
          <a:blip r:embed="rId1" cstate="print"/>
          <a:srcRect/>
          <a:stretch>
            <a:fillRect/>
          </a:stretch>
        </p:blipFill>
        <p:spPr bwMode="auto">
          <a:xfrm>
            <a:off x="6084888" y="5445125"/>
            <a:ext cx="1217612" cy="1185863"/>
          </a:xfrm>
          <a:prstGeom prst="rect">
            <a:avLst/>
          </a:prstGeom>
          <a:noFill/>
          <a:ln w="9525">
            <a:noFill/>
            <a:miter lim="800000"/>
            <a:headEnd/>
            <a:tailEnd/>
          </a:ln>
        </p:spPr>
      </p:pic>
      <p:sp>
        <p:nvSpPr>
          <p:cNvPr id="36868" name="Rectangle 2"/>
          <p:cNvSpPr>
            <a:spLocks noChangeArrowheads="1"/>
          </p:cNvSpPr>
          <p:nvPr/>
        </p:nvSpPr>
        <p:spPr bwMode="auto">
          <a:xfrm>
            <a:off x="533400" y="198438"/>
            <a:ext cx="8153400" cy="563562"/>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8.3.4 </a:t>
            </a:r>
            <a:r>
              <a:rPr lang="zh-CN" altLang="en-US" sz="3600" b="1">
                <a:solidFill>
                  <a:schemeClr val="bg1"/>
                </a:solidFill>
                <a:latin typeface="Verdana" panose="020B0604030504040204" pitchFamily="34" charset="0"/>
              </a:rPr>
              <a:t>用防火墙阻止</a:t>
            </a:r>
            <a:r>
              <a:rPr lang="en-US" altLang="zh-CN" sz="3600" b="1">
                <a:solidFill>
                  <a:schemeClr val="bg1"/>
                </a:solidFill>
                <a:latin typeface="Verdana" panose="020B0604030504040204" pitchFamily="34" charset="0"/>
              </a:rPr>
              <a:t>SYN Flood</a:t>
            </a:r>
            <a:r>
              <a:rPr lang="zh-CN" altLang="en-US" sz="3600" b="1">
                <a:solidFill>
                  <a:schemeClr val="bg1"/>
                </a:solidFill>
                <a:latin typeface="Verdana" panose="020B0604030504040204" pitchFamily="34" charset="0"/>
              </a:rPr>
              <a:t>攻击</a:t>
            </a:r>
            <a:endParaRPr lang="zh-CN" altLang="en-US" sz="3600" b="1">
              <a:solidFill>
                <a:schemeClr val="bg1"/>
              </a:solidFill>
              <a:latin typeface="Verdana" panose="020B0604030504040204" pitchFamily="34" charset="0"/>
            </a:endParaRPr>
          </a:p>
        </p:txBody>
      </p:sp>
      <p:sp>
        <p:nvSpPr>
          <p:cNvPr id="36869" name="AutoShape 8"/>
          <p:cNvSpPr>
            <a:spLocks noChangeArrowheads="1"/>
          </p:cNvSpPr>
          <p:nvPr/>
        </p:nvSpPr>
        <p:spPr bwMode="auto">
          <a:xfrm>
            <a:off x="487363"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7890" name="Rectangle 3"/>
          <p:cNvSpPr>
            <a:spLocks noChangeArrowheads="1"/>
          </p:cNvSpPr>
          <p:nvPr/>
        </p:nvSpPr>
        <p:spPr bwMode="auto">
          <a:xfrm>
            <a:off x="609600" y="1295400"/>
            <a:ext cx="8077200" cy="2997200"/>
          </a:xfrm>
          <a:prstGeom prst="rect">
            <a:avLst/>
          </a:prstGeom>
          <a:noFill/>
          <a:ln w="9525">
            <a:noFill/>
            <a:miter lim="800000"/>
          </a:ln>
        </p:spPr>
        <p:txBody>
          <a:bodyPr/>
          <a:lstStyle/>
          <a:p>
            <a:pPr eaLnBrk="0" hangingPunct="0">
              <a:spcBef>
                <a:spcPct val="20000"/>
              </a:spcBef>
            </a:pPr>
            <a:r>
              <a:rPr lang="zh-CN" altLang="en-US" sz="2200" b="1"/>
              <a:t>      第一次：客户端发送一个带有</a:t>
            </a:r>
            <a:r>
              <a:rPr lang="en-US" altLang="zh-CN" sz="2200" b="1"/>
              <a:t>SYN</a:t>
            </a:r>
            <a:r>
              <a:rPr lang="zh-CN" altLang="en-US" sz="2200" b="1"/>
              <a:t>标记的</a:t>
            </a:r>
            <a:r>
              <a:rPr lang="en-US" altLang="zh-CN" sz="2200" b="1"/>
              <a:t>TCP</a:t>
            </a:r>
            <a:r>
              <a:rPr lang="zh-CN" altLang="en-US" sz="2200" b="1"/>
              <a:t>报文到服务端</a:t>
            </a:r>
            <a:r>
              <a:rPr lang="en-US" altLang="zh-CN" sz="2200" b="1"/>
              <a:t>,</a:t>
            </a:r>
            <a:r>
              <a:rPr lang="zh-CN" altLang="en-US" sz="2200" b="1"/>
              <a:t>正式开始</a:t>
            </a:r>
            <a:r>
              <a:rPr lang="en-US" altLang="zh-CN" sz="2200" b="1"/>
              <a:t>TCP</a:t>
            </a:r>
            <a:r>
              <a:rPr lang="zh-CN" altLang="en-US" sz="2200" b="1"/>
              <a:t>连接请求。在发送的报文中指定了自己所用的端口号以及</a:t>
            </a:r>
            <a:r>
              <a:rPr lang="en-US" altLang="zh-CN" sz="2200" b="1"/>
              <a:t>TCP</a:t>
            </a:r>
            <a:r>
              <a:rPr lang="zh-CN" altLang="en-US" sz="2200" b="1"/>
              <a:t>连接初始序号等信息。</a:t>
            </a:r>
            <a:endParaRPr lang="zh-CN" altLang="en-US" sz="2200" b="1"/>
          </a:p>
          <a:p>
            <a:pPr eaLnBrk="0" hangingPunct="0">
              <a:spcBef>
                <a:spcPct val="20000"/>
              </a:spcBef>
            </a:pPr>
            <a:r>
              <a:rPr lang="zh-CN" altLang="en-US" sz="2200" b="1"/>
              <a:t>      第二次：服务器端在接收到来自客户端的请求之后</a:t>
            </a:r>
            <a:r>
              <a:rPr lang="en-US" altLang="zh-CN" sz="2200" b="1"/>
              <a:t>,</a:t>
            </a:r>
            <a:r>
              <a:rPr lang="zh-CN" altLang="en-US" sz="2200" b="1"/>
              <a:t>返回一个带有</a:t>
            </a:r>
            <a:r>
              <a:rPr lang="en-US" altLang="zh-CN" sz="2200" b="1"/>
              <a:t>SYN+ACK</a:t>
            </a:r>
            <a:r>
              <a:rPr lang="zh-CN" altLang="en-US" sz="2200" b="1"/>
              <a:t>标记的报文，表示接受连接</a:t>
            </a:r>
            <a:r>
              <a:rPr lang="en-US" altLang="zh-CN" sz="2200" b="1"/>
              <a:t>,</a:t>
            </a:r>
            <a:r>
              <a:rPr lang="zh-CN" altLang="en-US" sz="2200" b="1"/>
              <a:t>并将</a:t>
            </a:r>
            <a:r>
              <a:rPr lang="en-US" altLang="zh-CN" sz="2200" b="1"/>
              <a:t>TCP</a:t>
            </a:r>
            <a:r>
              <a:rPr lang="zh-CN" altLang="en-US" sz="2200" b="1"/>
              <a:t>序号加</a:t>
            </a:r>
            <a:r>
              <a:rPr lang="en-US" altLang="zh-CN" sz="2200" b="1"/>
              <a:t>l</a:t>
            </a:r>
            <a:r>
              <a:rPr lang="zh-CN" altLang="en-US" sz="2200" b="1"/>
              <a:t>。</a:t>
            </a:r>
            <a:endParaRPr lang="zh-CN" altLang="en-US" sz="2200" b="1"/>
          </a:p>
          <a:p>
            <a:pPr eaLnBrk="0" hangingPunct="0">
              <a:spcBef>
                <a:spcPct val="20000"/>
              </a:spcBef>
            </a:pPr>
            <a:r>
              <a:rPr lang="zh-CN" altLang="en-US" sz="2200" b="1"/>
              <a:t>      第三次：客户端接收到来自服务器端的确认信息后</a:t>
            </a:r>
            <a:r>
              <a:rPr lang="en-US" altLang="zh-CN" sz="2200" b="1"/>
              <a:t>,</a:t>
            </a:r>
            <a:r>
              <a:rPr lang="zh-CN" altLang="en-US" sz="2200" b="1"/>
              <a:t>也返回一个带有</a:t>
            </a:r>
            <a:r>
              <a:rPr lang="en-US" altLang="zh-CN" sz="2200" b="1"/>
              <a:t>ACK</a:t>
            </a:r>
            <a:r>
              <a:rPr lang="zh-CN" altLang="en-US" sz="2200" b="1"/>
              <a:t>标记的报文</a:t>
            </a:r>
            <a:r>
              <a:rPr lang="en-US" altLang="zh-CN" sz="2200" b="1"/>
              <a:t>,</a:t>
            </a:r>
            <a:r>
              <a:rPr lang="zh-CN" altLang="en-US" sz="2200" b="1"/>
              <a:t>表示已接收到来自服务器端的确认信息</a:t>
            </a:r>
            <a:r>
              <a:rPr lang="en-US" altLang="zh-CN" sz="2200" b="1"/>
              <a:t>.</a:t>
            </a:r>
            <a:r>
              <a:rPr lang="zh-CN" altLang="en-US" sz="2200" b="1"/>
              <a:t>服务器端在得到该数据报文后</a:t>
            </a:r>
            <a:r>
              <a:rPr lang="en-US" altLang="zh-CN" sz="2200" b="1"/>
              <a:t>,</a:t>
            </a:r>
            <a:r>
              <a:rPr lang="zh-CN" altLang="en-US" sz="2200" b="1"/>
              <a:t>一个</a:t>
            </a:r>
            <a:r>
              <a:rPr lang="en-US" altLang="zh-CN" sz="2200" b="1"/>
              <a:t>TCP</a:t>
            </a:r>
            <a:r>
              <a:rPr lang="zh-CN" altLang="en-US" sz="2200" b="1"/>
              <a:t>连接才算真正建立起来</a:t>
            </a:r>
            <a:r>
              <a:rPr lang="en-US" altLang="zh-CN" sz="2200" b="1"/>
              <a:t>.</a:t>
            </a:r>
            <a:endParaRPr lang="en-US" altLang="zh-CN" sz="2200" b="1"/>
          </a:p>
        </p:txBody>
      </p:sp>
      <p:pic>
        <p:nvPicPr>
          <p:cNvPr id="37891" name="Picture 6" descr="j0300520"/>
          <p:cNvPicPr>
            <a:picLocks noChangeAspect="1" noChangeArrowheads="1"/>
          </p:cNvPicPr>
          <p:nvPr/>
        </p:nvPicPr>
        <p:blipFill>
          <a:blip r:embed="rId1" cstate="print"/>
          <a:srcRect/>
          <a:stretch>
            <a:fillRect/>
          </a:stretch>
        </p:blipFill>
        <p:spPr bwMode="auto">
          <a:xfrm>
            <a:off x="7596188" y="5516563"/>
            <a:ext cx="1150937" cy="925512"/>
          </a:xfrm>
          <a:prstGeom prst="rect">
            <a:avLst/>
          </a:prstGeom>
          <a:noFill/>
          <a:ln w="9525">
            <a:noFill/>
            <a:miter lim="800000"/>
            <a:headEnd/>
            <a:tailEnd/>
          </a:ln>
        </p:spPr>
      </p:pic>
      <p:sp>
        <p:nvSpPr>
          <p:cNvPr id="37892" name="Rectangle 2"/>
          <p:cNvSpPr>
            <a:spLocks noChangeArrowheads="1"/>
          </p:cNvSpPr>
          <p:nvPr/>
        </p:nvSpPr>
        <p:spPr bwMode="auto">
          <a:xfrm>
            <a:off x="381000" y="260350"/>
            <a:ext cx="82296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8.3.4 </a:t>
            </a:r>
            <a:r>
              <a:rPr lang="zh-CN" altLang="en-US" sz="3600" b="1">
                <a:solidFill>
                  <a:schemeClr val="bg1"/>
                </a:solidFill>
                <a:latin typeface="Verdana" panose="020B0604030504040204" pitchFamily="34" charset="0"/>
              </a:rPr>
              <a:t>用防火墙阻止</a:t>
            </a:r>
            <a:r>
              <a:rPr lang="en-US" altLang="zh-CN" sz="3600" b="1">
                <a:solidFill>
                  <a:schemeClr val="bg1"/>
                </a:solidFill>
                <a:latin typeface="Verdana" panose="020B0604030504040204" pitchFamily="34" charset="0"/>
              </a:rPr>
              <a:t>SYN Flood</a:t>
            </a:r>
            <a:r>
              <a:rPr lang="zh-CN" altLang="en-US" sz="3600" b="1">
                <a:solidFill>
                  <a:schemeClr val="bg1"/>
                </a:solidFill>
                <a:latin typeface="Verdana" panose="020B0604030504040204" pitchFamily="34" charset="0"/>
              </a:rPr>
              <a:t>攻击</a:t>
            </a:r>
            <a:endParaRPr lang="zh-CN" altLang="en-US" sz="3600" b="1">
              <a:solidFill>
                <a:schemeClr val="bg1"/>
              </a:solidFill>
              <a:latin typeface="Verdana" panose="020B0604030504040204" pitchFamily="34" charset="0"/>
            </a:endParaRPr>
          </a:p>
        </p:txBody>
      </p:sp>
      <p:pic>
        <p:nvPicPr>
          <p:cNvPr id="37893" name="Picture 7"/>
          <p:cNvPicPr>
            <a:picLocks noChangeAspect="1" noChangeArrowheads="1"/>
          </p:cNvPicPr>
          <p:nvPr/>
        </p:nvPicPr>
        <p:blipFill>
          <a:blip r:embed="rId2" cstate="print"/>
          <a:srcRect/>
          <a:stretch>
            <a:fillRect/>
          </a:stretch>
        </p:blipFill>
        <p:spPr bwMode="auto">
          <a:xfrm>
            <a:off x="1476375" y="4365625"/>
            <a:ext cx="6048375" cy="1989138"/>
          </a:xfrm>
          <a:prstGeom prst="rect">
            <a:avLst/>
          </a:prstGeom>
          <a:noFill/>
          <a:ln w="9525">
            <a:noFill/>
            <a:miter lim="800000"/>
            <a:headEnd/>
            <a:tailEnd/>
          </a:ln>
        </p:spPr>
      </p:pic>
      <p:sp>
        <p:nvSpPr>
          <p:cNvPr id="37894" name="Line 8"/>
          <p:cNvSpPr>
            <a:spLocks noChangeShapeType="1"/>
          </p:cNvSpPr>
          <p:nvPr/>
        </p:nvSpPr>
        <p:spPr bwMode="auto">
          <a:xfrm flipH="1">
            <a:off x="3203575" y="5516563"/>
            <a:ext cx="2808288" cy="288925"/>
          </a:xfrm>
          <a:prstGeom prst="line">
            <a:avLst/>
          </a:prstGeom>
          <a:noFill/>
          <a:ln w="9525">
            <a:solidFill>
              <a:schemeClr val="tx1"/>
            </a:solidFill>
            <a:round/>
            <a:tailEnd type="triangle" w="med" len="med"/>
          </a:ln>
        </p:spPr>
        <p:txBody>
          <a:bodyPr/>
          <a:lstStyle/>
          <a:p>
            <a:endParaRPr lang="zh-CN" altLang="en-US"/>
          </a:p>
        </p:txBody>
      </p:sp>
      <p:sp>
        <p:nvSpPr>
          <p:cNvPr id="37895" name="Line 9"/>
          <p:cNvSpPr>
            <a:spLocks noChangeShapeType="1"/>
          </p:cNvSpPr>
          <p:nvPr/>
        </p:nvSpPr>
        <p:spPr bwMode="auto">
          <a:xfrm flipH="1">
            <a:off x="2843213" y="5876925"/>
            <a:ext cx="3241675" cy="288925"/>
          </a:xfrm>
          <a:prstGeom prst="line">
            <a:avLst/>
          </a:prstGeom>
          <a:noFill/>
          <a:ln w="9525">
            <a:solidFill>
              <a:schemeClr val="tx1"/>
            </a:solidFill>
            <a:round/>
            <a:tailEnd type="triangle" w="med" len="med"/>
          </a:ln>
        </p:spPr>
        <p:txBody>
          <a:bodyPr/>
          <a:lstStyle/>
          <a:p>
            <a:endParaRPr lang="zh-CN" altLang="en-US"/>
          </a:p>
        </p:txBody>
      </p:sp>
      <p:sp>
        <p:nvSpPr>
          <p:cNvPr id="37896" name="AutoShape 8"/>
          <p:cNvSpPr>
            <a:spLocks noChangeArrowheads="1"/>
          </p:cNvSpPr>
          <p:nvPr/>
        </p:nvSpPr>
        <p:spPr bwMode="auto">
          <a:xfrm>
            <a:off x="487363" y="1295400"/>
            <a:ext cx="8169275" cy="299720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8914" name="Rectangle 3"/>
          <p:cNvSpPr>
            <a:spLocks noChangeArrowheads="1"/>
          </p:cNvSpPr>
          <p:nvPr/>
        </p:nvSpPr>
        <p:spPr bwMode="auto">
          <a:xfrm>
            <a:off x="487363" y="1036638"/>
            <a:ext cx="8066088" cy="4921250"/>
          </a:xfrm>
          <a:prstGeom prst="rect">
            <a:avLst/>
          </a:prstGeom>
          <a:noFill/>
          <a:ln w="9525">
            <a:noFill/>
            <a:miter lim="800000"/>
          </a:ln>
        </p:spPr>
        <p:txBody>
          <a:bodyPr/>
          <a:lstStyle/>
          <a:p>
            <a:pPr eaLnBrk="0" hangingPunct="0">
              <a:spcBef>
                <a:spcPct val="20000"/>
              </a:spcBef>
            </a:pPr>
            <a:r>
              <a:rPr lang="zh-CN" altLang="en-US" sz="2200" b="1" dirty="0"/>
              <a:t>     </a:t>
            </a:r>
            <a:endParaRPr lang="en-US" altLang="zh-CN" sz="2200" b="1" dirty="0"/>
          </a:p>
          <a:p>
            <a:pPr eaLnBrk="0" hangingPunct="0">
              <a:spcBef>
                <a:spcPct val="20000"/>
              </a:spcBef>
            </a:pPr>
            <a:r>
              <a:rPr lang="zh-CN" altLang="en-US" sz="2200" b="1" dirty="0"/>
              <a:t>  在以上三次握手中，当客户端发送一个</a:t>
            </a:r>
            <a:r>
              <a:rPr lang="en-US" altLang="zh-CN" sz="2200" b="1" dirty="0"/>
              <a:t>TCP</a:t>
            </a:r>
            <a:r>
              <a:rPr lang="zh-CN" altLang="en-US" sz="2200" b="1" dirty="0"/>
              <a:t>连接请求给服务器端，服务器也发出了相应的响应数据报文之后</a:t>
            </a:r>
            <a:r>
              <a:rPr lang="en-US" altLang="zh-CN" sz="2200" b="1" dirty="0"/>
              <a:t>,</a:t>
            </a:r>
            <a:r>
              <a:rPr lang="zh-CN" altLang="en-US" sz="2200" b="1" dirty="0"/>
              <a:t>可能由于某些原因（如客户端突然死机或断网等原因），客户端不能接收到来自服务器端的确认数据报，这就造成了以上三次连接中的第一次和第二次握手的</a:t>
            </a:r>
            <a:r>
              <a:rPr lang="en-US" altLang="zh-CN" sz="2200" b="1" dirty="0"/>
              <a:t>TCP</a:t>
            </a:r>
            <a:r>
              <a:rPr lang="zh-CN" altLang="en-US" sz="2200" b="1" dirty="0">
                <a:solidFill>
                  <a:srgbClr val="FF0000"/>
                </a:solidFill>
              </a:rPr>
              <a:t>半连接</a:t>
            </a:r>
            <a:r>
              <a:rPr lang="zh-CN" altLang="en-US" sz="2200" b="1" dirty="0"/>
              <a:t>。</a:t>
            </a:r>
            <a:endParaRPr lang="en-US" altLang="zh-CN" sz="2200" b="1" dirty="0"/>
          </a:p>
          <a:p>
            <a:pPr eaLnBrk="0" hangingPunct="0">
              <a:spcBef>
                <a:spcPct val="20000"/>
              </a:spcBef>
            </a:pPr>
            <a:r>
              <a:rPr lang="zh-CN" altLang="en-US" sz="2200" b="1" dirty="0" smtClean="0"/>
              <a:t>    </a:t>
            </a:r>
            <a:r>
              <a:rPr lang="zh-CN" altLang="en-US" sz="2200" b="1" dirty="0"/>
              <a:t>由于服务器端发出了带</a:t>
            </a:r>
            <a:r>
              <a:rPr lang="en-US" altLang="zh-CN" sz="2200" b="1" dirty="0"/>
              <a:t>SYN+ACK</a:t>
            </a:r>
            <a:r>
              <a:rPr lang="zh-CN" altLang="en-US" sz="2200" b="1" dirty="0"/>
              <a:t>标记的报文，却并没有得到客户端返回相应的</a:t>
            </a:r>
            <a:r>
              <a:rPr lang="en-US" altLang="zh-CN" sz="2200" b="1" dirty="0"/>
              <a:t>ACK</a:t>
            </a:r>
            <a:r>
              <a:rPr lang="zh-CN" altLang="en-US" sz="2200" b="1" dirty="0"/>
              <a:t>报文，于是服务器就进入等待状态，并定期反复进行</a:t>
            </a:r>
            <a:r>
              <a:rPr lang="en-US" altLang="zh-CN" sz="2200" b="1" dirty="0"/>
              <a:t>SYN+ACK</a:t>
            </a:r>
            <a:r>
              <a:rPr lang="zh-CN" altLang="en-US" sz="2200" b="1" dirty="0"/>
              <a:t>报文重发，直到客户端确认收到为止。</a:t>
            </a:r>
            <a:endParaRPr lang="en-US" altLang="zh-CN" sz="2200" b="1" dirty="0"/>
          </a:p>
          <a:p>
            <a:pPr eaLnBrk="0" hangingPunct="0">
              <a:spcBef>
                <a:spcPct val="20000"/>
              </a:spcBef>
            </a:pPr>
            <a:endParaRPr lang="en-US" altLang="zh-CN" sz="2200" b="1" dirty="0"/>
          </a:p>
          <a:p>
            <a:pPr eaLnBrk="0" hangingPunct="0">
              <a:spcBef>
                <a:spcPct val="20000"/>
              </a:spcBef>
            </a:pPr>
            <a:r>
              <a:rPr lang="zh-CN" altLang="en-US" sz="2200" b="1" dirty="0"/>
              <a:t>    这样服务器端就会一直处于等待状态，使得</a:t>
            </a:r>
            <a:r>
              <a:rPr lang="en-US" altLang="zh-CN" sz="2200" b="1" dirty="0"/>
              <a:t>CPU</a:t>
            </a:r>
            <a:r>
              <a:rPr lang="zh-CN" altLang="en-US" sz="2200" b="1" dirty="0"/>
              <a:t>及其他资源严重消耗，不仅服务器可能崩溃，而且网络也可能处于瘫痪。</a:t>
            </a:r>
            <a:endParaRPr lang="zh-CN" altLang="en-US" sz="2200" b="1" dirty="0"/>
          </a:p>
        </p:txBody>
      </p:sp>
      <p:pic>
        <p:nvPicPr>
          <p:cNvPr id="38915" name="Picture 6" descr="j0234657"/>
          <p:cNvPicPr>
            <a:picLocks noChangeAspect="1" noChangeArrowheads="1"/>
          </p:cNvPicPr>
          <p:nvPr/>
        </p:nvPicPr>
        <p:blipFill>
          <a:blip r:embed="rId1" cstate="print"/>
          <a:srcRect/>
          <a:stretch>
            <a:fillRect/>
          </a:stretch>
        </p:blipFill>
        <p:spPr bwMode="auto">
          <a:xfrm>
            <a:off x="6435724" y="5451475"/>
            <a:ext cx="720725" cy="701675"/>
          </a:xfrm>
          <a:prstGeom prst="rect">
            <a:avLst/>
          </a:prstGeom>
          <a:noFill/>
          <a:ln w="9525">
            <a:noFill/>
            <a:miter lim="800000"/>
            <a:headEnd/>
            <a:tailEnd/>
          </a:ln>
        </p:spPr>
      </p:pic>
      <p:sp>
        <p:nvSpPr>
          <p:cNvPr id="38916" name="Rectangle 2"/>
          <p:cNvSpPr>
            <a:spLocks noChangeArrowheads="1"/>
          </p:cNvSpPr>
          <p:nvPr/>
        </p:nvSpPr>
        <p:spPr bwMode="auto">
          <a:xfrm>
            <a:off x="228600" y="260350"/>
            <a:ext cx="89154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8.3.4 </a:t>
            </a:r>
            <a:r>
              <a:rPr lang="zh-CN" altLang="en-US" sz="3600" b="1">
                <a:solidFill>
                  <a:schemeClr val="bg1"/>
                </a:solidFill>
                <a:latin typeface="Verdana" panose="020B0604030504040204" pitchFamily="34" charset="0"/>
              </a:rPr>
              <a:t>用防火墙阻止</a:t>
            </a:r>
            <a:r>
              <a:rPr lang="en-US" altLang="zh-CN" sz="3600" b="1">
                <a:solidFill>
                  <a:schemeClr val="bg1"/>
                </a:solidFill>
                <a:latin typeface="Verdana" panose="020B0604030504040204" pitchFamily="34" charset="0"/>
              </a:rPr>
              <a:t>SYN Flood</a:t>
            </a:r>
            <a:r>
              <a:rPr lang="zh-CN" altLang="en-US" sz="3600" b="1">
                <a:solidFill>
                  <a:schemeClr val="bg1"/>
                </a:solidFill>
                <a:latin typeface="Verdana" panose="020B0604030504040204" pitchFamily="34" charset="0"/>
              </a:rPr>
              <a:t>攻击</a:t>
            </a:r>
            <a:endParaRPr lang="zh-CN" altLang="en-US" sz="3600" b="1">
              <a:solidFill>
                <a:schemeClr val="bg1"/>
              </a:solidFill>
              <a:latin typeface="Verdana" panose="020B0604030504040204" pitchFamily="34" charset="0"/>
            </a:endParaRPr>
          </a:p>
        </p:txBody>
      </p:sp>
      <p:sp>
        <p:nvSpPr>
          <p:cNvPr id="38917" name="AutoShape 8"/>
          <p:cNvSpPr>
            <a:spLocks noChangeArrowheads="1"/>
          </p:cNvSpPr>
          <p:nvPr/>
        </p:nvSpPr>
        <p:spPr bwMode="auto">
          <a:xfrm>
            <a:off x="487363"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9938" name="Rectangle 3"/>
          <p:cNvSpPr>
            <a:spLocks noChangeArrowheads="1"/>
          </p:cNvSpPr>
          <p:nvPr/>
        </p:nvSpPr>
        <p:spPr bwMode="auto">
          <a:xfrm>
            <a:off x="611188" y="1125538"/>
            <a:ext cx="8066087" cy="5302250"/>
          </a:xfrm>
          <a:prstGeom prst="rect">
            <a:avLst/>
          </a:prstGeom>
          <a:noFill/>
          <a:ln w="9525">
            <a:noFill/>
            <a:miter lim="800000"/>
          </a:ln>
        </p:spPr>
        <p:txBody>
          <a:bodyPr/>
          <a:lstStyle/>
          <a:p>
            <a:pPr eaLnBrk="0" hangingPunct="0">
              <a:spcBef>
                <a:spcPct val="20000"/>
              </a:spcBef>
            </a:pPr>
            <a:endParaRPr lang="en-US" altLang="zh-CN" sz="2200" b="1" dirty="0">
              <a:solidFill>
                <a:srgbClr val="990033"/>
              </a:solidFill>
            </a:endParaRPr>
          </a:p>
          <a:p>
            <a:pPr eaLnBrk="0" hangingPunct="0">
              <a:spcBef>
                <a:spcPct val="20000"/>
              </a:spcBef>
            </a:pPr>
            <a:endParaRPr lang="en-US" altLang="zh-CN" sz="2200" b="1" dirty="0">
              <a:solidFill>
                <a:srgbClr val="990033"/>
              </a:solidFill>
            </a:endParaRPr>
          </a:p>
          <a:p>
            <a:pPr eaLnBrk="0" hangingPunct="0">
              <a:spcBef>
                <a:spcPct val="20000"/>
              </a:spcBef>
            </a:pPr>
            <a:r>
              <a:rPr lang="en-US" altLang="zh-CN" sz="2200" b="1" dirty="0" smtClean="0">
                <a:solidFill>
                  <a:srgbClr val="990033"/>
                </a:solidFill>
              </a:rPr>
              <a:t>        SYN </a:t>
            </a:r>
            <a:r>
              <a:rPr lang="en-US" altLang="zh-CN" sz="2200" b="1" dirty="0">
                <a:solidFill>
                  <a:srgbClr val="990033"/>
                </a:solidFill>
              </a:rPr>
              <a:t>Flood</a:t>
            </a:r>
            <a:r>
              <a:rPr lang="zh-CN" altLang="en-US" sz="2200" b="1" dirty="0">
                <a:solidFill>
                  <a:srgbClr val="990033"/>
                </a:solidFill>
              </a:rPr>
              <a:t>攻击</a:t>
            </a:r>
            <a:r>
              <a:rPr lang="zh-CN" altLang="en-US" sz="2200" b="1" dirty="0"/>
              <a:t>正是利用了</a:t>
            </a:r>
            <a:r>
              <a:rPr lang="en-US" altLang="zh-CN" sz="2200" b="1" dirty="0"/>
              <a:t>TCP</a:t>
            </a:r>
            <a:r>
              <a:rPr lang="zh-CN" altLang="en-US" sz="2200" b="1" dirty="0"/>
              <a:t>连接的这样一个漏洞来实现攻击目的的。</a:t>
            </a:r>
            <a:endParaRPr lang="en-US" altLang="zh-CN" sz="2200" b="1" dirty="0"/>
          </a:p>
          <a:p>
            <a:pPr eaLnBrk="0" hangingPunct="0">
              <a:spcBef>
                <a:spcPct val="20000"/>
              </a:spcBef>
            </a:pPr>
            <a:endParaRPr lang="en-US" altLang="zh-CN" sz="2200" b="1" dirty="0"/>
          </a:p>
          <a:p>
            <a:pPr eaLnBrk="0" hangingPunct="0">
              <a:spcBef>
                <a:spcPct val="20000"/>
              </a:spcBef>
            </a:pPr>
            <a:r>
              <a:rPr lang="zh-CN" altLang="en-US" sz="2200" b="1" dirty="0" smtClean="0"/>
              <a:t>        当</a:t>
            </a:r>
            <a:r>
              <a:rPr lang="zh-CN" altLang="en-US" sz="2200" b="1" dirty="0"/>
              <a:t>恶意的客户端构造出大量的这种</a:t>
            </a:r>
            <a:r>
              <a:rPr lang="en-US" altLang="zh-CN" sz="2200" b="1" dirty="0"/>
              <a:t>TCP</a:t>
            </a:r>
            <a:r>
              <a:rPr lang="zh-CN" altLang="en-US" sz="2200" b="1" dirty="0"/>
              <a:t>半连接发送到服务器端时，服务器端就会一直</a:t>
            </a:r>
            <a:r>
              <a:rPr lang="zh-CN" altLang="en-US" sz="2200" b="1" dirty="0">
                <a:solidFill>
                  <a:srgbClr val="990033"/>
                </a:solidFill>
              </a:rPr>
              <a:t>陷入等待的过程</a:t>
            </a:r>
            <a:r>
              <a:rPr lang="zh-CN" altLang="en-US" sz="2200" b="1" dirty="0"/>
              <a:t>中，并耗用大量的</a:t>
            </a:r>
            <a:r>
              <a:rPr lang="en-US" altLang="zh-CN" sz="2200" b="1" dirty="0"/>
              <a:t>CPU</a:t>
            </a:r>
            <a:r>
              <a:rPr lang="zh-CN" altLang="en-US" sz="2200" b="1" dirty="0"/>
              <a:t>资源和内存资源来进行</a:t>
            </a:r>
            <a:r>
              <a:rPr lang="en-US" altLang="zh-CN" sz="2200" b="1" dirty="0"/>
              <a:t>SYN+ ACK</a:t>
            </a:r>
            <a:r>
              <a:rPr lang="zh-CN" altLang="en-US" sz="2200" b="1" dirty="0"/>
              <a:t>报文的重发，最终使得服务器端崩溃。</a:t>
            </a:r>
            <a:endParaRPr lang="zh-CN" altLang="en-US" sz="2200" b="1" dirty="0"/>
          </a:p>
        </p:txBody>
      </p:sp>
      <p:sp>
        <p:nvSpPr>
          <p:cNvPr id="39940" name="Rectangle 2"/>
          <p:cNvSpPr>
            <a:spLocks noChangeArrowheads="1"/>
          </p:cNvSpPr>
          <p:nvPr/>
        </p:nvSpPr>
        <p:spPr bwMode="auto">
          <a:xfrm>
            <a:off x="228600" y="260350"/>
            <a:ext cx="89154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8.3.4 </a:t>
            </a:r>
            <a:r>
              <a:rPr lang="zh-CN" altLang="en-US" sz="3600" b="1">
                <a:solidFill>
                  <a:schemeClr val="bg1"/>
                </a:solidFill>
                <a:latin typeface="Verdana" panose="020B0604030504040204" pitchFamily="34" charset="0"/>
              </a:rPr>
              <a:t>用防火墙阻止</a:t>
            </a:r>
            <a:r>
              <a:rPr lang="en-US" altLang="zh-CN" sz="3600" b="1">
                <a:solidFill>
                  <a:schemeClr val="bg1"/>
                </a:solidFill>
                <a:latin typeface="Verdana" panose="020B0604030504040204" pitchFamily="34" charset="0"/>
              </a:rPr>
              <a:t>SYN Flood</a:t>
            </a:r>
            <a:r>
              <a:rPr lang="zh-CN" altLang="en-US" sz="3600" b="1">
                <a:solidFill>
                  <a:schemeClr val="bg1"/>
                </a:solidFill>
                <a:latin typeface="Verdana" panose="020B0604030504040204" pitchFamily="34" charset="0"/>
              </a:rPr>
              <a:t>攻击</a:t>
            </a:r>
            <a:endParaRPr lang="zh-CN" altLang="en-US" sz="3600" b="1">
              <a:solidFill>
                <a:schemeClr val="bg1"/>
              </a:solidFill>
              <a:latin typeface="Verdana" panose="020B0604030504040204" pitchFamily="34" charset="0"/>
            </a:endParaRPr>
          </a:p>
        </p:txBody>
      </p:sp>
      <p:sp>
        <p:nvSpPr>
          <p:cNvPr id="39941" name="AutoShape 8"/>
          <p:cNvSpPr>
            <a:spLocks noChangeArrowheads="1"/>
          </p:cNvSpPr>
          <p:nvPr/>
        </p:nvSpPr>
        <p:spPr bwMode="auto">
          <a:xfrm>
            <a:off x="487363" y="1295400"/>
            <a:ext cx="8169275" cy="3562350"/>
          </a:xfrm>
          <a:prstGeom prst="flowChartAlternateProcess">
            <a:avLst/>
          </a:prstGeom>
          <a:noFill/>
          <a:ln w="22225">
            <a:solidFill>
              <a:srgbClr val="3366FF"/>
            </a:solidFill>
            <a:miter lim="800000"/>
          </a:ln>
        </p:spPr>
        <p:txBody>
          <a:bodyPr wrap="none" anchor="ctr"/>
          <a:lstStyle/>
          <a:p>
            <a:pPr eaLnBrk="0" hangingPunct="0"/>
            <a:endParaRPr lang="zh-CN" altLang="en-US"/>
          </a:p>
        </p:txBody>
      </p:sp>
      <p:pic>
        <p:nvPicPr>
          <p:cNvPr id="7" name="Picture 7" descr="j0300520"/>
          <p:cNvPicPr>
            <a:picLocks noChangeAspect="1" noChangeArrowheads="1"/>
          </p:cNvPicPr>
          <p:nvPr/>
        </p:nvPicPr>
        <p:blipFill>
          <a:blip r:embed="rId1" cstate="print"/>
          <a:srcRect/>
          <a:stretch>
            <a:fillRect/>
          </a:stretch>
        </p:blipFill>
        <p:spPr bwMode="auto">
          <a:xfrm>
            <a:off x="6154738" y="4621013"/>
            <a:ext cx="1150938" cy="1142008"/>
          </a:xfrm>
          <a:prstGeom prst="rect">
            <a:avLst/>
          </a:prstGeom>
          <a:noFill/>
          <a:ln w="9525">
            <a:noFill/>
            <a:miter lim="800000"/>
            <a:headEnd/>
            <a:tailEn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0962" name="Rectangle 3"/>
          <p:cNvSpPr>
            <a:spLocks noChangeArrowheads="1"/>
          </p:cNvSpPr>
          <p:nvPr/>
        </p:nvSpPr>
        <p:spPr bwMode="auto">
          <a:xfrm>
            <a:off x="611188" y="1268413"/>
            <a:ext cx="8077200" cy="5257800"/>
          </a:xfrm>
          <a:prstGeom prst="rect">
            <a:avLst/>
          </a:prstGeom>
          <a:noFill/>
          <a:ln w="9525">
            <a:noFill/>
            <a:miter lim="800000"/>
          </a:ln>
        </p:spPr>
        <p:txBody>
          <a:bodyPr/>
          <a:lstStyle/>
          <a:p>
            <a:r>
              <a:rPr lang="zh-CN" altLang="en-US" b="1" dirty="0">
                <a:solidFill>
                  <a:srgbClr val="FF0000"/>
                </a:solidFill>
              </a:rPr>
              <a:t>  </a:t>
            </a:r>
            <a:r>
              <a:rPr lang="zh-CN" altLang="en-US" b="1" dirty="0" smtClean="0">
                <a:solidFill>
                  <a:srgbClr val="FF0000"/>
                </a:solidFill>
              </a:rPr>
              <a:t>   </a:t>
            </a:r>
            <a:r>
              <a:rPr lang="en-US" altLang="zh-CN" b="1" dirty="0" smtClean="0">
                <a:solidFill>
                  <a:srgbClr val="FF0000"/>
                </a:solidFill>
              </a:rPr>
              <a:t>2</a:t>
            </a:r>
            <a:r>
              <a:rPr lang="zh-CN" altLang="en-US" sz="2300" b="1" dirty="0">
                <a:solidFill>
                  <a:srgbClr val="CC0000"/>
                </a:solidFill>
              </a:rPr>
              <a:t>．用防火墙防御</a:t>
            </a:r>
            <a:r>
              <a:rPr lang="en-US" altLang="zh-CN" sz="2300" b="1" dirty="0">
                <a:solidFill>
                  <a:srgbClr val="CC0000"/>
                </a:solidFill>
              </a:rPr>
              <a:t>SYN Flood</a:t>
            </a:r>
            <a:r>
              <a:rPr lang="zh-CN" altLang="en-US" sz="2300" b="1" dirty="0">
                <a:solidFill>
                  <a:srgbClr val="CC0000"/>
                </a:solidFill>
              </a:rPr>
              <a:t>攻击</a:t>
            </a:r>
            <a:endParaRPr lang="zh-CN" altLang="en-US" sz="2300" b="1" dirty="0">
              <a:solidFill>
                <a:srgbClr val="CC0000"/>
              </a:solidFill>
            </a:endParaRPr>
          </a:p>
          <a:p>
            <a:r>
              <a:rPr lang="zh-CN" altLang="en-US" sz="2300" b="1" dirty="0"/>
              <a:t>      （</a:t>
            </a:r>
            <a:r>
              <a:rPr lang="en-US" altLang="zh-CN" sz="2300" b="1" dirty="0"/>
              <a:t>1</a:t>
            </a:r>
            <a:r>
              <a:rPr lang="zh-CN" altLang="en-US" sz="2300" b="1" dirty="0"/>
              <a:t>）两种主要类型防火墙（包过滤型和应用代理型防火墙）的防御原理 </a:t>
            </a:r>
            <a:endParaRPr lang="zh-CN" altLang="en-US" sz="2300" b="1" dirty="0"/>
          </a:p>
          <a:p>
            <a:pPr eaLnBrk="0" hangingPunct="0">
              <a:spcBef>
                <a:spcPct val="20000"/>
              </a:spcBef>
            </a:pPr>
            <a:r>
              <a:rPr lang="zh-CN" altLang="en-US" sz="2300" b="1" dirty="0">
                <a:solidFill>
                  <a:srgbClr val="FF0000"/>
                </a:solidFill>
              </a:rPr>
              <a:t>       应用代理型防火墙的防御方法</a:t>
            </a:r>
            <a:r>
              <a:rPr lang="zh-CN" altLang="en-US" sz="2300" b="1" dirty="0"/>
              <a:t>是客户端要与服务器建立</a:t>
            </a:r>
            <a:r>
              <a:rPr lang="en-US" altLang="zh-CN" sz="2300" b="1" dirty="0"/>
              <a:t>TCP</a:t>
            </a:r>
            <a:r>
              <a:rPr lang="zh-CN" altLang="en-US" sz="2300" b="1" dirty="0"/>
              <a:t>连接的三次握手过程中，充当代理角色，这样客户端要与服务器端建立一个</a:t>
            </a:r>
            <a:r>
              <a:rPr lang="en-US" altLang="zh-CN" sz="2300" b="1" dirty="0"/>
              <a:t>TCP</a:t>
            </a:r>
            <a:r>
              <a:rPr lang="zh-CN" altLang="en-US" sz="2300" b="1" dirty="0"/>
              <a:t>连接，就必须先与防火墙进行三次</a:t>
            </a:r>
            <a:r>
              <a:rPr lang="en-US" altLang="zh-CN" sz="2300" b="1" dirty="0"/>
              <a:t>TCP</a:t>
            </a:r>
            <a:r>
              <a:rPr lang="zh-CN" altLang="en-US" sz="2300" b="1" dirty="0"/>
              <a:t>握手，当客户端和防火墙三次握手成功之后，再由防火墙与客户端进行三次</a:t>
            </a:r>
            <a:r>
              <a:rPr lang="en-US" altLang="zh-CN" sz="2300" b="1" dirty="0"/>
              <a:t>TCP</a:t>
            </a:r>
            <a:r>
              <a:rPr lang="zh-CN" altLang="en-US" sz="2300" b="1" dirty="0"/>
              <a:t>握手，完成后再进行一个</a:t>
            </a:r>
            <a:r>
              <a:rPr lang="en-US" altLang="zh-CN" sz="2300" b="1" dirty="0"/>
              <a:t>TCP</a:t>
            </a:r>
            <a:r>
              <a:rPr lang="zh-CN" altLang="en-US" sz="2300" b="1" dirty="0"/>
              <a:t>连接的三次握手。防火墙相当于起到一种隔离保护作用，安全性较高。当外界对内部网络中的服务器端进行</a:t>
            </a:r>
            <a:r>
              <a:rPr lang="en-US" altLang="zh-CN" sz="2300" b="1" dirty="0"/>
              <a:t>SYN Flood</a:t>
            </a:r>
            <a:r>
              <a:rPr lang="zh-CN" altLang="en-US" sz="2300" b="1" dirty="0"/>
              <a:t>攻击时，实际上遭受攻击的不是服务器而是防火墙。而防火墙自身则又是具有抗攻击能力的，可以通过规则设置，拒绝外界客户端不断发送的</a:t>
            </a:r>
            <a:r>
              <a:rPr lang="en-US" altLang="zh-CN" sz="2300" b="1" dirty="0"/>
              <a:t>SYN+ACK</a:t>
            </a:r>
            <a:r>
              <a:rPr lang="zh-CN" altLang="en-US" sz="2300" b="1" dirty="0"/>
              <a:t>报文。如图</a:t>
            </a:r>
            <a:r>
              <a:rPr lang="en-US" altLang="zh-CN" sz="2300" b="1" dirty="0"/>
              <a:t>8-16</a:t>
            </a:r>
            <a:r>
              <a:rPr lang="zh-CN" altLang="en-US" sz="2300" b="1" dirty="0"/>
              <a:t>所示。</a:t>
            </a:r>
            <a:endParaRPr lang="zh-CN" altLang="en-US" sz="2300" b="1" dirty="0"/>
          </a:p>
        </p:txBody>
      </p:sp>
      <p:pic>
        <p:nvPicPr>
          <p:cNvPr id="40963" name="Picture 6" descr="j0234657"/>
          <p:cNvPicPr>
            <a:picLocks noChangeAspect="1" noChangeArrowheads="1"/>
          </p:cNvPicPr>
          <p:nvPr/>
        </p:nvPicPr>
        <p:blipFill>
          <a:blip r:embed="rId1" cstate="print"/>
          <a:srcRect/>
          <a:stretch>
            <a:fillRect/>
          </a:stretch>
        </p:blipFill>
        <p:spPr bwMode="auto">
          <a:xfrm>
            <a:off x="7308850" y="5672138"/>
            <a:ext cx="863600" cy="841375"/>
          </a:xfrm>
          <a:prstGeom prst="rect">
            <a:avLst/>
          </a:prstGeom>
          <a:noFill/>
          <a:ln w="9525">
            <a:noFill/>
            <a:miter lim="800000"/>
            <a:headEnd/>
            <a:tailEnd/>
          </a:ln>
        </p:spPr>
      </p:pic>
      <p:sp>
        <p:nvSpPr>
          <p:cNvPr id="40964" name="Rectangle 2"/>
          <p:cNvSpPr>
            <a:spLocks noChangeArrowheads="1"/>
          </p:cNvSpPr>
          <p:nvPr/>
        </p:nvSpPr>
        <p:spPr bwMode="auto">
          <a:xfrm>
            <a:off x="381000" y="260350"/>
            <a:ext cx="86106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8.3.4 </a:t>
            </a:r>
            <a:r>
              <a:rPr lang="zh-CN" altLang="en-US" sz="3600" b="1">
                <a:solidFill>
                  <a:schemeClr val="bg1"/>
                </a:solidFill>
                <a:latin typeface="Verdana" panose="020B0604030504040204" pitchFamily="34" charset="0"/>
              </a:rPr>
              <a:t>用防火墙阻止</a:t>
            </a:r>
            <a:r>
              <a:rPr lang="en-US" altLang="zh-CN" sz="3600" b="1">
                <a:solidFill>
                  <a:schemeClr val="bg1"/>
                </a:solidFill>
                <a:latin typeface="Verdana" panose="020B0604030504040204" pitchFamily="34" charset="0"/>
              </a:rPr>
              <a:t>SYN Flood</a:t>
            </a:r>
            <a:r>
              <a:rPr lang="zh-CN" altLang="en-US" sz="3600" b="1">
                <a:solidFill>
                  <a:schemeClr val="bg1"/>
                </a:solidFill>
                <a:latin typeface="Verdana" panose="020B0604030504040204" pitchFamily="34" charset="0"/>
              </a:rPr>
              <a:t>攻击</a:t>
            </a:r>
            <a:endParaRPr lang="zh-CN" altLang="en-US" sz="3600" b="1">
              <a:solidFill>
                <a:schemeClr val="bg1"/>
              </a:solidFill>
              <a:latin typeface="Verdana" panose="020B0604030504040204" pitchFamily="34" charset="0"/>
            </a:endParaRPr>
          </a:p>
        </p:txBody>
      </p:sp>
      <p:sp>
        <p:nvSpPr>
          <p:cNvPr id="40965" name="AutoShape 8"/>
          <p:cNvSpPr>
            <a:spLocks noChangeArrowheads="1"/>
          </p:cNvSpPr>
          <p:nvPr/>
        </p:nvSpPr>
        <p:spPr bwMode="auto">
          <a:xfrm>
            <a:off x="487363"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p:cNvSpPr>
            <a:spLocks noChangeArrowheads="1"/>
          </p:cNvSpPr>
          <p:nvPr/>
        </p:nvSpPr>
        <p:spPr bwMode="auto">
          <a:xfrm>
            <a:off x="611188" y="1268413"/>
            <a:ext cx="8077200" cy="5257800"/>
          </a:xfrm>
          <a:prstGeom prst="rect">
            <a:avLst/>
          </a:prstGeom>
          <a:noFill/>
          <a:ln w="9525">
            <a:noFill/>
            <a:miter lim="800000"/>
          </a:ln>
        </p:spPr>
        <p:txBody>
          <a:bodyPr/>
          <a:lstStyle/>
          <a:p>
            <a:pPr eaLnBrk="0" hangingPunct="0">
              <a:spcBef>
                <a:spcPct val="20000"/>
              </a:spcBef>
            </a:pPr>
            <a:endParaRPr lang="zh-CN" altLang="en-US" sz="2800"/>
          </a:p>
        </p:txBody>
      </p:sp>
      <p:sp>
        <p:nvSpPr>
          <p:cNvPr id="41986" name="Rectangle 37"/>
          <p:cNvSpPr>
            <a:spLocks noChangeArrowheads="1"/>
          </p:cNvSpPr>
          <p:nvPr/>
        </p:nvSpPr>
        <p:spPr bwMode="auto">
          <a:xfrm>
            <a:off x="3132138" y="3316288"/>
            <a:ext cx="2236787" cy="304800"/>
          </a:xfrm>
          <a:prstGeom prst="rect">
            <a:avLst/>
          </a:prstGeom>
          <a:noFill/>
          <a:ln w="9525">
            <a:noFill/>
            <a:miter lim="800000"/>
          </a:ln>
        </p:spPr>
        <p:txBody>
          <a:bodyPr wrap="none" anchor="ctr">
            <a:spAutoFit/>
          </a:bodyPr>
          <a:lstStyle/>
          <a:p>
            <a:pPr eaLnBrk="0" hangingPunct="0"/>
            <a:r>
              <a:rPr lang="zh-CN" altLang="en-US" sz="1400" b="1">
                <a:solidFill>
                  <a:srgbClr val="CC0000"/>
                </a:solidFill>
              </a:rPr>
              <a:t>图</a:t>
            </a:r>
            <a:r>
              <a:rPr lang="en-US" altLang="zh-CN" sz="1400" b="1">
                <a:solidFill>
                  <a:srgbClr val="CC0000"/>
                </a:solidFill>
              </a:rPr>
              <a:t>8-16 </a:t>
            </a:r>
            <a:r>
              <a:rPr lang="zh-CN" altLang="en-US" sz="1400" b="1">
                <a:solidFill>
                  <a:srgbClr val="CC0000"/>
                </a:solidFill>
              </a:rPr>
              <a:t>两个三次握手过程</a:t>
            </a:r>
            <a:r>
              <a:rPr lang="zh-CN" altLang="en-US" sz="1400" b="1"/>
              <a:t> </a:t>
            </a:r>
            <a:endParaRPr lang="zh-CN" altLang="en-US" sz="1400" b="1"/>
          </a:p>
        </p:txBody>
      </p:sp>
      <p:sp>
        <p:nvSpPr>
          <p:cNvPr id="41987" name="Rectangle 38"/>
          <p:cNvSpPr>
            <a:spLocks noChangeArrowheads="1"/>
          </p:cNvSpPr>
          <p:nvPr/>
        </p:nvSpPr>
        <p:spPr bwMode="auto">
          <a:xfrm>
            <a:off x="395288" y="3716338"/>
            <a:ext cx="8532812" cy="2663825"/>
          </a:xfrm>
          <a:prstGeom prst="rect">
            <a:avLst/>
          </a:prstGeom>
          <a:noFill/>
          <a:ln w="9525">
            <a:noFill/>
            <a:miter lim="800000"/>
          </a:ln>
        </p:spPr>
        <p:txBody>
          <a:bodyPr>
            <a:spAutoFit/>
          </a:bodyPr>
          <a:lstStyle/>
          <a:p>
            <a:r>
              <a:rPr lang="zh-CN" altLang="en-US" sz="2500"/>
              <a:t>      </a:t>
            </a:r>
            <a:r>
              <a:rPr lang="zh-CN" altLang="en-US" b="1"/>
              <a:t>从整个过程可以看出，由于所有的报文都是</a:t>
            </a:r>
            <a:r>
              <a:rPr lang="zh-CN" altLang="en-US" b="1">
                <a:solidFill>
                  <a:srgbClr val="990033"/>
                </a:solidFill>
              </a:rPr>
              <a:t>通过防火墙转发</a:t>
            </a:r>
            <a:r>
              <a:rPr lang="zh-CN" altLang="en-US" b="1"/>
              <a:t>，而且未同防火墙建立起</a:t>
            </a:r>
            <a:r>
              <a:rPr lang="en-US" altLang="zh-CN" b="1"/>
              <a:t>TCP</a:t>
            </a:r>
            <a:r>
              <a:rPr lang="zh-CN" altLang="en-US" b="1"/>
              <a:t>连接就无法同服务器端建立连接，所以使用这种防火墙就</a:t>
            </a:r>
            <a:r>
              <a:rPr lang="zh-CN" altLang="en-US" b="1">
                <a:solidFill>
                  <a:srgbClr val="990033"/>
                </a:solidFill>
              </a:rPr>
              <a:t>相当于起到一种</a:t>
            </a:r>
            <a:r>
              <a:rPr lang="zh-CN" altLang="en-US" b="1" u="sng">
                <a:solidFill>
                  <a:srgbClr val="990033"/>
                </a:solidFill>
              </a:rPr>
              <a:t>隔离保护作用</a:t>
            </a:r>
            <a:r>
              <a:rPr lang="zh-CN" altLang="en-US" b="1"/>
              <a:t>，安全性较高。当外界对内部网络中的服务器端进行</a:t>
            </a:r>
            <a:r>
              <a:rPr lang="en-US" altLang="zh-CN" b="1"/>
              <a:t>SYN Flood</a:t>
            </a:r>
            <a:r>
              <a:rPr lang="zh-CN" altLang="en-US" b="1"/>
              <a:t>攻击时，实际上遭受攻击的不是服务器而是防火墙。而防火墙自身则又是具有抗攻击能力的，可以通过规则设置，拒绝外界客户端不断发送的</a:t>
            </a:r>
            <a:r>
              <a:rPr lang="en-US" altLang="zh-CN" b="1"/>
              <a:t>SYN+ACK</a:t>
            </a:r>
            <a:r>
              <a:rPr lang="zh-CN" altLang="en-US" b="1"/>
              <a:t>报文。</a:t>
            </a:r>
            <a:endParaRPr lang="zh-CN" altLang="en-US" b="1"/>
          </a:p>
        </p:txBody>
      </p:sp>
      <p:grpSp>
        <p:nvGrpSpPr>
          <p:cNvPr id="41988" name="Group 9"/>
          <p:cNvGrpSpPr/>
          <p:nvPr/>
        </p:nvGrpSpPr>
        <p:grpSpPr bwMode="auto">
          <a:xfrm>
            <a:off x="1042988" y="1125538"/>
            <a:ext cx="6769100" cy="2590800"/>
            <a:chOff x="2412" y="2376"/>
            <a:chExt cx="5040" cy="1404"/>
          </a:xfrm>
        </p:grpSpPr>
        <p:sp>
          <p:nvSpPr>
            <p:cNvPr id="41989" name="AutoShape 10"/>
            <p:cNvSpPr>
              <a:spLocks noChangeArrowheads="1"/>
            </p:cNvSpPr>
            <p:nvPr/>
          </p:nvSpPr>
          <p:spPr bwMode="auto">
            <a:xfrm>
              <a:off x="6372" y="2532"/>
              <a:ext cx="1080" cy="468"/>
            </a:xfrm>
            <a:prstGeom prst="roundRect">
              <a:avLst>
                <a:gd name="adj" fmla="val 16667"/>
              </a:avLst>
            </a:prstGeom>
            <a:noFill/>
            <a:ln w="9525">
              <a:solidFill>
                <a:srgbClr val="000000"/>
              </a:solidFill>
              <a:round/>
            </a:ln>
          </p:spPr>
          <p:txBody>
            <a:bodyPr/>
            <a:lstStyle/>
            <a:p>
              <a:pPr algn="ctr"/>
              <a:endParaRPr lang="zh-CN" altLang="en-US" sz="1400" b="1">
                <a:latin typeface="Times New Roman" panose="02020603050405020304" pitchFamily="18" charset="0"/>
              </a:endParaRPr>
            </a:p>
            <a:p>
              <a:pPr algn="ctr"/>
              <a:r>
                <a:rPr lang="zh-CN" altLang="en-US" sz="1400" b="1">
                  <a:latin typeface="Times New Roman" panose="02020603050405020304" pitchFamily="18" charset="0"/>
                </a:rPr>
                <a:t>服务器端</a:t>
              </a:r>
              <a:endParaRPr lang="zh-CN" altLang="en-US" sz="1400" b="1"/>
            </a:p>
          </p:txBody>
        </p:sp>
        <p:sp>
          <p:nvSpPr>
            <p:cNvPr id="41990" name="Line 11"/>
            <p:cNvSpPr>
              <a:spLocks noChangeShapeType="1"/>
            </p:cNvSpPr>
            <p:nvPr/>
          </p:nvSpPr>
          <p:spPr bwMode="auto">
            <a:xfrm>
              <a:off x="3492" y="2688"/>
              <a:ext cx="899" cy="0"/>
            </a:xfrm>
            <a:prstGeom prst="line">
              <a:avLst/>
            </a:prstGeom>
            <a:noFill/>
            <a:ln w="9525">
              <a:solidFill>
                <a:srgbClr val="000000"/>
              </a:solidFill>
              <a:round/>
              <a:tailEnd type="triangle" w="med" len="med"/>
            </a:ln>
          </p:spPr>
          <p:txBody>
            <a:bodyPr/>
            <a:lstStyle/>
            <a:p>
              <a:endParaRPr lang="zh-CN" altLang="en-US"/>
            </a:p>
          </p:txBody>
        </p:sp>
        <p:sp>
          <p:nvSpPr>
            <p:cNvPr id="41991" name="Line 12"/>
            <p:cNvSpPr>
              <a:spLocks noChangeShapeType="1"/>
            </p:cNvSpPr>
            <p:nvPr/>
          </p:nvSpPr>
          <p:spPr bwMode="auto">
            <a:xfrm>
              <a:off x="5472" y="2687"/>
              <a:ext cx="899" cy="1"/>
            </a:xfrm>
            <a:prstGeom prst="line">
              <a:avLst/>
            </a:prstGeom>
            <a:noFill/>
            <a:ln w="9525">
              <a:solidFill>
                <a:srgbClr val="000000"/>
              </a:solidFill>
              <a:round/>
              <a:tailEnd type="triangle" w="med" len="med"/>
            </a:ln>
          </p:spPr>
          <p:txBody>
            <a:bodyPr/>
            <a:lstStyle/>
            <a:p>
              <a:endParaRPr lang="zh-CN" altLang="en-US"/>
            </a:p>
          </p:txBody>
        </p:sp>
        <p:sp>
          <p:nvSpPr>
            <p:cNvPr id="41992" name="Line 13"/>
            <p:cNvSpPr>
              <a:spLocks noChangeShapeType="1"/>
            </p:cNvSpPr>
            <p:nvPr/>
          </p:nvSpPr>
          <p:spPr bwMode="auto">
            <a:xfrm flipH="1">
              <a:off x="3492" y="2844"/>
              <a:ext cx="900" cy="0"/>
            </a:xfrm>
            <a:prstGeom prst="line">
              <a:avLst/>
            </a:prstGeom>
            <a:noFill/>
            <a:ln w="9525">
              <a:solidFill>
                <a:srgbClr val="000000"/>
              </a:solidFill>
              <a:round/>
              <a:tailEnd type="triangle" w="med" len="med"/>
            </a:ln>
          </p:spPr>
          <p:txBody>
            <a:bodyPr/>
            <a:lstStyle/>
            <a:p>
              <a:endParaRPr lang="zh-CN" altLang="en-US"/>
            </a:p>
          </p:txBody>
        </p:sp>
        <p:sp>
          <p:nvSpPr>
            <p:cNvPr id="41993" name="Line 14"/>
            <p:cNvSpPr>
              <a:spLocks noChangeShapeType="1"/>
            </p:cNvSpPr>
            <p:nvPr/>
          </p:nvSpPr>
          <p:spPr bwMode="auto">
            <a:xfrm flipH="1">
              <a:off x="5472" y="2844"/>
              <a:ext cx="900" cy="1"/>
            </a:xfrm>
            <a:prstGeom prst="line">
              <a:avLst/>
            </a:prstGeom>
            <a:noFill/>
            <a:ln w="9525">
              <a:solidFill>
                <a:srgbClr val="000000"/>
              </a:solidFill>
              <a:round/>
              <a:tailEnd type="triangle" w="med" len="med"/>
            </a:ln>
          </p:spPr>
          <p:txBody>
            <a:bodyPr/>
            <a:lstStyle/>
            <a:p>
              <a:endParaRPr lang="zh-CN" altLang="en-US"/>
            </a:p>
          </p:txBody>
        </p:sp>
        <p:sp>
          <p:nvSpPr>
            <p:cNvPr id="41994" name="AutoShape 15"/>
            <p:cNvSpPr>
              <a:spLocks noChangeArrowheads="1"/>
            </p:cNvSpPr>
            <p:nvPr/>
          </p:nvSpPr>
          <p:spPr bwMode="auto">
            <a:xfrm>
              <a:off x="4392" y="2532"/>
              <a:ext cx="1080" cy="468"/>
            </a:xfrm>
            <a:prstGeom prst="roundRect">
              <a:avLst>
                <a:gd name="adj" fmla="val 16667"/>
              </a:avLst>
            </a:prstGeom>
            <a:noFill/>
            <a:ln w="9525">
              <a:solidFill>
                <a:srgbClr val="000000"/>
              </a:solidFill>
              <a:round/>
            </a:ln>
          </p:spPr>
          <p:txBody>
            <a:bodyPr/>
            <a:lstStyle/>
            <a:p>
              <a:pPr algn="ctr"/>
              <a:endParaRPr lang="zh-CN" altLang="en-US" sz="1400" b="1">
                <a:latin typeface="Times New Roman" panose="02020603050405020304" pitchFamily="18" charset="0"/>
              </a:endParaRPr>
            </a:p>
            <a:p>
              <a:pPr algn="ctr"/>
              <a:r>
                <a:rPr lang="zh-CN" altLang="en-US" b="1">
                  <a:solidFill>
                    <a:srgbClr val="990033"/>
                  </a:solidFill>
                  <a:latin typeface="Times New Roman" panose="02020603050405020304" pitchFamily="18" charset="0"/>
                </a:rPr>
                <a:t>防火墙</a:t>
              </a:r>
              <a:endParaRPr lang="zh-CN" altLang="en-US" b="1">
                <a:solidFill>
                  <a:srgbClr val="990033"/>
                </a:solidFill>
              </a:endParaRPr>
            </a:p>
          </p:txBody>
        </p:sp>
        <p:sp>
          <p:nvSpPr>
            <p:cNvPr id="41995" name="AutoShape 16"/>
            <p:cNvSpPr>
              <a:spLocks noChangeArrowheads="1"/>
            </p:cNvSpPr>
            <p:nvPr/>
          </p:nvSpPr>
          <p:spPr bwMode="auto">
            <a:xfrm>
              <a:off x="2412" y="2532"/>
              <a:ext cx="1080" cy="468"/>
            </a:xfrm>
            <a:prstGeom prst="roundRect">
              <a:avLst>
                <a:gd name="adj" fmla="val 16667"/>
              </a:avLst>
            </a:prstGeom>
            <a:noFill/>
            <a:ln w="9525">
              <a:solidFill>
                <a:srgbClr val="000000"/>
              </a:solidFill>
              <a:round/>
            </a:ln>
          </p:spPr>
          <p:txBody>
            <a:bodyPr/>
            <a:lstStyle/>
            <a:p>
              <a:pPr algn="ctr"/>
              <a:endParaRPr lang="zh-CN" altLang="en-US" sz="1400" b="1">
                <a:latin typeface="Times New Roman" panose="02020603050405020304" pitchFamily="18" charset="0"/>
              </a:endParaRPr>
            </a:p>
            <a:p>
              <a:pPr algn="ctr"/>
              <a:r>
                <a:rPr lang="zh-CN" altLang="en-US" sz="1400" b="1">
                  <a:latin typeface="Times New Roman" panose="02020603050405020304" pitchFamily="18" charset="0"/>
                </a:rPr>
                <a:t>客户端</a:t>
              </a:r>
              <a:endParaRPr lang="zh-CN" altLang="en-US" sz="1400" b="1"/>
            </a:p>
          </p:txBody>
        </p:sp>
        <p:sp>
          <p:nvSpPr>
            <p:cNvPr id="41996" name="Text Box 17"/>
            <p:cNvSpPr txBox="1">
              <a:spLocks noChangeArrowheads="1"/>
            </p:cNvSpPr>
            <p:nvPr/>
          </p:nvSpPr>
          <p:spPr bwMode="auto">
            <a:xfrm>
              <a:off x="3672" y="2376"/>
              <a:ext cx="439" cy="456"/>
            </a:xfrm>
            <a:prstGeom prst="rect">
              <a:avLst/>
            </a:prstGeom>
            <a:noFill/>
            <a:ln w="9525">
              <a:noFill/>
              <a:miter lim="800000"/>
            </a:ln>
          </p:spPr>
          <p:txBody>
            <a:bodyPr/>
            <a:lstStyle/>
            <a:p>
              <a:pPr algn="just"/>
              <a:r>
                <a:rPr lang="zh-CN" altLang="en-US" sz="1400" b="1">
                  <a:latin typeface="宋体" panose="02010600030101010101" pitchFamily="2" charset="-122"/>
                </a:rPr>
                <a:t>①</a:t>
              </a:r>
              <a:endParaRPr lang="zh-CN" altLang="en-US" sz="1400" b="1"/>
            </a:p>
          </p:txBody>
        </p:sp>
        <p:sp>
          <p:nvSpPr>
            <p:cNvPr id="41997" name="Text Box 18"/>
            <p:cNvSpPr txBox="1">
              <a:spLocks noChangeArrowheads="1"/>
            </p:cNvSpPr>
            <p:nvPr/>
          </p:nvSpPr>
          <p:spPr bwMode="auto">
            <a:xfrm>
              <a:off x="5652" y="2376"/>
              <a:ext cx="439" cy="456"/>
            </a:xfrm>
            <a:prstGeom prst="rect">
              <a:avLst/>
            </a:prstGeom>
            <a:noFill/>
            <a:ln w="9525">
              <a:noFill/>
              <a:miter lim="800000"/>
            </a:ln>
          </p:spPr>
          <p:txBody>
            <a:bodyPr/>
            <a:lstStyle/>
            <a:p>
              <a:pPr algn="just"/>
              <a:r>
                <a:rPr lang="zh-CN" altLang="en-US" sz="1400" b="1">
                  <a:latin typeface="宋体" panose="02010600030101010101" pitchFamily="2" charset="-122"/>
                </a:rPr>
                <a:t>①</a:t>
              </a:r>
              <a:endParaRPr lang="zh-CN" altLang="en-US" sz="1400" b="1"/>
            </a:p>
          </p:txBody>
        </p:sp>
        <p:sp>
          <p:nvSpPr>
            <p:cNvPr id="41998" name="Text Box 19"/>
            <p:cNvSpPr txBox="1">
              <a:spLocks noChangeArrowheads="1"/>
            </p:cNvSpPr>
            <p:nvPr/>
          </p:nvSpPr>
          <p:spPr bwMode="auto">
            <a:xfrm>
              <a:off x="3672" y="2688"/>
              <a:ext cx="439" cy="456"/>
            </a:xfrm>
            <a:prstGeom prst="rect">
              <a:avLst/>
            </a:prstGeom>
            <a:noFill/>
            <a:ln w="9525">
              <a:noFill/>
              <a:miter lim="800000"/>
            </a:ln>
          </p:spPr>
          <p:txBody>
            <a:bodyPr/>
            <a:lstStyle/>
            <a:p>
              <a:pPr algn="just"/>
              <a:r>
                <a:rPr lang="zh-CN" altLang="en-US" sz="1400" b="1">
                  <a:latin typeface="宋体" panose="02010600030101010101" pitchFamily="2" charset="-122"/>
                </a:rPr>
                <a:t>②</a:t>
              </a:r>
              <a:endParaRPr lang="zh-CN" altLang="en-US" sz="1400" b="1"/>
            </a:p>
          </p:txBody>
        </p:sp>
        <p:sp>
          <p:nvSpPr>
            <p:cNvPr id="41999" name="Text Box 20"/>
            <p:cNvSpPr txBox="1">
              <a:spLocks noChangeArrowheads="1"/>
            </p:cNvSpPr>
            <p:nvPr/>
          </p:nvSpPr>
          <p:spPr bwMode="auto">
            <a:xfrm>
              <a:off x="5652" y="2688"/>
              <a:ext cx="439" cy="456"/>
            </a:xfrm>
            <a:prstGeom prst="rect">
              <a:avLst/>
            </a:prstGeom>
            <a:noFill/>
            <a:ln w="9525">
              <a:noFill/>
              <a:miter lim="800000"/>
            </a:ln>
          </p:spPr>
          <p:txBody>
            <a:bodyPr/>
            <a:lstStyle/>
            <a:p>
              <a:pPr algn="just"/>
              <a:r>
                <a:rPr lang="zh-CN" altLang="en-US" sz="1400" b="1">
                  <a:latin typeface="宋体" panose="02010600030101010101" pitchFamily="2" charset="-122"/>
                </a:rPr>
                <a:t>②</a:t>
              </a:r>
              <a:endParaRPr lang="zh-CN" altLang="en-US" sz="1400" b="1"/>
            </a:p>
          </p:txBody>
        </p:sp>
        <p:sp>
          <p:nvSpPr>
            <p:cNvPr id="42000" name="Line 21"/>
            <p:cNvSpPr>
              <a:spLocks noChangeShapeType="1"/>
            </p:cNvSpPr>
            <p:nvPr/>
          </p:nvSpPr>
          <p:spPr bwMode="auto">
            <a:xfrm>
              <a:off x="2952" y="3000"/>
              <a:ext cx="0" cy="312"/>
            </a:xfrm>
            <a:prstGeom prst="line">
              <a:avLst/>
            </a:prstGeom>
            <a:noFill/>
            <a:ln w="9525">
              <a:solidFill>
                <a:srgbClr val="000000"/>
              </a:solidFill>
              <a:round/>
            </a:ln>
          </p:spPr>
          <p:txBody>
            <a:bodyPr/>
            <a:lstStyle/>
            <a:p>
              <a:endParaRPr lang="zh-CN" altLang="en-US"/>
            </a:p>
          </p:txBody>
        </p:sp>
        <p:sp>
          <p:nvSpPr>
            <p:cNvPr id="42001" name="Line 22"/>
            <p:cNvSpPr>
              <a:spLocks noChangeShapeType="1"/>
            </p:cNvSpPr>
            <p:nvPr/>
          </p:nvSpPr>
          <p:spPr bwMode="auto">
            <a:xfrm>
              <a:off x="2952" y="3312"/>
              <a:ext cx="1620" cy="0"/>
            </a:xfrm>
            <a:prstGeom prst="line">
              <a:avLst/>
            </a:prstGeom>
            <a:noFill/>
            <a:ln w="9525">
              <a:solidFill>
                <a:srgbClr val="000000"/>
              </a:solidFill>
              <a:round/>
            </a:ln>
          </p:spPr>
          <p:txBody>
            <a:bodyPr/>
            <a:lstStyle/>
            <a:p>
              <a:endParaRPr lang="zh-CN" altLang="en-US"/>
            </a:p>
          </p:txBody>
        </p:sp>
        <p:sp>
          <p:nvSpPr>
            <p:cNvPr id="42002" name="Line 23"/>
            <p:cNvSpPr>
              <a:spLocks noChangeShapeType="1"/>
            </p:cNvSpPr>
            <p:nvPr/>
          </p:nvSpPr>
          <p:spPr bwMode="auto">
            <a:xfrm flipV="1">
              <a:off x="4572" y="3000"/>
              <a:ext cx="0" cy="312"/>
            </a:xfrm>
            <a:prstGeom prst="line">
              <a:avLst/>
            </a:prstGeom>
            <a:noFill/>
            <a:ln w="9525">
              <a:solidFill>
                <a:srgbClr val="000000"/>
              </a:solidFill>
              <a:round/>
              <a:tailEnd type="triangle" w="med" len="med"/>
            </a:ln>
          </p:spPr>
          <p:txBody>
            <a:bodyPr/>
            <a:lstStyle/>
            <a:p>
              <a:endParaRPr lang="zh-CN" altLang="en-US"/>
            </a:p>
          </p:txBody>
        </p:sp>
        <p:sp>
          <p:nvSpPr>
            <p:cNvPr id="42003" name="Text Box 24"/>
            <p:cNvSpPr txBox="1">
              <a:spLocks noChangeArrowheads="1"/>
            </p:cNvSpPr>
            <p:nvPr/>
          </p:nvSpPr>
          <p:spPr bwMode="auto">
            <a:xfrm>
              <a:off x="3312" y="3000"/>
              <a:ext cx="439" cy="456"/>
            </a:xfrm>
            <a:prstGeom prst="rect">
              <a:avLst/>
            </a:prstGeom>
            <a:noFill/>
            <a:ln w="9525">
              <a:noFill/>
              <a:miter lim="800000"/>
            </a:ln>
          </p:spPr>
          <p:txBody>
            <a:bodyPr/>
            <a:lstStyle/>
            <a:p>
              <a:pPr algn="just"/>
              <a:r>
                <a:rPr lang="zh-CN" altLang="en-US" sz="1400" b="1">
                  <a:latin typeface="宋体" panose="02010600030101010101" pitchFamily="2" charset="-122"/>
                </a:rPr>
                <a:t>③</a:t>
              </a:r>
              <a:endParaRPr lang="zh-CN" altLang="en-US" sz="1400" b="1"/>
            </a:p>
          </p:txBody>
        </p:sp>
        <p:sp>
          <p:nvSpPr>
            <p:cNvPr id="42004" name="Line 25"/>
            <p:cNvSpPr>
              <a:spLocks noChangeShapeType="1"/>
            </p:cNvSpPr>
            <p:nvPr/>
          </p:nvSpPr>
          <p:spPr bwMode="auto">
            <a:xfrm>
              <a:off x="5292" y="3012"/>
              <a:ext cx="0" cy="312"/>
            </a:xfrm>
            <a:prstGeom prst="line">
              <a:avLst/>
            </a:prstGeom>
            <a:noFill/>
            <a:ln w="9525">
              <a:solidFill>
                <a:srgbClr val="000000"/>
              </a:solidFill>
              <a:round/>
            </a:ln>
          </p:spPr>
          <p:txBody>
            <a:bodyPr/>
            <a:lstStyle/>
            <a:p>
              <a:endParaRPr lang="zh-CN" altLang="en-US"/>
            </a:p>
          </p:txBody>
        </p:sp>
        <p:sp>
          <p:nvSpPr>
            <p:cNvPr id="42005" name="Line 26"/>
            <p:cNvSpPr>
              <a:spLocks noChangeShapeType="1"/>
            </p:cNvSpPr>
            <p:nvPr/>
          </p:nvSpPr>
          <p:spPr bwMode="auto">
            <a:xfrm>
              <a:off x="5292" y="3324"/>
              <a:ext cx="1620" cy="0"/>
            </a:xfrm>
            <a:prstGeom prst="line">
              <a:avLst/>
            </a:prstGeom>
            <a:noFill/>
            <a:ln w="9525">
              <a:solidFill>
                <a:srgbClr val="000000"/>
              </a:solidFill>
              <a:round/>
            </a:ln>
          </p:spPr>
          <p:txBody>
            <a:bodyPr/>
            <a:lstStyle/>
            <a:p>
              <a:endParaRPr lang="zh-CN" altLang="en-US"/>
            </a:p>
          </p:txBody>
        </p:sp>
        <p:sp>
          <p:nvSpPr>
            <p:cNvPr id="42006" name="Line 27"/>
            <p:cNvSpPr>
              <a:spLocks noChangeShapeType="1"/>
            </p:cNvSpPr>
            <p:nvPr/>
          </p:nvSpPr>
          <p:spPr bwMode="auto">
            <a:xfrm flipV="1">
              <a:off x="6912" y="3012"/>
              <a:ext cx="0" cy="312"/>
            </a:xfrm>
            <a:prstGeom prst="line">
              <a:avLst/>
            </a:prstGeom>
            <a:noFill/>
            <a:ln w="9525">
              <a:solidFill>
                <a:srgbClr val="000000"/>
              </a:solidFill>
              <a:round/>
              <a:tailEnd type="triangle" w="med" len="med"/>
            </a:ln>
          </p:spPr>
          <p:txBody>
            <a:bodyPr/>
            <a:lstStyle/>
            <a:p>
              <a:endParaRPr lang="zh-CN" altLang="en-US"/>
            </a:p>
          </p:txBody>
        </p:sp>
        <p:sp>
          <p:nvSpPr>
            <p:cNvPr id="42007" name="Text Box 28"/>
            <p:cNvSpPr txBox="1">
              <a:spLocks noChangeArrowheads="1"/>
            </p:cNvSpPr>
            <p:nvPr/>
          </p:nvSpPr>
          <p:spPr bwMode="auto">
            <a:xfrm>
              <a:off x="5393" y="3000"/>
              <a:ext cx="439" cy="456"/>
            </a:xfrm>
            <a:prstGeom prst="rect">
              <a:avLst/>
            </a:prstGeom>
            <a:noFill/>
            <a:ln w="9525">
              <a:noFill/>
              <a:miter lim="800000"/>
            </a:ln>
          </p:spPr>
          <p:txBody>
            <a:bodyPr/>
            <a:lstStyle/>
            <a:p>
              <a:pPr algn="just"/>
              <a:r>
                <a:rPr lang="zh-CN" altLang="en-US" sz="1400" b="1">
                  <a:latin typeface="宋体" panose="02010600030101010101" pitchFamily="2" charset="-122"/>
                </a:rPr>
                <a:t>③</a:t>
              </a:r>
              <a:endParaRPr lang="zh-CN" altLang="en-US" sz="1400" b="1"/>
            </a:p>
          </p:txBody>
        </p:sp>
        <p:sp>
          <p:nvSpPr>
            <p:cNvPr id="42008" name="Text Box 29"/>
            <p:cNvSpPr txBox="1">
              <a:spLocks noChangeArrowheads="1"/>
            </p:cNvSpPr>
            <p:nvPr/>
          </p:nvSpPr>
          <p:spPr bwMode="auto">
            <a:xfrm>
              <a:off x="3132" y="3324"/>
              <a:ext cx="1440" cy="456"/>
            </a:xfrm>
            <a:prstGeom prst="rect">
              <a:avLst/>
            </a:prstGeom>
            <a:noFill/>
            <a:ln w="9525">
              <a:noFill/>
              <a:miter lim="800000"/>
            </a:ln>
          </p:spPr>
          <p:txBody>
            <a:bodyPr/>
            <a:lstStyle/>
            <a:p>
              <a:pPr algn="just"/>
              <a:r>
                <a:rPr lang="zh-CN" altLang="en-US" sz="1400" b="1">
                  <a:latin typeface="Times New Roman" panose="02020603050405020304" pitchFamily="18" charset="0"/>
                </a:rPr>
                <a:t>第一个三次握手</a:t>
              </a:r>
              <a:endParaRPr lang="zh-CN" altLang="en-US" sz="1400" b="1"/>
            </a:p>
          </p:txBody>
        </p:sp>
        <p:sp>
          <p:nvSpPr>
            <p:cNvPr id="42009" name="Text Box 30"/>
            <p:cNvSpPr txBox="1">
              <a:spLocks noChangeArrowheads="1"/>
            </p:cNvSpPr>
            <p:nvPr/>
          </p:nvSpPr>
          <p:spPr bwMode="auto">
            <a:xfrm>
              <a:off x="5472" y="3312"/>
              <a:ext cx="1440" cy="456"/>
            </a:xfrm>
            <a:prstGeom prst="rect">
              <a:avLst/>
            </a:prstGeom>
            <a:noFill/>
            <a:ln w="9525">
              <a:noFill/>
              <a:miter lim="800000"/>
            </a:ln>
          </p:spPr>
          <p:txBody>
            <a:bodyPr/>
            <a:lstStyle/>
            <a:p>
              <a:pPr algn="just"/>
              <a:r>
                <a:rPr lang="zh-CN" altLang="en-US" sz="1400" b="1">
                  <a:latin typeface="Times New Roman" panose="02020603050405020304" pitchFamily="18" charset="0"/>
                </a:rPr>
                <a:t>第二个三次握手</a:t>
              </a:r>
              <a:endParaRPr lang="zh-CN" altLang="en-US" sz="1400" b="1"/>
            </a:p>
          </p:txBody>
        </p:sp>
      </p:grpSp>
      <p:sp>
        <p:nvSpPr>
          <p:cNvPr id="42010" name="Rectangle 2"/>
          <p:cNvSpPr>
            <a:spLocks noChangeArrowheads="1"/>
          </p:cNvSpPr>
          <p:nvPr/>
        </p:nvSpPr>
        <p:spPr bwMode="auto">
          <a:xfrm>
            <a:off x="457200" y="260350"/>
            <a:ext cx="83820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8.3.4 </a:t>
            </a:r>
            <a:r>
              <a:rPr lang="zh-CN" altLang="en-US" sz="3600" b="1">
                <a:solidFill>
                  <a:schemeClr val="bg1"/>
                </a:solidFill>
                <a:latin typeface="Verdana" panose="020B0604030504040204" pitchFamily="34" charset="0"/>
              </a:rPr>
              <a:t>用防火墙阻止</a:t>
            </a:r>
            <a:r>
              <a:rPr lang="en-US" altLang="zh-CN" sz="3600" b="1">
                <a:solidFill>
                  <a:schemeClr val="bg1"/>
                </a:solidFill>
                <a:latin typeface="Verdana" panose="020B0604030504040204" pitchFamily="34" charset="0"/>
              </a:rPr>
              <a:t>SYN Flood</a:t>
            </a:r>
            <a:r>
              <a:rPr lang="zh-CN" altLang="en-US" sz="3600" b="1">
                <a:solidFill>
                  <a:schemeClr val="bg1"/>
                </a:solidFill>
                <a:latin typeface="Verdana" panose="020B0604030504040204" pitchFamily="34" charset="0"/>
              </a:rPr>
              <a:t>攻击</a:t>
            </a:r>
            <a:endParaRPr lang="zh-CN" altLang="en-US" sz="3600" b="1">
              <a:solidFill>
                <a:schemeClr val="bg1"/>
              </a:solidFill>
              <a:latin typeface="Verdana" panose="020B0604030504040204" pitchFamily="34" charset="0"/>
            </a:endParaRPr>
          </a:p>
        </p:txBody>
      </p:sp>
      <p:sp>
        <p:nvSpPr>
          <p:cNvPr id="42011" name="AutoShape 8"/>
          <p:cNvSpPr>
            <a:spLocks noChangeArrowheads="1"/>
          </p:cNvSpPr>
          <p:nvPr/>
        </p:nvSpPr>
        <p:spPr bwMode="auto">
          <a:xfrm>
            <a:off x="395288" y="3694113"/>
            <a:ext cx="8366125" cy="2741612"/>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3010" name="Rectangle 3"/>
          <p:cNvSpPr>
            <a:spLocks noChangeArrowheads="1"/>
          </p:cNvSpPr>
          <p:nvPr/>
        </p:nvSpPr>
        <p:spPr bwMode="auto">
          <a:xfrm>
            <a:off x="609600" y="1295400"/>
            <a:ext cx="8077200" cy="5257800"/>
          </a:xfrm>
          <a:prstGeom prst="rect">
            <a:avLst/>
          </a:prstGeom>
          <a:noFill/>
          <a:ln w="9525">
            <a:noFill/>
            <a:miter lim="800000"/>
          </a:ln>
        </p:spPr>
        <p:txBody>
          <a:bodyPr/>
          <a:lstStyle/>
          <a:p>
            <a:pPr eaLnBrk="0" hangingPunct="0">
              <a:spcBef>
                <a:spcPct val="20000"/>
              </a:spcBef>
            </a:pPr>
            <a:r>
              <a:rPr lang="zh-CN" altLang="en-US" sz="2600" b="1">
                <a:solidFill>
                  <a:srgbClr val="FF0000"/>
                </a:solidFill>
              </a:rPr>
              <a:t>      包过滤型防火墙</a:t>
            </a:r>
            <a:r>
              <a:rPr lang="zh-CN" altLang="en-US" sz="2600" b="1"/>
              <a:t>是工作于</a:t>
            </a:r>
            <a:r>
              <a:rPr lang="en-US" altLang="zh-CN" sz="2600" b="1"/>
              <a:t>IP</a:t>
            </a:r>
            <a:r>
              <a:rPr lang="zh-CN" altLang="en-US" sz="2600" b="1"/>
              <a:t>层或之下，对外来的数据报文，只是起一个</a:t>
            </a:r>
            <a:r>
              <a:rPr lang="zh-CN" altLang="en-US" sz="2600" b="1">
                <a:solidFill>
                  <a:srgbClr val="990033"/>
                </a:solidFill>
              </a:rPr>
              <a:t>过滤的作用</a:t>
            </a:r>
            <a:r>
              <a:rPr lang="zh-CN" altLang="en-US" sz="2600" b="1"/>
              <a:t>。当数据包合法时，它就直接将其转发给服务器，起到的是</a:t>
            </a:r>
            <a:r>
              <a:rPr lang="zh-CN" altLang="en-US" sz="2600" b="1">
                <a:solidFill>
                  <a:srgbClr val="990033"/>
                </a:solidFill>
              </a:rPr>
              <a:t>转发作用</a:t>
            </a:r>
            <a:r>
              <a:rPr lang="zh-CN" altLang="en-US" sz="2600" b="1"/>
              <a:t>。</a:t>
            </a:r>
            <a:endParaRPr lang="zh-CN" altLang="en-US" sz="2600" b="1"/>
          </a:p>
          <a:p>
            <a:pPr eaLnBrk="0" hangingPunct="0">
              <a:spcBef>
                <a:spcPct val="20000"/>
              </a:spcBef>
            </a:pPr>
            <a:r>
              <a:rPr lang="zh-CN" altLang="en-US" sz="2600" b="1"/>
              <a:t>      在包过滤型防火墙中，客户端同服务器的三次握手直接进行，并不需要通过防火墙来代理进行。包过滤型防火墙</a:t>
            </a:r>
            <a:r>
              <a:rPr lang="zh-CN" altLang="en-US" sz="2600" b="1">
                <a:solidFill>
                  <a:srgbClr val="990033"/>
                </a:solidFill>
              </a:rPr>
              <a:t>效率</a:t>
            </a:r>
            <a:r>
              <a:rPr lang="zh-CN" altLang="en-US" sz="2600" b="1"/>
              <a:t>要较网关型防火墙</a:t>
            </a:r>
            <a:r>
              <a:rPr lang="zh-CN" altLang="en-US" sz="2600" b="1">
                <a:solidFill>
                  <a:srgbClr val="990033"/>
                </a:solidFill>
              </a:rPr>
              <a:t>高</a:t>
            </a:r>
            <a:r>
              <a:rPr lang="zh-CN" altLang="en-US" sz="2600" b="1"/>
              <a:t>，</a:t>
            </a:r>
            <a:r>
              <a:rPr lang="zh-CN" altLang="en-US" sz="2600" b="1">
                <a:solidFill>
                  <a:srgbClr val="990033"/>
                </a:solidFill>
              </a:rPr>
              <a:t>允许数据流量大</a:t>
            </a:r>
            <a:r>
              <a:rPr lang="zh-CN" altLang="en-US" sz="2600" b="1"/>
              <a:t>。但是这种防火墙如果配置不当的话，会让攻击者绕过防火墙而直接攻击到服务器。而且允许数据量大会更有利于</a:t>
            </a:r>
            <a:r>
              <a:rPr lang="en-US" altLang="zh-CN" sz="2600" b="1"/>
              <a:t>SYN Flood</a:t>
            </a:r>
            <a:r>
              <a:rPr lang="zh-CN" altLang="en-US" sz="2600" b="1"/>
              <a:t>攻击。这种防火墙适合于大流量的服务器，但是需要设置妥当才能保证服务器具有较高的安全性和稳定性。</a:t>
            </a:r>
            <a:endParaRPr lang="zh-CN" altLang="en-US" sz="2600" b="1"/>
          </a:p>
        </p:txBody>
      </p:sp>
      <p:pic>
        <p:nvPicPr>
          <p:cNvPr id="43011" name="Picture 6" descr="j0300520"/>
          <p:cNvPicPr>
            <a:picLocks noChangeAspect="1" noChangeArrowheads="1"/>
          </p:cNvPicPr>
          <p:nvPr/>
        </p:nvPicPr>
        <p:blipFill>
          <a:blip r:embed="rId1" cstate="print"/>
          <a:srcRect/>
          <a:stretch>
            <a:fillRect/>
          </a:stretch>
        </p:blipFill>
        <p:spPr bwMode="auto">
          <a:xfrm>
            <a:off x="5076825" y="5743575"/>
            <a:ext cx="1150938" cy="925513"/>
          </a:xfrm>
          <a:prstGeom prst="rect">
            <a:avLst/>
          </a:prstGeom>
          <a:noFill/>
          <a:ln w="9525">
            <a:noFill/>
            <a:miter lim="800000"/>
            <a:headEnd/>
            <a:tailEnd/>
          </a:ln>
        </p:spPr>
      </p:pic>
      <p:sp>
        <p:nvSpPr>
          <p:cNvPr id="43012" name="Rectangle 2"/>
          <p:cNvSpPr>
            <a:spLocks noChangeArrowheads="1"/>
          </p:cNvSpPr>
          <p:nvPr/>
        </p:nvSpPr>
        <p:spPr bwMode="auto">
          <a:xfrm>
            <a:off x="228600" y="260350"/>
            <a:ext cx="86106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8.3.4 </a:t>
            </a:r>
            <a:r>
              <a:rPr lang="zh-CN" altLang="en-US" sz="3600" b="1">
                <a:solidFill>
                  <a:schemeClr val="bg1"/>
                </a:solidFill>
                <a:latin typeface="Verdana" panose="020B0604030504040204" pitchFamily="34" charset="0"/>
              </a:rPr>
              <a:t>用防火墙阻止</a:t>
            </a:r>
            <a:r>
              <a:rPr lang="en-US" altLang="zh-CN" sz="3600" b="1">
                <a:solidFill>
                  <a:schemeClr val="bg1"/>
                </a:solidFill>
                <a:latin typeface="Verdana" panose="020B0604030504040204" pitchFamily="34" charset="0"/>
              </a:rPr>
              <a:t>SYN Flood</a:t>
            </a:r>
            <a:r>
              <a:rPr lang="zh-CN" altLang="en-US" sz="3600" b="1">
                <a:solidFill>
                  <a:schemeClr val="bg1"/>
                </a:solidFill>
                <a:latin typeface="Verdana" panose="020B0604030504040204" pitchFamily="34" charset="0"/>
              </a:rPr>
              <a:t>攻击</a:t>
            </a:r>
            <a:endParaRPr lang="zh-CN" altLang="en-US" sz="3600" b="1">
              <a:solidFill>
                <a:schemeClr val="bg1"/>
              </a:solidFill>
              <a:latin typeface="Verdana" panose="020B0604030504040204" pitchFamily="34" charset="0"/>
            </a:endParaRPr>
          </a:p>
        </p:txBody>
      </p:sp>
      <p:sp>
        <p:nvSpPr>
          <p:cNvPr id="43013" name="AutoShape 8"/>
          <p:cNvSpPr>
            <a:spLocks noChangeArrowheads="1"/>
          </p:cNvSpPr>
          <p:nvPr/>
        </p:nvSpPr>
        <p:spPr bwMode="auto">
          <a:xfrm>
            <a:off x="487363"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4034" name="Rectangle 3"/>
          <p:cNvSpPr>
            <a:spLocks noChangeArrowheads="1"/>
          </p:cNvSpPr>
          <p:nvPr/>
        </p:nvSpPr>
        <p:spPr bwMode="auto">
          <a:xfrm>
            <a:off x="609600" y="1700808"/>
            <a:ext cx="8077200" cy="2278063"/>
          </a:xfrm>
          <a:prstGeom prst="rect">
            <a:avLst/>
          </a:prstGeom>
          <a:noFill/>
          <a:ln w="9525">
            <a:noFill/>
            <a:miter lim="800000"/>
          </a:ln>
        </p:spPr>
        <p:txBody>
          <a:bodyPr/>
          <a:lstStyle/>
          <a:p>
            <a:pPr eaLnBrk="0" hangingPunct="0">
              <a:spcBef>
                <a:spcPct val="20000"/>
              </a:spcBef>
            </a:pPr>
            <a:r>
              <a:rPr lang="zh-CN" altLang="en-US" sz="2600" b="1" dirty="0"/>
              <a:t>（</a:t>
            </a:r>
            <a:r>
              <a:rPr lang="en-US" altLang="zh-CN" sz="2600" b="1" dirty="0"/>
              <a:t>2</a:t>
            </a:r>
            <a:r>
              <a:rPr lang="zh-CN" altLang="en-US" sz="2600" b="1" dirty="0"/>
              <a:t>）防御</a:t>
            </a:r>
            <a:r>
              <a:rPr lang="en-US" altLang="zh-CN" sz="2600" b="1" dirty="0"/>
              <a:t>SYN Flood</a:t>
            </a:r>
            <a:r>
              <a:rPr lang="zh-CN" altLang="en-US" sz="2600" b="1" dirty="0"/>
              <a:t>攻击的防火墙设置</a:t>
            </a:r>
            <a:endParaRPr lang="zh-CN" altLang="en-US" sz="2600" b="1" dirty="0"/>
          </a:p>
          <a:p>
            <a:pPr eaLnBrk="0" hangingPunct="0">
              <a:spcBef>
                <a:spcPct val="20000"/>
              </a:spcBef>
            </a:pPr>
            <a:r>
              <a:rPr lang="zh-CN" altLang="en-US" sz="2600" b="1" dirty="0"/>
              <a:t>      除了可以直接采用以上两种不同类型的防火墙进行</a:t>
            </a:r>
            <a:r>
              <a:rPr lang="en-US" altLang="zh-CN" sz="2600" b="1" dirty="0"/>
              <a:t>SYN Flood</a:t>
            </a:r>
            <a:r>
              <a:rPr lang="zh-CN" altLang="en-US" sz="2600" b="1" dirty="0"/>
              <a:t>防御外，还可进行一些特殊的防火墙设置来达到目的。针对</a:t>
            </a:r>
            <a:r>
              <a:rPr lang="en-US" altLang="zh-CN" sz="2600" b="1" dirty="0"/>
              <a:t>SYN Flood</a:t>
            </a:r>
            <a:r>
              <a:rPr lang="zh-CN" altLang="en-US" sz="2600" b="1" dirty="0"/>
              <a:t>攻击，防火墙通常有</a:t>
            </a:r>
            <a:r>
              <a:rPr lang="zh-CN" altLang="en-US" sz="2600" b="1" dirty="0">
                <a:solidFill>
                  <a:srgbClr val="990033"/>
                </a:solidFill>
              </a:rPr>
              <a:t>三种防护方式</a:t>
            </a:r>
            <a:r>
              <a:rPr lang="zh-CN" altLang="en-US" sz="2600" b="1" dirty="0"/>
              <a:t>：</a:t>
            </a:r>
            <a:r>
              <a:rPr lang="en-US" altLang="zh-CN" sz="2600" b="1" dirty="0"/>
              <a:t>SYN</a:t>
            </a:r>
            <a:r>
              <a:rPr lang="zh-CN" altLang="en-US" sz="2600" b="1" dirty="0"/>
              <a:t>网关、被动式</a:t>
            </a:r>
            <a:r>
              <a:rPr lang="en-US" altLang="zh-CN" sz="2600" b="1" dirty="0"/>
              <a:t>SYN</a:t>
            </a:r>
            <a:r>
              <a:rPr lang="zh-CN" altLang="en-US" sz="2600" b="1" dirty="0"/>
              <a:t>网关和</a:t>
            </a:r>
            <a:r>
              <a:rPr lang="en-US" altLang="zh-CN" sz="2600" b="1" dirty="0"/>
              <a:t>SYN</a:t>
            </a:r>
            <a:r>
              <a:rPr lang="zh-CN" altLang="en-US" sz="2600" b="1" dirty="0"/>
              <a:t>中继</a:t>
            </a:r>
            <a:r>
              <a:rPr lang="en-US" altLang="zh-CN" sz="2600" b="1" dirty="0"/>
              <a:t>.</a:t>
            </a:r>
            <a:endParaRPr lang="en-US" altLang="zh-CN" sz="2600" b="1" dirty="0"/>
          </a:p>
        </p:txBody>
      </p:sp>
      <p:pic>
        <p:nvPicPr>
          <p:cNvPr id="44035" name="Picture 7" descr="j0234657"/>
          <p:cNvPicPr>
            <a:picLocks noChangeAspect="1" noChangeArrowheads="1"/>
          </p:cNvPicPr>
          <p:nvPr/>
        </p:nvPicPr>
        <p:blipFill>
          <a:blip r:embed="rId1" cstate="print"/>
          <a:srcRect/>
          <a:stretch>
            <a:fillRect/>
          </a:stretch>
        </p:blipFill>
        <p:spPr bwMode="auto">
          <a:xfrm>
            <a:off x="6227763" y="4437112"/>
            <a:ext cx="1217612" cy="1185863"/>
          </a:xfrm>
          <a:prstGeom prst="rect">
            <a:avLst/>
          </a:prstGeom>
          <a:noFill/>
          <a:ln w="9525">
            <a:noFill/>
            <a:miter lim="800000"/>
            <a:headEnd/>
            <a:tailEnd/>
          </a:ln>
        </p:spPr>
      </p:pic>
      <p:sp>
        <p:nvSpPr>
          <p:cNvPr id="44036" name="Rectangle 2"/>
          <p:cNvSpPr>
            <a:spLocks noChangeArrowheads="1"/>
          </p:cNvSpPr>
          <p:nvPr/>
        </p:nvSpPr>
        <p:spPr bwMode="auto">
          <a:xfrm>
            <a:off x="838200" y="228600"/>
            <a:ext cx="80772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8.3.4 </a:t>
            </a:r>
            <a:r>
              <a:rPr lang="zh-CN" altLang="en-US" sz="3600" b="1">
                <a:solidFill>
                  <a:schemeClr val="bg1"/>
                </a:solidFill>
                <a:latin typeface="Verdana" panose="020B0604030504040204" pitchFamily="34" charset="0"/>
              </a:rPr>
              <a:t>用防火墙阻止</a:t>
            </a:r>
            <a:r>
              <a:rPr lang="en-US" altLang="zh-CN" sz="3600" b="1">
                <a:solidFill>
                  <a:schemeClr val="bg1"/>
                </a:solidFill>
                <a:latin typeface="Verdana" panose="020B0604030504040204" pitchFamily="34" charset="0"/>
              </a:rPr>
              <a:t>SYN Flood</a:t>
            </a:r>
            <a:r>
              <a:rPr lang="zh-CN" altLang="en-US" sz="3600" b="1">
                <a:solidFill>
                  <a:schemeClr val="bg1"/>
                </a:solidFill>
                <a:latin typeface="Verdana" panose="020B0604030504040204" pitchFamily="34" charset="0"/>
              </a:rPr>
              <a:t>攻击</a:t>
            </a:r>
            <a:endParaRPr lang="zh-CN" altLang="en-US" sz="3600" b="1">
              <a:solidFill>
                <a:schemeClr val="bg1"/>
              </a:solidFill>
              <a:latin typeface="Verdana" panose="020B0604030504040204" pitchFamily="34" charset="0"/>
            </a:endParaRPr>
          </a:p>
        </p:txBody>
      </p:sp>
      <p:sp>
        <p:nvSpPr>
          <p:cNvPr id="44037" name="AutoShape 8"/>
          <p:cNvSpPr>
            <a:spLocks noChangeArrowheads="1"/>
          </p:cNvSpPr>
          <p:nvPr/>
        </p:nvSpPr>
        <p:spPr bwMode="auto">
          <a:xfrm>
            <a:off x="487363"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381000" y="1219200"/>
            <a:ext cx="86106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45058" name="Picture 7" descr="j0234657"/>
          <p:cNvPicPr>
            <a:picLocks noChangeAspect="1" noChangeArrowheads="1"/>
          </p:cNvPicPr>
          <p:nvPr/>
        </p:nvPicPr>
        <p:blipFill>
          <a:blip r:embed="rId1" cstate="print"/>
          <a:srcRect/>
          <a:stretch>
            <a:fillRect/>
          </a:stretch>
        </p:blipFill>
        <p:spPr bwMode="auto">
          <a:xfrm>
            <a:off x="6444208" y="4509120"/>
            <a:ext cx="1217613" cy="1185862"/>
          </a:xfrm>
          <a:prstGeom prst="rect">
            <a:avLst/>
          </a:prstGeom>
          <a:noFill/>
          <a:ln w="9525">
            <a:noFill/>
            <a:miter lim="800000"/>
            <a:headEnd/>
            <a:tailEnd/>
          </a:ln>
        </p:spPr>
      </p:pic>
      <p:sp>
        <p:nvSpPr>
          <p:cNvPr id="9225" name="AutoShape 9"/>
          <p:cNvSpPr>
            <a:spLocks noChangeArrowheads="1"/>
          </p:cNvSpPr>
          <p:nvPr/>
        </p:nvSpPr>
        <p:spPr bwMode="auto">
          <a:xfrm>
            <a:off x="381000" y="1393825"/>
            <a:ext cx="8305800" cy="2971279"/>
          </a:xfrm>
          <a:prstGeom prst="flowChartAlternateProcess">
            <a:avLst/>
          </a:prstGeom>
          <a:solidFill>
            <a:srgbClr val="FFFF99"/>
          </a:solidFill>
          <a:ln w="25400">
            <a:solidFill>
              <a:srgbClr val="00CCFF"/>
            </a:solidFill>
            <a:miter lim="800000"/>
          </a:ln>
        </p:spPr>
        <p:txBody>
          <a:bodyPr anchor="ctr"/>
          <a:lstStyle/>
          <a:p>
            <a:pPr>
              <a:defRPr/>
            </a:pPr>
            <a:r>
              <a:rPr lang="zh-CN" altLang="en-US" sz="2000"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2000"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讨论思考：</a:t>
            </a:r>
            <a:endParaRPr lang="zh-CN" altLang="en-US" sz="2000"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endParaRPr>
          </a:p>
          <a:p>
            <a:pPr>
              <a:defRPr/>
            </a:pP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a:t>
            </a:r>
            <a:r>
              <a:rPr lang="en-US" altLang="zh-CN"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1</a:t>
            </a: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）为什么将企业网络划分为</a:t>
            </a:r>
            <a:r>
              <a:rPr lang="en-US" altLang="zh-CN"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3</a:t>
            </a: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个区域？外围网络有什么用处？</a:t>
            </a:r>
            <a:endPar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endParaRPr>
          </a:p>
          <a:p>
            <a:pPr>
              <a:defRPr/>
            </a:pP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a:t>
            </a:r>
            <a:r>
              <a:rPr lang="en-US" altLang="zh-CN"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2</a:t>
            </a: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）冗余容错技术主要有哪些？增加冗余后为什么安全性会有所提高？</a:t>
            </a:r>
            <a:endPar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endParaRPr>
          </a:p>
          <a:p>
            <a:pPr>
              <a:defRPr/>
            </a:pP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a:t>
            </a:r>
            <a:r>
              <a:rPr lang="en-US" altLang="zh-CN"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3</a:t>
            </a: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a:t>
            </a:r>
            <a:r>
              <a:rPr lang="en-US" altLang="zh-CN"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SYN Flood</a:t>
            </a: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攻击是利用了什么漏洞？</a:t>
            </a:r>
            <a:endPar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endParaRPr>
          </a:p>
          <a:p>
            <a:pPr>
              <a:defRPr/>
            </a:pP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a:t>
            </a:r>
            <a:r>
              <a:rPr lang="en-US" altLang="zh-CN"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4</a:t>
            </a: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a:t>
            </a:r>
            <a:r>
              <a:rPr lang="en-US" altLang="zh-CN"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DDoS</a:t>
            </a: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是如何实现的？常用的攻击手段除了</a:t>
            </a:r>
            <a:r>
              <a:rPr lang="en-US" altLang="zh-CN"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SYN Flood</a:t>
            </a:r>
            <a:r>
              <a:rPr lang="zh-CN" altLang="en-US" sz="2000" dirty="0">
                <a:effectLst>
                  <a:outerShdw blurRad="38100" dist="38100" dir="2700000" algn="tl">
                    <a:srgbClr val="000000"/>
                  </a:outerShdw>
                </a:effectLst>
                <a:latin typeface="Times New Roman" panose="02020603050405020304" pitchFamily="18" charset="0"/>
                <a:ea typeface="楷体_GB2312" panose="02010609030101010101" pitchFamily="49" charset="-122"/>
              </a:rPr>
              <a:t>以外还有哪些？</a:t>
            </a:r>
            <a:endParaRPr lang="en-US" altLang="zh-CN" sz="2000" dirty="0">
              <a:effectLst>
                <a:outerShdw blurRad="38100" dist="38100" dir="2700000" algn="tl">
                  <a:srgbClr val="000000"/>
                </a:outerShdw>
              </a:effectLst>
              <a:latin typeface="Times New Roman" panose="02020603050405020304" pitchFamily="18" charset="0"/>
              <a:ea typeface="楷体_GB2312" panose="02010609030101010101" pitchFamily="49" charset="-122"/>
            </a:endParaRPr>
          </a:p>
        </p:txBody>
      </p:sp>
      <p:sp>
        <p:nvSpPr>
          <p:cNvPr id="45060" name="Rectangle 2"/>
          <p:cNvSpPr>
            <a:spLocks noChangeArrowheads="1"/>
          </p:cNvSpPr>
          <p:nvPr/>
        </p:nvSpPr>
        <p:spPr bwMode="auto">
          <a:xfrm>
            <a:off x="914400" y="260350"/>
            <a:ext cx="7772400" cy="563563"/>
          </a:xfrm>
          <a:prstGeom prst="rect">
            <a:avLst/>
          </a:prstGeom>
          <a:noFill/>
          <a:ln w="9525">
            <a:noFill/>
            <a:miter lim="800000"/>
          </a:ln>
        </p:spPr>
        <p:txBody>
          <a:bodyPr anchor="ctr"/>
          <a:lstStyle/>
          <a:p>
            <a:pPr algn="ctr"/>
            <a:r>
              <a:rPr lang="en-US" altLang="zh-CN" sz="3600" b="1">
                <a:solidFill>
                  <a:schemeClr val="bg1"/>
                </a:solidFill>
                <a:latin typeface="Verdana" panose="020B0604030504040204" pitchFamily="34" charset="0"/>
              </a:rPr>
              <a:t>8.3 </a:t>
            </a:r>
            <a:r>
              <a:rPr lang="zh-CN" altLang="en-US" sz="3600" b="1">
                <a:solidFill>
                  <a:schemeClr val="bg1"/>
                </a:solidFill>
                <a:latin typeface="Verdana" panose="020B0604030504040204" pitchFamily="34" charset="0"/>
              </a:rPr>
              <a:t>防火墙的主要应用</a:t>
            </a:r>
            <a:endParaRPr lang="zh-CN" altLang="en-US" sz="3600" b="1">
              <a:solidFill>
                <a:schemeClr val="bg1"/>
              </a:solidFill>
              <a:latin typeface="Verdana" panose="020B0604030504040204"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p:cNvSpPr>
            <a:spLocks noGrp="1" noChangeArrowheads="1"/>
          </p:cNvSpPr>
          <p:nvPr>
            <p:ph type="title" idx="4294967295"/>
          </p:nvPr>
        </p:nvSpPr>
        <p:spPr>
          <a:xfrm>
            <a:off x="0" y="8037"/>
            <a:ext cx="9144000" cy="685800"/>
          </a:xfrm>
        </p:spPr>
        <p:txBody>
          <a:bodyPr/>
          <a:lstStyle/>
          <a:p>
            <a:br>
              <a:rPr lang="en-US" altLang="zh-CN" dirty="0" smtClean="0">
                <a:ea typeface="宋体" panose="02010600030101010101" pitchFamily="2" charset="-122"/>
              </a:rPr>
            </a:br>
            <a:r>
              <a:rPr lang="en-US" altLang="zh-CN" dirty="0" smtClean="0">
                <a:ea typeface="宋体" panose="02010600030101010101" pitchFamily="2" charset="-122"/>
              </a:rPr>
              <a:t>8.4 </a:t>
            </a:r>
            <a:r>
              <a:rPr lang="zh-CN" altLang="en-US" dirty="0" smtClean="0">
                <a:ea typeface="宋体" panose="02010600030101010101" pitchFamily="2" charset="-122"/>
              </a:rPr>
              <a:t>实</a:t>
            </a:r>
            <a:r>
              <a:rPr lang="zh-CN" altLang="zh-CN" dirty="0" smtClean="0">
                <a:ea typeface="宋体" panose="02010600030101010101" pitchFamily="2" charset="-122"/>
              </a:rPr>
              <a:t>验</a:t>
            </a:r>
            <a:r>
              <a:rPr lang="en-US" altLang="zh-CN" dirty="0" smtClean="0">
                <a:ea typeface="宋体" panose="02010600030101010101" pitchFamily="2" charset="-122"/>
              </a:rPr>
              <a:t>8</a:t>
            </a:r>
            <a:r>
              <a:rPr lang="zh-CN" altLang="zh-CN" dirty="0" smtClean="0">
                <a:ea typeface="宋体" panose="02010600030101010101" pitchFamily="2" charset="-122"/>
              </a:rPr>
              <a:t> 华为防火墙配置</a:t>
            </a:r>
            <a:r>
              <a:rPr lang="en-US" altLang="zh-CN" dirty="0" smtClean="0">
                <a:ea typeface="宋体" panose="02010600030101010101" pitchFamily="2" charset="-122"/>
              </a:rPr>
              <a:t>AAA </a:t>
            </a:r>
            <a:r>
              <a:rPr lang="zh-CN" altLang="zh-CN" dirty="0" smtClean="0">
                <a:ea typeface="宋体" panose="02010600030101010101" pitchFamily="2" charset="-122"/>
              </a:rPr>
              <a:t>认证</a:t>
            </a:r>
            <a:endParaRPr lang="zh-CN" altLang="zh-CN" dirty="0" smtClean="0">
              <a:ea typeface="宋体" panose="02010600030101010101" pitchFamily="2" charset="-122"/>
            </a:endParaRPr>
          </a:p>
        </p:txBody>
      </p:sp>
      <p:sp>
        <p:nvSpPr>
          <p:cNvPr id="46082" name="内容占位符 2"/>
          <p:cNvSpPr>
            <a:spLocks noGrp="1" noChangeArrowheads="1"/>
          </p:cNvSpPr>
          <p:nvPr>
            <p:ph idx="4294967295"/>
          </p:nvPr>
        </p:nvSpPr>
        <p:spPr/>
        <p:txBody>
          <a:bodyPr/>
          <a:lstStyle/>
          <a:p>
            <a:pPr>
              <a:lnSpc>
                <a:spcPct val="110000"/>
              </a:lnSpc>
              <a:spcBef>
                <a:spcPct val="35000"/>
              </a:spcBef>
            </a:pPr>
            <a:r>
              <a:rPr lang="en-US" altLang="zh-CN" sz="2800" smtClean="0">
                <a:solidFill>
                  <a:srgbClr val="CC0000"/>
                </a:solidFill>
              </a:rPr>
              <a:t>8.4.1 </a:t>
            </a:r>
            <a:r>
              <a:rPr lang="zh-CN" altLang="zh-CN" sz="2800" smtClean="0">
                <a:solidFill>
                  <a:srgbClr val="CC0000"/>
                </a:solidFill>
              </a:rPr>
              <a:t>实验目的与要求</a:t>
            </a:r>
            <a:endParaRPr lang="zh-CN" altLang="zh-CN" sz="2800" smtClean="0">
              <a:solidFill>
                <a:srgbClr val="CC0000"/>
              </a:solidFill>
            </a:endParaRPr>
          </a:p>
          <a:p>
            <a:pPr>
              <a:lnSpc>
                <a:spcPct val="110000"/>
              </a:lnSpc>
              <a:spcBef>
                <a:spcPct val="35000"/>
              </a:spcBef>
              <a:buFont typeface="Wingdings" panose="05000000000000000000" pitchFamily="2" charset="2"/>
              <a:buNone/>
            </a:pPr>
            <a:r>
              <a:rPr lang="en-US" altLang="zh-CN" smtClean="0"/>
              <a:t>1) </a:t>
            </a:r>
            <a:r>
              <a:rPr lang="zh-CN" altLang="en-US" smtClean="0"/>
              <a:t>了解华为防火墙配置过程。</a:t>
            </a:r>
            <a:endParaRPr lang="zh-CN" altLang="en-US" smtClean="0"/>
          </a:p>
          <a:p>
            <a:pPr>
              <a:lnSpc>
                <a:spcPct val="110000"/>
              </a:lnSpc>
              <a:spcBef>
                <a:spcPct val="35000"/>
              </a:spcBef>
              <a:buFont typeface="Wingdings" panose="05000000000000000000" pitchFamily="2" charset="2"/>
              <a:buNone/>
            </a:pPr>
            <a:r>
              <a:rPr lang="en-US" altLang="zh-CN" smtClean="0"/>
              <a:t>2) </a:t>
            </a:r>
            <a:r>
              <a:rPr lang="zh-CN" altLang="en-US" smtClean="0"/>
              <a:t>理解</a:t>
            </a:r>
            <a:r>
              <a:rPr lang="en-US" altLang="zh-CN" smtClean="0"/>
              <a:t>AAA</a:t>
            </a:r>
            <a:r>
              <a:rPr lang="zh-CN" altLang="en-US" smtClean="0"/>
              <a:t>本地方式认证的配置及实施过程。</a:t>
            </a:r>
            <a:endParaRPr lang="zh-CN" altLang="en-US" smtClean="0"/>
          </a:p>
          <a:p>
            <a:pPr>
              <a:lnSpc>
                <a:spcPct val="110000"/>
              </a:lnSpc>
              <a:spcBef>
                <a:spcPct val="35000"/>
              </a:spcBef>
              <a:buFont typeface="Wingdings" panose="05000000000000000000" pitchFamily="2" charset="2"/>
              <a:buNone/>
            </a:pPr>
            <a:endParaRPr lang="zh-CN" altLang="en-US" smtClean="0"/>
          </a:p>
          <a:p>
            <a:pPr>
              <a:lnSpc>
                <a:spcPct val="110000"/>
              </a:lnSpc>
              <a:spcBef>
                <a:spcPct val="35000"/>
              </a:spcBef>
            </a:pPr>
            <a:r>
              <a:rPr lang="en-US" altLang="zh-CN" sz="2800" smtClean="0">
                <a:solidFill>
                  <a:srgbClr val="CC0000"/>
                </a:solidFill>
              </a:rPr>
              <a:t>8.4.2 </a:t>
            </a:r>
            <a:r>
              <a:rPr lang="zh-CN" altLang="zh-CN" sz="2800" smtClean="0">
                <a:solidFill>
                  <a:srgbClr val="CC0000"/>
                </a:solidFill>
              </a:rPr>
              <a:t>实验环境</a:t>
            </a:r>
            <a:endParaRPr lang="zh-CN" altLang="zh-CN" sz="2800" smtClean="0">
              <a:solidFill>
                <a:srgbClr val="CC0000"/>
              </a:solidFill>
            </a:endParaRPr>
          </a:p>
          <a:p>
            <a:pPr>
              <a:lnSpc>
                <a:spcPct val="110000"/>
              </a:lnSpc>
              <a:spcBef>
                <a:spcPct val="35000"/>
              </a:spcBef>
              <a:buFont typeface="Wingdings" panose="05000000000000000000" pitchFamily="2" charset="2"/>
              <a:buNone/>
            </a:pPr>
            <a:r>
              <a:rPr lang="en-US" altLang="zh-CN" smtClean="0"/>
              <a:t>1</a:t>
            </a:r>
            <a:r>
              <a:rPr lang="zh-CN" altLang="en-US" smtClean="0"/>
              <a:t>）华为</a:t>
            </a:r>
            <a:r>
              <a:rPr lang="en-US" altLang="zh-CN" smtClean="0"/>
              <a:t>USG 5120</a:t>
            </a:r>
            <a:r>
              <a:rPr lang="zh-CN" altLang="en-US" smtClean="0"/>
              <a:t>防火墙一台。</a:t>
            </a:r>
            <a:endParaRPr lang="zh-CN" altLang="en-US" smtClean="0"/>
          </a:p>
          <a:p>
            <a:pPr>
              <a:lnSpc>
                <a:spcPct val="110000"/>
              </a:lnSpc>
              <a:spcBef>
                <a:spcPct val="35000"/>
              </a:spcBef>
              <a:buFont typeface="Wingdings" panose="05000000000000000000" pitchFamily="2" charset="2"/>
              <a:buNone/>
            </a:pPr>
            <a:r>
              <a:rPr lang="en-US" altLang="zh-CN" smtClean="0"/>
              <a:t>2</a:t>
            </a:r>
            <a:r>
              <a:rPr lang="zh-CN" altLang="en-US" smtClean="0"/>
              <a:t>）计算机一台，通过串口接入防火墙</a:t>
            </a:r>
            <a:r>
              <a:rPr lang="en-US" altLang="zh-CN" smtClean="0"/>
              <a:t>Console </a:t>
            </a:r>
            <a:r>
              <a:rPr lang="zh-CN" altLang="en-US" smtClean="0"/>
              <a:t>口，搭建配置环境。</a:t>
            </a:r>
            <a:endParaRPr lang="zh-CN" altLang="en-US" smtClean="0"/>
          </a:p>
          <a:p>
            <a:pPr>
              <a:lnSpc>
                <a:spcPct val="110000"/>
              </a:lnSpc>
              <a:spcBef>
                <a:spcPct val="35000"/>
              </a:spcBef>
              <a:buFont typeface="Wingdings" panose="05000000000000000000" pitchFamily="2" charset="2"/>
              <a:buNone/>
            </a:pPr>
            <a:r>
              <a:rPr lang="en-US" altLang="zh-CN" smtClean="0"/>
              <a:t>3</a:t>
            </a:r>
            <a:r>
              <a:rPr lang="zh-CN" altLang="en-US" smtClean="0"/>
              <a:t>）在创建本地认证方案前，确保设备与服务器之间的路由可达。创建本地认证方案后，配置本地认证方案。</a:t>
            </a:r>
            <a:endParaRPr lang="zh-CN" altLang="en-US" smtClean="0"/>
          </a:p>
        </p:txBody>
      </p:sp>
      <p:sp>
        <p:nvSpPr>
          <p:cNvPr id="46083" name="AutoShape 8"/>
          <p:cNvSpPr>
            <a:spLocks noChangeArrowheads="1"/>
          </p:cNvSpPr>
          <p:nvPr/>
        </p:nvSpPr>
        <p:spPr bwMode="auto">
          <a:xfrm>
            <a:off x="361950"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2"/>
          <p:cNvSpPr>
            <a:spLocks noGrp="1" noChangeArrowheads="1"/>
          </p:cNvSpPr>
          <p:nvPr>
            <p:ph idx="4294967295"/>
          </p:nvPr>
        </p:nvSpPr>
        <p:spPr/>
        <p:txBody>
          <a:bodyPr/>
          <a:lstStyle/>
          <a:p>
            <a:pPr>
              <a:lnSpc>
                <a:spcPct val="110000"/>
              </a:lnSpc>
              <a:spcBef>
                <a:spcPct val="35000"/>
              </a:spcBef>
            </a:pPr>
            <a:r>
              <a:rPr lang="en-US" altLang="zh-CN" sz="2800" dirty="0" smtClean="0">
                <a:solidFill>
                  <a:srgbClr val="CC0000"/>
                </a:solidFill>
              </a:rPr>
              <a:t>8.4.3 </a:t>
            </a:r>
            <a:r>
              <a:rPr lang="zh-CN" altLang="zh-CN" sz="2800" dirty="0" smtClean="0">
                <a:solidFill>
                  <a:srgbClr val="C00000"/>
                </a:solidFill>
              </a:rPr>
              <a:t>实验内容和步骤</a:t>
            </a:r>
            <a:br>
              <a:rPr lang="en-US" altLang="zh-CN" sz="2800" dirty="0" smtClean="0"/>
            </a:br>
            <a:r>
              <a:rPr lang="zh-CN" altLang="en-US" sz="2800" dirty="0" smtClean="0"/>
              <a:t> </a:t>
            </a:r>
            <a:r>
              <a:rPr lang="en-US" altLang="zh-CN" sz="2800" dirty="0" smtClean="0"/>
              <a:t>1. </a:t>
            </a:r>
            <a:r>
              <a:rPr lang="zh-CN" altLang="en-US" sz="2800" dirty="0" smtClean="0"/>
              <a:t>创建本地认证方案</a:t>
            </a:r>
            <a:endParaRPr lang="zh-CN" altLang="en-US" sz="2800" dirty="0" smtClean="0"/>
          </a:p>
          <a:p>
            <a:pPr>
              <a:lnSpc>
                <a:spcPct val="110000"/>
              </a:lnSpc>
              <a:spcBef>
                <a:spcPct val="35000"/>
              </a:spcBef>
            </a:pPr>
            <a:r>
              <a:rPr lang="en-US" altLang="zh-CN" sz="2000" dirty="0" smtClean="0">
                <a:latin typeface="Times New Roman" panose="02020603050405020304" pitchFamily="18" charset="0"/>
              </a:rPr>
              <a:t>1</a:t>
            </a:r>
            <a:r>
              <a:rPr lang="zh-CN" altLang="en-US" sz="2000" dirty="0" smtClean="0">
                <a:latin typeface="Times New Roman" panose="02020603050405020304" pitchFamily="18" charset="0"/>
              </a:rPr>
              <a:t>） 执行命令</a:t>
            </a:r>
            <a:r>
              <a:rPr lang="en-US" altLang="zh-CN" sz="2000" dirty="0" smtClean="0">
                <a:latin typeface="Times New Roman" panose="02020603050405020304" pitchFamily="18" charset="0"/>
              </a:rPr>
              <a:t>system-view</a:t>
            </a:r>
            <a:r>
              <a:rPr lang="zh-CN" altLang="en-US" sz="2000" dirty="0" smtClean="0">
                <a:latin typeface="Times New Roman" panose="02020603050405020304" pitchFamily="18" charset="0"/>
              </a:rPr>
              <a:t>，进入系统视图。</a:t>
            </a:r>
            <a:endParaRPr lang="zh-CN" altLang="en-US" sz="2000" dirty="0" smtClean="0">
              <a:latin typeface="Times New Roman" panose="02020603050405020304" pitchFamily="18" charset="0"/>
            </a:endParaRPr>
          </a:p>
          <a:p>
            <a:pPr>
              <a:lnSpc>
                <a:spcPct val="110000"/>
              </a:lnSpc>
              <a:spcBef>
                <a:spcPct val="35000"/>
              </a:spcBef>
            </a:pPr>
            <a:r>
              <a:rPr lang="en-US" altLang="zh-CN" sz="2000" dirty="0" smtClean="0">
                <a:latin typeface="Times New Roman" panose="02020603050405020304" pitchFamily="18" charset="0"/>
              </a:rPr>
              <a:t>2</a:t>
            </a:r>
            <a:r>
              <a:rPr lang="zh-CN" altLang="en-US" sz="2000" dirty="0" smtClean="0">
                <a:latin typeface="Times New Roman" panose="02020603050405020304" pitchFamily="18" charset="0"/>
              </a:rPr>
              <a:t>） 执行命令</a:t>
            </a:r>
            <a:r>
              <a:rPr lang="en-US" altLang="zh-CN" sz="2000" dirty="0" err="1" smtClean="0">
                <a:latin typeface="Times New Roman" panose="02020603050405020304" pitchFamily="18" charset="0"/>
              </a:rPr>
              <a:t>aaa</a:t>
            </a:r>
            <a:r>
              <a:rPr lang="zh-CN" altLang="en-US" sz="2000" dirty="0" smtClean="0">
                <a:latin typeface="Times New Roman" panose="02020603050405020304" pitchFamily="18" charset="0"/>
              </a:rPr>
              <a:t>，进入</a:t>
            </a:r>
            <a:r>
              <a:rPr lang="en-US" altLang="zh-CN" sz="2000" dirty="0" smtClean="0">
                <a:latin typeface="Times New Roman" panose="02020603050405020304" pitchFamily="18" charset="0"/>
              </a:rPr>
              <a:t>AAA </a:t>
            </a:r>
            <a:r>
              <a:rPr lang="zh-CN" altLang="en-US" sz="2000" dirty="0" smtClean="0">
                <a:latin typeface="Times New Roman" panose="02020603050405020304" pitchFamily="18" charset="0"/>
              </a:rPr>
              <a:t>视图。</a:t>
            </a:r>
            <a:endParaRPr lang="zh-CN" altLang="en-US" sz="2000" dirty="0" smtClean="0">
              <a:latin typeface="Times New Roman" panose="02020603050405020304" pitchFamily="18" charset="0"/>
            </a:endParaRPr>
          </a:p>
          <a:p>
            <a:pPr>
              <a:lnSpc>
                <a:spcPct val="110000"/>
              </a:lnSpc>
              <a:spcBef>
                <a:spcPct val="35000"/>
              </a:spcBef>
            </a:pPr>
            <a:r>
              <a:rPr lang="en-US" altLang="zh-CN" sz="2000" dirty="0" smtClean="0">
                <a:latin typeface="Times New Roman" panose="02020603050405020304" pitchFamily="18" charset="0"/>
              </a:rPr>
              <a:t>3</a:t>
            </a:r>
            <a:r>
              <a:rPr lang="zh-CN" altLang="en-US" sz="2000" dirty="0" smtClean="0">
                <a:latin typeface="Times New Roman" panose="02020603050405020304" pitchFamily="18" charset="0"/>
              </a:rPr>
              <a:t>） 执行命令</a:t>
            </a:r>
            <a:r>
              <a:rPr lang="en-US" altLang="zh-CN" sz="2000" dirty="0" smtClean="0">
                <a:latin typeface="Times New Roman" panose="02020603050405020304" pitchFamily="18" charset="0"/>
              </a:rPr>
              <a:t>authentication-scheme scheme-name</a:t>
            </a:r>
            <a:r>
              <a:rPr lang="zh-CN" altLang="en-US" sz="2000" dirty="0" smtClean="0">
                <a:latin typeface="Times New Roman" panose="02020603050405020304" pitchFamily="18" charset="0"/>
              </a:rPr>
              <a:t>，创建认证方案</a:t>
            </a:r>
            <a:endParaRPr lang="zh-CN" altLang="en-US" sz="2000" dirty="0" smtClean="0">
              <a:latin typeface="Times New Roman" panose="02020603050405020304" pitchFamily="18" charset="0"/>
            </a:endParaRPr>
          </a:p>
          <a:p>
            <a:pPr>
              <a:lnSpc>
                <a:spcPct val="110000"/>
              </a:lnSpc>
              <a:spcBef>
                <a:spcPct val="35000"/>
              </a:spcBef>
            </a:pPr>
            <a:r>
              <a:rPr lang="en-US" altLang="zh-CN" sz="2000" dirty="0" smtClean="0">
                <a:latin typeface="Times New Roman" panose="02020603050405020304" pitchFamily="18" charset="0"/>
              </a:rPr>
              <a:t>4</a:t>
            </a:r>
            <a:r>
              <a:rPr lang="zh-CN" altLang="en-US" sz="2000" dirty="0" smtClean="0">
                <a:latin typeface="Times New Roman" panose="02020603050405020304" pitchFamily="18" charset="0"/>
              </a:rPr>
              <a:t>） 执行命令</a:t>
            </a:r>
            <a:r>
              <a:rPr lang="en-US" altLang="zh-CN" sz="2000" dirty="0" smtClean="0">
                <a:latin typeface="Times New Roman" panose="02020603050405020304" pitchFamily="18" charset="0"/>
              </a:rPr>
              <a:t>authentication-mode local</a:t>
            </a:r>
            <a:r>
              <a:rPr lang="zh-CN" altLang="en-US" sz="2000" dirty="0" smtClean="0">
                <a:latin typeface="Times New Roman" panose="02020603050405020304" pitchFamily="18" charset="0"/>
              </a:rPr>
              <a:t>，配置本地认证。缺省情况下，认证模式为</a:t>
            </a:r>
            <a:r>
              <a:rPr lang="en-US" altLang="zh-CN" sz="2000" dirty="0" smtClean="0">
                <a:latin typeface="Times New Roman" panose="02020603050405020304" pitchFamily="18" charset="0"/>
              </a:rPr>
              <a:t>local</a:t>
            </a:r>
            <a:r>
              <a:rPr lang="zh-CN" altLang="en-US" sz="2000" dirty="0" smtClean="0">
                <a:latin typeface="Times New Roman" panose="02020603050405020304" pitchFamily="18" charset="0"/>
              </a:rPr>
              <a:t>，即本地认证。</a:t>
            </a:r>
            <a:endParaRPr lang="zh-CN" altLang="en-US" sz="2000" dirty="0" smtClean="0">
              <a:latin typeface="Times New Roman" panose="02020603050405020304" pitchFamily="18" charset="0"/>
            </a:endParaRPr>
          </a:p>
          <a:p>
            <a:pPr>
              <a:lnSpc>
                <a:spcPct val="110000"/>
              </a:lnSpc>
              <a:spcBef>
                <a:spcPct val="35000"/>
              </a:spcBef>
            </a:pPr>
            <a:r>
              <a:rPr lang="en-US" altLang="zh-CN" sz="2000" dirty="0" smtClean="0">
                <a:latin typeface="Times New Roman" panose="02020603050405020304" pitchFamily="18" charset="0"/>
              </a:rPr>
              <a:t>5</a:t>
            </a:r>
            <a:r>
              <a:rPr lang="zh-CN" altLang="en-US" sz="2000" dirty="0" smtClean="0">
                <a:latin typeface="Times New Roman" panose="02020603050405020304" pitchFamily="18" charset="0"/>
              </a:rPr>
              <a:t>） 执行命令</a:t>
            </a:r>
            <a:r>
              <a:rPr lang="en-US" altLang="zh-CN" sz="2000" dirty="0" smtClean="0">
                <a:latin typeface="Times New Roman" panose="02020603050405020304" pitchFamily="18" charset="0"/>
              </a:rPr>
              <a:t>display authentication-scheme [ scheme-name ]</a:t>
            </a:r>
            <a:r>
              <a:rPr lang="zh-CN" altLang="en-US" sz="2000" dirty="0" smtClean="0">
                <a:latin typeface="Times New Roman" panose="02020603050405020304" pitchFamily="18" charset="0"/>
              </a:rPr>
              <a:t>，</a:t>
            </a:r>
            <a:r>
              <a:rPr lang="zh-CN" altLang="en-US" sz="2000" dirty="0" smtClean="0"/>
              <a:t>查看认证方案的配置信息。</a:t>
            </a:r>
            <a:endParaRPr lang="zh-CN" altLang="zh-CN" sz="2800" dirty="0" smtClean="0">
              <a:solidFill>
                <a:srgbClr val="CC0000"/>
              </a:solidFill>
            </a:endParaRPr>
          </a:p>
        </p:txBody>
      </p:sp>
      <p:sp>
        <p:nvSpPr>
          <p:cNvPr id="47107" name="AutoShape 8"/>
          <p:cNvSpPr>
            <a:spLocks noChangeArrowheads="1"/>
          </p:cNvSpPr>
          <p:nvPr/>
        </p:nvSpPr>
        <p:spPr bwMode="auto">
          <a:xfrm>
            <a:off x="361950"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5" name="标题 1"/>
          <p:cNvSpPr txBox="1">
            <a:spLocks noChangeArrowheads="1"/>
          </p:cNvSpPr>
          <p:nvPr/>
        </p:nvSpPr>
        <p:spPr bwMode="auto">
          <a:xfrm>
            <a:off x="0" y="8037"/>
            <a:ext cx="9144000" cy="685800"/>
          </a:xfrm>
          <a:prstGeom prst="rect">
            <a:avLst/>
          </a:prstGeom>
          <a:noFill/>
          <a:ln w="9525">
            <a:noFill/>
            <a:miter lim="800000"/>
          </a:ln>
        </p:spPr>
        <p:txBody>
          <a:bodyPr vert="horz" wrap="square" lIns="91440" tIns="45720" rIns="91440" bIns="45720" numCol="1" anchor="ctr" anchorCtr="0" compatLnSpc="1"/>
          <a:lst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defRPr>
            </a:lvl2pPr>
            <a:lvl3pPr algn="ctr" rtl="0" eaLnBrk="1" fontAlgn="base" hangingPunct="1">
              <a:spcBef>
                <a:spcPct val="0"/>
              </a:spcBef>
              <a:spcAft>
                <a:spcPct val="0"/>
              </a:spcAft>
              <a:defRPr sz="3200" b="1">
                <a:solidFill>
                  <a:schemeClr val="bg1"/>
                </a:solidFill>
                <a:latin typeface="Verdana" panose="020B0604030504040204" pitchFamily="34" charset="0"/>
              </a:defRPr>
            </a:lvl3pPr>
            <a:lvl4pPr algn="ctr" rtl="0" eaLnBrk="1" fontAlgn="base" hangingPunct="1">
              <a:spcBef>
                <a:spcPct val="0"/>
              </a:spcBef>
              <a:spcAft>
                <a:spcPct val="0"/>
              </a:spcAft>
              <a:defRPr sz="3200" b="1">
                <a:solidFill>
                  <a:schemeClr val="bg1"/>
                </a:solidFill>
                <a:latin typeface="Verdana" panose="020B0604030504040204" pitchFamily="34" charset="0"/>
              </a:defRPr>
            </a:lvl4pPr>
            <a:lvl5pPr algn="ctr" rtl="0" eaLnBrk="1" fontAlgn="base" hangingPunct="1">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a:lstStyle>
          <a:p>
            <a:br>
              <a:rPr lang="en-US" altLang="zh-CN" smtClean="0">
                <a:ea typeface="宋体" panose="02010600030101010101" pitchFamily="2" charset="-122"/>
              </a:rPr>
            </a:br>
            <a:r>
              <a:rPr lang="en-US" altLang="zh-CN" smtClean="0">
                <a:ea typeface="宋体" panose="02010600030101010101" pitchFamily="2" charset="-122"/>
              </a:rPr>
              <a:t>8.4 </a:t>
            </a:r>
            <a:r>
              <a:rPr lang="zh-CN" altLang="en-US" smtClean="0">
                <a:ea typeface="宋体" panose="02010600030101010101" pitchFamily="2" charset="-122"/>
              </a:rPr>
              <a:t>实</a:t>
            </a:r>
            <a:r>
              <a:rPr lang="zh-CN" altLang="zh-CN" smtClean="0">
                <a:ea typeface="宋体" panose="02010600030101010101" pitchFamily="2" charset="-122"/>
              </a:rPr>
              <a:t>验</a:t>
            </a:r>
            <a:r>
              <a:rPr lang="en-US" altLang="zh-CN" smtClean="0">
                <a:ea typeface="宋体" panose="02010600030101010101" pitchFamily="2" charset="-122"/>
              </a:rPr>
              <a:t>8</a:t>
            </a:r>
            <a:r>
              <a:rPr lang="zh-CN" altLang="zh-CN" smtClean="0">
                <a:ea typeface="宋体" panose="02010600030101010101" pitchFamily="2" charset="-122"/>
              </a:rPr>
              <a:t> 华为防火墙配置</a:t>
            </a:r>
            <a:r>
              <a:rPr lang="en-US" altLang="zh-CN" smtClean="0">
                <a:ea typeface="宋体" panose="02010600030101010101" pitchFamily="2" charset="-122"/>
              </a:rPr>
              <a:t>AAA </a:t>
            </a:r>
            <a:r>
              <a:rPr lang="zh-CN" altLang="zh-CN" smtClean="0">
                <a:ea typeface="宋体" panose="02010600030101010101" pitchFamily="2" charset="-122"/>
              </a:rPr>
              <a:t>认证</a:t>
            </a:r>
            <a:endParaRPr lang="zh-CN" altLang="zh-CN" dirty="0" smtClean="0">
              <a:ea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内容占位符 2"/>
          <p:cNvSpPr>
            <a:spLocks noGrp="1" noChangeArrowheads="1"/>
          </p:cNvSpPr>
          <p:nvPr>
            <p:ph idx="4294967295"/>
          </p:nvPr>
        </p:nvSpPr>
        <p:spPr/>
        <p:txBody>
          <a:bodyPr/>
          <a:lstStyle/>
          <a:p>
            <a:r>
              <a:rPr lang="en-US" altLang="zh-CN" sz="2000" smtClean="0"/>
              <a:t>2. </a:t>
            </a:r>
            <a:r>
              <a:rPr lang="zh-CN" altLang="zh-CN" sz="2000" smtClean="0"/>
              <a:t>配置本地认证方案。</a:t>
            </a:r>
            <a:endParaRPr lang="zh-CN" altLang="zh-CN" sz="2000" smtClean="0"/>
          </a:p>
          <a:p>
            <a:r>
              <a:rPr lang="en-US" altLang="zh-CN" sz="2000" smtClean="0"/>
              <a:t>1</a:t>
            </a:r>
            <a:r>
              <a:rPr lang="zh-CN" altLang="zh-CN" sz="2000" smtClean="0"/>
              <a:t>） 执行命令</a:t>
            </a:r>
            <a:r>
              <a:rPr lang="en-US" altLang="zh-CN" sz="2000" smtClean="0"/>
              <a:t>system-view</a:t>
            </a:r>
            <a:r>
              <a:rPr lang="zh-CN" altLang="zh-CN" sz="2000" smtClean="0"/>
              <a:t>，进入系统视图。</a:t>
            </a:r>
            <a:endParaRPr lang="zh-CN" altLang="zh-CN" sz="2000" smtClean="0"/>
          </a:p>
          <a:p>
            <a:r>
              <a:rPr lang="en-US" altLang="zh-CN" sz="2000" smtClean="0"/>
              <a:t>2</a:t>
            </a:r>
            <a:r>
              <a:rPr lang="zh-CN" altLang="zh-CN" sz="2000" smtClean="0"/>
              <a:t>） 执行命令</a:t>
            </a:r>
            <a:r>
              <a:rPr lang="en-US" altLang="zh-CN" sz="2000" smtClean="0"/>
              <a:t>aaa</a:t>
            </a:r>
            <a:r>
              <a:rPr lang="zh-CN" altLang="zh-CN" sz="2000" smtClean="0"/>
              <a:t>，进入</a:t>
            </a:r>
            <a:r>
              <a:rPr lang="en-US" altLang="zh-CN" sz="2000" smtClean="0"/>
              <a:t>AAA </a:t>
            </a:r>
            <a:r>
              <a:rPr lang="zh-CN" altLang="zh-CN" sz="2000" smtClean="0"/>
              <a:t>视图。</a:t>
            </a:r>
            <a:endParaRPr lang="zh-CN" altLang="zh-CN" sz="2000" smtClean="0"/>
          </a:p>
          <a:p>
            <a:r>
              <a:rPr lang="en-US" altLang="zh-CN" sz="2000" smtClean="0"/>
              <a:t>3</a:t>
            </a:r>
            <a:r>
              <a:rPr lang="zh-CN" altLang="zh-CN" sz="2000" smtClean="0"/>
              <a:t>） 执行命令</a:t>
            </a:r>
            <a:r>
              <a:rPr lang="en-US" altLang="zh-CN" sz="2000" smtClean="0"/>
              <a:t>local-user user-name password { simple | cipher } password</a:t>
            </a:r>
            <a:r>
              <a:rPr lang="zh-CN" altLang="zh-CN" sz="2000" smtClean="0"/>
              <a:t>，创建本地用户。</a:t>
            </a:r>
            <a:endParaRPr lang="zh-CN" altLang="zh-CN" sz="2000" smtClean="0"/>
          </a:p>
          <a:p>
            <a:r>
              <a:rPr lang="en-US" altLang="zh-CN" sz="2000" smtClean="0"/>
              <a:t>4</a:t>
            </a:r>
            <a:r>
              <a:rPr lang="zh-CN" altLang="zh-CN" sz="2000" smtClean="0"/>
              <a:t>） 执行命令</a:t>
            </a:r>
            <a:r>
              <a:rPr lang="en-US" altLang="zh-CN" sz="2000" smtClean="0"/>
              <a:t>local-user user-name vpn-instance vpn-instance-name</a:t>
            </a:r>
            <a:r>
              <a:rPr lang="zh-CN" altLang="zh-CN" sz="2000" smtClean="0"/>
              <a:t>，配置本地用户与</a:t>
            </a:r>
            <a:r>
              <a:rPr lang="en-US" altLang="zh-CN" sz="2000" smtClean="0"/>
              <a:t>VPN </a:t>
            </a:r>
            <a:r>
              <a:rPr lang="zh-CN" altLang="zh-CN" sz="2000" smtClean="0"/>
              <a:t>实例绑定。执行此命令后，本地用户只能在绑定的</a:t>
            </a:r>
            <a:r>
              <a:rPr lang="en-US" altLang="zh-CN" sz="2000" smtClean="0"/>
              <a:t>VPN </a:t>
            </a:r>
            <a:r>
              <a:rPr lang="zh-CN" altLang="zh-CN" sz="2000" smtClean="0"/>
              <a:t>实例下登录。</a:t>
            </a:r>
            <a:endParaRPr lang="en-US" altLang="zh-CN" sz="2000" smtClean="0"/>
          </a:p>
          <a:p>
            <a:r>
              <a:rPr lang="en-US" altLang="zh-CN" sz="2000" smtClean="0"/>
              <a:t>5</a:t>
            </a:r>
            <a:r>
              <a:rPr lang="zh-CN" altLang="zh-CN" sz="2000" smtClean="0"/>
              <a:t>） 执行命令</a:t>
            </a:r>
            <a:r>
              <a:rPr lang="en-US" altLang="zh-CN" sz="2000" smtClean="0"/>
              <a:t>local-user user-name service-type { auth | ftp | ppp | ssh | telnet | terminal |web } *</a:t>
            </a:r>
            <a:r>
              <a:rPr lang="zh-CN" altLang="zh-CN" sz="2000" smtClean="0"/>
              <a:t>，配置本地用户的服务类型。缺省情况下，本地用户可以使用所有的服务类型。配置本地用户的服务类型后，可以实现按业务类型管理用户。</a:t>
            </a:r>
            <a:endParaRPr lang="zh-CN" altLang="zh-CN" sz="2000" smtClean="0"/>
          </a:p>
          <a:p>
            <a:endParaRPr lang="zh-CN" altLang="zh-CN" sz="2000" smtClean="0"/>
          </a:p>
        </p:txBody>
      </p:sp>
      <p:sp>
        <p:nvSpPr>
          <p:cNvPr id="48131" name="AutoShape 8"/>
          <p:cNvSpPr>
            <a:spLocks noChangeArrowheads="1"/>
          </p:cNvSpPr>
          <p:nvPr/>
        </p:nvSpPr>
        <p:spPr bwMode="auto">
          <a:xfrm>
            <a:off x="361950"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5" name="标题 1"/>
          <p:cNvSpPr txBox="1">
            <a:spLocks noChangeArrowheads="1"/>
          </p:cNvSpPr>
          <p:nvPr/>
        </p:nvSpPr>
        <p:spPr bwMode="auto">
          <a:xfrm>
            <a:off x="0" y="8037"/>
            <a:ext cx="9144000" cy="685800"/>
          </a:xfrm>
          <a:prstGeom prst="rect">
            <a:avLst/>
          </a:prstGeom>
          <a:noFill/>
          <a:ln w="9525">
            <a:noFill/>
            <a:miter lim="800000"/>
          </a:ln>
        </p:spPr>
        <p:txBody>
          <a:bodyPr vert="horz" wrap="square" lIns="91440" tIns="45720" rIns="91440" bIns="45720" numCol="1" anchor="ctr" anchorCtr="0" compatLnSpc="1"/>
          <a:lst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defRPr>
            </a:lvl2pPr>
            <a:lvl3pPr algn="ctr" rtl="0" eaLnBrk="1" fontAlgn="base" hangingPunct="1">
              <a:spcBef>
                <a:spcPct val="0"/>
              </a:spcBef>
              <a:spcAft>
                <a:spcPct val="0"/>
              </a:spcAft>
              <a:defRPr sz="3200" b="1">
                <a:solidFill>
                  <a:schemeClr val="bg1"/>
                </a:solidFill>
                <a:latin typeface="Verdana" panose="020B0604030504040204" pitchFamily="34" charset="0"/>
              </a:defRPr>
            </a:lvl3pPr>
            <a:lvl4pPr algn="ctr" rtl="0" eaLnBrk="1" fontAlgn="base" hangingPunct="1">
              <a:spcBef>
                <a:spcPct val="0"/>
              </a:spcBef>
              <a:spcAft>
                <a:spcPct val="0"/>
              </a:spcAft>
              <a:defRPr sz="3200" b="1">
                <a:solidFill>
                  <a:schemeClr val="bg1"/>
                </a:solidFill>
                <a:latin typeface="Verdana" panose="020B0604030504040204" pitchFamily="34" charset="0"/>
              </a:defRPr>
            </a:lvl4pPr>
            <a:lvl5pPr algn="ctr" rtl="0" eaLnBrk="1" fontAlgn="base" hangingPunct="1">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a:lstStyle>
          <a:p>
            <a:br>
              <a:rPr lang="en-US" altLang="zh-CN" smtClean="0">
                <a:ea typeface="宋体" panose="02010600030101010101" pitchFamily="2" charset="-122"/>
              </a:rPr>
            </a:br>
            <a:r>
              <a:rPr lang="en-US" altLang="zh-CN" smtClean="0">
                <a:ea typeface="宋体" panose="02010600030101010101" pitchFamily="2" charset="-122"/>
              </a:rPr>
              <a:t>8.4 </a:t>
            </a:r>
            <a:r>
              <a:rPr lang="zh-CN" altLang="en-US" smtClean="0">
                <a:ea typeface="宋体" panose="02010600030101010101" pitchFamily="2" charset="-122"/>
              </a:rPr>
              <a:t>实</a:t>
            </a:r>
            <a:r>
              <a:rPr lang="zh-CN" altLang="zh-CN" smtClean="0">
                <a:ea typeface="宋体" panose="02010600030101010101" pitchFamily="2" charset="-122"/>
              </a:rPr>
              <a:t>验</a:t>
            </a:r>
            <a:r>
              <a:rPr lang="en-US" altLang="zh-CN" smtClean="0">
                <a:ea typeface="宋体" panose="02010600030101010101" pitchFamily="2" charset="-122"/>
              </a:rPr>
              <a:t>8</a:t>
            </a:r>
            <a:r>
              <a:rPr lang="zh-CN" altLang="zh-CN" smtClean="0">
                <a:ea typeface="宋体" panose="02010600030101010101" pitchFamily="2" charset="-122"/>
              </a:rPr>
              <a:t> 华为防火墙配置</a:t>
            </a:r>
            <a:r>
              <a:rPr lang="en-US" altLang="zh-CN" smtClean="0">
                <a:ea typeface="宋体" panose="02010600030101010101" pitchFamily="2" charset="-122"/>
              </a:rPr>
              <a:t>AAA </a:t>
            </a:r>
            <a:r>
              <a:rPr lang="zh-CN" altLang="zh-CN" smtClean="0">
                <a:ea typeface="宋体" panose="02010600030101010101" pitchFamily="2" charset="-122"/>
              </a:rPr>
              <a:t>认证</a:t>
            </a:r>
            <a:endParaRPr lang="zh-CN" altLang="zh-CN" dirty="0" smtClean="0">
              <a:ea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2"/>
          <p:cNvSpPr>
            <a:spLocks noGrp="1" noChangeArrowheads="1"/>
          </p:cNvSpPr>
          <p:nvPr>
            <p:ph idx="4294967295"/>
          </p:nvPr>
        </p:nvSpPr>
        <p:spPr/>
        <p:txBody>
          <a:bodyPr/>
          <a:lstStyle/>
          <a:p>
            <a:r>
              <a:rPr lang="en-US" altLang="zh-CN" sz="2000" smtClean="0"/>
              <a:t>6</a:t>
            </a:r>
            <a:r>
              <a:rPr lang="zh-CN" altLang="zh-CN" sz="2000" smtClean="0"/>
              <a:t>） 执行命令</a:t>
            </a:r>
            <a:r>
              <a:rPr lang="en-US" altLang="zh-CN" sz="2000" smtClean="0"/>
              <a:t>local-user user-name ftp-directory directory</a:t>
            </a:r>
            <a:r>
              <a:rPr lang="zh-CN" altLang="zh-CN" sz="2000" smtClean="0"/>
              <a:t>，配置本地用户的</a:t>
            </a:r>
            <a:r>
              <a:rPr lang="en-US" altLang="zh-CN" sz="2000" smtClean="0"/>
              <a:t>FTP </a:t>
            </a:r>
            <a:r>
              <a:rPr lang="zh-CN" altLang="zh-CN" sz="2000" smtClean="0"/>
              <a:t>目录权限。当用户使用</a:t>
            </a:r>
            <a:r>
              <a:rPr lang="en-US" altLang="zh-CN" sz="2000" smtClean="0"/>
              <a:t>FTP </a:t>
            </a:r>
            <a:r>
              <a:rPr lang="zh-CN" altLang="zh-CN" sz="2000" smtClean="0"/>
              <a:t>服务时，可以配置此用户登录后所处的</a:t>
            </a:r>
            <a:r>
              <a:rPr lang="en-US" altLang="zh-CN" sz="2000" smtClean="0"/>
              <a:t>FTP </a:t>
            </a:r>
            <a:r>
              <a:rPr lang="zh-CN" altLang="zh-CN" sz="2000" smtClean="0"/>
              <a:t>目录，以此进行权限上的控制。如果不配置该命令，</a:t>
            </a:r>
            <a:r>
              <a:rPr lang="en-US" altLang="zh-CN" sz="2000" smtClean="0"/>
              <a:t>FTP </a:t>
            </a:r>
            <a:r>
              <a:rPr lang="zh-CN" altLang="zh-CN" sz="2000" smtClean="0"/>
              <a:t>用户不能登录。</a:t>
            </a:r>
            <a:endParaRPr lang="en-US" altLang="zh-CN" sz="2000" smtClean="0"/>
          </a:p>
          <a:p>
            <a:endParaRPr lang="zh-CN" altLang="zh-CN" sz="2000" smtClean="0"/>
          </a:p>
          <a:p>
            <a:r>
              <a:rPr lang="en-US" altLang="zh-CN" sz="2000" smtClean="0"/>
              <a:t>7</a:t>
            </a:r>
            <a:r>
              <a:rPr lang="zh-CN" altLang="zh-CN" sz="2000" smtClean="0"/>
              <a:t>） 执行命令</a:t>
            </a:r>
            <a:r>
              <a:rPr lang="en-US" altLang="zh-CN" sz="2000" smtClean="0"/>
              <a:t>local-user user-name state { active | block }</a:t>
            </a:r>
            <a:r>
              <a:rPr lang="zh-CN" altLang="zh-CN" sz="2000" smtClean="0"/>
              <a:t>，配置本地用户的状态。</a:t>
            </a:r>
            <a:endParaRPr lang="en-US" altLang="zh-CN" sz="2000" smtClean="0"/>
          </a:p>
          <a:p>
            <a:endParaRPr lang="zh-CN" altLang="zh-CN" sz="2000" smtClean="0"/>
          </a:p>
          <a:p>
            <a:r>
              <a:rPr lang="en-US" altLang="zh-CN" sz="2000" smtClean="0"/>
              <a:t>8</a:t>
            </a:r>
            <a:r>
              <a:rPr lang="zh-CN" altLang="zh-CN" sz="2000" smtClean="0"/>
              <a:t>） 执行命令</a:t>
            </a:r>
            <a:r>
              <a:rPr lang="en-US" altLang="zh-CN" sz="2000" smtClean="0"/>
              <a:t>local-user user-name level level</a:t>
            </a:r>
            <a:r>
              <a:rPr lang="zh-CN" altLang="zh-CN" sz="2000" smtClean="0"/>
              <a:t>，配置本地用户的优先级。缺省情况下，不对本地用户进行级别的限制，用户的级别由管理模块来决定，如</a:t>
            </a:r>
            <a:r>
              <a:rPr lang="en-US" altLang="zh-CN" sz="2000" smtClean="0"/>
              <a:t>Telnet</a:t>
            </a:r>
            <a:r>
              <a:rPr lang="zh-CN" altLang="zh-CN" sz="2000" smtClean="0"/>
              <a:t>、</a:t>
            </a:r>
            <a:r>
              <a:rPr lang="en-US" altLang="zh-CN" sz="2000" smtClean="0"/>
              <a:t>SSH </a:t>
            </a:r>
            <a:r>
              <a:rPr lang="zh-CN" altLang="zh-CN" sz="2000" smtClean="0"/>
              <a:t>模块。通过配置用户的优先级，用户成功登录后，只有用户的优先级等于或者大于命令的级别，用户才能使用该命令。</a:t>
            </a:r>
            <a:endParaRPr lang="zh-CN" altLang="zh-CN" sz="2000" smtClean="0"/>
          </a:p>
        </p:txBody>
      </p:sp>
      <p:sp>
        <p:nvSpPr>
          <p:cNvPr id="49155" name="AutoShape 8"/>
          <p:cNvSpPr>
            <a:spLocks noChangeArrowheads="1"/>
          </p:cNvSpPr>
          <p:nvPr/>
        </p:nvSpPr>
        <p:spPr bwMode="auto">
          <a:xfrm>
            <a:off x="361950" y="12954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5" name="标题 1"/>
          <p:cNvSpPr txBox="1">
            <a:spLocks noChangeArrowheads="1"/>
          </p:cNvSpPr>
          <p:nvPr/>
        </p:nvSpPr>
        <p:spPr bwMode="auto">
          <a:xfrm>
            <a:off x="0" y="8037"/>
            <a:ext cx="9144000" cy="685800"/>
          </a:xfrm>
          <a:prstGeom prst="rect">
            <a:avLst/>
          </a:prstGeom>
          <a:noFill/>
          <a:ln w="9525">
            <a:noFill/>
            <a:miter lim="800000"/>
          </a:ln>
        </p:spPr>
        <p:txBody>
          <a:bodyPr vert="horz" wrap="square" lIns="91440" tIns="45720" rIns="91440" bIns="45720" numCol="1" anchor="ctr" anchorCtr="0" compatLnSpc="1"/>
          <a:lst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defRPr>
            </a:lvl2pPr>
            <a:lvl3pPr algn="ctr" rtl="0" eaLnBrk="1" fontAlgn="base" hangingPunct="1">
              <a:spcBef>
                <a:spcPct val="0"/>
              </a:spcBef>
              <a:spcAft>
                <a:spcPct val="0"/>
              </a:spcAft>
              <a:defRPr sz="3200" b="1">
                <a:solidFill>
                  <a:schemeClr val="bg1"/>
                </a:solidFill>
                <a:latin typeface="Verdana" panose="020B0604030504040204" pitchFamily="34" charset="0"/>
              </a:defRPr>
            </a:lvl3pPr>
            <a:lvl4pPr algn="ctr" rtl="0" eaLnBrk="1" fontAlgn="base" hangingPunct="1">
              <a:spcBef>
                <a:spcPct val="0"/>
              </a:spcBef>
              <a:spcAft>
                <a:spcPct val="0"/>
              </a:spcAft>
              <a:defRPr sz="3200" b="1">
                <a:solidFill>
                  <a:schemeClr val="bg1"/>
                </a:solidFill>
                <a:latin typeface="Verdana" panose="020B0604030504040204" pitchFamily="34" charset="0"/>
              </a:defRPr>
            </a:lvl4pPr>
            <a:lvl5pPr algn="ctr" rtl="0" eaLnBrk="1" fontAlgn="base" hangingPunct="1">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a:lstStyle>
          <a:p>
            <a:br>
              <a:rPr lang="en-US" altLang="zh-CN" smtClean="0">
                <a:ea typeface="宋体" panose="02010600030101010101" pitchFamily="2" charset="-122"/>
              </a:rPr>
            </a:br>
            <a:r>
              <a:rPr lang="en-US" altLang="zh-CN" smtClean="0">
                <a:ea typeface="宋体" panose="02010600030101010101" pitchFamily="2" charset="-122"/>
              </a:rPr>
              <a:t>8.4 </a:t>
            </a:r>
            <a:r>
              <a:rPr lang="zh-CN" altLang="en-US" smtClean="0">
                <a:ea typeface="宋体" panose="02010600030101010101" pitchFamily="2" charset="-122"/>
              </a:rPr>
              <a:t>实</a:t>
            </a:r>
            <a:r>
              <a:rPr lang="zh-CN" altLang="zh-CN" smtClean="0">
                <a:ea typeface="宋体" panose="02010600030101010101" pitchFamily="2" charset="-122"/>
              </a:rPr>
              <a:t>验</a:t>
            </a:r>
            <a:r>
              <a:rPr lang="en-US" altLang="zh-CN" smtClean="0">
                <a:ea typeface="宋体" panose="02010600030101010101" pitchFamily="2" charset="-122"/>
              </a:rPr>
              <a:t>8</a:t>
            </a:r>
            <a:r>
              <a:rPr lang="zh-CN" altLang="zh-CN" smtClean="0">
                <a:ea typeface="宋体" panose="02010600030101010101" pitchFamily="2" charset="-122"/>
              </a:rPr>
              <a:t> 华为防火墙配置</a:t>
            </a:r>
            <a:r>
              <a:rPr lang="en-US" altLang="zh-CN" smtClean="0">
                <a:ea typeface="宋体" panose="02010600030101010101" pitchFamily="2" charset="-122"/>
              </a:rPr>
              <a:t>AAA </a:t>
            </a:r>
            <a:r>
              <a:rPr lang="zh-CN" altLang="zh-CN" smtClean="0">
                <a:ea typeface="宋体" panose="02010600030101010101" pitchFamily="2" charset="-122"/>
              </a:rPr>
              <a:t>认证</a:t>
            </a:r>
            <a:endParaRPr lang="zh-CN" altLang="zh-CN" dirty="0" smtClean="0">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内容占位符 2"/>
          <p:cNvSpPr>
            <a:spLocks noGrp="1" noChangeArrowheads="1"/>
          </p:cNvSpPr>
          <p:nvPr>
            <p:ph idx="4294967295"/>
          </p:nvPr>
        </p:nvSpPr>
        <p:spPr/>
        <p:txBody>
          <a:bodyPr/>
          <a:lstStyle/>
          <a:p>
            <a:r>
              <a:rPr lang="en-US" altLang="zh-CN" sz="2000" smtClean="0"/>
              <a:t>9</a:t>
            </a:r>
            <a:r>
              <a:rPr lang="zh-CN" altLang="zh-CN" sz="2000" smtClean="0"/>
              <a:t>） 执行命令</a:t>
            </a:r>
            <a:r>
              <a:rPr lang="en-US" altLang="zh-CN" sz="2000" smtClean="0"/>
              <a:t>local-user user-name access-limit access-limit-number</a:t>
            </a:r>
            <a:r>
              <a:rPr lang="zh-CN" altLang="zh-CN" sz="2000" smtClean="0"/>
              <a:t>，配置本地用户的接入数目限制。缺省情况下，不限制用户的连接数目。一个用户账号可以有多个接入。通常情况下，对于某些</a:t>
            </a:r>
            <a:r>
              <a:rPr lang="en-US" altLang="zh-CN" sz="2000" smtClean="0"/>
              <a:t>PPP </a:t>
            </a:r>
            <a:r>
              <a:rPr lang="zh-CN" altLang="zh-CN" sz="2000" smtClean="0"/>
              <a:t>方式，建议设置一个账号只允许一个接入。</a:t>
            </a:r>
            <a:endParaRPr lang="en-US" altLang="zh-CN" sz="2000" smtClean="0"/>
          </a:p>
          <a:p>
            <a:endParaRPr lang="zh-CN" altLang="zh-CN" sz="2000" smtClean="0"/>
          </a:p>
          <a:p>
            <a:r>
              <a:rPr lang="en-US" altLang="zh-CN" sz="2000" smtClean="0"/>
              <a:t>10</a:t>
            </a:r>
            <a:r>
              <a:rPr lang="zh-CN" altLang="zh-CN" sz="2000" smtClean="0"/>
              <a:t>） 执行命令</a:t>
            </a:r>
            <a:r>
              <a:rPr lang="en-US" altLang="zh-CN" sz="2000" smtClean="0"/>
              <a:t>local-user user-name l2tp-ip ip-address</a:t>
            </a:r>
            <a:r>
              <a:rPr lang="zh-CN" altLang="zh-CN" sz="2000" smtClean="0"/>
              <a:t>，配置</a:t>
            </a:r>
            <a:r>
              <a:rPr lang="en-US" altLang="zh-CN" sz="2000" smtClean="0"/>
              <a:t>L2TP </a:t>
            </a:r>
            <a:r>
              <a:rPr lang="zh-CN" altLang="zh-CN" sz="2000" smtClean="0"/>
              <a:t>用户与</a:t>
            </a:r>
            <a:r>
              <a:rPr lang="en-US" altLang="zh-CN" sz="2000" smtClean="0"/>
              <a:t>IP </a:t>
            </a:r>
            <a:r>
              <a:rPr lang="zh-CN" altLang="zh-CN" sz="2000" smtClean="0"/>
              <a:t>地址绑定。该命令只用在</a:t>
            </a:r>
            <a:r>
              <a:rPr lang="en-US" altLang="zh-CN" sz="2000" smtClean="0"/>
              <a:t>USG </a:t>
            </a:r>
            <a:r>
              <a:rPr lang="zh-CN" altLang="zh-CN" sz="2000" smtClean="0"/>
              <a:t>作为</a:t>
            </a:r>
            <a:r>
              <a:rPr lang="en-US" altLang="zh-CN" sz="2000" smtClean="0"/>
              <a:t>LNS </a:t>
            </a:r>
            <a:r>
              <a:rPr lang="zh-CN" altLang="zh-CN" sz="2000" smtClean="0"/>
              <a:t>部署于网络中，且要求</a:t>
            </a:r>
            <a:r>
              <a:rPr lang="en-US" altLang="zh-CN" sz="2000" smtClean="0"/>
              <a:t>L2TP </a:t>
            </a:r>
            <a:r>
              <a:rPr lang="zh-CN" altLang="zh-CN" sz="2000" smtClean="0"/>
              <a:t>用户与固定</a:t>
            </a:r>
            <a:r>
              <a:rPr lang="en-US" altLang="zh-CN" sz="2000" smtClean="0"/>
              <a:t>IP </a:t>
            </a:r>
            <a:r>
              <a:rPr lang="zh-CN" altLang="zh-CN" sz="2000" smtClean="0"/>
              <a:t>地址绑定的情况下。</a:t>
            </a:r>
            <a:endParaRPr lang="en-US" altLang="zh-CN" sz="2000" smtClean="0"/>
          </a:p>
          <a:p>
            <a:endParaRPr lang="zh-CN" altLang="zh-CN" sz="2000" smtClean="0"/>
          </a:p>
          <a:p>
            <a:r>
              <a:rPr lang="en-US" altLang="zh-CN" sz="2000" smtClean="0"/>
              <a:t>11</a:t>
            </a:r>
            <a:r>
              <a:rPr lang="zh-CN" altLang="zh-CN" sz="2000" smtClean="0"/>
              <a:t>） 执行命令</a:t>
            </a:r>
            <a:r>
              <a:rPr lang="en-US" altLang="zh-CN" sz="2000" smtClean="0"/>
              <a:t>local-user user-name idle-cut</a:t>
            </a:r>
            <a:r>
              <a:rPr lang="zh-CN" altLang="zh-CN" sz="2000" smtClean="0"/>
              <a:t>，配置本地用户闲置切断功能。缺省情况下，不对本地用户进行闲置切断功能。用户的闲置切断时间取值的优先级顺序为：服务器下发的优先级最高，域配置的优先级次之，</a:t>
            </a:r>
            <a:r>
              <a:rPr lang="en-US" altLang="zh-CN" sz="2000" smtClean="0"/>
              <a:t>VTY </a:t>
            </a:r>
            <a:r>
              <a:rPr lang="zh-CN" altLang="zh-CN" sz="2000" smtClean="0"/>
              <a:t>用户界面配置的优先级最低。</a:t>
            </a:r>
            <a:endParaRPr lang="zh-CN" altLang="zh-CN" sz="2000" smtClean="0"/>
          </a:p>
        </p:txBody>
      </p:sp>
      <p:sp>
        <p:nvSpPr>
          <p:cNvPr id="50179" name="AutoShape 8"/>
          <p:cNvSpPr>
            <a:spLocks noChangeArrowheads="1"/>
          </p:cNvSpPr>
          <p:nvPr/>
        </p:nvSpPr>
        <p:spPr bwMode="auto">
          <a:xfrm>
            <a:off x="457200" y="1181100"/>
            <a:ext cx="8169275" cy="4857750"/>
          </a:xfrm>
          <a:prstGeom prst="flowChartAlternateProcess">
            <a:avLst/>
          </a:prstGeom>
          <a:noFill/>
          <a:ln w="22225">
            <a:solidFill>
              <a:srgbClr val="3366FF"/>
            </a:solidFill>
            <a:miter lim="800000"/>
          </a:ln>
        </p:spPr>
        <p:txBody>
          <a:bodyPr wrap="none" anchor="ctr"/>
          <a:lstStyle/>
          <a:p>
            <a:pPr eaLnBrk="0" hangingPunct="0"/>
            <a:endParaRPr lang="zh-CN" altLang="en-US"/>
          </a:p>
        </p:txBody>
      </p:sp>
      <p:sp>
        <p:nvSpPr>
          <p:cNvPr id="5" name="标题 1"/>
          <p:cNvSpPr txBox="1">
            <a:spLocks noChangeArrowheads="1"/>
          </p:cNvSpPr>
          <p:nvPr/>
        </p:nvSpPr>
        <p:spPr bwMode="auto">
          <a:xfrm>
            <a:off x="0" y="8037"/>
            <a:ext cx="9144000" cy="685800"/>
          </a:xfrm>
          <a:prstGeom prst="rect">
            <a:avLst/>
          </a:prstGeom>
          <a:noFill/>
          <a:ln w="9525">
            <a:noFill/>
            <a:miter lim="800000"/>
          </a:ln>
        </p:spPr>
        <p:txBody>
          <a:bodyPr vert="horz" wrap="square" lIns="91440" tIns="45720" rIns="91440" bIns="45720" numCol="1" anchor="ctr" anchorCtr="0" compatLnSpc="1"/>
          <a:lst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defRPr>
            </a:lvl2pPr>
            <a:lvl3pPr algn="ctr" rtl="0" eaLnBrk="1" fontAlgn="base" hangingPunct="1">
              <a:spcBef>
                <a:spcPct val="0"/>
              </a:spcBef>
              <a:spcAft>
                <a:spcPct val="0"/>
              </a:spcAft>
              <a:defRPr sz="3200" b="1">
                <a:solidFill>
                  <a:schemeClr val="bg1"/>
                </a:solidFill>
                <a:latin typeface="Verdana" panose="020B0604030504040204" pitchFamily="34" charset="0"/>
              </a:defRPr>
            </a:lvl3pPr>
            <a:lvl4pPr algn="ctr" rtl="0" eaLnBrk="1" fontAlgn="base" hangingPunct="1">
              <a:spcBef>
                <a:spcPct val="0"/>
              </a:spcBef>
              <a:spcAft>
                <a:spcPct val="0"/>
              </a:spcAft>
              <a:defRPr sz="3200" b="1">
                <a:solidFill>
                  <a:schemeClr val="bg1"/>
                </a:solidFill>
                <a:latin typeface="Verdana" panose="020B0604030504040204" pitchFamily="34" charset="0"/>
              </a:defRPr>
            </a:lvl4pPr>
            <a:lvl5pPr algn="ctr" rtl="0" eaLnBrk="1" fontAlgn="base" hangingPunct="1">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a:lstStyle>
          <a:p>
            <a:br>
              <a:rPr lang="en-US" altLang="zh-CN" smtClean="0">
                <a:ea typeface="宋体" panose="02010600030101010101" pitchFamily="2" charset="-122"/>
              </a:rPr>
            </a:br>
            <a:r>
              <a:rPr lang="en-US" altLang="zh-CN" smtClean="0">
                <a:ea typeface="宋体" panose="02010600030101010101" pitchFamily="2" charset="-122"/>
              </a:rPr>
              <a:t>8.4 </a:t>
            </a:r>
            <a:r>
              <a:rPr lang="zh-CN" altLang="en-US" smtClean="0">
                <a:ea typeface="宋体" panose="02010600030101010101" pitchFamily="2" charset="-122"/>
              </a:rPr>
              <a:t>实</a:t>
            </a:r>
            <a:r>
              <a:rPr lang="zh-CN" altLang="zh-CN" smtClean="0">
                <a:ea typeface="宋体" panose="02010600030101010101" pitchFamily="2" charset="-122"/>
              </a:rPr>
              <a:t>验</a:t>
            </a:r>
            <a:r>
              <a:rPr lang="en-US" altLang="zh-CN" smtClean="0">
                <a:ea typeface="宋体" panose="02010600030101010101" pitchFamily="2" charset="-122"/>
              </a:rPr>
              <a:t>8</a:t>
            </a:r>
            <a:r>
              <a:rPr lang="zh-CN" altLang="zh-CN" smtClean="0">
                <a:ea typeface="宋体" panose="02010600030101010101" pitchFamily="2" charset="-122"/>
              </a:rPr>
              <a:t> 华为防火墙配置</a:t>
            </a:r>
            <a:r>
              <a:rPr lang="en-US" altLang="zh-CN" smtClean="0">
                <a:ea typeface="宋体" panose="02010600030101010101" pitchFamily="2" charset="-122"/>
              </a:rPr>
              <a:t>AAA </a:t>
            </a:r>
            <a:r>
              <a:rPr lang="zh-CN" altLang="zh-CN" smtClean="0">
                <a:ea typeface="宋体" panose="02010600030101010101" pitchFamily="2" charset="-122"/>
              </a:rPr>
              <a:t>认证</a:t>
            </a:r>
            <a:endParaRPr lang="zh-CN" altLang="zh-CN" dirty="0" smtClean="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5895,&quot;width&quot;:9520}"/>
</p:tagLst>
</file>

<file path=ppt/tags/tag2.xml><?xml version="1.0" encoding="utf-8"?>
<p:tagLst xmlns:p="http://schemas.openxmlformats.org/presentationml/2006/main">
  <p:tag name="COMMONDATA" val="eyJoZGlkIjoiYTkyNzU5YmZhNjU4MzM5ZTNjNzVhNGQwZGQwZWI1YzYifQ=="/>
</p:tagLst>
</file>

<file path=ppt/theme/theme1.xml><?xml version="1.0" encoding="utf-8"?>
<a:theme xmlns:a="http://schemas.openxmlformats.org/drawingml/2006/main" name="Ch8 防火墙常用技术">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dist" defTabSz="914400" rtl="0" eaLnBrk="1" fontAlgn="base" latinLnBrk="0" hangingPunct="1">
          <a:lnSpc>
            <a:spcPct val="100000"/>
          </a:lnSpc>
          <a:spcBef>
            <a:spcPct val="20000"/>
          </a:spcBef>
          <a:spcAft>
            <a:spcPct val="0"/>
          </a:spcAft>
          <a:buClrTx/>
          <a:buSzTx/>
          <a:buFont typeface="Wingdings" panose="05000000000000000000" pitchFamily="2" charset="2"/>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dist" defTabSz="914400" rtl="0" eaLnBrk="1" fontAlgn="base" latinLnBrk="0" hangingPunct="1">
          <a:lnSpc>
            <a:spcPct val="100000"/>
          </a:lnSpc>
          <a:spcBef>
            <a:spcPct val="20000"/>
          </a:spcBef>
          <a:spcAft>
            <a:spcPct val="0"/>
          </a:spcAft>
          <a:buClrTx/>
          <a:buSzTx/>
          <a:buFont typeface="Wingdings" panose="05000000000000000000" pitchFamily="2" charset="2"/>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Ch8 防火墙常用技术</Template>
  <TotalTime>0</TotalTime>
  <Words>21036</Words>
  <Application>WPS 演示</Application>
  <PresentationFormat>全屏显示(4:3)</PresentationFormat>
  <Paragraphs>1050</Paragraphs>
  <Slides>104</Slides>
  <Notes>6</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104</vt:i4>
      </vt:variant>
    </vt:vector>
  </HeadingPairs>
  <TitlesOfParts>
    <vt:vector size="122" baseType="lpstr">
      <vt:lpstr>Arial</vt:lpstr>
      <vt:lpstr>宋体</vt:lpstr>
      <vt:lpstr>Wingdings</vt:lpstr>
      <vt:lpstr>Verdana</vt:lpstr>
      <vt:lpstr>Calibri</vt:lpstr>
      <vt:lpstr>微软雅黑</vt:lpstr>
      <vt:lpstr>黑体</vt:lpstr>
      <vt:lpstr>Arial Black</vt:lpstr>
      <vt:lpstr>Arial Unicode MS</vt:lpstr>
      <vt:lpstr>华文楷体</vt:lpstr>
      <vt:lpstr>Times New Roman</vt:lpstr>
      <vt:lpstr>Arial Unicode MS</vt:lpstr>
      <vt:lpstr>楷体_GB2312</vt:lpstr>
      <vt:lpstr>新宋体</vt:lpstr>
      <vt:lpstr>Ch8 防火墙常用技术</vt:lpstr>
      <vt:lpstr>Visio.Drawing.6</vt:lpstr>
      <vt:lpstr>Visio.Drawing.6</vt:lpstr>
      <vt:lpstr>Visio.Drawing.6</vt:lpstr>
      <vt:lpstr>PowerPoint 演示文稿</vt:lpstr>
      <vt:lpstr>PowerPoint 演示文稿</vt:lpstr>
      <vt:lpstr>目    录</vt:lpstr>
      <vt:lpstr>目    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8.4 实验8 华为防火墙配置AAA 认证</vt:lpstr>
      <vt:lpstr>PowerPoint 演示文稿</vt:lpstr>
      <vt:lpstr>PowerPoint 演示文稿</vt:lpstr>
      <vt:lpstr>PowerPoint 演示文稿</vt:lpstr>
      <vt:lpstr>PowerPoint 演示文稿</vt:lpstr>
    </vt:vector>
  </TitlesOfParts>
  <Company>GuildDesign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dreamsummit</dc:creator>
  <cp:lastModifiedBy>Stronger Dady</cp:lastModifiedBy>
  <cp:revision>213</cp:revision>
  <dcterms:created xsi:type="dcterms:W3CDTF">2020-07-17T07:04:00Z</dcterms:created>
  <dcterms:modified xsi:type="dcterms:W3CDTF">2022-11-27T12:41:56Z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40EB11D7E1BD4ECA88A5A3A97A168E1A</vt:lpwstr>
  </property>
</Properties>
</file>