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gif" ContentType="image/gi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handoutMasterIdLst>
    <p:handoutMasterId r:id="rId61"/>
  </p:handoutMasterIdLst>
  <p:sldIdLst>
    <p:sldId id="627" r:id="rId4"/>
    <p:sldId id="488" r:id="rId6"/>
    <p:sldId id="394" r:id="rId7"/>
    <p:sldId id="470" r:id="rId8"/>
    <p:sldId id="491" r:id="rId9"/>
    <p:sldId id="573" r:id="rId10"/>
    <p:sldId id="574" r:id="rId11"/>
    <p:sldId id="493" r:id="rId12"/>
    <p:sldId id="494" r:id="rId13"/>
    <p:sldId id="495" r:id="rId14"/>
    <p:sldId id="527" r:id="rId15"/>
    <p:sldId id="496" r:id="rId16"/>
    <p:sldId id="528" r:id="rId17"/>
    <p:sldId id="575" r:id="rId18"/>
    <p:sldId id="576" r:id="rId19"/>
    <p:sldId id="499" r:id="rId20"/>
    <p:sldId id="577" r:id="rId21"/>
    <p:sldId id="500" r:id="rId22"/>
    <p:sldId id="498" r:id="rId23"/>
    <p:sldId id="501" r:id="rId24"/>
    <p:sldId id="502" r:id="rId25"/>
    <p:sldId id="503" r:id="rId26"/>
    <p:sldId id="504" r:id="rId27"/>
    <p:sldId id="505" r:id="rId28"/>
    <p:sldId id="506" r:id="rId29"/>
    <p:sldId id="507" r:id="rId30"/>
    <p:sldId id="508" r:id="rId31"/>
    <p:sldId id="513" r:id="rId32"/>
    <p:sldId id="514" r:id="rId33"/>
    <p:sldId id="515" r:id="rId34"/>
    <p:sldId id="516" r:id="rId35"/>
    <p:sldId id="517" r:id="rId36"/>
    <p:sldId id="518" r:id="rId37"/>
    <p:sldId id="519" r:id="rId38"/>
    <p:sldId id="520" r:id="rId39"/>
    <p:sldId id="529" r:id="rId40"/>
    <p:sldId id="521" r:id="rId41"/>
    <p:sldId id="522" r:id="rId42"/>
    <p:sldId id="523" r:id="rId43"/>
    <p:sldId id="524" r:id="rId44"/>
    <p:sldId id="525" r:id="rId45"/>
    <p:sldId id="534" r:id="rId46"/>
    <p:sldId id="535" r:id="rId47"/>
    <p:sldId id="538" r:id="rId48"/>
    <p:sldId id="540" r:id="rId49"/>
    <p:sldId id="539" r:id="rId50"/>
    <p:sldId id="541" r:id="rId51"/>
    <p:sldId id="532" r:id="rId52"/>
    <p:sldId id="533" r:id="rId53"/>
    <p:sldId id="542" r:id="rId54"/>
    <p:sldId id="543" r:id="rId55"/>
    <p:sldId id="531" r:id="rId56"/>
    <p:sldId id="544" r:id="rId57"/>
    <p:sldId id="545" r:id="rId58"/>
    <p:sldId id="546" r:id="rId59"/>
    <p:sldId id="572" r:id="rId60"/>
  </p:sldIdLst>
  <p:sldSz cx="9144000" cy="6858000" type="screen4x3"/>
  <p:notesSz cx="6858000" cy="9144000"/>
  <p:custDataLst>
    <p:tags r:id="rId65"/>
  </p:custDataLst>
  <p:defaultTextStyle>
    <a:defPPr>
      <a:defRPr lang="en-US"/>
    </a:defPPr>
    <a:lvl1pPr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33" userDrawn="1">
          <p15:clr>
            <a:srgbClr val="A4A3A4"/>
          </p15:clr>
        </p15:guide>
        <p15:guide id="2" pos="27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CC0000"/>
    <a:srgbClr val="CCFFFF"/>
    <a:srgbClr val="0066FF"/>
    <a:srgbClr val="B2B2B2"/>
    <a:srgbClr val="2B166E"/>
    <a:srgbClr val="692A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12" autoAdjust="0"/>
    <p:restoredTop sz="94652" autoAdjust="0"/>
  </p:normalViewPr>
  <p:slideViewPr>
    <p:cSldViewPr>
      <p:cViewPr varScale="1">
        <p:scale>
          <a:sx n="67" d="100"/>
          <a:sy n="67" d="100"/>
        </p:scale>
        <p:origin x="-594" y="-102"/>
      </p:cViewPr>
      <p:guideLst>
        <p:guide orient="horz" pos="2133"/>
        <p:guide pos="27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5" Type="http://schemas.openxmlformats.org/officeDocument/2006/relationships/tags" Target="tags/tag1.xml"/><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handoutMaster" Target="handoutMasters/handoutMaster1.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6.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noProof="1"/>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noProof="1" smtClean="0"/>
            </a:lvl1pPr>
          </a:lstStyle>
          <a:p>
            <a:fld id="{0F9B84EA-7D68-4D60-9CB1-D50884785D1C}" type="datetimeFigureOut">
              <a:rPr lang="zh-CN" altLang="en-US"/>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noProof="1"/>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lstStyle>
            <a:lvl1pPr algn="r">
              <a:defRPr sz="1200" b="1"/>
            </a:lvl1pPr>
          </a:lstStyle>
          <a:p>
            <a:fld id="{A9FBF220-3392-4A55-88DB-7B490AB0E35B}" type="slidenum">
              <a:rPr lang="zh-CN" altLang="en-US"/>
            </a:fld>
            <a:endParaRPr lang="zh-CN" altLang="en-US">
              <a:latin typeface="Verdana" panose="020B0604030504040204" pitchFamily="3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9011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lgn="l" eaLnBrk="0" hangingPunct="0">
              <a:spcBef>
                <a:spcPct val="20000"/>
              </a:spcBef>
              <a:buFont typeface="Wingdings" panose="05000000000000000000" pitchFamily="2" charset="2"/>
              <a:buNone/>
              <a:defRPr sz="1200">
                <a:latin typeface="Arial" panose="020B0604020202020204" pitchFamily="34" charset="0"/>
              </a:defRPr>
            </a:lvl1pPr>
          </a:lstStyle>
          <a:p>
            <a:pPr>
              <a:defRPr/>
            </a:pPr>
            <a:endParaRPr lang="zh-CN" altLang="en-US"/>
          </a:p>
        </p:txBody>
      </p:sp>
      <p:sp>
        <p:nvSpPr>
          <p:cNvPr id="90115"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0" hangingPunct="0">
              <a:spcBef>
                <a:spcPct val="20000"/>
              </a:spcBef>
              <a:buFont typeface="Wingdings" panose="05000000000000000000" pitchFamily="2" charset="2"/>
              <a:buNone/>
              <a:defRPr sz="1200">
                <a:latin typeface="Arial" panose="020B0604020202020204" pitchFamily="34" charset="0"/>
              </a:defRPr>
            </a:lvl1pPr>
          </a:lstStyle>
          <a:p>
            <a:pPr>
              <a:defRPr/>
            </a:pPr>
            <a:fld id="{3CCDD1E0-3006-4C9F-A7B9-99B6C4F049E3}" type="datetimeFigureOut">
              <a:rPr lang="zh-CN" altLang="en-US"/>
            </a:fld>
            <a:endParaRPr lang="zh-CN" altLang="en-US"/>
          </a:p>
        </p:txBody>
      </p:sp>
      <p:sp>
        <p:nvSpPr>
          <p:cNvPr id="6148" name="Rectangle 4"/>
          <p:cNvSpPr>
            <a:spLocks noGrp="1" noRot="1" noChangeAspect="1" noChangeArrowheads="1" noTextEdit="1"/>
          </p:cNvSpPr>
          <p:nvPr>
            <p:ph type="sldImg" idx="4294967295"/>
          </p:nvPr>
        </p:nvSpPr>
        <p:spPr bwMode="auto">
          <a:xfrm>
            <a:off x="1143000" y="685800"/>
            <a:ext cx="4572000" cy="3429000"/>
          </a:xfrm>
          <a:prstGeom prst="rect">
            <a:avLst/>
          </a:prstGeom>
          <a:noFill/>
          <a:ln w="9525">
            <a:solidFill>
              <a:srgbClr val="000000"/>
            </a:solidFill>
            <a:miter lim="800000"/>
          </a:ln>
        </p:spPr>
      </p:sp>
      <p:sp>
        <p:nvSpPr>
          <p:cNvPr id="6149" name="Rectangle 5"/>
          <p:cNvSpPr>
            <a:spLocks noGrp="1" noChangeArrowheads="1"/>
          </p:cNvSpPr>
          <p:nvPr>
            <p:ph type="body" sz="quarter" idx="9"/>
          </p:nvPr>
        </p:nvSpPr>
        <p:spPr bwMode="auto">
          <a:xfrm>
            <a:off x="685800" y="4343400"/>
            <a:ext cx="5486400" cy="4114800"/>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90118"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algn="l" eaLnBrk="0" hangingPunct="0">
              <a:spcBef>
                <a:spcPct val="20000"/>
              </a:spcBef>
              <a:buFont typeface="Wingdings" panose="05000000000000000000" pitchFamily="2" charset="2"/>
              <a:buNone/>
              <a:defRPr sz="1200">
                <a:latin typeface="Arial" panose="020B0604020202020204" pitchFamily="34" charset="0"/>
              </a:defRPr>
            </a:lvl1pPr>
          </a:lstStyle>
          <a:p>
            <a:pPr>
              <a:defRPr/>
            </a:pPr>
            <a:endParaRPr lang="en-US" altLang="zh-CN"/>
          </a:p>
        </p:txBody>
      </p:sp>
      <p:sp>
        <p:nvSpPr>
          <p:cNvPr id="90119"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a:spcBef>
                <a:spcPct val="20000"/>
              </a:spcBef>
              <a:buFont typeface="Wingdings" panose="05000000000000000000" pitchFamily="2" charset="2"/>
              <a:buNone/>
              <a:defRPr sz="1200"/>
            </a:lvl1pPr>
          </a:lstStyle>
          <a:p>
            <a:fld id="{2D372E5D-D3A2-4209-8FB5-292B4A041164}"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幻灯片图像占位符 1"/>
          <p:cNvSpPr>
            <a:spLocks noGrp="1" noRot="1" noChangeAspect="1" noChangeArrowheads="1" noTextEdit="1"/>
          </p:cNvSpPr>
          <p:nvPr>
            <p:ph type="sldImg" idx="4294967295"/>
          </p:nvPr>
        </p:nvSpPr>
        <p:spPr>
          <a:ln>
            <a:miter lim="800000"/>
          </a:ln>
        </p:spPr>
      </p:sp>
      <p:sp>
        <p:nvSpPr>
          <p:cNvPr id="7170" name="备注占位符 2"/>
          <p:cNvSpPr>
            <a:spLocks noGrp="1" noChangeArrowheads="1"/>
          </p:cNvSpPr>
          <p:nvPr>
            <p:ph type="body" idx="4294967295"/>
          </p:nvPr>
        </p:nvSpPr>
        <p:spPr/>
        <p:txBody>
          <a:bodyPr/>
          <a:lstStyle/>
          <a:p>
            <a:pPr eaLnBrk="1" hangingPunct="1"/>
            <a:endParaRPr lang="zh-CN" altLang="en-US" smtClean="0"/>
          </a:p>
        </p:txBody>
      </p:sp>
      <p:sp>
        <p:nvSpPr>
          <p:cNvPr id="7171" name="灯片编号占位符 3"/>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spcBef>
                <a:spcPct val="20000"/>
              </a:spcBef>
            </a:pPr>
            <a:fld id="{5FCC1EEA-70C2-44AE-884A-B4C06429DDE2}" type="slidenum">
              <a:rPr lang="zh-CN" altLang="en-US" sz="1200">
                <a:ea typeface="宋体" panose="02010600030101010101" pitchFamily="2" charset="-122"/>
              </a:rPr>
            </a:fld>
            <a:endParaRPr lang="zh-CN" altLang="en-US" sz="120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ChangeArrowheads="1" noTextEdit="1"/>
          </p:cNvSpPr>
          <p:nvPr>
            <p:ph type="sldImg" idx="4294967295"/>
          </p:nvPr>
        </p:nvSpPr>
        <p:spPr/>
      </p:sp>
      <p:sp>
        <p:nvSpPr>
          <p:cNvPr id="43010" name="文本占位符 2"/>
          <p:cNvSpPr>
            <a:spLocks noGrp="1" noChangeArrowheads="1"/>
          </p:cNvSpPr>
          <p:nvPr>
            <p:ph type="body" idx="4294967295"/>
          </p:nvPr>
        </p:nvSpPr>
        <p:spPr/>
        <p:txBody>
          <a:bodyPr/>
          <a:lstStyle/>
          <a:p>
            <a:endParaRPr lang="zh-CN"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幻灯片图像占位符 1"/>
          <p:cNvSpPr>
            <a:spLocks noGrp="1" noRot="1" noChangeAspect="1" noChangeArrowheads="1" noTextEdit="1"/>
          </p:cNvSpPr>
          <p:nvPr>
            <p:ph type="sldImg" idx="4294967295"/>
          </p:nvPr>
        </p:nvSpPr>
        <p:spPr/>
      </p:sp>
      <p:sp>
        <p:nvSpPr>
          <p:cNvPr id="66562" name="文本占位符 2"/>
          <p:cNvSpPr>
            <a:spLocks noGrp="1" noChangeArrowheads="1"/>
          </p:cNvSpPr>
          <p:nvPr>
            <p:ph type="body" idx="4294967295"/>
          </p:nvPr>
        </p:nvSpPr>
        <p:spPr/>
        <p:txBody>
          <a:bodyPr/>
          <a:lstStyle/>
          <a:p>
            <a:pPr eaLnBrk="1" hangingPunct="1"/>
            <a:endParaRPr lang="zh-CN"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4" name="Picture 44" descr="e_12"/>
          <p:cNvPicPr>
            <a:picLocks noChangeAspect="1" noChangeArrowheads="1"/>
          </p:cNvPicPr>
          <p:nvPr userDrawn="1"/>
        </p:nvPicPr>
        <p:blipFill>
          <a:blip r:embed="rId2" cstate="print"/>
          <a:srcRect r="14461"/>
          <a:stretch>
            <a:fillRect/>
          </a:stretch>
        </p:blipFill>
        <p:spPr bwMode="auto">
          <a:xfrm>
            <a:off x="0" y="0"/>
            <a:ext cx="9144000" cy="5157788"/>
          </a:xfrm>
          <a:prstGeom prst="rect">
            <a:avLst/>
          </a:prstGeom>
          <a:noFill/>
          <a:ln w="9525">
            <a:noFill/>
            <a:miter lim="800000"/>
            <a:headEnd/>
            <a:tailEnd/>
          </a:ln>
        </p:spPr>
      </p:pic>
      <p:sp>
        <p:nvSpPr>
          <p:cNvPr id="5" name="Rectangle 45"/>
          <p:cNvSpPr>
            <a:spLocks noChangeArrowheads="1"/>
          </p:cNvSpPr>
          <p:nvPr/>
        </p:nvSpPr>
        <p:spPr bwMode="ltGray">
          <a:xfrm>
            <a:off x="0" y="6611938"/>
            <a:ext cx="9144000" cy="260350"/>
          </a:xfrm>
          <a:prstGeom prst="rect">
            <a:avLst/>
          </a:prstGeom>
          <a:gradFill rotWithShape="1">
            <a:gsLst>
              <a:gs pos="0">
                <a:schemeClr val="hlink">
                  <a:gamma/>
                  <a:shade val="46275"/>
                  <a:invGamma/>
                </a:schemeClr>
              </a:gs>
              <a:gs pos="50000">
                <a:schemeClr val="hlink"/>
              </a:gs>
              <a:gs pos="100000">
                <a:schemeClr val="hlink">
                  <a:gamma/>
                  <a:shade val="46275"/>
                  <a:invGamma/>
                </a:schemeClr>
              </a:gs>
            </a:gsLst>
            <a:lin ang="5400000" scaled="1"/>
          </a:gradFill>
          <a:ln w="9525">
            <a:noFill/>
            <a:miter lim="800000"/>
          </a:ln>
          <a:effectLst/>
        </p:spPr>
        <p:txBody>
          <a:bodyPr wrap="none" anchor="ctr"/>
          <a:lstStyle/>
          <a:p>
            <a:pPr algn="dist">
              <a:spcBef>
                <a:spcPct val="20000"/>
              </a:spcBef>
              <a:buFont typeface="Wingdings" panose="05000000000000000000" pitchFamily="2" charset="2"/>
              <a:buNone/>
              <a:defRPr/>
            </a:pPr>
            <a:endParaRPr lang="zh-CN" altLang="en-US">
              <a:ea typeface="+mn-ea"/>
            </a:endParaRPr>
          </a:p>
        </p:txBody>
      </p:sp>
      <p:sp>
        <p:nvSpPr>
          <p:cNvPr id="3074" name="Rectangle 2"/>
          <p:cNvSpPr>
            <a:spLocks noGrp="1" noChangeArrowheads="1"/>
          </p:cNvSpPr>
          <p:nvPr>
            <p:ph type="ctrTitle" hasCustomPrompt="1"/>
          </p:nvPr>
        </p:nvSpPr>
        <p:spPr>
          <a:xfrm>
            <a:off x="3886200" y="1371600"/>
            <a:ext cx="4876800" cy="3276600"/>
          </a:xfrm>
          <a:effectLst>
            <a:outerShdw dist="53882" dir="2700000" algn="ctr" rotWithShape="0">
              <a:schemeClr val="tx2">
                <a:alpha val="50000"/>
              </a:schemeClr>
            </a:outerShdw>
          </a:effectLst>
        </p:spPr>
        <p:txBody>
          <a:bodyPr/>
          <a:lstStyle>
            <a:lvl1pPr algn="r">
              <a:defRPr sz="4000">
                <a:solidFill>
                  <a:srgbClr val="FFFFCC"/>
                </a:solidFill>
              </a:defRPr>
            </a:lvl1pPr>
          </a:lstStyle>
          <a:p>
            <a:r>
              <a:rPr lang="en-US" altLang="zh-CN" noProof="1"/>
              <a:t>Click to edit </a:t>
            </a:r>
            <a:br>
              <a:rPr lang="en-US" altLang="zh-CN"/>
            </a:br>
            <a:r>
              <a:rPr lang="en-US" altLang="zh-CN" noProof="1"/>
              <a:t>Master title </a:t>
            </a:r>
            <a:br>
              <a:rPr lang="en-US" altLang="zh-CN"/>
            </a:br>
            <a:r>
              <a:rPr lang="en-US" altLang="zh-CN" noProof="1"/>
              <a:t>style</a:t>
            </a:r>
            <a:endParaRPr lang="en-US" altLang="zh-CN" noProof="1"/>
          </a:p>
        </p:txBody>
      </p:sp>
      <p:sp>
        <p:nvSpPr>
          <p:cNvPr id="3075" name="Rectangle 3"/>
          <p:cNvSpPr>
            <a:spLocks noGrp="1" noChangeArrowheads="1"/>
          </p:cNvSpPr>
          <p:nvPr>
            <p:ph type="subTitle" idx="1"/>
          </p:nvPr>
        </p:nvSpPr>
        <p:spPr bwMode="white">
          <a:xfrm>
            <a:off x="1752600" y="5638800"/>
            <a:ext cx="6172200" cy="457200"/>
          </a:xfrm>
        </p:spPr>
        <p:txBody>
          <a:bodyPr/>
          <a:lstStyle>
            <a:lvl1pPr marL="0" indent="0" algn="ctr">
              <a:buFont typeface="Wingdings" panose="05000000000000000000" pitchFamily="2" charset="2"/>
              <a:buNone/>
              <a:defRPr sz="1500"/>
            </a:lvl1pPr>
          </a:lstStyle>
          <a:p>
            <a:r>
              <a:rPr lang="zh-CN" altLang="en-US" noProof="1" smtClean="0"/>
              <a:t>单击此处编辑母版副标题样式</a:t>
            </a:r>
            <a:endParaRPr lang="en-US" altLang="zh-CN"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1F689688-CF6C-43FD-91FC-3235CCF40FB4}"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
        <p:nvSpPr>
          <p:cNvPr id="4" name="Rectangle 6"/>
          <p:cNvSpPr>
            <a:spLocks noGrp="1" noChangeArrowheads="1"/>
          </p:cNvSpPr>
          <p:nvPr>
            <p:ph type="sldNum" sz="quarter" idx="10"/>
          </p:nvPr>
        </p:nvSpPr>
        <p:spPr/>
        <p:txBody>
          <a:bodyPr/>
          <a:lstStyle>
            <a:lvl1pPr>
              <a:defRPr/>
            </a:lvl1pPr>
          </a:lstStyle>
          <a:p>
            <a:fld id="{5AA7C815-E80D-433C-89B0-E6A84AABEC6F}"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101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Rectangle 6"/>
          <p:cNvSpPr>
            <a:spLocks noGrp="1" noChangeArrowheads="1"/>
          </p:cNvSpPr>
          <p:nvPr>
            <p:ph type="sldNum" sz="quarter" idx="10"/>
          </p:nvPr>
        </p:nvSpPr>
        <p:spPr/>
        <p:txBody>
          <a:bodyPr/>
          <a:lstStyle>
            <a:lvl1pPr>
              <a:defRPr/>
            </a:lvl1pPr>
          </a:lstStyle>
          <a:p>
            <a:fld id="{F5D7F449-F449-4916-90AB-7491F140E828}"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Rectangle 6"/>
          <p:cNvSpPr>
            <a:spLocks noGrp="1" noChangeArrowheads="1"/>
          </p:cNvSpPr>
          <p:nvPr>
            <p:ph type="sldNum" sz="quarter" idx="10"/>
          </p:nvPr>
        </p:nvSpPr>
        <p:spPr/>
        <p:txBody>
          <a:bodyPr/>
          <a:lstStyle>
            <a:lvl1pPr>
              <a:defRPr/>
            </a:lvl1pPr>
          </a:lstStyle>
          <a:p>
            <a:fld id="{34AD27DC-77FB-47D2-80E4-586F2B6A02CB}"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Rectangle 6"/>
          <p:cNvSpPr>
            <a:spLocks noGrp="1" noChangeArrowheads="1"/>
          </p:cNvSpPr>
          <p:nvPr>
            <p:ph type="sldNum" sz="quarter" idx="10"/>
          </p:nvPr>
        </p:nvSpPr>
        <p:spPr/>
        <p:txBody>
          <a:bodyPr/>
          <a:lstStyle>
            <a:lvl1pPr>
              <a:defRPr/>
            </a:lvl1pPr>
          </a:lstStyle>
          <a:p>
            <a:fld id="{87421CE4-CDFF-4B0E-B4E9-DD1C8D191185}"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p:txBody>
          <a:bodyPr/>
          <a:lstStyle>
            <a:lvl1pPr>
              <a:defRPr/>
            </a:lvl1pPr>
          </a:lstStyle>
          <a:p>
            <a:fld id="{60BC9BE9-5EEA-4E6F-9FA9-0CA523D4954F}"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Rectangle 6"/>
          <p:cNvSpPr>
            <a:spLocks noGrp="1" noChangeArrowheads="1"/>
          </p:cNvSpPr>
          <p:nvPr>
            <p:ph type="sldNum" sz="quarter" idx="10"/>
          </p:nvPr>
        </p:nvSpPr>
        <p:spPr/>
        <p:txBody>
          <a:bodyPr/>
          <a:lstStyle>
            <a:lvl1pPr>
              <a:defRPr/>
            </a:lvl1pPr>
          </a:lstStyle>
          <a:p>
            <a:fld id="{90CB0709-2E8B-4EBA-A059-184F61382981}"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Rectangle 6"/>
          <p:cNvSpPr>
            <a:spLocks noGrp="1" noChangeArrowheads="1"/>
          </p:cNvSpPr>
          <p:nvPr>
            <p:ph type="sldNum" sz="quarter" idx="10"/>
          </p:nvPr>
        </p:nvSpPr>
        <p:spPr/>
        <p:txBody>
          <a:bodyPr/>
          <a:lstStyle>
            <a:lvl1pPr>
              <a:defRPr/>
            </a:lvl1pPr>
          </a:lstStyle>
          <a:p>
            <a:fld id="{2A879913-B5E1-451C-A1FE-5FCBA7DC3C7D}"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1847DC4E-31BC-431F-A9DF-A11C8C60A32A}"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152400"/>
            <a:ext cx="2076450" cy="617220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52400"/>
            <a:ext cx="6076950" cy="6172200"/>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24B3BAB9-523B-43A2-9B06-1E9BD33A0FF3}"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4" name="Picture 44" descr="e_12"/>
          <p:cNvPicPr>
            <a:picLocks noChangeAspect="1" noChangeArrowheads="1"/>
          </p:cNvPicPr>
          <p:nvPr userDrawn="1"/>
        </p:nvPicPr>
        <p:blipFill>
          <a:blip r:embed="rId2" cstate="print"/>
          <a:srcRect r="14461"/>
          <a:stretch>
            <a:fillRect/>
          </a:stretch>
        </p:blipFill>
        <p:spPr bwMode="auto">
          <a:xfrm>
            <a:off x="0" y="0"/>
            <a:ext cx="9144000" cy="5157788"/>
          </a:xfrm>
          <a:prstGeom prst="rect">
            <a:avLst/>
          </a:prstGeom>
          <a:noFill/>
          <a:ln w="9525">
            <a:noFill/>
            <a:miter lim="800000"/>
            <a:headEnd/>
            <a:tailEnd/>
          </a:ln>
        </p:spPr>
      </p:pic>
      <p:sp>
        <p:nvSpPr>
          <p:cNvPr id="5" name="Rectangle 45"/>
          <p:cNvSpPr>
            <a:spLocks noChangeArrowheads="1"/>
          </p:cNvSpPr>
          <p:nvPr/>
        </p:nvSpPr>
        <p:spPr bwMode="ltGray">
          <a:xfrm>
            <a:off x="0" y="6611938"/>
            <a:ext cx="9144000" cy="260350"/>
          </a:xfrm>
          <a:prstGeom prst="rect">
            <a:avLst/>
          </a:prstGeom>
          <a:gradFill rotWithShape="1">
            <a:gsLst>
              <a:gs pos="0">
                <a:schemeClr val="hlink">
                  <a:gamma/>
                  <a:shade val="46275"/>
                  <a:invGamma/>
                </a:schemeClr>
              </a:gs>
              <a:gs pos="50000">
                <a:schemeClr val="hlink"/>
              </a:gs>
              <a:gs pos="100000">
                <a:schemeClr val="hlink">
                  <a:gamma/>
                  <a:shade val="46275"/>
                  <a:invGamma/>
                </a:schemeClr>
              </a:gs>
            </a:gsLst>
            <a:lin ang="5400000" scaled="1"/>
          </a:gradFill>
          <a:ln w="9525">
            <a:noFill/>
            <a:miter lim="800000"/>
          </a:ln>
          <a:effectLst/>
        </p:spPr>
        <p:txBody>
          <a:bodyPr wrap="none" anchor="ctr"/>
          <a:lstStyle/>
          <a:p>
            <a:pPr algn="dist">
              <a:spcBef>
                <a:spcPct val="20000"/>
              </a:spcBef>
              <a:buFont typeface="Wingdings" panose="05000000000000000000" pitchFamily="2" charset="2"/>
              <a:buNone/>
              <a:defRPr/>
            </a:pPr>
            <a:endParaRPr lang="zh-CN" altLang="en-US">
              <a:ea typeface="+mn-ea"/>
            </a:endParaRPr>
          </a:p>
        </p:txBody>
      </p:sp>
      <p:sp>
        <p:nvSpPr>
          <p:cNvPr id="3074" name="Rectangle 2"/>
          <p:cNvSpPr>
            <a:spLocks noGrp="1" noChangeArrowheads="1"/>
          </p:cNvSpPr>
          <p:nvPr>
            <p:ph type="ctrTitle" hasCustomPrompt="1"/>
          </p:nvPr>
        </p:nvSpPr>
        <p:spPr>
          <a:xfrm>
            <a:off x="3886200" y="1371600"/>
            <a:ext cx="4876800" cy="3276600"/>
          </a:xfrm>
          <a:effectLst>
            <a:outerShdw dist="53882" dir="2700000" algn="ctr" rotWithShape="0">
              <a:schemeClr val="tx2">
                <a:alpha val="50000"/>
              </a:schemeClr>
            </a:outerShdw>
          </a:effectLst>
        </p:spPr>
        <p:txBody>
          <a:bodyPr/>
          <a:lstStyle>
            <a:lvl1pPr algn="r">
              <a:defRPr sz="4000">
                <a:solidFill>
                  <a:srgbClr val="FFFFCC"/>
                </a:solidFill>
              </a:defRPr>
            </a:lvl1pPr>
          </a:lstStyle>
          <a:p>
            <a:r>
              <a:rPr lang="en-US" altLang="zh-CN" noProof="1"/>
              <a:t>Click to edit </a:t>
            </a:r>
            <a:br>
              <a:rPr lang="en-US" altLang="zh-CN"/>
            </a:br>
            <a:r>
              <a:rPr lang="en-US" altLang="zh-CN" noProof="1"/>
              <a:t>Master title </a:t>
            </a:r>
            <a:br>
              <a:rPr lang="en-US" altLang="zh-CN"/>
            </a:br>
            <a:r>
              <a:rPr lang="en-US" altLang="zh-CN" noProof="1"/>
              <a:t>style</a:t>
            </a:r>
            <a:endParaRPr lang="en-US" altLang="zh-CN" noProof="1"/>
          </a:p>
        </p:txBody>
      </p:sp>
      <p:sp>
        <p:nvSpPr>
          <p:cNvPr id="3075" name="Rectangle 3"/>
          <p:cNvSpPr>
            <a:spLocks noGrp="1" noChangeArrowheads="1"/>
          </p:cNvSpPr>
          <p:nvPr>
            <p:ph type="subTitle" idx="1"/>
          </p:nvPr>
        </p:nvSpPr>
        <p:spPr bwMode="white">
          <a:xfrm>
            <a:off x="1752600" y="5638800"/>
            <a:ext cx="6172200" cy="457200"/>
          </a:xfrm>
        </p:spPr>
        <p:txBody>
          <a:bodyPr/>
          <a:lstStyle>
            <a:lvl1pPr marL="0" indent="0" algn="ctr">
              <a:buFont typeface="Wingdings" panose="05000000000000000000" pitchFamily="2" charset="2"/>
              <a:buNone/>
              <a:defRPr sz="1500"/>
            </a:lvl1pPr>
          </a:lstStyle>
          <a:p>
            <a:r>
              <a:rPr lang="en-US" altLang="zh-CN" noProof="1"/>
              <a:t>Click to edit Master subtitle style</a:t>
            </a:r>
            <a:endParaRPr lang="en-US" altLang="zh-CN"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2E36DA9F-BAC9-4E1F-9178-B37566595F56}"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
        <p:nvSpPr>
          <p:cNvPr id="4" name="Rectangle 6"/>
          <p:cNvSpPr>
            <a:spLocks noGrp="1" noChangeArrowheads="1"/>
          </p:cNvSpPr>
          <p:nvPr>
            <p:ph type="sldNum" sz="quarter" idx="10"/>
          </p:nvPr>
        </p:nvSpPr>
        <p:spPr/>
        <p:txBody>
          <a:bodyPr/>
          <a:lstStyle>
            <a:lvl1pPr>
              <a:defRPr/>
            </a:lvl1pPr>
          </a:lstStyle>
          <a:p>
            <a:fld id="{F117B8BC-B424-4311-96E8-D3C0EC5E2B23}"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101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Rectangle 6"/>
          <p:cNvSpPr>
            <a:spLocks noGrp="1" noChangeArrowheads="1"/>
          </p:cNvSpPr>
          <p:nvPr>
            <p:ph type="sldNum" sz="quarter" idx="10"/>
          </p:nvPr>
        </p:nvSpPr>
        <p:spPr/>
        <p:txBody>
          <a:bodyPr/>
          <a:lstStyle>
            <a:lvl1pPr>
              <a:defRPr/>
            </a:lvl1pPr>
          </a:lstStyle>
          <a:p>
            <a:fld id="{CCEB610B-FEE7-43D5-98D3-1182827CE440}"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Rectangle 6"/>
          <p:cNvSpPr>
            <a:spLocks noGrp="1" noChangeArrowheads="1"/>
          </p:cNvSpPr>
          <p:nvPr>
            <p:ph type="sldNum" sz="quarter" idx="10"/>
          </p:nvPr>
        </p:nvSpPr>
        <p:spPr/>
        <p:txBody>
          <a:bodyPr/>
          <a:lstStyle>
            <a:lvl1pPr>
              <a:defRPr/>
            </a:lvl1pPr>
          </a:lstStyle>
          <a:p>
            <a:fld id="{03EE03F3-2A42-434B-8C6C-1AF6C1336141}"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Rectangle 6"/>
          <p:cNvSpPr>
            <a:spLocks noGrp="1" noChangeArrowheads="1"/>
          </p:cNvSpPr>
          <p:nvPr>
            <p:ph type="sldNum" sz="quarter" idx="10"/>
          </p:nvPr>
        </p:nvSpPr>
        <p:spPr/>
        <p:txBody>
          <a:bodyPr/>
          <a:lstStyle>
            <a:lvl1pPr>
              <a:defRPr/>
            </a:lvl1pPr>
          </a:lstStyle>
          <a:p>
            <a:fld id="{C2C30D51-6FA5-4B96-B8A6-0AEA9F151F16}"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p:txBody>
          <a:bodyPr/>
          <a:lstStyle>
            <a:lvl1pPr>
              <a:defRPr/>
            </a:lvl1pPr>
          </a:lstStyle>
          <a:p>
            <a:fld id="{43A239DC-2F5D-4115-98A2-12BC4D111CFD}"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Rectangle 6"/>
          <p:cNvSpPr>
            <a:spLocks noGrp="1" noChangeArrowheads="1"/>
          </p:cNvSpPr>
          <p:nvPr>
            <p:ph type="sldNum" sz="quarter" idx="10"/>
          </p:nvPr>
        </p:nvSpPr>
        <p:spPr/>
        <p:txBody>
          <a:bodyPr/>
          <a:lstStyle>
            <a:lvl1pPr>
              <a:defRPr/>
            </a:lvl1pPr>
          </a:lstStyle>
          <a:p>
            <a:fld id="{4C461C47-0C57-4D57-942F-9A0EF34DFD34}"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Rectangle 6"/>
          <p:cNvSpPr>
            <a:spLocks noGrp="1" noChangeArrowheads="1"/>
          </p:cNvSpPr>
          <p:nvPr>
            <p:ph type="sldNum" sz="quarter" idx="10"/>
          </p:nvPr>
        </p:nvSpPr>
        <p:spPr/>
        <p:txBody>
          <a:bodyPr/>
          <a:lstStyle>
            <a:lvl1pPr>
              <a:defRPr/>
            </a:lvl1pPr>
          </a:lstStyle>
          <a:p>
            <a:fld id="{DE3F9C32-FDF0-499F-8E44-57A2452C0538}"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778D59DB-810F-4CFA-8040-73A42235A130}" type="slidenum">
              <a:rPr lang="zh-CN" altLang="en-US"/>
            </a:fld>
            <a:endParaRPr lang="zh-CN" altLang="en-US">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152400"/>
            <a:ext cx="2076450" cy="617220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52400"/>
            <a:ext cx="6076950" cy="6172200"/>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p:txBody>
          <a:bodyPr/>
          <a:lstStyle>
            <a:lvl1pPr>
              <a:defRPr/>
            </a:lvl1pPr>
          </a:lstStyle>
          <a:p>
            <a:fld id="{0DEEF042-3679-4B05-BCC4-5EEE13369F57}" type="slidenum">
              <a:rPr lang="zh-CN" altLang="en-US"/>
            </a:fld>
            <a:endParaRPr lang="zh-CN" altLang="en-US">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2.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pic>
        <p:nvPicPr>
          <p:cNvPr id="1026" name="Picture 43" descr="e_11p"/>
          <p:cNvPicPr>
            <a:picLocks noChangeAspect="1" noChangeArrowheads="1"/>
          </p:cNvPicPr>
          <p:nvPr/>
        </p:nvPicPr>
        <p:blipFill>
          <a:blip r:embed="rId12" cstate="print"/>
          <a:srcRect/>
          <a:stretch>
            <a:fillRect/>
          </a:stretch>
        </p:blipFill>
        <p:spPr bwMode="auto">
          <a:xfrm>
            <a:off x="0" y="0"/>
            <a:ext cx="9144000" cy="836613"/>
          </a:xfrm>
          <a:prstGeom prst="rect">
            <a:avLst/>
          </a:prstGeom>
          <a:noFill/>
          <a:ln w="9525">
            <a:noFill/>
            <a:miter lim="800000"/>
            <a:headEnd/>
            <a:tailEnd/>
          </a:ln>
        </p:spPr>
      </p:pic>
      <p:sp>
        <p:nvSpPr>
          <p:cNvPr id="1027" name="Rectangle 3"/>
          <p:cNvSpPr>
            <a:spLocks noGrp="1" noChangeArrowheads="1"/>
          </p:cNvSpPr>
          <p:nvPr>
            <p:ph type="body" idx="4294967295"/>
          </p:nvPr>
        </p:nvSpPr>
        <p:spPr bwMode="auto">
          <a:xfrm>
            <a:off x="457200" y="1295400"/>
            <a:ext cx="8153400" cy="5029200"/>
          </a:xfrm>
          <a:prstGeom prst="rect">
            <a:avLst/>
          </a:prstGeom>
          <a:noFill/>
          <a:ln w="9525">
            <a:noFill/>
            <a:miter lim="800000"/>
          </a:ln>
        </p:spPr>
        <p:txBody>
          <a:bodyPr vert="horz" wrap="square" lIns="91440" tIns="45720" rIns="91440" bIns="45720" numCol="1" anchor="t" anchorCtr="0" compatLnSpc="1"/>
          <a:lstStyle/>
          <a:p>
            <a:pPr lvl="0"/>
            <a:r>
              <a:rPr lang="en-US" altLang="zh-CN" smtClean="0"/>
              <a:t>Click to edit Master text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p:txBody>
      </p:sp>
      <p:sp>
        <p:nvSpPr>
          <p:cNvPr id="1030" name="Rectangle 6"/>
          <p:cNvSpPr>
            <a:spLocks noGrp="1" noChangeArrowheads="1"/>
          </p:cNvSpPr>
          <p:nvPr>
            <p:ph type="sldNum" sz="quarter" idx="4"/>
          </p:nvPr>
        </p:nvSpPr>
        <p:spPr bwMode="auto">
          <a:xfrm>
            <a:off x="3276600" y="6480175"/>
            <a:ext cx="2133600" cy="292100"/>
          </a:xfrm>
          <a:prstGeom prst="rect">
            <a:avLst/>
          </a:prstGeom>
          <a:noFill/>
          <a:ln w="9525">
            <a:noFill/>
            <a:miter lim="800000"/>
          </a:ln>
          <a:effectLst/>
        </p:spPr>
        <p:txBody>
          <a:bodyPr vert="horz" wrap="square" lIns="91440" tIns="45720" rIns="91440" bIns="45720" numCol="1" anchor="t" anchorCtr="0" compatLnSpc="1"/>
          <a:lstStyle>
            <a:lvl1pPr algn="ctr">
              <a:defRPr sz="1400" b="1">
                <a:latin typeface="Verdana" panose="020B0604030504040204" pitchFamily="34" charset="0"/>
              </a:defRPr>
            </a:lvl1pPr>
          </a:lstStyle>
          <a:p>
            <a:fld id="{5E998E42-E3E8-4479-A912-CEB31028451A}" type="slidenum">
              <a:rPr lang="zh-CN" altLang="en-US"/>
            </a:fld>
            <a:endParaRPr lang="zh-CN" altLang="en-US"/>
          </a:p>
        </p:txBody>
      </p:sp>
      <p:sp>
        <p:nvSpPr>
          <p:cNvPr id="1029" name="Rectangle 2"/>
          <p:cNvSpPr>
            <a:spLocks noGrp="1" noChangeArrowheads="1"/>
          </p:cNvSpPr>
          <p:nvPr>
            <p:ph type="title" idx="9"/>
          </p:nvPr>
        </p:nvSpPr>
        <p:spPr bwMode="auto">
          <a:xfrm>
            <a:off x="457200" y="152400"/>
            <a:ext cx="8305800" cy="563563"/>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endParaRPr lang="en-US" altLang="zh-CN" smtClean="0"/>
          </a:p>
        </p:txBody>
      </p:sp>
      <p:sp>
        <p:nvSpPr>
          <p:cNvPr id="1070" name="Text Box 46"/>
          <p:cNvSpPr txBox="1">
            <a:spLocks noChangeArrowheads="1"/>
          </p:cNvSpPr>
          <p:nvPr/>
        </p:nvSpPr>
        <p:spPr bwMode="auto">
          <a:xfrm>
            <a:off x="0" y="819150"/>
            <a:ext cx="9144000" cy="244475"/>
          </a:xfrm>
          <a:prstGeom prst="rect">
            <a:avLst/>
          </a:prstGeom>
          <a:gradFill rotWithShape="1">
            <a:gsLst>
              <a:gs pos="0">
                <a:schemeClr val="hlink">
                  <a:gamma/>
                  <a:shade val="46275"/>
                  <a:invGamma/>
                </a:schemeClr>
              </a:gs>
              <a:gs pos="50000">
                <a:schemeClr val="hlink"/>
              </a:gs>
              <a:gs pos="100000">
                <a:schemeClr val="hlink">
                  <a:gamma/>
                  <a:shade val="46275"/>
                  <a:invGamma/>
                </a:schemeClr>
              </a:gs>
            </a:gsLst>
            <a:lin ang="5400000" scaled="1"/>
          </a:gradFill>
          <a:ln w="9525">
            <a:noFill/>
            <a:miter lim="800000"/>
          </a:ln>
          <a:effectLst/>
        </p:spPr>
        <p:txBody>
          <a:bodyPr>
            <a:spAutoFit/>
          </a:bodyPr>
          <a:lstStyle/>
          <a:p>
            <a:pPr>
              <a:defRPr/>
            </a:pPr>
            <a:endParaRPr lang="en-US" altLang="zh-CN" sz="1000" b="1">
              <a:solidFill>
                <a:schemeClr val="bg1"/>
              </a:solidFill>
              <a:latin typeface="Verdan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fontAlgn="base" hangingPunct="1">
        <a:spcBef>
          <a:spcPct val="0"/>
        </a:spcBef>
        <a:spcAft>
          <a:spcPct val="0"/>
        </a:spcAft>
        <a:defRPr sz="3200" b="1">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anose="020B0604030504040204" pitchFamily="34" charset="0"/>
        </a:defRPr>
      </a:lvl2pPr>
      <a:lvl3pPr algn="ctr" rtl="0" eaLnBrk="1" fontAlgn="base" hangingPunct="1">
        <a:spcBef>
          <a:spcPct val="0"/>
        </a:spcBef>
        <a:spcAft>
          <a:spcPct val="0"/>
        </a:spcAft>
        <a:defRPr sz="3200" b="1">
          <a:solidFill>
            <a:schemeClr val="bg1"/>
          </a:solidFill>
          <a:latin typeface="Verdana" panose="020B0604030504040204" pitchFamily="34" charset="0"/>
        </a:defRPr>
      </a:lvl3pPr>
      <a:lvl4pPr algn="ctr" rtl="0" eaLnBrk="1" fontAlgn="base" hangingPunct="1">
        <a:spcBef>
          <a:spcPct val="0"/>
        </a:spcBef>
        <a:spcAft>
          <a:spcPct val="0"/>
        </a:spcAft>
        <a:defRPr sz="3200" b="1">
          <a:solidFill>
            <a:schemeClr val="bg1"/>
          </a:solidFill>
          <a:latin typeface="Verdana" panose="020B0604030504040204" pitchFamily="34" charset="0"/>
        </a:defRPr>
      </a:lvl4pPr>
      <a:lvl5pPr algn="ctr" rtl="0" eaLnBrk="1" fontAlgn="base" hangingPunct="1">
        <a:spcBef>
          <a:spcPct val="0"/>
        </a:spcBef>
        <a:spcAft>
          <a:spcPct val="0"/>
        </a:spcAft>
        <a:defRPr sz="3200" b="1">
          <a:solidFill>
            <a:schemeClr val="bg1"/>
          </a:solidFill>
          <a:latin typeface="Verdana" panose="020B0604030504040204" pitchFamily="34" charset="0"/>
        </a:defRPr>
      </a:lvl5pPr>
      <a:lvl6pPr marL="457200" algn="ctr" rtl="0" eaLnBrk="1" fontAlgn="base" hangingPunct="1">
        <a:spcBef>
          <a:spcPct val="0"/>
        </a:spcBef>
        <a:spcAft>
          <a:spcPct val="0"/>
        </a:spcAft>
        <a:defRPr sz="3200" b="1">
          <a:solidFill>
            <a:schemeClr val="bg1"/>
          </a:solidFill>
          <a:latin typeface="Verdana" panose="020B0604030504040204" pitchFamily="34" charset="0"/>
        </a:defRPr>
      </a:lvl6pPr>
      <a:lvl7pPr marL="914400" algn="ctr" rtl="0" eaLnBrk="1" fontAlgn="base" hangingPunct="1">
        <a:spcBef>
          <a:spcPct val="0"/>
        </a:spcBef>
        <a:spcAft>
          <a:spcPct val="0"/>
        </a:spcAft>
        <a:defRPr sz="3200" b="1">
          <a:solidFill>
            <a:schemeClr val="bg1"/>
          </a:solidFill>
          <a:latin typeface="Verdana" panose="020B0604030504040204" pitchFamily="34" charset="0"/>
        </a:defRPr>
      </a:lvl7pPr>
      <a:lvl8pPr marL="1371600" algn="ctr" rtl="0" eaLnBrk="1" fontAlgn="base" hangingPunct="1">
        <a:spcBef>
          <a:spcPct val="0"/>
        </a:spcBef>
        <a:spcAft>
          <a:spcPct val="0"/>
        </a:spcAft>
        <a:defRPr sz="3200" b="1">
          <a:solidFill>
            <a:schemeClr val="bg1"/>
          </a:solidFill>
          <a:latin typeface="Verdana" panose="020B0604030504040204" pitchFamily="34" charset="0"/>
        </a:defRPr>
      </a:lvl8pPr>
      <a:lvl9pPr marL="1828800" algn="ctr" rtl="0" eaLnBrk="1" fontAlgn="base" hangingPunct="1">
        <a:spcBef>
          <a:spcPct val="0"/>
        </a:spcBef>
        <a:spcAft>
          <a:spcPct val="0"/>
        </a:spcAft>
        <a:defRPr sz="3200" b="1">
          <a:solidFill>
            <a:schemeClr val="bg1"/>
          </a:solidFill>
          <a:latin typeface="Verdana" panose="020B0604030504040204" pitchFamily="34" charset="0"/>
        </a:defRPr>
      </a:lvl9pPr>
    </p:titleStyle>
    <p:bodyStyle>
      <a:lvl1pPr marL="342900" indent="-342900" algn="l" rtl="0" eaLnBrk="1" fontAlgn="base" hangingPunct="1">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1" fontAlgn="base" hangingPunct="1">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1" fontAlgn="base" hangingPunct="1">
        <a:spcBef>
          <a:spcPct val="20000"/>
        </a:spcBef>
        <a:spcAft>
          <a:spcPct val="0"/>
        </a:spcAft>
        <a:defRPr sz="1600">
          <a:solidFill>
            <a:schemeClr val="tx1"/>
          </a:solidFill>
          <a:latin typeface="+mn-lt"/>
          <a:ea typeface="+mn-ea"/>
        </a:defRPr>
      </a:lvl4pPr>
      <a:lvl5pPr marL="2057400" indent="-228600" algn="l" rtl="0" eaLnBrk="1" fontAlgn="base" hangingPunct="1">
        <a:spcBef>
          <a:spcPct val="20000"/>
        </a:spcBef>
        <a:spcAft>
          <a:spcPct val="0"/>
        </a:spcAft>
        <a:buChar char="»"/>
        <a:defRPr sz="1400">
          <a:solidFill>
            <a:schemeClr val="tx1"/>
          </a:solidFill>
          <a:latin typeface="+mn-lt"/>
          <a:ea typeface="+mn-ea"/>
        </a:defRPr>
      </a:lvl5pPr>
      <a:lvl6pPr marL="2514600" indent="-228600" algn="l" rtl="0" eaLnBrk="1" fontAlgn="base" hangingPunct="1">
        <a:spcBef>
          <a:spcPct val="20000"/>
        </a:spcBef>
        <a:spcAft>
          <a:spcPct val="0"/>
        </a:spcAft>
        <a:buChar char="»"/>
        <a:defRPr sz="1400">
          <a:solidFill>
            <a:schemeClr val="tx1"/>
          </a:solidFill>
          <a:latin typeface="+mn-lt"/>
          <a:ea typeface="+mn-ea"/>
        </a:defRPr>
      </a:lvl6pPr>
      <a:lvl7pPr marL="2971800" indent="-228600" algn="l" rtl="0" eaLnBrk="1" fontAlgn="base" hangingPunct="1">
        <a:spcBef>
          <a:spcPct val="20000"/>
        </a:spcBef>
        <a:spcAft>
          <a:spcPct val="0"/>
        </a:spcAft>
        <a:buChar char="»"/>
        <a:defRPr sz="1400">
          <a:solidFill>
            <a:schemeClr val="tx1"/>
          </a:solidFill>
          <a:latin typeface="+mn-lt"/>
          <a:ea typeface="+mn-ea"/>
        </a:defRPr>
      </a:lvl7pPr>
      <a:lvl8pPr marL="3429000" indent="-228600" algn="l" rtl="0" eaLnBrk="1" fontAlgn="base" hangingPunct="1">
        <a:spcBef>
          <a:spcPct val="20000"/>
        </a:spcBef>
        <a:spcAft>
          <a:spcPct val="0"/>
        </a:spcAft>
        <a:buChar char="»"/>
        <a:defRPr sz="1400">
          <a:solidFill>
            <a:schemeClr val="tx1"/>
          </a:solidFill>
          <a:latin typeface="+mn-lt"/>
          <a:ea typeface="+mn-ea"/>
        </a:defRPr>
      </a:lvl8pPr>
      <a:lvl9pPr marL="3886200" indent="-228600" algn="l" rtl="0" eaLnBrk="1" fontAlgn="base" hangingPunct="1">
        <a:spcBef>
          <a:spcPct val="20000"/>
        </a:spcBef>
        <a:spcAft>
          <a:spcPct val="0"/>
        </a:spcAft>
        <a:buChar char="»"/>
        <a:defRPr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pic>
        <p:nvPicPr>
          <p:cNvPr id="2050" name="Picture 43" descr="e_11p"/>
          <p:cNvPicPr>
            <a:picLocks noChangeAspect="1" noChangeArrowheads="1"/>
          </p:cNvPicPr>
          <p:nvPr/>
        </p:nvPicPr>
        <p:blipFill>
          <a:blip r:embed="rId12" cstate="print"/>
          <a:srcRect/>
          <a:stretch>
            <a:fillRect/>
          </a:stretch>
        </p:blipFill>
        <p:spPr bwMode="auto">
          <a:xfrm>
            <a:off x="0" y="0"/>
            <a:ext cx="9144000" cy="836613"/>
          </a:xfrm>
          <a:prstGeom prst="rect">
            <a:avLst/>
          </a:prstGeom>
          <a:noFill/>
          <a:ln w="9525">
            <a:noFill/>
            <a:miter lim="800000"/>
            <a:headEnd/>
            <a:tailEnd/>
          </a:ln>
        </p:spPr>
      </p:pic>
      <p:sp>
        <p:nvSpPr>
          <p:cNvPr id="2051" name="Rectangle 3"/>
          <p:cNvSpPr>
            <a:spLocks noGrp="1" noChangeArrowheads="1"/>
          </p:cNvSpPr>
          <p:nvPr>
            <p:ph type="body" idx="4294967295"/>
          </p:nvPr>
        </p:nvSpPr>
        <p:spPr bwMode="auto">
          <a:xfrm>
            <a:off x="457200" y="1295400"/>
            <a:ext cx="8153400" cy="5029200"/>
          </a:xfrm>
          <a:prstGeom prst="rect">
            <a:avLst/>
          </a:prstGeom>
          <a:noFill/>
          <a:ln w="9525">
            <a:noFill/>
            <a:miter lim="800000"/>
          </a:ln>
        </p:spPr>
        <p:txBody>
          <a:bodyPr vert="horz" wrap="square" lIns="91440" tIns="45720" rIns="91440" bIns="45720" numCol="1" anchor="t" anchorCtr="0" compatLnSpc="1"/>
          <a:lstStyle/>
          <a:p>
            <a:pPr lvl="0"/>
            <a:r>
              <a:rPr lang="en-US" altLang="zh-CN" smtClean="0"/>
              <a:t>Click to edit Master text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p:txBody>
      </p:sp>
      <p:sp>
        <p:nvSpPr>
          <p:cNvPr id="1030" name="Rectangle 6"/>
          <p:cNvSpPr>
            <a:spLocks noGrp="1" noChangeArrowheads="1"/>
          </p:cNvSpPr>
          <p:nvPr>
            <p:ph type="sldNum" sz="quarter" idx="4"/>
          </p:nvPr>
        </p:nvSpPr>
        <p:spPr bwMode="auto">
          <a:xfrm>
            <a:off x="3276600" y="6480175"/>
            <a:ext cx="2133600" cy="292100"/>
          </a:xfrm>
          <a:prstGeom prst="rect">
            <a:avLst/>
          </a:prstGeom>
          <a:noFill/>
          <a:ln w="9525">
            <a:noFill/>
            <a:miter lim="800000"/>
          </a:ln>
          <a:effectLst/>
        </p:spPr>
        <p:txBody>
          <a:bodyPr vert="horz" wrap="square" lIns="91440" tIns="45720" rIns="91440" bIns="45720" numCol="1" anchor="t" anchorCtr="0" compatLnSpc="1"/>
          <a:lstStyle>
            <a:lvl1pPr algn="ctr">
              <a:defRPr sz="1400" b="1">
                <a:latin typeface="Verdana" panose="020B0604030504040204" pitchFamily="34" charset="0"/>
              </a:defRPr>
            </a:lvl1pPr>
          </a:lstStyle>
          <a:p>
            <a:fld id="{DA230984-43AA-4109-B67E-6C53F1DCBE12}" type="slidenum">
              <a:rPr lang="zh-CN" altLang="en-US"/>
            </a:fld>
            <a:endParaRPr lang="zh-CN" altLang="en-US"/>
          </a:p>
        </p:txBody>
      </p:sp>
      <p:sp>
        <p:nvSpPr>
          <p:cNvPr id="2053" name="Rectangle 2"/>
          <p:cNvSpPr>
            <a:spLocks noGrp="1" noChangeArrowheads="1"/>
          </p:cNvSpPr>
          <p:nvPr>
            <p:ph type="title" idx="9"/>
          </p:nvPr>
        </p:nvSpPr>
        <p:spPr bwMode="auto">
          <a:xfrm>
            <a:off x="457200" y="152400"/>
            <a:ext cx="8305800" cy="563563"/>
          </a:xfrm>
          <a:prstGeom prst="rect">
            <a:avLst/>
          </a:prstGeom>
          <a:noFill/>
          <a:ln w="9525">
            <a:noFill/>
            <a:miter lim="800000"/>
          </a:ln>
        </p:spPr>
        <p:txBody>
          <a:bodyPr vert="horz" wrap="square" lIns="91440" tIns="45720" rIns="91440" bIns="45720" numCol="1" anchor="ctr" anchorCtr="0" compatLnSpc="1"/>
          <a:lstStyle/>
          <a:p>
            <a:pPr lvl="0"/>
            <a:r>
              <a:rPr lang="en-US" altLang="zh-CN" smtClean="0"/>
              <a:t>Click to edit Master title style</a:t>
            </a:r>
            <a:endParaRPr lang="en-US" altLang="zh-CN" smtClean="0"/>
          </a:p>
        </p:txBody>
      </p:sp>
      <p:sp>
        <p:nvSpPr>
          <p:cNvPr id="1070" name="Text Box 46"/>
          <p:cNvSpPr txBox="1">
            <a:spLocks noChangeArrowheads="1"/>
          </p:cNvSpPr>
          <p:nvPr/>
        </p:nvSpPr>
        <p:spPr bwMode="auto">
          <a:xfrm>
            <a:off x="0" y="819150"/>
            <a:ext cx="9144000" cy="244475"/>
          </a:xfrm>
          <a:prstGeom prst="rect">
            <a:avLst/>
          </a:prstGeom>
          <a:gradFill rotWithShape="1">
            <a:gsLst>
              <a:gs pos="0">
                <a:schemeClr val="hlink">
                  <a:gamma/>
                  <a:shade val="46275"/>
                  <a:invGamma/>
                </a:schemeClr>
              </a:gs>
              <a:gs pos="50000">
                <a:schemeClr val="hlink"/>
              </a:gs>
              <a:gs pos="100000">
                <a:schemeClr val="hlink">
                  <a:gamma/>
                  <a:shade val="46275"/>
                  <a:invGamma/>
                </a:schemeClr>
              </a:gs>
            </a:gsLst>
            <a:lin ang="5400000" scaled="1"/>
          </a:gradFill>
          <a:ln w="9525">
            <a:noFill/>
            <a:miter lim="800000"/>
          </a:ln>
          <a:effectLst/>
        </p:spPr>
        <p:txBody>
          <a:bodyPr>
            <a:spAutoFit/>
          </a:bodyPr>
          <a:lstStyle/>
          <a:p>
            <a:pPr>
              <a:defRPr/>
            </a:pPr>
            <a:endParaRPr lang="en-US" altLang="zh-CN" sz="1000" b="1">
              <a:solidFill>
                <a:schemeClr val="bg1"/>
              </a:solidFill>
              <a:latin typeface="Verdan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anose="020B0604030504040204" pitchFamily="34" charset="0"/>
        </a:defRPr>
      </a:lvl2pPr>
      <a:lvl3pPr algn="ctr" rtl="0" eaLnBrk="0" fontAlgn="base" hangingPunct="0">
        <a:spcBef>
          <a:spcPct val="0"/>
        </a:spcBef>
        <a:spcAft>
          <a:spcPct val="0"/>
        </a:spcAft>
        <a:defRPr sz="3200" b="1">
          <a:solidFill>
            <a:schemeClr val="bg1"/>
          </a:solidFill>
          <a:latin typeface="Verdana" panose="020B0604030504040204" pitchFamily="34" charset="0"/>
        </a:defRPr>
      </a:lvl3pPr>
      <a:lvl4pPr algn="ctr" rtl="0" eaLnBrk="0" fontAlgn="base" hangingPunct="0">
        <a:spcBef>
          <a:spcPct val="0"/>
        </a:spcBef>
        <a:spcAft>
          <a:spcPct val="0"/>
        </a:spcAft>
        <a:defRPr sz="3200" b="1">
          <a:solidFill>
            <a:schemeClr val="bg1"/>
          </a:solidFill>
          <a:latin typeface="Verdana" panose="020B0604030504040204" pitchFamily="34" charset="0"/>
        </a:defRPr>
      </a:lvl4pPr>
      <a:lvl5pPr algn="ctr" rtl="0" eaLnBrk="0" fontAlgn="base" hangingPunct="0">
        <a:spcBef>
          <a:spcPct val="0"/>
        </a:spcBef>
        <a:spcAft>
          <a:spcPct val="0"/>
        </a:spcAft>
        <a:defRPr sz="3200" b="1">
          <a:solidFill>
            <a:schemeClr val="bg1"/>
          </a:solidFill>
          <a:latin typeface="Verdana" panose="020B0604030504040204" pitchFamily="34" charset="0"/>
        </a:defRPr>
      </a:lvl5pPr>
      <a:lvl6pPr marL="457200" algn="ctr" rtl="0" fontAlgn="base">
        <a:spcBef>
          <a:spcPct val="0"/>
        </a:spcBef>
        <a:spcAft>
          <a:spcPct val="0"/>
        </a:spcAft>
        <a:defRPr sz="3200" b="1">
          <a:solidFill>
            <a:schemeClr val="bg1"/>
          </a:solidFill>
          <a:latin typeface="Verdana" panose="020B0604030504040204" pitchFamily="34" charset="0"/>
        </a:defRPr>
      </a:lvl6pPr>
      <a:lvl7pPr marL="914400" algn="ctr" rtl="0" fontAlgn="base">
        <a:spcBef>
          <a:spcPct val="0"/>
        </a:spcBef>
        <a:spcAft>
          <a:spcPct val="0"/>
        </a:spcAft>
        <a:defRPr sz="3200" b="1">
          <a:solidFill>
            <a:schemeClr val="bg1"/>
          </a:solidFill>
          <a:latin typeface="Verdana" panose="020B0604030504040204" pitchFamily="34" charset="0"/>
        </a:defRPr>
      </a:lvl7pPr>
      <a:lvl8pPr marL="1371600" algn="ctr" rtl="0" fontAlgn="base">
        <a:spcBef>
          <a:spcPct val="0"/>
        </a:spcBef>
        <a:spcAft>
          <a:spcPct val="0"/>
        </a:spcAft>
        <a:defRPr sz="3200" b="1">
          <a:solidFill>
            <a:schemeClr val="bg1"/>
          </a:solidFill>
          <a:latin typeface="Verdana" panose="020B0604030504040204" pitchFamily="34" charset="0"/>
        </a:defRPr>
      </a:lvl8pPr>
      <a:lvl9pPr marL="1828800" algn="ctr" rtl="0" fontAlgn="base">
        <a:spcBef>
          <a:spcPct val="0"/>
        </a:spcBef>
        <a:spcAft>
          <a:spcPct val="0"/>
        </a:spcAft>
        <a:defRPr sz="3200" b="1">
          <a:solidFill>
            <a:schemeClr val="bg1"/>
          </a:solidFill>
          <a:latin typeface="Verdana" panose="020B0604030504040204" pitchFamily="34"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n"/>
        <a:defRPr sz="2200" b="1">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n"/>
        <a:defRPr sz="2200">
          <a:solidFill>
            <a:schemeClr val="tx2"/>
          </a:solidFill>
          <a:latin typeface="+mn-lt"/>
          <a:ea typeface="+mn-ea"/>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n"/>
        <a:defRPr sz="2200">
          <a:solidFill>
            <a:schemeClr val="tx2"/>
          </a:solidFill>
          <a:latin typeface="+mn-lt"/>
          <a:ea typeface="+mn-ea"/>
        </a:defRPr>
      </a:lvl3pPr>
      <a:lvl4pPr marL="1600200" indent="-228600" algn="l" rtl="0" eaLnBrk="0" fontAlgn="base" hangingPunct="0">
        <a:spcBef>
          <a:spcPct val="20000"/>
        </a:spcBef>
        <a:spcAft>
          <a:spcPct val="0"/>
        </a:spcAft>
        <a:defRPr sz="1600">
          <a:solidFill>
            <a:schemeClr val="tx1"/>
          </a:solidFill>
          <a:latin typeface="+mn-lt"/>
          <a:ea typeface="+mn-ea"/>
        </a:defRPr>
      </a:lvl4pPr>
      <a:lvl5pPr marL="2057400" indent="-228600" algn="l" rtl="0" eaLnBrk="0" fontAlgn="base" hangingPunct="0">
        <a:spcBef>
          <a:spcPct val="20000"/>
        </a:spcBef>
        <a:spcAft>
          <a:spcPct val="0"/>
        </a:spcAft>
        <a:buChar char="»"/>
        <a:defRPr sz="1400">
          <a:solidFill>
            <a:schemeClr val="tx1"/>
          </a:solidFill>
          <a:latin typeface="+mn-lt"/>
          <a:ea typeface="+mn-ea"/>
        </a:defRPr>
      </a:lvl5pPr>
      <a:lvl6pPr marL="2514600" indent="-228600" algn="l" rtl="0" fontAlgn="base">
        <a:spcBef>
          <a:spcPct val="20000"/>
        </a:spcBef>
        <a:spcAft>
          <a:spcPct val="0"/>
        </a:spcAft>
        <a:buChar char="»"/>
        <a:defRPr sz="1400">
          <a:solidFill>
            <a:schemeClr val="tx1"/>
          </a:solidFill>
          <a:latin typeface="+mn-lt"/>
          <a:ea typeface="+mn-ea"/>
        </a:defRPr>
      </a:lvl6pPr>
      <a:lvl7pPr marL="2971800" indent="-228600" algn="l" rtl="0" fontAlgn="base">
        <a:spcBef>
          <a:spcPct val="20000"/>
        </a:spcBef>
        <a:spcAft>
          <a:spcPct val="0"/>
        </a:spcAft>
        <a:buChar char="»"/>
        <a:defRPr sz="1400">
          <a:solidFill>
            <a:schemeClr val="tx1"/>
          </a:solidFill>
          <a:latin typeface="+mn-lt"/>
          <a:ea typeface="+mn-ea"/>
        </a:defRPr>
      </a:lvl7pPr>
      <a:lvl8pPr marL="3429000" indent="-228600" algn="l" rtl="0" fontAlgn="base">
        <a:spcBef>
          <a:spcPct val="20000"/>
        </a:spcBef>
        <a:spcAft>
          <a:spcPct val="0"/>
        </a:spcAft>
        <a:buChar char="»"/>
        <a:defRPr sz="1400">
          <a:solidFill>
            <a:schemeClr val="tx1"/>
          </a:solidFill>
          <a:latin typeface="+mn-lt"/>
          <a:ea typeface="+mn-ea"/>
        </a:defRPr>
      </a:lvl8pPr>
      <a:lvl9pPr marL="3886200" indent="-228600"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wmf"/></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w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5.wmf"/></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wmf"/></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wmf"/></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wmf"/></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wmf"/></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http://baike.baidu.com/view/7809.htm"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wmf"/></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1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2.png"/><Relationship Id="rId1" Type="http://schemas.openxmlformats.org/officeDocument/2006/relationships/image" Target="../media/image21.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28.png"/><Relationship Id="rId3" Type="http://schemas.openxmlformats.org/officeDocument/2006/relationships/image" Target="../media/image27.GIF"/><Relationship Id="rId2" Type="http://schemas.openxmlformats.org/officeDocument/2006/relationships/image" Target="../media/image26.png"/><Relationship Id="rId1" Type="http://schemas.openxmlformats.org/officeDocument/2006/relationships/oleObject" Target="../embeddings/oleObject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WordArt 15"/>
          <p:cNvSpPr>
            <a:spLocks noChangeArrowheads="1" noChangeShapeType="1" noTextEdit="1"/>
          </p:cNvSpPr>
          <p:nvPr/>
        </p:nvSpPr>
        <p:spPr bwMode="auto">
          <a:xfrm>
            <a:off x="3341688" y="1828800"/>
            <a:ext cx="5649912" cy="1066800"/>
          </a:xfrm>
          <a:prstGeom prst="rect">
            <a:avLst/>
          </a:prstGeom>
        </p:spPr>
        <p:txBody>
          <a:bodyPr wrap="none" fromWordArt="1">
            <a:prstTxWarp prst="textPlain">
              <a:avLst>
                <a:gd name="adj" fmla="val 50000"/>
              </a:avLst>
            </a:prstTxWarp>
          </a:bodyPr>
          <a:lstStyle/>
          <a:p>
            <a:pPr algn="ctr"/>
            <a:r>
              <a:rPr lang="zh-CN" altLang="en-US" sz="3600" kern="10">
                <a:ln w="19050">
                  <a:solidFill>
                    <a:srgbClr val="00FFFF"/>
                  </a:solidFill>
                  <a:round/>
                </a:ln>
                <a:solidFill>
                  <a:srgbClr val="00FFFF"/>
                </a:solidFill>
                <a:effectLst>
                  <a:outerShdw dist="107763" dir="2700000" algn="ctr" rotWithShape="0">
                    <a:srgbClr val="990000">
                      <a:alpha val="50000"/>
                    </a:srgbClr>
                  </a:outerShdw>
                </a:effectLst>
                <a:latin typeface="微软雅黑" panose="020B0503020204020204" charset="-122"/>
                <a:ea typeface="微软雅黑" panose="020B0503020204020204" charset="-122"/>
              </a:rPr>
              <a:t>计算机网络安全</a:t>
            </a:r>
            <a:endParaRPr lang="zh-CN" altLang="en-US" sz="3600" kern="10">
              <a:ln w="19050">
                <a:solidFill>
                  <a:srgbClr val="00FFFF"/>
                </a:solidFill>
                <a:round/>
              </a:ln>
              <a:solidFill>
                <a:srgbClr val="00FFFF"/>
              </a:solidFill>
              <a:effectLst>
                <a:outerShdw dist="107763" dir="2700000" algn="ctr" rotWithShape="0">
                  <a:srgbClr val="990000">
                    <a:alpha val="50000"/>
                  </a:srgbClr>
                </a:outerShdw>
              </a:effectLst>
              <a:latin typeface="微软雅黑" panose="020B0503020204020204" charset="-122"/>
              <a:ea typeface="微软雅黑" panose="020B0503020204020204" charset="-122"/>
            </a:endParaRPr>
          </a:p>
        </p:txBody>
      </p:sp>
      <p:sp>
        <p:nvSpPr>
          <p:cNvPr id="6151" name="流程图: 过程 9"/>
          <p:cNvSpPr>
            <a:spLocks noChangeArrowheads="1"/>
          </p:cNvSpPr>
          <p:nvPr/>
        </p:nvSpPr>
        <p:spPr bwMode="auto">
          <a:xfrm>
            <a:off x="152400" y="1905000"/>
            <a:ext cx="2514600" cy="990600"/>
          </a:xfrm>
          <a:prstGeom prst="flowChartProcess">
            <a:avLst/>
          </a:prstGeom>
          <a:noFill/>
          <a:ln w="9525">
            <a:noFill/>
            <a:miter lim="800000"/>
          </a:ln>
        </p:spPr>
        <p:txBody>
          <a:bodyPr/>
          <a:lstStyle/>
          <a:p>
            <a:pPr algn="dist" eaLnBrk="0" hangingPunct="0">
              <a:spcBef>
                <a:spcPct val="20000"/>
              </a:spcBef>
            </a:pPr>
            <a:endParaRPr lang="zh-CN" altLang="en-US">
              <a:ea typeface="宋体" panose="02010600030101010101" pitchFamily="2" charset="-122"/>
            </a:endParaRPr>
          </a:p>
        </p:txBody>
      </p:sp>
      <p:sp>
        <p:nvSpPr>
          <p:cNvPr id="4097" name="Rectangle 2"/>
          <p:cNvSpPr>
            <a:spLocks noGrp="1"/>
          </p:cNvSpPr>
          <p:nvPr/>
        </p:nvSpPr>
        <p:spPr>
          <a:xfrm>
            <a:off x="1691323" y="5400675"/>
            <a:ext cx="5761037" cy="762000"/>
          </a:xfrm>
          <a:prstGeom prst="rect">
            <a:avLst/>
          </a:prstGeom>
          <a:noFill/>
          <a:ln w="9525">
            <a:noFill/>
          </a:ln>
          <a:effectLst>
            <a:outerShdw dist="53882" dir="2699999" algn="ctr" rotWithShape="0">
              <a:schemeClr val="tx2">
                <a:alpha val="50000"/>
              </a:schemeClr>
            </a:outerShdw>
          </a:effectLst>
        </p:spPr>
        <p:txBody>
          <a:bodyPr anchor="ctr"/>
          <a:lstStyle>
            <a:lvl1pPr lvl="0">
              <a:buClrTx/>
              <a:buSzTx/>
              <a:buFontTx/>
              <a:defRPr/>
            </a:lvl1pPr>
          </a:lstStyle>
          <a:p>
            <a:r>
              <a:rPr lang="zh-CN" altLang="en-US" sz="3600" noProof="1" smtClean="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第</a:t>
            </a:r>
            <a:r>
              <a:rPr lang="en-US" altLang="zh-CN" sz="3600" noProof="1" smtClean="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10</a:t>
            </a:r>
            <a:r>
              <a:rPr lang="zh-CN" altLang="en-US" sz="3600" noProof="1" smtClean="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章 数据库及数据安全</a:t>
            </a:r>
            <a:endParaRPr lang="zh-CN" altLang="en-US" sz="3600" noProof="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xfrm>
            <a:off x="685800" y="260350"/>
            <a:ext cx="5073650" cy="533400"/>
          </a:xfrm>
        </p:spPr>
        <p:txBody>
          <a:bodyPr/>
          <a:lstStyle/>
          <a:p>
            <a:pPr eaLnBrk="1" hangingPunct="1">
              <a:defRPr/>
            </a:pPr>
            <a:r>
              <a:rPr lang="zh-CN" altLang="en-US" dirty="0" smtClean="0">
                <a:effectLst>
                  <a:outerShdw blurRad="38100" dist="38100" dir="2700000" algn="tl">
                    <a:srgbClr val="C0C0C0"/>
                  </a:outerShdw>
                </a:effectLst>
                <a:ea typeface="宋体" panose="02010600030101010101" pitchFamily="2" charset="-122"/>
              </a:rPr>
              <a:t>第</a:t>
            </a:r>
            <a:r>
              <a:rPr lang="en-US" altLang="zh-CN" dirty="0" smtClean="0">
                <a:effectLst>
                  <a:outerShdw blurRad="38100" dist="38100" dir="2700000" algn="tl">
                    <a:srgbClr val="C0C0C0"/>
                  </a:outerShdw>
                </a:effectLst>
                <a:ea typeface="宋体" panose="02010600030101010101" pitchFamily="2" charset="-122"/>
              </a:rPr>
              <a:t>10</a:t>
            </a:r>
            <a:r>
              <a:rPr lang="zh-CN" altLang="en-US" dirty="0" smtClean="0">
                <a:effectLst>
                  <a:outerShdw blurRad="38100" dist="38100" dir="2700000" algn="tl">
                    <a:srgbClr val="C0C0C0"/>
                  </a:outerShdw>
                </a:effectLst>
                <a:ea typeface="宋体" panose="02010600030101010101" pitchFamily="2" charset="-122"/>
              </a:rPr>
              <a:t>章 数据库及数据安全</a:t>
            </a:r>
            <a:endParaRPr lang="zh-CN" altLang="en-US" dirty="0" smtClean="0">
              <a:effectLst>
                <a:outerShdw blurRad="38100" dist="38100" dir="2700000" algn="tl">
                  <a:srgbClr val="C0C0C0"/>
                </a:outerShdw>
              </a:effectLst>
              <a:ea typeface="宋体" panose="02010600030101010101" pitchFamily="2" charset="-122"/>
            </a:endParaRPr>
          </a:p>
        </p:txBody>
      </p:sp>
      <p:sp>
        <p:nvSpPr>
          <p:cNvPr id="9218" name="Text Box 3"/>
          <p:cNvSpPr txBox="1">
            <a:spLocks noChangeArrowheads="1"/>
          </p:cNvSpPr>
          <p:nvPr/>
        </p:nvSpPr>
        <p:spPr bwMode="auto">
          <a:xfrm>
            <a:off x="1660525" y="722313"/>
            <a:ext cx="184150" cy="366712"/>
          </a:xfrm>
          <a:prstGeom prst="rect">
            <a:avLst/>
          </a:prstGeom>
          <a:noFill/>
          <a:ln w="9525">
            <a:noFill/>
            <a:miter lim="800000"/>
          </a:ln>
        </p:spPr>
        <p:txBody>
          <a:bodyPr wrap="none">
            <a:spAutoFit/>
          </a:bodyPr>
          <a:lstStyle/>
          <a:p>
            <a:pPr algn="dist">
              <a:spcBef>
                <a:spcPct val="20000"/>
              </a:spcBef>
              <a:buFont typeface="Wingdings" panose="05000000000000000000" pitchFamily="2" charset="2"/>
              <a:buNone/>
            </a:pPr>
            <a:endParaRPr lang="zh-CN" altLang="zh-CN">
              <a:latin typeface="宋体" panose="02010600030101010101" pitchFamily="2" charset="-122"/>
            </a:endParaRPr>
          </a:p>
        </p:txBody>
      </p:sp>
      <p:grpSp>
        <p:nvGrpSpPr>
          <p:cNvPr id="9219" name="Group 9"/>
          <p:cNvGrpSpPr/>
          <p:nvPr/>
        </p:nvGrpSpPr>
        <p:grpSpPr bwMode="auto">
          <a:xfrm>
            <a:off x="1600200" y="2286000"/>
            <a:ext cx="5718175" cy="619125"/>
            <a:chOff x="1296" y="1824"/>
            <a:chExt cx="3189" cy="432"/>
          </a:xfrm>
        </p:grpSpPr>
        <p:sp>
          <p:nvSpPr>
            <p:cNvPr id="3" name="AutoShape 10"/>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p>
              <a:pPr fontAlgn="auto">
                <a:spcBef>
                  <a:spcPct val="20000"/>
                </a:spcBef>
                <a:spcAft>
                  <a:spcPts val="0"/>
                </a:spcAft>
                <a:buFont typeface="Wingdings" panose="05000000000000000000" pitchFamily="2" charset="2"/>
                <a:buNone/>
                <a:defRPr/>
              </a:pPr>
              <a:endParaRPr lang="zh-CN" altLang="zh-CN" sz="2000" b="1">
                <a:solidFill>
                  <a:schemeClr val="tx2"/>
                </a:solidFill>
                <a:latin typeface="+mn-lt"/>
                <a:ea typeface="+mn-ea"/>
              </a:endParaRPr>
            </a:p>
          </p:txBody>
        </p:sp>
        <p:sp>
          <p:nvSpPr>
            <p:cNvPr id="9221" name="AutoShape 11"/>
            <p:cNvSpPr>
              <a:spLocks noChangeArrowheads="1"/>
            </p:cNvSpPr>
            <p:nvPr/>
          </p:nvSpPr>
          <p:spPr bwMode="auto">
            <a:xfrm>
              <a:off x="1296" y="1824"/>
              <a:ext cx="432" cy="432"/>
            </a:xfrm>
            <a:prstGeom prst="diamond">
              <a:avLst/>
            </a:prstGeom>
            <a:solidFill>
              <a:schemeClr val="accent1"/>
            </a:solidFill>
            <a:ln w="25400">
              <a:solidFill>
                <a:schemeClr val="bg1"/>
              </a:solidFill>
              <a:miter lim="800000"/>
            </a:ln>
          </p:spPr>
          <p:txBody>
            <a:bodyPr wrap="none" anchor="ctr"/>
            <a:lstStyle/>
            <a:p>
              <a:pPr>
                <a:spcBef>
                  <a:spcPct val="20000"/>
                </a:spcBef>
                <a:buFont typeface="Wingdings" panose="05000000000000000000" pitchFamily="2" charset="2"/>
                <a:buNone/>
              </a:pPr>
              <a:endParaRPr lang="zh-CN" altLang="zh-CN" sz="2000" b="1">
                <a:solidFill>
                  <a:schemeClr val="tx2"/>
                </a:solidFill>
                <a:latin typeface="宋体" panose="02010600030101010101" pitchFamily="2" charset="-122"/>
              </a:endParaRPr>
            </a:p>
          </p:txBody>
        </p:sp>
        <p:sp>
          <p:nvSpPr>
            <p:cNvPr id="9222" name="Text Box 12"/>
            <p:cNvSpPr txBox="1">
              <a:spLocks noChangeArrowheads="1"/>
            </p:cNvSpPr>
            <p:nvPr/>
          </p:nvSpPr>
          <p:spPr bwMode="auto">
            <a:xfrm>
              <a:off x="1680" y="1934"/>
              <a:ext cx="2805" cy="278"/>
            </a:xfrm>
            <a:prstGeom prst="rect">
              <a:avLst/>
            </a:prstGeom>
            <a:noFill/>
            <a:ln w="9525">
              <a:noFill/>
              <a:miter lim="800000"/>
            </a:ln>
          </p:spPr>
          <p:txBody>
            <a:bodyPr>
              <a:spAutoFit/>
            </a:bodyPr>
            <a:lstStyle/>
            <a:p>
              <a:pPr>
                <a:spcBef>
                  <a:spcPct val="20000"/>
                </a:spcBef>
                <a:buFont typeface="Wingdings" panose="05000000000000000000" pitchFamily="2" charset="2"/>
                <a:buNone/>
              </a:pPr>
              <a:r>
                <a:rPr lang="en-US" altLang="zh-CN" sz="2000" b="1">
                  <a:solidFill>
                    <a:schemeClr val="tx2"/>
                  </a:solidFill>
                  <a:latin typeface="宋体" panose="02010600030101010101" pitchFamily="2" charset="-122"/>
                </a:rPr>
                <a:t>10.2 </a:t>
              </a:r>
              <a:r>
                <a:rPr lang="zh-CN" altLang="en-US" sz="2000" b="1">
                  <a:solidFill>
                    <a:schemeClr val="tx2"/>
                  </a:solidFill>
                  <a:latin typeface="宋体" panose="02010600030101010101" pitchFamily="2" charset="-122"/>
                </a:rPr>
                <a:t>数据库安全体系及防护</a:t>
              </a:r>
              <a:endParaRPr lang="zh-CN" altLang="en-US" sz="2000" b="1">
                <a:solidFill>
                  <a:schemeClr val="tx2"/>
                </a:solidFill>
                <a:latin typeface="宋体" panose="02010600030101010101" pitchFamily="2" charset="-122"/>
              </a:endParaRPr>
            </a:p>
          </p:txBody>
        </p:sp>
        <p:sp>
          <p:nvSpPr>
            <p:cNvPr id="9223" name="Text Box 13"/>
            <p:cNvSpPr txBox="1">
              <a:spLocks noChangeArrowheads="1"/>
            </p:cNvSpPr>
            <p:nvPr/>
          </p:nvSpPr>
          <p:spPr bwMode="auto">
            <a:xfrm>
              <a:off x="1393" y="1886"/>
              <a:ext cx="223" cy="279"/>
            </a:xfrm>
            <a:prstGeom prst="rect">
              <a:avLst/>
            </a:prstGeom>
            <a:noFill/>
            <a:ln w="9525">
              <a:noFill/>
              <a:miter lim="800000"/>
            </a:ln>
          </p:spPr>
          <p:txBody>
            <a:bodyPr>
              <a:spAutoFit/>
            </a:bodyPr>
            <a:lstStyle/>
            <a:p>
              <a:pPr eaLnBrk="0" hangingPunct="0">
                <a:spcBef>
                  <a:spcPct val="20000"/>
                </a:spcBef>
                <a:buFont typeface="Wingdings" panose="05000000000000000000" pitchFamily="2" charset="2"/>
                <a:buNone/>
              </a:pPr>
              <a:r>
                <a:rPr lang="en-US" altLang="zh-CN" sz="2000" b="1">
                  <a:solidFill>
                    <a:schemeClr val="tx2"/>
                  </a:solidFill>
                  <a:latin typeface="宋体" panose="02010600030101010101" pitchFamily="2" charset="-122"/>
                </a:rPr>
                <a:t>2</a:t>
              </a:r>
              <a:endParaRPr lang="en-US" altLang="zh-CN" sz="2000" b="1">
                <a:solidFill>
                  <a:schemeClr val="tx2"/>
                </a:solidFill>
                <a:latin typeface="宋体" panose="02010600030101010101" pitchFamily="2" charset="-122"/>
              </a:endParaRPr>
            </a:p>
          </p:txBody>
        </p:sp>
      </p:grpSp>
      <p:grpSp>
        <p:nvGrpSpPr>
          <p:cNvPr id="9224" name="Group 14"/>
          <p:cNvGrpSpPr/>
          <p:nvPr/>
        </p:nvGrpSpPr>
        <p:grpSpPr bwMode="auto">
          <a:xfrm>
            <a:off x="1595438" y="2894013"/>
            <a:ext cx="5387975" cy="668337"/>
            <a:chOff x="1296" y="1824"/>
            <a:chExt cx="3018" cy="432"/>
          </a:xfrm>
        </p:grpSpPr>
        <p:sp>
          <p:nvSpPr>
            <p:cNvPr id="4" name="AutoShape 15"/>
            <p:cNvSpPr>
              <a:spLocks noChangeArrowheads="1"/>
            </p:cNvSpPr>
            <p:nvPr/>
          </p:nvSpPr>
          <p:spPr bwMode="gray">
            <a:xfrm>
              <a:off x="1536" y="1899"/>
              <a:ext cx="2736" cy="289"/>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p>
              <a:pPr fontAlgn="auto">
                <a:spcBef>
                  <a:spcPct val="20000"/>
                </a:spcBef>
                <a:spcAft>
                  <a:spcPts val="0"/>
                </a:spcAft>
                <a:buFont typeface="Wingdings" panose="05000000000000000000" pitchFamily="2" charset="2"/>
                <a:buNone/>
                <a:defRPr/>
              </a:pPr>
              <a:endParaRPr lang="zh-CN" altLang="zh-CN" sz="2000" b="1">
                <a:solidFill>
                  <a:schemeClr val="tx2"/>
                </a:solidFill>
                <a:latin typeface="+mn-lt"/>
                <a:ea typeface="+mn-ea"/>
              </a:endParaRPr>
            </a:p>
          </p:txBody>
        </p:sp>
        <p:sp>
          <p:nvSpPr>
            <p:cNvPr id="9226" name="AutoShape 16"/>
            <p:cNvSpPr>
              <a:spLocks noChangeArrowheads="1"/>
            </p:cNvSpPr>
            <p:nvPr/>
          </p:nvSpPr>
          <p:spPr bwMode="auto">
            <a:xfrm>
              <a:off x="1296" y="1824"/>
              <a:ext cx="432" cy="432"/>
            </a:xfrm>
            <a:prstGeom prst="diamond">
              <a:avLst/>
            </a:prstGeom>
            <a:solidFill>
              <a:schemeClr val="hlink"/>
            </a:solidFill>
            <a:ln w="25400">
              <a:solidFill>
                <a:schemeClr val="bg1"/>
              </a:solidFill>
              <a:miter lim="800000"/>
            </a:ln>
          </p:spPr>
          <p:txBody>
            <a:bodyPr wrap="none" anchor="ctr"/>
            <a:lstStyle/>
            <a:p>
              <a:pPr>
                <a:spcBef>
                  <a:spcPct val="20000"/>
                </a:spcBef>
                <a:buFont typeface="Wingdings" panose="05000000000000000000" pitchFamily="2" charset="2"/>
                <a:buNone/>
              </a:pPr>
              <a:endParaRPr lang="zh-CN" altLang="zh-CN" sz="2000" b="1">
                <a:solidFill>
                  <a:schemeClr val="tx2"/>
                </a:solidFill>
                <a:latin typeface="宋体" panose="02010600030101010101" pitchFamily="2" charset="-122"/>
              </a:endParaRPr>
            </a:p>
          </p:txBody>
        </p:sp>
        <p:sp>
          <p:nvSpPr>
            <p:cNvPr id="9227" name="Text Box 17"/>
            <p:cNvSpPr txBox="1">
              <a:spLocks noChangeArrowheads="1"/>
            </p:cNvSpPr>
            <p:nvPr/>
          </p:nvSpPr>
          <p:spPr bwMode="auto">
            <a:xfrm>
              <a:off x="1683" y="1936"/>
              <a:ext cx="2631" cy="258"/>
            </a:xfrm>
            <a:prstGeom prst="rect">
              <a:avLst/>
            </a:prstGeom>
            <a:noFill/>
            <a:ln w="9525">
              <a:noFill/>
              <a:miter lim="800000"/>
            </a:ln>
          </p:spPr>
          <p:txBody>
            <a:bodyPr>
              <a:spAutoFit/>
            </a:bodyPr>
            <a:lstStyle/>
            <a:p>
              <a:pPr eaLnBrk="0" hangingPunct="0">
                <a:spcBef>
                  <a:spcPct val="20000"/>
                </a:spcBef>
                <a:buFont typeface="Wingdings" panose="05000000000000000000" pitchFamily="2" charset="2"/>
                <a:buNone/>
              </a:pPr>
              <a:r>
                <a:rPr lang="en-US" altLang="zh-CN" sz="2000" b="1">
                  <a:solidFill>
                    <a:schemeClr val="tx2"/>
                  </a:solidFill>
                  <a:latin typeface="宋体" panose="02010600030101010101" pitchFamily="2" charset="-122"/>
                </a:rPr>
                <a:t>10.3 </a:t>
              </a:r>
              <a:r>
                <a:rPr lang="zh-CN" altLang="en-US" sz="2000" b="1">
                  <a:solidFill>
                    <a:schemeClr val="tx2"/>
                  </a:solidFill>
                  <a:latin typeface="宋体" panose="02010600030101010101" pitchFamily="2" charset="-122"/>
                </a:rPr>
                <a:t>数据库的安全特性和措施</a:t>
              </a:r>
              <a:endParaRPr lang="zh-CN" altLang="en-US" sz="2000" b="1">
                <a:solidFill>
                  <a:schemeClr val="tx2"/>
                </a:solidFill>
                <a:latin typeface="宋体" panose="02010600030101010101" pitchFamily="2" charset="-122"/>
              </a:endParaRPr>
            </a:p>
          </p:txBody>
        </p:sp>
        <p:sp>
          <p:nvSpPr>
            <p:cNvPr id="9228" name="Text Box 18"/>
            <p:cNvSpPr txBox="1">
              <a:spLocks noChangeArrowheads="1"/>
            </p:cNvSpPr>
            <p:nvPr/>
          </p:nvSpPr>
          <p:spPr bwMode="auto">
            <a:xfrm>
              <a:off x="1398" y="1885"/>
              <a:ext cx="197" cy="259"/>
            </a:xfrm>
            <a:prstGeom prst="rect">
              <a:avLst/>
            </a:prstGeom>
            <a:noFill/>
            <a:ln w="9525">
              <a:noFill/>
              <a:miter lim="800000"/>
            </a:ln>
          </p:spPr>
          <p:txBody>
            <a:bodyPr wrap="none">
              <a:spAutoFit/>
            </a:bodyPr>
            <a:lstStyle/>
            <a:p>
              <a:pPr eaLnBrk="0" hangingPunct="0">
                <a:spcBef>
                  <a:spcPct val="20000"/>
                </a:spcBef>
                <a:buFont typeface="Wingdings" panose="05000000000000000000" pitchFamily="2" charset="2"/>
                <a:buNone/>
              </a:pPr>
              <a:r>
                <a:rPr lang="en-US" altLang="zh-CN" sz="2000" b="1">
                  <a:solidFill>
                    <a:schemeClr val="tx2"/>
                  </a:solidFill>
                  <a:latin typeface="宋体" panose="02010600030101010101" pitchFamily="2" charset="-122"/>
                </a:rPr>
                <a:t>3</a:t>
              </a:r>
              <a:endParaRPr lang="en-US" altLang="zh-CN" sz="2000" b="1">
                <a:solidFill>
                  <a:schemeClr val="tx2"/>
                </a:solidFill>
                <a:latin typeface="宋体" panose="02010600030101010101" pitchFamily="2" charset="-122"/>
              </a:endParaRPr>
            </a:p>
          </p:txBody>
        </p:sp>
      </p:grpSp>
      <p:grpSp>
        <p:nvGrpSpPr>
          <p:cNvPr id="9229" name="Group 19"/>
          <p:cNvGrpSpPr/>
          <p:nvPr/>
        </p:nvGrpSpPr>
        <p:grpSpPr bwMode="auto">
          <a:xfrm>
            <a:off x="1595438" y="3548063"/>
            <a:ext cx="5297487" cy="685800"/>
            <a:chOff x="1296" y="1824"/>
            <a:chExt cx="2951" cy="432"/>
          </a:xfrm>
        </p:grpSpPr>
        <p:sp>
          <p:nvSpPr>
            <p:cNvPr id="64532" name="AutoShape 20"/>
            <p:cNvSpPr>
              <a:spLocks noChangeArrowheads="1"/>
            </p:cNvSpPr>
            <p:nvPr/>
          </p:nvSpPr>
          <p:spPr bwMode="gray">
            <a:xfrm>
              <a:off x="1511"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pPr fontAlgn="auto">
                <a:spcBef>
                  <a:spcPct val="20000"/>
                </a:spcBef>
                <a:spcAft>
                  <a:spcPts val="0"/>
                </a:spcAft>
                <a:buFont typeface="Wingdings" panose="05000000000000000000" pitchFamily="2" charset="2"/>
                <a:buNone/>
                <a:defRPr/>
              </a:pPr>
              <a:endParaRPr lang="zh-CN" altLang="zh-CN" sz="2000" b="1">
                <a:solidFill>
                  <a:schemeClr val="tx2"/>
                </a:solidFill>
                <a:latin typeface="+mn-lt"/>
                <a:ea typeface="+mn-ea"/>
              </a:endParaRPr>
            </a:p>
          </p:txBody>
        </p:sp>
        <p:sp>
          <p:nvSpPr>
            <p:cNvPr id="9231" name="AutoShape 21"/>
            <p:cNvSpPr>
              <a:spLocks noChangeArrowheads="1"/>
            </p:cNvSpPr>
            <p:nvPr/>
          </p:nvSpPr>
          <p:spPr bwMode="auto">
            <a:xfrm>
              <a:off x="1296" y="1824"/>
              <a:ext cx="432" cy="432"/>
            </a:xfrm>
            <a:prstGeom prst="diamond">
              <a:avLst/>
            </a:prstGeom>
            <a:solidFill>
              <a:schemeClr val="folHlink"/>
            </a:solidFill>
            <a:ln w="25400">
              <a:solidFill>
                <a:schemeClr val="bg1"/>
              </a:solidFill>
              <a:miter lim="800000"/>
            </a:ln>
          </p:spPr>
          <p:txBody>
            <a:bodyPr wrap="none" anchor="ctr"/>
            <a:lstStyle/>
            <a:p>
              <a:pPr>
                <a:spcBef>
                  <a:spcPct val="20000"/>
                </a:spcBef>
                <a:buFont typeface="Wingdings" panose="05000000000000000000" pitchFamily="2" charset="2"/>
                <a:buNone/>
              </a:pPr>
              <a:endParaRPr lang="zh-CN" altLang="zh-CN" sz="2000" b="1">
                <a:solidFill>
                  <a:schemeClr val="tx2"/>
                </a:solidFill>
                <a:latin typeface="宋体" panose="02010600030101010101" pitchFamily="2" charset="-122"/>
              </a:endParaRPr>
            </a:p>
          </p:txBody>
        </p:sp>
        <p:sp>
          <p:nvSpPr>
            <p:cNvPr id="9232" name="Text Box 22"/>
            <p:cNvSpPr txBox="1">
              <a:spLocks noChangeArrowheads="1"/>
            </p:cNvSpPr>
            <p:nvPr/>
          </p:nvSpPr>
          <p:spPr bwMode="auto">
            <a:xfrm>
              <a:off x="1681" y="1934"/>
              <a:ext cx="2548" cy="251"/>
            </a:xfrm>
            <a:prstGeom prst="rect">
              <a:avLst/>
            </a:prstGeom>
            <a:noFill/>
            <a:ln w="9525">
              <a:noFill/>
              <a:miter lim="800000"/>
            </a:ln>
          </p:spPr>
          <p:txBody>
            <a:bodyPr>
              <a:spAutoFit/>
            </a:bodyPr>
            <a:lstStyle/>
            <a:p>
              <a:pPr eaLnBrk="0" hangingPunct="0">
                <a:spcBef>
                  <a:spcPct val="20000"/>
                </a:spcBef>
                <a:buFont typeface="Wingdings" panose="05000000000000000000" pitchFamily="2" charset="2"/>
                <a:buNone/>
              </a:pPr>
              <a:r>
                <a:rPr lang="en-US" altLang="zh-CN" sz="2000" b="1">
                  <a:solidFill>
                    <a:schemeClr val="tx2"/>
                  </a:solidFill>
                  <a:latin typeface="宋体" panose="02010600030101010101" pitchFamily="2" charset="-122"/>
                </a:rPr>
                <a:t>10.4 </a:t>
              </a:r>
              <a:r>
                <a:rPr lang="zh-CN" altLang="zh-CN" sz="2000" b="1">
                  <a:solidFill>
                    <a:schemeClr val="tx2"/>
                  </a:solidFill>
                  <a:latin typeface="宋体" panose="02010600030101010101" pitchFamily="2" charset="-122"/>
                </a:rPr>
                <a:t>数据库的安全策略、管理和机制</a:t>
              </a:r>
              <a:endParaRPr lang="zh-CN" altLang="zh-CN" sz="2000" b="1">
                <a:solidFill>
                  <a:schemeClr val="tx2"/>
                </a:solidFill>
                <a:latin typeface="宋体" panose="02010600030101010101" pitchFamily="2" charset="-122"/>
              </a:endParaRPr>
            </a:p>
          </p:txBody>
        </p:sp>
        <p:sp>
          <p:nvSpPr>
            <p:cNvPr id="9233" name="Text Box 23"/>
            <p:cNvSpPr txBox="1">
              <a:spLocks noChangeArrowheads="1"/>
            </p:cNvSpPr>
            <p:nvPr/>
          </p:nvSpPr>
          <p:spPr bwMode="auto">
            <a:xfrm>
              <a:off x="1393" y="1886"/>
              <a:ext cx="223" cy="252"/>
            </a:xfrm>
            <a:prstGeom prst="rect">
              <a:avLst/>
            </a:prstGeom>
            <a:noFill/>
            <a:ln w="9525">
              <a:noFill/>
              <a:miter lim="800000"/>
            </a:ln>
          </p:spPr>
          <p:txBody>
            <a:bodyPr>
              <a:spAutoFit/>
            </a:bodyPr>
            <a:lstStyle/>
            <a:p>
              <a:pPr eaLnBrk="0" hangingPunct="0">
                <a:spcBef>
                  <a:spcPct val="20000"/>
                </a:spcBef>
                <a:buFont typeface="Wingdings" panose="05000000000000000000" pitchFamily="2" charset="2"/>
                <a:buNone/>
              </a:pPr>
              <a:r>
                <a:rPr lang="en-US" altLang="zh-CN" sz="2000" b="1">
                  <a:solidFill>
                    <a:schemeClr val="tx2"/>
                  </a:solidFill>
                  <a:latin typeface="宋体" panose="02010600030101010101" pitchFamily="2" charset="-122"/>
                </a:rPr>
                <a:t>4</a:t>
              </a:r>
              <a:endParaRPr lang="en-US" altLang="zh-CN" sz="2000" b="1">
                <a:solidFill>
                  <a:schemeClr val="tx2"/>
                </a:solidFill>
                <a:latin typeface="宋体" panose="02010600030101010101" pitchFamily="2" charset="-122"/>
              </a:endParaRPr>
            </a:p>
          </p:txBody>
        </p:sp>
      </p:grpSp>
      <p:sp>
        <p:nvSpPr>
          <p:cNvPr id="9234" name="Rectangle 51"/>
          <p:cNvSpPr>
            <a:spLocks noChangeArrowheads="1"/>
          </p:cNvSpPr>
          <p:nvPr/>
        </p:nvSpPr>
        <p:spPr bwMode="auto">
          <a:xfrm>
            <a:off x="1957388" y="5253038"/>
            <a:ext cx="5006975" cy="400050"/>
          </a:xfrm>
          <a:prstGeom prst="rect">
            <a:avLst/>
          </a:prstGeom>
          <a:noFill/>
          <a:ln w="9525">
            <a:noFill/>
            <a:miter lim="800000"/>
          </a:ln>
        </p:spPr>
        <p:txBody>
          <a:bodyPr>
            <a:spAutoFit/>
          </a:bodyPr>
          <a:lstStyle/>
          <a:p>
            <a:pPr>
              <a:spcBef>
                <a:spcPct val="20000"/>
              </a:spcBef>
              <a:buFont typeface="Wingdings" panose="05000000000000000000" pitchFamily="2" charset="2"/>
              <a:buNone/>
            </a:pPr>
            <a:r>
              <a:rPr lang="en-US" altLang="zh-CN" sz="2000" b="1">
                <a:solidFill>
                  <a:schemeClr val="tx2"/>
                </a:solidFill>
                <a:latin typeface="宋体" panose="02010600030101010101" pitchFamily="2" charset="-122"/>
              </a:rPr>
              <a:t> </a:t>
            </a:r>
            <a:endParaRPr lang="en-US" altLang="zh-CN" sz="2000" b="1">
              <a:solidFill>
                <a:schemeClr val="tx2"/>
              </a:solidFill>
              <a:latin typeface="宋体" panose="02010600030101010101" pitchFamily="2" charset="-122"/>
            </a:endParaRPr>
          </a:p>
        </p:txBody>
      </p:sp>
      <p:sp>
        <p:nvSpPr>
          <p:cNvPr id="9235" name="Rectangle 52"/>
          <p:cNvSpPr>
            <a:spLocks noChangeArrowheads="1"/>
          </p:cNvSpPr>
          <p:nvPr/>
        </p:nvSpPr>
        <p:spPr bwMode="auto">
          <a:xfrm>
            <a:off x="4033838" y="3576638"/>
            <a:ext cx="354012" cy="400050"/>
          </a:xfrm>
          <a:prstGeom prst="rect">
            <a:avLst/>
          </a:prstGeom>
          <a:noFill/>
          <a:ln w="9525">
            <a:noFill/>
            <a:miter lim="800000"/>
          </a:ln>
        </p:spPr>
        <p:txBody>
          <a:bodyPr>
            <a:spAutoFit/>
          </a:bodyPr>
          <a:lstStyle/>
          <a:p>
            <a:pPr>
              <a:spcBef>
                <a:spcPct val="20000"/>
              </a:spcBef>
              <a:buFont typeface="Wingdings" panose="05000000000000000000" pitchFamily="2" charset="2"/>
              <a:buNone/>
            </a:pPr>
            <a:r>
              <a:rPr lang="en-US" altLang="zh-CN" sz="2000" b="1">
                <a:solidFill>
                  <a:schemeClr val="tx2"/>
                </a:solidFill>
                <a:latin typeface="宋体" panose="02010600030101010101" pitchFamily="2" charset="-122"/>
              </a:rPr>
              <a:t> </a:t>
            </a:r>
            <a:endParaRPr lang="en-US" altLang="zh-CN" sz="2000" b="1">
              <a:solidFill>
                <a:schemeClr val="tx2"/>
              </a:solidFill>
              <a:latin typeface="宋体" panose="02010600030101010101" pitchFamily="2" charset="-122"/>
            </a:endParaRPr>
          </a:p>
        </p:txBody>
      </p:sp>
      <p:grpSp>
        <p:nvGrpSpPr>
          <p:cNvPr id="9236" name="Group 4"/>
          <p:cNvGrpSpPr/>
          <p:nvPr/>
        </p:nvGrpSpPr>
        <p:grpSpPr bwMode="auto">
          <a:xfrm>
            <a:off x="1609725" y="1644650"/>
            <a:ext cx="5251450" cy="642938"/>
            <a:chOff x="1296" y="1824"/>
            <a:chExt cx="2970" cy="432"/>
          </a:xfrm>
        </p:grpSpPr>
        <p:sp>
          <p:nvSpPr>
            <p:cNvPr id="5" name="AutoShape 5"/>
            <p:cNvSpPr>
              <a:spLocks noChangeArrowheads="1"/>
            </p:cNvSpPr>
            <p:nvPr/>
          </p:nvSpPr>
          <p:spPr bwMode="gray">
            <a:xfrm>
              <a:off x="1530"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p>
              <a:pPr fontAlgn="auto">
                <a:spcBef>
                  <a:spcPct val="20000"/>
                </a:spcBef>
                <a:spcAft>
                  <a:spcPts val="0"/>
                </a:spcAft>
                <a:buFont typeface="Wingdings" panose="05000000000000000000" pitchFamily="2" charset="2"/>
                <a:buNone/>
                <a:defRPr/>
              </a:pPr>
              <a:endParaRPr lang="zh-CN" altLang="zh-CN" sz="2000" b="1">
                <a:solidFill>
                  <a:schemeClr val="tx2"/>
                </a:solidFill>
                <a:latin typeface="+mn-lt"/>
                <a:ea typeface="+mn-ea"/>
              </a:endParaRPr>
            </a:p>
          </p:txBody>
        </p:sp>
        <p:sp>
          <p:nvSpPr>
            <p:cNvPr id="9238" name="AutoShape 6"/>
            <p:cNvSpPr>
              <a:spLocks noChangeArrowheads="1"/>
            </p:cNvSpPr>
            <p:nvPr/>
          </p:nvSpPr>
          <p:spPr bwMode="auto">
            <a:xfrm>
              <a:off x="1296" y="1824"/>
              <a:ext cx="432" cy="432"/>
            </a:xfrm>
            <a:prstGeom prst="diamond">
              <a:avLst/>
            </a:prstGeom>
            <a:solidFill>
              <a:schemeClr val="accent2"/>
            </a:solidFill>
            <a:ln w="25400">
              <a:solidFill>
                <a:schemeClr val="bg1"/>
              </a:solidFill>
              <a:miter lim="800000"/>
            </a:ln>
          </p:spPr>
          <p:txBody>
            <a:bodyPr wrap="none" anchor="ctr"/>
            <a:lstStyle/>
            <a:p>
              <a:pPr>
                <a:spcBef>
                  <a:spcPct val="20000"/>
                </a:spcBef>
                <a:buFont typeface="Wingdings" panose="05000000000000000000" pitchFamily="2" charset="2"/>
                <a:buNone/>
              </a:pPr>
              <a:endParaRPr lang="zh-CN" altLang="zh-CN" sz="2000" b="1">
                <a:solidFill>
                  <a:schemeClr val="tx2"/>
                </a:solidFill>
                <a:latin typeface="宋体" panose="02010600030101010101" pitchFamily="2" charset="-122"/>
              </a:endParaRPr>
            </a:p>
          </p:txBody>
        </p:sp>
        <p:sp>
          <p:nvSpPr>
            <p:cNvPr id="9239" name="Text Box 7"/>
            <p:cNvSpPr txBox="1">
              <a:spLocks noChangeArrowheads="1"/>
            </p:cNvSpPr>
            <p:nvPr/>
          </p:nvSpPr>
          <p:spPr bwMode="auto">
            <a:xfrm>
              <a:off x="1678" y="1934"/>
              <a:ext cx="2160" cy="268"/>
            </a:xfrm>
            <a:prstGeom prst="rect">
              <a:avLst/>
            </a:prstGeom>
            <a:noFill/>
            <a:ln w="9525">
              <a:noFill/>
              <a:miter lim="800000"/>
            </a:ln>
          </p:spPr>
          <p:txBody>
            <a:bodyPr>
              <a:spAutoFit/>
            </a:bodyPr>
            <a:lstStyle/>
            <a:p>
              <a:pPr eaLnBrk="0" hangingPunct="0">
                <a:spcBef>
                  <a:spcPct val="20000"/>
                </a:spcBef>
                <a:buFont typeface="Wingdings" panose="05000000000000000000" pitchFamily="2" charset="2"/>
                <a:buNone/>
              </a:pPr>
              <a:r>
                <a:rPr lang="en-US" altLang="zh-CN" sz="2000" b="1">
                  <a:solidFill>
                    <a:schemeClr val="tx2"/>
                  </a:solidFill>
                  <a:latin typeface="宋体" panose="02010600030101010101" pitchFamily="2" charset="-122"/>
                </a:rPr>
                <a:t>10.1 </a:t>
              </a:r>
              <a:r>
                <a:rPr lang="zh-CN" altLang="en-US" sz="2000" b="1">
                  <a:solidFill>
                    <a:schemeClr val="tx2"/>
                  </a:solidFill>
                  <a:latin typeface="宋体" panose="02010600030101010101" pitchFamily="2" charset="-122"/>
                </a:rPr>
                <a:t>数据库系统安全基础</a:t>
              </a:r>
              <a:endParaRPr lang="zh-CN" altLang="en-US" sz="2000" b="1">
                <a:solidFill>
                  <a:schemeClr val="tx2"/>
                </a:solidFill>
                <a:latin typeface="宋体" panose="02010600030101010101" pitchFamily="2" charset="-122"/>
              </a:endParaRPr>
            </a:p>
          </p:txBody>
        </p:sp>
        <p:sp>
          <p:nvSpPr>
            <p:cNvPr id="9240" name="Text Box 8"/>
            <p:cNvSpPr txBox="1">
              <a:spLocks noChangeArrowheads="1"/>
            </p:cNvSpPr>
            <p:nvPr/>
          </p:nvSpPr>
          <p:spPr bwMode="auto">
            <a:xfrm>
              <a:off x="1398" y="1886"/>
              <a:ext cx="197" cy="269"/>
            </a:xfrm>
            <a:prstGeom prst="rect">
              <a:avLst/>
            </a:prstGeom>
            <a:noFill/>
            <a:ln w="9525">
              <a:noFill/>
              <a:miter lim="800000"/>
            </a:ln>
          </p:spPr>
          <p:txBody>
            <a:bodyPr wrap="none">
              <a:spAutoFit/>
            </a:bodyPr>
            <a:lstStyle/>
            <a:p>
              <a:pPr eaLnBrk="0" hangingPunct="0">
                <a:spcBef>
                  <a:spcPct val="20000"/>
                </a:spcBef>
                <a:buFont typeface="Wingdings" panose="05000000000000000000" pitchFamily="2" charset="2"/>
                <a:buNone/>
              </a:pPr>
              <a:r>
                <a:rPr lang="en-US" altLang="zh-CN" sz="2000" b="1">
                  <a:solidFill>
                    <a:schemeClr val="tx2"/>
                  </a:solidFill>
                  <a:latin typeface="宋体" panose="02010600030101010101" pitchFamily="2" charset="-122"/>
                </a:rPr>
                <a:t>1</a:t>
              </a:r>
              <a:endParaRPr lang="en-US" altLang="zh-CN" sz="2000" b="1">
                <a:solidFill>
                  <a:schemeClr val="tx2"/>
                </a:solidFill>
                <a:latin typeface="宋体" panose="02010600030101010101" pitchFamily="2" charset="-122"/>
              </a:endParaRPr>
            </a:p>
          </p:txBody>
        </p:sp>
      </p:grpSp>
      <p:sp>
        <p:nvSpPr>
          <p:cNvPr id="9241" name="Rectangle 123"/>
          <p:cNvSpPr>
            <a:spLocks noChangeArrowheads="1"/>
          </p:cNvSpPr>
          <p:nvPr/>
        </p:nvSpPr>
        <p:spPr bwMode="auto">
          <a:xfrm>
            <a:off x="1423988" y="5024438"/>
            <a:ext cx="5743575" cy="400050"/>
          </a:xfrm>
          <a:prstGeom prst="rect">
            <a:avLst/>
          </a:prstGeom>
          <a:noFill/>
          <a:ln w="9525">
            <a:noFill/>
            <a:miter lim="800000"/>
          </a:ln>
        </p:spPr>
        <p:txBody>
          <a:bodyPr>
            <a:spAutoFit/>
          </a:bodyPr>
          <a:lstStyle/>
          <a:p>
            <a:pPr>
              <a:spcBef>
                <a:spcPct val="20000"/>
              </a:spcBef>
              <a:buFont typeface="Wingdings" panose="05000000000000000000" pitchFamily="2" charset="2"/>
              <a:buNone/>
            </a:pPr>
            <a:r>
              <a:rPr lang="en-US" altLang="zh-CN" sz="2000" b="1">
                <a:solidFill>
                  <a:schemeClr val="tx2"/>
                </a:solidFill>
                <a:latin typeface="宋体" panose="02010600030101010101" pitchFamily="2" charset="-122"/>
              </a:rPr>
              <a:t>    </a:t>
            </a:r>
            <a:endParaRPr lang="en-US" altLang="zh-CN" sz="2000" b="1">
              <a:solidFill>
                <a:schemeClr val="tx2"/>
              </a:solidFill>
              <a:latin typeface="宋体" panose="02010600030101010101" pitchFamily="2" charset="-122"/>
            </a:endParaRPr>
          </a:p>
        </p:txBody>
      </p:sp>
      <p:grpSp>
        <p:nvGrpSpPr>
          <p:cNvPr id="9242" name="Group 4"/>
          <p:cNvGrpSpPr/>
          <p:nvPr/>
        </p:nvGrpSpPr>
        <p:grpSpPr bwMode="auto">
          <a:xfrm>
            <a:off x="1595438" y="4205288"/>
            <a:ext cx="5341937" cy="935037"/>
            <a:chOff x="1296" y="1824"/>
            <a:chExt cx="2976" cy="615"/>
          </a:xfrm>
        </p:grpSpPr>
        <p:sp>
          <p:nvSpPr>
            <p:cNvPr id="64517" name="AutoShape 5"/>
            <p:cNvSpPr>
              <a:spLocks noChangeArrowheads="1"/>
            </p:cNvSpPr>
            <p:nvPr/>
          </p:nvSpPr>
          <p:spPr bwMode="gray">
            <a:xfrm>
              <a:off x="1536"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p>
              <a:pPr fontAlgn="auto">
                <a:spcBef>
                  <a:spcPct val="20000"/>
                </a:spcBef>
                <a:spcAft>
                  <a:spcPts val="0"/>
                </a:spcAft>
                <a:buFont typeface="Wingdings" panose="05000000000000000000" pitchFamily="2" charset="2"/>
                <a:buNone/>
                <a:defRPr/>
              </a:pPr>
              <a:endParaRPr lang="zh-CN" altLang="zh-CN" sz="2000" b="1">
                <a:solidFill>
                  <a:schemeClr val="tx2"/>
                </a:solidFill>
                <a:latin typeface="+mn-lt"/>
                <a:ea typeface="+mn-ea"/>
              </a:endParaRPr>
            </a:p>
          </p:txBody>
        </p:sp>
        <p:sp>
          <p:nvSpPr>
            <p:cNvPr id="9244" name="AutoShape 6"/>
            <p:cNvSpPr>
              <a:spLocks noChangeArrowheads="1"/>
            </p:cNvSpPr>
            <p:nvPr/>
          </p:nvSpPr>
          <p:spPr bwMode="auto">
            <a:xfrm>
              <a:off x="1296" y="1824"/>
              <a:ext cx="432" cy="432"/>
            </a:xfrm>
            <a:prstGeom prst="diamond">
              <a:avLst/>
            </a:prstGeom>
            <a:solidFill>
              <a:schemeClr val="accent2"/>
            </a:solidFill>
            <a:ln w="25400">
              <a:solidFill>
                <a:schemeClr val="bg1"/>
              </a:solidFill>
              <a:miter lim="800000"/>
            </a:ln>
          </p:spPr>
          <p:txBody>
            <a:bodyPr wrap="none" anchor="ctr"/>
            <a:lstStyle/>
            <a:p>
              <a:pPr>
                <a:spcBef>
                  <a:spcPct val="20000"/>
                </a:spcBef>
                <a:buFont typeface="Wingdings" panose="05000000000000000000" pitchFamily="2" charset="2"/>
                <a:buNone/>
              </a:pPr>
              <a:endParaRPr lang="zh-CN" altLang="zh-CN" sz="2000" b="1">
                <a:solidFill>
                  <a:schemeClr val="tx2"/>
                </a:solidFill>
                <a:latin typeface="宋体" panose="02010600030101010101" pitchFamily="2" charset="-122"/>
              </a:endParaRPr>
            </a:p>
          </p:txBody>
        </p:sp>
        <p:sp>
          <p:nvSpPr>
            <p:cNvPr id="9245" name="Text Box 7"/>
            <p:cNvSpPr txBox="1">
              <a:spLocks noChangeArrowheads="1"/>
            </p:cNvSpPr>
            <p:nvPr/>
          </p:nvSpPr>
          <p:spPr bwMode="auto">
            <a:xfrm>
              <a:off x="1680" y="1934"/>
              <a:ext cx="2379" cy="505"/>
            </a:xfrm>
            <a:prstGeom prst="rect">
              <a:avLst/>
            </a:prstGeom>
            <a:noFill/>
            <a:ln w="9525">
              <a:noFill/>
              <a:miter lim="800000"/>
            </a:ln>
          </p:spPr>
          <p:txBody>
            <a:bodyPr>
              <a:spAutoFit/>
            </a:bodyPr>
            <a:lstStyle/>
            <a:p>
              <a:pPr eaLnBrk="0" hangingPunct="0">
                <a:spcBef>
                  <a:spcPct val="20000"/>
                </a:spcBef>
                <a:buFont typeface="Wingdings" panose="05000000000000000000" pitchFamily="2" charset="2"/>
                <a:buNone/>
              </a:pPr>
              <a:r>
                <a:rPr lang="en-US" altLang="zh-CN" sz="2000" b="1">
                  <a:solidFill>
                    <a:schemeClr val="tx2"/>
                  </a:solidFill>
                  <a:latin typeface="宋体" panose="02010600030101010101" pitchFamily="2" charset="-122"/>
                </a:rPr>
                <a:t>10.5数据库的备份与恢复</a:t>
              </a:r>
              <a:r>
                <a:rPr lang="zh-CN" altLang="en-US" sz="2000" b="1">
                  <a:solidFill>
                    <a:schemeClr val="tx2"/>
                  </a:solidFill>
                  <a:latin typeface="宋体" panose="02010600030101010101" pitchFamily="2" charset="-122"/>
                </a:rPr>
                <a:t> </a:t>
              </a:r>
              <a:endParaRPr lang="en-US" altLang="zh-CN" sz="2000" b="1">
                <a:solidFill>
                  <a:schemeClr val="tx2"/>
                </a:solidFill>
              </a:endParaRPr>
            </a:p>
            <a:p>
              <a:pPr eaLnBrk="0" hangingPunct="0">
                <a:spcBef>
                  <a:spcPct val="20000"/>
                </a:spcBef>
                <a:buFont typeface="Wingdings" panose="05000000000000000000" pitchFamily="2" charset="2"/>
                <a:buNone/>
              </a:pPr>
              <a:r>
                <a:rPr lang="zh-CN" altLang="en-US" sz="2000" b="1">
                  <a:solidFill>
                    <a:schemeClr val="tx2"/>
                  </a:solidFill>
                  <a:latin typeface="宋体" panose="02010600030101010101" pitchFamily="2" charset="-122"/>
                </a:rPr>
                <a:t> </a:t>
              </a:r>
              <a:endParaRPr lang="en-US" altLang="zh-CN" sz="2000" b="1">
                <a:solidFill>
                  <a:schemeClr val="tx2"/>
                </a:solidFill>
                <a:latin typeface="宋体" panose="02010600030101010101" pitchFamily="2" charset="-122"/>
              </a:endParaRPr>
            </a:p>
          </p:txBody>
        </p:sp>
        <p:sp>
          <p:nvSpPr>
            <p:cNvPr id="9246" name="Text Box 8"/>
            <p:cNvSpPr txBox="1">
              <a:spLocks noChangeArrowheads="1"/>
            </p:cNvSpPr>
            <p:nvPr/>
          </p:nvSpPr>
          <p:spPr bwMode="auto">
            <a:xfrm>
              <a:off x="1397" y="1886"/>
              <a:ext cx="198" cy="263"/>
            </a:xfrm>
            <a:prstGeom prst="rect">
              <a:avLst/>
            </a:prstGeom>
            <a:noFill/>
            <a:ln w="9525">
              <a:noFill/>
              <a:miter lim="800000"/>
            </a:ln>
          </p:spPr>
          <p:txBody>
            <a:bodyPr wrap="none">
              <a:spAutoFit/>
            </a:bodyPr>
            <a:lstStyle/>
            <a:p>
              <a:pPr eaLnBrk="0" hangingPunct="0">
                <a:spcBef>
                  <a:spcPct val="20000"/>
                </a:spcBef>
                <a:buFont typeface="Wingdings" panose="05000000000000000000" pitchFamily="2" charset="2"/>
                <a:buNone/>
              </a:pPr>
              <a:r>
                <a:rPr lang="en-US" altLang="zh-CN" sz="2000" b="1">
                  <a:solidFill>
                    <a:schemeClr val="tx2"/>
                  </a:solidFill>
                  <a:latin typeface="宋体" panose="02010600030101010101" pitchFamily="2" charset="-122"/>
                </a:rPr>
                <a:t>5</a:t>
              </a:r>
              <a:endParaRPr lang="en-US" altLang="zh-CN" sz="2000" b="1">
                <a:solidFill>
                  <a:schemeClr val="tx2"/>
                </a:solidFill>
                <a:latin typeface="宋体" panose="02010600030101010101" pitchFamily="2" charset="-122"/>
              </a:endParaRPr>
            </a:p>
          </p:txBody>
        </p:sp>
      </p:grpSp>
      <p:grpSp>
        <p:nvGrpSpPr>
          <p:cNvPr id="9247" name="Group 9"/>
          <p:cNvGrpSpPr/>
          <p:nvPr/>
        </p:nvGrpSpPr>
        <p:grpSpPr bwMode="auto">
          <a:xfrm>
            <a:off x="1595438" y="4757738"/>
            <a:ext cx="5353050" cy="685800"/>
            <a:chOff x="1296" y="1824"/>
            <a:chExt cx="2976" cy="432"/>
          </a:xfrm>
        </p:grpSpPr>
        <p:sp>
          <p:nvSpPr>
            <p:cNvPr id="64522" name="AutoShape 10"/>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p>
              <a:pPr fontAlgn="auto">
                <a:spcBef>
                  <a:spcPct val="20000"/>
                </a:spcBef>
                <a:spcAft>
                  <a:spcPts val="0"/>
                </a:spcAft>
                <a:buFont typeface="Wingdings" panose="05000000000000000000" pitchFamily="2" charset="2"/>
                <a:buNone/>
                <a:defRPr/>
              </a:pPr>
              <a:endParaRPr lang="zh-CN" altLang="zh-CN" sz="2000" b="1">
                <a:solidFill>
                  <a:schemeClr val="tx2"/>
                </a:solidFill>
                <a:latin typeface="+mn-lt"/>
                <a:ea typeface="+mn-ea"/>
              </a:endParaRPr>
            </a:p>
          </p:txBody>
        </p:sp>
        <p:sp>
          <p:nvSpPr>
            <p:cNvPr id="9249" name="AutoShape 11"/>
            <p:cNvSpPr>
              <a:spLocks noChangeArrowheads="1"/>
            </p:cNvSpPr>
            <p:nvPr/>
          </p:nvSpPr>
          <p:spPr bwMode="auto">
            <a:xfrm>
              <a:off x="1296" y="1824"/>
              <a:ext cx="432" cy="432"/>
            </a:xfrm>
            <a:prstGeom prst="diamond">
              <a:avLst/>
            </a:prstGeom>
            <a:solidFill>
              <a:schemeClr val="accent1"/>
            </a:solidFill>
            <a:ln w="25400">
              <a:solidFill>
                <a:schemeClr val="bg1"/>
              </a:solidFill>
              <a:miter lim="800000"/>
            </a:ln>
          </p:spPr>
          <p:txBody>
            <a:bodyPr wrap="none" anchor="ctr"/>
            <a:lstStyle/>
            <a:p>
              <a:pPr>
                <a:spcBef>
                  <a:spcPct val="20000"/>
                </a:spcBef>
                <a:buFont typeface="Wingdings" panose="05000000000000000000" pitchFamily="2" charset="2"/>
                <a:buNone/>
              </a:pPr>
              <a:endParaRPr lang="zh-CN" altLang="zh-CN" sz="2000" b="1">
                <a:solidFill>
                  <a:schemeClr val="tx2"/>
                </a:solidFill>
                <a:latin typeface="宋体" panose="02010600030101010101" pitchFamily="2" charset="-122"/>
              </a:endParaRPr>
            </a:p>
          </p:txBody>
        </p:sp>
        <p:sp>
          <p:nvSpPr>
            <p:cNvPr id="9250" name="Text Box 12"/>
            <p:cNvSpPr txBox="1">
              <a:spLocks noChangeArrowheads="1"/>
            </p:cNvSpPr>
            <p:nvPr/>
          </p:nvSpPr>
          <p:spPr bwMode="auto">
            <a:xfrm>
              <a:off x="1680" y="1934"/>
              <a:ext cx="2466" cy="251"/>
            </a:xfrm>
            <a:prstGeom prst="rect">
              <a:avLst/>
            </a:prstGeom>
            <a:noFill/>
            <a:ln w="9525">
              <a:noFill/>
              <a:miter lim="800000"/>
            </a:ln>
          </p:spPr>
          <p:txBody>
            <a:bodyPr>
              <a:spAutoFit/>
            </a:bodyPr>
            <a:lstStyle/>
            <a:p>
              <a:pPr>
                <a:spcBef>
                  <a:spcPct val="20000"/>
                </a:spcBef>
                <a:buFont typeface="Wingdings" panose="05000000000000000000" pitchFamily="2" charset="2"/>
                <a:buNone/>
              </a:pPr>
              <a:r>
                <a:rPr lang="zh-CN" altLang="zh-CN" sz="2000" b="1">
                  <a:solidFill>
                    <a:schemeClr val="tx2"/>
                  </a:solidFill>
                </a:rPr>
                <a:t>*</a:t>
              </a:r>
              <a:r>
                <a:rPr lang="zh-CN" altLang="zh-CN" sz="2000" b="1">
                  <a:solidFill>
                    <a:schemeClr val="tx2"/>
                  </a:solidFill>
                  <a:latin typeface="宋体" panose="02010600030101010101" pitchFamily="2" charset="-122"/>
                </a:rPr>
                <a:t>10.6</a:t>
              </a:r>
              <a:r>
                <a:rPr lang="zh-CN" altLang="zh-CN" sz="2000" b="1">
                  <a:solidFill>
                    <a:schemeClr val="tx2"/>
                  </a:solidFill>
                </a:rPr>
                <a:t> 数据库安全解决方案</a:t>
              </a:r>
              <a:endParaRPr lang="zh-CN" altLang="zh-CN" sz="2000" b="1">
                <a:solidFill>
                  <a:schemeClr val="tx2"/>
                </a:solidFill>
              </a:endParaRPr>
            </a:p>
          </p:txBody>
        </p:sp>
        <p:sp>
          <p:nvSpPr>
            <p:cNvPr id="9251" name="Text Box 13"/>
            <p:cNvSpPr txBox="1">
              <a:spLocks noChangeArrowheads="1"/>
            </p:cNvSpPr>
            <p:nvPr/>
          </p:nvSpPr>
          <p:spPr bwMode="auto">
            <a:xfrm>
              <a:off x="1393" y="1886"/>
              <a:ext cx="223" cy="252"/>
            </a:xfrm>
            <a:prstGeom prst="rect">
              <a:avLst/>
            </a:prstGeom>
            <a:noFill/>
            <a:ln w="9525">
              <a:noFill/>
              <a:miter lim="800000"/>
            </a:ln>
          </p:spPr>
          <p:txBody>
            <a:bodyPr>
              <a:spAutoFit/>
            </a:bodyPr>
            <a:lstStyle/>
            <a:p>
              <a:pPr eaLnBrk="0" hangingPunct="0">
                <a:spcBef>
                  <a:spcPct val="20000"/>
                </a:spcBef>
                <a:buFont typeface="Wingdings" panose="05000000000000000000" pitchFamily="2" charset="2"/>
                <a:buNone/>
              </a:pPr>
              <a:r>
                <a:rPr lang="en-US" altLang="zh-CN" sz="2000" b="1">
                  <a:solidFill>
                    <a:schemeClr val="tx2"/>
                  </a:solidFill>
                  <a:latin typeface="宋体" panose="02010600030101010101" pitchFamily="2" charset="-122"/>
                </a:rPr>
                <a:t>6</a:t>
              </a:r>
              <a:endParaRPr lang="en-US" altLang="zh-CN" sz="2000" b="1">
                <a:solidFill>
                  <a:schemeClr val="tx2"/>
                </a:solidFill>
                <a:latin typeface="宋体" panose="02010600030101010101" pitchFamily="2" charset="-122"/>
              </a:endParaRPr>
            </a:p>
          </p:txBody>
        </p:sp>
      </p:grpSp>
      <p:sp>
        <p:nvSpPr>
          <p:cNvPr id="9252" name="Rectangle 182"/>
          <p:cNvSpPr>
            <a:spLocks noChangeArrowheads="1"/>
          </p:cNvSpPr>
          <p:nvPr/>
        </p:nvSpPr>
        <p:spPr bwMode="auto">
          <a:xfrm>
            <a:off x="4075113" y="3576638"/>
            <a:ext cx="209550" cy="400050"/>
          </a:xfrm>
          <a:prstGeom prst="rect">
            <a:avLst/>
          </a:prstGeom>
          <a:noFill/>
          <a:ln w="9525">
            <a:noFill/>
            <a:miter lim="800000"/>
          </a:ln>
        </p:spPr>
        <p:txBody>
          <a:bodyPr>
            <a:spAutoFit/>
          </a:bodyPr>
          <a:lstStyle/>
          <a:p>
            <a:pPr eaLnBrk="0" hangingPunct="0">
              <a:spcBef>
                <a:spcPct val="20000"/>
              </a:spcBef>
              <a:buFont typeface="Wingdings" panose="05000000000000000000" pitchFamily="2" charset="2"/>
              <a:buNone/>
            </a:pPr>
            <a:endParaRPr lang="zh-CN" altLang="zh-CN" sz="2000" b="1">
              <a:solidFill>
                <a:schemeClr val="tx2"/>
              </a:solidFill>
              <a:latin typeface="宋体" panose="02010600030101010101" pitchFamily="2" charset="-122"/>
            </a:endParaRPr>
          </a:p>
        </p:txBody>
      </p:sp>
      <p:sp>
        <p:nvSpPr>
          <p:cNvPr id="5166" name="Rectangle 2"/>
          <p:cNvSpPr>
            <a:spLocks noChangeArrowheads="1"/>
          </p:cNvSpPr>
          <p:nvPr/>
        </p:nvSpPr>
        <p:spPr bwMode="white">
          <a:xfrm>
            <a:off x="2549525" y="1150938"/>
            <a:ext cx="3125788" cy="533400"/>
          </a:xfrm>
          <a:prstGeom prst="rect">
            <a:avLst/>
          </a:prstGeom>
          <a:noFill/>
          <a:ln>
            <a:noFill/>
          </a:ln>
        </p:spPr>
        <p:txBody>
          <a:bodyPr anchor="ctr"/>
          <a:lstStyle/>
          <a:p>
            <a:pPr algn="ctr">
              <a:spcBef>
                <a:spcPct val="20000"/>
              </a:spcBef>
              <a:defRPr/>
            </a:pPr>
            <a:r>
              <a:rPr lang="zh-CN" altLang="en-US" sz="3200" b="1" dirty="0">
                <a:solidFill>
                  <a:srgbClr val="FF0000"/>
                </a:solidFill>
                <a:effectLst>
                  <a:outerShdw blurRad="38100" dist="38100" dir="2700000" algn="tl">
                    <a:srgbClr val="C0C0C0"/>
                  </a:outerShdw>
                </a:effectLst>
                <a:latin typeface="Verdana" panose="020B0604030504040204" pitchFamily="34" charset="0"/>
              </a:rPr>
              <a:t>第</a:t>
            </a:r>
            <a:r>
              <a:rPr lang="en-US" altLang="zh-CN" sz="3200" b="1" dirty="0">
                <a:solidFill>
                  <a:srgbClr val="FF0000"/>
                </a:solidFill>
                <a:effectLst>
                  <a:outerShdw blurRad="38100" dist="38100" dir="2700000" algn="tl">
                    <a:srgbClr val="C0C0C0"/>
                  </a:outerShdw>
                </a:effectLst>
                <a:latin typeface="Verdana" panose="020B0604030504040204" pitchFamily="34" charset="0"/>
              </a:rPr>
              <a:t>10</a:t>
            </a:r>
            <a:r>
              <a:rPr lang="zh-CN" altLang="en-US" sz="3200" b="1" dirty="0">
                <a:solidFill>
                  <a:srgbClr val="FF0000"/>
                </a:solidFill>
                <a:effectLst>
                  <a:outerShdw blurRad="38100" dist="38100" dir="2700000" algn="tl">
                    <a:srgbClr val="C0C0C0"/>
                  </a:outerShdw>
                </a:effectLst>
                <a:latin typeface="Verdana" panose="020B0604030504040204" pitchFamily="34" charset="0"/>
              </a:rPr>
              <a:t>章 目录</a:t>
            </a:r>
            <a:endParaRPr lang="zh-CN" altLang="en-US" sz="3200" b="1" dirty="0">
              <a:solidFill>
                <a:srgbClr val="FF0000"/>
              </a:solidFill>
              <a:effectLst>
                <a:outerShdw blurRad="38100" dist="38100" dir="2700000" algn="tl">
                  <a:srgbClr val="C0C0C0"/>
                </a:outerShdw>
              </a:effectLst>
              <a:latin typeface="Verdana" panose="020B0604030504040204" pitchFamily="34" charset="0"/>
            </a:endParaRPr>
          </a:p>
        </p:txBody>
      </p:sp>
      <p:pic>
        <p:nvPicPr>
          <p:cNvPr id="9255" name="Picture 5" descr="j0285750"/>
          <p:cNvPicPr>
            <a:picLocks noChangeAspect="1" noChangeArrowheads="1"/>
          </p:cNvPicPr>
          <p:nvPr/>
        </p:nvPicPr>
        <p:blipFill>
          <a:blip r:embed="rId1" cstate="print"/>
          <a:srcRect/>
          <a:stretch>
            <a:fillRect/>
          </a:stretch>
        </p:blipFill>
        <p:spPr bwMode="auto">
          <a:xfrm>
            <a:off x="7204075" y="5475288"/>
            <a:ext cx="1652588" cy="936625"/>
          </a:xfrm>
          <a:prstGeom prst="rect">
            <a:avLst/>
          </a:prstGeom>
          <a:noFill/>
          <a:ln w="9525">
            <a:noFill/>
            <a:miter lim="800000"/>
            <a:headEnd/>
            <a:tailEnd/>
          </a:ln>
        </p:spPr>
      </p:pic>
      <p:grpSp>
        <p:nvGrpSpPr>
          <p:cNvPr id="9256" name="Group 14"/>
          <p:cNvGrpSpPr/>
          <p:nvPr/>
        </p:nvGrpSpPr>
        <p:grpSpPr bwMode="auto">
          <a:xfrm>
            <a:off x="1630363" y="5334000"/>
            <a:ext cx="5353050" cy="782638"/>
            <a:chOff x="1296" y="1824"/>
            <a:chExt cx="3004" cy="432"/>
          </a:xfrm>
        </p:grpSpPr>
        <p:sp>
          <p:nvSpPr>
            <p:cNvPr id="42" name="AutoShape 15"/>
            <p:cNvSpPr>
              <a:spLocks noChangeArrowheads="1"/>
            </p:cNvSpPr>
            <p:nvPr/>
          </p:nvSpPr>
          <p:spPr bwMode="gray">
            <a:xfrm>
              <a:off x="1536" y="1898"/>
              <a:ext cx="2737" cy="289"/>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p>
              <a:pPr>
                <a:spcBef>
                  <a:spcPct val="20000"/>
                </a:spcBef>
                <a:buFont typeface="Wingdings" panose="05000000000000000000" pitchFamily="2" charset="2"/>
                <a:buNone/>
                <a:defRPr/>
              </a:pPr>
              <a:endParaRPr lang="zh-CN" altLang="zh-CN" sz="1800" b="1">
                <a:solidFill>
                  <a:schemeClr val="tx2"/>
                </a:solidFill>
                <a:latin typeface="宋体" panose="02010600030101010101" pitchFamily="2" charset="-122"/>
              </a:endParaRPr>
            </a:p>
          </p:txBody>
        </p:sp>
        <p:sp>
          <p:nvSpPr>
            <p:cNvPr id="9258" name="AutoShape 16"/>
            <p:cNvSpPr>
              <a:spLocks noChangeArrowheads="1"/>
            </p:cNvSpPr>
            <p:nvPr/>
          </p:nvSpPr>
          <p:spPr bwMode="auto">
            <a:xfrm>
              <a:off x="1296" y="1824"/>
              <a:ext cx="432" cy="432"/>
            </a:xfrm>
            <a:prstGeom prst="diamond">
              <a:avLst/>
            </a:prstGeom>
            <a:solidFill>
              <a:schemeClr val="hlink"/>
            </a:solidFill>
            <a:ln w="25400">
              <a:solidFill>
                <a:schemeClr val="bg1"/>
              </a:solidFill>
              <a:miter lim="800000"/>
            </a:ln>
          </p:spPr>
          <p:txBody>
            <a:bodyPr wrap="none" anchor="ctr"/>
            <a:lstStyle/>
            <a:p>
              <a:pPr>
                <a:spcBef>
                  <a:spcPct val="20000"/>
                </a:spcBef>
                <a:buFont typeface="Wingdings" panose="05000000000000000000" pitchFamily="2" charset="2"/>
                <a:buNone/>
              </a:pPr>
              <a:endParaRPr lang="zh-CN" altLang="zh-CN" sz="1800" b="1">
                <a:solidFill>
                  <a:schemeClr val="tx2"/>
                </a:solidFill>
                <a:latin typeface="宋体" panose="02010600030101010101" pitchFamily="2" charset="-122"/>
              </a:endParaRPr>
            </a:p>
          </p:txBody>
        </p:sp>
        <p:sp>
          <p:nvSpPr>
            <p:cNvPr id="9259" name="Text Box 17"/>
            <p:cNvSpPr txBox="1">
              <a:spLocks noChangeArrowheads="1"/>
            </p:cNvSpPr>
            <p:nvPr/>
          </p:nvSpPr>
          <p:spPr bwMode="auto">
            <a:xfrm>
              <a:off x="1595" y="1936"/>
              <a:ext cx="2705" cy="203"/>
            </a:xfrm>
            <a:prstGeom prst="rect">
              <a:avLst/>
            </a:prstGeom>
            <a:noFill/>
            <a:ln w="9525">
              <a:noFill/>
              <a:miter lim="800000"/>
            </a:ln>
          </p:spPr>
          <p:txBody>
            <a:bodyPr wrap="square">
              <a:spAutoFit/>
            </a:bodyPr>
            <a:lstStyle/>
            <a:p>
              <a:pPr eaLnBrk="0" hangingPunct="0">
                <a:spcBef>
                  <a:spcPct val="20000"/>
                </a:spcBef>
                <a:buFont typeface="Wingdings" panose="05000000000000000000" pitchFamily="2" charset="2"/>
                <a:buNone/>
              </a:pPr>
              <a:r>
                <a:rPr lang="zh-CN" altLang="en-US" sz="1800" b="1" dirty="0">
                  <a:solidFill>
                    <a:srgbClr val="FF0000"/>
                  </a:solidFill>
                  <a:latin typeface="宋体" panose="02010600030101010101" pitchFamily="2" charset="-122"/>
                </a:rPr>
                <a:t>*</a:t>
              </a:r>
              <a:r>
                <a:rPr lang="en-US" altLang="zh-CN" sz="1800" b="1" dirty="0">
                  <a:solidFill>
                    <a:schemeClr val="tx2"/>
                  </a:solidFill>
                  <a:latin typeface="宋体" panose="02010600030101010101" pitchFamily="2" charset="-122"/>
                </a:rPr>
                <a:t>10.7</a:t>
              </a:r>
              <a:r>
                <a:rPr lang="zh-CN" altLang="zh-CN" sz="1800" b="1" dirty="0">
                  <a:solidFill>
                    <a:schemeClr val="tx2"/>
                  </a:solidFill>
                  <a:latin typeface="宋体" panose="02010600030101010101" pitchFamily="2" charset="-122"/>
                </a:rPr>
                <a:t>实验10 SQL Server 2019用户安全管理</a:t>
              </a:r>
              <a:endParaRPr lang="zh-CN" altLang="zh-CN" sz="1800" b="1" dirty="0">
                <a:solidFill>
                  <a:schemeClr val="tx2"/>
                </a:solidFill>
                <a:latin typeface="宋体" panose="02010600030101010101" pitchFamily="2" charset="-122"/>
              </a:endParaRPr>
            </a:p>
          </p:txBody>
        </p:sp>
        <p:sp>
          <p:nvSpPr>
            <p:cNvPr id="9260" name="Text Box 18"/>
            <p:cNvSpPr txBox="1">
              <a:spLocks noChangeArrowheads="1"/>
            </p:cNvSpPr>
            <p:nvPr/>
          </p:nvSpPr>
          <p:spPr bwMode="auto">
            <a:xfrm>
              <a:off x="1405" y="1885"/>
              <a:ext cx="190" cy="262"/>
            </a:xfrm>
            <a:prstGeom prst="rect">
              <a:avLst/>
            </a:prstGeom>
            <a:noFill/>
            <a:ln w="9525">
              <a:noFill/>
              <a:miter lim="800000"/>
            </a:ln>
          </p:spPr>
          <p:txBody>
            <a:bodyPr wrap="none">
              <a:spAutoFit/>
            </a:bodyPr>
            <a:lstStyle/>
            <a:p>
              <a:pPr eaLnBrk="0" hangingPunct="0">
                <a:spcBef>
                  <a:spcPct val="20000"/>
                </a:spcBef>
                <a:buFont typeface="Wingdings" panose="05000000000000000000" pitchFamily="2" charset="2"/>
                <a:buNone/>
              </a:pPr>
              <a:r>
                <a:rPr lang="en-US" altLang="zh-CN" sz="1800" b="1">
                  <a:solidFill>
                    <a:schemeClr val="tx2"/>
                  </a:solidFill>
                  <a:latin typeface="宋体" panose="02010600030101010101" pitchFamily="2" charset="-122"/>
                </a:rPr>
                <a:t>7</a:t>
              </a:r>
              <a:endParaRPr lang="en-US" altLang="zh-CN" sz="1800" b="1">
                <a:solidFill>
                  <a:schemeClr val="tx2"/>
                </a:solidFill>
                <a:latin typeface="宋体" panose="02010600030101010101" pitchFamily="2" charset="-122"/>
              </a:endParaRPr>
            </a:p>
          </p:txBody>
        </p:sp>
      </p:grpSp>
      <p:sp>
        <p:nvSpPr>
          <p:cNvPr id="9261" name="文本框 1"/>
          <p:cNvSpPr txBox="1">
            <a:spLocks noChangeArrowheads="1"/>
          </p:cNvSpPr>
          <p:nvPr/>
        </p:nvSpPr>
        <p:spPr bwMode="auto">
          <a:xfrm>
            <a:off x="3133725" y="5951538"/>
            <a:ext cx="1727200" cy="338137"/>
          </a:xfrm>
          <a:prstGeom prst="rect">
            <a:avLst/>
          </a:prstGeom>
          <a:noFill/>
          <a:ln w="9525">
            <a:noFill/>
            <a:miter lim="800000"/>
          </a:ln>
        </p:spPr>
        <p:txBody>
          <a:bodyPr wrap="none">
            <a:spAutoFit/>
          </a:bodyPr>
          <a:lstStyle/>
          <a:p>
            <a:pPr eaLnBrk="0" hangingPunct="0"/>
            <a:r>
              <a:rPr lang="zh-CN" altLang="zh-CN" sz="1600" b="1">
                <a:solidFill>
                  <a:schemeClr val="tx2"/>
                </a:solidFill>
              </a:rPr>
              <a:t>（选做实验</a:t>
            </a:r>
            <a:r>
              <a:rPr lang="en-US" altLang="zh-CN" sz="1600" b="1">
                <a:solidFill>
                  <a:schemeClr val="tx2"/>
                </a:solidFill>
              </a:rPr>
              <a:t>3</a:t>
            </a:r>
            <a:r>
              <a:rPr lang="zh-CN" altLang="en-US" sz="1600" b="1">
                <a:solidFill>
                  <a:schemeClr val="tx2"/>
                </a:solidFill>
              </a:rPr>
              <a:t>个</a:t>
            </a:r>
            <a:r>
              <a:rPr lang="zh-CN" altLang="zh-CN" sz="1600" b="1">
                <a:solidFill>
                  <a:schemeClr val="tx2"/>
                </a:solidFill>
              </a:rPr>
              <a:t>）</a:t>
            </a:r>
            <a:endParaRPr lang="zh-CN" altLang="zh-CN" sz="1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bwMode="gray">
          <a:xfrm>
            <a:off x="809625" y="1289050"/>
            <a:ext cx="2719388" cy="831850"/>
          </a:xfrm>
          <a:prstGeom prst="roundRect">
            <a:avLst/>
          </a:prstGeom>
        </p:spPr>
        <p:style>
          <a:lnRef idx="2">
            <a:schemeClr val="accent1"/>
          </a:lnRef>
          <a:fillRef idx="1">
            <a:schemeClr val="lt1"/>
          </a:fillRef>
          <a:effectRef idx="0">
            <a:schemeClr val="accent1"/>
          </a:effectRef>
          <a:fontRef idx="minor">
            <a:schemeClr val="dk1"/>
          </a:fontRef>
        </p:style>
        <p:txBody>
          <a:bodyPr anchor="ctr"/>
          <a:lstStyle/>
          <a:p>
            <a:pPr>
              <a:spcBef>
                <a:spcPct val="20000"/>
              </a:spcBef>
              <a:buFont typeface="Wingdings" panose="05000000000000000000" pitchFamily="2" charset="2"/>
              <a:buNone/>
              <a:defRPr/>
            </a:pPr>
            <a:r>
              <a:rPr lang="en-US" altLang="zh-CN" sz="3200" b="1"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sym typeface="Wingdings" panose="05000000000000000000" pitchFamily="2" charset="2"/>
              </a:rPr>
              <a:t></a:t>
            </a:r>
            <a:r>
              <a:rPr lang="zh-CN" altLang="en-US" sz="3200" b="1" dirty="0">
                <a:solidFill>
                  <a:srgbClr val="FF0000"/>
                </a:solidFill>
                <a:effectLst>
                  <a:outerShdw blurRad="38100" dist="38100" dir="2700000" algn="tl">
                    <a:srgbClr val="C0C0C0"/>
                  </a:outerShdw>
                </a:effectLst>
                <a:latin typeface="黑体" panose="02010609060101010101" pitchFamily="49" charset="-122"/>
                <a:ea typeface="黑体" panose="02010609060101010101" pitchFamily="49" charset="-122"/>
              </a:rPr>
              <a:t>教学目标</a:t>
            </a:r>
            <a:endParaRPr lang="zh-CN" altLang="en-US" sz="3200" b="1" dirty="0"/>
          </a:p>
        </p:txBody>
      </p:sp>
      <p:pic>
        <p:nvPicPr>
          <p:cNvPr id="10242" name="Picture 25" descr="C:\Users\user\AppData\Local\Microsoft\Windows\Temporary Internet Files\Content.IE5\BRFJ06TV\MCj04114760000[1].wmf"/>
          <p:cNvPicPr>
            <a:picLocks noChangeAspect="1" noChangeArrowheads="1"/>
          </p:cNvPicPr>
          <p:nvPr/>
        </p:nvPicPr>
        <p:blipFill>
          <a:blip r:embed="rId1" cstate="print"/>
          <a:srcRect/>
          <a:stretch>
            <a:fillRect/>
          </a:stretch>
        </p:blipFill>
        <p:spPr bwMode="auto">
          <a:xfrm flipH="1">
            <a:off x="5864225" y="5791200"/>
            <a:ext cx="1284288" cy="1009650"/>
          </a:xfrm>
          <a:prstGeom prst="rect">
            <a:avLst/>
          </a:prstGeom>
          <a:noFill/>
          <a:ln w="9525">
            <a:noFill/>
            <a:miter lim="800000"/>
            <a:headEnd/>
            <a:tailEnd/>
          </a:ln>
        </p:spPr>
      </p:pic>
      <p:sp>
        <p:nvSpPr>
          <p:cNvPr id="5" name="Rectangle 2"/>
          <p:cNvSpPr txBox="1">
            <a:spLocks noChangeArrowheads="1"/>
          </p:cNvSpPr>
          <p:nvPr/>
        </p:nvSpPr>
        <p:spPr bwMode="white">
          <a:xfrm>
            <a:off x="1857375" y="254000"/>
            <a:ext cx="3849688" cy="533400"/>
          </a:xfrm>
          <a:prstGeom prst="rect">
            <a:avLst/>
          </a:prstGeom>
          <a:noFill/>
          <a:ln w="9525">
            <a:noFill/>
            <a:miter lim="800000"/>
          </a:ln>
        </p:spPr>
        <p:txBody>
          <a:bodyPr anchor="ctr"/>
          <a:lstStyle/>
          <a:p>
            <a:pPr algn="ctr">
              <a:defRPr/>
            </a:pPr>
            <a:r>
              <a:rPr lang="zh-CN" altLang="en-US" sz="3200" b="1" kern="0" dirty="0">
                <a:solidFill>
                  <a:schemeClr val="bg1"/>
                </a:solidFill>
                <a:effectLst>
                  <a:outerShdw blurRad="38100" dist="38100" dir="2700000" algn="tl">
                    <a:srgbClr val="C0C0C0"/>
                  </a:outerShdw>
                </a:effectLst>
                <a:latin typeface="+mj-lt"/>
                <a:cs typeface="+mj-cs"/>
              </a:rPr>
              <a:t>教学目标</a:t>
            </a:r>
            <a:endParaRPr lang="zh-CN" altLang="en-US" sz="3200" b="1" kern="0" dirty="0">
              <a:solidFill>
                <a:schemeClr val="bg1"/>
              </a:solidFill>
              <a:effectLst>
                <a:outerShdw blurRad="38100" dist="38100" dir="2700000" algn="tl">
                  <a:srgbClr val="C0C0C0"/>
                </a:outerShdw>
              </a:effectLst>
              <a:latin typeface="+mj-lt"/>
              <a:cs typeface="+mj-cs"/>
            </a:endParaRPr>
          </a:p>
        </p:txBody>
      </p:sp>
      <p:graphicFrame>
        <p:nvGraphicFramePr>
          <p:cNvPr id="2" name="表格 1"/>
          <p:cNvGraphicFramePr/>
          <p:nvPr/>
        </p:nvGraphicFramePr>
        <p:xfrm>
          <a:off x="1119188" y="2254250"/>
          <a:ext cx="6729730" cy="4045585"/>
        </p:xfrm>
        <a:graphic>
          <a:graphicData uri="http://schemas.openxmlformats.org/drawingml/2006/table">
            <a:tbl>
              <a:tblPr firstRow="1" bandRow="1">
                <a:tableStyleId>{5940675A-B579-460E-94D1-54222C63F5DA}</a:tableStyleId>
              </a:tblPr>
              <a:tblGrid>
                <a:gridCol w="6729730"/>
              </a:tblGrid>
              <a:tr h="731520">
                <a:tc>
                  <a:txBody>
                    <a:bodyPr/>
                    <a:lstStyle/>
                    <a:p>
                      <a:pPr indent="0">
                        <a:buNone/>
                      </a:pPr>
                      <a:r>
                        <a:rPr lang="en-US" sz="2400" b="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rPr>
                        <a:t>    重点</a:t>
                      </a:r>
                      <a:r>
                        <a:rPr lang="en-US" sz="2400" b="1">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数据库安全</a:t>
                      </a:r>
                      <a:r>
                        <a:rPr lang="en-US" sz="2400" b="1">
                          <a:effectLst>
                            <a:outerShdw blurRad="38100" dist="38100" dir="2700000" algn="tl">
                              <a:srgbClr val="000000">
                                <a:alpha val="43137"/>
                              </a:srgbClr>
                            </a:outerShdw>
                          </a:effectLst>
                          <a:latin typeface="楷体" panose="02010609060101010101" charset="-122"/>
                          <a:ea typeface="楷体" panose="02010609060101010101" charset="-122"/>
                          <a:cs typeface="楷体" panose="02010609060101010101" charset="-122"/>
                        </a:rPr>
                        <a:t>相关概念、目标、内容、</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措施</a:t>
                      </a:r>
                      <a:r>
                        <a:rPr lang="en-US" sz="2400" b="1">
                          <a:effectLst>
                            <a:outerShdw blurRad="38100" dist="38100" dir="2700000" algn="tl">
                              <a:srgbClr val="000000">
                                <a:alpha val="43137"/>
                              </a:srgbClr>
                            </a:outerShdw>
                          </a:effectLst>
                          <a:latin typeface="楷体" panose="02010609060101010101" charset="-122"/>
                          <a:ea typeface="楷体" panose="02010609060101010101" charset="-122"/>
                          <a:cs typeface="楷体" panose="02010609060101010101" charset="-122"/>
                        </a:rPr>
                        <a:t>和常用技术</a:t>
                      </a:r>
                      <a:endParaRPr lang="en-US" altLang="en-US" sz="2400" b="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731520">
                <a:tc>
                  <a:txBody>
                    <a:bodyPr/>
                    <a:lstStyle/>
                    <a:p>
                      <a:pPr indent="0">
                        <a:buNone/>
                      </a:pPr>
                      <a:r>
                        <a:rPr lang="en-US" sz="2400" b="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rPr>
                        <a:t>    难点</a:t>
                      </a:r>
                      <a:r>
                        <a:rPr lang="en-US" sz="2400" b="1">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数据库</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及数据</a:t>
                      </a:r>
                      <a:r>
                        <a:rPr 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安全</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面临的</a:t>
                      </a:r>
                      <a:r>
                        <a:rPr 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威胁、</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隐患和层次体系结构</a:t>
                      </a:r>
                      <a:endParaRPr lang="en-US" altLang="en-US" sz="2400" b="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731520">
                <a:tc>
                  <a:txBody>
                    <a:bodyPr/>
                    <a:lstStyle/>
                    <a:p>
                      <a:pPr indent="0">
                        <a:buNone/>
                      </a:pPr>
                      <a:r>
                        <a:rPr lang="en-US" sz="2400" b="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rPr>
                        <a:t>    关键</a:t>
                      </a:r>
                      <a:r>
                        <a:rPr lang="en-US" sz="2400" b="1">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数据库安全</a:t>
                      </a:r>
                      <a:r>
                        <a:rPr lang="en-US" sz="2400" b="1">
                          <a:effectLst>
                            <a:outerShdw blurRad="38100" dist="38100" dir="2700000" algn="tl">
                              <a:srgbClr val="000000">
                                <a:alpha val="43137"/>
                              </a:srgbClr>
                            </a:outerShdw>
                          </a:effectLst>
                          <a:latin typeface="楷体" panose="02010609060101010101" charset="-122"/>
                          <a:ea typeface="楷体" panose="02010609060101010101" charset="-122"/>
                          <a:cs typeface="楷体" panose="02010609060101010101" charset="-122"/>
                        </a:rPr>
                        <a:t>相关概念、目标、内容、</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措施</a:t>
                      </a:r>
                      <a:r>
                        <a:rPr lang="en-US" sz="2400" b="1">
                          <a:effectLst>
                            <a:outerShdw blurRad="38100" dist="38100" dir="2700000" algn="tl">
                              <a:srgbClr val="000000">
                                <a:alpha val="43137"/>
                              </a:srgbClr>
                            </a:outerShdw>
                          </a:effectLst>
                          <a:latin typeface="楷体" panose="02010609060101010101" charset="-122"/>
                          <a:ea typeface="楷体" panose="02010609060101010101" charset="-122"/>
                          <a:cs typeface="楷体" panose="02010609060101010101" charset="-122"/>
                        </a:rPr>
                        <a:t>和常用技术</a:t>
                      </a:r>
                      <a:endParaRPr lang="en-US" altLang="en-US" sz="2400" b="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51025">
                <a:tc>
                  <a:txBody>
                    <a:bodyPr/>
                    <a:lstStyle/>
                    <a:p>
                      <a:pPr indent="0">
                        <a:buNone/>
                      </a:pPr>
                      <a:r>
                        <a:rPr lang="en-US" sz="2400" b="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rPr>
                        <a:t>    目标</a:t>
                      </a:r>
                      <a:r>
                        <a:rPr lang="en-US" sz="2400" b="1">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lang="en-US" sz="2400" b="1">
                          <a:effectLst>
                            <a:outerShdw blurRad="38100" dist="38100" dir="2700000" algn="tl">
                              <a:srgbClr val="000000">
                                <a:alpha val="43137"/>
                              </a:srgbClr>
                            </a:outerShdw>
                          </a:effectLst>
                          <a:latin typeface="楷体" panose="02010609060101010101" charset="-122"/>
                          <a:ea typeface="楷体" panose="02010609060101010101" charset="-122"/>
                          <a:cs typeface="楷体" panose="02010609060101010101" charset="-122"/>
                        </a:rPr>
                        <a:t>掌握</a:t>
                      </a:r>
                      <a:r>
                        <a:rPr 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数据库安全</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相关</a:t>
                      </a:r>
                      <a:r>
                        <a:rPr 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概念</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和目标，</a:t>
                      </a:r>
                      <a:r>
                        <a:rPr 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了解数据库</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系统面临的</a:t>
                      </a:r>
                      <a:r>
                        <a:rPr 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威胁及</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隐患和层次体系结构，掌握</a:t>
                      </a:r>
                      <a:r>
                        <a:rPr 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数据库安全</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措施、备份和恢复，</a:t>
                      </a:r>
                      <a:r>
                        <a:rPr 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理解</a:t>
                      </a:r>
                      <a:r>
                        <a:rPr lang="en-US" sz="2400" b="1">
                          <a:effectLst>
                            <a:outerShdw blurRad="38100" dist="38100" dir="2700000" algn="tl">
                              <a:srgbClr val="000000">
                                <a:alpha val="43137"/>
                              </a:srgbClr>
                            </a:outerShdw>
                          </a:effectLst>
                          <a:latin typeface="楷体_GB2312" panose="02010609030101010101" pitchFamily="49" charset="-122"/>
                          <a:cs typeface="楷体_GB2312" panose="02010609030101010101" pitchFamily="49" charset="-122"/>
                        </a:rPr>
                        <a:t>数据库安全策略、机制、服务和解决方案，学会</a:t>
                      </a:r>
                      <a:r>
                        <a:rPr lang="en-US" sz="24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SQL Server用户安全管理实验.</a:t>
                      </a:r>
                      <a:endParaRPr lang="en-US" altLang="en-US" sz="2400" b="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5" name="Rectangle 2"/>
          <p:cNvSpPr txBox="1">
            <a:spLocks noChangeArrowheads="1"/>
          </p:cNvSpPr>
          <p:nvPr/>
        </p:nvSpPr>
        <p:spPr bwMode="white">
          <a:xfrm>
            <a:off x="685800" y="238125"/>
            <a:ext cx="51816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sz="3200" dirty="0" smtClean="0">
                <a:solidFill>
                  <a:schemeClr val="bg1"/>
                </a:solidFill>
                <a:latin typeface="Verdana" panose="020B0604030504040204" pitchFamily="34" charset="0"/>
              </a:rPr>
              <a:t>10.1 数据库系统安全基础</a:t>
            </a:r>
            <a:endParaRPr sz="3200" dirty="0" smtClean="0">
              <a:solidFill>
                <a:schemeClr val="bg1"/>
              </a:solidFill>
              <a:latin typeface="Verdana" panose="020B0604030504040204" pitchFamily="34" charset="0"/>
            </a:endParaRPr>
          </a:p>
        </p:txBody>
      </p:sp>
      <p:sp>
        <p:nvSpPr>
          <p:cNvPr id="9" name="Rectangle 2"/>
          <p:cNvSpPr txBox="1">
            <a:spLocks noChangeArrowheads="1"/>
          </p:cNvSpPr>
          <p:nvPr/>
        </p:nvSpPr>
        <p:spPr bwMode="white">
          <a:xfrm>
            <a:off x="381000" y="1066800"/>
            <a:ext cx="83058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spcBef>
                <a:spcPct val="20000"/>
              </a:spcBef>
              <a:defRPr/>
            </a:pPr>
            <a:r>
              <a:rPr sz="3200" dirty="0" smtClean="0">
                <a:solidFill>
                  <a:srgbClr val="FF0000"/>
                </a:solidFill>
              </a:rPr>
              <a:t>10.1.1 数据库安全的概念和目标</a:t>
            </a:r>
            <a:endParaRPr sz="3200" dirty="0" smtClean="0">
              <a:solidFill>
                <a:srgbClr val="FF0000"/>
              </a:solidFill>
            </a:endParaRPr>
          </a:p>
        </p:txBody>
      </p:sp>
      <p:sp>
        <p:nvSpPr>
          <p:cNvPr id="11268" name="AutoShape 14"/>
          <p:cNvSpPr>
            <a:spLocks noChangeArrowheads="1"/>
          </p:cNvSpPr>
          <p:nvPr/>
        </p:nvSpPr>
        <p:spPr bwMode="auto">
          <a:xfrm>
            <a:off x="1003300" y="3278188"/>
            <a:ext cx="7339013" cy="3198812"/>
          </a:xfrm>
          <a:prstGeom prst="flowChartAlternateProcess">
            <a:avLst/>
          </a:prstGeom>
          <a:solidFill>
            <a:schemeClr val="bg1"/>
          </a:solidFill>
          <a:ln w="38100">
            <a:solidFill>
              <a:srgbClr val="0070C0"/>
            </a:solidFill>
            <a:prstDash val="lgDashDotDot"/>
            <a:miter lim="800000"/>
          </a:ln>
        </p:spPr>
        <p:txBody>
          <a:bodyPr lIns="74295" tIns="8890" rIns="74295" bIns="8890"/>
          <a:lstStyle/>
          <a:p>
            <a:pPr indent="266700" eaLnBrk="0" hangingPunct="0">
              <a:spcBef>
                <a:spcPct val="20000"/>
              </a:spcBef>
              <a:buFont typeface="Wingdings" panose="05000000000000000000" pitchFamily="2" charset="2"/>
              <a:buNone/>
            </a:pPr>
            <a:r>
              <a:rPr lang="en-US" altLang="zh-CN" sz="1800" b="1" dirty="0">
                <a:latin typeface="楷体" panose="02010609060101010101" charset="-122"/>
              </a:rPr>
              <a:t>             </a:t>
            </a:r>
            <a:r>
              <a:rPr lang="zh-CN" altLang="zh-CN" b="1" dirty="0">
                <a:solidFill>
                  <a:srgbClr val="FF0000"/>
                </a:solidFill>
                <a:latin typeface="楷体" panose="02010609060101010101" charset="-122"/>
              </a:rPr>
              <a:t>世界各国都因数据安全问题遭受巨大</a:t>
            </a:r>
            <a:r>
              <a:rPr lang="zh-CN" altLang="zh-CN" b="1" dirty="0" smtClean="0">
                <a:solidFill>
                  <a:srgbClr val="FF0000"/>
                </a:solidFill>
                <a:latin typeface="楷体" panose="02010609060101010101" charset="-122"/>
              </a:rPr>
              <a:t>损失</a:t>
            </a:r>
            <a:r>
              <a:rPr lang="en-US" altLang="zh-CN" b="1" dirty="0" smtClean="0">
                <a:latin typeface="楷体" panose="02010609060101010101" charset="-122"/>
              </a:rPr>
              <a:t>.</a:t>
            </a:r>
            <a:r>
              <a:rPr lang="zh-CN" altLang="zh-CN" b="1" dirty="0" smtClean="0">
                <a:latin typeface="Times New Roman" panose="02020603050405020304" pitchFamily="18" charset="0"/>
                <a:cs typeface="Times New Roman" panose="02020603050405020304" pitchFamily="18" charset="0"/>
              </a:rPr>
              <a:t>据</a:t>
            </a:r>
            <a:r>
              <a:rPr lang="zh-CN" altLang="zh-CN" b="1" dirty="0">
                <a:latin typeface="Times New Roman" panose="02020603050405020304" pitchFamily="18" charset="0"/>
                <a:cs typeface="Times New Roman" panose="02020603050405020304" pitchFamily="18" charset="0"/>
              </a:rPr>
              <a:t>Risk Based Security发布的数据泄露</a:t>
            </a:r>
            <a:r>
              <a:rPr lang="zh-CN" altLang="zh-CN" b="1" dirty="0" smtClean="0">
                <a:latin typeface="Times New Roman" panose="02020603050405020304" pitchFamily="18" charset="0"/>
                <a:cs typeface="Times New Roman" panose="02020603050405020304" pitchFamily="18" charset="0"/>
              </a:rPr>
              <a:t>报告</a:t>
            </a:r>
            <a:r>
              <a:rPr lang="en-US" altLang="zh-CN" b="1" dirty="0" smtClean="0">
                <a:latin typeface="Times New Roman" panose="02020603050405020304" pitchFamily="18" charset="0"/>
                <a:cs typeface="Times New Roman" panose="02020603050405020304" pitchFamily="18" charset="0"/>
              </a:rPr>
              <a:t>, </a:t>
            </a:r>
            <a:r>
              <a:rPr lang="zh-CN" altLang="zh-CN" b="1" dirty="0" smtClean="0">
                <a:latin typeface="Times New Roman" panose="02020603050405020304" pitchFamily="18" charset="0"/>
                <a:cs typeface="Times New Roman" panose="02020603050405020304" pitchFamily="18" charset="0"/>
              </a:rPr>
              <a:t>2019年</a:t>
            </a:r>
            <a:r>
              <a:rPr lang="zh-CN" altLang="zh-CN" b="1" dirty="0">
                <a:latin typeface="Times New Roman" panose="02020603050405020304" pitchFamily="18" charset="0"/>
                <a:cs typeface="Times New Roman" panose="02020603050405020304" pitchFamily="18" charset="0"/>
              </a:rPr>
              <a:t>上半年</a:t>
            </a:r>
            <a:r>
              <a:rPr lang="zh-CN" altLang="zh-CN" b="1" dirty="0">
                <a:solidFill>
                  <a:srgbClr val="C00000"/>
                </a:solidFill>
                <a:latin typeface="Times New Roman" panose="02020603050405020304" pitchFamily="18" charset="0"/>
                <a:cs typeface="Times New Roman" panose="02020603050405020304" pitchFamily="18" charset="0"/>
              </a:rPr>
              <a:t>数据泄露事件</a:t>
            </a:r>
            <a:r>
              <a:rPr lang="zh-CN" altLang="zh-CN" b="1" dirty="0">
                <a:latin typeface="Times New Roman" panose="02020603050405020304" pitchFamily="18" charset="0"/>
                <a:cs typeface="Times New Roman" panose="02020603050405020304" pitchFamily="18" charset="0"/>
              </a:rPr>
              <a:t>数量同比增长54%，数据泄露量也同比增长52%。其中医疗行业仍是数据泄露的“重灾区”，今年上半年该行业数据泄露事件高达224次，其次是金融和保险行业，泄露事件为183次。据介绍，美国数据泄露所造成的损失达819万美元，</a:t>
            </a:r>
            <a:r>
              <a:rPr lang="zh-CN" altLang="zh-CN" b="1" dirty="0">
                <a:latin typeface="楷体" panose="02010609060101010101" charset="-122"/>
              </a:rPr>
              <a:t>高出全球平均水平两倍多。</a:t>
            </a:r>
            <a:endParaRPr lang="zh-CN" altLang="zh-CN" b="1" dirty="0">
              <a:latin typeface="楷体" panose="02010609060101010101" charset="-122"/>
            </a:endParaRPr>
          </a:p>
        </p:txBody>
      </p:sp>
      <p:sp>
        <p:nvSpPr>
          <p:cNvPr id="11269" name="文本框 100"/>
          <p:cNvSpPr txBox="1">
            <a:spLocks noChangeArrowheads="1"/>
          </p:cNvSpPr>
          <p:nvPr/>
        </p:nvSpPr>
        <p:spPr bwMode="auto">
          <a:xfrm>
            <a:off x="1003300" y="1630363"/>
            <a:ext cx="7683500" cy="1568450"/>
          </a:xfrm>
          <a:prstGeom prst="rect">
            <a:avLst/>
          </a:prstGeom>
          <a:noFill/>
          <a:ln w="9525">
            <a:noFill/>
            <a:miter lim="800000"/>
          </a:ln>
        </p:spPr>
        <p:txBody>
          <a:bodyPr>
            <a:spAutoFit/>
          </a:bodyPr>
          <a:lstStyle/>
          <a:p>
            <a:pPr eaLnBrk="0" hangingPunct="0"/>
            <a:r>
              <a:rPr lang="en-US" altLang="zh-CN" b="1"/>
              <a:t>       </a:t>
            </a:r>
            <a:r>
              <a:rPr lang="zh-CN" altLang="zh-CN" b="1"/>
              <a:t>数据库技术已经成为</a:t>
            </a:r>
            <a:r>
              <a:rPr lang="en-US" altLang="zh-CN" b="1">
                <a:latin typeface="Times New Roman" panose="02020603050405020304" pitchFamily="18" charset="0"/>
              </a:rPr>
              <a:t>21</a:t>
            </a:r>
            <a:r>
              <a:rPr lang="zh-CN" altLang="zh-CN" b="1">
                <a:latin typeface="Times New Roman" panose="02020603050405020304" pitchFamily="18" charset="0"/>
              </a:rPr>
              <a:t>世纪</a:t>
            </a:r>
            <a:r>
              <a:rPr lang="zh-CN" altLang="zh-CN" b="1"/>
              <a:t>现代信息化社会各领域业务数据资源共享、数据处理、信息化服务的</a:t>
            </a:r>
            <a:r>
              <a:rPr lang="zh-CN" altLang="zh-CN" b="1">
                <a:solidFill>
                  <a:srgbClr val="FF0000"/>
                </a:solidFill>
              </a:rPr>
              <a:t>重要基础和关键技术</a:t>
            </a:r>
            <a:r>
              <a:rPr lang="zh-CN" altLang="zh-CN" b="1"/>
              <a:t>，并与计算机网络、人工智能一起被称为</a:t>
            </a:r>
            <a:r>
              <a:rPr lang="zh-CN" altLang="zh-CN" b="1">
                <a:solidFill>
                  <a:srgbClr val="FF0000"/>
                </a:solidFill>
              </a:rPr>
              <a:t>计算机界三大热门技术</a:t>
            </a:r>
            <a:endParaRPr lang="zh-CN" altLang="en-US" b="1"/>
          </a:p>
        </p:txBody>
      </p:sp>
      <p:sp>
        <p:nvSpPr>
          <p:cNvPr id="13" name="圆角矩形 12"/>
          <p:cNvSpPr/>
          <p:nvPr/>
        </p:nvSpPr>
        <p:spPr bwMode="gray">
          <a:xfrm>
            <a:off x="1627188" y="3278188"/>
            <a:ext cx="1262062" cy="452437"/>
          </a:xfrm>
          <a:prstGeom prst="roundRect">
            <a:avLst/>
          </a:prstGeom>
        </p:spPr>
        <p:style>
          <a:lnRef idx="0">
            <a:schemeClr val="accent2"/>
          </a:lnRef>
          <a:fillRef idx="3">
            <a:schemeClr val="accent2"/>
          </a:fillRef>
          <a:effectRef idx="3">
            <a:schemeClr val="accent2"/>
          </a:effectRef>
          <a:fontRef idx="minor">
            <a:schemeClr val="lt1"/>
          </a:fontRef>
        </p:style>
        <p:txBody>
          <a:bodyPr wrap="none" anchor="ctr"/>
          <a:lstStyle>
            <a:lvl1pPr>
              <a:defRPr>
                <a:solidFill>
                  <a:schemeClr val="tx1"/>
                </a:solidFill>
                <a:latin typeface="宋体" panose="02010600030101010101" pitchFamily="2" charset="-122"/>
                <a:ea typeface="宋体" panose="02010600030101010101" pitchFamily="2" charset="-122"/>
              </a:defRPr>
            </a:lvl1pPr>
            <a:lvl2pPr marL="742950" indent="-285750">
              <a:defRPr>
                <a:solidFill>
                  <a:schemeClr val="tx1"/>
                </a:solidFill>
                <a:latin typeface="宋体" panose="02010600030101010101" pitchFamily="2" charset="-122"/>
                <a:ea typeface="宋体" panose="02010600030101010101" pitchFamily="2" charset="-122"/>
              </a:defRPr>
            </a:lvl2pPr>
            <a:lvl3pPr marL="1143000" indent="-228600">
              <a:defRPr>
                <a:solidFill>
                  <a:schemeClr val="tx1"/>
                </a:solidFill>
                <a:latin typeface="宋体" panose="02010600030101010101" pitchFamily="2" charset="-122"/>
                <a:ea typeface="宋体" panose="02010600030101010101" pitchFamily="2" charset="-122"/>
              </a:defRPr>
            </a:lvl3pPr>
            <a:lvl4pPr marL="1600200" indent="-228600">
              <a:defRPr>
                <a:solidFill>
                  <a:schemeClr val="tx1"/>
                </a:solidFill>
                <a:latin typeface="宋体" panose="02010600030101010101" pitchFamily="2" charset="-122"/>
                <a:ea typeface="宋体" panose="02010600030101010101" pitchFamily="2" charset="-122"/>
              </a:defRPr>
            </a:lvl4pPr>
            <a:lvl5pPr marL="2057400" indent="-228600">
              <a:defRPr>
                <a:solidFill>
                  <a:schemeClr val="tx1"/>
                </a:solidFill>
                <a:latin typeface="宋体" panose="02010600030101010101" pitchFamily="2" charset="-122"/>
                <a:ea typeface="宋体" panose="02010600030101010101" pitchFamily="2" charset="-122"/>
              </a:defRPr>
            </a:lvl5pPr>
            <a:lvl6pPr marL="25146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6pPr>
            <a:lvl7pPr marL="29718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7pPr>
            <a:lvl8pPr marL="34290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8pPr>
            <a:lvl9pPr marL="38862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9pPr>
          </a:lstStyle>
          <a:p>
            <a:pPr algn="ctr">
              <a:spcBef>
                <a:spcPct val="20000"/>
              </a:spcBef>
              <a:buFont typeface="Wingdings" panose="05000000000000000000" pitchFamily="2" charset="2"/>
              <a:buNone/>
              <a:defRPr/>
            </a:pPr>
            <a:r>
              <a:rPr lang="zh-CN" altLang="en-US" sz="1600" b="1" dirty="0" smtClean="0">
                <a:solidFill>
                  <a:srgbClr val="002060"/>
                </a:solidFill>
              </a:rPr>
              <a:t>案例</a:t>
            </a:r>
            <a:r>
              <a:rPr lang="en-US" altLang="zh-CN" sz="1600" b="1" dirty="0" smtClean="0">
                <a:solidFill>
                  <a:srgbClr val="002060"/>
                </a:solidFill>
              </a:rPr>
              <a:t>2-1</a:t>
            </a:r>
            <a:endParaRPr lang="zh-CN" altLang="en-US" sz="1600" b="1" dirty="0" smtClean="0">
              <a:solidFill>
                <a:srgbClr val="002060"/>
              </a:solidFill>
            </a:endParaRPr>
          </a:p>
        </p:txBody>
      </p:sp>
      <p:sp>
        <p:nvSpPr>
          <p:cNvPr id="8" name="圆角矩形 7"/>
          <p:cNvSpPr/>
          <p:nvPr/>
        </p:nvSpPr>
        <p:spPr bwMode="gray">
          <a:xfrm>
            <a:off x="1003300" y="3278188"/>
            <a:ext cx="7339013" cy="3198812"/>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spcBef>
                <a:spcPct val="20000"/>
              </a:spcBef>
              <a:buFont typeface="Wingdings" panose="05000000000000000000" pitchFamily="2" charset="2"/>
              <a:buNone/>
              <a:defRPr/>
            </a:pPr>
            <a:endParaRPr lang="en-US" altLang="zh-CN">
              <a:solidFill>
                <a:schemeClr val="tx1"/>
              </a:solidFill>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内容占位符 13"/>
          <p:cNvSpPr>
            <a:spLocks noGrp="1" noChangeArrowheads="1"/>
          </p:cNvSpPr>
          <p:nvPr>
            <p:ph idx="4294967295"/>
          </p:nvPr>
        </p:nvSpPr>
        <p:spPr>
          <a:xfrm>
            <a:off x="923925" y="1196975"/>
            <a:ext cx="8040688" cy="1008063"/>
          </a:xfrm>
        </p:spPr>
        <p:txBody>
          <a:bodyPr/>
          <a:lstStyle/>
          <a:p>
            <a:pPr>
              <a:buFont typeface="Wingdings" panose="05000000000000000000" pitchFamily="2" charset="2"/>
              <a:buNone/>
            </a:pPr>
            <a:r>
              <a:rPr lang="en-US" altLang="zh-CN" sz="2400" smtClean="0">
                <a:solidFill>
                  <a:srgbClr val="CC0000"/>
                </a:solidFill>
              </a:rPr>
              <a:t>1</a:t>
            </a:r>
            <a:r>
              <a:rPr lang="zh-CN" altLang="en-US" sz="2400" smtClean="0">
                <a:solidFill>
                  <a:srgbClr val="CC0000"/>
                </a:solidFill>
              </a:rPr>
              <a:t>．数据库及数据安全相关概念</a:t>
            </a:r>
            <a:r>
              <a:rPr lang="zh-CN" altLang="en-US" sz="2400" smtClean="0"/>
              <a:t> </a:t>
            </a:r>
            <a:endParaRPr lang="en-US" altLang="zh-CN" sz="1800" smtClean="0"/>
          </a:p>
        </p:txBody>
      </p:sp>
      <p:sp>
        <p:nvSpPr>
          <p:cNvPr id="19" name="圆角矩形 18"/>
          <p:cNvSpPr/>
          <p:nvPr/>
        </p:nvSpPr>
        <p:spPr bwMode="gray">
          <a:xfrm>
            <a:off x="539750" y="1766888"/>
            <a:ext cx="8280400" cy="4351337"/>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spcBef>
                <a:spcPct val="20000"/>
              </a:spcBef>
              <a:buFont typeface="Wingdings" panose="05000000000000000000" pitchFamily="2" charset="2"/>
              <a:buNone/>
              <a:defRPr/>
            </a:pPr>
            <a:endParaRPr lang="en-US" altLang="zh-CN">
              <a:solidFill>
                <a:schemeClr val="tx1"/>
              </a:solidFill>
              <a:latin typeface="Arial" panose="020B0604020202020204" pitchFamily="34" charset="0"/>
            </a:endParaRPr>
          </a:p>
        </p:txBody>
      </p:sp>
      <p:sp>
        <p:nvSpPr>
          <p:cNvPr id="12291" name="内容占位符 13"/>
          <p:cNvSpPr>
            <a:spLocks noChangeArrowheads="1"/>
          </p:cNvSpPr>
          <p:nvPr/>
        </p:nvSpPr>
        <p:spPr bwMode="auto">
          <a:xfrm>
            <a:off x="395288" y="1196975"/>
            <a:ext cx="8153400" cy="86360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endParaRPr lang="zh-CN" altLang="en-US" sz="2600">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buFont typeface="Wingdings" panose="05000000000000000000" pitchFamily="2" charset="2"/>
              <a:buNone/>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chemeClr val="tx2"/>
              </a:solidFill>
              <a:latin typeface="宋体" panose="02010600030101010101" pitchFamily="2" charset="-122"/>
            </a:endParaRPr>
          </a:p>
        </p:txBody>
      </p:sp>
      <p:sp>
        <p:nvSpPr>
          <p:cNvPr id="11270" name="内容占位符 13"/>
          <p:cNvSpPr/>
          <p:nvPr/>
        </p:nvSpPr>
        <p:spPr bwMode="auto">
          <a:xfrm>
            <a:off x="822325" y="1766888"/>
            <a:ext cx="7858125" cy="332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marL="0" lvl="1" indent="0">
              <a:lnSpc>
                <a:spcPct val="95000"/>
              </a:lnSpc>
              <a:buClrTx/>
              <a:buFont typeface="Wingdings" panose="05000000000000000000" pitchFamily="2" charset="2"/>
              <a:buNone/>
              <a:defRPr/>
            </a:pPr>
            <a:r>
              <a:rPr lang="en-US" altLang="zh-CN" sz="2400" b="1" dirty="0" smtClean="0">
                <a:solidFill>
                  <a:srgbClr val="FF0000"/>
                </a:solidFill>
              </a:rPr>
              <a:t>    </a:t>
            </a:r>
            <a:r>
              <a:rPr lang="zh-CN" altLang="en-US" sz="2400" b="1" dirty="0" smtClean="0">
                <a:solidFill>
                  <a:srgbClr val="FF0000"/>
                </a:solidFill>
              </a:rPr>
              <a:t>数据安全</a:t>
            </a:r>
            <a:r>
              <a:rPr lang="en-US" altLang="zh-CN" sz="2400" dirty="0" smtClean="0">
                <a:latin typeface="Arial" panose="020B0604020202020204" pitchFamily="34" charset="0"/>
              </a:rPr>
              <a:t>(Data Security)</a:t>
            </a:r>
            <a:r>
              <a:rPr lang="zh-CN" altLang="en-US" sz="2400" b="1" dirty="0" smtClean="0"/>
              <a:t>是指以保护措施确保数据的完整性、保密性、可用性、可控性和可审查性。</a:t>
            </a:r>
            <a:endParaRPr lang="en-US" altLang="zh-CN" sz="2400" b="1" dirty="0" smtClean="0"/>
          </a:p>
          <a:p>
            <a:pPr marL="0" lvl="1" indent="0">
              <a:lnSpc>
                <a:spcPct val="95000"/>
              </a:lnSpc>
              <a:buClrTx/>
              <a:buFont typeface="Wingdings" panose="05000000000000000000" pitchFamily="2" charset="2"/>
              <a:buNone/>
              <a:defRPr/>
            </a:pPr>
            <a:r>
              <a:rPr lang="zh-CN" altLang="en-US" b="1" dirty="0" smtClean="0">
                <a:solidFill>
                  <a:srgbClr val="FF0000"/>
                </a:solidFill>
              </a:rPr>
              <a:t>    </a:t>
            </a:r>
            <a:r>
              <a:rPr lang="zh-CN" altLang="en-US" sz="2400" b="1" dirty="0" smtClean="0">
                <a:solidFill>
                  <a:srgbClr val="FF0000"/>
                </a:solidFill>
              </a:rPr>
              <a:t>数据库安全</a:t>
            </a:r>
            <a:r>
              <a:rPr lang="zh-CN" altLang="en-US" sz="2400" b="1" dirty="0" smtClean="0"/>
              <a:t>（</a:t>
            </a:r>
            <a:r>
              <a:rPr lang="en-US" altLang="zh-CN" sz="2400" b="1" dirty="0" err="1" smtClean="0"/>
              <a:t>DataBase</a:t>
            </a:r>
            <a:r>
              <a:rPr lang="en-US" altLang="zh-CN" sz="2400" b="1" dirty="0" smtClean="0"/>
              <a:t> Security</a:t>
            </a:r>
            <a:r>
              <a:rPr lang="zh-CN" altLang="en-US" sz="2400" b="1" dirty="0" smtClean="0"/>
              <a:t>）是指采取各种安全措施对数据库及其相关文件和数据进行保护。</a:t>
            </a:r>
            <a:endParaRPr lang="en-US" altLang="zh-CN" sz="2400" b="1" dirty="0" smtClean="0"/>
          </a:p>
          <a:p>
            <a:pPr marL="0" lvl="1" indent="0">
              <a:lnSpc>
                <a:spcPct val="95000"/>
              </a:lnSpc>
              <a:buClrTx/>
              <a:buFont typeface="Wingdings" panose="05000000000000000000" pitchFamily="2" charset="2"/>
              <a:buNone/>
              <a:defRPr/>
            </a:pPr>
            <a:r>
              <a:rPr lang="zh-CN" altLang="en-US" sz="2400" b="1" dirty="0" smtClean="0"/>
              <a:t>    </a:t>
            </a:r>
            <a:r>
              <a:rPr lang="zh-CN" altLang="en-US" sz="2400" b="1" dirty="0" smtClean="0">
                <a:solidFill>
                  <a:srgbClr val="FF0000"/>
                </a:solidFill>
              </a:rPr>
              <a:t>数据库系统安全</a:t>
            </a:r>
            <a:r>
              <a:rPr lang="zh-CN" altLang="en-US" sz="2400" b="1" dirty="0" smtClean="0"/>
              <a:t>（</a:t>
            </a:r>
            <a:r>
              <a:rPr lang="en-US" altLang="zh-CN" sz="2400" b="1" dirty="0" err="1" smtClean="0"/>
              <a:t>DataBase</a:t>
            </a:r>
            <a:r>
              <a:rPr lang="en-US" altLang="zh-CN" sz="2400" b="1" dirty="0" smtClean="0"/>
              <a:t> System Security</a:t>
            </a:r>
            <a:r>
              <a:rPr lang="zh-CN" altLang="en-US" sz="2400" b="1" dirty="0" smtClean="0"/>
              <a:t>）是</a:t>
            </a:r>
            <a:r>
              <a:rPr lang="zh-CN" altLang="en-US" sz="2400" b="1" dirty="0" smtClean="0"/>
              <a:t>指为</a:t>
            </a:r>
            <a:r>
              <a:rPr lang="zh-CN" altLang="en-US" sz="2400" b="1" dirty="0" smtClean="0"/>
              <a:t>数据库系统采取的安全保护措施，防止系统软件和</a:t>
            </a:r>
            <a:r>
              <a:rPr lang="zh-CN" altLang="en-US" sz="2400" b="1" dirty="0" smtClean="0"/>
              <a:t>其中数据</a:t>
            </a:r>
            <a:r>
              <a:rPr lang="zh-CN" altLang="en-US" sz="2400" b="1" dirty="0" smtClean="0"/>
              <a:t>不遭到破坏、更改和泄漏。</a:t>
            </a:r>
            <a:endParaRPr lang="zh-CN" altLang="en-US" sz="2400" b="1" dirty="0" smtClean="0"/>
          </a:p>
          <a:p>
            <a:pPr marL="0" lvl="1" indent="0">
              <a:lnSpc>
                <a:spcPct val="95000"/>
              </a:lnSpc>
              <a:buClrTx/>
              <a:buFont typeface="Wingdings" panose="05000000000000000000" pitchFamily="2" charset="2"/>
              <a:buNone/>
              <a:defRPr/>
            </a:pPr>
            <a:r>
              <a:rPr lang="zh-CN" altLang="en-US" sz="2400" b="1" dirty="0" smtClean="0">
                <a:solidFill>
                  <a:srgbClr val="FF0000"/>
                </a:solidFill>
              </a:rPr>
              <a:t>    注意</a:t>
            </a:r>
            <a:r>
              <a:rPr lang="zh-CN" altLang="en-US" sz="2400" b="1" dirty="0" smtClean="0"/>
              <a:t>：</a:t>
            </a:r>
            <a:r>
              <a:rPr lang="zh-CN" altLang="en-US" sz="2000" b="1" dirty="0" smtClean="0">
                <a:latin typeface="楷体" panose="02010609060101010101" charset="-122"/>
                <a:ea typeface="楷体" panose="02010609060101010101" charset="-122"/>
              </a:rPr>
              <a:t>数据库安全的</a:t>
            </a:r>
            <a:r>
              <a:rPr lang="zh-CN" altLang="en-US" sz="2000" b="1" dirty="0" smtClean="0">
                <a:solidFill>
                  <a:srgbClr val="FF0000"/>
                </a:solidFill>
                <a:latin typeface="楷体" panose="02010609060101010101" charset="-122"/>
                <a:ea typeface="楷体" panose="02010609060101010101" charset="-122"/>
              </a:rPr>
              <a:t>核心和关键</a:t>
            </a:r>
            <a:r>
              <a:rPr lang="zh-CN" altLang="en-US" sz="2000" b="1" dirty="0" smtClean="0">
                <a:latin typeface="楷体" panose="02010609060101010101" charset="-122"/>
                <a:ea typeface="楷体" panose="02010609060101010101" charset="-122"/>
              </a:rPr>
              <a:t>是其数据安全。由于数据库存储着大量的重要机密数据信息和文件等资源，而且在数据库系统中大量数据集中存放，供多用户共享，因此，必须加强对数据库访问及使用的管理控制和数据安全防护。</a:t>
            </a:r>
            <a:endParaRPr lang="zh-CN" altLang="en-US" sz="2000" b="1" dirty="0" smtClean="0">
              <a:latin typeface="楷体" panose="02010609060101010101" charset="-122"/>
              <a:ea typeface="楷体" panose="02010609060101010101" charset="-122"/>
            </a:endParaRPr>
          </a:p>
          <a:p>
            <a:pPr lvl="1">
              <a:lnSpc>
                <a:spcPct val="95000"/>
              </a:lnSpc>
              <a:buClrTx/>
              <a:buFont typeface="Wingdings" panose="05000000000000000000" pitchFamily="2" charset="2"/>
              <a:buNone/>
              <a:defRPr/>
            </a:pPr>
            <a:endParaRPr lang="zh-CN" altLang="en-US" sz="2000" b="1" dirty="0" smtClean="0">
              <a:latin typeface="楷体" panose="02010609060101010101" charset="-122"/>
              <a:ea typeface="楷体" panose="02010609060101010101" charset="-122"/>
            </a:endParaRPr>
          </a:p>
        </p:txBody>
      </p:sp>
      <p:sp>
        <p:nvSpPr>
          <p:cNvPr id="70665" name="Rectangle 2"/>
          <p:cNvSpPr txBox="1">
            <a:spLocks noChangeArrowheads="1"/>
          </p:cNvSpPr>
          <p:nvPr/>
        </p:nvSpPr>
        <p:spPr bwMode="white">
          <a:xfrm>
            <a:off x="1881188" y="193675"/>
            <a:ext cx="51816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sz="3200" dirty="0" smtClean="0">
                <a:solidFill>
                  <a:schemeClr val="bg1"/>
                </a:solidFill>
                <a:latin typeface="Verdana" panose="020B0604030504040204" pitchFamily="34" charset="0"/>
              </a:rPr>
              <a:t>10.1 数据库系统安全基础</a:t>
            </a:r>
            <a:endParaRPr sz="3200" dirty="0" smtClean="0">
              <a:solidFill>
                <a:schemeClr val="bg1"/>
              </a:solidFill>
              <a:latin typeface="Verdana" panose="020B060403050404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内容占位符 13"/>
          <p:cNvSpPr>
            <a:spLocks noGrp="1" noChangeArrowheads="1"/>
          </p:cNvSpPr>
          <p:nvPr>
            <p:ph idx="4294967295"/>
          </p:nvPr>
        </p:nvSpPr>
        <p:spPr>
          <a:xfrm>
            <a:off x="923925" y="1196975"/>
            <a:ext cx="8040688" cy="1008063"/>
          </a:xfrm>
        </p:spPr>
        <p:txBody>
          <a:bodyPr/>
          <a:lstStyle/>
          <a:p>
            <a:pPr>
              <a:buFont typeface="Wingdings" panose="05000000000000000000" pitchFamily="2" charset="2"/>
              <a:buNone/>
            </a:pPr>
            <a:r>
              <a:rPr lang="zh-CN" altLang="zh-CN" sz="2400" smtClean="0">
                <a:solidFill>
                  <a:srgbClr val="CC0000"/>
                </a:solidFill>
              </a:rPr>
              <a:t>2．数据库安全的内涵</a:t>
            </a:r>
            <a:r>
              <a:rPr lang="zh-CN" altLang="en-US" sz="2400" smtClean="0"/>
              <a:t> </a:t>
            </a:r>
            <a:endParaRPr lang="en-US" altLang="zh-CN" sz="1800" smtClean="0"/>
          </a:p>
        </p:txBody>
      </p:sp>
      <p:sp>
        <p:nvSpPr>
          <p:cNvPr id="19" name="圆角矩形 18"/>
          <p:cNvSpPr/>
          <p:nvPr/>
        </p:nvSpPr>
        <p:spPr bwMode="gray">
          <a:xfrm>
            <a:off x="539750" y="1766888"/>
            <a:ext cx="8280400" cy="4033837"/>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spcBef>
                <a:spcPct val="20000"/>
              </a:spcBef>
              <a:buFont typeface="Wingdings" panose="05000000000000000000" pitchFamily="2" charset="2"/>
              <a:buNone/>
              <a:defRPr/>
            </a:pPr>
            <a:endParaRPr lang="en-US" altLang="zh-CN">
              <a:solidFill>
                <a:schemeClr val="tx1"/>
              </a:solidFill>
              <a:latin typeface="Arial" panose="020B0604020202020204" pitchFamily="34" charset="0"/>
            </a:endParaRPr>
          </a:p>
        </p:txBody>
      </p:sp>
      <p:sp>
        <p:nvSpPr>
          <p:cNvPr id="13315" name="内容占位符 13"/>
          <p:cNvSpPr>
            <a:spLocks noChangeArrowheads="1"/>
          </p:cNvSpPr>
          <p:nvPr/>
        </p:nvSpPr>
        <p:spPr bwMode="auto">
          <a:xfrm>
            <a:off x="395288" y="1196975"/>
            <a:ext cx="8153400" cy="86360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endParaRPr lang="zh-CN" altLang="en-US" sz="2600">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buFont typeface="Wingdings" panose="05000000000000000000" pitchFamily="2" charset="2"/>
              <a:buNone/>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chemeClr val="tx2"/>
              </a:solidFill>
              <a:latin typeface="宋体" panose="02010600030101010101" pitchFamily="2" charset="-122"/>
            </a:endParaRPr>
          </a:p>
        </p:txBody>
      </p:sp>
      <p:sp>
        <p:nvSpPr>
          <p:cNvPr id="11270" name="内容占位符 13"/>
          <p:cNvSpPr/>
          <p:nvPr/>
        </p:nvSpPr>
        <p:spPr bwMode="auto">
          <a:xfrm>
            <a:off x="822325" y="1766888"/>
            <a:ext cx="7858125" cy="332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a:lnSpc>
                <a:spcPct val="95000"/>
              </a:lnSpc>
              <a:spcBef>
                <a:spcPct val="20000"/>
              </a:spcBef>
            </a:pPr>
            <a:r>
              <a:rPr lang="en-US" altLang="zh-CN" sz="2000" b="1" dirty="0">
                <a:solidFill>
                  <a:srgbClr val="FF0000"/>
                </a:solidFill>
                <a:latin typeface="宋体" panose="02010600030101010101" pitchFamily="2" charset="-122"/>
              </a:rPr>
              <a:t> </a:t>
            </a:r>
            <a:r>
              <a:rPr lang="en-US" altLang="zh-CN" sz="2000" b="1" dirty="0" smtClean="0">
                <a:solidFill>
                  <a:srgbClr val="FF0000"/>
                </a:solidFill>
                <a:latin typeface="宋体" panose="02010600030101010101" pitchFamily="2" charset="-122"/>
              </a:rPr>
              <a:t>   </a:t>
            </a:r>
            <a:r>
              <a:rPr lang="zh-CN" sz="2000" b="1" dirty="0" smtClean="0">
                <a:solidFill>
                  <a:schemeClr val="tx2"/>
                </a:solidFill>
                <a:latin typeface="宋体" panose="02010600030101010101" pitchFamily="2" charset="-122"/>
              </a:rPr>
              <a:t>从</a:t>
            </a:r>
            <a:r>
              <a:rPr lang="zh-CN" sz="2000" b="1" dirty="0">
                <a:solidFill>
                  <a:schemeClr val="tx2"/>
                </a:solidFill>
                <a:latin typeface="宋体" panose="02010600030101010101" pitchFamily="2" charset="-122"/>
              </a:rPr>
              <a:t>系统与数据关系上</a:t>
            </a:r>
            <a:r>
              <a:rPr lang="en-US" altLang="zh-CN" sz="2000" b="1" dirty="0">
                <a:solidFill>
                  <a:schemeClr val="tx2"/>
                </a:solidFill>
                <a:latin typeface="宋体" panose="02010600030101010101" pitchFamily="2" charset="-122"/>
              </a:rPr>
              <a:t>,</a:t>
            </a:r>
            <a:r>
              <a:rPr lang="zh-CN" sz="2000" b="1" dirty="0">
                <a:solidFill>
                  <a:schemeClr val="tx2"/>
                </a:solidFill>
                <a:latin typeface="宋体" panose="02010600030101010101" pitchFamily="2" charset="-122"/>
              </a:rPr>
              <a:t>常将数据库安全分为数据库系统安全和数据安全。</a:t>
            </a:r>
            <a:endParaRPr lang="zh-CN" sz="2000" b="1" dirty="0">
              <a:solidFill>
                <a:schemeClr val="tx2"/>
              </a:solidFill>
              <a:latin typeface="宋体" panose="02010600030101010101" pitchFamily="2" charset="-122"/>
            </a:endParaRPr>
          </a:p>
          <a:p>
            <a:pPr marL="0" lvl="1">
              <a:lnSpc>
                <a:spcPct val="95000"/>
              </a:lnSpc>
              <a:spcBef>
                <a:spcPct val="20000"/>
              </a:spcBef>
            </a:pPr>
            <a:r>
              <a:rPr lang="zh-CN" sz="2000" b="1" dirty="0">
                <a:solidFill>
                  <a:srgbClr val="FF0000"/>
                </a:solidFill>
                <a:latin typeface="宋体" panose="02010600030101010101" pitchFamily="2" charset="-122"/>
              </a:rPr>
              <a:t>数据库系统安全</a:t>
            </a:r>
            <a:r>
              <a:rPr lang="zh-CN" sz="2000" b="1" dirty="0">
                <a:solidFill>
                  <a:schemeClr val="tx2"/>
                </a:solidFill>
                <a:latin typeface="宋体" panose="02010600030101010101" pitchFamily="2" charset="-122"/>
              </a:rPr>
              <a:t>是在</a:t>
            </a:r>
            <a:r>
              <a:rPr lang="zh-CN" sz="2000" b="1" dirty="0">
                <a:solidFill>
                  <a:srgbClr val="C00000"/>
                </a:solidFill>
                <a:latin typeface="宋体" panose="02010600030101010101" pitchFamily="2" charset="-122"/>
              </a:rPr>
              <a:t>系统级</a:t>
            </a:r>
            <a:r>
              <a:rPr lang="zh-CN" sz="2000" b="1" dirty="0">
                <a:solidFill>
                  <a:schemeClr val="tx2"/>
                </a:solidFill>
                <a:latin typeface="宋体" panose="02010600030101010101" pitchFamily="2" charset="-122"/>
              </a:rPr>
              <a:t>控制数据库的存取和使用的机制，包括：</a:t>
            </a:r>
            <a:endParaRPr lang="zh-CN" sz="2000" b="1" dirty="0">
              <a:solidFill>
                <a:schemeClr val="tx2"/>
              </a:solidFill>
              <a:latin typeface="宋体" panose="02010600030101010101" pitchFamily="2" charset="-122"/>
            </a:endParaRPr>
          </a:p>
          <a:p>
            <a:pPr marL="0" lvl="1">
              <a:lnSpc>
                <a:spcPct val="95000"/>
              </a:lnSpc>
              <a:spcBef>
                <a:spcPct val="20000"/>
              </a:spcBef>
            </a:pPr>
            <a:r>
              <a:rPr lang="zh-CN" sz="1800" b="1" dirty="0">
                <a:solidFill>
                  <a:schemeClr val="tx2"/>
                </a:solidFill>
                <a:latin typeface="宋体" panose="02010600030101010101" pitchFamily="2" charset="-122"/>
              </a:rPr>
              <a:t>1) 数据库系统的安全管理及设置，包括法律法规、政策制度、实体安全等。</a:t>
            </a:r>
            <a:endParaRPr lang="zh-CN" sz="1800" b="1" dirty="0">
              <a:solidFill>
                <a:schemeClr val="tx2"/>
              </a:solidFill>
              <a:latin typeface="宋体" panose="02010600030101010101" pitchFamily="2" charset="-122"/>
            </a:endParaRPr>
          </a:p>
          <a:p>
            <a:pPr marL="0" lvl="1">
              <a:lnSpc>
                <a:spcPct val="95000"/>
              </a:lnSpc>
              <a:spcBef>
                <a:spcPct val="20000"/>
              </a:spcBef>
            </a:pPr>
            <a:r>
              <a:rPr lang="zh-CN" sz="1800" b="1" dirty="0">
                <a:solidFill>
                  <a:schemeClr val="tx2"/>
                </a:solidFill>
                <a:latin typeface="宋体" panose="02010600030101010101" pitchFamily="2" charset="-122"/>
              </a:rPr>
              <a:t>2) 通过网络对各种业务数据库的身份认证、访问控制和权限管理等。</a:t>
            </a:r>
            <a:endParaRPr lang="zh-CN" sz="1800" b="1" dirty="0">
              <a:solidFill>
                <a:schemeClr val="tx2"/>
              </a:solidFill>
              <a:latin typeface="宋体" panose="02010600030101010101" pitchFamily="2" charset="-122"/>
            </a:endParaRPr>
          </a:p>
          <a:p>
            <a:pPr marL="0" lvl="1">
              <a:lnSpc>
                <a:spcPct val="95000"/>
              </a:lnSpc>
              <a:spcBef>
                <a:spcPct val="20000"/>
              </a:spcBef>
            </a:pPr>
            <a:r>
              <a:rPr lang="zh-CN" sz="1800" b="1" dirty="0">
                <a:solidFill>
                  <a:schemeClr val="tx2"/>
                </a:solidFill>
                <a:latin typeface="宋体" panose="02010600030101010101" pitchFamily="2" charset="-122"/>
              </a:rPr>
              <a:t>3) 机构和个人用户的资源限制，包括访问、使用、存取、维护与管理等。 </a:t>
            </a:r>
            <a:endParaRPr lang="zh-CN" sz="1800" b="1" dirty="0">
              <a:solidFill>
                <a:schemeClr val="tx2"/>
              </a:solidFill>
              <a:latin typeface="宋体" panose="02010600030101010101" pitchFamily="2" charset="-122"/>
            </a:endParaRPr>
          </a:p>
          <a:p>
            <a:pPr marL="0" lvl="1">
              <a:lnSpc>
                <a:spcPct val="95000"/>
              </a:lnSpc>
              <a:spcBef>
                <a:spcPct val="20000"/>
              </a:spcBef>
            </a:pPr>
            <a:r>
              <a:rPr lang="zh-CN" sz="1800" b="1" dirty="0">
                <a:solidFill>
                  <a:schemeClr val="tx2"/>
                </a:solidFill>
                <a:latin typeface="宋体" panose="02010600030101010101" pitchFamily="2" charset="-122"/>
              </a:rPr>
              <a:t>4) 系统运行安全及用户可执行的系统操作。</a:t>
            </a:r>
            <a:endParaRPr lang="zh-CN" sz="1800" b="1" dirty="0">
              <a:solidFill>
                <a:schemeClr val="tx2"/>
              </a:solidFill>
              <a:latin typeface="宋体" panose="02010600030101010101" pitchFamily="2" charset="-122"/>
            </a:endParaRPr>
          </a:p>
          <a:p>
            <a:pPr marL="0" lvl="1">
              <a:lnSpc>
                <a:spcPct val="95000"/>
              </a:lnSpc>
              <a:spcBef>
                <a:spcPct val="20000"/>
              </a:spcBef>
            </a:pPr>
            <a:r>
              <a:rPr lang="zh-CN" sz="1800" b="1" dirty="0">
                <a:solidFill>
                  <a:schemeClr val="tx2"/>
                </a:solidFill>
                <a:latin typeface="宋体" panose="02010600030101010101" pitchFamily="2" charset="-122"/>
              </a:rPr>
              <a:t>5) 企事业网络数据库系统审计管理及有效性。</a:t>
            </a:r>
            <a:endParaRPr lang="zh-CN" sz="1800" b="1" dirty="0">
              <a:solidFill>
                <a:schemeClr val="tx2"/>
              </a:solidFill>
              <a:latin typeface="宋体" panose="02010600030101010101" pitchFamily="2" charset="-122"/>
            </a:endParaRPr>
          </a:p>
          <a:p>
            <a:pPr marL="0" lvl="1">
              <a:lnSpc>
                <a:spcPct val="95000"/>
              </a:lnSpc>
              <a:spcBef>
                <a:spcPct val="20000"/>
              </a:spcBef>
            </a:pPr>
            <a:r>
              <a:rPr lang="zh-CN" sz="1800" b="1" dirty="0">
                <a:solidFill>
                  <a:schemeClr val="tx2"/>
                </a:solidFill>
                <a:latin typeface="宋体" panose="02010600030101010101" pitchFamily="2" charset="-122"/>
              </a:rPr>
              <a:t>6) 机构和个人用户对象可用的资源和存储空间安全等。</a:t>
            </a:r>
            <a:endParaRPr lang="zh-CN" sz="2000" b="1" dirty="0">
              <a:solidFill>
                <a:schemeClr val="tx2"/>
              </a:solidFill>
              <a:latin typeface="宋体" panose="02010600030101010101" pitchFamily="2" charset="-122"/>
            </a:endParaRPr>
          </a:p>
          <a:p>
            <a:pPr marL="0" lvl="1">
              <a:lnSpc>
                <a:spcPct val="95000"/>
              </a:lnSpc>
              <a:spcBef>
                <a:spcPct val="20000"/>
              </a:spcBef>
            </a:pPr>
            <a:r>
              <a:rPr lang="zh-CN" sz="2000" b="1" dirty="0">
                <a:solidFill>
                  <a:srgbClr val="FF0000"/>
                </a:solidFill>
                <a:latin typeface="宋体" panose="02010600030101010101" pitchFamily="2" charset="-122"/>
              </a:rPr>
              <a:t>数据安全</a:t>
            </a:r>
            <a:r>
              <a:rPr lang="zh-CN" sz="2000" b="1" dirty="0">
                <a:solidFill>
                  <a:schemeClr val="tx2"/>
                </a:solidFill>
                <a:latin typeface="宋体" panose="02010600030101010101" pitchFamily="2" charset="-122"/>
              </a:rPr>
              <a:t>是在</a:t>
            </a:r>
            <a:r>
              <a:rPr lang="zh-CN" sz="2000" b="1" dirty="0">
                <a:solidFill>
                  <a:srgbClr val="C00000"/>
                </a:solidFill>
                <a:latin typeface="宋体" panose="02010600030101010101" pitchFamily="2" charset="-122"/>
              </a:rPr>
              <a:t>对象级</a:t>
            </a:r>
            <a:r>
              <a:rPr lang="zh-CN" sz="2000" b="1" dirty="0">
                <a:solidFill>
                  <a:schemeClr val="tx2"/>
                </a:solidFill>
                <a:latin typeface="宋体" panose="02010600030101010101" pitchFamily="2" charset="-122"/>
              </a:rPr>
              <a:t>控制数据库的访问、存取、加密、使用、应急处理和审计等机制，包括用户可存取指定对象和在对象上允许具体操作类型等</a:t>
            </a:r>
            <a:r>
              <a:rPr lang="zh-CN" altLang="zh-CN" sz="2000" b="1" dirty="0">
                <a:solidFill>
                  <a:schemeClr val="tx2"/>
                </a:solidFill>
                <a:latin typeface="宋体" panose="02010600030101010101" pitchFamily="2" charset="-122"/>
              </a:rPr>
              <a:t>。</a:t>
            </a:r>
            <a:endParaRPr lang="zh-CN" dirty="0">
              <a:solidFill>
                <a:schemeClr val="tx2"/>
              </a:solidFill>
              <a:latin typeface="宋体" panose="02010600030101010101" pitchFamily="2" charset="-122"/>
            </a:endParaRPr>
          </a:p>
          <a:p>
            <a:pPr marL="0" lvl="1">
              <a:lnSpc>
                <a:spcPct val="95000"/>
              </a:lnSpc>
              <a:spcBef>
                <a:spcPct val="20000"/>
              </a:spcBef>
            </a:pPr>
            <a:endParaRPr lang="zh-CN" altLang="en-US" sz="2000" b="1" dirty="0">
              <a:solidFill>
                <a:schemeClr val="tx2"/>
              </a:solidFill>
              <a:latin typeface="楷体" panose="02010609060101010101" charset="-122"/>
              <a:ea typeface="楷体" panose="02010609060101010101" charset="-122"/>
            </a:endParaRPr>
          </a:p>
        </p:txBody>
      </p:sp>
      <p:sp>
        <p:nvSpPr>
          <p:cNvPr id="70665" name="Rectangle 2"/>
          <p:cNvSpPr txBox="1">
            <a:spLocks noChangeArrowheads="1"/>
          </p:cNvSpPr>
          <p:nvPr/>
        </p:nvSpPr>
        <p:spPr bwMode="white">
          <a:xfrm>
            <a:off x="1881188" y="193675"/>
            <a:ext cx="51816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sz="3200" dirty="0" smtClean="0">
                <a:solidFill>
                  <a:schemeClr val="bg1"/>
                </a:solidFill>
                <a:latin typeface="Verdana" panose="020B0604030504040204" pitchFamily="34" charset="0"/>
              </a:rPr>
              <a:t>10.1 数据库系统安全基础</a:t>
            </a:r>
            <a:endParaRPr sz="3200" dirty="0" smtClean="0">
              <a:solidFill>
                <a:schemeClr val="bg1"/>
              </a:solidFill>
              <a:latin typeface="Verdana" panose="020B060403050404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内容占位符 13"/>
          <p:cNvSpPr>
            <a:spLocks noGrp="1" noChangeArrowheads="1"/>
          </p:cNvSpPr>
          <p:nvPr>
            <p:ph idx="4294967295"/>
          </p:nvPr>
        </p:nvSpPr>
        <p:spPr>
          <a:xfrm>
            <a:off x="923925" y="1196975"/>
            <a:ext cx="8040688" cy="1008063"/>
          </a:xfrm>
        </p:spPr>
        <p:txBody>
          <a:bodyPr/>
          <a:lstStyle/>
          <a:p>
            <a:pPr>
              <a:buFont typeface="Wingdings" panose="05000000000000000000" pitchFamily="2" charset="2"/>
              <a:buNone/>
            </a:pPr>
            <a:r>
              <a:rPr lang="zh-CN" altLang="zh-CN" sz="2400" smtClean="0">
                <a:solidFill>
                  <a:srgbClr val="CC0000"/>
                </a:solidFill>
              </a:rPr>
              <a:t>3．数据库安全的主要目标</a:t>
            </a:r>
            <a:r>
              <a:rPr lang="zh-CN" altLang="en-US" sz="2400" smtClean="0"/>
              <a:t> </a:t>
            </a:r>
            <a:endParaRPr lang="en-US" altLang="zh-CN" sz="1800" smtClean="0"/>
          </a:p>
        </p:txBody>
      </p:sp>
      <p:sp>
        <p:nvSpPr>
          <p:cNvPr id="19" name="圆角矩形 18"/>
          <p:cNvSpPr/>
          <p:nvPr/>
        </p:nvSpPr>
        <p:spPr bwMode="gray">
          <a:xfrm>
            <a:off x="539750" y="1766888"/>
            <a:ext cx="8280400" cy="4351337"/>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spcBef>
                <a:spcPct val="20000"/>
              </a:spcBef>
              <a:buFont typeface="Wingdings" panose="05000000000000000000" pitchFamily="2" charset="2"/>
              <a:buNone/>
              <a:defRPr/>
            </a:pPr>
            <a:endParaRPr lang="en-US" altLang="zh-CN">
              <a:solidFill>
                <a:schemeClr val="tx1"/>
              </a:solidFill>
              <a:latin typeface="Arial" panose="020B0604020202020204" pitchFamily="34" charset="0"/>
            </a:endParaRPr>
          </a:p>
        </p:txBody>
      </p:sp>
      <p:sp>
        <p:nvSpPr>
          <p:cNvPr id="14339" name="内容占位符 13"/>
          <p:cNvSpPr>
            <a:spLocks noChangeArrowheads="1"/>
          </p:cNvSpPr>
          <p:nvPr/>
        </p:nvSpPr>
        <p:spPr bwMode="auto">
          <a:xfrm>
            <a:off x="395288" y="1196975"/>
            <a:ext cx="8153400" cy="86360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endParaRPr lang="zh-CN" altLang="en-US" sz="2600">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buFont typeface="Wingdings" panose="05000000000000000000" pitchFamily="2" charset="2"/>
              <a:buNone/>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chemeClr val="tx2"/>
              </a:solidFill>
              <a:latin typeface="宋体" panose="02010600030101010101" pitchFamily="2" charset="-122"/>
            </a:endParaRPr>
          </a:p>
        </p:txBody>
      </p:sp>
      <p:sp>
        <p:nvSpPr>
          <p:cNvPr id="11270" name="内容占位符 13"/>
          <p:cNvSpPr/>
          <p:nvPr/>
        </p:nvSpPr>
        <p:spPr bwMode="auto">
          <a:xfrm>
            <a:off x="822325" y="1766888"/>
            <a:ext cx="7858125" cy="332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Font typeface="Wingdings" panose="05000000000000000000" pitchFamily="2" charset="2"/>
              <a:buChar char="n"/>
              <a:defRPr sz="2200" b="1">
                <a:solidFill>
                  <a:schemeClr val="tx2"/>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n"/>
              <a:defRPr sz="2200">
                <a:solidFill>
                  <a:schemeClr val="tx2"/>
                </a:solidFill>
                <a:latin typeface="宋体" panose="02010600030101010101" pitchFamily="2" charset="-122"/>
                <a:ea typeface="宋体" panose="02010600030101010101" pitchFamily="2" charset="-122"/>
              </a:defRPr>
            </a:lvl3pPr>
            <a:lvl4pPr marL="1600200" indent="-228600">
              <a:spcBef>
                <a:spcPct val="20000"/>
              </a:spcBef>
              <a:defRPr sz="1600">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宋体" panose="02010600030101010101" pitchFamily="2" charset="-122"/>
                <a:ea typeface="宋体" panose="02010600030101010101" pitchFamily="2" charset="-122"/>
              </a:defRPr>
            </a:lvl9pPr>
          </a:lstStyle>
          <a:p>
            <a:pPr marL="0" lvl="1" indent="518795">
              <a:lnSpc>
                <a:spcPct val="95000"/>
              </a:lnSpc>
              <a:buClrTx/>
              <a:buFont typeface="Wingdings" panose="05000000000000000000" pitchFamily="2" charset="2"/>
              <a:buNone/>
              <a:defRPr/>
            </a:pPr>
            <a:r>
              <a:rPr sz="2000" b="1" dirty="0" smtClean="0">
                <a:solidFill>
                  <a:srgbClr val="FF0000"/>
                </a:solidFill>
              </a:rPr>
              <a:t>数据库安全主要目标</a:t>
            </a:r>
            <a:r>
              <a:rPr sz="2000" b="1" dirty="0" smtClean="0"/>
              <a:t>是对于数据库系统及数据的保密性、完整性（物理完整性、逻辑完整性和元素完整性）、可用性、可控性、可审查性得到安全保护。数据库安全的</a:t>
            </a:r>
            <a:r>
              <a:rPr sz="2000" b="1" dirty="0" smtClean="0">
                <a:solidFill>
                  <a:srgbClr val="FF0000"/>
                </a:solidFill>
              </a:rPr>
              <a:t>核心和关键</a:t>
            </a:r>
            <a:r>
              <a:rPr sz="2000" b="1" dirty="0" smtClean="0"/>
              <a:t>是数据安全。网络安全的</a:t>
            </a:r>
            <a:r>
              <a:rPr sz="2000" b="1" dirty="0" smtClean="0">
                <a:solidFill>
                  <a:srgbClr val="FF0000"/>
                </a:solidFill>
              </a:rPr>
              <a:t>最终目标</a:t>
            </a:r>
            <a:r>
              <a:rPr sz="2000" b="1" dirty="0" smtClean="0"/>
              <a:t>是实现网络数据库系统和数据（信息）安全的保密性、完整性、可用性、可靠性和可审查性（重要属性特征），其中保密性、完整性、可用性也是数据（信息）安全的最基本要求，也是数据库的安全的基本目标。</a:t>
            </a:r>
            <a:endParaRPr sz="2000" b="1" dirty="0" smtClean="0"/>
          </a:p>
          <a:p>
            <a:pPr marL="0" lvl="1" indent="518795">
              <a:lnSpc>
                <a:spcPct val="95000"/>
              </a:lnSpc>
              <a:buClrTx/>
              <a:buFont typeface="Wingdings" panose="05000000000000000000" pitchFamily="2" charset="2"/>
              <a:buNone/>
              <a:defRPr/>
            </a:pPr>
            <a:r>
              <a:rPr sz="2000" b="1" dirty="0" smtClean="0">
                <a:solidFill>
                  <a:srgbClr val="FF0000"/>
                </a:solidFill>
              </a:rPr>
              <a:t>数据库和数据的完整性</a:t>
            </a:r>
            <a:r>
              <a:rPr sz="2000" b="1" dirty="0" smtClean="0"/>
              <a:t>，主要包括：</a:t>
            </a:r>
            <a:endParaRPr sz="2000" b="1" dirty="0" smtClean="0"/>
          </a:p>
          <a:p>
            <a:pPr marL="0" lvl="1" indent="518795">
              <a:lnSpc>
                <a:spcPct val="95000"/>
              </a:lnSpc>
              <a:buClrTx/>
              <a:buFont typeface="Wingdings" panose="05000000000000000000" pitchFamily="2" charset="2"/>
              <a:buNone/>
              <a:defRPr/>
            </a:pPr>
            <a:r>
              <a:rPr sz="2000" b="1" dirty="0" smtClean="0"/>
              <a:t>1）</a:t>
            </a:r>
            <a:r>
              <a:rPr sz="2000" b="1" dirty="0" smtClean="0">
                <a:solidFill>
                  <a:srgbClr val="C00000"/>
                </a:solidFill>
              </a:rPr>
              <a:t>物理完整性</a:t>
            </a:r>
            <a:r>
              <a:rPr sz="2000" b="1" dirty="0" smtClean="0"/>
              <a:t>要求从网络和系统设备设施软硬件或运行环境方面，保护数据库系统及数据的安全，防止数据被破坏、</a:t>
            </a:r>
            <a:r>
              <a:rPr sz="2000" b="1" dirty="0" smtClean="0"/>
              <a:t>泄密或不可用</a:t>
            </a:r>
            <a:endParaRPr sz="2000" b="1" dirty="0" smtClean="0"/>
          </a:p>
          <a:p>
            <a:pPr marL="0" lvl="1" indent="518795">
              <a:lnSpc>
                <a:spcPct val="95000"/>
              </a:lnSpc>
              <a:buClrTx/>
              <a:buFont typeface="Wingdings" panose="05000000000000000000" pitchFamily="2" charset="2"/>
              <a:buNone/>
              <a:defRPr/>
            </a:pPr>
            <a:r>
              <a:rPr sz="2000" b="1" dirty="0" smtClean="0"/>
              <a:t>2）</a:t>
            </a:r>
            <a:r>
              <a:rPr sz="2000" b="1" dirty="0" smtClean="0">
                <a:solidFill>
                  <a:srgbClr val="C00000"/>
                </a:solidFill>
              </a:rPr>
              <a:t>逻辑完整性</a:t>
            </a:r>
            <a:r>
              <a:rPr sz="2000" b="1" dirty="0" smtClean="0"/>
              <a:t>要求保持数据库逻辑结构和数据处理的完整性3）元素完整性是指保持数据元素（数据字段、数据项）内容的正确性与准确性</a:t>
            </a:r>
            <a:r>
              <a:rPr sz="2400" dirty="0" smtClean="0"/>
              <a:t>。</a:t>
            </a:r>
            <a:endParaRPr sz="2400" dirty="0" smtClean="0"/>
          </a:p>
          <a:p>
            <a:pPr lvl="1">
              <a:lnSpc>
                <a:spcPct val="95000"/>
              </a:lnSpc>
              <a:buClrTx/>
              <a:buFont typeface="Wingdings" panose="05000000000000000000" pitchFamily="2" charset="2"/>
              <a:buNone/>
              <a:defRPr/>
            </a:pPr>
            <a:endParaRPr lang="zh-CN" altLang="en-US" sz="2000" b="1" dirty="0" smtClean="0">
              <a:latin typeface="楷体" panose="02010609060101010101" charset="-122"/>
              <a:ea typeface="楷体" panose="02010609060101010101" charset="-122"/>
            </a:endParaRPr>
          </a:p>
        </p:txBody>
      </p:sp>
      <p:sp>
        <p:nvSpPr>
          <p:cNvPr id="70665" name="Rectangle 2"/>
          <p:cNvSpPr txBox="1">
            <a:spLocks noChangeArrowheads="1"/>
          </p:cNvSpPr>
          <p:nvPr/>
        </p:nvSpPr>
        <p:spPr bwMode="white">
          <a:xfrm>
            <a:off x="1881188" y="193675"/>
            <a:ext cx="5181600" cy="563563"/>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sz="3200" dirty="0" smtClean="0">
                <a:solidFill>
                  <a:schemeClr val="bg1"/>
                </a:solidFill>
                <a:latin typeface="Verdana" panose="020B0604030504040204" pitchFamily="34" charset="0"/>
              </a:rPr>
              <a:t>10.1 数据库系统安全基础</a:t>
            </a:r>
            <a:endParaRPr sz="3200" dirty="0" smtClean="0">
              <a:solidFill>
                <a:schemeClr val="bg1"/>
              </a:solidFill>
              <a:latin typeface="Verdana" panose="020B0604030504040204" pitchFamily="34" charset="0"/>
            </a:endParaRPr>
          </a:p>
        </p:txBody>
      </p:sp>
      <p:pic>
        <p:nvPicPr>
          <p:cNvPr id="14342" name="Picture 7" descr="MC900434609[1]"/>
          <p:cNvPicPr>
            <a:picLocks noChangeAspect="1" noChangeArrowheads="1"/>
          </p:cNvPicPr>
          <p:nvPr/>
        </p:nvPicPr>
        <p:blipFill>
          <a:blip r:embed="rId1" cstate="print"/>
          <a:srcRect/>
          <a:stretch>
            <a:fillRect/>
          </a:stretch>
        </p:blipFill>
        <p:spPr bwMode="auto">
          <a:xfrm>
            <a:off x="5546725" y="5481638"/>
            <a:ext cx="787400" cy="925512"/>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内容占位符 13"/>
          <p:cNvSpPr>
            <a:spLocks noGrp="1" noChangeArrowheads="1"/>
          </p:cNvSpPr>
          <p:nvPr>
            <p:ph idx="4294967295"/>
          </p:nvPr>
        </p:nvSpPr>
        <p:spPr>
          <a:xfrm>
            <a:off x="306388" y="1122363"/>
            <a:ext cx="8042275" cy="1163637"/>
          </a:xfrm>
        </p:spPr>
        <p:txBody>
          <a:bodyPr/>
          <a:lstStyle/>
          <a:p>
            <a:pPr algn="just" eaLnBrk="1" hangingPunct="1">
              <a:buFont typeface="Wingdings" panose="05000000000000000000" pitchFamily="2" charset="2"/>
              <a:buNone/>
            </a:pPr>
            <a:r>
              <a:rPr lang="zh-CN" altLang="zh-CN" sz="2400" smtClean="0">
                <a:solidFill>
                  <a:srgbClr val="CC0000"/>
                </a:solidFill>
              </a:rPr>
              <a:t>10.1.2 数据库系统的安全隐患</a:t>
            </a:r>
            <a:endParaRPr lang="zh-CN" altLang="zh-CN" sz="2400" smtClean="0">
              <a:solidFill>
                <a:srgbClr val="CC0000"/>
              </a:solidFill>
            </a:endParaRPr>
          </a:p>
          <a:p>
            <a:pPr algn="just" eaLnBrk="1" hangingPunct="1">
              <a:buFont typeface="Wingdings" panose="05000000000000000000" pitchFamily="2" charset="2"/>
              <a:buNone/>
            </a:pPr>
            <a:r>
              <a:rPr lang="zh-CN" altLang="zh-CN" sz="2400" smtClean="0">
                <a:solidFill>
                  <a:srgbClr val="CC0000"/>
                </a:solidFill>
              </a:rPr>
              <a:t>   </a:t>
            </a:r>
            <a:r>
              <a:rPr lang="zh-CN" altLang="zh-CN" smtClean="0">
                <a:solidFill>
                  <a:srgbClr val="CC0000"/>
                </a:solidFill>
              </a:rPr>
              <a:t>1. 数据库系统的主要安全问题</a:t>
            </a:r>
            <a:endParaRPr lang="zh-CN" altLang="zh-CN" smtClean="0">
              <a:solidFill>
                <a:srgbClr val="CC0000"/>
              </a:solidFill>
            </a:endParaRPr>
          </a:p>
        </p:txBody>
      </p:sp>
      <p:sp>
        <p:nvSpPr>
          <p:cNvPr id="19" name="圆角矩形 18"/>
          <p:cNvSpPr/>
          <p:nvPr/>
        </p:nvSpPr>
        <p:spPr bwMode="gray">
          <a:xfrm>
            <a:off x="647700" y="3951288"/>
            <a:ext cx="7669213" cy="272732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nSpc>
                <a:spcPct val="90000"/>
              </a:lnSpc>
              <a:spcBef>
                <a:spcPct val="20000"/>
              </a:spcBef>
              <a:buFont typeface="Wingdings" panose="05000000000000000000" pitchFamily="2" charset="2"/>
              <a:buNone/>
              <a:defRPr/>
            </a:pPr>
            <a:r>
              <a:rPr lang="zh-CN" altLang="en-US" sz="2000" b="1" dirty="0">
                <a:solidFill>
                  <a:srgbClr val="990033"/>
                </a:solidFill>
                <a:latin typeface="Arial" panose="020B0604020202020204" pitchFamily="34" charset="0"/>
              </a:rPr>
              <a:t>   数</a:t>
            </a:r>
            <a:r>
              <a:rPr lang="zh-CN" altLang="en-US" sz="2000" b="1" dirty="0">
                <a:solidFill>
                  <a:srgbClr val="CC0000"/>
                </a:solidFill>
                <a:latin typeface="Arial" panose="020B0604020202020204" pitchFamily="34" charset="0"/>
              </a:rPr>
              <a:t>据库系统面临的安全问题</a:t>
            </a:r>
            <a:r>
              <a:rPr lang="zh-CN" altLang="en-US" sz="2000" b="1" dirty="0">
                <a:solidFill>
                  <a:schemeClr val="tx2"/>
                </a:solidFill>
                <a:latin typeface="Arial" panose="020B0604020202020204" pitchFamily="34" charset="0"/>
              </a:rPr>
              <a:t>：</a:t>
            </a:r>
            <a:endParaRPr lang="zh-CN" altLang="en-US" sz="2000" b="1" dirty="0">
              <a:solidFill>
                <a:schemeClr val="tx2"/>
              </a:solidFill>
              <a:latin typeface="Arial" panose="020B0604020202020204" pitchFamily="34" charset="0"/>
            </a:endParaRPr>
          </a:p>
          <a:p>
            <a:pPr>
              <a:lnSpc>
                <a:spcPct val="90000"/>
              </a:lnSpc>
              <a:spcBef>
                <a:spcPct val="20000"/>
              </a:spcBef>
              <a:buFont typeface="Wingdings" panose="05000000000000000000" pitchFamily="2" charset="2"/>
              <a:buNone/>
              <a:defRPr/>
            </a:pPr>
            <a:r>
              <a:rPr lang="zh-CN" altLang="en-US" sz="2000" b="1" dirty="0">
                <a:solidFill>
                  <a:schemeClr val="tx2"/>
                </a:solidFill>
                <a:latin typeface="Arial" panose="020B0604020202020204" pitchFamily="34" charset="0"/>
              </a:rPr>
              <a:t>    （</a:t>
            </a:r>
            <a:r>
              <a:rPr lang="en-US" altLang="zh-CN" sz="2000" b="1" dirty="0">
                <a:solidFill>
                  <a:schemeClr val="tx2"/>
                </a:solidFill>
                <a:latin typeface="Arial" panose="020B0604020202020204" pitchFamily="34" charset="0"/>
              </a:rPr>
              <a:t>1</a:t>
            </a:r>
            <a:r>
              <a:rPr lang="zh-CN" altLang="en-US" sz="2000" b="1" dirty="0">
                <a:solidFill>
                  <a:schemeClr val="tx2"/>
                </a:solidFill>
                <a:latin typeface="Arial" panose="020B0604020202020204" pitchFamily="34" charset="0"/>
              </a:rPr>
              <a:t>）法律法规、社会伦理道德和宣传教育滞后等问题。</a:t>
            </a:r>
            <a:endParaRPr lang="zh-CN" altLang="en-US" sz="2000" b="1" dirty="0">
              <a:solidFill>
                <a:schemeClr val="tx2"/>
              </a:solidFill>
              <a:latin typeface="Arial" panose="020B0604020202020204" pitchFamily="34" charset="0"/>
            </a:endParaRPr>
          </a:p>
          <a:p>
            <a:pPr>
              <a:lnSpc>
                <a:spcPct val="90000"/>
              </a:lnSpc>
              <a:spcBef>
                <a:spcPct val="20000"/>
              </a:spcBef>
              <a:buFont typeface="Wingdings" panose="05000000000000000000" pitchFamily="2" charset="2"/>
              <a:buNone/>
              <a:defRPr/>
            </a:pPr>
            <a:r>
              <a:rPr lang="zh-CN" altLang="en-US" sz="2000" b="1" dirty="0">
                <a:solidFill>
                  <a:schemeClr val="tx2"/>
                </a:solidFill>
                <a:latin typeface="Arial" panose="020B0604020202020204" pitchFamily="34" charset="0"/>
              </a:rPr>
              <a:t>    （</a:t>
            </a:r>
            <a:r>
              <a:rPr lang="en-US" altLang="zh-CN" sz="2000" b="1" dirty="0">
                <a:solidFill>
                  <a:schemeClr val="tx2"/>
                </a:solidFill>
                <a:latin typeface="Arial" panose="020B0604020202020204" pitchFamily="34" charset="0"/>
              </a:rPr>
              <a:t>2</a:t>
            </a:r>
            <a:r>
              <a:rPr lang="zh-CN" altLang="en-US" sz="2000" b="1" dirty="0">
                <a:solidFill>
                  <a:schemeClr val="tx2"/>
                </a:solidFill>
                <a:latin typeface="Arial" panose="020B0604020202020204" pitchFamily="34" charset="0"/>
              </a:rPr>
              <a:t>）政策、制度及人为管理出现的问题。</a:t>
            </a:r>
            <a:endParaRPr lang="zh-CN" altLang="en-US" sz="2000" b="1" dirty="0">
              <a:solidFill>
                <a:schemeClr val="tx2"/>
              </a:solidFill>
              <a:latin typeface="Arial" panose="020B0604020202020204" pitchFamily="34" charset="0"/>
            </a:endParaRPr>
          </a:p>
          <a:p>
            <a:pPr>
              <a:lnSpc>
                <a:spcPct val="90000"/>
              </a:lnSpc>
              <a:spcBef>
                <a:spcPct val="20000"/>
              </a:spcBef>
              <a:buFont typeface="Wingdings" panose="05000000000000000000" pitchFamily="2" charset="2"/>
              <a:buNone/>
              <a:defRPr/>
            </a:pPr>
            <a:r>
              <a:rPr lang="zh-CN" altLang="en-US" sz="2000" b="1" dirty="0">
                <a:solidFill>
                  <a:schemeClr val="tx2"/>
                </a:solidFill>
                <a:latin typeface="Arial" panose="020B0604020202020204" pitchFamily="34" charset="0"/>
              </a:rPr>
              <a:t>    （</a:t>
            </a:r>
            <a:r>
              <a:rPr lang="en-US" altLang="zh-CN" sz="2000" b="1" dirty="0">
                <a:solidFill>
                  <a:schemeClr val="tx2"/>
                </a:solidFill>
                <a:latin typeface="Arial" panose="020B0604020202020204" pitchFamily="34" charset="0"/>
              </a:rPr>
              <a:t>3</a:t>
            </a:r>
            <a:r>
              <a:rPr lang="zh-CN" altLang="en-US" sz="2000" b="1" dirty="0">
                <a:solidFill>
                  <a:schemeClr val="tx2"/>
                </a:solidFill>
                <a:latin typeface="Arial" panose="020B0604020202020204" pitchFamily="34" charset="0"/>
              </a:rPr>
              <a:t>）硬件系统或控制管理问题。</a:t>
            </a:r>
            <a:endParaRPr lang="zh-CN" altLang="en-US" sz="2000" b="1" dirty="0">
              <a:solidFill>
                <a:schemeClr val="tx2"/>
              </a:solidFill>
              <a:latin typeface="Arial" panose="020B0604020202020204" pitchFamily="34" charset="0"/>
            </a:endParaRPr>
          </a:p>
          <a:p>
            <a:pPr>
              <a:lnSpc>
                <a:spcPct val="90000"/>
              </a:lnSpc>
              <a:spcBef>
                <a:spcPct val="20000"/>
              </a:spcBef>
              <a:buFont typeface="Wingdings" panose="05000000000000000000" pitchFamily="2" charset="2"/>
              <a:buNone/>
              <a:defRPr/>
            </a:pPr>
            <a:r>
              <a:rPr lang="zh-CN" altLang="en-US" sz="2000" b="1" dirty="0">
                <a:solidFill>
                  <a:schemeClr val="tx2"/>
                </a:solidFill>
                <a:latin typeface="Arial" panose="020B0604020202020204" pitchFamily="34" charset="0"/>
              </a:rPr>
              <a:t>    （</a:t>
            </a:r>
            <a:r>
              <a:rPr lang="en-US" altLang="zh-CN" sz="2000" b="1" dirty="0">
                <a:solidFill>
                  <a:schemeClr val="tx2"/>
                </a:solidFill>
                <a:latin typeface="Arial" panose="020B0604020202020204" pitchFamily="34" charset="0"/>
              </a:rPr>
              <a:t>4</a:t>
            </a:r>
            <a:r>
              <a:rPr lang="zh-CN" altLang="en-US" sz="2000" b="1" dirty="0">
                <a:solidFill>
                  <a:schemeClr val="tx2"/>
                </a:solidFill>
                <a:latin typeface="Arial" panose="020B0604020202020204" pitchFamily="34" charset="0"/>
              </a:rPr>
              <a:t>）实体安全。</a:t>
            </a:r>
            <a:endParaRPr lang="zh-CN" altLang="en-US" sz="2000" b="1" dirty="0">
              <a:solidFill>
                <a:schemeClr val="tx2"/>
              </a:solidFill>
              <a:latin typeface="Arial" panose="020B0604020202020204" pitchFamily="34" charset="0"/>
            </a:endParaRPr>
          </a:p>
          <a:p>
            <a:pPr>
              <a:lnSpc>
                <a:spcPct val="90000"/>
              </a:lnSpc>
              <a:spcBef>
                <a:spcPct val="20000"/>
              </a:spcBef>
              <a:buFont typeface="Wingdings" panose="05000000000000000000" pitchFamily="2" charset="2"/>
              <a:buNone/>
              <a:defRPr/>
            </a:pPr>
            <a:r>
              <a:rPr lang="zh-CN" altLang="en-US" sz="2000" b="1" dirty="0">
                <a:solidFill>
                  <a:schemeClr val="tx2"/>
                </a:solidFill>
                <a:latin typeface="Arial" panose="020B0604020202020204" pitchFamily="34" charset="0"/>
              </a:rPr>
              <a:t>    （</a:t>
            </a:r>
            <a:r>
              <a:rPr lang="en-US" altLang="zh-CN" sz="2000" b="1" dirty="0">
                <a:solidFill>
                  <a:schemeClr val="tx2"/>
                </a:solidFill>
                <a:latin typeface="Arial" panose="020B0604020202020204" pitchFamily="34" charset="0"/>
              </a:rPr>
              <a:t>5</a:t>
            </a:r>
            <a:r>
              <a:rPr lang="zh-CN" altLang="en-US" sz="2000" b="1" dirty="0">
                <a:solidFill>
                  <a:schemeClr val="tx2"/>
                </a:solidFill>
                <a:latin typeface="Arial" panose="020B0604020202020204" pitchFamily="34" charset="0"/>
              </a:rPr>
              <a:t>）操作系统的安全性问题。</a:t>
            </a:r>
            <a:endParaRPr lang="zh-CN" altLang="en-US" sz="2000" b="1" dirty="0">
              <a:solidFill>
                <a:schemeClr val="tx2"/>
              </a:solidFill>
              <a:latin typeface="Arial" panose="020B0604020202020204" pitchFamily="34" charset="0"/>
            </a:endParaRPr>
          </a:p>
          <a:p>
            <a:pPr>
              <a:lnSpc>
                <a:spcPct val="90000"/>
              </a:lnSpc>
              <a:spcBef>
                <a:spcPct val="20000"/>
              </a:spcBef>
              <a:buFont typeface="Wingdings" panose="05000000000000000000" pitchFamily="2" charset="2"/>
              <a:buNone/>
              <a:defRPr/>
            </a:pPr>
            <a:r>
              <a:rPr lang="zh-CN" altLang="en-US" sz="2000" b="1" dirty="0">
                <a:solidFill>
                  <a:schemeClr val="tx2"/>
                </a:solidFill>
                <a:latin typeface="Arial" panose="020B0604020202020204" pitchFamily="34" charset="0"/>
              </a:rPr>
              <a:t>    （</a:t>
            </a:r>
            <a:r>
              <a:rPr lang="en-US" altLang="zh-CN" sz="2000" b="1" dirty="0">
                <a:solidFill>
                  <a:schemeClr val="tx2"/>
                </a:solidFill>
                <a:latin typeface="Arial" panose="020B0604020202020204" pitchFamily="34" charset="0"/>
              </a:rPr>
              <a:t>6</a:t>
            </a:r>
            <a:r>
              <a:rPr lang="zh-CN" altLang="en-US" sz="2000" b="1" dirty="0">
                <a:solidFill>
                  <a:schemeClr val="tx2"/>
                </a:solidFill>
                <a:latin typeface="Arial" panose="020B0604020202020204" pitchFamily="34" charset="0"/>
              </a:rPr>
              <a:t>）可操作性问题。</a:t>
            </a:r>
            <a:endParaRPr lang="zh-CN" altLang="en-US" sz="2000" b="1" dirty="0">
              <a:solidFill>
                <a:schemeClr val="tx2"/>
              </a:solidFill>
              <a:latin typeface="Arial" panose="020B0604020202020204" pitchFamily="34" charset="0"/>
            </a:endParaRPr>
          </a:p>
          <a:p>
            <a:pPr>
              <a:lnSpc>
                <a:spcPct val="90000"/>
              </a:lnSpc>
              <a:spcBef>
                <a:spcPct val="20000"/>
              </a:spcBef>
              <a:buFont typeface="Wingdings" panose="05000000000000000000" pitchFamily="2" charset="2"/>
              <a:buNone/>
              <a:defRPr/>
            </a:pPr>
            <a:r>
              <a:rPr lang="zh-CN" altLang="en-US" sz="2000" b="1" dirty="0">
                <a:solidFill>
                  <a:schemeClr val="tx2"/>
                </a:solidFill>
                <a:latin typeface="Arial" panose="020B0604020202020204" pitchFamily="34" charset="0"/>
              </a:rPr>
              <a:t>    （</a:t>
            </a:r>
            <a:r>
              <a:rPr lang="en-US" altLang="zh-CN" sz="2000" b="1" dirty="0">
                <a:solidFill>
                  <a:schemeClr val="tx2"/>
                </a:solidFill>
                <a:latin typeface="Arial" panose="020B0604020202020204" pitchFamily="34" charset="0"/>
              </a:rPr>
              <a:t>7</a:t>
            </a:r>
            <a:r>
              <a:rPr lang="zh-CN" altLang="en-US" sz="2000" b="1" dirty="0">
                <a:solidFill>
                  <a:schemeClr val="tx2"/>
                </a:solidFill>
                <a:latin typeface="Arial" panose="020B0604020202020204" pitchFamily="34" charset="0"/>
              </a:rPr>
              <a:t>）</a:t>
            </a:r>
            <a:r>
              <a:rPr lang="en-US" altLang="zh-CN" sz="2000" b="1" dirty="0">
                <a:solidFill>
                  <a:srgbClr val="006600"/>
                </a:solidFill>
                <a:latin typeface="Arial" panose="020B0604020202020204" pitchFamily="34" charset="0"/>
              </a:rPr>
              <a:t>DBS</a:t>
            </a:r>
            <a:r>
              <a:rPr lang="zh-CN" altLang="en-US" sz="2000" b="1" dirty="0">
                <a:solidFill>
                  <a:schemeClr val="tx2"/>
                </a:solidFill>
                <a:latin typeface="Arial" panose="020B0604020202020204" pitchFamily="34" charset="0"/>
              </a:rPr>
              <a:t>本身的缺陷和隐患带来的安全性问题。</a:t>
            </a:r>
            <a:r>
              <a:rPr lang="zh-CN" altLang="en-US" dirty="0">
                <a:solidFill>
                  <a:schemeClr val="tx1"/>
                </a:solidFill>
                <a:latin typeface="Arial" panose="020B0604020202020204" pitchFamily="34" charset="0"/>
              </a:rPr>
              <a:t> </a:t>
            </a:r>
            <a:endParaRPr lang="en-US" altLang="zh-CN" dirty="0">
              <a:solidFill>
                <a:schemeClr val="tx1"/>
              </a:solidFill>
              <a:latin typeface="Arial" panose="020B0604020202020204" pitchFamily="34" charset="0"/>
            </a:endParaRPr>
          </a:p>
        </p:txBody>
      </p:sp>
      <p:sp>
        <p:nvSpPr>
          <p:cNvPr id="2" name="圆角矩形 18"/>
          <p:cNvSpPr/>
          <p:nvPr/>
        </p:nvSpPr>
        <p:spPr bwMode="gray">
          <a:xfrm>
            <a:off x="611188" y="1989138"/>
            <a:ext cx="7777162" cy="1893887"/>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spcBef>
                <a:spcPct val="20000"/>
              </a:spcBef>
              <a:buFont typeface="Wingdings" panose="05000000000000000000" pitchFamily="2" charset="2"/>
              <a:buNone/>
              <a:defRPr/>
            </a:pPr>
            <a:r>
              <a:rPr lang="en-US" altLang="zh-CN" sz="2000" b="1" dirty="0">
                <a:solidFill>
                  <a:schemeClr val="tx1"/>
                </a:solidFill>
                <a:latin typeface="Arial" panose="020B0604020202020204" pitchFamily="34" charset="0"/>
              </a:rPr>
              <a:t>                      </a:t>
            </a:r>
            <a:r>
              <a:rPr sz="2000" b="1" dirty="0" err="1">
                <a:solidFill>
                  <a:srgbClr val="FF0000"/>
                </a:solidFill>
                <a:latin typeface="Arial" panose="020B0604020202020204" pitchFamily="34" charset="0"/>
              </a:rPr>
              <a:t>数据库配置问题导致近两亿选举投票记录泄露</a:t>
            </a:r>
            <a:r>
              <a:rPr sz="2000" b="1" dirty="0" err="1">
                <a:solidFill>
                  <a:schemeClr val="tx1"/>
                </a:solidFill>
                <a:latin typeface="Arial" panose="020B0604020202020204" pitchFamily="34" charset="0"/>
              </a:rPr>
              <a:t>。美国研究人员克里斯·维克里（Chris</a:t>
            </a:r>
            <a:r>
              <a:rPr sz="2000" b="1" dirty="0">
                <a:solidFill>
                  <a:schemeClr val="tx1"/>
                </a:solidFill>
                <a:latin typeface="Arial" panose="020B0604020202020204" pitchFamily="34" charset="0"/>
              </a:rPr>
              <a:t> Vickery）2017年发现，因数据库配置错误导致1.91亿条</a:t>
            </a:r>
            <a:r>
              <a:rPr sz="2000" b="1" dirty="0">
                <a:solidFill>
                  <a:srgbClr val="C00000"/>
                </a:solidFill>
                <a:latin typeface="Arial" panose="020B0604020202020204" pitchFamily="34" charset="0"/>
              </a:rPr>
              <a:t>投票记录被泄露</a:t>
            </a:r>
            <a:r>
              <a:rPr sz="2000" b="1" dirty="0">
                <a:solidFill>
                  <a:schemeClr val="tx1"/>
                </a:solidFill>
                <a:latin typeface="Arial" panose="020B0604020202020204" pitchFamily="34" charset="0"/>
              </a:rPr>
              <a:t>。数据库中包含选民的全名、家庭地址、邮寄地址、身份证号、性别、出生日期、注册日期、电话号码、是否接受打来的选举电话、政治关系和2000年以来的详细投票历史，以及数据库中具体选民的预测分数等。</a:t>
            </a:r>
            <a:endParaRPr lang="en-US" altLang="zh-CN" sz="2000" b="1" dirty="0">
              <a:solidFill>
                <a:schemeClr val="tx1"/>
              </a:solidFill>
              <a:latin typeface="Arial" panose="020B0604020202020204" pitchFamily="34" charset="0"/>
            </a:endParaRPr>
          </a:p>
        </p:txBody>
      </p:sp>
      <p:sp>
        <p:nvSpPr>
          <p:cNvPr id="70665" name="Rectangle 2"/>
          <p:cNvSpPr txBox="1">
            <a:spLocks noChangeArrowheads="1"/>
          </p:cNvSpPr>
          <p:nvPr/>
        </p:nvSpPr>
        <p:spPr bwMode="white">
          <a:xfrm>
            <a:off x="1822450" y="220663"/>
            <a:ext cx="5181600"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sz="3200" dirty="0" smtClean="0">
                <a:solidFill>
                  <a:schemeClr val="bg1"/>
                </a:solidFill>
                <a:latin typeface="Verdana" panose="020B0604030504040204" pitchFamily="34" charset="0"/>
              </a:rPr>
              <a:t>10.1 数据库系统安全基础</a:t>
            </a:r>
            <a:endParaRPr sz="3200" dirty="0" smtClean="0">
              <a:solidFill>
                <a:schemeClr val="bg1"/>
              </a:solidFill>
              <a:latin typeface="Verdana" panose="020B0604030504040204" pitchFamily="34" charset="0"/>
            </a:endParaRPr>
          </a:p>
        </p:txBody>
      </p:sp>
      <p:sp>
        <p:nvSpPr>
          <p:cNvPr id="13" name="圆角矩形 12"/>
          <p:cNvSpPr/>
          <p:nvPr/>
        </p:nvSpPr>
        <p:spPr bwMode="gray">
          <a:xfrm>
            <a:off x="1212850" y="1911350"/>
            <a:ext cx="1104900" cy="374650"/>
          </a:xfrm>
          <a:prstGeom prst="roundRect">
            <a:avLst/>
          </a:prstGeom>
        </p:spPr>
        <p:style>
          <a:lnRef idx="0">
            <a:schemeClr val="accent2"/>
          </a:lnRef>
          <a:fillRef idx="3">
            <a:schemeClr val="accent2"/>
          </a:fillRef>
          <a:effectRef idx="3">
            <a:schemeClr val="accent2"/>
          </a:effectRef>
          <a:fontRef idx="minor">
            <a:schemeClr val="lt1"/>
          </a:fontRef>
        </p:style>
        <p:txBody>
          <a:bodyPr wrap="none" anchor="ctr"/>
          <a:lstStyle>
            <a:lvl1pPr>
              <a:defRPr>
                <a:solidFill>
                  <a:schemeClr val="tx1"/>
                </a:solidFill>
                <a:latin typeface="宋体" panose="02010600030101010101" pitchFamily="2" charset="-122"/>
                <a:ea typeface="宋体" panose="02010600030101010101" pitchFamily="2" charset="-122"/>
              </a:defRPr>
            </a:lvl1pPr>
            <a:lvl2pPr marL="742950" indent="-285750">
              <a:defRPr>
                <a:solidFill>
                  <a:schemeClr val="tx1"/>
                </a:solidFill>
                <a:latin typeface="宋体" panose="02010600030101010101" pitchFamily="2" charset="-122"/>
                <a:ea typeface="宋体" panose="02010600030101010101" pitchFamily="2" charset="-122"/>
              </a:defRPr>
            </a:lvl2pPr>
            <a:lvl3pPr marL="1143000" indent="-228600">
              <a:defRPr>
                <a:solidFill>
                  <a:schemeClr val="tx1"/>
                </a:solidFill>
                <a:latin typeface="宋体" panose="02010600030101010101" pitchFamily="2" charset="-122"/>
                <a:ea typeface="宋体" panose="02010600030101010101" pitchFamily="2" charset="-122"/>
              </a:defRPr>
            </a:lvl3pPr>
            <a:lvl4pPr marL="1600200" indent="-228600">
              <a:defRPr>
                <a:solidFill>
                  <a:schemeClr val="tx1"/>
                </a:solidFill>
                <a:latin typeface="宋体" panose="02010600030101010101" pitchFamily="2" charset="-122"/>
                <a:ea typeface="宋体" panose="02010600030101010101" pitchFamily="2" charset="-122"/>
              </a:defRPr>
            </a:lvl4pPr>
            <a:lvl5pPr marL="2057400" indent="-228600">
              <a:defRPr>
                <a:solidFill>
                  <a:schemeClr val="tx1"/>
                </a:solidFill>
                <a:latin typeface="宋体" panose="02010600030101010101" pitchFamily="2" charset="-122"/>
                <a:ea typeface="宋体" panose="02010600030101010101" pitchFamily="2" charset="-122"/>
              </a:defRPr>
            </a:lvl5pPr>
            <a:lvl6pPr marL="25146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6pPr>
            <a:lvl7pPr marL="29718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7pPr>
            <a:lvl8pPr marL="34290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8pPr>
            <a:lvl9pPr marL="38862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9pPr>
          </a:lstStyle>
          <a:p>
            <a:pPr algn="ctr">
              <a:spcBef>
                <a:spcPct val="20000"/>
              </a:spcBef>
              <a:buFont typeface="Wingdings" panose="05000000000000000000" pitchFamily="2" charset="2"/>
              <a:buNone/>
              <a:defRPr/>
            </a:pPr>
            <a:r>
              <a:rPr lang="zh-CN" altLang="en-US" sz="1600" b="1" dirty="0" smtClean="0">
                <a:solidFill>
                  <a:srgbClr val="002060"/>
                </a:solidFill>
              </a:rPr>
              <a:t>案例</a:t>
            </a:r>
            <a:r>
              <a:rPr lang="en-US" altLang="zh-CN" sz="1600" b="1" dirty="0" smtClean="0">
                <a:solidFill>
                  <a:srgbClr val="002060"/>
                </a:solidFill>
              </a:rPr>
              <a:t>2-2</a:t>
            </a:r>
            <a:endParaRPr lang="zh-CN" altLang="en-US" sz="1600" b="1" dirty="0" smtClean="0">
              <a:solidFill>
                <a:srgbClr val="002060"/>
              </a:solidFill>
            </a:endParaRPr>
          </a:p>
        </p:txBody>
      </p:sp>
      <p:pic>
        <p:nvPicPr>
          <p:cNvPr id="15366" name="图片 -2147482617"/>
          <p:cNvPicPr>
            <a:picLocks noChangeAspect="1" noChangeArrowheads="1"/>
          </p:cNvPicPr>
          <p:nvPr/>
        </p:nvPicPr>
        <p:blipFill>
          <a:blip r:embed="rId1" cstate="print"/>
          <a:srcRect/>
          <a:stretch>
            <a:fillRect/>
          </a:stretch>
        </p:blipFill>
        <p:spPr bwMode="auto">
          <a:xfrm>
            <a:off x="4908550" y="4849813"/>
            <a:ext cx="2941638" cy="1584325"/>
          </a:xfrm>
          <a:prstGeom prst="rect">
            <a:avLst/>
          </a:prstGeom>
          <a:noFill/>
          <a:ln w="9525">
            <a:noFill/>
            <a:miter lim="800000"/>
            <a:headEnd/>
            <a:tailEnd/>
          </a:ln>
        </p:spPr>
      </p:pic>
      <p:sp>
        <p:nvSpPr>
          <p:cNvPr id="15367" name="文本框 100"/>
          <p:cNvSpPr txBox="1">
            <a:spLocks noChangeArrowheads="1"/>
          </p:cNvSpPr>
          <p:nvPr/>
        </p:nvSpPr>
        <p:spPr bwMode="auto">
          <a:xfrm>
            <a:off x="6181725" y="6435725"/>
            <a:ext cx="2135188" cy="228600"/>
          </a:xfrm>
          <a:prstGeom prst="rect">
            <a:avLst/>
          </a:prstGeom>
          <a:noFill/>
          <a:ln w="9525">
            <a:noFill/>
            <a:miter lim="800000"/>
          </a:ln>
        </p:spPr>
        <p:txBody>
          <a:bodyPr>
            <a:spAutoFit/>
          </a:bodyPr>
          <a:lstStyle/>
          <a:p>
            <a:pPr algn="ctr" eaLnBrk="0" hangingPunct="0"/>
            <a:r>
              <a:rPr lang="zh-CN" altLang="zh-CN" sz="900">
                <a:solidFill>
                  <a:srgbClr val="FF0000"/>
                </a:solidFill>
                <a:latin typeface="Times New Roman" panose="02020603050405020304" pitchFamily="18" charset="0"/>
              </a:rPr>
              <a:t>图</a:t>
            </a:r>
            <a:r>
              <a:rPr lang="en-US" altLang="zh-CN" sz="900">
                <a:solidFill>
                  <a:srgbClr val="FF0000"/>
                </a:solidFill>
                <a:latin typeface="Times New Roman" panose="02020603050405020304" pitchFamily="18" charset="0"/>
              </a:rPr>
              <a:t>10-1 </a:t>
            </a:r>
            <a:r>
              <a:rPr lang="zh-CN" altLang="zh-CN" sz="900">
                <a:solidFill>
                  <a:srgbClr val="FF0000"/>
                </a:solidFill>
                <a:latin typeface="Times New Roman" panose="02020603050405020304" pitchFamily="18" charset="0"/>
              </a:rPr>
              <a:t>数据库面临的</a:t>
            </a:r>
            <a:r>
              <a:rPr lang="zh-CN" altLang="zh-CN" sz="900">
                <a:solidFill>
                  <a:srgbClr val="FF0000"/>
                </a:solidFill>
              </a:rPr>
              <a:t>安全</a:t>
            </a:r>
            <a:r>
              <a:rPr lang="zh-CN" altLang="zh-CN" sz="900">
                <a:solidFill>
                  <a:srgbClr val="FF0000"/>
                </a:solidFill>
                <a:latin typeface="Times New Roman" panose="02020603050405020304" pitchFamily="18" charset="0"/>
              </a:rPr>
              <a:t>问题</a:t>
            </a: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内容占位符 13"/>
          <p:cNvSpPr>
            <a:spLocks noGrp="1" noChangeArrowheads="1"/>
          </p:cNvSpPr>
          <p:nvPr>
            <p:ph idx="4294967295"/>
          </p:nvPr>
        </p:nvSpPr>
        <p:spPr>
          <a:xfrm>
            <a:off x="1206500" y="1133475"/>
            <a:ext cx="5121275" cy="622300"/>
          </a:xfrm>
        </p:spPr>
        <p:txBody>
          <a:bodyPr/>
          <a:lstStyle/>
          <a:p>
            <a:pPr eaLnBrk="1" hangingPunct="1">
              <a:buFont typeface="Wingdings" panose="05000000000000000000" pitchFamily="2" charset="2"/>
              <a:buNone/>
            </a:pPr>
            <a:r>
              <a:rPr lang="en-US" altLang="zh-CN" sz="2400" smtClean="0">
                <a:solidFill>
                  <a:srgbClr val="C00000"/>
                </a:solidFill>
              </a:rPr>
              <a:t>2.</a:t>
            </a:r>
            <a:r>
              <a:rPr lang="zh-CN" altLang="en-US" sz="2400" smtClean="0">
                <a:solidFill>
                  <a:srgbClr val="C00000"/>
                </a:solidFill>
              </a:rPr>
              <a:t>数据库系统缺陷及隐患分析</a:t>
            </a:r>
            <a:endParaRPr lang="zh-CN" altLang="en-US" sz="2400" smtClean="0">
              <a:solidFill>
                <a:srgbClr val="C00000"/>
              </a:solidFill>
            </a:endParaRPr>
          </a:p>
        </p:txBody>
      </p:sp>
      <p:sp>
        <p:nvSpPr>
          <p:cNvPr id="19" name="圆角矩形 18"/>
          <p:cNvSpPr/>
          <p:nvPr/>
        </p:nvSpPr>
        <p:spPr bwMode="gray">
          <a:xfrm>
            <a:off x="755650" y="1654175"/>
            <a:ext cx="7632700" cy="395922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spcBef>
                <a:spcPct val="20000"/>
              </a:spcBef>
            </a:pPr>
            <a:r>
              <a:rPr lang="zh-CN" altLang="en-US" b="1" dirty="0">
                <a:solidFill>
                  <a:schemeClr val="tx2"/>
                </a:solidFill>
                <a:latin typeface="Arial" panose="020B0604020202020204" pitchFamily="34" charset="0"/>
              </a:rPr>
              <a:t>   （</a:t>
            </a:r>
            <a:r>
              <a:rPr lang="en-US" altLang="zh-CN" b="1" dirty="0">
                <a:solidFill>
                  <a:schemeClr val="tx2"/>
                </a:solidFill>
                <a:latin typeface="Arial" panose="020B0604020202020204" pitchFamily="34" charset="0"/>
              </a:rPr>
              <a:t>1</a:t>
            </a:r>
            <a:r>
              <a:rPr lang="zh-CN" altLang="en-US" b="1" dirty="0" smtClean="0">
                <a:solidFill>
                  <a:schemeClr val="tx2"/>
                </a:solidFill>
                <a:latin typeface="Arial" panose="020B0604020202020204" pitchFamily="34" charset="0"/>
              </a:rPr>
              <a:t>）应用程序研发</a:t>
            </a:r>
            <a:r>
              <a:rPr lang="zh-CN" altLang="en-US" b="1" dirty="0">
                <a:solidFill>
                  <a:schemeClr val="tx2"/>
                </a:solidFill>
                <a:latin typeface="Arial" panose="020B0604020202020204" pitchFamily="34" charset="0"/>
              </a:rPr>
              <a:t>、管理和维护等人为因素疏忽；</a:t>
            </a:r>
            <a:endParaRPr lang="zh-CN" altLang="en-US" b="1" dirty="0">
              <a:solidFill>
                <a:schemeClr val="tx2"/>
              </a:solidFill>
              <a:latin typeface="Arial" panose="020B0604020202020204" pitchFamily="34" charset="0"/>
            </a:endParaRPr>
          </a:p>
          <a:p>
            <a:pPr>
              <a:spcBef>
                <a:spcPct val="20000"/>
              </a:spcBef>
            </a:pPr>
            <a:r>
              <a:rPr lang="zh-CN" altLang="en-US" b="1" dirty="0">
                <a:solidFill>
                  <a:schemeClr val="tx2"/>
                </a:solidFill>
                <a:latin typeface="Arial" panose="020B0604020202020204" pitchFamily="34" charset="0"/>
              </a:rPr>
              <a:t>    （</a:t>
            </a:r>
            <a:r>
              <a:rPr lang="en-US" altLang="zh-CN" b="1" dirty="0">
                <a:solidFill>
                  <a:schemeClr val="tx2"/>
                </a:solidFill>
                <a:latin typeface="Arial" panose="020B0604020202020204" pitchFamily="34" charset="0"/>
              </a:rPr>
              <a:t>2</a:t>
            </a:r>
            <a:r>
              <a:rPr lang="zh-CN" altLang="en-US" b="1" dirty="0">
                <a:solidFill>
                  <a:schemeClr val="tx2"/>
                </a:solidFill>
                <a:latin typeface="Arial" panose="020B0604020202020204" pitchFamily="34" charset="0"/>
              </a:rPr>
              <a:t>）用户安全的忽视，安全设置和管理失当；</a:t>
            </a:r>
            <a:endParaRPr lang="zh-CN" altLang="en-US" b="1" dirty="0">
              <a:solidFill>
                <a:schemeClr val="tx2"/>
              </a:solidFill>
              <a:latin typeface="Arial" panose="020B0604020202020204" pitchFamily="34" charset="0"/>
            </a:endParaRPr>
          </a:p>
          <a:p>
            <a:pPr>
              <a:spcBef>
                <a:spcPct val="20000"/>
              </a:spcBef>
            </a:pPr>
            <a:r>
              <a:rPr lang="zh-CN" altLang="en-US" b="1" dirty="0">
                <a:solidFill>
                  <a:schemeClr val="tx2"/>
                </a:solidFill>
                <a:latin typeface="Arial" panose="020B0604020202020204" pitchFamily="34" charset="0"/>
              </a:rPr>
              <a:t>    （</a:t>
            </a:r>
            <a:r>
              <a:rPr lang="en-US" altLang="zh-CN" b="1" dirty="0">
                <a:solidFill>
                  <a:schemeClr val="tx2"/>
                </a:solidFill>
                <a:latin typeface="Arial" panose="020B0604020202020204" pitchFamily="34" charset="0"/>
              </a:rPr>
              <a:t>3</a:t>
            </a:r>
            <a:r>
              <a:rPr lang="zh-CN" altLang="en-US" b="1" dirty="0">
                <a:solidFill>
                  <a:schemeClr val="tx2"/>
                </a:solidFill>
                <a:latin typeface="Arial" panose="020B0604020202020204" pitchFamily="34" charset="0"/>
              </a:rPr>
              <a:t>）数据库账号、密码容易泄漏和破译；</a:t>
            </a:r>
            <a:endParaRPr lang="zh-CN" altLang="en-US" b="1" dirty="0">
              <a:solidFill>
                <a:schemeClr val="tx2"/>
              </a:solidFill>
              <a:latin typeface="Arial" panose="020B0604020202020204" pitchFamily="34" charset="0"/>
            </a:endParaRPr>
          </a:p>
          <a:p>
            <a:pPr>
              <a:spcBef>
                <a:spcPct val="20000"/>
              </a:spcBef>
            </a:pPr>
            <a:r>
              <a:rPr lang="zh-CN" altLang="en-US" b="1" dirty="0">
                <a:solidFill>
                  <a:schemeClr val="tx2"/>
                </a:solidFill>
                <a:latin typeface="Arial" panose="020B0604020202020204" pitchFamily="34" charset="0"/>
              </a:rPr>
              <a:t>    （</a:t>
            </a:r>
            <a:r>
              <a:rPr lang="en-US" altLang="zh-CN" b="1" dirty="0">
                <a:solidFill>
                  <a:schemeClr val="tx2"/>
                </a:solidFill>
                <a:latin typeface="Arial" panose="020B0604020202020204" pitchFamily="34" charset="0"/>
              </a:rPr>
              <a:t>4</a:t>
            </a:r>
            <a:r>
              <a:rPr lang="zh-CN" altLang="en-US" b="1" dirty="0">
                <a:solidFill>
                  <a:schemeClr val="tx2"/>
                </a:solidFill>
                <a:latin typeface="Arial" panose="020B0604020202020204" pitchFamily="34" charset="0"/>
              </a:rPr>
              <a:t>）操作系统后门及漏洞隐患；</a:t>
            </a:r>
            <a:endParaRPr lang="en-US" altLang="zh-CN" b="1" dirty="0">
              <a:solidFill>
                <a:schemeClr val="tx2"/>
              </a:solidFill>
              <a:latin typeface="Arial" panose="020B0604020202020204" pitchFamily="34" charset="0"/>
            </a:endParaRPr>
          </a:p>
          <a:p>
            <a:pPr>
              <a:spcBef>
                <a:spcPct val="20000"/>
              </a:spcBef>
            </a:pPr>
            <a:r>
              <a:rPr lang="en-US" altLang="zh-CN" b="1" dirty="0">
                <a:solidFill>
                  <a:schemeClr val="tx2"/>
                </a:solidFill>
                <a:latin typeface="Arial" panose="020B0604020202020204" pitchFamily="34" charset="0"/>
              </a:rPr>
              <a:t>   </a:t>
            </a:r>
            <a:r>
              <a:rPr lang="zh-CN" altLang="en-US" b="1" dirty="0">
                <a:solidFill>
                  <a:schemeClr val="tx2"/>
                </a:solidFill>
                <a:latin typeface="Arial" panose="020B0604020202020204" pitchFamily="34" charset="0"/>
              </a:rPr>
              <a:t> （</a:t>
            </a:r>
            <a:r>
              <a:rPr lang="en-US" altLang="zh-CN" b="1" dirty="0">
                <a:solidFill>
                  <a:schemeClr val="tx2"/>
                </a:solidFill>
                <a:latin typeface="Arial" panose="020B0604020202020204" pitchFamily="34" charset="0"/>
              </a:rPr>
              <a:t>5</a:t>
            </a:r>
            <a:r>
              <a:rPr lang="zh-CN" altLang="en-US" b="1" dirty="0">
                <a:solidFill>
                  <a:schemeClr val="tx2"/>
                </a:solidFill>
                <a:latin typeface="Arial" panose="020B0604020202020204" pitchFamily="34" charset="0"/>
              </a:rPr>
              <a:t>）社交工程。如钓鱼网站；</a:t>
            </a:r>
            <a:endParaRPr lang="zh-CN" altLang="en-US" b="1" dirty="0">
              <a:solidFill>
                <a:schemeClr val="tx2"/>
              </a:solidFill>
              <a:latin typeface="Arial" panose="020B0604020202020204" pitchFamily="34" charset="0"/>
            </a:endParaRPr>
          </a:p>
          <a:p>
            <a:pPr>
              <a:spcBef>
                <a:spcPct val="20000"/>
              </a:spcBef>
            </a:pPr>
            <a:r>
              <a:rPr lang="zh-CN" altLang="en-US" b="1" dirty="0">
                <a:solidFill>
                  <a:schemeClr val="tx2"/>
                </a:solidFill>
                <a:latin typeface="Arial" panose="020B0604020202020204" pitchFamily="34" charset="0"/>
              </a:rPr>
              <a:t>    （</a:t>
            </a:r>
            <a:r>
              <a:rPr lang="en-US" altLang="zh-CN" b="1" dirty="0">
                <a:solidFill>
                  <a:schemeClr val="tx2"/>
                </a:solidFill>
                <a:latin typeface="Arial" panose="020B0604020202020204" pitchFamily="34" charset="0"/>
              </a:rPr>
              <a:t>6</a:t>
            </a:r>
            <a:r>
              <a:rPr lang="zh-CN" altLang="en-US" b="1" dirty="0">
                <a:solidFill>
                  <a:schemeClr val="tx2"/>
                </a:solidFill>
                <a:latin typeface="Arial" panose="020B0604020202020204" pitchFamily="34" charset="0"/>
              </a:rPr>
              <a:t>）部分数据库机制威胁网络低层安全；</a:t>
            </a:r>
            <a:endParaRPr lang="zh-CN" altLang="en-US" b="1" dirty="0">
              <a:solidFill>
                <a:schemeClr val="tx2"/>
              </a:solidFill>
              <a:latin typeface="Arial" panose="020B0604020202020204" pitchFamily="34" charset="0"/>
            </a:endParaRPr>
          </a:p>
          <a:p>
            <a:pPr>
              <a:spcBef>
                <a:spcPct val="20000"/>
              </a:spcBef>
            </a:pPr>
            <a:r>
              <a:rPr lang="zh-CN" altLang="en-US" b="1" dirty="0">
                <a:solidFill>
                  <a:schemeClr val="tx2"/>
                </a:solidFill>
                <a:latin typeface="Arial" panose="020B0604020202020204" pitchFamily="34" charset="0"/>
              </a:rPr>
              <a:t>    （</a:t>
            </a:r>
            <a:r>
              <a:rPr lang="en-US" altLang="zh-CN" b="1" dirty="0">
                <a:solidFill>
                  <a:schemeClr val="tx2"/>
                </a:solidFill>
                <a:latin typeface="Arial" panose="020B0604020202020204" pitchFamily="34" charset="0"/>
              </a:rPr>
              <a:t>7</a:t>
            </a:r>
            <a:r>
              <a:rPr lang="zh-CN" altLang="en-US" b="1" dirty="0">
                <a:solidFill>
                  <a:schemeClr val="tx2"/>
                </a:solidFill>
                <a:latin typeface="Arial" panose="020B0604020202020204" pitchFamily="34" charset="0"/>
              </a:rPr>
              <a:t>）系统安全特征自身存在的缺陷和不足； </a:t>
            </a:r>
            <a:endParaRPr lang="zh-CN" altLang="en-US" b="1" dirty="0">
              <a:solidFill>
                <a:schemeClr val="tx2"/>
              </a:solidFill>
              <a:latin typeface="Arial" panose="020B0604020202020204" pitchFamily="34" charset="0"/>
            </a:endParaRPr>
          </a:p>
          <a:p>
            <a:pPr>
              <a:spcBef>
                <a:spcPct val="20000"/>
              </a:spcBef>
            </a:pPr>
            <a:r>
              <a:rPr lang="zh-CN" altLang="en-US" b="1" dirty="0">
                <a:solidFill>
                  <a:schemeClr val="tx2"/>
                </a:solidFill>
                <a:latin typeface="Arial" panose="020B0604020202020204" pitchFamily="34" charset="0"/>
              </a:rPr>
              <a:t>    （</a:t>
            </a:r>
            <a:r>
              <a:rPr lang="en-US" altLang="zh-CN" b="1" dirty="0">
                <a:solidFill>
                  <a:schemeClr val="tx2"/>
                </a:solidFill>
                <a:latin typeface="Arial" panose="020B0604020202020204" pitchFamily="34" charset="0"/>
              </a:rPr>
              <a:t>8</a:t>
            </a:r>
            <a:r>
              <a:rPr lang="zh-CN" altLang="en-US" b="1" dirty="0">
                <a:solidFill>
                  <a:schemeClr val="tx2"/>
                </a:solidFill>
                <a:latin typeface="Arial" panose="020B0604020202020204" pitchFamily="34" charset="0"/>
              </a:rPr>
              <a:t>）</a:t>
            </a:r>
            <a:r>
              <a:rPr lang="zh-CN" altLang="en-US" dirty="0">
                <a:solidFill>
                  <a:schemeClr val="tx1"/>
                </a:solidFill>
                <a:latin typeface="Arial" panose="020B0604020202020204" pitchFamily="34" charset="0"/>
              </a:rPr>
              <a:t> </a:t>
            </a:r>
            <a:r>
              <a:rPr lang="zh-CN" altLang="en-US" b="1" dirty="0">
                <a:solidFill>
                  <a:schemeClr val="tx2"/>
                </a:solidFill>
                <a:latin typeface="Arial" panose="020B0604020202020204" pitchFamily="34" charset="0"/>
              </a:rPr>
              <a:t>网络协议、病毒及运行环境等威胁。</a:t>
            </a:r>
            <a:endParaRPr lang="en-US" altLang="zh-CN" b="1" dirty="0">
              <a:solidFill>
                <a:schemeClr val="tx2"/>
              </a:solidFill>
              <a:latin typeface="Arial" panose="020B0604020202020204" pitchFamily="34" charset="0"/>
            </a:endParaRPr>
          </a:p>
        </p:txBody>
      </p:sp>
      <p:sp>
        <p:nvSpPr>
          <p:cNvPr id="16387" name="内容占位符 13"/>
          <p:cNvSpPr>
            <a:spLocks noChangeArrowheads="1"/>
          </p:cNvSpPr>
          <p:nvPr/>
        </p:nvSpPr>
        <p:spPr bwMode="auto">
          <a:xfrm>
            <a:off x="395288" y="1196975"/>
            <a:ext cx="8153400" cy="531495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buFont typeface="Wingdings" panose="05000000000000000000" pitchFamily="2" charset="2"/>
              <a:buNone/>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chemeClr val="tx2"/>
              </a:solidFill>
              <a:latin typeface="宋体" panose="02010600030101010101" pitchFamily="2" charset="-122"/>
            </a:endParaRPr>
          </a:p>
        </p:txBody>
      </p:sp>
      <p:sp>
        <p:nvSpPr>
          <p:cNvPr id="14341" name="内容占位符 13"/>
          <p:cNvSpPr/>
          <p:nvPr/>
        </p:nvSpPr>
        <p:spPr bwMode="auto">
          <a:xfrm>
            <a:off x="395288" y="1196975"/>
            <a:ext cx="8153400" cy="531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spcAft>
                <a:spcPts val="600"/>
              </a:spcAft>
              <a:buClr>
                <a:schemeClr val="hlink"/>
              </a:buClr>
            </a:pPr>
            <a:endParaRPr lang="en-US" altLang="zh-CN" b="1">
              <a:solidFill>
                <a:srgbClr val="0000CC"/>
              </a:solidFill>
              <a:latin typeface="Times New Roman" panose="02020603050405020304" pitchFamily="18" charset="0"/>
            </a:endParaRPr>
          </a:p>
          <a:p>
            <a:pPr>
              <a:spcBef>
                <a:spcPct val="20000"/>
              </a:spcBef>
              <a:buClr>
                <a:schemeClr val="hlink"/>
              </a:buClr>
            </a:pPr>
            <a:r>
              <a:rPr lang="en-US" altLang="zh-CN" b="1">
                <a:solidFill>
                  <a:srgbClr val="0000CC"/>
                </a:solidFill>
                <a:latin typeface="Times New Roman" panose="02020603050405020304" pitchFamily="18" charset="0"/>
              </a:rPr>
              <a:t> </a:t>
            </a:r>
            <a:endParaRPr lang="en-US" altLang="zh-CN" b="1">
              <a:solidFill>
                <a:srgbClr val="0000CC"/>
              </a:solidFill>
              <a:latin typeface="Times New Roman" panose="02020603050405020304" pitchFamily="18" charset="0"/>
            </a:endParaRPr>
          </a:p>
          <a:p>
            <a:pPr>
              <a:spcBef>
                <a:spcPct val="20000"/>
              </a:spcBef>
              <a:buClr>
                <a:schemeClr val="hlink"/>
              </a:buClr>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a:spcBef>
                <a:spcPct val="20000"/>
              </a:spcBef>
              <a:buClr>
                <a:schemeClr val="hlink"/>
              </a:buClr>
            </a:pPr>
            <a:endParaRPr lang="en-US" altLang="zh-CN" b="1">
              <a:solidFill>
                <a:schemeClr val="tx2"/>
              </a:solidFill>
              <a:latin typeface="宋体" panose="02010600030101010101" pitchFamily="2" charset="-122"/>
            </a:endParaRPr>
          </a:p>
        </p:txBody>
      </p:sp>
      <p:pic>
        <p:nvPicPr>
          <p:cNvPr id="16389" name="Picture 7" descr="MC900429293[1]"/>
          <p:cNvPicPr>
            <a:picLocks noChangeAspect="1" noChangeArrowheads="1"/>
          </p:cNvPicPr>
          <p:nvPr/>
        </p:nvPicPr>
        <p:blipFill>
          <a:blip r:embed="rId1" cstate="print"/>
          <a:srcRect/>
          <a:stretch>
            <a:fillRect/>
          </a:stretch>
        </p:blipFill>
        <p:spPr bwMode="auto">
          <a:xfrm>
            <a:off x="6856413" y="3344863"/>
            <a:ext cx="1214437" cy="1084262"/>
          </a:xfrm>
          <a:prstGeom prst="rect">
            <a:avLst/>
          </a:prstGeom>
          <a:noFill/>
          <a:ln w="9525">
            <a:noFill/>
            <a:miter lim="800000"/>
            <a:headEnd/>
            <a:tailEnd/>
          </a:ln>
        </p:spPr>
      </p:pic>
      <p:sp>
        <p:nvSpPr>
          <p:cNvPr id="70665" name="Rectangle 2"/>
          <p:cNvSpPr txBox="1">
            <a:spLocks noChangeArrowheads="1"/>
          </p:cNvSpPr>
          <p:nvPr/>
        </p:nvSpPr>
        <p:spPr bwMode="white">
          <a:xfrm>
            <a:off x="1822450" y="220663"/>
            <a:ext cx="5181600" cy="563562"/>
          </a:xfrm>
          <a:prstGeom prst="rect">
            <a:avLst/>
          </a:prstGeom>
          <a:noFill/>
          <a:ln>
            <a:noFill/>
          </a:ln>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defRPr/>
            </a:pPr>
            <a:r>
              <a:rPr sz="3200" dirty="0" smtClean="0">
                <a:solidFill>
                  <a:schemeClr val="bg1"/>
                </a:solidFill>
                <a:latin typeface="Verdana" panose="020B0604030504040204" pitchFamily="34" charset="0"/>
              </a:rPr>
              <a:t>10.1 数据库系统安全基础</a:t>
            </a:r>
            <a:endParaRPr sz="3200" dirty="0" smtClean="0">
              <a:solidFill>
                <a:schemeClr val="bg1"/>
              </a:solidFill>
              <a:latin typeface="Verdana" panose="020B0604030504040204" pitchFamily="34" charset="0"/>
            </a:endParaRPr>
          </a:p>
        </p:txBody>
      </p:sp>
      <p:sp>
        <p:nvSpPr>
          <p:cNvPr id="26630" name="圆角矩形 18"/>
          <p:cNvSpPr/>
          <p:nvPr/>
        </p:nvSpPr>
        <p:spPr>
          <a:xfrm>
            <a:off x="1701800" y="5702300"/>
            <a:ext cx="5949950" cy="809625"/>
          </a:xfrm>
          <a:prstGeom prst="roundRect">
            <a:avLst>
              <a:gd name="adj" fmla="val 16667"/>
            </a:avLst>
          </a:prstGeom>
          <a:solidFill>
            <a:srgbClr val="FFFF99"/>
          </a:solidFill>
          <a:ln w="25400" cap="flat" cmpd="sng">
            <a:solidFill>
              <a:schemeClr val="tx1"/>
            </a:solidFill>
            <a:prstDash val="solid"/>
            <a:headEnd type="none" w="med" len="med"/>
            <a:tailEnd type="none" w="med" len="med"/>
          </a:ln>
        </p:spPr>
        <p:txBody>
          <a:bodyPr anchor="ctr"/>
          <a:lstStyle/>
          <a:p>
            <a:pPr>
              <a:spcBef>
                <a:spcPts val="0"/>
              </a:spcBef>
              <a:buFont typeface="Wingdings" panose="05000000000000000000" pitchFamily="2" charset="2"/>
              <a:buNone/>
            </a:pPr>
            <a:r>
              <a:rPr lang="en-US" altLang="zh-CN" sz="1600" b="1" noProof="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rPr>
              <a:t>   </a:t>
            </a:r>
            <a:r>
              <a:rPr sz="1600" b="1" noProof="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rPr>
              <a:t>讨论思考</a:t>
            </a:r>
            <a:r>
              <a:rPr sz="1600" b="1" noProof="1"/>
              <a:t>：</a:t>
            </a:r>
            <a:endParaRPr sz="1600" b="1" noProof="1"/>
          </a:p>
          <a:p>
            <a:pPr>
              <a:spcBef>
                <a:spcPts val="0"/>
              </a:spcBef>
              <a:buFont typeface="Wingdings" panose="05000000000000000000" pitchFamily="2" charset="2"/>
              <a:buNone/>
            </a:pPr>
            <a:r>
              <a:rPr sz="1600" b="1" noProof="1"/>
              <a:t>      1）什么是数据库的安全及数据安全？</a:t>
            </a:r>
            <a:endParaRPr sz="1600" b="1" noProof="1"/>
          </a:p>
          <a:p>
            <a:pPr>
              <a:spcBef>
                <a:spcPts val="0"/>
              </a:spcBef>
              <a:buFont typeface="Wingdings" panose="05000000000000000000" pitchFamily="2" charset="2"/>
              <a:buNone/>
            </a:pPr>
            <a:r>
              <a:rPr sz="1600" b="1" noProof="1"/>
              <a:t>      2）数据库主要的安全威胁和隐患有哪些？</a:t>
            </a:r>
            <a:endParaRPr sz="1600" b="1" noProof="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内容占位符 13"/>
          <p:cNvSpPr>
            <a:spLocks noGrp="1" noChangeArrowheads="1"/>
          </p:cNvSpPr>
          <p:nvPr>
            <p:ph idx="4294967295"/>
          </p:nvPr>
        </p:nvSpPr>
        <p:spPr>
          <a:xfrm>
            <a:off x="611188" y="2708275"/>
            <a:ext cx="7694612" cy="3692525"/>
          </a:xfrm>
        </p:spPr>
        <p:txBody>
          <a:bodyPr/>
          <a:lstStyle/>
          <a:p>
            <a:pPr>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19" name="圆角矩形 18"/>
          <p:cNvSpPr/>
          <p:nvPr/>
        </p:nvSpPr>
        <p:spPr bwMode="gray">
          <a:xfrm>
            <a:off x="342900" y="1633538"/>
            <a:ext cx="8458200" cy="4589462"/>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spcBef>
                <a:spcPct val="20000"/>
              </a:spcBef>
              <a:buFont typeface="Wingdings" panose="05000000000000000000" pitchFamily="2" charset="2"/>
              <a:buNone/>
              <a:defRPr/>
            </a:pPr>
            <a:endParaRPr lang="en-US" altLang="zh-CN" b="1">
              <a:solidFill>
                <a:schemeClr val="tx1"/>
              </a:solidFill>
              <a:latin typeface="Arial" panose="020B0604020202020204" pitchFamily="34" charset="0"/>
            </a:endParaRPr>
          </a:p>
        </p:txBody>
      </p:sp>
      <p:sp>
        <p:nvSpPr>
          <p:cNvPr id="17411" name="内容占位符 13"/>
          <p:cNvSpPr>
            <a:spLocks noChangeArrowheads="1"/>
          </p:cNvSpPr>
          <p:nvPr/>
        </p:nvSpPr>
        <p:spPr bwMode="auto">
          <a:xfrm>
            <a:off x="395288" y="1196975"/>
            <a:ext cx="8153400" cy="97155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buFont typeface="Wingdings" panose="05000000000000000000" pitchFamily="2" charset="2"/>
              <a:buNone/>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chemeClr val="tx2"/>
              </a:solidFill>
              <a:latin typeface="宋体" panose="02010600030101010101" pitchFamily="2" charset="-122"/>
            </a:endParaRPr>
          </a:p>
        </p:txBody>
      </p:sp>
      <p:sp>
        <p:nvSpPr>
          <p:cNvPr id="17412" name="内容占位符 13"/>
          <p:cNvSpPr>
            <a:spLocks noChangeArrowheads="1"/>
          </p:cNvSpPr>
          <p:nvPr/>
        </p:nvSpPr>
        <p:spPr bwMode="auto">
          <a:xfrm>
            <a:off x="468313" y="1052513"/>
            <a:ext cx="8064500" cy="658812"/>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r>
              <a:rPr lang="en-US" altLang="zh-CN" sz="2800" b="1">
                <a:solidFill>
                  <a:srgbClr val="FF0000"/>
                </a:solidFill>
                <a:latin typeface="宋体" panose="02010600030101010101" pitchFamily="2" charset="-122"/>
              </a:rPr>
              <a:t>10.2.1 </a:t>
            </a:r>
            <a:r>
              <a:rPr lang="zh-CN" altLang="en-US" sz="2800" b="1">
                <a:solidFill>
                  <a:srgbClr val="FF0000"/>
                </a:solidFill>
                <a:latin typeface="宋体" panose="02010600030101010101" pitchFamily="2" charset="-122"/>
              </a:rPr>
              <a:t>数据库的安全体系</a:t>
            </a:r>
            <a:endParaRPr lang="zh-CN" altLang="en-US" sz="2600" b="1">
              <a:solidFill>
                <a:srgbClr val="FF0000"/>
              </a:solidFill>
              <a:latin typeface="宋体" panose="02010600030101010101" pitchFamily="2" charset="-122"/>
            </a:endParaRPr>
          </a:p>
          <a:p>
            <a:pPr marL="342900" indent="-342900">
              <a:spcBef>
                <a:spcPct val="20000"/>
              </a:spcBef>
              <a:spcAft>
                <a:spcPts val="600"/>
              </a:spcAft>
              <a:buClr>
                <a:schemeClr val="hlink"/>
              </a:buClr>
              <a:buFont typeface="Wingdings" panose="05000000000000000000" pitchFamily="2" charset="2"/>
              <a:buNone/>
            </a:pPr>
            <a:r>
              <a:rPr lang="zh-CN" altLang="en-US" b="1">
                <a:solidFill>
                  <a:srgbClr val="FF0000"/>
                </a:solidFill>
                <a:latin typeface="宋体" panose="02010600030101010101" pitchFamily="2" charset="-122"/>
              </a:rPr>
              <a:t> </a:t>
            </a:r>
            <a:r>
              <a:rPr lang="en-US" altLang="zh-CN">
                <a:solidFill>
                  <a:srgbClr val="FF0000"/>
                </a:solidFill>
                <a:latin typeface="Times New Roman" panose="02020603050405020304" pitchFamily="18" charset="0"/>
              </a:rPr>
              <a:t>     </a:t>
            </a:r>
            <a:r>
              <a:rPr lang="en-US" altLang="zh-CN" b="1">
                <a:solidFill>
                  <a:srgbClr val="FF0000"/>
                </a:solidFill>
                <a:latin typeface="宋体" panose="02010600030101010101" pitchFamily="2" charset="-122"/>
              </a:rPr>
              <a:t>1. </a:t>
            </a:r>
            <a:r>
              <a:rPr lang="zh-CN" altLang="en-US" b="1">
                <a:solidFill>
                  <a:srgbClr val="FF0000"/>
                </a:solidFill>
                <a:latin typeface="宋体" panose="02010600030101010101" pitchFamily="2" charset="-122"/>
              </a:rPr>
              <a:t>数据库系统的安全体系框架</a:t>
            </a:r>
            <a:endParaRPr lang="zh-CN" altLang="en-US" b="1">
              <a:solidFill>
                <a:srgbClr val="FF0000"/>
              </a:solidFill>
              <a:latin typeface="宋体" panose="02010600030101010101" pitchFamily="2" charset="-122"/>
            </a:endParaRPr>
          </a:p>
          <a:p>
            <a:pPr marL="342900" indent="-342900" eaLnBrk="0" hangingPunct="0">
              <a:spcBef>
                <a:spcPct val="20000"/>
              </a:spcBef>
              <a:buClr>
                <a:schemeClr val="hlink"/>
              </a:buClr>
              <a:buFont typeface="Wingdings" panose="05000000000000000000" pitchFamily="2" charset="2"/>
              <a:buNone/>
            </a:pPr>
            <a:r>
              <a:rPr lang="en-US" altLang="zh-CN" b="1">
                <a:solidFill>
                  <a:srgbClr val="990033"/>
                </a:solidFill>
                <a:latin typeface="宋体" panose="02010600030101010101" pitchFamily="2" charset="-122"/>
              </a:rPr>
              <a:t>   </a:t>
            </a:r>
            <a:r>
              <a:rPr lang="zh-CN" altLang="en-US" b="1">
                <a:solidFill>
                  <a:schemeClr val="tx2"/>
                </a:solidFill>
                <a:latin typeface="宋体" panose="02010600030101010101" pitchFamily="2" charset="-122"/>
              </a:rPr>
              <a:t>（</a:t>
            </a:r>
            <a:r>
              <a:rPr lang="en-US" altLang="zh-CN" b="1">
                <a:solidFill>
                  <a:schemeClr val="tx2"/>
                </a:solidFill>
                <a:latin typeface="宋体" panose="02010600030101010101" pitchFamily="2" charset="-122"/>
              </a:rPr>
              <a:t>1</a:t>
            </a:r>
            <a:r>
              <a:rPr lang="zh-CN" altLang="en-US" b="1">
                <a:solidFill>
                  <a:schemeClr val="tx2"/>
                </a:solidFill>
                <a:latin typeface="宋体" panose="02010600030101010101" pitchFamily="2" charset="-122"/>
              </a:rPr>
              <a:t>）网络系统层</a:t>
            </a:r>
            <a:endParaRPr lang="en-US" altLang="zh-CN" b="1">
              <a:solidFill>
                <a:schemeClr val="tx2"/>
              </a:solidFill>
              <a:latin typeface="宋体" panose="02010600030101010101" pitchFamily="2" charset="-122"/>
            </a:endParaRPr>
          </a:p>
          <a:p>
            <a:pPr marL="342900" indent="-342900" eaLnBrk="0" hangingPunct="0">
              <a:spcBef>
                <a:spcPct val="20000"/>
              </a:spcBef>
              <a:buClr>
                <a:schemeClr val="hlink"/>
              </a:buClr>
              <a:buFont typeface="Wingdings" panose="05000000000000000000" pitchFamily="2" charset="2"/>
              <a:buNone/>
            </a:pPr>
            <a:r>
              <a:rPr lang="en-US" altLang="zh-CN" b="1">
                <a:solidFill>
                  <a:schemeClr val="tx2"/>
                </a:solidFill>
                <a:latin typeface="宋体" panose="02010600030101010101" pitchFamily="2" charset="-122"/>
              </a:rPr>
              <a:t>    </a:t>
            </a:r>
            <a:r>
              <a:rPr lang="zh-CN" altLang="zh-CN" b="1">
                <a:solidFill>
                  <a:schemeClr val="tx2"/>
                </a:solidFill>
                <a:latin typeface="宋体" panose="02010600030101010101" pitchFamily="2" charset="-122"/>
              </a:rPr>
              <a:t>网络系统是数据库应用的重要基础和外部环境</a:t>
            </a:r>
            <a:r>
              <a:rPr lang="en-US" altLang="zh-CN" b="1">
                <a:solidFill>
                  <a:schemeClr val="tx2"/>
                </a:solidFill>
                <a:latin typeface="宋体" panose="02010600030101010101" pitchFamily="2" charset="-122"/>
              </a:rPr>
              <a:t>,</a:t>
            </a:r>
            <a:r>
              <a:rPr lang="zh-CN" altLang="en-US" b="1">
                <a:solidFill>
                  <a:schemeClr val="tx2"/>
                </a:solidFill>
                <a:latin typeface="宋体" panose="02010600030101010101" pitchFamily="2" charset="-122"/>
              </a:rPr>
              <a:t>安全防范技术包括防火墙、入侵检测、协作式入侵检测技术等</a:t>
            </a:r>
            <a:r>
              <a:rPr lang="en-US" altLang="zh-CN" b="1">
                <a:solidFill>
                  <a:schemeClr val="tx2"/>
                </a:solidFill>
                <a:latin typeface="宋体" panose="02010600030101010101" pitchFamily="2" charset="-122"/>
              </a:rPr>
              <a:t>.</a:t>
            </a:r>
            <a:r>
              <a:rPr lang="zh-CN" altLang="en-US" b="1">
                <a:solidFill>
                  <a:schemeClr val="tx2"/>
                </a:solidFill>
                <a:latin typeface="宋体" panose="02010600030101010101" pitchFamily="2" charset="-122"/>
              </a:rPr>
              <a:t>   （</a:t>
            </a:r>
            <a:r>
              <a:rPr lang="en-US" altLang="zh-CN" b="1">
                <a:solidFill>
                  <a:schemeClr val="tx2"/>
                </a:solidFill>
                <a:latin typeface="宋体" panose="02010600030101010101" pitchFamily="2" charset="-122"/>
              </a:rPr>
              <a:t>2</a:t>
            </a:r>
            <a:r>
              <a:rPr lang="zh-CN" altLang="en-US" b="1">
                <a:solidFill>
                  <a:schemeClr val="tx2"/>
                </a:solidFill>
                <a:latin typeface="宋体" panose="02010600030101010101" pitchFamily="2" charset="-122"/>
              </a:rPr>
              <a:t>）宿主操作系统层</a:t>
            </a:r>
            <a:endParaRPr lang="en-US" altLang="zh-CN" b="1">
              <a:solidFill>
                <a:schemeClr val="tx2"/>
              </a:solidFill>
              <a:latin typeface="宋体" panose="02010600030101010101" pitchFamily="2" charset="-122"/>
            </a:endParaRPr>
          </a:p>
          <a:p>
            <a:pPr marL="342900" indent="-342900" eaLnBrk="0" hangingPunct="0">
              <a:spcBef>
                <a:spcPct val="20000"/>
              </a:spcBef>
              <a:buClr>
                <a:schemeClr val="hlink"/>
              </a:buClr>
              <a:buFont typeface="Wingdings" panose="05000000000000000000" pitchFamily="2" charset="2"/>
              <a:buNone/>
            </a:pPr>
            <a:r>
              <a:rPr lang="zh-CN" altLang="en-US" b="1">
                <a:solidFill>
                  <a:schemeClr val="tx2"/>
                </a:solidFill>
                <a:latin typeface="宋体" panose="02010600030101010101" pitchFamily="2" charset="-122"/>
              </a:rPr>
              <a:t>    操作系统是大型数据库系统的运行平台，主要从</a:t>
            </a:r>
            <a:r>
              <a:rPr lang="zh-CN" altLang="zh-CN" b="1">
                <a:solidFill>
                  <a:schemeClr val="tx2"/>
                </a:solidFill>
                <a:latin typeface="宋体" panose="02010600030101010101" pitchFamily="2" charset="-122"/>
              </a:rPr>
              <a:t>操作系统安全策略、安全管理策略、数据安全等方面</a:t>
            </a:r>
            <a:r>
              <a:rPr lang="zh-CN" altLang="en-US" b="1">
                <a:solidFill>
                  <a:schemeClr val="tx2"/>
                </a:solidFill>
                <a:latin typeface="宋体" panose="02010600030101010101" pitchFamily="2" charset="-122"/>
              </a:rPr>
              <a:t>进行安全防御。</a:t>
            </a:r>
            <a:endParaRPr lang="zh-CN" altLang="en-US" b="1">
              <a:solidFill>
                <a:schemeClr val="tx2"/>
              </a:solidFill>
              <a:latin typeface="宋体" panose="02010600030101010101" pitchFamily="2" charset="-122"/>
            </a:endParaRPr>
          </a:p>
          <a:p>
            <a:pPr marL="342900" indent="-342900" eaLnBrk="0" hangingPunct="0">
              <a:spcBef>
                <a:spcPct val="20000"/>
              </a:spcBef>
              <a:buClr>
                <a:schemeClr val="hlink"/>
              </a:buClr>
              <a:buFont typeface="Wingdings" panose="05000000000000000000" pitchFamily="2" charset="2"/>
              <a:buNone/>
            </a:pPr>
            <a:r>
              <a:rPr lang="zh-CN" altLang="en-US" b="1">
                <a:solidFill>
                  <a:schemeClr val="tx2"/>
                </a:solidFill>
                <a:latin typeface="宋体" panose="02010600030101010101" pitchFamily="2" charset="-122"/>
              </a:rPr>
              <a:t>   （</a:t>
            </a:r>
            <a:r>
              <a:rPr lang="en-US" altLang="zh-CN" b="1">
                <a:solidFill>
                  <a:schemeClr val="tx2"/>
                </a:solidFill>
                <a:latin typeface="宋体" panose="02010600030101010101" pitchFamily="2" charset="-122"/>
              </a:rPr>
              <a:t>3</a:t>
            </a:r>
            <a:r>
              <a:rPr lang="zh-CN" altLang="en-US" b="1">
                <a:solidFill>
                  <a:schemeClr val="tx2"/>
                </a:solidFill>
                <a:latin typeface="宋体" panose="02010600030101010101" pitchFamily="2" charset="-122"/>
              </a:rPr>
              <a:t>）数据库管理系统层</a:t>
            </a:r>
            <a:endParaRPr lang="zh-CN" altLang="en-US" b="1">
              <a:solidFill>
                <a:schemeClr val="tx2"/>
              </a:solidFill>
              <a:latin typeface="宋体" panose="02010600030101010101" pitchFamily="2" charset="-122"/>
            </a:endParaRPr>
          </a:p>
          <a:p>
            <a:pPr marL="342900" indent="-342900" eaLnBrk="0" hangingPunct="0">
              <a:spcBef>
                <a:spcPct val="20000"/>
              </a:spcBef>
              <a:buClr>
                <a:schemeClr val="hlink"/>
              </a:buClr>
              <a:buFont typeface="Wingdings" panose="05000000000000000000" pitchFamily="2" charset="2"/>
              <a:buNone/>
            </a:pPr>
            <a:r>
              <a:rPr lang="en-US" altLang="zh-CN" b="1">
                <a:solidFill>
                  <a:schemeClr val="tx2"/>
                </a:solidFill>
                <a:latin typeface="宋体" panose="02010600030101010101" pitchFamily="2" charset="-122"/>
              </a:rPr>
              <a:t>    DBMS</a:t>
            </a:r>
            <a:r>
              <a:rPr lang="zh-CN" altLang="zh-CN" b="1">
                <a:solidFill>
                  <a:schemeClr val="tx2"/>
                </a:solidFill>
                <a:latin typeface="宋体" panose="02010600030101010101" pitchFamily="2" charset="-122"/>
              </a:rPr>
              <a:t>弱安全性导致其安全性存在一定风险和威胁</a:t>
            </a:r>
            <a:r>
              <a:rPr lang="zh-CN" altLang="en-US" b="1">
                <a:solidFill>
                  <a:schemeClr val="tx2"/>
                </a:solidFill>
                <a:latin typeface="宋体" panose="02010600030101010101" pitchFamily="2" charset="-122"/>
              </a:rPr>
              <a:t>，</a:t>
            </a:r>
            <a:r>
              <a:rPr lang="zh-CN" altLang="zh-CN" b="1">
                <a:solidFill>
                  <a:schemeClr val="tx2"/>
                </a:solidFill>
                <a:latin typeface="宋体" panose="02010600030101010101" pitchFamily="2" charset="-122"/>
              </a:rPr>
              <a:t>有效方法之一是</a:t>
            </a:r>
            <a:r>
              <a:rPr lang="en-US" altLang="zh-CN" b="1">
                <a:solidFill>
                  <a:schemeClr val="tx2"/>
                </a:solidFill>
                <a:latin typeface="宋体" panose="02010600030101010101" pitchFamily="2" charset="-122"/>
              </a:rPr>
              <a:t>DBMS</a:t>
            </a:r>
            <a:r>
              <a:rPr lang="zh-CN" altLang="zh-CN" b="1">
                <a:solidFill>
                  <a:schemeClr val="tx2"/>
                </a:solidFill>
                <a:latin typeface="宋体" panose="02010600030101010101" pitchFamily="2" charset="-122"/>
              </a:rPr>
              <a:t>对数据库文件进行加密处理。</a:t>
            </a:r>
            <a:r>
              <a:rPr lang="zh-CN" altLang="en-US" b="1">
                <a:solidFill>
                  <a:schemeClr val="tx2"/>
                </a:solidFill>
                <a:latin typeface="宋体" panose="02010600030101010101" pitchFamily="2" charset="-122"/>
              </a:rPr>
              <a:t> </a:t>
            </a:r>
            <a:endParaRPr lang="en-US" altLang="zh-CN" sz="2200" b="1">
              <a:solidFill>
                <a:schemeClr val="tx2"/>
              </a:solidFill>
              <a:latin typeface="宋体" panose="02010600030101010101" pitchFamily="2" charset="-122"/>
            </a:endParaRPr>
          </a:p>
        </p:txBody>
      </p:sp>
      <p:pic>
        <p:nvPicPr>
          <p:cNvPr id="17413" name="Picture 8" descr="MC900436992[1]"/>
          <p:cNvPicPr>
            <a:picLocks noChangeAspect="1" noChangeArrowheads="1"/>
          </p:cNvPicPr>
          <p:nvPr/>
        </p:nvPicPr>
        <p:blipFill>
          <a:blip r:embed="rId1" cstate="print"/>
          <a:srcRect/>
          <a:stretch>
            <a:fillRect/>
          </a:stretch>
        </p:blipFill>
        <p:spPr bwMode="auto">
          <a:xfrm>
            <a:off x="5927725" y="4491038"/>
            <a:ext cx="1219200" cy="831850"/>
          </a:xfrm>
          <a:prstGeom prst="rect">
            <a:avLst/>
          </a:prstGeom>
          <a:noFill/>
          <a:ln w="9525">
            <a:noFill/>
            <a:miter lim="800000"/>
            <a:headEnd/>
            <a:tailEnd/>
          </a:ln>
        </p:spPr>
      </p:pic>
      <p:sp>
        <p:nvSpPr>
          <p:cNvPr id="17414" name="Rectangle 2"/>
          <p:cNvSpPr txBox="1">
            <a:spLocks noChangeArrowheads="1"/>
          </p:cNvSpPr>
          <p:nvPr/>
        </p:nvSpPr>
        <p:spPr bwMode="auto">
          <a:xfrm>
            <a:off x="1608138" y="217488"/>
            <a:ext cx="5784850" cy="563562"/>
          </a:xfrm>
          <a:prstGeom prst="rect">
            <a:avLst/>
          </a:prstGeom>
          <a:noFill/>
          <a:ln w="9525">
            <a:noFill/>
            <a:miter lim="800000"/>
          </a:ln>
        </p:spPr>
        <p:txBody>
          <a:bodyPr anchor="ctr"/>
          <a:lstStyle/>
          <a:p>
            <a:pPr>
              <a:spcBef>
                <a:spcPct val="20000"/>
              </a:spcBef>
              <a:buFont typeface="Wingdings" panose="05000000000000000000" pitchFamily="2" charset="2"/>
              <a:buNone/>
            </a:pPr>
            <a:r>
              <a:rPr lang="zh-CN" altLang="zh-CN" sz="3200" b="1">
                <a:solidFill>
                  <a:schemeClr val="bg1"/>
                </a:solidFill>
              </a:rPr>
              <a:t>10.2 数据库安全体系及防护</a:t>
            </a:r>
            <a:endParaRPr lang="zh-CN" altLang="zh-CN" sz="3200" b="1">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内容占位符 13"/>
          <p:cNvSpPr>
            <a:spLocks noGrp="1" noChangeArrowheads="1"/>
          </p:cNvSpPr>
          <p:nvPr>
            <p:ph idx="4294967295"/>
          </p:nvPr>
        </p:nvSpPr>
        <p:spPr>
          <a:xfrm>
            <a:off x="673100" y="2078038"/>
            <a:ext cx="6840538" cy="3322637"/>
          </a:xfrm>
        </p:spPr>
        <p:txBody>
          <a:bodyPr/>
          <a:lstStyle/>
          <a:p>
            <a:pPr>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19" name="圆角矩形 18"/>
          <p:cNvSpPr/>
          <p:nvPr/>
        </p:nvSpPr>
        <p:spPr bwMode="gray">
          <a:xfrm>
            <a:off x="673100" y="1795463"/>
            <a:ext cx="7597775" cy="3605212"/>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spcBef>
                <a:spcPct val="20000"/>
              </a:spcBef>
              <a:buFont typeface="Wingdings" panose="05000000000000000000" pitchFamily="2" charset="2"/>
              <a:buNone/>
              <a:defRPr/>
            </a:pPr>
            <a:endParaRPr lang="en-US" altLang="zh-CN" b="1">
              <a:solidFill>
                <a:schemeClr val="tx1"/>
              </a:solidFill>
              <a:latin typeface="Arial" panose="020B0604020202020204" pitchFamily="34" charset="0"/>
            </a:endParaRPr>
          </a:p>
        </p:txBody>
      </p:sp>
      <p:sp>
        <p:nvSpPr>
          <p:cNvPr id="18435" name="内容占位符 13"/>
          <p:cNvSpPr>
            <a:spLocks noChangeArrowheads="1"/>
          </p:cNvSpPr>
          <p:nvPr/>
        </p:nvSpPr>
        <p:spPr bwMode="auto">
          <a:xfrm>
            <a:off x="395288" y="1196975"/>
            <a:ext cx="8153400" cy="97155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buFont typeface="Wingdings" panose="05000000000000000000" pitchFamily="2" charset="2"/>
              <a:buNone/>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chemeClr val="tx2"/>
              </a:solidFill>
              <a:latin typeface="宋体" panose="02010600030101010101" pitchFamily="2" charset="-122"/>
            </a:endParaRPr>
          </a:p>
        </p:txBody>
      </p:sp>
      <p:sp>
        <p:nvSpPr>
          <p:cNvPr id="18436" name="内容占位符 13"/>
          <p:cNvSpPr>
            <a:spLocks noChangeArrowheads="1"/>
          </p:cNvSpPr>
          <p:nvPr/>
        </p:nvSpPr>
        <p:spPr bwMode="auto">
          <a:xfrm>
            <a:off x="673100" y="1231900"/>
            <a:ext cx="8064500" cy="396875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r>
              <a:rPr lang="en-US" altLang="zh-CN" sz="2800" b="1">
                <a:solidFill>
                  <a:srgbClr val="FF0000"/>
                </a:solidFill>
                <a:latin typeface="宋体" panose="02010600030101010101" pitchFamily="2" charset="-122"/>
              </a:rPr>
              <a:t>  2</a:t>
            </a:r>
            <a:r>
              <a:rPr lang="en-US" altLang="zh-CN" b="1">
                <a:solidFill>
                  <a:srgbClr val="FF0000"/>
                </a:solidFill>
                <a:latin typeface="宋体" panose="02010600030101010101" pitchFamily="2" charset="-122"/>
              </a:rPr>
              <a:t>. </a:t>
            </a:r>
            <a:r>
              <a:rPr lang="zh-CN" altLang="en-US" b="1">
                <a:solidFill>
                  <a:srgbClr val="FF0000"/>
                </a:solidFill>
                <a:latin typeface="宋体" panose="02010600030101010101" pitchFamily="2" charset="-122"/>
              </a:rPr>
              <a:t>数据库安全的层次体系结构</a:t>
            </a:r>
            <a:endParaRPr lang="zh-CN" altLang="en-US" b="1">
              <a:solidFill>
                <a:srgbClr val="FF0000"/>
              </a:solidFill>
              <a:latin typeface="宋体" panose="02010600030101010101" pitchFamily="2" charset="-122"/>
            </a:endParaRPr>
          </a:p>
          <a:p>
            <a:pPr marL="342900" indent="-342900" eaLnBrk="0" hangingPunct="0">
              <a:spcBef>
                <a:spcPct val="20000"/>
              </a:spcBef>
              <a:buClr>
                <a:schemeClr val="hlink"/>
              </a:buClr>
              <a:buFont typeface="Wingdings" panose="05000000000000000000" pitchFamily="2" charset="2"/>
              <a:buNone/>
            </a:pPr>
            <a:r>
              <a:rPr lang="en-US" altLang="zh-CN" b="1">
                <a:solidFill>
                  <a:schemeClr val="tx2"/>
                </a:solidFill>
                <a:latin typeface="宋体" panose="02010600030101010101" pitchFamily="2" charset="-122"/>
              </a:rPr>
              <a:t>   </a:t>
            </a:r>
            <a:r>
              <a:rPr lang="zh-CN" altLang="en-US" b="1">
                <a:solidFill>
                  <a:schemeClr val="tx2"/>
                </a:solidFill>
                <a:latin typeface="宋体" panose="02010600030101010101" pitchFamily="2" charset="-122"/>
              </a:rPr>
              <a:t>（</a:t>
            </a:r>
            <a:r>
              <a:rPr lang="en-US" altLang="zh-CN" b="1">
                <a:solidFill>
                  <a:schemeClr val="tx2"/>
                </a:solidFill>
                <a:latin typeface="宋体" panose="02010600030101010101" pitchFamily="2" charset="-122"/>
              </a:rPr>
              <a:t>1</a:t>
            </a:r>
            <a:r>
              <a:rPr lang="zh-CN" altLang="en-US" b="1">
                <a:solidFill>
                  <a:schemeClr val="tx2"/>
                </a:solidFill>
                <a:latin typeface="宋体" panose="02010600030101010101" pitchFamily="2" charset="-122"/>
              </a:rPr>
              <a:t>）物理层</a:t>
            </a:r>
            <a:endParaRPr lang="zh-CN" altLang="en-US" b="1">
              <a:solidFill>
                <a:schemeClr val="tx2"/>
              </a:solidFill>
              <a:latin typeface="宋体" panose="02010600030101010101" pitchFamily="2" charset="-122"/>
            </a:endParaRPr>
          </a:p>
          <a:p>
            <a:pPr marL="342900" indent="-342900" eaLnBrk="0" hangingPunct="0">
              <a:spcBef>
                <a:spcPct val="20000"/>
              </a:spcBef>
              <a:buClr>
                <a:schemeClr val="hlink"/>
              </a:buClr>
              <a:buFont typeface="Wingdings" panose="05000000000000000000" pitchFamily="2" charset="2"/>
              <a:buNone/>
            </a:pPr>
            <a:r>
              <a:rPr lang="zh-CN" altLang="en-US" b="1">
                <a:solidFill>
                  <a:schemeClr val="tx2"/>
                </a:solidFill>
                <a:latin typeface="宋体" panose="02010600030101010101" pitchFamily="2" charset="-122"/>
              </a:rPr>
              <a:t>   （</a:t>
            </a:r>
            <a:r>
              <a:rPr lang="en-US" altLang="zh-CN" b="1">
                <a:solidFill>
                  <a:schemeClr val="tx2"/>
                </a:solidFill>
                <a:latin typeface="宋体" panose="02010600030101010101" pitchFamily="2" charset="-122"/>
              </a:rPr>
              <a:t>2</a:t>
            </a:r>
            <a:r>
              <a:rPr lang="zh-CN" altLang="en-US" b="1">
                <a:solidFill>
                  <a:schemeClr val="tx2"/>
                </a:solidFill>
                <a:latin typeface="宋体" panose="02010600030101010101" pitchFamily="2" charset="-122"/>
              </a:rPr>
              <a:t>）网络层  </a:t>
            </a:r>
            <a:endParaRPr lang="zh-CN" altLang="en-US" b="1">
              <a:solidFill>
                <a:schemeClr val="tx2"/>
              </a:solidFill>
              <a:latin typeface="宋体" panose="02010600030101010101" pitchFamily="2" charset="-122"/>
            </a:endParaRPr>
          </a:p>
          <a:p>
            <a:pPr marL="342900" indent="-342900" eaLnBrk="0" hangingPunct="0">
              <a:spcBef>
                <a:spcPct val="20000"/>
              </a:spcBef>
              <a:buClr>
                <a:schemeClr val="hlink"/>
              </a:buClr>
              <a:buFont typeface="Wingdings" panose="05000000000000000000" pitchFamily="2" charset="2"/>
              <a:buNone/>
            </a:pPr>
            <a:r>
              <a:rPr lang="zh-CN" altLang="en-US" b="1">
                <a:solidFill>
                  <a:schemeClr val="tx2"/>
                </a:solidFill>
                <a:latin typeface="宋体" panose="02010600030101010101" pitchFamily="2" charset="-122"/>
              </a:rPr>
              <a:t>   （</a:t>
            </a:r>
            <a:r>
              <a:rPr lang="en-US" altLang="zh-CN" b="1">
                <a:solidFill>
                  <a:schemeClr val="tx2"/>
                </a:solidFill>
                <a:latin typeface="宋体" panose="02010600030101010101" pitchFamily="2" charset="-122"/>
              </a:rPr>
              <a:t>3</a:t>
            </a:r>
            <a:r>
              <a:rPr lang="zh-CN" altLang="en-US" b="1">
                <a:solidFill>
                  <a:schemeClr val="tx2"/>
                </a:solidFill>
                <a:latin typeface="宋体" panose="02010600030101010101" pitchFamily="2" charset="-122"/>
              </a:rPr>
              <a:t>）操作系统层</a:t>
            </a:r>
            <a:endParaRPr lang="zh-CN" altLang="en-US" b="1">
              <a:solidFill>
                <a:schemeClr val="tx2"/>
              </a:solidFill>
              <a:latin typeface="宋体" panose="02010600030101010101" pitchFamily="2" charset="-122"/>
            </a:endParaRPr>
          </a:p>
          <a:p>
            <a:pPr marL="342900" indent="-342900" eaLnBrk="0" hangingPunct="0">
              <a:spcBef>
                <a:spcPct val="20000"/>
              </a:spcBef>
              <a:buClr>
                <a:schemeClr val="hlink"/>
              </a:buClr>
              <a:buFont typeface="Wingdings" panose="05000000000000000000" pitchFamily="2" charset="2"/>
              <a:buNone/>
            </a:pPr>
            <a:r>
              <a:rPr lang="zh-CN" altLang="en-US" b="1">
                <a:solidFill>
                  <a:schemeClr val="tx2"/>
                </a:solidFill>
                <a:latin typeface="宋体" panose="02010600030101010101" pitchFamily="2" charset="-122"/>
              </a:rPr>
              <a:t>   （</a:t>
            </a:r>
            <a:r>
              <a:rPr lang="en-US" altLang="zh-CN" b="1">
                <a:solidFill>
                  <a:schemeClr val="tx2"/>
                </a:solidFill>
                <a:latin typeface="宋体" panose="02010600030101010101" pitchFamily="2" charset="-122"/>
              </a:rPr>
              <a:t>4</a:t>
            </a:r>
            <a:r>
              <a:rPr lang="zh-CN" altLang="en-US" b="1">
                <a:solidFill>
                  <a:schemeClr val="tx2"/>
                </a:solidFill>
                <a:latin typeface="宋体" panose="02010600030101010101" pitchFamily="2" charset="-122"/>
              </a:rPr>
              <a:t>）数据库系统层</a:t>
            </a:r>
            <a:endParaRPr lang="zh-CN" altLang="en-US" b="1">
              <a:solidFill>
                <a:schemeClr val="tx2"/>
              </a:solidFill>
              <a:latin typeface="宋体" panose="02010600030101010101" pitchFamily="2" charset="-122"/>
            </a:endParaRPr>
          </a:p>
          <a:p>
            <a:pPr marL="342900" indent="-342900" eaLnBrk="0" hangingPunct="0">
              <a:spcBef>
                <a:spcPct val="20000"/>
              </a:spcBef>
              <a:buClr>
                <a:schemeClr val="hlink"/>
              </a:buClr>
              <a:buFont typeface="Wingdings" panose="05000000000000000000" pitchFamily="2" charset="2"/>
              <a:buNone/>
            </a:pPr>
            <a:r>
              <a:rPr lang="zh-CN" altLang="en-US" b="1">
                <a:solidFill>
                  <a:schemeClr val="tx2"/>
                </a:solidFill>
                <a:latin typeface="宋体" panose="02010600030101010101" pitchFamily="2" charset="-122"/>
              </a:rPr>
              <a:t>   （</a:t>
            </a:r>
            <a:r>
              <a:rPr lang="en-US" altLang="zh-CN" b="1">
                <a:solidFill>
                  <a:schemeClr val="tx2"/>
                </a:solidFill>
                <a:latin typeface="宋体" panose="02010600030101010101" pitchFamily="2" charset="-122"/>
              </a:rPr>
              <a:t>5</a:t>
            </a:r>
            <a:r>
              <a:rPr lang="zh-CN" altLang="en-US" b="1">
                <a:solidFill>
                  <a:schemeClr val="tx2"/>
                </a:solidFill>
                <a:latin typeface="宋体" panose="02010600030101010101" pitchFamily="2" charset="-122"/>
              </a:rPr>
              <a:t>）应用层</a:t>
            </a:r>
            <a:endParaRPr lang="zh-CN" altLang="en-US" b="1">
              <a:solidFill>
                <a:schemeClr val="tx2"/>
              </a:solidFill>
              <a:latin typeface="宋体" panose="02010600030101010101" pitchFamily="2" charset="-122"/>
            </a:endParaRPr>
          </a:p>
          <a:p>
            <a:pPr marL="342900" indent="-342900" eaLnBrk="0" hangingPunct="0">
              <a:spcBef>
                <a:spcPct val="20000"/>
              </a:spcBef>
              <a:buClr>
                <a:schemeClr val="hlink"/>
              </a:buClr>
              <a:buFont typeface="Wingdings" panose="05000000000000000000" pitchFamily="2" charset="2"/>
              <a:buNone/>
            </a:pPr>
            <a:r>
              <a:rPr lang="zh-CN" altLang="en-US" b="1">
                <a:solidFill>
                  <a:schemeClr val="tx2"/>
                </a:solidFill>
                <a:latin typeface="宋体" panose="02010600030101010101" pitchFamily="2" charset="-122"/>
              </a:rPr>
              <a:t>    为了确保数据库安全，必须在</a:t>
            </a:r>
            <a:r>
              <a:rPr lang="zh-CN" altLang="en-US" b="1">
                <a:solidFill>
                  <a:srgbClr val="800000"/>
                </a:solidFill>
                <a:latin typeface="宋体" panose="02010600030101010101" pitchFamily="2" charset="-122"/>
              </a:rPr>
              <a:t>所有层次上</a:t>
            </a:r>
            <a:r>
              <a:rPr lang="zh-CN" altLang="en-US" b="1">
                <a:solidFill>
                  <a:srgbClr val="3333FF"/>
                </a:solidFill>
                <a:latin typeface="宋体" panose="02010600030101010101" pitchFamily="2" charset="-122"/>
              </a:rPr>
              <a:t>进行</a:t>
            </a:r>
            <a:r>
              <a:rPr lang="zh-CN" altLang="en-US" b="1">
                <a:solidFill>
                  <a:schemeClr val="tx2"/>
                </a:solidFill>
                <a:latin typeface="宋体" panose="02010600030101010101" pitchFamily="2" charset="-122"/>
              </a:rPr>
              <a:t>安</a:t>
            </a:r>
            <a:endParaRPr lang="zh-CN" altLang="en-US" b="1">
              <a:solidFill>
                <a:schemeClr val="tx2"/>
              </a:solidFill>
              <a:latin typeface="宋体" panose="02010600030101010101" pitchFamily="2" charset="-122"/>
            </a:endParaRPr>
          </a:p>
          <a:p>
            <a:pPr marL="342900" indent="-342900" eaLnBrk="0" hangingPunct="0">
              <a:spcBef>
                <a:spcPct val="20000"/>
              </a:spcBef>
              <a:buClr>
                <a:schemeClr val="hlink"/>
              </a:buClr>
              <a:buFont typeface="Wingdings" panose="05000000000000000000" pitchFamily="2" charset="2"/>
              <a:buNone/>
            </a:pPr>
            <a:r>
              <a:rPr lang="zh-CN" altLang="en-US" b="1">
                <a:solidFill>
                  <a:schemeClr val="tx2"/>
                </a:solidFill>
                <a:latin typeface="宋体" panose="02010600030101010101" pitchFamily="2" charset="-122"/>
              </a:rPr>
              <a:t>全性保护措施。</a:t>
            </a:r>
            <a:r>
              <a:rPr lang="zh-CN" altLang="en-US" sz="2200" b="1">
                <a:solidFill>
                  <a:schemeClr val="tx2"/>
                </a:solidFill>
                <a:latin typeface="宋体" panose="02010600030101010101" pitchFamily="2" charset="-122"/>
              </a:rPr>
              <a:t> </a:t>
            </a:r>
            <a:endParaRPr lang="en-US" altLang="zh-CN" sz="2200" b="1">
              <a:solidFill>
                <a:schemeClr val="tx2"/>
              </a:solidFill>
              <a:latin typeface="宋体" panose="02010600030101010101" pitchFamily="2" charset="-122"/>
            </a:endParaRPr>
          </a:p>
        </p:txBody>
      </p:sp>
      <p:pic>
        <p:nvPicPr>
          <p:cNvPr id="18437" name="Picture 8" descr="MC900436992[1]"/>
          <p:cNvPicPr>
            <a:picLocks noChangeAspect="1" noChangeArrowheads="1"/>
          </p:cNvPicPr>
          <p:nvPr/>
        </p:nvPicPr>
        <p:blipFill>
          <a:blip r:embed="rId1" cstate="print"/>
          <a:srcRect/>
          <a:stretch>
            <a:fillRect/>
          </a:stretch>
        </p:blipFill>
        <p:spPr bwMode="auto">
          <a:xfrm>
            <a:off x="5462588" y="2479675"/>
            <a:ext cx="1930400" cy="1317625"/>
          </a:xfrm>
          <a:prstGeom prst="rect">
            <a:avLst/>
          </a:prstGeom>
          <a:noFill/>
          <a:ln w="9525">
            <a:noFill/>
            <a:miter lim="800000"/>
            <a:headEnd/>
            <a:tailEnd/>
          </a:ln>
        </p:spPr>
      </p:pic>
      <p:sp>
        <p:nvSpPr>
          <p:cNvPr id="18438" name="Rectangle 2"/>
          <p:cNvSpPr txBox="1">
            <a:spLocks noChangeArrowheads="1"/>
          </p:cNvSpPr>
          <p:nvPr/>
        </p:nvSpPr>
        <p:spPr bwMode="auto">
          <a:xfrm>
            <a:off x="1608138" y="217488"/>
            <a:ext cx="5784850" cy="563562"/>
          </a:xfrm>
          <a:prstGeom prst="rect">
            <a:avLst/>
          </a:prstGeom>
          <a:noFill/>
          <a:ln w="9525">
            <a:noFill/>
            <a:miter lim="800000"/>
          </a:ln>
        </p:spPr>
        <p:txBody>
          <a:bodyPr anchor="ctr"/>
          <a:lstStyle/>
          <a:p>
            <a:pPr>
              <a:spcBef>
                <a:spcPct val="20000"/>
              </a:spcBef>
              <a:buFont typeface="Wingdings" panose="05000000000000000000" pitchFamily="2" charset="2"/>
              <a:buNone/>
            </a:pPr>
            <a:r>
              <a:rPr lang="zh-CN" altLang="zh-CN" sz="3200" b="1">
                <a:solidFill>
                  <a:schemeClr val="bg1"/>
                </a:solidFill>
              </a:rPr>
              <a:t>10.2 数据库安全体系及防护</a:t>
            </a:r>
            <a:endParaRPr lang="zh-CN" altLang="zh-CN" sz="3200" b="1">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内容占位符 13"/>
          <p:cNvSpPr>
            <a:spLocks noChangeArrowheads="1"/>
          </p:cNvSpPr>
          <p:nvPr/>
        </p:nvSpPr>
        <p:spPr bwMode="auto">
          <a:xfrm>
            <a:off x="395288" y="1196975"/>
            <a:ext cx="8153400" cy="531495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buFont typeface="Wingdings" panose="05000000000000000000" pitchFamily="2" charset="2"/>
              <a:buNone/>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chemeClr val="tx2"/>
              </a:solidFill>
              <a:latin typeface="宋体" panose="02010600030101010101" pitchFamily="2" charset="-122"/>
            </a:endParaRPr>
          </a:p>
        </p:txBody>
      </p:sp>
      <p:sp>
        <p:nvSpPr>
          <p:cNvPr id="19458" name="内容占位符 13"/>
          <p:cNvSpPr>
            <a:spLocks noChangeArrowheads="1"/>
          </p:cNvSpPr>
          <p:nvPr/>
        </p:nvSpPr>
        <p:spPr bwMode="auto">
          <a:xfrm>
            <a:off x="395288" y="1196975"/>
            <a:ext cx="8153400" cy="2592388"/>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Char char="n"/>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Char char="n"/>
            </a:pPr>
            <a:endParaRPr lang="en-US" altLang="zh-CN">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buFont typeface="Wingdings" panose="05000000000000000000" pitchFamily="2" charset="2"/>
              <a:buNone/>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en-US" altLang="zh-CN" b="1">
                <a:solidFill>
                  <a:srgbClr val="0000CC"/>
                </a:solidFill>
                <a:latin typeface="Times New Roman" panose="02020603050405020304" pitchFamily="18" charset="0"/>
              </a:rPr>
              <a:t> </a:t>
            </a: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chemeClr val="tx2"/>
              </a:solidFill>
              <a:latin typeface="宋体" panose="02010600030101010101" pitchFamily="2" charset="-122"/>
            </a:endParaRPr>
          </a:p>
        </p:txBody>
      </p:sp>
      <p:pic>
        <p:nvPicPr>
          <p:cNvPr id="19459" name="Picture 8"/>
          <p:cNvPicPr>
            <a:picLocks noChangeAspect="1" noChangeArrowheads="1"/>
          </p:cNvPicPr>
          <p:nvPr/>
        </p:nvPicPr>
        <p:blipFill>
          <a:blip r:embed="rId1" cstate="print"/>
          <a:srcRect/>
          <a:stretch>
            <a:fillRect/>
          </a:stretch>
        </p:blipFill>
        <p:spPr bwMode="auto">
          <a:xfrm>
            <a:off x="1116013" y="3933825"/>
            <a:ext cx="3240087" cy="2447925"/>
          </a:xfrm>
          <a:prstGeom prst="rect">
            <a:avLst/>
          </a:prstGeom>
          <a:noFill/>
          <a:ln w="9525">
            <a:noFill/>
            <a:miter lim="800000"/>
            <a:headEnd/>
            <a:tailEnd/>
          </a:ln>
        </p:spPr>
      </p:pic>
      <p:pic>
        <p:nvPicPr>
          <p:cNvPr id="19460" name="Picture 9"/>
          <p:cNvPicPr>
            <a:picLocks noChangeAspect="1" noChangeArrowheads="1"/>
          </p:cNvPicPr>
          <p:nvPr/>
        </p:nvPicPr>
        <p:blipFill>
          <a:blip r:embed="rId2" cstate="print"/>
          <a:srcRect/>
          <a:stretch>
            <a:fillRect/>
          </a:stretch>
        </p:blipFill>
        <p:spPr bwMode="auto">
          <a:xfrm>
            <a:off x="4859338" y="4049713"/>
            <a:ext cx="2592387" cy="2259012"/>
          </a:xfrm>
          <a:prstGeom prst="rect">
            <a:avLst/>
          </a:prstGeom>
          <a:noFill/>
          <a:ln w="9525">
            <a:noFill/>
            <a:miter lim="800000"/>
            <a:headEnd/>
            <a:tailEnd/>
          </a:ln>
        </p:spPr>
      </p:pic>
      <p:sp>
        <p:nvSpPr>
          <p:cNvPr id="19461" name="Rectangle 10"/>
          <p:cNvSpPr>
            <a:spLocks noChangeArrowheads="1"/>
          </p:cNvSpPr>
          <p:nvPr/>
        </p:nvSpPr>
        <p:spPr bwMode="auto">
          <a:xfrm>
            <a:off x="1476375" y="6308725"/>
            <a:ext cx="6408738" cy="304800"/>
          </a:xfrm>
          <a:prstGeom prst="rect">
            <a:avLst/>
          </a:prstGeom>
          <a:noFill/>
          <a:ln w="9525">
            <a:noFill/>
            <a:miter lim="800000"/>
          </a:ln>
        </p:spPr>
        <p:txBody>
          <a:bodyPr anchor="ctr">
            <a:spAutoFit/>
          </a:bodyPr>
          <a:lstStyle/>
          <a:p>
            <a:pPr>
              <a:spcBef>
                <a:spcPct val="20000"/>
              </a:spcBef>
              <a:buFont typeface="Wingdings" panose="05000000000000000000" pitchFamily="2" charset="2"/>
              <a:buNone/>
            </a:pPr>
            <a:r>
              <a:rPr lang="zh-CN" altLang="en-US" sz="1400" b="1">
                <a:solidFill>
                  <a:schemeClr val="tx2"/>
                </a:solidFill>
              </a:rPr>
              <a:t>图</a:t>
            </a:r>
            <a:r>
              <a:rPr lang="en-US" altLang="zh-CN" sz="1400" b="1">
                <a:solidFill>
                  <a:schemeClr val="tx2"/>
                </a:solidFill>
              </a:rPr>
              <a:t>10-3 TCB</a:t>
            </a:r>
            <a:r>
              <a:rPr lang="zh-CN" altLang="en-US" sz="1400" b="1">
                <a:solidFill>
                  <a:schemeClr val="tx2"/>
                </a:solidFill>
              </a:rPr>
              <a:t>子集</a:t>
            </a:r>
            <a:r>
              <a:rPr lang="en-US" altLang="zh-CN" sz="1400" b="1">
                <a:solidFill>
                  <a:schemeClr val="tx2"/>
                </a:solidFill>
              </a:rPr>
              <a:t>DBMS</a:t>
            </a:r>
            <a:r>
              <a:rPr lang="zh-CN" altLang="en-US" sz="1400" b="1">
                <a:solidFill>
                  <a:schemeClr val="tx2"/>
                </a:solidFill>
              </a:rPr>
              <a:t>体系结构                    图</a:t>
            </a:r>
            <a:r>
              <a:rPr lang="en-US" altLang="zh-CN" sz="1400" b="1">
                <a:solidFill>
                  <a:schemeClr val="tx2"/>
                </a:solidFill>
              </a:rPr>
              <a:t>10-4 </a:t>
            </a:r>
            <a:r>
              <a:rPr lang="zh-CN" altLang="en-US" sz="1400" b="1">
                <a:solidFill>
                  <a:schemeClr val="tx2"/>
                </a:solidFill>
              </a:rPr>
              <a:t>可信主体</a:t>
            </a:r>
            <a:r>
              <a:rPr lang="en-US" altLang="zh-CN" sz="1400" b="1">
                <a:solidFill>
                  <a:schemeClr val="tx2"/>
                </a:solidFill>
              </a:rPr>
              <a:t>DBMS</a:t>
            </a:r>
            <a:r>
              <a:rPr lang="zh-CN" altLang="en-US" sz="1400" b="1">
                <a:solidFill>
                  <a:schemeClr val="tx2"/>
                </a:solidFill>
              </a:rPr>
              <a:t>体系结构</a:t>
            </a:r>
            <a:endParaRPr lang="zh-CN" altLang="en-US" sz="1400" b="1">
              <a:solidFill>
                <a:schemeClr val="tx2"/>
              </a:solidFill>
            </a:endParaRPr>
          </a:p>
        </p:txBody>
      </p:sp>
      <p:sp>
        <p:nvSpPr>
          <p:cNvPr id="19" name="圆角矩形 18"/>
          <p:cNvSpPr/>
          <p:nvPr/>
        </p:nvSpPr>
        <p:spPr bwMode="gray">
          <a:xfrm>
            <a:off x="684213" y="1784350"/>
            <a:ext cx="7200900" cy="207645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spcBef>
                <a:spcPct val="20000"/>
              </a:spcBef>
              <a:buFont typeface="Wingdings" panose="05000000000000000000" pitchFamily="2" charset="2"/>
              <a:buNone/>
              <a:defRPr/>
            </a:pPr>
            <a:r>
              <a:rPr lang="zh-CN" altLang="en-US" b="1" dirty="0">
                <a:solidFill>
                  <a:schemeClr val="tx2"/>
                </a:solidFill>
                <a:latin typeface="Arial" panose="020B0604020202020204" pitchFamily="34" charset="0"/>
              </a:rPr>
              <a:t>     </a:t>
            </a:r>
            <a:r>
              <a:rPr lang="zh-CN" altLang="en-US" b="1" dirty="0">
                <a:solidFill>
                  <a:srgbClr val="800000"/>
                </a:solidFill>
                <a:latin typeface="Arial" panose="020B0604020202020204" pitchFamily="34" charset="0"/>
              </a:rPr>
              <a:t>可信</a:t>
            </a:r>
            <a:r>
              <a:rPr lang="en-US" altLang="zh-CN" b="1" dirty="0">
                <a:solidFill>
                  <a:srgbClr val="006600"/>
                </a:solidFill>
                <a:latin typeface="Arial" panose="020B0604020202020204" pitchFamily="34" charset="0"/>
              </a:rPr>
              <a:t>DBMS</a:t>
            </a:r>
            <a:r>
              <a:rPr lang="zh-CN" altLang="en-US" b="1" dirty="0">
                <a:solidFill>
                  <a:srgbClr val="CC0000"/>
                </a:solidFill>
                <a:latin typeface="Arial" panose="020B0604020202020204" pitchFamily="34" charset="0"/>
              </a:rPr>
              <a:t>体系结构</a:t>
            </a:r>
            <a:r>
              <a:rPr lang="zh-CN" altLang="en-US" b="1" dirty="0">
                <a:solidFill>
                  <a:srgbClr val="CC0099"/>
                </a:solidFill>
                <a:latin typeface="Arial" panose="020B0604020202020204" pitchFamily="34" charset="0"/>
              </a:rPr>
              <a:t>分为两类</a:t>
            </a:r>
            <a:r>
              <a:rPr lang="zh-CN" altLang="en-US" b="1" dirty="0">
                <a:solidFill>
                  <a:schemeClr val="tx2"/>
                </a:solidFill>
                <a:latin typeface="Arial" panose="020B0604020202020204" pitchFamily="34" charset="0"/>
              </a:rPr>
              <a:t>：</a:t>
            </a:r>
            <a:endParaRPr lang="zh-CN" altLang="en-US" b="1" dirty="0">
              <a:solidFill>
                <a:schemeClr val="tx2"/>
              </a:solidFill>
              <a:latin typeface="Arial" panose="020B0604020202020204" pitchFamily="34" charset="0"/>
            </a:endParaRPr>
          </a:p>
          <a:p>
            <a:pPr>
              <a:spcBef>
                <a:spcPct val="20000"/>
              </a:spcBef>
              <a:buFont typeface="Wingdings" panose="05000000000000000000" pitchFamily="2" charset="2"/>
              <a:buNone/>
              <a:defRPr/>
            </a:pPr>
            <a:r>
              <a:rPr lang="zh-CN" altLang="en-US" b="1" dirty="0">
                <a:solidFill>
                  <a:schemeClr val="tx2"/>
                </a:solidFill>
                <a:latin typeface="Arial" panose="020B0604020202020204" pitchFamily="34" charset="0"/>
              </a:rPr>
              <a:t>   （</a:t>
            </a:r>
            <a:r>
              <a:rPr lang="en-US" altLang="zh-CN" b="1" dirty="0">
                <a:solidFill>
                  <a:schemeClr val="tx2"/>
                </a:solidFill>
                <a:latin typeface="Arial" panose="020B0604020202020204" pitchFamily="34" charset="0"/>
              </a:rPr>
              <a:t>1</a:t>
            </a:r>
            <a:r>
              <a:rPr lang="zh-CN" altLang="en-US" b="1" dirty="0">
                <a:solidFill>
                  <a:schemeClr val="tx2"/>
                </a:solidFill>
                <a:latin typeface="Arial" panose="020B0604020202020204" pitchFamily="34" charset="0"/>
              </a:rPr>
              <a:t>）</a:t>
            </a:r>
            <a:r>
              <a:rPr lang="en-US" altLang="zh-CN" b="1" dirty="0">
                <a:solidFill>
                  <a:srgbClr val="CC0099"/>
                </a:solidFill>
                <a:latin typeface="Arial" panose="020B0604020202020204" pitchFamily="34" charset="0"/>
              </a:rPr>
              <a:t>TCB</a:t>
            </a:r>
            <a:r>
              <a:rPr lang="zh-CN" altLang="en-US" b="1" dirty="0">
                <a:solidFill>
                  <a:schemeClr val="tx2"/>
                </a:solidFill>
                <a:latin typeface="Arial" panose="020B0604020202020204" pitchFamily="34" charset="0"/>
              </a:rPr>
              <a:t>子集</a:t>
            </a:r>
            <a:r>
              <a:rPr lang="en-US" altLang="zh-CN" b="1" dirty="0">
                <a:solidFill>
                  <a:srgbClr val="006600"/>
                </a:solidFill>
                <a:latin typeface="Arial" panose="020B0604020202020204" pitchFamily="34" charset="0"/>
              </a:rPr>
              <a:t>DBMS</a:t>
            </a:r>
            <a:r>
              <a:rPr lang="zh-CN" altLang="en-US" b="1" dirty="0">
                <a:solidFill>
                  <a:schemeClr val="tx2"/>
                </a:solidFill>
                <a:latin typeface="Arial" panose="020B0604020202020204" pitchFamily="34" charset="0"/>
              </a:rPr>
              <a:t>体系结构。如图</a:t>
            </a:r>
            <a:r>
              <a:rPr lang="en-US" altLang="zh-CN" b="1" dirty="0">
                <a:solidFill>
                  <a:schemeClr val="tx2"/>
                </a:solidFill>
                <a:latin typeface="Arial" panose="020B0604020202020204" pitchFamily="34" charset="0"/>
              </a:rPr>
              <a:t>10-3</a:t>
            </a:r>
            <a:r>
              <a:rPr lang="zh-CN" altLang="en-US" b="1" dirty="0">
                <a:solidFill>
                  <a:schemeClr val="tx2"/>
                </a:solidFill>
                <a:latin typeface="Arial" panose="020B0604020202020204" pitchFamily="34" charset="0"/>
              </a:rPr>
              <a:t>所示。</a:t>
            </a:r>
            <a:endParaRPr lang="zh-CN" altLang="en-US" b="1" dirty="0">
              <a:solidFill>
                <a:schemeClr val="tx2"/>
              </a:solidFill>
              <a:latin typeface="Arial" panose="020B0604020202020204" pitchFamily="34" charset="0"/>
            </a:endParaRPr>
          </a:p>
          <a:p>
            <a:pPr>
              <a:spcBef>
                <a:spcPct val="20000"/>
              </a:spcBef>
              <a:buFont typeface="Wingdings" panose="05000000000000000000" pitchFamily="2" charset="2"/>
              <a:buNone/>
              <a:defRPr/>
            </a:pPr>
            <a:r>
              <a:rPr lang="en-US" altLang="zh-CN" b="1" dirty="0">
                <a:solidFill>
                  <a:schemeClr val="tx2"/>
                </a:solidFill>
                <a:latin typeface="Arial" panose="020B0604020202020204" pitchFamily="34" charset="0"/>
              </a:rPr>
              <a:t>   </a:t>
            </a:r>
            <a:r>
              <a:rPr lang="zh-CN" altLang="en-US" b="1" dirty="0">
                <a:solidFill>
                  <a:schemeClr val="tx2"/>
                </a:solidFill>
                <a:latin typeface="Arial" panose="020B0604020202020204" pitchFamily="34" charset="0"/>
              </a:rPr>
              <a:t>（</a:t>
            </a:r>
            <a:r>
              <a:rPr lang="en-US" altLang="zh-CN" b="1" dirty="0">
                <a:solidFill>
                  <a:schemeClr val="tx2"/>
                </a:solidFill>
                <a:latin typeface="Arial" panose="020B0604020202020204" pitchFamily="34" charset="0"/>
              </a:rPr>
              <a:t>2</a:t>
            </a:r>
            <a:r>
              <a:rPr lang="zh-CN" altLang="en-US" b="1" dirty="0">
                <a:solidFill>
                  <a:schemeClr val="tx2"/>
                </a:solidFill>
                <a:latin typeface="Arial" panose="020B0604020202020204" pitchFamily="34" charset="0"/>
              </a:rPr>
              <a:t>）可信主体</a:t>
            </a:r>
            <a:r>
              <a:rPr lang="en-US" altLang="zh-CN" b="1" dirty="0">
                <a:solidFill>
                  <a:srgbClr val="006600"/>
                </a:solidFill>
                <a:latin typeface="Arial" panose="020B0604020202020204" pitchFamily="34" charset="0"/>
              </a:rPr>
              <a:t>DBMS</a:t>
            </a:r>
            <a:r>
              <a:rPr lang="zh-CN" altLang="en-US" b="1" dirty="0">
                <a:solidFill>
                  <a:schemeClr val="tx2"/>
                </a:solidFill>
                <a:latin typeface="Arial" panose="020B0604020202020204" pitchFamily="34" charset="0"/>
              </a:rPr>
              <a:t>体系结构。如图</a:t>
            </a:r>
            <a:r>
              <a:rPr lang="en-US" altLang="zh-CN" b="1" dirty="0">
                <a:solidFill>
                  <a:schemeClr val="tx2"/>
                </a:solidFill>
                <a:latin typeface="Arial" panose="020B0604020202020204" pitchFamily="34" charset="0"/>
              </a:rPr>
              <a:t>10-4</a:t>
            </a:r>
            <a:r>
              <a:rPr lang="zh-CN" altLang="en-US" b="1" dirty="0">
                <a:solidFill>
                  <a:schemeClr val="tx2"/>
                </a:solidFill>
                <a:latin typeface="Arial" panose="020B0604020202020204" pitchFamily="34" charset="0"/>
              </a:rPr>
              <a:t>所示，</a:t>
            </a:r>
            <a:endParaRPr lang="zh-CN" altLang="en-US" b="1" dirty="0">
              <a:solidFill>
                <a:schemeClr val="tx2"/>
              </a:solidFill>
              <a:latin typeface="Arial" panose="020B0604020202020204" pitchFamily="34" charset="0"/>
            </a:endParaRPr>
          </a:p>
          <a:p>
            <a:pPr>
              <a:spcBef>
                <a:spcPct val="20000"/>
              </a:spcBef>
              <a:buFont typeface="Wingdings" panose="05000000000000000000" pitchFamily="2" charset="2"/>
              <a:buNone/>
              <a:defRPr/>
            </a:pPr>
            <a:r>
              <a:rPr lang="en-US" altLang="zh-CN" b="1" dirty="0">
                <a:solidFill>
                  <a:srgbClr val="1F38ED"/>
                </a:solidFill>
                <a:latin typeface="Arial" panose="020B0604020202020204" pitchFamily="34" charset="0"/>
              </a:rPr>
              <a:t>       </a:t>
            </a:r>
            <a:r>
              <a:rPr lang="en-US" altLang="zh-CN" b="1" dirty="0">
                <a:solidFill>
                  <a:srgbClr val="006600"/>
                </a:solidFill>
                <a:latin typeface="Arial" panose="020B0604020202020204" pitchFamily="34" charset="0"/>
              </a:rPr>
              <a:t>DBMS</a:t>
            </a:r>
            <a:r>
              <a:rPr lang="zh-CN" altLang="en-US" b="1" dirty="0">
                <a:solidFill>
                  <a:schemeClr val="tx2"/>
                </a:solidFill>
                <a:latin typeface="Arial" panose="020B0604020202020204" pitchFamily="34" charset="0"/>
              </a:rPr>
              <a:t>软件仍在可信操作系统上运行，所有对数据库的访问都须经由</a:t>
            </a:r>
            <a:r>
              <a:rPr lang="zh-CN" altLang="en-US" b="1" dirty="0">
                <a:solidFill>
                  <a:srgbClr val="800000"/>
                </a:solidFill>
                <a:latin typeface="Arial" panose="020B0604020202020204" pitchFamily="34" charset="0"/>
              </a:rPr>
              <a:t>可信</a:t>
            </a:r>
            <a:r>
              <a:rPr lang="en-US" altLang="zh-CN" b="1" dirty="0">
                <a:solidFill>
                  <a:srgbClr val="006600"/>
                </a:solidFill>
                <a:latin typeface="Arial" panose="020B0604020202020204" pitchFamily="34" charset="0"/>
              </a:rPr>
              <a:t>DBMS</a:t>
            </a:r>
            <a:r>
              <a:rPr lang="zh-CN" altLang="en-US" b="1" dirty="0">
                <a:solidFill>
                  <a:schemeClr val="tx2"/>
                </a:solidFill>
                <a:latin typeface="Arial" panose="020B0604020202020204" pitchFamily="34" charset="0"/>
              </a:rPr>
              <a:t>。</a:t>
            </a:r>
            <a:endParaRPr lang="en-US" altLang="zh-CN" b="1" dirty="0">
              <a:solidFill>
                <a:schemeClr val="tx2"/>
              </a:solidFill>
              <a:latin typeface="Arial" panose="020B0604020202020204" pitchFamily="34" charset="0"/>
            </a:endParaRPr>
          </a:p>
        </p:txBody>
      </p:sp>
      <p:sp>
        <p:nvSpPr>
          <p:cNvPr id="19463" name="内容占位符 13"/>
          <p:cNvSpPr>
            <a:spLocks noChangeArrowheads="1"/>
          </p:cNvSpPr>
          <p:nvPr/>
        </p:nvSpPr>
        <p:spPr bwMode="auto">
          <a:xfrm>
            <a:off x="1212850" y="1196975"/>
            <a:ext cx="5368925" cy="587375"/>
          </a:xfrm>
          <a:prstGeom prst="rect">
            <a:avLst/>
          </a:prstGeom>
          <a:noFill/>
          <a:ln w="9525">
            <a:noFill/>
            <a:miter lim="800000"/>
          </a:ln>
        </p:spPr>
        <p:txBody>
          <a:bodyPr/>
          <a:lstStyle/>
          <a:p>
            <a:pPr marL="342900" indent="-342900">
              <a:spcBef>
                <a:spcPct val="20000"/>
              </a:spcBef>
              <a:buClr>
                <a:schemeClr val="hlink"/>
              </a:buClr>
              <a:buFont typeface="Wingdings" panose="05000000000000000000" pitchFamily="2" charset="2"/>
              <a:buNone/>
            </a:pPr>
            <a:r>
              <a:rPr lang="en-US" altLang="zh-CN" sz="2800" b="1">
                <a:solidFill>
                  <a:srgbClr val="FF0000"/>
                </a:solidFill>
                <a:latin typeface="宋体" panose="02010600030101010101" pitchFamily="2" charset="-122"/>
              </a:rPr>
              <a:t>3. </a:t>
            </a:r>
            <a:r>
              <a:rPr lang="zh-CN" altLang="en-US" sz="2800" b="1">
                <a:solidFill>
                  <a:srgbClr val="FF0000"/>
                </a:solidFill>
                <a:latin typeface="宋体" panose="02010600030101010101" pitchFamily="2" charset="-122"/>
              </a:rPr>
              <a:t>可信</a:t>
            </a:r>
            <a:r>
              <a:rPr lang="en-US" altLang="zh-CN" sz="2800" b="1">
                <a:solidFill>
                  <a:srgbClr val="FF0000"/>
                </a:solidFill>
                <a:latin typeface="宋体" panose="02010600030101010101" pitchFamily="2" charset="-122"/>
              </a:rPr>
              <a:t>DBMS</a:t>
            </a:r>
            <a:r>
              <a:rPr lang="zh-CN" altLang="en-US" sz="2800" b="1">
                <a:solidFill>
                  <a:srgbClr val="FF0000"/>
                </a:solidFill>
                <a:latin typeface="宋体" panose="02010600030101010101" pitchFamily="2" charset="-122"/>
              </a:rPr>
              <a:t>体系结构</a:t>
            </a:r>
            <a:r>
              <a:rPr lang="zh-CN" altLang="en-US" sz="2800" b="1">
                <a:solidFill>
                  <a:schemeClr val="tx2"/>
                </a:solidFill>
                <a:latin typeface="宋体" panose="02010600030101010101" pitchFamily="2" charset="-122"/>
              </a:rPr>
              <a:t> </a:t>
            </a:r>
            <a:endParaRPr lang="en-US" altLang="zh-CN" sz="2800" b="1">
              <a:solidFill>
                <a:schemeClr val="tx2"/>
              </a:solidFill>
              <a:latin typeface="宋体" panose="02010600030101010101" pitchFamily="2" charset="-122"/>
            </a:endParaRPr>
          </a:p>
        </p:txBody>
      </p:sp>
      <p:sp>
        <p:nvSpPr>
          <p:cNvPr id="19464" name="Rectangle 2"/>
          <p:cNvSpPr txBox="1">
            <a:spLocks noChangeArrowheads="1"/>
          </p:cNvSpPr>
          <p:nvPr/>
        </p:nvSpPr>
        <p:spPr bwMode="auto">
          <a:xfrm>
            <a:off x="1608138" y="217488"/>
            <a:ext cx="5784850" cy="563562"/>
          </a:xfrm>
          <a:prstGeom prst="rect">
            <a:avLst/>
          </a:prstGeom>
          <a:noFill/>
          <a:ln w="9525">
            <a:noFill/>
            <a:miter lim="800000"/>
          </a:ln>
        </p:spPr>
        <p:txBody>
          <a:bodyPr anchor="ctr"/>
          <a:lstStyle/>
          <a:p>
            <a:pPr>
              <a:spcBef>
                <a:spcPct val="20000"/>
              </a:spcBef>
              <a:buFont typeface="Wingdings" panose="05000000000000000000" pitchFamily="2" charset="2"/>
              <a:buNone/>
            </a:pPr>
            <a:r>
              <a:rPr lang="zh-CN" altLang="zh-CN" sz="3200" b="1">
                <a:solidFill>
                  <a:schemeClr val="bg1"/>
                </a:solidFill>
              </a:rPr>
              <a:t>10.2 数据库安全体系及防护</a:t>
            </a:r>
            <a:endParaRPr lang="zh-CN" altLang="zh-CN" sz="3200" b="1">
              <a:solidFill>
                <a:schemeClr val="bg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内容占位符 13"/>
          <p:cNvSpPr>
            <a:spLocks noGrp="1" noChangeArrowheads="1"/>
          </p:cNvSpPr>
          <p:nvPr>
            <p:ph idx="4294967295"/>
          </p:nvPr>
        </p:nvSpPr>
        <p:spPr>
          <a:xfrm>
            <a:off x="611188" y="2708275"/>
            <a:ext cx="6840537" cy="3322638"/>
          </a:xfrm>
        </p:spPr>
        <p:txBody>
          <a:bodyPr/>
          <a:lstStyle/>
          <a:p>
            <a:pPr>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19" name="圆角矩形 18"/>
          <p:cNvSpPr/>
          <p:nvPr/>
        </p:nvSpPr>
        <p:spPr bwMode="gray">
          <a:xfrm>
            <a:off x="838200" y="1549400"/>
            <a:ext cx="7262813" cy="448310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spcBef>
                <a:spcPct val="20000"/>
              </a:spcBef>
              <a:buFont typeface="Wingdings" panose="05000000000000000000" pitchFamily="2" charset="2"/>
              <a:buNone/>
              <a:defRPr/>
            </a:pPr>
            <a:endParaRPr lang="en-US" altLang="zh-CN" b="1">
              <a:solidFill>
                <a:schemeClr val="tx1"/>
              </a:solidFill>
              <a:latin typeface="Arial" panose="020B0604020202020204" pitchFamily="34" charset="0"/>
            </a:endParaRPr>
          </a:p>
        </p:txBody>
      </p:sp>
      <p:sp>
        <p:nvSpPr>
          <p:cNvPr id="20483" name="内容占位符 13"/>
          <p:cNvSpPr>
            <a:spLocks noChangeArrowheads="1"/>
          </p:cNvSpPr>
          <p:nvPr/>
        </p:nvSpPr>
        <p:spPr bwMode="auto">
          <a:xfrm>
            <a:off x="395288" y="1196975"/>
            <a:ext cx="8153400" cy="97155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buFont typeface="Wingdings" panose="05000000000000000000" pitchFamily="2" charset="2"/>
              <a:buNone/>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chemeClr val="tx2"/>
              </a:solidFill>
              <a:latin typeface="宋体" panose="02010600030101010101" pitchFamily="2" charset="-122"/>
            </a:endParaRPr>
          </a:p>
        </p:txBody>
      </p:sp>
      <p:sp>
        <p:nvSpPr>
          <p:cNvPr id="20484" name="内容占位符 13"/>
          <p:cNvSpPr>
            <a:spLocks noChangeArrowheads="1"/>
          </p:cNvSpPr>
          <p:nvPr/>
        </p:nvSpPr>
        <p:spPr bwMode="auto">
          <a:xfrm>
            <a:off x="539750" y="1044575"/>
            <a:ext cx="8064500" cy="700088"/>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r>
              <a:rPr lang="zh-CN" altLang="zh-CN" b="1">
                <a:solidFill>
                  <a:srgbClr val="FF0000"/>
                </a:solidFill>
                <a:latin typeface="宋体" panose="02010600030101010101" pitchFamily="2" charset="-122"/>
              </a:rPr>
              <a:t>10.2.2 数据库的安全防护</a:t>
            </a:r>
            <a:endParaRPr lang="zh-CN" altLang="zh-CN" b="1">
              <a:solidFill>
                <a:srgbClr val="FF0000"/>
              </a:solidFill>
              <a:latin typeface="宋体" panose="02010600030101010101" pitchFamily="2" charset="-122"/>
            </a:endParaRPr>
          </a:p>
          <a:p>
            <a:pPr marL="342900" indent="-342900" eaLnBrk="0" hangingPunct="0">
              <a:spcBef>
                <a:spcPct val="20000"/>
              </a:spcBef>
              <a:buClr>
                <a:schemeClr val="hlink"/>
              </a:buClr>
              <a:buFont typeface="Wingdings" panose="05000000000000000000" pitchFamily="2" charset="2"/>
              <a:buNone/>
            </a:pPr>
            <a:r>
              <a:rPr lang="en-US" altLang="zh-CN" b="1">
                <a:solidFill>
                  <a:schemeClr val="tx2"/>
                </a:solidFill>
                <a:latin typeface="宋体" panose="02010600030101010101" pitchFamily="2" charset="-122"/>
              </a:rPr>
              <a:t>      </a:t>
            </a:r>
            <a:r>
              <a:rPr lang="en-US" altLang="zh-CN" b="1">
                <a:solidFill>
                  <a:srgbClr val="CC0000"/>
                </a:solidFill>
                <a:latin typeface="宋体" panose="02010600030101010101" pitchFamily="2" charset="-122"/>
              </a:rPr>
              <a:t>1.</a:t>
            </a:r>
            <a:r>
              <a:rPr lang="zh-CN" altLang="en-US" b="1">
                <a:solidFill>
                  <a:srgbClr val="CC0000"/>
                </a:solidFill>
                <a:latin typeface="宋体" panose="02010600030101010101" pitchFamily="2" charset="-122"/>
              </a:rPr>
              <a:t>外围层安全防护</a:t>
            </a:r>
            <a:endParaRPr lang="en-US" altLang="zh-CN" b="1">
              <a:solidFill>
                <a:srgbClr val="CC0000"/>
              </a:solidFill>
              <a:latin typeface="宋体" panose="02010600030101010101" pitchFamily="2" charset="-122"/>
            </a:endParaRPr>
          </a:p>
          <a:p>
            <a:pPr marL="342900" indent="-342900" eaLnBrk="0" hangingPunct="0">
              <a:spcBef>
                <a:spcPct val="20000"/>
              </a:spcBef>
              <a:buClr>
                <a:schemeClr val="hlink"/>
              </a:buClr>
              <a:buFont typeface="Wingdings" panose="05000000000000000000" pitchFamily="2" charset="2"/>
              <a:buNone/>
            </a:pPr>
            <a:r>
              <a:rPr lang="en-US" altLang="zh-CN" b="1">
                <a:solidFill>
                  <a:schemeClr val="tx2"/>
                </a:solidFill>
                <a:latin typeface="宋体" panose="02010600030101010101" pitchFamily="2" charset="-122"/>
              </a:rPr>
              <a:t>       1</a:t>
            </a:r>
            <a:r>
              <a:rPr lang="zh-CN" altLang="en-US" b="1">
                <a:solidFill>
                  <a:schemeClr val="tx2"/>
                </a:solidFill>
                <a:latin typeface="宋体" panose="02010600030101010101" pitchFamily="2" charset="-122"/>
              </a:rPr>
              <a:t>）操作系统安全</a:t>
            </a:r>
            <a:endParaRPr lang="en-US" altLang="zh-CN" b="1">
              <a:solidFill>
                <a:schemeClr val="tx2"/>
              </a:solidFill>
              <a:latin typeface="宋体" panose="02010600030101010101" pitchFamily="2" charset="-122"/>
            </a:endParaRPr>
          </a:p>
          <a:p>
            <a:pPr marL="342900" indent="-342900" eaLnBrk="0" hangingPunct="0">
              <a:spcBef>
                <a:spcPct val="20000"/>
              </a:spcBef>
              <a:buClr>
                <a:schemeClr val="hlink"/>
              </a:buClr>
              <a:buFont typeface="Wingdings" panose="05000000000000000000" pitchFamily="2" charset="2"/>
              <a:buNone/>
            </a:pPr>
            <a:r>
              <a:rPr lang="en-US" altLang="zh-CN" b="1">
                <a:solidFill>
                  <a:schemeClr val="tx2"/>
                </a:solidFill>
                <a:latin typeface="宋体" panose="02010600030101010101" pitchFamily="2" charset="-122"/>
              </a:rPr>
              <a:t>       2</a:t>
            </a:r>
            <a:r>
              <a:rPr lang="zh-CN" altLang="en-US" b="1">
                <a:solidFill>
                  <a:schemeClr val="tx2"/>
                </a:solidFill>
                <a:latin typeface="宋体" panose="02010600030101010101" pitchFamily="2" charset="-122"/>
              </a:rPr>
              <a:t>）服务器及应用服务器安全</a:t>
            </a:r>
            <a:endParaRPr lang="en-US" altLang="zh-CN" b="1">
              <a:solidFill>
                <a:schemeClr val="tx2"/>
              </a:solidFill>
              <a:latin typeface="宋体" panose="02010600030101010101" pitchFamily="2" charset="-122"/>
            </a:endParaRPr>
          </a:p>
          <a:p>
            <a:pPr marL="342900" indent="-342900" eaLnBrk="0" hangingPunct="0">
              <a:spcBef>
                <a:spcPct val="20000"/>
              </a:spcBef>
              <a:buClr>
                <a:schemeClr val="hlink"/>
              </a:buClr>
              <a:buFont typeface="Wingdings" panose="05000000000000000000" pitchFamily="2" charset="2"/>
              <a:buNone/>
            </a:pPr>
            <a:r>
              <a:rPr lang="en-US" altLang="zh-CN" b="1">
                <a:solidFill>
                  <a:schemeClr val="tx2"/>
                </a:solidFill>
                <a:latin typeface="宋体" panose="02010600030101010101" pitchFamily="2" charset="-122"/>
              </a:rPr>
              <a:t>       3</a:t>
            </a:r>
            <a:r>
              <a:rPr lang="zh-CN" altLang="en-US" b="1">
                <a:solidFill>
                  <a:schemeClr val="tx2"/>
                </a:solidFill>
                <a:latin typeface="宋体" panose="02010600030101010101" pitchFamily="2" charset="-122"/>
              </a:rPr>
              <a:t>）传输安全</a:t>
            </a:r>
            <a:endParaRPr lang="en-US" altLang="zh-CN" b="1">
              <a:solidFill>
                <a:schemeClr val="tx2"/>
              </a:solidFill>
              <a:latin typeface="宋体" panose="02010600030101010101" pitchFamily="2" charset="-122"/>
            </a:endParaRPr>
          </a:p>
          <a:p>
            <a:pPr marL="342900" indent="-342900" eaLnBrk="0" hangingPunct="0">
              <a:spcBef>
                <a:spcPct val="20000"/>
              </a:spcBef>
              <a:buClr>
                <a:schemeClr val="hlink"/>
              </a:buClr>
              <a:buFont typeface="Wingdings" panose="05000000000000000000" pitchFamily="2" charset="2"/>
              <a:buNone/>
            </a:pPr>
            <a:r>
              <a:rPr lang="en-US" altLang="zh-CN" b="1">
                <a:solidFill>
                  <a:schemeClr val="tx2"/>
                </a:solidFill>
                <a:latin typeface="宋体" panose="02010600030101010101" pitchFamily="2" charset="-122"/>
              </a:rPr>
              <a:t>       4</a:t>
            </a:r>
            <a:r>
              <a:rPr lang="zh-CN" altLang="en-US" b="1">
                <a:solidFill>
                  <a:schemeClr val="tx2"/>
                </a:solidFill>
                <a:latin typeface="宋体" panose="02010600030101010101" pitchFamily="2" charset="-122"/>
              </a:rPr>
              <a:t>）数据库管理系统安全</a:t>
            </a:r>
            <a:endParaRPr lang="en-US" altLang="zh-CN" b="1">
              <a:solidFill>
                <a:schemeClr val="tx2"/>
              </a:solidFill>
              <a:latin typeface="宋体" panose="02010600030101010101" pitchFamily="2" charset="-122"/>
            </a:endParaRPr>
          </a:p>
          <a:p>
            <a:pPr marL="342900" indent="-342900" eaLnBrk="0" hangingPunct="0">
              <a:spcBef>
                <a:spcPct val="20000"/>
              </a:spcBef>
              <a:buClr>
                <a:schemeClr val="hlink"/>
              </a:buClr>
              <a:buFont typeface="Wingdings" panose="05000000000000000000" pitchFamily="2" charset="2"/>
              <a:buNone/>
            </a:pPr>
            <a:r>
              <a:rPr lang="zh-CN" altLang="en-US" b="1">
                <a:solidFill>
                  <a:srgbClr val="CC0000"/>
                </a:solidFill>
                <a:latin typeface="宋体" panose="02010600030101010101" pitchFamily="2" charset="-122"/>
              </a:rPr>
              <a:t>      </a:t>
            </a:r>
            <a:r>
              <a:rPr lang="en-US" altLang="zh-CN" b="1">
                <a:solidFill>
                  <a:srgbClr val="CC0000"/>
                </a:solidFill>
                <a:latin typeface="宋体" panose="02010600030101010101" pitchFamily="2" charset="-122"/>
              </a:rPr>
              <a:t>2.</a:t>
            </a:r>
            <a:r>
              <a:rPr lang="zh-CN" altLang="en-US" b="1">
                <a:solidFill>
                  <a:srgbClr val="CC0000"/>
                </a:solidFill>
                <a:latin typeface="宋体" panose="02010600030101010101" pitchFamily="2" charset="-122"/>
              </a:rPr>
              <a:t>核心层的安全防护</a:t>
            </a:r>
            <a:endParaRPr lang="en-US" altLang="zh-CN" b="1">
              <a:solidFill>
                <a:srgbClr val="CC0000"/>
              </a:solidFill>
              <a:latin typeface="宋体" panose="02010600030101010101" pitchFamily="2" charset="-122"/>
            </a:endParaRPr>
          </a:p>
          <a:p>
            <a:pPr marL="342900" indent="-342900" eaLnBrk="0" hangingPunct="0">
              <a:spcBef>
                <a:spcPct val="20000"/>
              </a:spcBef>
              <a:buClr>
                <a:schemeClr val="hlink"/>
              </a:buClr>
              <a:buFont typeface="Wingdings" panose="05000000000000000000" pitchFamily="2" charset="2"/>
              <a:buNone/>
            </a:pPr>
            <a:r>
              <a:rPr lang="en-US" altLang="zh-CN" b="1">
                <a:solidFill>
                  <a:schemeClr val="tx2"/>
                </a:solidFill>
                <a:latin typeface="宋体" panose="02010600030101010101" pitchFamily="2" charset="-122"/>
              </a:rPr>
              <a:t>       1</a:t>
            </a:r>
            <a:r>
              <a:rPr lang="zh-CN" altLang="en-US" b="1">
                <a:solidFill>
                  <a:schemeClr val="tx2"/>
                </a:solidFill>
                <a:latin typeface="宋体" panose="02010600030101010101" pitchFamily="2" charset="-122"/>
              </a:rPr>
              <a:t>）数据库加密</a:t>
            </a:r>
            <a:endParaRPr lang="en-US" altLang="zh-CN" b="1">
              <a:solidFill>
                <a:schemeClr val="tx2"/>
              </a:solidFill>
              <a:latin typeface="宋体" panose="02010600030101010101" pitchFamily="2" charset="-122"/>
            </a:endParaRPr>
          </a:p>
          <a:p>
            <a:pPr marL="342900" indent="-342900" eaLnBrk="0" hangingPunct="0">
              <a:spcBef>
                <a:spcPct val="20000"/>
              </a:spcBef>
              <a:buClr>
                <a:schemeClr val="hlink"/>
              </a:buClr>
              <a:buFont typeface="Wingdings" panose="05000000000000000000" pitchFamily="2" charset="2"/>
              <a:buNone/>
            </a:pPr>
            <a:r>
              <a:rPr lang="en-US" altLang="zh-CN" b="1">
                <a:solidFill>
                  <a:schemeClr val="tx2"/>
                </a:solidFill>
                <a:latin typeface="宋体" panose="02010600030101010101" pitchFamily="2" charset="-122"/>
              </a:rPr>
              <a:t>       2</a:t>
            </a:r>
            <a:r>
              <a:rPr lang="zh-CN" altLang="en-US" b="1">
                <a:solidFill>
                  <a:schemeClr val="tx2"/>
                </a:solidFill>
                <a:latin typeface="宋体" panose="02010600030101010101" pitchFamily="2" charset="-122"/>
              </a:rPr>
              <a:t>）数据分级控制</a:t>
            </a:r>
            <a:endParaRPr lang="en-US" altLang="zh-CN" b="1">
              <a:solidFill>
                <a:schemeClr val="tx2"/>
              </a:solidFill>
              <a:latin typeface="宋体" panose="02010600030101010101" pitchFamily="2" charset="-122"/>
            </a:endParaRPr>
          </a:p>
          <a:p>
            <a:pPr marL="342900" indent="-342900" eaLnBrk="0" hangingPunct="0">
              <a:spcBef>
                <a:spcPct val="20000"/>
              </a:spcBef>
              <a:buClr>
                <a:schemeClr val="hlink"/>
              </a:buClr>
              <a:buFont typeface="Wingdings" panose="05000000000000000000" pitchFamily="2" charset="2"/>
              <a:buNone/>
            </a:pPr>
            <a:r>
              <a:rPr lang="en-US" altLang="zh-CN" b="1">
                <a:solidFill>
                  <a:schemeClr val="tx2"/>
                </a:solidFill>
                <a:latin typeface="宋体" panose="02010600030101010101" pitchFamily="2" charset="-122"/>
              </a:rPr>
              <a:t>       3</a:t>
            </a:r>
            <a:r>
              <a:rPr lang="zh-CN" altLang="en-US" b="1">
                <a:solidFill>
                  <a:schemeClr val="tx2"/>
                </a:solidFill>
                <a:latin typeface="宋体" panose="02010600030101010101" pitchFamily="2" charset="-122"/>
              </a:rPr>
              <a:t>）数据库的备份和恢复</a:t>
            </a:r>
            <a:endParaRPr lang="en-US" altLang="zh-CN" b="1">
              <a:solidFill>
                <a:schemeClr val="tx2"/>
              </a:solidFill>
              <a:latin typeface="宋体" panose="02010600030101010101" pitchFamily="2" charset="-122"/>
            </a:endParaRPr>
          </a:p>
          <a:p>
            <a:pPr marL="342900" indent="-342900" eaLnBrk="0" hangingPunct="0">
              <a:spcBef>
                <a:spcPct val="20000"/>
              </a:spcBef>
              <a:buClr>
                <a:schemeClr val="hlink"/>
              </a:buClr>
              <a:buFont typeface="Wingdings" panose="05000000000000000000" pitchFamily="2" charset="2"/>
              <a:buNone/>
            </a:pPr>
            <a:r>
              <a:rPr lang="en-US" altLang="zh-CN" b="1">
                <a:solidFill>
                  <a:schemeClr val="tx2"/>
                </a:solidFill>
                <a:latin typeface="宋体" panose="02010600030101010101" pitchFamily="2" charset="-122"/>
              </a:rPr>
              <a:t>       4</a:t>
            </a:r>
            <a:r>
              <a:rPr lang="zh-CN" altLang="en-US" b="1">
                <a:solidFill>
                  <a:schemeClr val="tx2"/>
                </a:solidFill>
                <a:latin typeface="宋体" panose="02010600030101010101" pitchFamily="2" charset="-122"/>
              </a:rPr>
              <a:t>）网络数据库的容灾系统</a:t>
            </a:r>
            <a:r>
              <a:rPr lang="zh-CN" altLang="en-US" sz="2200" b="1">
                <a:solidFill>
                  <a:schemeClr val="tx2"/>
                </a:solidFill>
                <a:latin typeface="宋体" panose="02010600030101010101" pitchFamily="2" charset="-122"/>
              </a:rPr>
              <a:t> </a:t>
            </a:r>
            <a:endParaRPr lang="en-US" altLang="zh-CN" sz="2200" b="1">
              <a:solidFill>
                <a:schemeClr val="tx2"/>
              </a:solidFill>
              <a:latin typeface="宋体" panose="02010600030101010101" pitchFamily="2" charset="-122"/>
            </a:endParaRPr>
          </a:p>
        </p:txBody>
      </p:sp>
      <p:pic>
        <p:nvPicPr>
          <p:cNvPr id="20485" name="Picture 8" descr="MC900436992[1]"/>
          <p:cNvPicPr>
            <a:picLocks noChangeAspect="1" noChangeArrowheads="1"/>
          </p:cNvPicPr>
          <p:nvPr/>
        </p:nvPicPr>
        <p:blipFill>
          <a:blip r:embed="rId1" cstate="print"/>
          <a:srcRect/>
          <a:stretch>
            <a:fillRect/>
          </a:stretch>
        </p:blipFill>
        <p:spPr bwMode="auto">
          <a:xfrm>
            <a:off x="5864225" y="4598988"/>
            <a:ext cx="1587500" cy="1084262"/>
          </a:xfrm>
          <a:prstGeom prst="rect">
            <a:avLst/>
          </a:prstGeom>
          <a:noFill/>
          <a:ln w="9525">
            <a:noFill/>
            <a:miter lim="800000"/>
            <a:headEnd/>
            <a:tailEnd/>
          </a:ln>
        </p:spPr>
      </p:pic>
      <p:sp>
        <p:nvSpPr>
          <p:cNvPr id="20486" name="Rectangle 2"/>
          <p:cNvSpPr txBox="1">
            <a:spLocks noChangeArrowheads="1"/>
          </p:cNvSpPr>
          <p:nvPr/>
        </p:nvSpPr>
        <p:spPr bwMode="auto">
          <a:xfrm>
            <a:off x="1608138" y="217488"/>
            <a:ext cx="5784850" cy="563562"/>
          </a:xfrm>
          <a:prstGeom prst="rect">
            <a:avLst/>
          </a:prstGeom>
          <a:noFill/>
          <a:ln w="9525">
            <a:noFill/>
            <a:miter lim="800000"/>
          </a:ln>
        </p:spPr>
        <p:txBody>
          <a:bodyPr anchor="ctr"/>
          <a:lstStyle/>
          <a:p>
            <a:pPr>
              <a:spcBef>
                <a:spcPct val="20000"/>
              </a:spcBef>
              <a:buFont typeface="Wingdings" panose="05000000000000000000" pitchFamily="2" charset="2"/>
              <a:buNone/>
            </a:pPr>
            <a:r>
              <a:rPr lang="zh-CN" altLang="zh-CN" sz="3200" b="1">
                <a:solidFill>
                  <a:schemeClr val="bg1"/>
                </a:solidFill>
              </a:rPr>
              <a:t>10.2 数据库安全体系及防护</a:t>
            </a:r>
            <a:endParaRPr lang="zh-CN" altLang="zh-CN" sz="3200" b="1">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内容占位符 13"/>
          <p:cNvSpPr>
            <a:spLocks noGrp="1" noChangeArrowheads="1"/>
          </p:cNvSpPr>
          <p:nvPr>
            <p:ph idx="4294967295"/>
          </p:nvPr>
        </p:nvSpPr>
        <p:spPr>
          <a:xfrm>
            <a:off x="611188" y="2708275"/>
            <a:ext cx="6840537" cy="3322638"/>
          </a:xfrm>
        </p:spPr>
        <p:txBody>
          <a:bodyPr/>
          <a:lstStyle/>
          <a:p>
            <a:pPr>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19" name="圆角矩形 18"/>
          <p:cNvSpPr/>
          <p:nvPr/>
        </p:nvSpPr>
        <p:spPr bwMode="gray">
          <a:xfrm>
            <a:off x="681038" y="1549400"/>
            <a:ext cx="7799387" cy="422592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spcBef>
                <a:spcPct val="20000"/>
              </a:spcBef>
              <a:buFont typeface="Wingdings" panose="05000000000000000000" pitchFamily="2" charset="2"/>
              <a:buNone/>
              <a:defRPr/>
            </a:pPr>
            <a:endParaRPr lang="en-US" altLang="zh-CN" b="1">
              <a:solidFill>
                <a:schemeClr val="tx1"/>
              </a:solidFill>
              <a:latin typeface="Arial" panose="020B0604020202020204" pitchFamily="34" charset="0"/>
            </a:endParaRPr>
          </a:p>
        </p:txBody>
      </p:sp>
      <p:sp>
        <p:nvSpPr>
          <p:cNvPr id="21507" name="内容占位符 13"/>
          <p:cNvSpPr>
            <a:spLocks noChangeArrowheads="1"/>
          </p:cNvSpPr>
          <p:nvPr/>
        </p:nvSpPr>
        <p:spPr bwMode="auto">
          <a:xfrm>
            <a:off x="395288" y="1196975"/>
            <a:ext cx="8153400" cy="97155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buFont typeface="Wingdings" panose="05000000000000000000" pitchFamily="2" charset="2"/>
              <a:buNone/>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chemeClr val="tx2"/>
              </a:solidFill>
              <a:latin typeface="宋体" panose="02010600030101010101" pitchFamily="2" charset="-122"/>
            </a:endParaRPr>
          </a:p>
        </p:txBody>
      </p:sp>
      <p:sp>
        <p:nvSpPr>
          <p:cNvPr id="13318" name="内容占位符 13"/>
          <p:cNvSpPr/>
          <p:nvPr/>
        </p:nvSpPr>
        <p:spPr>
          <a:xfrm>
            <a:off x="768350" y="1114425"/>
            <a:ext cx="7712075" cy="434975"/>
          </a:xfrm>
          <a:prstGeom prst="rect">
            <a:avLst/>
          </a:prstGeom>
          <a:noFill/>
          <a:ln w="9525">
            <a:noFill/>
          </a:ln>
        </p:spPr>
        <p:txBody>
          <a:bodyPr/>
          <a:lstStyle/>
          <a:p>
            <a:pPr marL="342900" indent="-342900">
              <a:spcBef>
                <a:spcPct val="20000"/>
              </a:spcBef>
              <a:spcAft>
                <a:spcPts val="600"/>
              </a:spcAft>
              <a:buClr>
                <a:schemeClr val="hlink"/>
              </a:buClr>
              <a:buFont typeface="Wingdings" panose="05000000000000000000" pitchFamily="2" charset="2"/>
              <a:buNone/>
            </a:pPr>
            <a:r>
              <a:rPr b="1" noProof="1">
                <a:solidFill>
                  <a:srgbClr val="FF0000"/>
                </a:solidFill>
                <a:latin typeface="宋体" panose="02010600030101010101" pitchFamily="2" charset="-122"/>
              </a:rPr>
              <a:t>3．华为数据库安全防护应用</a:t>
            </a:r>
            <a:endParaRPr b="1" noProof="1">
              <a:solidFill>
                <a:srgbClr val="FF0000"/>
              </a:solidFill>
              <a:latin typeface="宋体" panose="02010600030101010101" pitchFamily="2" charset="-122"/>
            </a:endParaRPr>
          </a:p>
          <a:p>
            <a:pPr marL="16510" indent="643890" eaLnBrk="0" hangingPunct="0">
              <a:spcBef>
                <a:spcPct val="20000"/>
              </a:spcBef>
              <a:buClr>
                <a:schemeClr val="hlink"/>
              </a:buClr>
              <a:buFont typeface="Wingdings" panose="05000000000000000000" pitchFamily="2" charset="2"/>
              <a:buNone/>
            </a:pPr>
            <a:r>
              <a:rPr sz="2200" b="1" noProof="1">
                <a:solidFill>
                  <a:srgbClr val="C00000"/>
                </a:solidFill>
                <a:latin typeface="宋体" panose="02010600030101010101" pitchFamily="2" charset="-122"/>
              </a:rPr>
              <a:t>数据库安全防护</a:t>
            </a:r>
            <a:r>
              <a:rPr sz="2200" b="1" noProof="1">
                <a:latin typeface="宋体" panose="02010600030101010101" pitchFamily="2" charset="-122"/>
              </a:rPr>
              <a:t>基于反向代理及机器学习机制</a:t>
            </a:r>
            <a:r>
              <a:rPr lang="en-US" sz="2200" b="1" noProof="1">
                <a:latin typeface="宋体" panose="02010600030101010101" pitchFamily="2" charset="-122"/>
              </a:rPr>
              <a:t>,</a:t>
            </a:r>
            <a:r>
              <a:rPr sz="2200" b="1" noProof="1">
                <a:latin typeface="宋体" panose="02010600030101010101" pitchFamily="2" charset="-122"/>
              </a:rPr>
              <a:t>提供数据脱敏、数据库审计、敏感数据发现、数据库防拖库和防注入攻击等功能</a:t>
            </a:r>
            <a:r>
              <a:rPr lang="en-US" sz="2200" b="1" noProof="1">
                <a:latin typeface="宋体" panose="02010600030101010101" pitchFamily="2" charset="-122"/>
              </a:rPr>
              <a:t>,</a:t>
            </a:r>
            <a:r>
              <a:rPr sz="2200" b="1" noProof="1">
                <a:solidFill>
                  <a:srgbClr val="FF0000"/>
                </a:solidFill>
                <a:latin typeface="宋体" panose="02010600030101010101" pitchFamily="2" charset="-122"/>
              </a:rPr>
              <a:t>保障云数据库安全</a:t>
            </a:r>
            <a:r>
              <a:rPr lang="en-US" sz="2200" b="1" noProof="1">
                <a:latin typeface="宋体" panose="02010600030101010101" pitchFamily="2" charset="-122"/>
              </a:rPr>
              <a:t>.</a:t>
            </a:r>
            <a:r>
              <a:rPr sz="2200" b="1" noProof="1">
                <a:latin typeface="宋体" panose="02010600030101010101" pitchFamily="2" charset="-122"/>
              </a:rPr>
              <a:t>①防攻击</a:t>
            </a:r>
            <a:r>
              <a:rPr lang="en-US" sz="2200" b="1" noProof="1">
                <a:latin typeface="宋体" panose="02010600030101010101" pitchFamily="2" charset="-122"/>
              </a:rPr>
              <a:t>.</a:t>
            </a:r>
            <a:r>
              <a:rPr sz="2200" b="1" noProof="1">
                <a:latin typeface="宋体" panose="02010600030101010101" pitchFamily="2" charset="-122"/>
              </a:rPr>
              <a:t>多种策略防止数据库被攻击</a:t>
            </a:r>
            <a:r>
              <a:rPr lang="en-US" sz="2200" b="1" noProof="1">
                <a:latin typeface="宋体" panose="02010600030101010101" pitchFamily="2" charset="-122"/>
              </a:rPr>
              <a:t>,</a:t>
            </a:r>
            <a:r>
              <a:rPr sz="2200" b="1" noProof="1">
                <a:latin typeface="宋体" panose="02010600030101010101" pitchFamily="2" charset="-122"/>
              </a:rPr>
              <a:t>持续保护云上数据库安全</a:t>
            </a:r>
            <a:r>
              <a:rPr lang="en-US" sz="2200" b="1" noProof="1">
                <a:latin typeface="宋体" panose="02010600030101010101" pitchFamily="2" charset="-122"/>
              </a:rPr>
              <a:t>.</a:t>
            </a:r>
            <a:r>
              <a:rPr sz="2200" b="1" noProof="1">
                <a:latin typeface="宋体" panose="02010600030101010101" pitchFamily="2" charset="-122"/>
              </a:rPr>
              <a:t>②数据脱敏。敏感数据发现遵从行业合规性</a:t>
            </a:r>
            <a:r>
              <a:rPr lang="en-US" sz="2200" b="1" noProof="1">
                <a:latin typeface="宋体" panose="02010600030101010101" pitchFamily="2" charset="-122"/>
              </a:rPr>
              <a:t>,</a:t>
            </a:r>
            <a:r>
              <a:rPr sz="2200" b="1" noProof="1">
                <a:latin typeface="宋体" panose="02010600030101010101" pitchFamily="2" charset="-122"/>
              </a:rPr>
              <a:t>发现用户数据库中的敏感数据</a:t>
            </a:r>
            <a:r>
              <a:rPr lang="en-US" sz="2200" b="1" noProof="1">
                <a:latin typeface="宋体" panose="02010600030101010101" pitchFamily="2" charset="-122"/>
              </a:rPr>
              <a:t>,</a:t>
            </a:r>
            <a:r>
              <a:rPr sz="2200" b="1" noProof="1">
                <a:latin typeface="宋体" panose="02010600030101010101" pitchFamily="2" charset="-122"/>
              </a:rPr>
              <a:t>对敏感数据进行动态脱敏</a:t>
            </a:r>
            <a:r>
              <a:rPr lang="en-US" sz="2200" b="1" noProof="1">
                <a:latin typeface="宋体" panose="02010600030101010101" pitchFamily="2" charset="-122"/>
              </a:rPr>
              <a:t>.</a:t>
            </a:r>
            <a:r>
              <a:rPr sz="2200" b="1" noProof="1">
                <a:latin typeface="宋体" panose="02010600030101010101" pitchFamily="2" charset="-122"/>
              </a:rPr>
              <a:t>③审计。提供性能、数据、行为异常的监控</a:t>
            </a:r>
            <a:r>
              <a:rPr lang="en-US" sz="2200" b="1" noProof="1">
                <a:latin typeface="宋体" panose="02010600030101010101" pitchFamily="2" charset="-122"/>
              </a:rPr>
              <a:t>,</a:t>
            </a:r>
            <a:r>
              <a:rPr sz="2200" b="1" noProof="1">
                <a:latin typeface="宋体" panose="02010600030101010101" pitchFamily="2" charset="-122"/>
              </a:rPr>
              <a:t>审计日志远端存储</a:t>
            </a:r>
            <a:r>
              <a:rPr lang="en-US" sz="2200" b="1" noProof="1">
                <a:latin typeface="宋体" panose="02010600030101010101" pitchFamily="2" charset="-122"/>
              </a:rPr>
              <a:t>,</a:t>
            </a:r>
            <a:r>
              <a:rPr sz="2200" b="1" noProof="1">
                <a:latin typeface="宋体" panose="02010600030101010101" pitchFamily="2" charset="-122"/>
              </a:rPr>
              <a:t>满足合规性。数据库安全防护通过对数据库安全防护实例进行安全防护配置操作，可以为华为云上的数据库</a:t>
            </a:r>
            <a:r>
              <a:rPr sz="2200" b="1" noProof="1">
                <a:solidFill>
                  <a:srgbClr val="C00000"/>
                </a:solidFill>
                <a:latin typeface="宋体" panose="02010600030101010101" pitchFamily="2" charset="-122"/>
              </a:rPr>
              <a:t>提供数据库保护和审计功能</a:t>
            </a:r>
            <a:r>
              <a:rPr lang="en-US" sz="2200" b="1" noProof="1">
                <a:latin typeface="宋体" panose="02010600030101010101" pitchFamily="2" charset="-122"/>
              </a:rPr>
              <a:t>:</a:t>
            </a:r>
            <a:r>
              <a:rPr sz="2200" b="1" noProof="1">
                <a:latin typeface="宋体" panose="02010600030101010101" pitchFamily="2" charset="-122"/>
              </a:rPr>
              <a:t>关系型数据库、弹性云服务器的自建数据库、裸金属服务器的自建数据库</a:t>
            </a:r>
            <a:r>
              <a:rPr lang="en-US" sz="2200" b="1" noProof="1">
                <a:latin typeface="宋体" panose="02010600030101010101" pitchFamily="2" charset="-122"/>
              </a:rPr>
              <a:t>.</a:t>
            </a:r>
            <a:r>
              <a:rPr sz="2200" b="1" noProof="1">
                <a:latin typeface="宋体" panose="02010600030101010101" pitchFamily="2" charset="-122"/>
              </a:rPr>
              <a:t>数据库安全防护部署架构</a:t>
            </a:r>
            <a:r>
              <a:rPr lang="en-US" sz="2200" b="1" noProof="1">
                <a:latin typeface="宋体" panose="02010600030101010101" pitchFamily="2" charset="-122"/>
              </a:rPr>
              <a:t>,</a:t>
            </a:r>
            <a:r>
              <a:rPr sz="2200" b="1" noProof="1">
                <a:latin typeface="宋体" panose="02010600030101010101" pitchFamily="2" charset="-122"/>
              </a:rPr>
              <a:t>如图10-5</a:t>
            </a:r>
            <a:r>
              <a:rPr lang="en-US" sz="2200" b="1" noProof="1">
                <a:latin typeface="宋体" panose="02010600030101010101" pitchFamily="2" charset="-122"/>
              </a:rPr>
              <a:t>.</a:t>
            </a:r>
            <a:r>
              <a:rPr lang="zh-CN" altLang="en-US" sz="2000" b="1" noProof="1">
                <a:solidFill>
                  <a:schemeClr val="tx2"/>
                </a:solidFill>
                <a:latin typeface="宋体" panose="02010600030101010101" pitchFamily="2" charset="-122"/>
              </a:rPr>
              <a:t> </a:t>
            </a:r>
            <a:endParaRPr lang="en-US" altLang="zh-CN" sz="2000" b="1" noProof="1">
              <a:solidFill>
                <a:schemeClr val="tx2"/>
              </a:solidFill>
              <a:latin typeface="宋体" panose="02010600030101010101" pitchFamily="2" charset="-122"/>
            </a:endParaRPr>
          </a:p>
        </p:txBody>
      </p:sp>
      <p:sp>
        <p:nvSpPr>
          <p:cNvPr id="21509" name="Rectangle 2"/>
          <p:cNvSpPr txBox="1">
            <a:spLocks noChangeArrowheads="1"/>
          </p:cNvSpPr>
          <p:nvPr/>
        </p:nvSpPr>
        <p:spPr bwMode="auto">
          <a:xfrm>
            <a:off x="1608138" y="217488"/>
            <a:ext cx="5784850" cy="563562"/>
          </a:xfrm>
          <a:prstGeom prst="rect">
            <a:avLst/>
          </a:prstGeom>
          <a:noFill/>
          <a:ln w="9525">
            <a:noFill/>
            <a:miter lim="800000"/>
          </a:ln>
        </p:spPr>
        <p:txBody>
          <a:bodyPr anchor="ctr"/>
          <a:lstStyle/>
          <a:p>
            <a:pPr>
              <a:spcBef>
                <a:spcPct val="20000"/>
              </a:spcBef>
              <a:buFont typeface="Wingdings" panose="05000000000000000000" pitchFamily="2" charset="2"/>
              <a:buNone/>
            </a:pPr>
            <a:r>
              <a:rPr lang="zh-CN" altLang="zh-CN" sz="3200" b="1">
                <a:solidFill>
                  <a:schemeClr val="bg1"/>
                </a:solidFill>
              </a:rPr>
              <a:t>10.2 数据库安全体系及防护</a:t>
            </a:r>
            <a:endParaRPr lang="zh-CN" altLang="zh-CN" sz="3200" b="1">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内容占位符 13"/>
          <p:cNvSpPr>
            <a:spLocks noGrp="1" noChangeArrowheads="1"/>
          </p:cNvSpPr>
          <p:nvPr>
            <p:ph idx="4294967295"/>
          </p:nvPr>
        </p:nvSpPr>
        <p:spPr>
          <a:xfrm>
            <a:off x="611188" y="2708275"/>
            <a:ext cx="6840537" cy="3322638"/>
          </a:xfrm>
        </p:spPr>
        <p:txBody>
          <a:bodyPr/>
          <a:lstStyle/>
          <a:p>
            <a:pPr>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22530" name="内容占位符 13"/>
          <p:cNvSpPr>
            <a:spLocks noChangeArrowheads="1"/>
          </p:cNvSpPr>
          <p:nvPr/>
        </p:nvSpPr>
        <p:spPr bwMode="auto">
          <a:xfrm>
            <a:off x="395288" y="1196975"/>
            <a:ext cx="8153400" cy="97155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buFont typeface="Wingdings" panose="05000000000000000000" pitchFamily="2" charset="2"/>
              <a:buNone/>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chemeClr val="tx2"/>
              </a:solidFill>
              <a:latin typeface="宋体" panose="02010600030101010101" pitchFamily="2" charset="-122"/>
            </a:endParaRPr>
          </a:p>
        </p:txBody>
      </p:sp>
      <p:sp>
        <p:nvSpPr>
          <p:cNvPr id="22531" name="Rectangle 2"/>
          <p:cNvSpPr txBox="1">
            <a:spLocks noChangeArrowheads="1"/>
          </p:cNvSpPr>
          <p:nvPr/>
        </p:nvSpPr>
        <p:spPr bwMode="auto">
          <a:xfrm>
            <a:off x="1608138" y="217488"/>
            <a:ext cx="5784850" cy="563562"/>
          </a:xfrm>
          <a:prstGeom prst="rect">
            <a:avLst/>
          </a:prstGeom>
          <a:noFill/>
          <a:ln w="9525">
            <a:noFill/>
            <a:miter lim="800000"/>
          </a:ln>
        </p:spPr>
        <p:txBody>
          <a:bodyPr anchor="ctr"/>
          <a:lstStyle/>
          <a:p>
            <a:pPr>
              <a:spcBef>
                <a:spcPct val="20000"/>
              </a:spcBef>
              <a:buFont typeface="Wingdings" panose="05000000000000000000" pitchFamily="2" charset="2"/>
              <a:buNone/>
            </a:pPr>
            <a:r>
              <a:rPr lang="zh-CN" altLang="zh-CN" sz="3200" b="1">
                <a:solidFill>
                  <a:schemeClr val="bg1"/>
                </a:solidFill>
              </a:rPr>
              <a:t>10.2 数据库安全体系及防护</a:t>
            </a:r>
            <a:endParaRPr lang="zh-CN" altLang="zh-CN" sz="3200" b="1">
              <a:solidFill>
                <a:schemeClr val="bg1"/>
              </a:solidFill>
            </a:endParaRPr>
          </a:p>
        </p:txBody>
      </p:sp>
      <p:pic>
        <p:nvPicPr>
          <p:cNvPr id="22532" name="图片 -2147482575"/>
          <p:cNvPicPr>
            <a:picLocks noChangeAspect="1" noChangeArrowheads="1"/>
          </p:cNvPicPr>
          <p:nvPr/>
        </p:nvPicPr>
        <p:blipFill>
          <a:blip r:embed="rId1" cstate="print"/>
          <a:srcRect/>
          <a:stretch>
            <a:fillRect/>
          </a:stretch>
        </p:blipFill>
        <p:spPr bwMode="auto">
          <a:xfrm>
            <a:off x="2568575" y="1117600"/>
            <a:ext cx="4157663" cy="3671888"/>
          </a:xfrm>
          <a:prstGeom prst="rect">
            <a:avLst/>
          </a:prstGeom>
          <a:noFill/>
          <a:ln w="9525">
            <a:noFill/>
            <a:miter lim="800000"/>
            <a:headEnd/>
            <a:tailEnd/>
          </a:ln>
        </p:spPr>
      </p:pic>
      <p:sp>
        <p:nvSpPr>
          <p:cNvPr id="26630" name="圆角矩形 18"/>
          <p:cNvSpPr/>
          <p:nvPr/>
        </p:nvSpPr>
        <p:spPr>
          <a:xfrm>
            <a:off x="1476375" y="5156200"/>
            <a:ext cx="6715125" cy="1212850"/>
          </a:xfrm>
          <a:prstGeom prst="roundRect">
            <a:avLst>
              <a:gd name="adj" fmla="val 16667"/>
            </a:avLst>
          </a:prstGeom>
          <a:solidFill>
            <a:srgbClr val="FFFF99"/>
          </a:solidFill>
          <a:ln w="25400" cap="flat" cmpd="sng">
            <a:solidFill>
              <a:schemeClr val="tx1"/>
            </a:solidFill>
            <a:prstDash val="solid"/>
            <a:headEnd type="none" w="med" len="med"/>
            <a:tailEnd type="none" w="med" len="med"/>
          </a:ln>
        </p:spPr>
        <p:txBody>
          <a:bodyPr anchor="ctr"/>
          <a:lstStyle/>
          <a:p>
            <a:pPr>
              <a:spcBef>
                <a:spcPts val="0"/>
              </a:spcBef>
              <a:buFont typeface="Wingdings" panose="05000000000000000000" pitchFamily="2" charset="2"/>
              <a:buNone/>
            </a:pPr>
            <a:r>
              <a:rPr lang="en-US" altLang="zh-CN" sz="2000" b="1" noProof="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rPr>
              <a:t> </a:t>
            </a:r>
            <a:r>
              <a:rPr sz="2000" b="1" noProof="1">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黑体" panose="02010609060101010101" pitchFamily="49" charset="-122"/>
              </a:rPr>
              <a:t>讨论思考</a:t>
            </a:r>
            <a:r>
              <a:rPr sz="2000" b="1" noProof="1"/>
              <a:t>：</a:t>
            </a:r>
            <a:endParaRPr sz="2000" b="1" noProof="1"/>
          </a:p>
          <a:p>
            <a:pPr>
              <a:spcBef>
                <a:spcPts val="0"/>
              </a:spcBef>
              <a:buFont typeface="Wingdings" panose="05000000000000000000" pitchFamily="2" charset="2"/>
              <a:buNone/>
            </a:pPr>
            <a:r>
              <a:rPr sz="2000" b="1" noProof="1"/>
              <a:t>      1）数据库的安全体系主要体系框架主要包括哪些？</a:t>
            </a:r>
            <a:endParaRPr sz="2000" b="1" noProof="1"/>
          </a:p>
          <a:p>
            <a:pPr>
              <a:spcBef>
                <a:spcPts val="0"/>
              </a:spcBef>
              <a:buFont typeface="Wingdings" panose="05000000000000000000" pitchFamily="2" charset="2"/>
              <a:buNone/>
            </a:pPr>
            <a:r>
              <a:rPr sz="2000" b="1" noProof="1"/>
              <a:t>      2）数据库的安全防护技术主要包括哪些方面？</a:t>
            </a:r>
            <a:endParaRPr sz="2000" b="1" noProof="1"/>
          </a:p>
        </p:txBody>
      </p:sp>
      <p:sp>
        <p:nvSpPr>
          <p:cNvPr id="22534" name="文本框 100"/>
          <p:cNvSpPr txBox="1">
            <a:spLocks noChangeArrowheads="1"/>
          </p:cNvSpPr>
          <p:nvPr/>
        </p:nvSpPr>
        <p:spPr bwMode="auto">
          <a:xfrm>
            <a:off x="2371725" y="4789488"/>
            <a:ext cx="5080000" cy="306387"/>
          </a:xfrm>
          <a:prstGeom prst="rect">
            <a:avLst/>
          </a:prstGeom>
          <a:noFill/>
          <a:ln w="9525">
            <a:noFill/>
            <a:miter lim="800000"/>
          </a:ln>
        </p:spPr>
        <p:txBody>
          <a:bodyPr>
            <a:spAutoFit/>
          </a:bodyPr>
          <a:lstStyle/>
          <a:p>
            <a:pPr algn="ctr" eaLnBrk="0" hangingPunct="0"/>
            <a:r>
              <a:rPr lang="zh-CN" altLang="zh-CN" sz="1400" b="1">
                <a:solidFill>
                  <a:srgbClr val="FF0000"/>
                </a:solidFill>
              </a:rPr>
              <a:t>图</a:t>
            </a:r>
            <a:r>
              <a:rPr lang="en-US" altLang="zh-CN" sz="1400" b="1">
                <a:solidFill>
                  <a:srgbClr val="FF0000"/>
                </a:solidFill>
                <a:latin typeface="Times New Roman" panose="02020603050405020304" pitchFamily="18" charset="0"/>
              </a:rPr>
              <a:t>10-5 </a:t>
            </a:r>
            <a:r>
              <a:rPr lang="zh-CN" altLang="zh-CN" sz="1400" b="1">
                <a:solidFill>
                  <a:srgbClr val="FF0000"/>
                </a:solidFill>
              </a:rPr>
              <a:t>数据库安全防护部署架构</a:t>
            </a:r>
            <a:endParaRPr lang="zh-CN" altLang="en-US" sz="1400" b="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txBox="1">
            <a:spLocks noChangeArrowheads="1"/>
          </p:cNvSpPr>
          <p:nvPr/>
        </p:nvSpPr>
        <p:spPr bwMode="auto">
          <a:xfrm>
            <a:off x="1787525" y="231775"/>
            <a:ext cx="6561138" cy="563563"/>
          </a:xfrm>
          <a:prstGeom prst="rect">
            <a:avLst/>
          </a:prstGeom>
          <a:noFill/>
          <a:ln w="9525">
            <a:noFill/>
            <a:miter lim="800000"/>
          </a:ln>
        </p:spPr>
        <p:txBody>
          <a:bodyPr anchor="ctr"/>
          <a:lstStyle/>
          <a:p>
            <a:pPr>
              <a:spcBef>
                <a:spcPct val="20000"/>
              </a:spcBef>
              <a:buFont typeface="Wingdings" panose="05000000000000000000" pitchFamily="2" charset="2"/>
              <a:buNone/>
            </a:pPr>
            <a:r>
              <a:rPr lang="zh-CN" altLang="zh-CN" sz="3200" b="1">
                <a:solidFill>
                  <a:schemeClr val="bg1"/>
                </a:solidFill>
              </a:rPr>
              <a:t>10.3 数据库的安全特性和措施</a:t>
            </a:r>
            <a:endParaRPr lang="zh-CN" altLang="zh-CN" sz="3200" b="1">
              <a:solidFill>
                <a:schemeClr val="bg1"/>
              </a:solidFill>
            </a:endParaRPr>
          </a:p>
        </p:txBody>
      </p:sp>
      <p:sp>
        <p:nvSpPr>
          <p:cNvPr id="23554" name="内容占位符 13"/>
          <p:cNvSpPr>
            <a:spLocks noGrp="1" noChangeArrowheads="1"/>
          </p:cNvSpPr>
          <p:nvPr>
            <p:ph idx="4294967295"/>
          </p:nvPr>
        </p:nvSpPr>
        <p:spPr>
          <a:xfrm>
            <a:off x="755650" y="1125538"/>
            <a:ext cx="6169025" cy="962025"/>
          </a:xfrm>
        </p:spPr>
        <p:txBody>
          <a:bodyPr/>
          <a:lstStyle/>
          <a:p>
            <a:pPr eaLnBrk="1" hangingPunct="1">
              <a:buFont typeface="Wingdings" panose="05000000000000000000" pitchFamily="2" charset="2"/>
              <a:buNone/>
            </a:pPr>
            <a:r>
              <a:rPr lang="zh-CN" altLang="zh-CN" sz="2400" smtClean="0">
                <a:solidFill>
                  <a:srgbClr val="FF0000"/>
                </a:solidFill>
              </a:rPr>
              <a:t>10.3.1 数据库的安全性及措施</a:t>
            </a:r>
            <a:endParaRPr lang="zh-CN" altLang="zh-CN" sz="2400" smtClean="0">
              <a:solidFill>
                <a:srgbClr val="FF0000"/>
              </a:solidFill>
            </a:endParaRPr>
          </a:p>
          <a:p>
            <a:pPr eaLnBrk="1" hangingPunct="1">
              <a:buFont typeface="Wingdings" panose="05000000000000000000" pitchFamily="2" charset="2"/>
              <a:buNone/>
            </a:pPr>
            <a:r>
              <a:rPr lang="zh-CN" altLang="zh-CN" sz="2400" smtClean="0">
                <a:solidFill>
                  <a:srgbClr val="FF0000"/>
                </a:solidFill>
              </a:rPr>
              <a:t>    </a:t>
            </a:r>
            <a:r>
              <a:rPr lang="en-US" altLang="zh-CN" sz="2400" smtClean="0">
                <a:solidFill>
                  <a:srgbClr val="FF0000"/>
                </a:solidFill>
              </a:rPr>
              <a:t>1.</a:t>
            </a:r>
            <a:r>
              <a:rPr lang="zh-CN" altLang="en-US" sz="2400" smtClean="0">
                <a:solidFill>
                  <a:srgbClr val="FF0000"/>
                </a:solidFill>
              </a:rPr>
              <a:t>数据库的安全性</a:t>
            </a:r>
            <a:endParaRPr lang="zh-CN" altLang="en-US" sz="2400" smtClean="0">
              <a:solidFill>
                <a:srgbClr val="FF0000"/>
              </a:solidFill>
            </a:endParaRPr>
          </a:p>
        </p:txBody>
      </p:sp>
      <p:sp>
        <p:nvSpPr>
          <p:cNvPr id="19" name="圆角矩形 18"/>
          <p:cNvSpPr/>
          <p:nvPr/>
        </p:nvSpPr>
        <p:spPr bwMode="gray">
          <a:xfrm>
            <a:off x="755650" y="2009775"/>
            <a:ext cx="7416800" cy="156210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spcBef>
                <a:spcPct val="20000"/>
              </a:spcBef>
              <a:buFont typeface="Wingdings" panose="05000000000000000000" pitchFamily="2" charset="2"/>
              <a:buNone/>
              <a:defRPr/>
            </a:pPr>
            <a:r>
              <a:rPr lang="zh-CN" altLang="en-US" b="1" dirty="0">
                <a:solidFill>
                  <a:schemeClr val="tx2"/>
                </a:solidFill>
                <a:latin typeface="Arial" panose="020B0604020202020204" pitchFamily="34" charset="0"/>
              </a:rPr>
              <a:t>      </a:t>
            </a:r>
            <a:endParaRPr lang="en-US" altLang="zh-CN" b="1" dirty="0">
              <a:solidFill>
                <a:schemeClr val="tx2"/>
              </a:solidFill>
              <a:latin typeface="Arial" panose="020B0604020202020204" pitchFamily="34" charset="0"/>
            </a:endParaRPr>
          </a:p>
          <a:p>
            <a:pPr>
              <a:spcBef>
                <a:spcPct val="20000"/>
              </a:spcBef>
              <a:buFont typeface="Wingdings" panose="05000000000000000000" pitchFamily="2" charset="2"/>
              <a:buNone/>
              <a:defRPr/>
            </a:pPr>
            <a:r>
              <a:rPr lang="en-US" altLang="zh-CN" b="1" dirty="0">
                <a:solidFill>
                  <a:schemeClr val="tx2"/>
                </a:solidFill>
                <a:latin typeface="Arial" panose="020B0604020202020204" pitchFamily="34" charset="0"/>
              </a:rPr>
              <a:t>        </a:t>
            </a:r>
            <a:r>
              <a:rPr lang="zh-CN" altLang="en-US" b="1" dirty="0">
                <a:solidFill>
                  <a:srgbClr val="FF0000"/>
                </a:solidFill>
                <a:latin typeface="Arial" panose="020B0604020202020204" pitchFamily="34" charset="0"/>
              </a:rPr>
              <a:t>数据库的安全特性</a:t>
            </a:r>
            <a:r>
              <a:rPr lang="zh-CN" altLang="en-US" b="1" dirty="0">
                <a:solidFill>
                  <a:schemeClr val="tx2"/>
                </a:solidFill>
                <a:latin typeface="Arial" panose="020B0604020202020204" pitchFamily="34" charset="0"/>
              </a:rPr>
              <a:t>主要包括：数据库及数据的独立性、安全性、完整性、并发控制、故障恢复等几个方面。保密性、完整性、可用性是</a:t>
            </a:r>
            <a:r>
              <a:rPr lang="zh-CN" altLang="en-US" b="1" dirty="0">
                <a:solidFill>
                  <a:srgbClr val="FF0000"/>
                </a:solidFill>
                <a:latin typeface="Arial" panose="020B0604020202020204" pitchFamily="34" charset="0"/>
              </a:rPr>
              <a:t>网络安全的最基本要求</a:t>
            </a:r>
            <a:r>
              <a:rPr lang="zh-CN" altLang="en-US" b="1" dirty="0">
                <a:solidFill>
                  <a:schemeClr val="tx2"/>
                </a:solidFill>
                <a:latin typeface="Arial" panose="020B0604020202020204" pitchFamily="34" charset="0"/>
              </a:rPr>
              <a:t>，也是</a:t>
            </a:r>
            <a:r>
              <a:rPr lang="zh-CN" altLang="en-US" b="1" dirty="0">
                <a:solidFill>
                  <a:srgbClr val="FF0000"/>
                </a:solidFill>
                <a:latin typeface="Arial" panose="020B0604020202020204" pitchFamily="34" charset="0"/>
              </a:rPr>
              <a:t>数据库的安全基本目标</a:t>
            </a:r>
            <a:r>
              <a:rPr lang="zh-CN" altLang="en-US" b="1" dirty="0">
                <a:solidFill>
                  <a:schemeClr val="tx2"/>
                </a:solidFill>
                <a:latin typeface="Arial" panose="020B0604020202020204" pitchFamily="34" charset="0"/>
              </a:rPr>
              <a:t>。</a:t>
            </a:r>
            <a:endParaRPr lang="zh-CN" altLang="en-US" b="1" dirty="0">
              <a:solidFill>
                <a:schemeClr val="tx2"/>
              </a:solidFill>
              <a:latin typeface="Arial" panose="020B0604020202020204" pitchFamily="34" charset="0"/>
            </a:endParaRPr>
          </a:p>
          <a:p>
            <a:pPr>
              <a:spcBef>
                <a:spcPct val="20000"/>
              </a:spcBef>
              <a:buFont typeface="Wingdings" panose="05000000000000000000" pitchFamily="2" charset="2"/>
              <a:buNone/>
              <a:defRPr/>
            </a:pPr>
            <a:endParaRPr lang="zh-CN" altLang="en-US" b="1" dirty="0">
              <a:solidFill>
                <a:schemeClr val="tx2"/>
              </a:solidFill>
              <a:latin typeface="Arial" panose="020B0604020202020204" pitchFamily="34" charset="0"/>
            </a:endParaRPr>
          </a:p>
        </p:txBody>
      </p:sp>
      <p:sp>
        <p:nvSpPr>
          <p:cNvPr id="2" name="圆角矩形 18"/>
          <p:cNvSpPr/>
          <p:nvPr/>
        </p:nvSpPr>
        <p:spPr bwMode="gray">
          <a:xfrm>
            <a:off x="755650" y="3632200"/>
            <a:ext cx="7416800" cy="297180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spcBef>
                <a:spcPct val="20000"/>
              </a:spcBef>
              <a:buFont typeface="Wingdings" panose="05000000000000000000" pitchFamily="2" charset="2"/>
              <a:buNone/>
              <a:defRPr/>
            </a:pPr>
            <a:r>
              <a:rPr lang="zh-CN" altLang="en-US" b="1" dirty="0">
                <a:solidFill>
                  <a:srgbClr val="990033"/>
                </a:solidFill>
                <a:latin typeface="Arial" panose="020B0604020202020204" pitchFamily="34" charset="0"/>
              </a:rPr>
              <a:t>（</a:t>
            </a:r>
            <a:r>
              <a:rPr lang="en-US" altLang="zh-CN" b="1" dirty="0">
                <a:solidFill>
                  <a:srgbClr val="990033"/>
                </a:solidFill>
                <a:latin typeface="Arial" panose="020B0604020202020204" pitchFamily="34" charset="0"/>
              </a:rPr>
              <a:t>1</a:t>
            </a:r>
            <a:r>
              <a:rPr lang="zh-CN" altLang="en-US" b="1" dirty="0">
                <a:solidFill>
                  <a:srgbClr val="990033"/>
                </a:solidFill>
                <a:latin typeface="Arial" panose="020B0604020202020204" pitchFamily="34" charset="0"/>
              </a:rPr>
              <a:t>）保密性</a:t>
            </a:r>
            <a:endParaRPr lang="zh-CN" altLang="en-US" b="1" dirty="0">
              <a:solidFill>
                <a:srgbClr val="990033"/>
              </a:solidFill>
              <a:latin typeface="Arial" panose="020B0604020202020204" pitchFamily="34" charset="0"/>
            </a:endParaRPr>
          </a:p>
          <a:p>
            <a:pPr>
              <a:spcBef>
                <a:spcPct val="20000"/>
              </a:spcBef>
              <a:buFont typeface="Wingdings" panose="05000000000000000000" pitchFamily="2" charset="2"/>
              <a:buNone/>
              <a:defRPr/>
            </a:pPr>
            <a:r>
              <a:rPr lang="zh-CN" altLang="en-US" b="1" dirty="0">
                <a:solidFill>
                  <a:schemeClr val="tx2"/>
                </a:solidFill>
                <a:latin typeface="Arial" panose="020B0604020202020204" pitchFamily="34" charset="0"/>
              </a:rPr>
              <a:t>      </a:t>
            </a:r>
            <a:r>
              <a:rPr lang="zh-CN" altLang="en-US" b="1" dirty="0">
                <a:solidFill>
                  <a:schemeClr val="tx1"/>
                </a:solidFill>
                <a:latin typeface="Arial" panose="020B0604020202020204" pitchFamily="34" charset="0"/>
              </a:rPr>
              <a:t>①</a:t>
            </a:r>
            <a:r>
              <a:rPr lang="zh-CN" altLang="en-US" b="1" dirty="0">
                <a:solidFill>
                  <a:schemeClr val="tx2"/>
                </a:solidFill>
                <a:latin typeface="Arial" panose="020B0604020202020204" pitchFamily="34" charset="0"/>
              </a:rPr>
              <a:t>用户标识与鉴别</a:t>
            </a:r>
            <a:endParaRPr lang="zh-CN" altLang="en-US" b="1" dirty="0">
              <a:solidFill>
                <a:schemeClr val="tx2"/>
              </a:solidFill>
              <a:latin typeface="Arial" panose="020B0604020202020204" pitchFamily="34" charset="0"/>
            </a:endParaRPr>
          </a:p>
          <a:p>
            <a:pPr>
              <a:spcBef>
                <a:spcPct val="20000"/>
              </a:spcBef>
              <a:buFont typeface="Wingdings" panose="05000000000000000000" pitchFamily="2" charset="2"/>
              <a:buNone/>
              <a:defRPr/>
            </a:pPr>
            <a:r>
              <a:rPr lang="zh-CN" altLang="en-US" b="1" dirty="0">
                <a:solidFill>
                  <a:schemeClr val="tx2"/>
                </a:solidFill>
                <a:latin typeface="Arial" panose="020B0604020202020204" pitchFamily="34" charset="0"/>
              </a:rPr>
              <a:t>      </a:t>
            </a:r>
            <a:r>
              <a:rPr lang="zh-CN" altLang="en-US" b="1" dirty="0">
                <a:solidFill>
                  <a:schemeClr val="tx1"/>
                </a:solidFill>
                <a:latin typeface="Arial" panose="020B0604020202020204" pitchFamily="34" charset="0"/>
              </a:rPr>
              <a:t>②</a:t>
            </a:r>
            <a:r>
              <a:rPr lang="zh-CN" altLang="en-US" b="1" dirty="0">
                <a:solidFill>
                  <a:schemeClr val="tx2"/>
                </a:solidFill>
                <a:latin typeface="Arial" panose="020B0604020202020204" pitchFamily="34" charset="0"/>
              </a:rPr>
              <a:t>存取控制</a:t>
            </a:r>
            <a:endParaRPr lang="zh-CN" altLang="en-US" b="1" dirty="0">
              <a:solidFill>
                <a:schemeClr val="tx2"/>
              </a:solidFill>
              <a:latin typeface="Arial" panose="020B0604020202020204" pitchFamily="34" charset="0"/>
            </a:endParaRPr>
          </a:p>
          <a:p>
            <a:pPr>
              <a:spcBef>
                <a:spcPct val="20000"/>
              </a:spcBef>
              <a:buFont typeface="Wingdings" panose="05000000000000000000" pitchFamily="2" charset="2"/>
              <a:buNone/>
              <a:defRPr/>
            </a:pPr>
            <a:r>
              <a:rPr lang="zh-CN" altLang="en-US" b="1" dirty="0">
                <a:solidFill>
                  <a:schemeClr val="tx2"/>
                </a:solidFill>
                <a:latin typeface="Arial" panose="020B0604020202020204" pitchFamily="34" charset="0"/>
              </a:rPr>
              <a:t>      </a:t>
            </a:r>
            <a:r>
              <a:rPr lang="zh-CN" altLang="en-US" b="1" dirty="0">
                <a:solidFill>
                  <a:schemeClr val="tx1"/>
                </a:solidFill>
                <a:latin typeface="Arial" panose="020B0604020202020204" pitchFamily="34" charset="0"/>
              </a:rPr>
              <a:t>③</a:t>
            </a:r>
            <a:r>
              <a:rPr lang="zh-CN" altLang="en-US" b="1" dirty="0">
                <a:solidFill>
                  <a:schemeClr val="tx2"/>
                </a:solidFill>
                <a:latin typeface="Arial" panose="020B0604020202020204" pitchFamily="34" charset="0"/>
              </a:rPr>
              <a:t>数据库加密</a:t>
            </a:r>
            <a:endParaRPr lang="zh-CN" altLang="en-US" b="1" dirty="0">
              <a:solidFill>
                <a:schemeClr val="tx2"/>
              </a:solidFill>
              <a:latin typeface="Arial" panose="020B0604020202020204" pitchFamily="34" charset="0"/>
            </a:endParaRPr>
          </a:p>
          <a:p>
            <a:pPr>
              <a:spcBef>
                <a:spcPct val="20000"/>
              </a:spcBef>
              <a:buFont typeface="Wingdings" panose="05000000000000000000" pitchFamily="2" charset="2"/>
              <a:buNone/>
              <a:defRPr/>
            </a:pPr>
            <a:r>
              <a:rPr lang="zh-CN" altLang="en-US" b="1" dirty="0">
                <a:solidFill>
                  <a:schemeClr val="tx2"/>
                </a:solidFill>
                <a:latin typeface="Arial" panose="020B0604020202020204" pitchFamily="34" charset="0"/>
              </a:rPr>
              <a:t>      </a:t>
            </a:r>
            <a:r>
              <a:rPr lang="zh-CN" altLang="en-US" b="1" dirty="0">
                <a:solidFill>
                  <a:schemeClr val="tx1"/>
                </a:solidFill>
                <a:latin typeface="Arial" panose="020B0604020202020204" pitchFamily="34" charset="0"/>
              </a:rPr>
              <a:t>④</a:t>
            </a:r>
            <a:r>
              <a:rPr lang="zh-CN" altLang="en-US" b="1" dirty="0">
                <a:solidFill>
                  <a:schemeClr val="tx2"/>
                </a:solidFill>
                <a:latin typeface="Arial" panose="020B0604020202020204" pitchFamily="34" charset="0"/>
              </a:rPr>
              <a:t>审计</a:t>
            </a:r>
            <a:endParaRPr lang="zh-CN" altLang="en-US" b="1" dirty="0">
              <a:solidFill>
                <a:schemeClr val="tx2"/>
              </a:solidFill>
              <a:latin typeface="Arial" panose="020B0604020202020204" pitchFamily="34" charset="0"/>
            </a:endParaRPr>
          </a:p>
          <a:p>
            <a:pPr>
              <a:spcBef>
                <a:spcPct val="20000"/>
              </a:spcBef>
              <a:buFont typeface="Wingdings" panose="05000000000000000000" pitchFamily="2" charset="2"/>
              <a:buNone/>
              <a:defRPr/>
            </a:pPr>
            <a:r>
              <a:rPr lang="zh-CN" altLang="en-US" b="1" dirty="0">
                <a:solidFill>
                  <a:schemeClr val="tx2"/>
                </a:solidFill>
                <a:latin typeface="Arial" panose="020B0604020202020204" pitchFamily="34" charset="0"/>
              </a:rPr>
              <a:t>      </a:t>
            </a:r>
            <a:r>
              <a:rPr lang="zh-CN" altLang="en-US" b="1" dirty="0">
                <a:solidFill>
                  <a:schemeClr val="tx1"/>
                </a:solidFill>
                <a:latin typeface="Arial" panose="020B0604020202020204" pitchFamily="34" charset="0"/>
              </a:rPr>
              <a:t>⑤</a:t>
            </a:r>
            <a:r>
              <a:rPr lang="zh-CN" altLang="en-US" b="1" dirty="0">
                <a:solidFill>
                  <a:schemeClr val="tx2"/>
                </a:solidFill>
                <a:latin typeface="Arial" panose="020B0604020202020204" pitchFamily="34" charset="0"/>
              </a:rPr>
              <a:t>备份与恢复</a:t>
            </a:r>
            <a:endParaRPr lang="zh-CN" altLang="en-US" b="1" dirty="0">
              <a:solidFill>
                <a:schemeClr val="tx2"/>
              </a:solidFill>
              <a:latin typeface="Arial" panose="020B0604020202020204" pitchFamily="34" charset="0"/>
            </a:endParaRPr>
          </a:p>
          <a:p>
            <a:pPr>
              <a:spcBef>
                <a:spcPct val="20000"/>
              </a:spcBef>
              <a:buFont typeface="Wingdings" panose="05000000000000000000" pitchFamily="2" charset="2"/>
              <a:buNone/>
              <a:defRPr/>
            </a:pPr>
            <a:r>
              <a:rPr lang="zh-CN" altLang="en-US" b="1" dirty="0">
                <a:solidFill>
                  <a:schemeClr val="tx1"/>
                </a:solidFill>
                <a:latin typeface="Arial" panose="020B0604020202020204" pitchFamily="34" charset="0"/>
              </a:rPr>
              <a:t>      </a:t>
            </a:r>
            <a:r>
              <a:rPr lang="zh-CN" altLang="zh-CN" b="1" dirty="0">
                <a:solidFill>
                  <a:schemeClr val="tx1"/>
                </a:solidFill>
                <a:latin typeface="Arial" panose="020B0604020202020204" pitchFamily="34" charset="0"/>
              </a:rPr>
              <a:t>⑥</a:t>
            </a:r>
            <a:r>
              <a:rPr lang="zh-CN" altLang="en-US" b="1" dirty="0">
                <a:solidFill>
                  <a:schemeClr val="tx2"/>
                </a:solidFill>
                <a:latin typeface="Arial" panose="020B0604020202020204" pitchFamily="34" charset="0"/>
              </a:rPr>
              <a:t>推理控制与隐私保护</a:t>
            </a:r>
            <a:r>
              <a:rPr lang="zh-CN" altLang="en-US" dirty="0">
                <a:solidFill>
                  <a:schemeClr val="tx2"/>
                </a:solidFill>
                <a:latin typeface="Arial" panose="020B0604020202020204" pitchFamily="34" charset="0"/>
              </a:rPr>
              <a:t> </a:t>
            </a:r>
            <a:endParaRPr lang="en-US" altLang="zh-CN" dirty="0">
              <a:solidFill>
                <a:schemeClr val="tx2"/>
              </a:solidFill>
              <a:latin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txBox="1">
            <a:spLocks noChangeArrowheads="1"/>
          </p:cNvSpPr>
          <p:nvPr/>
        </p:nvSpPr>
        <p:spPr bwMode="auto">
          <a:xfrm>
            <a:off x="1787525" y="231775"/>
            <a:ext cx="6561138" cy="563563"/>
          </a:xfrm>
          <a:prstGeom prst="rect">
            <a:avLst/>
          </a:prstGeom>
          <a:noFill/>
          <a:ln w="9525">
            <a:noFill/>
            <a:miter lim="800000"/>
          </a:ln>
        </p:spPr>
        <p:txBody>
          <a:bodyPr anchor="ctr"/>
          <a:lstStyle/>
          <a:p>
            <a:pPr>
              <a:spcBef>
                <a:spcPct val="20000"/>
              </a:spcBef>
              <a:buFont typeface="Wingdings" panose="05000000000000000000" pitchFamily="2" charset="2"/>
              <a:buNone/>
            </a:pPr>
            <a:r>
              <a:rPr lang="zh-CN" altLang="zh-CN" sz="3200" b="1">
                <a:solidFill>
                  <a:schemeClr val="bg1"/>
                </a:solidFill>
              </a:rPr>
              <a:t>10.3 数据库的安全特性和措施</a:t>
            </a:r>
            <a:endParaRPr lang="zh-CN" altLang="zh-CN" sz="3200" b="1">
              <a:solidFill>
                <a:schemeClr val="bg1"/>
              </a:solidFill>
            </a:endParaRPr>
          </a:p>
        </p:txBody>
      </p:sp>
      <p:sp>
        <p:nvSpPr>
          <p:cNvPr id="19" name="圆角矩形 18"/>
          <p:cNvSpPr/>
          <p:nvPr/>
        </p:nvSpPr>
        <p:spPr bwMode="gray">
          <a:xfrm>
            <a:off x="755650" y="1243013"/>
            <a:ext cx="7416800" cy="2328862"/>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spcBef>
                <a:spcPct val="20000"/>
              </a:spcBef>
              <a:buFont typeface="Wingdings" panose="05000000000000000000" pitchFamily="2" charset="2"/>
              <a:buNone/>
              <a:defRPr/>
            </a:pPr>
            <a:r>
              <a:rPr lang="zh-CN" altLang="en-US" b="1" dirty="0">
                <a:solidFill>
                  <a:schemeClr val="tx2"/>
                </a:solidFill>
                <a:latin typeface="Arial" panose="020B0604020202020204" pitchFamily="34" charset="0"/>
              </a:rPr>
              <a:t>      </a:t>
            </a:r>
            <a:endParaRPr lang="en-US" altLang="zh-CN" b="1" dirty="0">
              <a:solidFill>
                <a:schemeClr val="tx2"/>
              </a:solidFill>
              <a:latin typeface="Arial" panose="020B0604020202020204" pitchFamily="34" charset="0"/>
            </a:endParaRPr>
          </a:p>
          <a:p>
            <a:pPr>
              <a:spcBef>
                <a:spcPct val="20000"/>
              </a:spcBef>
              <a:buFont typeface="Wingdings" panose="05000000000000000000" pitchFamily="2" charset="2"/>
              <a:buNone/>
              <a:defRPr/>
            </a:pPr>
            <a:r>
              <a:rPr lang="en-US" altLang="zh-CN" b="1" dirty="0">
                <a:solidFill>
                  <a:schemeClr val="tx2"/>
                </a:solidFill>
                <a:latin typeface="Arial" panose="020B0604020202020204" pitchFamily="34" charset="0"/>
              </a:rPr>
              <a:t>        </a:t>
            </a:r>
            <a:r>
              <a:rPr lang="zh-CN" altLang="en-US" b="1" dirty="0">
                <a:solidFill>
                  <a:schemeClr val="tx2"/>
                </a:solidFill>
                <a:latin typeface="Arial" panose="020B0604020202020204" pitchFamily="34" charset="0"/>
              </a:rPr>
              <a:t>其中，</a:t>
            </a:r>
            <a:r>
              <a:rPr lang="zh-CN" altLang="en-US" b="1" dirty="0">
                <a:solidFill>
                  <a:srgbClr val="C00000"/>
                </a:solidFill>
                <a:latin typeface="Arial" panose="020B0604020202020204" pitchFamily="34" charset="0"/>
              </a:rPr>
              <a:t>数据库加密技术的功能和特性</a:t>
            </a:r>
            <a:r>
              <a:rPr lang="zh-CN" altLang="en-US" b="1" dirty="0">
                <a:latin typeface="Arial" panose="020B0604020202020204" pitchFamily="34" charset="0"/>
              </a:rPr>
              <a:t>主要6个：身份认证、通信加密与完整性保护、数据库中数据存储的加密与完整性保护、数据库加密设置、多级密钥管理模式和安全备份，即系统提供数据库明文备份功能和密钥备份功能。</a:t>
            </a:r>
            <a:r>
              <a:rPr lang="zh-CN" altLang="en-US" b="1" u="sng" dirty="0">
                <a:solidFill>
                  <a:srgbClr val="C00000"/>
                </a:solidFill>
                <a:latin typeface="Arial" panose="020B0604020202020204" pitchFamily="34" charset="0"/>
              </a:rPr>
              <a:t>数据加密方式</a:t>
            </a:r>
            <a:r>
              <a:rPr lang="zh-CN" altLang="en-US" b="1" dirty="0">
                <a:solidFill>
                  <a:srgbClr val="C00000"/>
                </a:solidFill>
                <a:latin typeface="Arial" panose="020B0604020202020204" pitchFamily="34" charset="0"/>
              </a:rPr>
              <a:t>主要</a:t>
            </a:r>
            <a:r>
              <a:rPr lang="zh-CN" altLang="en-US" b="1" dirty="0">
                <a:solidFill>
                  <a:srgbClr val="C00000"/>
                </a:solidFill>
                <a:latin typeface="Arial" panose="020B0604020202020204" pitchFamily="34" charset="0"/>
              </a:rPr>
              <a:t>3</a:t>
            </a:r>
            <a:r>
              <a:rPr lang="zh-CN" altLang="en-US" b="1" dirty="0" smtClean="0">
                <a:solidFill>
                  <a:srgbClr val="C00000"/>
                </a:solidFill>
                <a:latin typeface="Arial" panose="020B0604020202020204" pitchFamily="34" charset="0"/>
              </a:rPr>
              <a:t>种</a:t>
            </a:r>
            <a:r>
              <a:rPr lang="en-US" altLang="zh-CN" b="1" dirty="0" smtClean="0">
                <a:solidFill>
                  <a:srgbClr val="C00000"/>
                </a:solidFill>
                <a:latin typeface="Arial" panose="020B0604020202020204" pitchFamily="34" charset="0"/>
              </a:rPr>
              <a:t>:</a:t>
            </a:r>
            <a:r>
              <a:rPr lang="zh-CN" altLang="en-US" b="1" dirty="0">
                <a:latin typeface="Arial" panose="020B0604020202020204" pitchFamily="34" charset="0"/>
              </a:rPr>
              <a:t>系统中加密、服务器端加密、客户端加密。</a:t>
            </a:r>
            <a:endParaRPr lang="zh-CN" altLang="en-US" b="1" dirty="0">
              <a:latin typeface="Arial" panose="020B0604020202020204" pitchFamily="34" charset="0"/>
            </a:endParaRPr>
          </a:p>
          <a:p>
            <a:pPr>
              <a:spcBef>
                <a:spcPct val="20000"/>
              </a:spcBef>
              <a:buFont typeface="Wingdings" panose="05000000000000000000" pitchFamily="2" charset="2"/>
              <a:buNone/>
              <a:defRPr/>
            </a:pPr>
            <a:endParaRPr lang="zh-CN" altLang="en-US" b="1" dirty="0">
              <a:solidFill>
                <a:schemeClr val="tx2"/>
              </a:solidFill>
              <a:latin typeface="Arial" panose="020B0604020202020204" pitchFamily="34" charset="0"/>
            </a:endParaRPr>
          </a:p>
        </p:txBody>
      </p:sp>
      <p:sp>
        <p:nvSpPr>
          <p:cNvPr id="2" name="圆角矩形 18"/>
          <p:cNvSpPr/>
          <p:nvPr/>
        </p:nvSpPr>
        <p:spPr bwMode="gray">
          <a:xfrm>
            <a:off x="755650" y="3632200"/>
            <a:ext cx="7416800" cy="276860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spcBef>
                <a:spcPct val="20000"/>
              </a:spcBef>
              <a:buFont typeface="Wingdings" panose="05000000000000000000" pitchFamily="2" charset="2"/>
              <a:buNone/>
              <a:defRPr/>
            </a:pPr>
            <a:r>
              <a:rPr lang="en-US" altLang="zh-CN" b="1" dirty="0">
                <a:solidFill>
                  <a:schemeClr val="tx2"/>
                </a:solidFill>
                <a:latin typeface="Times New Roman" panose="02020603050405020304" pitchFamily="18" charset="0"/>
                <a:cs typeface="Times New Roman" panose="02020603050405020304" pitchFamily="18" charset="0"/>
              </a:rPr>
              <a:t>                         </a:t>
            </a:r>
            <a:r>
              <a:rPr lang="zh-CN" altLang="en-US" b="1" dirty="0">
                <a:solidFill>
                  <a:srgbClr val="C00000"/>
                </a:solidFill>
                <a:latin typeface="Times New Roman" panose="02020603050405020304" pitchFamily="18" charset="0"/>
                <a:cs typeface="Times New Roman" panose="02020603050405020304" pitchFamily="18" charset="0"/>
              </a:rPr>
              <a:t>2019年黑客Gnosticplayers销售第五批数据</a:t>
            </a:r>
            <a:r>
              <a:rPr lang="en-US" altLang="zh-CN" b="1" dirty="0">
                <a:solidFill>
                  <a:srgbClr val="C00000"/>
                </a:solidFill>
                <a:latin typeface="Times New Roman" panose="02020603050405020304" pitchFamily="18" charset="0"/>
                <a:cs typeface="Times New Roman" panose="02020603050405020304" pitchFamily="18" charset="0"/>
              </a:rPr>
              <a:t>,</a:t>
            </a:r>
            <a:r>
              <a:rPr lang="zh-CN" altLang="en-US" b="1" dirty="0">
                <a:solidFill>
                  <a:srgbClr val="C00000"/>
                </a:solidFill>
                <a:latin typeface="Times New Roman" panose="02020603050405020304" pitchFamily="18" charset="0"/>
                <a:cs typeface="Times New Roman" panose="02020603050405020304" pitchFamily="18" charset="0"/>
              </a:rPr>
              <a:t>涉及44家企业近10亿用户记录</a:t>
            </a:r>
            <a:r>
              <a:rPr lang="en-US" altLang="zh-CN" b="1" dirty="0">
                <a:solidFill>
                  <a:schemeClr val="tx2"/>
                </a:solidFill>
                <a:latin typeface="Times New Roman" panose="02020603050405020304" pitchFamily="18" charset="0"/>
                <a:cs typeface="Times New Roman" panose="02020603050405020304" pitchFamily="18" charset="0"/>
              </a:rPr>
              <a:t>.</a:t>
            </a:r>
            <a:r>
              <a:rPr lang="zh-CN" altLang="en-US" b="1" dirty="0">
                <a:solidFill>
                  <a:schemeClr val="tx2"/>
                </a:solidFill>
                <a:latin typeface="Times New Roman" panose="02020603050405020304" pitchFamily="18" charset="0"/>
                <a:cs typeface="Times New Roman" panose="02020603050405020304" pitchFamily="18" charset="0"/>
              </a:rPr>
              <a:t>外媒 ZDNet </a:t>
            </a:r>
            <a:r>
              <a:rPr lang="en-US" altLang="zh-CN" b="1" dirty="0">
                <a:solidFill>
                  <a:schemeClr val="tx2"/>
                </a:solidFill>
                <a:latin typeface="Times New Roman" panose="02020603050405020304" pitchFamily="18" charset="0"/>
                <a:cs typeface="Times New Roman" panose="02020603050405020304" pitchFamily="18" charset="0"/>
              </a:rPr>
              <a:t>2</a:t>
            </a:r>
            <a:r>
              <a:rPr lang="zh-CN" altLang="en-US" b="1" dirty="0">
                <a:solidFill>
                  <a:schemeClr val="tx2"/>
                </a:solidFill>
                <a:latin typeface="Times New Roman" panose="02020603050405020304" pitchFamily="18" charset="0"/>
                <a:cs typeface="Times New Roman" panose="02020603050405020304" pitchFamily="18" charset="0"/>
              </a:rPr>
              <a:t>月报道称</a:t>
            </a:r>
            <a:r>
              <a:rPr lang="en-US" altLang="zh-CN" b="1" dirty="0">
                <a:solidFill>
                  <a:schemeClr val="tx2"/>
                </a:solidFill>
                <a:latin typeface="Times New Roman" panose="02020603050405020304" pitchFamily="18" charset="0"/>
                <a:cs typeface="Times New Roman" panose="02020603050405020304" pitchFamily="18" charset="0"/>
              </a:rPr>
              <a:t>,</a:t>
            </a:r>
            <a:r>
              <a:rPr lang="zh-CN" altLang="en-US" b="1" dirty="0">
                <a:solidFill>
                  <a:schemeClr val="tx2"/>
                </a:solidFill>
                <a:latin typeface="Times New Roman" panose="02020603050405020304" pitchFamily="18" charset="0"/>
                <a:cs typeface="Times New Roman" panose="02020603050405020304" pitchFamily="18" charset="0"/>
              </a:rPr>
              <a:t>由于密码被黑客破解及系统漏洞等原因</a:t>
            </a:r>
            <a:r>
              <a:rPr lang="en-US" altLang="zh-CN" b="1" dirty="0">
                <a:solidFill>
                  <a:schemeClr val="tx2"/>
                </a:solidFill>
                <a:latin typeface="Times New Roman" panose="02020603050405020304" pitchFamily="18" charset="0"/>
                <a:cs typeface="Times New Roman" panose="02020603050405020304" pitchFamily="18" charset="0"/>
              </a:rPr>
              <a:t>,</a:t>
            </a:r>
            <a:r>
              <a:rPr lang="zh-CN" altLang="en-US" b="1" dirty="0">
                <a:solidFill>
                  <a:schemeClr val="tx2"/>
                </a:solidFill>
                <a:latin typeface="Times New Roman" panose="02020603050405020304" pitchFamily="18" charset="0"/>
                <a:cs typeface="Times New Roman" panose="02020603050405020304" pitchFamily="18" charset="0"/>
              </a:rPr>
              <a:t>臭名昭著的黑客Gnosticplayers 4月</a:t>
            </a:r>
            <a:r>
              <a:rPr lang="en-US" altLang="zh-CN" b="1" dirty="0">
                <a:solidFill>
                  <a:schemeClr val="tx2"/>
                </a:solidFill>
                <a:latin typeface="Times New Roman" panose="02020603050405020304" pitchFamily="18" charset="0"/>
                <a:cs typeface="Times New Roman" panose="02020603050405020304" pitchFamily="18" charset="0"/>
              </a:rPr>
              <a:t>,</a:t>
            </a:r>
            <a:r>
              <a:rPr lang="zh-CN" altLang="en-US" b="1" dirty="0">
                <a:solidFill>
                  <a:schemeClr val="tx2"/>
                </a:solidFill>
                <a:latin typeface="Times New Roman" panose="02020603050405020304" pitchFamily="18" charset="0"/>
                <a:cs typeface="Times New Roman" panose="02020603050405020304" pitchFamily="18" charset="0"/>
              </a:rPr>
              <a:t>又发布了第五轮暗网销售数据</a:t>
            </a:r>
            <a:r>
              <a:rPr lang="en-US" altLang="zh-CN" b="1" dirty="0">
                <a:solidFill>
                  <a:schemeClr val="tx2"/>
                </a:solidFill>
                <a:latin typeface="Times New Roman" panose="02020603050405020304" pitchFamily="18" charset="0"/>
                <a:cs typeface="Times New Roman" panose="02020603050405020304" pitchFamily="18" charset="0"/>
              </a:rPr>
              <a:t>,</a:t>
            </a:r>
            <a:r>
              <a:rPr lang="zh-CN" altLang="en-US" b="1" dirty="0">
                <a:solidFill>
                  <a:schemeClr val="tx2"/>
                </a:solidFill>
                <a:latin typeface="Times New Roman" panose="02020603050405020304" pitchFamily="18" charset="0"/>
                <a:cs typeface="Times New Roman" panose="02020603050405020304" pitchFamily="18" charset="0"/>
              </a:rPr>
              <a:t>以及发布销售的数据总量超过 9.32 亿。自 2 月中旬</a:t>
            </a:r>
            <a:r>
              <a:rPr lang="en-US" altLang="zh-CN" b="1" dirty="0">
                <a:solidFill>
                  <a:schemeClr val="tx2"/>
                </a:solidFill>
                <a:latin typeface="Times New Roman" panose="02020603050405020304" pitchFamily="18" charset="0"/>
                <a:cs typeface="Times New Roman" panose="02020603050405020304" pitchFamily="18" charset="0"/>
              </a:rPr>
              <a:t>,</a:t>
            </a:r>
            <a:r>
              <a:rPr lang="zh-CN" altLang="en-US" b="1" dirty="0">
                <a:solidFill>
                  <a:schemeClr val="tx2"/>
                </a:solidFill>
                <a:latin typeface="Times New Roman" panose="02020603050405020304" pitchFamily="18" charset="0"/>
                <a:cs typeface="Times New Roman" panose="02020603050405020304" pitchFamily="18" charset="0"/>
              </a:rPr>
              <a:t>黑客一直在黑市上兜售这部分数据，此前已有44 家企业用户记录被攻击窃取机密数据。</a:t>
            </a:r>
            <a:r>
              <a:rPr lang="zh-CN" altLang="en-US" dirty="0">
                <a:solidFill>
                  <a:schemeClr val="tx2"/>
                </a:solidFill>
                <a:latin typeface="Arial" panose="020B0604020202020204" pitchFamily="34" charset="0"/>
              </a:rPr>
              <a:t> </a:t>
            </a:r>
            <a:endParaRPr lang="en-US" altLang="zh-CN" dirty="0">
              <a:solidFill>
                <a:schemeClr val="tx2"/>
              </a:solidFill>
              <a:latin typeface="Arial" panose="020B0604020202020204" pitchFamily="34" charset="0"/>
            </a:endParaRPr>
          </a:p>
        </p:txBody>
      </p:sp>
      <p:sp>
        <p:nvSpPr>
          <p:cNvPr id="13" name="圆角矩形 12"/>
          <p:cNvSpPr/>
          <p:nvPr/>
        </p:nvSpPr>
        <p:spPr bwMode="gray">
          <a:xfrm>
            <a:off x="1520825" y="3632200"/>
            <a:ext cx="1104900" cy="373063"/>
          </a:xfrm>
          <a:prstGeom prst="roundRect">
            <a:avLst/>
          </a:prstGeom>
        </p:spPr>
        <p:style>
          <a:lnRef idx="0">
            <a:schemeClr val="accent2"/>
          </a:lnRef>
          <a:fillRef idx="3">
            <a:schemeClr val="accent2"/>
          </a:fillRef>
          <a:effectRef idx="3">
            <a:schemeClr val="accent2"/>
          </a:effectRef>
          <a:fontRef idx="minor">
            <a:schemeClr val="lt1"/>
          </a:fontRef>
        </p:style>
        <p:txBody>
          <a:bodyPr wrap="none" anchor="ctr"/>
          <a:lstStyle>
            <a:lvl1pPr>
              <a:defRPr>
                <a:solidFill>
                  <a:schemeClr val="tx1"/>
                </a:solidFill>
                <a:latin typeface="宋体" panose="02010600030101010101" pitchFamily="2" charset="-122"/>
                <a:ea typeface="宋体" panose="02010600030101010101" pitchFamily="2" charset="-122"/>
              </a:defRPr>
            </a:lvl1pPr>
            <a:lvl2pPr marL="742950" indent="-285750">
              <a:defRPr>
                <a:solidFill>
                  <a:schemeClr val="tx1"/>
                </a:solidFill>
                <a:latin typeface="宋体" panose="02010600030101010101" pitchFamily="2" charset="-122"/>
                <a:ea typeface="宋体" panose="02010600030101010101" pitchFamily="2" charset="-122"/>
              </a:defRPr>
            </a:lvl2pPr>
            <a:lvl3pPr marL="1143000" indent="-228600">
              <a:defRPr>
                <a:solidFill>
                  <a:schemeClr val="tx1"/>
                </a:solidFill>
                <a:latin typeface="宋体" panose="02010600030101010101" pitchFamily="2" charset="-122"/>
                <a:ea typeface="宋体" panose="02010600030101010101" pitchFamily="2" charset="-122"/>
              </a:defRPr>
            </a:lvl3pPr>
            <a:lvl4pPr marL="1600200" indent="-228600">
              <a:defRPr>
                <a:solidFill>
                  <a:schemeClr val="tx1"/>
                </a:solidFill>
                <a:latin typeface="宋体" panose="02010600030101010101" pitchFamily="2" charset="-122"/>
                <a:ea typeface="宋体" panose="02010600030101010101" pitchFamily="2" charset="-122"/>
              </a:defRPr>
            </a:lvl4pPr>
            <a:lvl5pPr marL="2057400" indent="-228600">
              <a:defRPr>
                <a:solidFill>
                  <a:schemeClr val="tx1"/>
                </a:solidFill>
                <a:latin typeface="宋体" panose="02010600030101010101" pitchFamily="2" charset="-122"/>
                <a:ea typeface="宋体" panose="02010600030101010101" pitchFamily="2" charset="-122"/>
              </a:defRPr>
            </a:lvl5pPr>
            <a:lvl6pPr marL="25146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6pPr>
            <a:lvl7pPr marL="29718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7pPr>
            <a:lvl8pPr marL="34290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8pPr>
            <a:lvl9pPr marL="38862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9pPr>
          </a:lstStyle>
          <a:p>
            <a:pPr algn="ctr">
              <a:spcBef>
                <a:spcPct val="20000"/>
              </a:spcBef>
              <a:buFont typeface="Wingdings" panose="05000000000000000000" pitchFamily="2" charset="2"/>
              <a:buNone/>
              <a:defRPr/>
            </a:pPr>
            <a:r>
              <a:rPr lang="zh-CN" altLang="en-US" sz="1600" b="1" dirty="0" smtClean="0">
                <a:solidFill>
                  <a:srgbClr val="002060"/>
                </a:solidFill>
              </a:rPr>
              <a:t>案例</a:t>
            </a:r>
            <a:r>
              <a:rPr lang="en-US" altLang="zh-CN" sz="1600" b="1" dirty="0" smtClean="0">
                <a:solidFill>
                  <a:srgbClr val="002060"/>
                </a:solidFill>
              </a:rPr>
              <a:t>2-3</a:t>
            </a:r>
            <a:endParaRPr lang="zh-CN" altLang="en-US" sz="1600" b="1" dirty="0" smtClean="0">
              <a:solidFill>
                <a:srgbClr val="00206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468313" y="1447800"/>
            <a:ext cx="8351837" cy="471805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spcBef>
                <a:spcPct val="20000"/>
              </a:spcBef>
            </a:pPr>
            <a:r>
              <a:rPr lang="en-US" altLang="zh-CN">
                <a:solidFill>
                  <a:srgbClr val="990033"/>
                </a:solidFill>
                <a:latin typeface="Arial" panose="020B0604020202020204" pitchFamily="34" charset="0"/>
              </a:rPr>
              <a:t>      </a:t>
            </a:r>
            <a:r>
              <a:rPr lang="zh-CN" altLang="en-US" b="1">
                <a:solidFill>
                  <a:srgbClr val="990033"/>
                </a:solidFill>
                <a:latin typeface="Arial" panose="020B0604020202020204" pitchFamily="34" charset="0"/>
              </a:rPr>
              <a:t>（</a:t>
            </a:r>
            <a:r>
              <a:rPr lang="en-US" altLang="zh-CN" b="1">
                <a:solidFill>
                  <a:srgbClr val="990033"/>
                </a:solidFill>
                <a:latin typeface="Arial" panose="020B0604020202020204" pitchFamily="34" charset="0"/>
              </a:rPr>
              <a:t>2</a:t>
            </a:r>
            <a:r>
              <a:rPr lang="zh-CN" altLang="en-US" b="1">
                <a:solidFill>
                  <a:srgbClr val="990033"/>
                </a:solidFill>
                <a:latin typeface="Arial" panose="020B0604020202020204" pitchFamily="34" charset="0"/>
              </a:rPr>
              <a:t>）完整性</a:t>
            </a:r>
            <a:endParaRPr lang="zh-CN" altLang="en-US" b="1">
              <a:solidFill>
                <a:srgbClr val="990033"/>
              </a:solidFill>
              <a:latin typeface="Arial" panose="020B0604020202020204" pitchFamily="34" charset="0"/>
            </a:endParaRPr>
          </a:p>
          <a:p>
            <a:pPr>
              <a:spcBef>
                <a:spcPct val="20000"/>
              </a:spcBef>
            </a:pPr>
            <a:r>
              <a:rPr lang="zh-CN" altLang="en-US" b="1">
                <a:solidFill>
                  <a:schemeClr val="tx2"/>
                </a:solidFill>
                <a:latin typeface="Arial" panose="020B0604020202020204" pitchFamily="34" charset="0"/>
              </a:rPr>
              <a:t>      </a:t>
            </a:r>
            <a:r>
              <a:rPr lang="zh-CN" altLang="en-US" b="1">
                <a:solidFill>
                  <a:schemeClr val="tx1"/>
                </a:solidFill>
                <a:latin typeface="Arial" panose="020B0604020202020204" pitchFamily="34" charset="0"/>
              </a:rPr>
              <a:t>①</a:t>
            </a:r>
            <a:r>
              <a:rPr lang="zh-CN" altLang="en-US" b="1">
                <a:solidFill>
                  <a:schemeClr val="tx2"/>
                </a:solidFill>
                <a:latin typeface="Arial" panose="020B0604020202020204" pitchFamily="34" charset="0"/>
              </a:rPr>
              <a:t>物理完整性：数据不受故障影响、重建及恢复。</a:t>
            </a:r>
            <a:endParaRPr lang="zh-CN" altLang="en-US" b="1">
              <a:solidFill>
                <a:schemeClr val="tx2"/>
              </a:solidFill>
              <a:latin typeface="Arial" panose="020B0604020202020204" pitchFamily="34" charset="0"/>
            </a:endParaRPr>
          </a:p>
          <a:p>
            <a:pPr>
              <a:spcBef>
                <a:spcPct val="20000"/>
              </a:spcBef>
            </a:pPr>
            <a:r>
              <a:rPr lang="zh-CN" altLang="en-US" b="1">
                <a:solidFill>
                  <a:schemeClr val="tx2"/>
                </a:solidFill>
                <a:latin typeface="Arial" panose="020B0604020202020204" pitchFamily="34" charset="0"/>
              </a:rPr>
              <a:t>      </a:t>
            </a:r>
            <a:r>
              <a:rPr lang="zh-CN" altLang="zh-CN" b="1">
                <a:solidFill>
                  <a:schemeClr val="tx1"/>
                </a:solidFill>
                <a:latin typeface="Arial" panose="020B0604020202020204" pitchFamily="34" charset="0"/>
              </a:rPr>
              <a:t>②</a:t>
            </a:r>
            <a:r>
              <a:rPr lang="zh-CN" altLang="en-US" b="1">
                <a:solidFill>
                  <a:schemeClr val="tx2"/>
                </a:solidFill>
                <a:latin typeface="Arial" panose="020B0604020202020204" pitchFamily="34" charset="0"/>
              </a:rPr>
              <a:t>逻辑完整性：保护逻辑结构</a:t>
            </a:r>
            <a:r>
              <a:rPr lang="en-US" altLang="zh-CN" b="1">
                <a:solidFill>
                  <a:schemeClr val="tx2"/>
                </a:solidFill>
                <a:latin typeface="Arial" panose="020B0604020202020204" pitchFamily="34" charset="0"/>
              </a:rPr>
              <a:t>(</a:t>
            </a:r>
            <a:r>
              <a:rPr lang="zh-CN" altLang="en-US" b="1">
                <a:solidFill>
                  <a:schemeClr val="tx2"/>
                </a:solidFill>
                <a:latin typeface="Arial" panose="020B0604020202020204" pitchFamily="34" charset="0"/>
              </a:rPr>
              <a:t>含语义和操作完整性</a:t>
            </a:r>
            <a:r>
              <a:rPr lang="en-US" altLang="zh-CN" b="1">
                <a:solidFill>
                  <a:schemeClr val="tx2"/>
                </a:solidFill>
                <a:latin typeface="Arial" panose="020B0604020202020204" pitchFamily="34" charset="0"/>
              </a:rPr>
              <a:t>)</a:t>
            </a:r>
            <a:r>
              <a:rPr lang="zh-CN" altLang="en-US" b="1">
                <a:solidFill>
                  <a:schemeClr val="tx2"/>
                </a:solidFill>
                <a:latin typeface="Arial" panose="020B0604020202020204" pitchFamily="34" charset="0"/>
              </a:rPr>
              <a:t>。</a:t>
            </a:r>
            <a:r>
              <a:rPr lang="en-US" altLang="zh-CN" b="1">
                <a:solidFill>
                  <a:schemeClr val="tx2"/>
                </a:solidFill>
                <a:latin typeface="Arial" panose="020B0604020202020204" pitchFamily="34" charset="0"/>
              </a:rPr>
              <a:t> </a:t>
            </a:r>
            <a:endParaRPr lang="en-US" altLang="zh-CN" b="1">
              <a:solidFill>
                <a:schemeClr val="tx2"/>
              </a:solidFill>
              <a:latin typeface="Arial" panose="020B0604020202020204" pitchFamily="34" charset="0"/>
            </a:endParaRPr>
          </a:p>
          <a:p>
            <a:pPr>
              <a:spcBef>
                <a:spcPct val="20000"/>
              </a:spcBef>
            </a:pPr>
            <a:r>
              <a:rPr lang="en-US" altLang="zh-CN" b="1">
                <a:solidFill>
                  <a:srgbClr val="990033"/>
                </a:solidFill>
                <a:latin typeface="Arial" panose="020B0604020202020204" pitchFamily="34" charset="0"/>
              </a:rPr>
              <a:t>      </a:t>
            </a:r>
            <a:r>
              <a:rPr lang="zh-CN" altLang="en-US" b="1">
                <a:solidFill>
                  <a:srgbClr val="990033"/>
                </a:solidFill>
              </a:rPr>
              <a:t>（</a:t>
            </a:r>
            <a:r>
              <a:rPr lang="en-US" altLang="zh-CN" b="1">
                <a:solidFill>
                  <a:srgbClr val="990033"/>
                </a:solidFill>
              </a:rPr>
              <a:t>3</a:t>
            </a:r>
            <a:r>
              <a:rPr lang="zh-CN" altLang="en-US" b="1">
                <a:solidFill>
                  <a:srgbClr val="990033"/>
                </a:solidFill>
              </a:rPr>
              <a:t>）可用性</a:t>
            </a:r>
            <a:endParaRPr lang="en-US" altLang="zh-CN" b="1">
              <a:solidFill>
                <a:srgbClr val="990033"/>
              </a:solidFill>
            </a:endParaRPr>
          </a:p>
          <a:p>
            <a:pPr>
              <a:spcBef>
                <a:spcPct val="20000"/>
              </a:spcBef>
            </a:pPr>
            <a:r>
              <a:rPr lang="zh-CN" altLang="en-US" b="1">
                <a:solidFill>
                  <a:schemeClr val="tx2"/>
                </a:solidFill>
                <a:latin typeface="Arial" panose="020B0604020202020204" pitchFamily="34" charset="0"/>
              </a:rPr>
              <a:t>       指在授权用户对数据库中数据正常操作的同时，保证系统的运行效率，并提供用户便利的人机交互。 </a:t>
            </a:r>
            <a:endParaRPr lang="zh-CN" altLang="en-US" b="1">
              <a:solidFill>
                <a:schemeClr val="tx2"/>
              </a:solidFill>
              <a:latin typeface="Arial" panose="020B0604020202020204" pitchFamily="34" charset="0"/>
            </a:endParaRPr>
          </a:p>
          <a:p>
            <a:pPr>
              <a:spcBef>
                <a:spcPct val="20000"/>
              </a:spcBef>
            </a:pPr>
            <a:r>
              <a:rPr lang="zh-CN" altLang="en-US" b="1">
                <a:solidFill>
                  <a:srgbClr val="CC0000"/>
                </a:solidFill>
                <a:latin typeface="Arial" panose="020B0604020202020204" pitchFamily="34" charset="0"/>
              </a:rPr>
              <a:t>       数据库对数据安全性</a:t>
            </a:r>
            <a:r>
              <a:rPr lang="zh-CN" altLang="en-US" b="1">
                <a:solidFill>
                  <a:srgbClr val="CC0099"/>
                </a:solidFill>
                <a:latin typeface="Arial" panose="020B0604020202020204" pitchFamily="34" charset="0"/>
              </a:rPr>
              <a:t>采取的措施为</a:t>
            </a:r>
            <a:r>
              <a:rPr lang="zh-CN" altLang="en-US" b="1">
                <a:solidFill>
                  <a:schemeClr val="tx2"/>
                </a:solidFill>
                <a:latin typeface="Arial" panose="020B0604020202020204" pitchFamily="34" charset="0"/>
              </a:rPr>
              <a:t>：</a:t>
            </a:r>
            <a:endParaRPr lang="zh-CN" altLang="en-US" b="1">
              <a:solidFill>
                <a:schemeClr val="tx2"/>
              </a:solidFill>
              <a:latin typeface="Arial" panose="020B0604020202020204" pitchFamily="34" charset="0"/>
            </a:endParaRPr>
          </a:p>
          <a:p>
            <a:pPr>
              <a:spcBef>
                <a:spcPct val="20000"/>
              </a:spcBef>
            </a:pPr>
            <a:r>
              <a:rPr lang="zh-CN" altLang="en-US" b="1">
                <a:solidFill>
                  <a:schemeClr val="tx2"/>
                </a:solidFill>
                <a:latin typeface="Arial" panose="020B0604020202020204" pitchFamily="34" charset="0"/>
              </a:rPr>
              <a:t>       </a:t>
            </a:r>
            <a:r>
              <a:rPr lang="zh-CN" altLang="en-US" b="1">
                <a:solidFill>
                  <a:schemeClr val="tx1"/>
                </a:solidFill>
                <a:latin typeface="Arial" panose="020B0604020202020204" pitchFamily="34" charset="0"/>
              </a:rPr>
              <a:t>①</a:t>
            </a:r>
            <a:r>
              <a:rPr lang="zh-CN" altLang="en-US" b="1">
                <a:solidFill>
                  <a:schemeClr val="tx2"/>
                </a:solidFill>
                <a:latin typeface="Arial" panose="020B0604020202020204" pitchFamily="34" charset="0"/>
              </a:rPr>
              <a:t>将数据库中需要保护的部分与其他部分进行</a:t>
            </a:r>
            <a:r>
              <a:rPr lang="zh-CN" altLang="en-US" b="1">
                <a:solidFill>
                  <a:srgbClr val="3333FF"/>
                </a:solidFill>
                <a:latin typeface="Arial" panose="020B0604020202020204" pitchFamily="34" charset="0"/>
              </a:rPr>
              <a:t>隔离</a:t>
            </a:r>
            <a:r>
              <a:rPr lang="en-US" altLang="zh-CN" b="1">
                <a:solidFill>
                  <a:schemeClr val="tx2"/>
                </a:solidFill>
                <a:latin typeface="Arial" panose="020B0604020202020204" pitchFamily="34" charset="0"/>
              </a:rPr>
              <a:t>.</a:t>
            </a:r>
            <a:endParaRPr lang="zh-CN" altLang="en-US" b="1">
              <a:solidFill>
                <a:schemeClr val="tx2"/>
              </a:solidFill>
              <a:latin typeface="Arial" panose="020B0604020202020204" pitchFamily="34" charset="0"/>
            </a:endParaRPr>
          </a:p>
          <a:p>
            <a:pPr>
              <a:spcBef>
                <a:spcPct val="20000"/>
              </a:spcBef>
            </a:pPr>
            <a:r>
              <a:rPr lang="zh-CN" altLang="en-US" b="1">
                <a:solidFill>
                  <a:schemeClr val="tx2"/>
                </a:solidFill>
                <a:latin typeface="Arial" panose="020B0604020202020204" pitchFamily="34" charset="0"/>
              </a:rPr>
              <a:t>       </a:t>
            </a:r>
            <a:r>
              <a:rPr lang="zh-CN" altLang="zh-CN" b="1">
                <a:solidFill>
                  <a:schemeClr val="tx1"/>
                </a:solidFill>
                <a:latin typeface="Arial" panose="020B0604020202020204" pitchFamily="34" charset="0"/>
              </a:rPr>
              <a:t>②</a:t>
            </a:r>
            <a:r>
              <a:rPr lang="zh-CN" altLang="en-US" b="1">
                <a:solidFill>
                  <a:schemeClr val="tx2"/>
                </a:solidFill>
                <a:latin typeface="Arial" panose="020B0604020202020204" pitchFamily="34" charset="0"/>
              </a:rPr>
              <a:t>采用</a:t>
            </a:r>
            <a:r>
              <a:rPr lang="zh-CN" altLang="en-US" b="1">
                <a:solidFill>
                  <a:srgbClr val="800000"/>
                </a:solidFill>
                <a:latin typeface="Arial" panose="020B0604020202020204" pitchFamily="34" charset="0"/>
              </a:rPr>
              <a:t>授权规则</a:t>
            </a:r>
            <a:r>
              <a:rPr lang="zh-CN" altLang="en-US" b="1">
                <a:solidFill>
                  <a:schemeClr val="tx2"/>
                </a:solidFill>
                <a:latin typeface="Arial" panose="020B0604020202020204" pitchFamily="34" charset="0"/>
              </a:rPr>
              <a:t>，如账户、口令和权限控制等访问控制方法。</a:t>
            </a:r>
            <a:endParaRPr lang="zh-CN" altLang="en-US" b="1">
              <a:solidFill>
                <a:schemeClr val="tx2"/>
              </a:solidFill>
              <a:latin typeface="Arial" panose="020B0604020202020204" pitchFamily="34" charset="0"/>
            </a:endParaRPr>
          </a:p>
          <a:p>
            <a:pPr>
              <a:spcBef>
                <a:spcPct val="20000"/>
              </a:spcBef>
            </a:pPr>
            <a:r>
              <a:rPr lang="zh-CN" altLang="en-US" b="1">
                <a:solidFill>
                  <a:schemeClr val="tx2"/>
                </a:solidFill>
                <a:latin typeface="Arial" panose="020B0604020202020204" pitchFamily="34" charset="0"/>
              </a:rPr>
              <a:t>        </a:t>
            </a:r>
            <a:r>
              <a:rPr lang="zh-CN" altLang="en-US" b="1">
                <a:solidFill>
                  <a:schemeClr val="tx1"/>
                </a:solidFill>
                <a:latin typeface="Arial" panose="020B0604020202020204" pitchFamily="34" charset="0"/>
              </a:rPr>
              <a:t>③</a:t>
            </a:r>
            <a:r>
              <a:rPr lang="zh-CN" altLang="en-US" b="1">
                <a:solidFill>
                  <a:schemeClr val="tx2"/>
                </a:solidFill>
                <a:latin typeface="Arial" panose="020B0604020202020204" pitchFamily="34" charset="0"/>
              </a:rPr>
              <a:t>对数据进行</a:t>
            </a:r>
            <a:r>
              <a:rPr lang="zh-CN" altLang="en-US" b="1">
                <a:solidFill>
                  <a:srgbClr val="800000"/>
                </a:solidFill>
                <a:latin typeface="Arial" panose="020B0604020202020204" pitchFamily="34" charset="0"/>
              </a:rPr>
              <a:t>加密后存储于</a:t>
            </a:r>
            <a:r>
              <a:rPr lang="zh-CN" altLang="en-US" b="1">
                <a:solidFill>
                  <a:schemeClr val="tx2"/>
                </a:solidFill>
                <a:latin typeface="Arial" panose="020B0604020202020204" pitchFamily="34" charset="0"/>
              </a:rPr>
              <a:t>数据库中。</a:t>
            </a:r>
            <a:endParaRPr lang="en-US" altLang="zh-CN" b="1">
              <a:solidFill>
                <a:schemeClr val="tx2"/>
              </a:solidFill>
              <a:latin typeface="Arial" panose="020B0604020202020204" pitchFamily="34" charset="0"/>
            </a:endParaRPr>
          </a:p>
        </p:txBody>
      </p:sp>
      <p:sp>
        <p:nvSpPr>
          <p:cNvPr id="25602" name="内容占位符 13"/>
          <p:cNvSpPr>
            <a:spLocks noChangeArrowheads="1"/>
          </p:cNvSpPr>
          <p:nvPr/>
        </p:nvSpPr>
        <p:spPr bwMode="auto">
          <a:xfrm>
            <a:off x="395288" y="1196975"/>
            <a:ext cx="8153400" cy="531495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buFont typeface="Wingdings" panose="05000000000000000000" pitchFamily="2" charset="2"/>
              <a:buNone/>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chemeClr val="tx2"/>
              </a:solidFill>
              <a:latin typeface="宋体" panose="02010600030101010101" pitchFamily="2" charset="-122"/>
            </a:endParaRPr>
          </a:p>
        </p:txBody>
      </p:sp>
      <p:sp>
        <p:nvSpPr>
          <p:cNvPr id="25603" name="Rectangle 2"/>
          <p:cNvSpPr txBox="1">
            <a:spLocks noChangeArrowheads="1"/>
          </p:cNvSpPr>
          <p:nvPr/>
        </p:nvSpPr>
        <p:spPr bwMode="auto">
          <a:xfrm>
            <a:off x="1787525" y="231775"/>
            <a:ext cx="6561138" cy="563563"/>
          </a:xfrm>
          <a:prstGeom prst="rect">
            <a:avLst/>
          </a:prstGeom>
          <a:noFill/>
          <a:ln w="9525">
            <a:noFill/>
            <a:miter lim="800000"/>
          </a:ln>
        </p:spPr>
        <p:txBody>
          <a:bodyPr anchor="ctr"/>
          <a:lstStyle/>
          <a:p>
            <a:pPr>
              <a:spcBef>
                <a:spcPct val="20000"/>
              </a:spcBef>
              <a:buFont typeface="Wingdings" panose="05000000000000000000" pitchFamily="2" charset="2"/>
              <a:buNone/>
            </a:pPr>
            <a:r>
              <a:rPr lang="zh-CN" altLang="zh-CN" sz="3200" b="1">
                <a:solidFill>
                  <a:schemeClr val="bg1"/>
                </a:solidFill>
              </a:rPr>
              <a:t>10.3 数据库的安全特性和措施</a:t>
            </a:r>
            <a:endParaRPr lang="zh-CN" altLang="zh-CN" sz="3200" b="1">
              <a:solidFill>
                <a:schemeClr val="bg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内容占位符 13"/>
          <p:cNvSpPr>
            <a:spLocks noGrp="1" noChangeArrowheads="1"/>
          </p:cNvSpPr>
          <p:nvPr>
            <p:ph idx="4294967295"/>
          </p:nvPr>
        </p:nvSpPr>
        <p:spPr>
          <a:xfrm>
            <a:off x="1089025" y="1176338"/>
            <a:ext cx="5819775" cy="622300"/>
          </a:xfrm>
        </p:spPr>
        <p:txBody>
          <a:bodyPr/>
          <a:lstStyle/>
          <a:p>
            <a:pPr eaLnBrk="1" hangingPunct="1">
              <a:spcBef>
                <a:spcPct val="0"/>
              </a:spcBef>
              <a:buClrTx/>
              <a:buFontTx/>
              <a:buNone/>
            </a:pPr>
            <a:r>
              <a:rPr lang="en-US" altLang="zh-CN" sz="2800" smtClean="0">
                <a:solidFill>
                  <a:srgbClr val="FF0000"/>
                </a:solidFill>
              </a:rPr>
              <a:t>2. </a:t>
            </a:r>
            <a:r>
              <a:rPr lang="zh-CN" altLang="en-US" sz="2800" smtClean="0">
                <a:solidFill>
                  <a:srgbClr val="FF0000"/>
                </a:solidFill>
              </a:rPr>
              <a:t>数据库的安全性措施</a:t>
            </a:r>
            <a:endParaRPr lang="en-US" altLang="zh-CN" sz="2800" smtClean="0"/>
          </a:p>
        </p:txBody>
      </p:sp>
      <p:sp>
        <p:nvSpPr>
          <p:cNvPr id="26626" name="内容占位符 13"/>
          <p:cNvSpPr>
            <a:spLocks noChangeArrowheads="1"/>
          </p:cNvSpPr>
          <p:nvPr/>
        </p:nvSpPr>
        <p:spPr bwMode="auto">
          <a:xfrm>
            <a:off x="539750" y="1196975"/>
            <a:ext cx="8153400" cy="273685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buFont typeface="Wingdings" panose="05000000000000000000" pitchFamily="2" charset="2"/>
              <a:buNone/>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chemeClr val="tx2"/>
              </a:solidFill>
              <a:latin typeface="宋体" panose="02010600030101010101" pitchFamily="2" charset="-122"/>
            </a:endParaRPr>
          </a:p>
        </p:txBody>
      </p:sp>
      <p:sp>
        <p:nvSpPr>
          <p:cNvPr id="26627" name="Rectangle 8"/>
          <p:cNvSpPr>
            <a:spLocks noChangeArrowheads="1"/>
          </p:cNvSpPr>
          <p:nvPr/>
        </p:nvSpPr>
        <p:spPr bwMode="auto">
          <a:xfrm>
            <a:off x="4479925" y="-182563"/>
            <a:ext cx="184150" cy="366713"/>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19" name="圆角矩形 18"/>
          <p:cNvSpPr/>
          <p:nvPr/>
        </p:nvSpPr>
        <p:spPr bwMode="gray">
          <a:xfrm>
            <a:off x="792163" y="1798638"/>
            <a:ext cx="7775575" cy="160020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nSpc>
                <a:spcPct val="90000"/>
              </a:lnSpc>
              <a:spcBef>
                <a:spcPct val="20000"/>
              </a:spcBef>
              <a:buFont typeface="Wingdings" panose="05000000000000000000" pitchFamily="2" charset="2"/>
              <a:buNone/>
              <a:defRPr/>
            </a:pPr>
            <a:r>
              <a:rPr lang="zh-CN" altLang="en-US" b="1" dirty="0">
                <a:solidFill>
                  <a:srgbClr val="990033"/>
                </a:solidFill>
                <a:latin typeface="Arial" panose="020B0604020202020204" pitchFamily="34" charset="0"/>
              </a:rPr>
              <a:t>        数据库的安全性</a:t>
            </a:r>
            <a:r>
              <a:rPr lang="zh-CN" altLang="en-US" b="1" dirty="0">
                <a:solidFill>
                  <a:schemeClr val="tx1"/>
                </a:solidFill>
                <a:latin typeface="Arial" panose="020B0604020202020204" pitchFamily="34" charset="0"/>
              </a:rPr>
              <a:t>包括三种安全性保护措施：用户的身份认证管理、数据库的使用权限管理和数据库中对象的使用权限管理。数据库安全的访问控制模式如图</a:t>
            </a:r>
            <a:r>
              <a:rPr lang="en-US" altLang="zh-CN" b="1" dirty="0">
                <a:solidFill>
                  <a:schemeClr val="tx1"/>
                </a:solidFill>
                <a:latin typeface="Arial" panose="020B0604020202020204" pitchFamily="34" charset="0"/>
              </a:rPr>
              <a:t>10-5</a:t>
            </a:r>
            <a:r>
              <a:rPr lang="zh-CN" altLang="en-US" b="1" dirty="0">
                <a:solidFill>
                  <a:schemeClr val="tx1"/>
                </a:solidFill>
                <a:latin typeface="Arial" panose="020B0604020202020204" pitchFamily="34" charset="0"/>
              </a:rPr>
              <a:t>所示。</a:t>
            </a:r>
            <a:r>
              <a:rPr lang="zh-CN" altLang="en-US" dirty="0">
                <a:solidFill>
                  <a:schemeClr val="tx1"/>
                </a:solidFill>
                <a:latin typeface="Arial" panose="020B0604020202020204" pitchFamily="34" charset="0"/>
              </a:rPr>
              <a:t> </a:t>
            </a:r>
            <a:endParaRPr lang="en-US" altLang="zh-CN" dirty="0">
              <a:solidFill>
                <a:schemeClr val="tx1"/>
              </a:solidFill>
              <a:latin typeface="Arial" panose="020B0604020202020204" pitchFamily="34" charset="0"/>
            </a:endParaRPr>
          </a:p>
        </p:txBody>
      </p:sp>
      <p:pic>
        <p:nvPicPr>
          <p:cNvPr id="26629" name="Picture 12"/>
          <p:cNvPicPr>
            <a:picLocks noChangeAspect="1" noChangeArrowheads="1"/>
          </p:cNvPicPr>
          <p:nvPr/>
        </p:nvPicPr>
        <p:blipFill>
          <a:blip r:embed="rId1" cstate="print"/>
          <a:srcRect/>
          <a:stretch>
            <a:fillRect/>
          </a:stretch>
        </p:blipFill>
        <p:spPr bwMode="auto">
          <a:xfrm>
            <a:off x="2484438" y="3398839"/>
            <a:ext cx="4175125" cy="2954336"/>
          </a:xfrm>
          <a:prstGeom prst="rect">
            <a:avLst/>
          </a:prstGeom>
          <a:noFill/>
          <a:ln w="9525">
            <a:noFill/>
            <a:miter lim="800000"/>
            <a:headEnd/>
            <a:tailEnd/>
          </a:ln>
        </p:spPr>
      </p:pic>
      <p:sp>
        <p:nvSpPr>
          <p:cNvPr id="26630" name="Rectangle 13"/>
          <p:cNvSpPr>
            <a:spLocks noChangeArrowheads="1"/>
          </p:cNvSpPr>
          <p:nvPr/>
        </p:nvSpPr>
        <p:spPr bwMode="auto">
          <a:xfrm>
            <a:off x="2700338" y="6353175"/>
            <a:ext cx="3959225" cy="336550"/>
          </a:xfrm>
          <a:prstGeom prst="rect">
            <a:avLst/>
          </a:prstGeom>
          <a:noFill/>
          <a:ln w="9525">
            <a:noFill/>
            <a:miter lim="800000"/>
          </a:ln>
        </p:spPr>
        <p:txBody>
          <a:bodyPr anchor="ctr">
            <a:spAutoFit/>
          </a:bodyPr>
          <a:lstStyle/>
          <a:p>
            <a:pPr>
              <a:spcBef>
                <a:spcPct val="20000"/>
              </a:spcBef>
              <a:buFont typeface="Wingdings" panose="05000000000000000000" pitchFamily="2" charset="2"/>
              <a:buNone/>
            </a:pPr>
            <a:r>
              <a:rPr lang="zh-CN" altLang="en-US" sz="1600" b="1" dirty="0">
                <a:solidFill>
                  <a:srgbClr val="C00000"/>
                </a:solidFill>
              </a:rPr>
              <a:t>图</a:t>
            </a:r>
            <a:r>
              <a:rPr lang="en-US" altLang="zh-CN" sz="1600" b="1" dirty="0">
                <a:solidFill>
                  <a:srgbClr val="C00000"/>
                </a:solidFill>
              </a:rPr>
              <a:t>10-5 </a:t>
            </a:r>
            <a:r>
              <a:rPr lang="zh-CN" altLang="en-US" sz="1600" b="1" dirty="0">
                <a:solidFill>
                  <a:srgbClr val="C00000"/>
                </a:solidFill>
              </a:rPr>
              <a:t>数据库系统安全控制模式 </a:t>
            </a:r>
            <a:endParaRPr lang="zh-CN" altLang="en-US" sz="1600" b="1" dirty="0">
              <a:solidFill>
                <a:srgbClr val="C00000"/>
              </a:solidFill>
            </a:endParaRPr>
          </a:p>
        </p:txBody>
      </p:sp>
      <p:sp>
        <p:nvSpPr>
          <p:cNvPr id="26631" name="Rectangle 2"/>
          <p:cNvSpPr txBox="1">
            <a:spLocks noChangeArrowheads="1"/>
          </p:cNvSpPr>
          <p:nvPr/>
        </p:nvSpPr>
        <p:spPr bwMode="auto">
          <a:xfrm>
            <a:off x="1787525" y="231775"/>
            <a:ext cx="6561138" cy="563563"/>
          </a:xfrm>
          <a:prstGeom prst="rect">
            <a:avLst/>
          </a:prstGeom>
          <a:noFill/>
          <a:ln w="9525">
            <a:noFill/>
            <a:miter lim="800000"/>
          </a:ln>
        </p:spPr>
        <p:txBody>
          <a:bodyPr anchor="ctr"/>
          <a:lstStyle/>
          <a:p>
            <a:pPr>
              <a:spcBef>
                <a:spcPct val="20000"/>
              </a:spcBef>
              <a:buFont typeface="Wingdings" panose="05000000000000000000" pitchFamily="2" charset="2"/>
              <a:buNone/>
            </a:pPr>
            <a:r>
              <a:rPr lang="zh-CN" altLang="zh-CN" sz="3200" b="1">
                <a:solidFill>
                  <a:schemeClr val="bg1"/>
                </a:solidFill>
              </a:rPr>
              <a:t>10.3 数据库的安全特性和措施</a:t>
            </a:r>
            <a:endParaRPr lang="zh-CN" altLang="zh-CN" sz="3200" b="1">
              <a:solidFill>
                <a:schemeClr val="bg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内容占位符 13"/>
          <p:cNvSpPr>
            <a:spLocks noGrp="1" noChangeArrowheads="1"/>
          </p:cNvSpPr>
          <p:nvPr>
            <p:ph idx="4294967295"/>
          </p:nvPr>
        </p:nvSpPr>
        <p:spPr>
          <a:xfrm>
            <a:off x="395288" y="1196975"/>
            <a:ext cx="8040687" cy="3322638"/>
          </a:xfrm>
        </p:spPr>
        <p:txBody>
          <a:bodyPr/>
          <a:lstStyle/>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19" name="圆角矩形 18"/>
          <p:cNvSpPr/>
          <p:nvPr/>
        </p:nvSpPr>
        <p:spPr bwMode="gray">
          <a:xfrm>
            <a:off x="571500" y="1587500"/>
            <a:ext cx="7777163" cy="469900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spcBef>
                <a:spcPct val="20000"/>
              </a:spcBef>
            </a:pPr>
            <a:r>
              <a:rPr lang="zh-CN" altLang="en-US" b="1">
                <a:solidFill>
                  <a:schemeClr val="tx2"/>
                </a:solidFill>
                <a:latin typeface="Arial" panose="020B0604020202020204" pitchFamily="34" charset="0"/>
              </a:rPr>
              <a:t>      </a:t>
            </a:r>
            <a:r>
              <a:rPr lang="en-US" altLang="zh-CN" b="1">
                <a:solidFill>
                  <a:srgbClr val="CC0000"/>
                </a:solidFill>
              </a:rPr>
              <a:t>1.</a:t>
            </a:r>
            <a:r>
              <a:rPr lang="zh-CN" altLang="en-US" b="1">
                <a:solidFill>
                  <a:srgbClr val="CC0000"/>
                </a:solidFill>
              </a:rPr>
              <a:t>数据库完整性</a:t>
            </a:r>
            <a:endParaRPr lang="en-US" altLang="zh-CN" b="1">
              <a:solidFill>
                <a:srgbClr val="CC0000"/>
              </a:solidFill>
            </a:endParaRPr>
          </a:p>
          <a:p>
            <a:pPr>
              <a:spcBef>
                <a:spcPct val="20000"/>
              </a:spcBef>
            </a:pPr>
            <a:r>
              <a:rPr lang="zh-CN" altLang="en-US" sz="2200" b="1">
                <a:solidFill>
                  <a:srgbClr val="CC0000"/>
                </a:solidFill>
                <a:latin typeface="Arial" panose="020B0604020202020204" pitchFamily="34" charset="0"/>
              </a:rPr>
              <a:t>        数据库完整性</a:t>
            </a:r>
            <a:r>
              <a:rPr lang="zh-CN" altLang="en-US" sz="2200" b="1">
                <a:solidFill>
                  <a:srgbClr val="006600"/>
                </a:solidFill>
                <a:latin typeface="Arial" panose="020B0604020202020204" pitchFamily="34" charset="0"/>
              </a:rPr>
              <a:t>（</a:t>
            </a:r>
            <a:r>
              <a:rPr lang="en-US" altLang="zh-CN" sz="2200" b="1">
                <a:solidFill>
                  <a:srgbClr val="006600"/>
                </a:solidFill>
                <a:latin typeface="Arial" panose="020B0604020202020204" pitchFamily="34" charset="0"/>
              </a:rPr>
              <a:t>Database Integrity</a:t>
            </a:r>
            <a:r>
              <a:rPr lang="zh-CN" altLang="en-US" sz="2200" b="1">
                <a:solidFill>
                  <a:srgbClr val="006600"/>
                </a:solidFill>
                <a:latin typeface="Arial" panose="020B0604020202020204" pitchFamily="34" charset="0"/>
              </a:rPr>
              <a:t>）</a:t>
            </a:r>
            <a:r>
              <a:rPr lang="zh-CN" altLang="en-US" sz="2200" b="1">
                <a:solidFill>
                  <a:schemeClr val="tx2"/>
                </a:solidFill>
                <a:latin typeface="Arial" panose="020B0604020202020204" pitchFamily="34" charset="0"/>
              </a:rPr>
              <a:t>是指</a:t>
            </a:r>
            <a:r>
              <a:rPr lang="en-US" altLang="zh-CN" sz="2200" b="1">
                <a:solidFill>
                  <a:srgbClr val="006600"/>
                </a:solidFill>
                <a:latin typeface="Arial" panose="020B0604020202020204" pitchFamily="34" charset="0"/>
              </a:rPr>
              <a:t>DB</a:t>
            </a:r>
            <a:r>
              <a:rPr lang="zh-CN" altLang="en-US" sz="2200" b="1">
                <a:solidFill>
                  <a:schemeClr val="tx2"/>
                </a:solidFill>
                <a:latin typeface="Arial" panose="020B0604020202020204" pitchFamily="34" charset="0"/>
              </a:rPr>
              <a:t>中数据的正确性和相容性。</a:t>
            </a:r>
            <a:r>
              <a:rPr lang="zh-CN" altLang="en-US" sz="2200" b="1" u="sng">
                <a:solidFill>
                  <a:srgbClr val="CC0000"/>
                </a:solidFill>
                <a:latin typeface="Arial" panose="020B0604020202020204" pitchFamily="34" charset="0"/>
              </a:rPr>
              <a:t>主要作用</a:t>
            </a:r>
            <a:r>
              <a:rPr lang="zh-CN" altLang="en-US" sz="2200" b="1">
                <a:solidFill>
                  <a:srgbClr val="CC0000"/>
                </a:solidFill>
                <a:latin typeface="Arial" panose="020B0604020202020204" pitchFamily="34" charset="0"/>
              </a:rPr>
              <a:t>体现</a:t>
            </a:r>
            <a:r>
              <a:rPr lang="zh-CN" altLang="en-US" sz="2200" b="1">
                <a:solidFill>
                  <a:schemeClr val="tx2"/>
                </a:solidFill>
                <a:latin typeface="Arial" panose="020B0604020202020204" pitchFamily="34" charset="0"/>
              </a:rPr>
              <a:t>在： </a:t>
            </a:r>
            <a:endParaRPr lang="zh-CN" altLang="en-US" sz="2200" b="1">
              <a:solidFill>
                <a:schemeClr val="tx2"/>
              </a:solidFill>
              <a:latin typeface="Arial" panose="020B0604020202020204" pitchFamily="34" charset="0"/>
            </a:endParaRPr>
          </a:p>
          <a:p>
            <a:pPr>
              <a:lnSpc>
                <a:spcPct val="95000"/>
              </a:lnSpc>
              <a:spcBef>
                <a:spcPct val="20000"/>
              </a:spcBef>
            </a:pPr>
            <a:r>
              <a:rPr lang="zh-CN" altLang="en-US" sz="2200" b="1">
                <a:solidFill>
                  <a:schemeClr val="tx2"/>
                </a:solidFill>
                <a:latin typeface="Arial" panose="020B0604020202020204" pitchFamily="34" charset="0"/>
              </a:rPr>
              <a:t>        </a:t>
            </a:r>
            <a:r>
              <a:rPr lang="en-US" altLang="zh-CN" sz="2200" b="1">
                <a:solidFill>
                  <a:schemeClr val="tx2"/>
                </a:solidFill>
                <a:latin typeface="Arial" panose="020B0604020202020204" pitchFamily="34" charset="0"/>
              </a:rPr>
              <a:t>1</a:t>
            </a:r>
            <a:r>
              <a:rPr lang="zh-CN" altLang="en-US" sz="2200" b="1">
                <a:solidFill>
                  <a:schemeClr val="tx2"/>
                </a:solidFill>
                <a:latin typeface="Arial" panose="020B0604020202020204" pitchFamily="34" charset="0"/>
              </a:rPr>
              <a:t>）</a:t>
            </a:r>
            <a:r>
              <a:rPr lang="zh-CN" altLang="en-US" sz="2200" b="1">
                <a:solidFill>
                  <a:srgbClr val="3333FF"/>
                </a:solidFill>
                <a:latin typeface="Arial" panose="020B0604020202020204" pitchFamily="34" charset="0"/>
              </a:rPr>
              <a:t>防止</a:t>
            </a:r>
            <a:r>
              <a:rPr lang="zh-CN" altLang="en-US" sz="2200" b="1">
                <a:solidFill>
                  <a:schemeClr val="tx2"/>
                </a:solidFill>
                <a:latin typeface="Arial" panose="020B0604020202020204" pitchFamily="34" charset="0"/>
              </a:rPr>
              <a:t>合法用户向数据库中</a:t>
            </a:r>
            <a:r>
              <a:rPr lang="zh-CN" altLang="en-US" sz="2200" b="1">
                <a:solidFill>
                  <a:srgbClr val="3333FF"/>
                </a:solidFill>
                <a:latin typeface="Arial" panose="020B0604020202020204" pitchFamily="34" charset="0"/>
              </a:rPr>
              <a:t>添加</a:t>
            </a:r>
            <a:r>
              <a:rPr lang="zh-CN" altLang="en-US" sz="2200" b="1">
                <a:solidFill>
                  <a:srgbClr val="800000"/>
                </a:solidFill>
                <a:latin typeface="Arial" panose="020B0604020202020204" pitchFamily="34" charset="0"/>
              </a:rPr>
              <a:t>不合语义的数据</a:t>
            </a:r>
            <a:r>
              <a:rPr lang="en-US" altLang="zh-CN" sz="2200" b="1">
                <a:solidFill>
                  <a:schemeClr val="tx2"/>
                </a:solidFill>
                <a:latin typeface="Arial" panose="020B0604020202020204" pitchFamily="34" charset="0"/>
              </a:rPr>
              <a:t>.</a:t>
            </a:r>
            <a:endParaRPr lang="zh-CN" altLang="en-US" sz="2200" b="1">
              <a:solidFill>
                <a:schemeClr val="tx2"/>
              </a:solidFill>
              <a:latin typeface="Arial" panose="020B0604020202020204" pitchFamily="34" charset="0"/>
            </a:endParaRPr>
          </a:p>
          <a:p>
            <a:pPr>
              <a:lnSpc>
                <a:spcPct val="95000"/>
              </a:lnSpc>
              <a:spcBef>
                <a:spcPct val="20000"/>
              </a:spcBef>
            </a:pPr>
            <a:r>
              <a:rPr lang="zh-CN" altLang="en-US" sz="2200" b="1">
                <a:solidFill>
                  <a:schemeClr val="tx2"/>
                </a:solidFill>
                <a:latin typeface="Arial" panose="020B0604020202020204" pitchFamily="34" charset="0"/>
              </a:rPr>
              <a:t>        </a:t>
            </a:r>
            <a:r>
              <a:rPr lang="en-US" altLang="zh-CN" sz="2200" b="1">
                <a:solidFill>
                  <a:schemeClr val="tx2"/>
                </a:solidFill>
                <a:latin typeface="Arial" panose="020B0604020202020204" pitchFamily="34" charset="0"/>
              </a:rPr>
              <a:t>2</a:t>
            </a:r>
            <a:r>
              <a:rPr lang="zh-CN" altLang="en-US" sz="2200" b="1">
                <a:solidFill>
                  <a:schemeClr val="tx2"/>
                </a:solidFill>
                <a:latin typeface="Arial" panose="020B0604020202020204" pitchFamily="34" charset="0"/>
              </a:rPr>
              <a:t>）</a:t>
            </a:r>
            <a:r>
              <a:rPr lang="zh-CN" altLang="en-US" sz="2200" b="1">
                <a:solidFill>
                  <a:srgbClr val="3333FF"/>
                </a:solidFill>
                <a:latin typeface="Arial" panose="020B0604020202020204" pitchFamily="34" charset="0"/>
              </a:rPr>
              <a:t>利用</a:t>
            </a:r>
            <a:r>
              <a:rPr lang="zh-CN" altLang="en-US" sz="2200" b="1">
                <a:solidFill>
                  <a:schemeClr val="tx2"/>
                </a:solidFill>
                <a:latin typeface="Arial" panose="020B0604020202020204" pitchFamily="34" charset="0"/>
              </a:rPr>
              <a:t>基于</a:t>
            </a:r>
            <a:r>
              <a:rPr lang="en-US" altLang="zh-CN" sz="2200" b="1">
                <a:solidFill>
                  <a:srgbClr val="006600"/>
                </a:solidFill>
                <a:latin typeface="Arial" panose="020B0604020202020204" pitchFamily="34" charset="0"/>
              </a:rPr>
              <a:t>DBMS</a:t>
            </a:r>
            <a:r>
              <a:rPr lang="zh-CN" altLang="en-US" sz="2200" b="1">
                <a:solidFill>
                  <a:schemeClr val="tx2"/>
                </a:solidFill>
                <a:latin typeface="Arial" panose="020B0604020202020204" pitchFamily="34" charset="0"/>
              </a:rPr>
              <a:t>的完整性</a:t>
            </a:r>
            <a:r>
              <a:rPr lang="zh-CN" altLang="en-US" sz="2200" b="1">
                <a:solidFill>
                  <a:srgbClr val="800000"/>
                </a:solidFill>
                <a:latin typeface="Arial" panose="020B0604020202020204" pitchFamily="34" charset="0"/>
              </a:rPr>
              <a:t>控制机制</a:t>
            </a:r>
            <a:r>
              <a:rPr lang="zh-CN" altLang="en-US" sz="2200" b="1">
                <a:solidFill>
                  <a:srgbClr val="3333FF"/>
                </a:solidFill>
                <a:latin typeface="Arial" panose="020B0604020202020204" pitchFamily="34" charset="0"/>
              </a:rPr>
              <a:t>实现</a:t>
            </a:r>
            <a:r>
              <a:rPr lang="zh-CN" altLang="en-US" sz="2200" b="1">
                <a:solidFill>
                  <a:schemeClr val="tx2"/>
                </a:solidFill>
                <a:latin typeface="Arial" panose="020B0604020202020204" pitchFamily="34" charset="0"/>
              </a:rPr>
              <a:t>业务规则</a:t>
            </a:r>
            <a:r>
              <a:rPr lang="en-US" altLang="zh-CN" sz="2200" b="1">
                <a:solidFill>
                  <a:schemeClr val="tx2"/>
                </a:solidFill>
                <a:latin typeface="Arial" panose="020B0604020202020204" pitchFamily="34" charset="0"/>
              </a:rPr>
              <a:t>,</a:t>
            </a:r>
            <a:r>
              <a:rPr lang="zh-CN" altLang="en-US" sz="2200" b="1">
                <a:solidFill>
                  <a:schemeClr val="tx2"/>
                </a:solidFill>
                <a:latin typeface="Arial" panose="020B0604020202020204" pitchFamily="34" charset="0"/>
              </a:rPr>
              <a:t>易于定义和理解，且可降低应用程序的复杂性，提高运行效率。</a:t>
            </a:r>
            <a:endParaRPr lang="zh-CN" altLang="en-US" sz="2200" b="1">
              <a:solidFill>
                <a:schemeClr val="tx2"/>
              </a:solidFill>
              <a:latin typeface="Arial" panose="020B0604020202020204" pitchFamily="34" charset="0"/>
            </a:endParaRPr>
          </a:p>
          <a:p>
            <a:pPr>
              <a:lnSpc>
                <a:spcPct val="95000"/>
              </a:lnSpc>
              <a:spcBef>
                <a:spcPct val="20000"/>
              </a:spcBef>
            </a:pPr>
            <a:r>
              <a:rPr lang="zh-CN" altLang="en-US" sz="2200" b="1">
                <a:solidFill>
                  <a:schemeClr val="tx2"/>
                </a:solidFill>
                <a:latin typeface="Arial" panose="020B0604020202020204" pitchFamily="34" charset="0"/>
              </a:rPr>
              <a:t>        </a:t>
            </a:r>
            <a:r>
              <a:rPr lang="en-US" altLang="zh-CN" sz="2200" b="1">
                <a:solidFill>
                  <a:schemeClr val="tx2"/>
                </a:solidFill>
                <a:latin typeface="Arial" panose="020B0604020202020204" pitchFamily="34" charset="0"/>
              </a:rPr>
              <a:t>3</a:t>
            </a:r>
            <a:r>
              <a:rPr lang="zh-CN" altLang="en-US" sz="2200" b="1">
                <a:solidFill>
                  <a:schemeClr val="tx2"/>
                </a:solidFill>
                <a:latin typeface="Arial" panose="020B0604020202020204" pitchFamily="34" charset="0"/>
              </a:rPr>
              <a:t>）合理的</a:t>
            </a:r>
            <a:r>
              <a:rPr lang="en-US" altLang="zh-CN" sz="2200" b="1">
                <a:solidFill>
                  <a:srgbClr val="006600"/>
                </a:solidFill>
                <a:latin typeface="Arial" panose="020B0604020202020204" pitchFamily="34" charset="0"/>
              </a:rPr>
              <a:t>DB</a:t>
            </a:r>
            <a:r>
              <a:rPr lang="zh-CN" altLang="en-US" sz="2200" b="1">
                <a:solidFill>
                  <a:srgbClr val="800000"/>
                </a:solidFill>
                <a:latin typeface="Arial" panose="020B0604020202020204" pitchFamily="34" charset="0"/>
              </a:rPr>
              <a:t>完整性设计</a:t>
            </a:r>
            <a:r>
              <a:rPr lang="zh-CN" altLang="en-US" sz="2200" b="1">
                <a:solidFill>
                  <a:schemeClr val="tx2"/>
                </a:solidFill>
                <a:latin typeface="Arial" panose="020B0604020202020204" pitchFamily="34" charset="0"/>
              </a:rPr>
              <a:t>，可协调兼顾</a:t>
            </a:r>
            <a:r>
              <a:rPr lang="en-US" altLang="zh-CN" sz="2200" b="1">
                <a:solidFill>
                  <a:srgbClr val="006600"/>
                </a:solidFill>
                <a:latin typeface="Arial" panose="020B0604020202020204" pitchFamily="34" charset="0"/>
              </a:rPr>
              <a:t>DB</a:t>
            </a:r>
            <a:r>
              <a:rPr lang="zh-CN" altLang="en-US" sz="2200" b="1">
                <a:solidFill>
                  <a:schemeClr val="tx2"/>
                </a:solidFill>
                <a:latin typeface="Arial" panose="020B0604020202020204" pitchFamily="34" charset="0"/>
              </a:rPr>
              <a:t>完整性和系统效能。</a:t>
            </a:r>
            <a:endParaRPr lang="zh-CN" altLang="en-US" sz="2200" b="1">
              <a:solidFill>
                <a:schemeClr val="tx2"/>
              </a:solidFill>
              <a:latin typeface="Arial" panose="020B0604020202020204" pitchFamily="34" charset="0"/>
            </a:endParaRPr>
          </a:p>
          <a:p>
            <a:pPr algn="dist">
              <a:lnSpc>
                <a:spcPct val="95000"/>
              </a:lnSpc>
              <a:spcBef>
                <a:spcPct val="20000"/>
              </a:spcBef>
            </a:pPr>
            <a:r>
              <a:rPr lang="zh-CN" altLang="en-US" sz="2200" b="1">
                <a:solidFill>
                  <a:schemeClr val="tx2"/>
                </a:solidFill>
                <a:latin typeface="Arial" panose="020B0604020202020204" pitchFamily="34" charset="0"/>
              </a:rPr>
              <a:t>        </a:t>
            </a:r>
            <a:r>
              <a:rPr lang="en-US" altLang="zh-CN" sz="2200" b="1">
                <a:solidFill>
                  <a:schemeClr val="tx2"/>
                </a:solidFill>
                <a:latin typeface="Arial" panose="020B0604020202020204" pitchFamily="34" charset="0"/>
              </a:rPr>
              <a:t>4</a:t>
            </a:r>
            <a:r>
              <a:rPr lang="zh-CN" altLang="en-US" sz="2200" b="1">
                <a:solidFill>
                  <a:schemeClr val="tx2"/>
                </a:solidFill>
                <a:latin typeface="Arial" panose="020B0604020202020204" pitchFamily="34" charset="0"/>
              </a:rPr>
              <a:t>）在应用软件的</a:t>
            </a:r>
            <a:r>
              <a:rPr lang="zh-CN" altLang="en-US" sz="2200" b="1">
                <a:solidFill>
                  <a:srgbClr val="800000"/>
                </a:solidFill>
                <a:latin typeface="Arial" panose="020B0604020202020204" pitchFamily="34" charset="0"/>
              </a:rPr>
              <a:t>功能测试</a:t>
            </a:r>
            <a:r>
              <a:rPr lang="zh-CN" altLang="en-US" sz="2200" b="1">
                <a:solidFill>
                  <a:schemeClr val="tx2"/>
                </a:solidFill>
                <a:latin typeface="Arial" panose="020B0604020202020204" pitchFamily="34" charset="0"/>
              </a:rPr>
              <a:t>中</a:t>
            </a:r>
            <a:r>
              <a:rPr lang="en-US" altLang="zh-CN" sz="2200" b="1">
                <a:solidFill>
                  <a:schemeClr val="tx2"/>
                </a:solidFill>
                <a:latin typeface="Arial" panose="020B0604020202020204" pitchFamily="34" charset="0"/>
              </a:rPr>
              <a:t>,</a:t>
            </a:r>
            <a:r>
              <a:rPr lang="zh-CN" altLang="en-US" sz="2200" b="1">
                <a:solidFill>
                  <a:schemeClr val="tx2"/>
                </a:solidFill>
                <a:latin typeface="Arial" panose="020B0604020202020204" pitchFamily="34" charset="0"/>
              </a:rPr>
              <a:t>有助于发现软件错误</a:t>
            </a:r>
            <a:r>
              <a:rPr lang="en-US" altLang="zh-CN" sz="2200" b="1">
                <a:solidFill>
                  <a:schemeClr val="tx2"/>
                </a:solidFill>
                <a:latin typeface="Arial" panose="020B0604020202020204" pitchFamily="34" charset="0"/>
              </a:rPr>
              <a:t>.</a:t>
            </a:r>
            <a:endParaRPr lang="zh-CN" altLang="en-US" sz="2200" b="1">
              <a:solidFill>
                <a:schemeClr val="tx2"/>
              </a:solidFill>
              <a:latin typeface="Arial" panose="020B0604020202020204" pitchFamily="34" charset="0"/>
            </a:endParaRPr>
          </a:p>
          <a:p>
            <a:pPr algn="dist">
              <a:lnSpc>
                <a:spcPct val="95000"/>
              </a:lnSpc>
              <a:spcBef>
                <a:spcPct val="20000"/>
              </a:spcBef>
            </a:pPr>
            <a:r>
              <a:rPr lang="en-US" altLang="zh-CN" sz="2200" b="1">
                <a:solidFill>
                  <a:srgbClr val="006600"/>
                </a:solidFill>
                <a:latin typeface="Arial" panose="020B0604020202020204" pitchFamily="34" charset="0"/>
              </a:rPr>
              <a:t>       </a:t>
            </a:r>
            <a:r>
              <a:rPr lang="en-US" altLang="zh-CN" sz="2200" b="1">
                <a:solidFill>
                  <a:srgbClr val="990033"/>
                </a:solidFill>
                <a:latin typeface="Arial" panose="020B0604020202020204" pitchFamily="34" charset="0"/>
              </a:rPr>
              <a:t>DB</a:t>
            </a:r>
            <a:r>
              <a:rPr lang="zh-CN" altLang="en-US" sz="2200" b="1">
                <a:solidFill>
                  <a:srgbClr val="990033"/>
                </a:solidFill>
                <a:latin typeface="Arial" panose="020B0604020202020204" pitchFamily="34" charset="0"/>
              </a:rPr>
              <a:t>完整性约束</a:t>
            </a:r>
            <a:r>
              <a:rPr lang="zh-CN" altLang="en-US" sz="2200" b="1">
                <a:solidFill>
                  <a:schemeClr val="tx2"/>
                </a:solidFill>
                <a:latin typeface="Arial" panose="020B0604020202020204" pitchFamily="34" charset="0"/>
              </a:rPr>
              <a:t>可</a:t>
            </a:r>
            <a:r>
              <a:rPr lang="zh-CN" altLang="en-US" sz="2200" b="1">
                <a:solidFill>
                  <a:srgbClr val="CC0099"/>
                </a:solidFill>
                <a:latin typeface="Arial" panose="020B0604020202020204" pitchFamily="34" charset="0"/>
              </a:rPr>
              <a:t>分为</a:t>
            </a:r>
            <a:r>
              <a:rPr lang="zh-CN" altLang="en-US" sz="2200" b="1">
                <a:solidFill>
                  <a:schemeClr val="tx2"/>
                </a:solidFill>
                <a:latin typeface="Arial" panose="020B0604020202020204" pitchFamily="34" charset="0"/>
              </a:rPr>
              <a:t>六类：列级静态约束、元组级静态约束、关系级静态约束、列级动态约束、元组级动态约束、关系级动态约束。</a:t>
            </a:r>
            <a:r>
              <a:rPr lang="zh-CN" altLang="en-US" sz="2200" b="1">
                <a:solidFill>
                  <a:srgbClr val="800000"/>
                </a:solidFill>
                <a:latin typeface="Arial" panose="020B0604020202020204" pitchFamily="34" charset="0"/>
              </a:rPr>
              <a:t>动态约束</a:t>
            </a:r>
            <a:r>
              <a:rPr lang="zh-CN" altLang="en-US" sz="2200" b="1">
                <a:solidFill>
                  <a:schemeClr val="tx2"/>
                </a:solidFill>
                <a:latin typeface="Arial" panose="020B0604020202020204" pitchFamily="34" charset="0"/>
              </a:rPr>
              <a:t>常由应用软件</a:t>
            </a:r>
            <a:r>
              <a:rPr lang="zh-CN" altLang="en-US" sz="2200" b="1">
                <a:solidFill>
                  <a:srgbClr val="3333FF"/>
                </a:solidFill>
                <a:latin typeface="Arial" panose="020B0604020202020204" pitchFamily="34" charset="0"/>
              </a:rPr>
              <a:t>实现</a:t>
            </a:r>
            <a:r>
              <a:rPr lang="zh-CN" altLang="en-US" sz="2200" b="1">
                <a:solidFill>
                  <a:schemeClr val="tx2"/>
                </a:solidFill>
                <a:latin typeface="Arial" panose="020B0604020202020204" pitchFamily="34" charset="0"/>
              </a:rPr>
              <a:t>。</a:t>
            </a:r>
            <a:endParaRPr lang="en-US" altLang="zh-CN" sz="2200">
              <a:solidFill>
                <a:schemeClr val="tx2"/>
              </a:solidFill>
              <a:latin typeface="Arial" panose="020B0604020202020204" pitchFamily="34" charset="0"/>
            </a:endParaRPr>
          </a:p>
        </p:txBody>
      </p:sp>
      <p:sp>
        <p:nvSpPr>
          <p:cNvPr id="27651" name="内容占位符 13"/>
          <p:cNvSpPr>
            <a:spLocks noChangeArrowheads="1"/>
          </p:cNvSpPr>
          <p:nvPr/>
        </p:nvSpPr>
        <p:spPr bwMode="auto">
          <a:xfrm>
            <a:off x="809625" y="1100138"/>
            <a:ext cx="8153400" cy="576262"/>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r>
              <a:rPr lang="zh-CN" altLang="zh-CN" sz="2800" b="1">
                <a:solidFill>
                  <a:srgbClr val="FF0000"/>
                </a:solidFill>
                <a:latin typeface="宋体" panose="02010600030101010101" pitchFamily="2" charset="-122"/>
              </a:rPr>
              <a:t>10.3.2 数据库及数据的完整性</a:t>
            </a:r>
            <a:endParaRPr lang="zh-CN" altLang="zh-CN" sz="2800" b="1">
              <a:solidFill>
                <a:srgbClr val="FF0000"/>
              </a:solidFill>
              <a:latin typeface="宋体" panose="02010600030101010101" pitchFamily="2" charset="-122"/>
            </a:endParaRPr>
          </a:p>
        </p:txBody>
      </p:sp>
      <p:sp>
        <p:nvSpPr>
          <p:cNvPr id="27652" name="Rectangle 2"/>
          <p:cNvSpPr txBox="1">
            <a:spLocks noChangeArrowheads="1"/>
          </p:cNvSpPr>
          <p:nvPr/>
        </p:nvSpPr>
        <p:spPr bwMode="auto">
          <a:xfrm>
            <a:off x="1787525" y="231775"/>
            <a:ext cx="6561138" cy="563563"/>
          </a:xfrm>
          <a:prstGeom prst="rect">
            <a:avLst/>
          </a:prstGeom>
          <a:noFill/>
          <a:ln w="9525">
            <a:noFill/>
            <a:miter lim="800000"/>
          </a:ln>
        </p:spPr>
        <p:txBody>
          <a:bodyPr anchor="ctr"/>
          <a:lstStyle/>
          <a:p>
            <a:pPr>
              <a:spcBef>
                <a:spcPct val="20000"/>
              </a:spcBef>
              <a:buFont typeface="Wingdings" panose="05000000000000000000" pitchFamily="2" charset="2"/>
              <a:buNone/>
            </a:pPr>
            <a:r>
              <a:rPr lang="zh-CN" altLang="zh-CN" sz="3200" b="1">
                <a:solidFill>
                  <a:schemeClr val="bg1"/>
                </a:solidFill>
              </a:rPr>
              <a:t>10.3 数据库的安全特性和措施</a:t>
            </a:r>
            <a:endParaRPr lang="zh-CN" altLang="zh-CN" sz="3200" b="1">
              <a:solidFill>
                <a:schemeClr val="bg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内容占位符 13"/>
          <p:cNvSpPr>
            <a:spLocks noGrp="1" noChangeArrowheads="1"/>
          </p:cNvSpPr>
          <p:nvPr>
            <p:ph idx="4294967295"/>
          </p:nvPr>
        </p:nvSpPr>
        <p:spPr>
          <a:xfrm>
            <a:off x="265714" y="1033686"/>
            <a:ext cx="8412547" cy="4392612"/>
          </a:xfrm>
        </p:spPr>
        <p:txBody>
          <a:bodyPr/>
          <a:lstStyle/>
          <a:p>
            <a:pPr>
              <a:buFont typeface="Wingdings" panose="05000000000000000000" pitchFamily="2" charset="2"/>
              <a:buNone/>
            </a:pPr>
            <a:r>
              <a:rPr lang="en-US" altLang="zh-CN" sz="2400" dirty="0" smtClean="0">
                <a:solidFill>
                  <a:srgbClr val="FF0000"/>
                </a:solidFill>
              </a:rPr>
              <a:t>      2.</a:t>
            </a:r>
            <a:r>
              <a:rPr lang="zh-CN" altLang="en-US" sz="2400" dirty="0" smtClean="0">
                <a:solidFill>
                  <a:srgbClr val="FF0000"/>
                </a:solidFill>
              </a:rPr>
              <a:t>数据完整性</a:t>
            </a:r>
            <a:endParaRPr lang="zh-CN" altLang="en-US" sz="2400" dirty="0" smtClean="0">
              <a:solidFill>
                <a:srgbClr val="FF0000"/>
              </a:solidFill>
            </a:endParaRPr>
          </a:p>
          <a:p>
            <a:pPr>
              <a:lnSpc>
                <a:spcPct val="90000"/>
              </a:lnSpc>
              <a:spcBef>
                <a:spcPct val="5000"/>
              </a:spcBef>
              <a:buFont typeface="Wingdings" panose="05000000000000000000" pitchFamily="2" charset="2"/>
              <a:buNone/>
            </a:pPr>
            <a:r>
              <a:rPr lang="zh-CN" altLang="en-US" sz="2400" dirty="0" smtClean="0"/>
              <a:t>      </a:t>
            </a:r>
            <a:r>
              <a:rPr lang="zh-CN" altLang="en-US" sz="2400" dirty="0" smtClean="0">
                <a:solidFill>
                  <a:srgbClr val="CC0000"/>
                </a:solidFill>
              </a:rPr>
              <a:t>数据完整性</a:t>
            </a:r>
            <a:r>
              <a:rPr lang="zh-CN" altLang="en-US" sz="2400" dirty="0" smtClean="0">
                <a:solidFill>
                  <a:srgbClr val="006600"/>
                </a:solidFill>
              </a:rPr>
              <a:t>（</a:t>
            </a:r>
            <a:r>
              <a:rPr lang="en-US" altLang="zh-CN" sz="2400" dirty="0" smtClean="0">
                <a:solidFill>
                  <a:srgbClr val="006600"/>
                </a:solidFill>
              </a:rPr>
              <a:t>Data Integrity</a:t>
            </a:r>
            <a:r>
              <a:rPr lang="zh-CN" altLang="en-US" sz="2400" dirty="0" smtClean="0">
                <a:solidFill>
                  <a:srgbClr val="006600"/>
                </a:solidFill>
              </a:rPr>
              <a:t>）</a:t>
            </a:r>
            <a:r>
              <a:rPr lang="zh-CN" altLang="en-US" sz="2400" dirty="0" smtClean="0"/>
              <a:t>是指</a:t>
            </a:r>
            <a:r>
              <a:rPr lang="zh-CN" altLang="en-US" sz="2400" dirty="0" smtClean="0">
                <a:solidFill>
                  <a:srgbClr val="006600"/>
                </a:solidFill>
              </a:rPr>
              <a:t>数据</a:t>
            </a:r>
            <a:r>
              <a:rPr lang="zh-CN" altLang="en-US" sz="2400" dirty="0" smtClean="0"/>
              <a:t>的</a:t>
            </a:r>
            <a:r>
              <a:rPr lang="zh-CN" altLang="en-US" sz="2400" dirty="0" smtClean="0">
                <a:solidFill>
                  <a:srgbClr val="800000"/>
                </a:solidFill>
              </a:rPr>
              <a:t>精确性</a:t>
            </a:r>
            <a:r>
              <a:rPr lang="zh-CN" altLang="en-US" sz="2400" dirty="0" smtClean="0"/>
              <a:t>和</a:t>
            </a:r>
            <a:r>
              <a:rPr lang="zh-CN" altLang="en-US" sz="2400" dirty="0" smtClean="0">
                <a:solidFill>
                  <a:srgbClr val="800000"/>
                </a:solidFill>
              </a:rPr>
              <a:t>可靠性</a:t>
            </a:r>
            <a:r>
              <a:rPr lang="zh-CN" altLang="en-US" sz="2400" dirty="0" smtClean="0"/>
              <a:t>。主要</a:t>
            </a:r>
            <a:r>
              <a:rPr lang="zh-CN" altLang="en-US" sz="2400" dirty="0" smtClean="0">
                <a:solidFill>
                  <a:srgbClr val="CC0099"/>
                </a:solidFill>
              </a:rPr>
              <a:t>包括</a:t>
            </a:r>
            <a:r>
              <a:rPr lang="zh-CN" altLang="en-US" sz="2400" dirty="0" smtClean="0"/>
              <a:t>数据的正确性、有效性和一致性。</a:t>
            </a:r>
            <a:r>
              <a:rPr lang="zh-CN" altLang="en-US" sz="2400" dirty="0" smtClean="0">
                <a:solidFill>
                  <a:srgbClr val="CC0000"/>
                </a:solidFill>
              </a:rPr>
              <a:t>正确性</a:t>
            </a:r>
            <a:r>
              <a:rPr lang="zh-CN" altLang="en-US" sz="2400" dirty="0" smtClean="0"/>
              <a:t>是指数据的输入值与数据表对应域的类型一样；</a:t>
            </a:r>
            <a:r>
              <a:rPr lang="zh-CN" altLang="en-US" sz="2400" dirty="0" smtClean="0">
                <a:solidFill>
                  <a:srgbClr val="CC0000"/>
                </a:solidFill>
              </a:rPr>
              <a:t>有效性</a:t>
            </a:r>
            <a:r>
              <a:rPr lang="zh-CN" altLang="en-US" sz="2400" dirty="0" smtClean="0"/>
              <a:t>是指数据库中的理论数值满足现实应用中对该数值段的约束；</a:t>
            </a:r>
            <a:r>
              <a:rPr lang="zh-CN" altLang="en-US" sz="2400" dirty="0" smtClean="0">
                <a:solidFill>
                  <a:srgbClr val="CC0000"/>
                </a:solidFill>
              </a:rPr>
              <a:t>一致性</a:t>
            </a:r>
            <a:r>
              <a:rPr lang="zh-CN" altLang="en-US" sz="2400" dirty="0" smtClean="0"/>
              <a:t>是指不同用户使用的同一数据是一样的。</a:t>
            </a:r>
            <a:endParaRPr lang="zh-CN" altLang="en-US" sz="2400" dirty="0" smtClean="0"/>
          </a:p>
          <a:p>
            <a:pPr lvl="1">
              <a:lnSpc>
                <a:spcPct val="90000"/>
              </a:lnSpc>
              <a:spcBef>
                <a:spcPct val="5000"/>
              </a:spcBef>
              <a:buFont typeface="Wingdings" panose="05000000000000000000" pitchFamily="2" charset="2"/>
              <a:buNone/>
            </a:pPr>
            <a:r>
              <a:rPr lang="zh-CN" altLang="en-US" sz="2400" dirty="0" smtClean="0">
                <a:solidFill>
                  <a:srgbClr val="FF0000"/>
                </a:solidFill>
              </a:rPr>
              <a:t>    </a:t>
            </a:r>
            <a:r>
              <a:rPr lang="zh-CN" altLang="en-US" sz="2400" b="1" dirty="0" smtClean="0">
                <a:solidFill>
                  <a:srgbClr val="990033"/>
                </a:solidFill>
              </a:rPr>
              <a:t>数据完整性</a:t>
            </a:r>
            <a:r>
              <a:rPr lang="zh-CN" altLang="en-US" sz="2400" b="1" dirty="0" smtClean="0">
                <a:solidFill>
                  <a:srgbClr val="CC0099"/>
                </a:solidFill>
              </a:rPr>
              <a:t>分为</a:t>
            </a:r>
            <a:r>
              <a:rPr lang="zh-CN" altLang="en-US" sz="2400" b="1" dirty="0" smtClean="0"/>
              <a:t>以下</a:t>
            </a:r>
            <a:r>
              <a:rPr lang="en-US" altLang="zh-CN" sz="2400" b="1" dirty="0" smtClean="0">
                <a:solidFill>
                  <a:srgbClr val="CC0099"/>
                </a:solidFill>
              </a:rPr>
              <a:t>4</a:t>
            </a:r>
            <a:r>
              <a:rPr lang="zh-CN" altLang="en-US" sz="2400" b="1" dirty="0" smtClean="0">
                <a:solidFill>
                  <a:srgbClr val="CC0099"/>
                </a:solidFill>
              </a:rPr>
              <a:t>类</a:t>
            </a:r>
            <a:r>
              <a:rPr lang="zh-CN" altLang="en-US" sz="2400" b="1" dirty="0" smtClean="0">
                <a:solidFill>
                  <a:srgbClr val="990033"/>
                </a:solidFill>
              </a:rPr>
              <a:t>：</a:t>
            </a:r>
            <a:r>
              <a:rPr lang="zh-CN" altLang="en-US" sz="2400" b="1" dirty="0" smtClean="0"/>
              <a:t> </a:t>
            </a:r>
            <a:endParaRPr lang="zh-CN" altLang="en-US" sz="2400" b="1" dirty="0" smtClean="0"/>
          </a:p>
          <a:p>
            <a:pPr lvl="1">
              <a:lnSpc>
                <a:spcPct val="90000"/>
              </a:lnSpc>
              <a:spcBef>
                <a:spcPct val="5000"/>
              </a:spcBef>
              <a:buFont typeface="Wingdings" panose="05000000000000000000" pitchFamily="2" charset="2"/>
              <a:buNone/>
            </a:pPr>
            <a:r>
              <a:rPr lang="zh-CN" altLang="en-US" b="1" dirty="0" smtClean="0"/>
              <a:t>   （</a:t>
            </a:r>
            <a:r>
              <a:rPr lang="en-US" altLang="zh-CN" b="1" dirty="0" smtClean="0"/>
              <a:t>1</a:t>
            </a:r>
            <a:r>
              <a:rPr lang="zh-CN" altLang="en-US" b="1" dirty="0" smtClean="0"/>
              <a:t>）实体完整性</a:t>
            </a:r>
            <a:r>
              <a:rPr lang="en-US" altLang="zh-CN" b="1" dirty="0" smtClean="0"/>
              <a:t>—</a:t>
            </a:r>
            <a:r>
              <a:rPr lang="zh-CN" altLang="en-US" b="1" dirty="0" smtClean="0">
                <a:solidFill>
                  <a:srgbClr val="800000"/>
                </a:solidFill>
              </a:rPr>
              <a:t>行</a:t>
            </a:r>
            <a:r>
              <a:rPr lang="zh-CN" altLang="en-US" b="1" dirty="0" smtClean="0"/>
              <a:t>在表中唯一实体。</a:t>
            </a:r>
            <a:endParaRPr lang="zh-CN" altLang="en-US" b="1" dirty="0" smtClean="0"/>
          </a:p>
          <a:p>
            <a:pPr lvl="1">
              <a:lnSpc>
                <a:spcPct val="90000"/>
              </a:lnSpc>
              <a:spcBef>
                <a:spcPct val="5000"/>
              </a:spcBef>
              <a:buFont typeface="Wingdings" panose="05000000000000000000" pitchFamily="2" charset="2"/>
              <a:buNone/>
            </a:pPr>
            <a:r>
              <a:rPr lang="zh-CN" altLang="en-US" b="1" dirty="0" smtClean="0"/>
              <a:t>   （</a:t>
            </a:r>
            <a:r>
              <a:rPr lang="en-US" altLang="zh-CN" b="1" dirty="0" smtClean="0"/>
              <a:t>2</a:t>
            </a:r>
            <a:r>
              <a:rPr lang="zh-CN" altLang="en-US" b="1" dirty="0" smtClean="0"/>
              <a:t>）域完整性</a:t>
            </a:r>
            <a:r>
              <a:rPr lang="en-US" altLang="zh-CN" b="1" dirty="0" smtClean="0"/>
              <a:t>—</a:t>
            </a:r>
            <a:r>
              <a:rPr lang="zh-CN" altLang="en-US" b="1" dirty="0" smtClean="0">
                <a:solidFill>
                  <a:srgbClr val="800000"/>
                </a:solidFill>
              </a:rPr>
              <a:t>列</a:t>
            </a:r>
            <a:r>
              <a:rPr lang="zh-CN" altLang="en-US" b="1" dirty="0" smtClean="0"/>
              <a:t>满足特定数据类型及约束。</a:t>
            </a:r>
            <a:endParaRPr lang="zh-CN" altLang="en-US" b="1" dirty="0" smtClean="0"/>
          </a:p>
          <a:p>
            <a:pPr lvl="1">
              <a:lnSpc>
                <a:spcPct val="90000"/>
              </a:lnSpc>
              <a:spcBef>
                <a:spcPct val="5000"/>
              </a:spcBef>
              <a:buFont typeface="Wingdings" panose="05000000000000000000" pitchFamily="2" charset="2"/>
              <a:buNone/>
            </a:pPr>
            <a:r>
              <a:rPr lang="zh-CN" altLang="en-US" b="1" dirty="0" smtClean="0"/>
              <a:t>   （</a:t>
            </a:r>
            <a:r>
              <a:rPr lang="en-US" altLang="zh-CN" b="1" dirty="0" smtClean="0"/>
              <a:t>3</a:t>
            </a:r>
            <a:r>
              <a:rPr lang="zh-CN" altLang="en-US" b="1" dirty="0" smtClean="0"/>
              <a:t>）参照完整性</a:t>
            </a:r>
            <a:r>
              <a:rPr lang="en-US" altLang="zh-CN" b="1" dirty="0" smtClean="0"/>
              <a:t>—</a:t>
            </a:r>
            <a:r>
              <a:rPr lang="zh-CN" altLang="en-US" b="1" dirty="0" smtClean="0"/>
              <a:t>主、外关键字一致。</a:t>
            </a:r>
            <a:endParaRPr lang="zh-CN" altLang="en-US" b="1" dirty="0" smtClean="0"/>
          </a:p>
          <a:p>
            <a:pPr lvl="1">
              <a:lnSpc>
                <a:spcPct val="90000"/>
              </a:lnSpc>
              <a:spcBef>
                <a:spcPct val="5000"/>
              </a:spcBef>
              <a:buFont typeface="Wingdings" panose="05000000000000000000" pitchFamily="2" charset="2"/>
              <a:buNone/>
            </a:pPr>
            <a:r>
              <a:rPr lang="zh-CN" altLang="en-US" b="1" dirty="0" smtClean="0"/>
              <a:t>   （</a:t>
            </a:r>
            <a:r>
              <a:rPr lang="en-US" altLang="zh-CN" b="1" dirty="0" smtClean="0"/>
              <a:t>4</a:t>
            </a:r>
            <a:r>
              <a:rPr lang="zh-CN" altLang="en-US" b="1" dirty="0" smtClean="0"/>
              <a:t>）用户定义完整性。</a:t>
            </a:r>
            <a:endParaRPr lang="zh-CN" altLang="en-US" b="1" dirty="0" smtClean="0"/>
          </a:p>
          <a:p>
            <a:pPr>
              <a:lnSpc>
                <a:spcPct val="90000"/>
              </a:lnSpc>
              <a:spcBef>
                <a:spcPct val="5000"/>
              </a:spcBef>
              <a:buFont typeface="Wingdings" panose="05000000000000000000" pitchFamily="2" charset="2"/>
              <a:buNone/>
            </a:pPr>
            <a:r>
              <a:rPr lang="zh-CN" altLang="en-US" sz="2400" dirty="0" smtClean="0"/>
              <a:t>      </a:t>
            </a:r>
            <a:r>
              <a:rPr lang="zh-CN" altLang="en-US" sz="2400" dirty="0" smtClean="0">
                <a:solidFill>
                  <a:srgbClr val="990033"/>
                </a:solidFill>
              </a:rPr>
              <a:t>数据库采用多种方法</a:t>
            </a:r>
            <a:r>
              <a:rPr lang="zh-CN" altLang="en-US" sz="2400" dirty="0" smtClean="0">
                <a:solidFill>
                  <a:srgbClr val="1F38ED"/>
                </a:solidFill>
              </a:rPr>
              <a:t>保证</a:t>
            </a:r>
            <a:r>
              <a:rPr lang="zh-CN" altLang="en-US" sz="2400" dirty="0" smtClean="0">
                <a:solidFill>
                  <a:srgbClr val="990033"/>
                </a:solidFill>
              </a:rPr>
              <a:t>数据完整性</a:t>
            </a:r>
            <a:r>
              <a:rPr lang="zh-CN" altLang="en-US" sz="2400" dirty="0" smtClean="0"/>
              <a:t>，包括外键、约束、规则和触发器。</a:t>
            </a:r>
            <a:endParaRPr lang="en-US" altLang="zh-CN" sz="2400" b="0" dirty="0" smtClean="0"/>
          </a:p>
        </p:txBody>
      </p:sp>
      <p:sp>
        <p:nvSpPr>
          <p:cNvPr id="28674" name="内容占位符 13"/>
          <p:cNvSpPr>
            <a:spLocks noChangeArrowheads="1"/>
          </p:cNvSpPr>
          <p:nvPr/>
        </p:nvSpPr>
        <p:spPr bwMode="auto">
          <a:xfrm>
            <a:off x="395288" y="1196975"/>
            <a:ext cx="8153400" cy="424815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buFont typeface="Wingdings" panose="05000000000000000000" pitchFamily="2" charset="2"/>
              <a:buNone/>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chemeClr val="tx2"/>
              </a:solidFill>
              <a:latin typeface="宋体" panose="02010600030101010101" pitchFamily="2" charset="-122"/>
            </a:endParaRPr>
          </a:p>
        </p:txBody>
      </p:sp>
      <p:pic>
        <p:nvPicPr>
          <p:cNvPr id="28675" name="Picture 10" descr="j0285750"/>
          <p:cNvPicPr>
            <a:picLocks noChangeAspect="1" noChangeArrowheads="1"/>
          </p:cNvPicPr>
          <p:nvPr/>
        </p:nvPicPr>
        <p:blipFill>
          <a:blip r:embed="rId1" cstate="print"/>
          <a:srcRect/>
          <a:stretch>
            <a:fillRect/>
          </a:stretch>
        </p:blipFill>
        <p:spPr bwMode="auto">
          <a:xfrm>
            <a:off x="6804025" y="3357563"/>
            <a:ext cx="1679575" cy="1031875"/>
          </a:xfrm>
          <a:prstGeom prst="rect">
            <a:avLst/>
          </a:prstGeom>
          <a:noFill/>
          <a:ln w="9525">
            <a:noFill/>
            <a:miter lim="800000"/>
            <a:headEnd/>
            <a:tailEnd/>
          </a:ln>
        </p:spPr>
      </p:pic>
      <p:sp>
        <p:nvSpPr>
          <p:cNvPr id="19" name="圆角矩形 18"/>
          <p:cNvSpPr/>
          <p:nvPr/>
        </p:nvSpPr>
        <p:spPr bwMode="gray">
          <a:xfrm>
            <a:off x="790575" y="5445125"/>
            <a:ext cx="7561263" cy="1008063"/>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nSpc>
                <a:spcPct val="90000"/>
              </a:lnSpc>
              <a:spcBef>
                <a:spcPct val="20000"/>
              </a:spcBef>
              <a:buFont typeface="Wingdings" panose="05000000000000000000" pitchFamily="2" charset="2"/>
              <a:buNone/>
              <a:defRPr/>
            </a:pPr>
            <a:r>
              <a:rPr lang="en-US" altLang="zh-CN" sz="2200" dirty="0">
                <a:solidFill>
                  <a:schemeClr val="tx2"/>
                </a:solidFill>
                <a:latin typeface="楷体_GB2312" panose="02010609030101010101" pitchFamily="49" charset="-122"/>
                <a:ea typeface="楷体_GB2312" panose="02010609030101010101" pitchFamily="49" charset="-122"/>
              </a:rPr>
              <a:t>    </a:t>
            </a:r>
            <a:r>
              <a:rPr lang="en-US" altLang="zh-CN" sz="2200" b="1" dirty="0">
                <a:solidFill>
                  <a:schemeClr val="tx2"/>
                </a:solidFill>
                <a:latin typeface="楷体_GB2312" panose="02010609030101010101" pitchFamily="49" charset="-122"/>
                <a:ea typeface="楷体_GB2312" panose="02010609030101010101" pitchFamily="49" charset="-122"/>
              </a:rPr>
              <a:t>SQL</a:t>
            </a:r>
            <a:r>
              <a:rPr lang="zh-CN" altLang="en-US" sz="2200" b="1" dirty="0">
                <a:solidFill>
                  <a:schemeClr val="tx2"/>
                </a:solidFill>
                <a:latin typeface="楷体_GB2312" panose="02010609030101010101" pitchFamily="49" charset="-122"/>
                <a:ea typeface="楷体_GB2312" panose="02010609030101010101" pitchFamily="49" charset="-122"/>
              </a:rPr>
              <a:t>提供帮助</a:t>
            </a:r>
            <a:r>
              <a:rPr lang="zh-CN" altLang="en-US" sz="2200" b="1" dirty="0">
                <a:solidFill>
                  <a:srgbClr val="FF0000"/>
                </a:solidFill>
                <a:latin typeface="楷体_GB2312" panose="02010609030101010101" pitchFamily="49" charset="-122"/>
                <a:ea typeface="楷体_GB2312" panose="02010609030101010101" pitchFamily="49" charset="-122"/>
              </a:rPr>
              <a:t>用户实现数据完整性的机制</a:t>
            </a:r>
            <a:r>
              <a:rPr lang="zh-CN" altLang="en-US" sz="2200" b="1" dirty="0">
                <a:solidFill>
                  <a:schemeClr val="tx2"/>
                </a:solidFill>
                <a:latin typeface="楷体_GB2312" panose="02010609030101010101" pitchFamily="49" charset="-122"/>
                <a:ea typeface="楷体_GB2312" panose="02010609030101010101" pitchFamily="49" charset="-122"/>
              </a:rPr>
              <a:t>，主要包括：规则</a:t>
            </a:r>
            <a:r>
              <a:rPr lang="zh-CN" altLang="en-US" sz="2200" b="1" dirty="0">
                <a:solidFill>
                  <a:srgbClr val="006600"/>
                </a:solidFill>
                <a:latin typeface="楷体_GB2312" panose="02010609030101010101" pitchFamily="49" charset="-122"/>
                <a:ea typeface="楷体_GB2312" panose="02010609030101010101" pitchFamily="49" charset="-122"/>
              </a:rPr>
              <a:t>（</a:t>
            </a:r>
            <a:r>
              <a:rPr lang="en-US" altLang="zh-CN" sz="2200" b="1" dirty="0">
                <a:solidFill>
                  <a:srgbClr val="006600"/>
                </a:solidFill>
                <a:latin typeface="楷体_GB2312" panose="02010609030101010101" pitchFamily="49" charset="-122"/>
                <a:ea typeface="楷体_GB2312" panose="02010609030101010101" pitchFamily="49" charset="-122"/>
              </a:rPr>
              <a:t>Rule</a:t>
            </a:r>
            <a:r>
              <a:rPr lang="zh-CN" altLang="en-US" sz="2200" b="1" dirty="0">
                <a:solidFill>
                  <a:srgbClr val="006600"/>
                </a:solidFill>
                <a:latin typeface="楷体_GB2312" panose="02010609030101010101" pitchFamily="49" charset="-122"/>
                <a:ea typeface="楷体_GB2312" panose="02010609030101010101" pitchFamily="49" charset="-122"/>
              </a:rPr>
              <a:t>）、</a:t>
            </a:r>
            <a:r>
              <a:rPr lang="zh-CN" altLang="en-US" sz="2200" b="1" dirty="0">
                <a:solidFill>
                  <a:schemeClr val="tx2"/>
                </a:solidFill>
                <a:latin typeface="楷体_GB2312" panose="02010609030101010101" pitchFamily="49" charset="-122"/>
                <a:ea typeface="楷体_GB2312" panose="02010609030101010101" pitchFamily="49" charset="-122"/>
              </a:rPr>
              <a:t>默认值（</a:t>
            </a:r>
            <a:r>
              <a:rPr lang="en-US" altLang="zh-CN" sz="2200" b="1" dirty="0">
                <a:solidFill>
                  <a:schemeClr val="tx2"/>
                </a:solidFill>
                <a:latin typeface="楷体_GB2312" panose="02010609030101010101" pitchFamily="49" charset="-122"/>
                <a:ea typeface="楷体_GB2312" panose="02010609030101010101" pitchFamily="49" charset="-122"/>
              </a:rPr>
              <a:t>Default</a:t>
            </a:r>
            <a:r>
              <a:rPr lang="zh-CN" altLang="en-US" sz="2200" b="1" dirty="0">
                <a:solidFill>
                  <a:schemeClr val="tx2"/>
                </a:solidFill>
                <a:latin typeface="楷体_GB2312" panose="02010609030101010101" pitchFamily="49" charset="-122"/>
                <a:ea typeface="楷体_GB2312" panose="02010609030101010101" pitchFamily="49" charset="-122"/>
              </a:rPr>
              <a:t>）、约束</a:t>
            </a:r>
            <a:r>
              <a:rPr lang="zh-CN" altLang="en-US" sz="2200" b="1" dirty="0">
                <a:solidFill>
                  <a:srgbClr val="006600"/>
                </a:solidFill>
                <a:latin typeface="楷体_GB2312" panose="02010609030101010101" pitchFamily="49" charset="-122"/>
                <a:ea typeface="楷体_GB2312" panose="02010609030101010101" pitchFamily="49" charset="-122"/>
              </a:rPr>
              <a:t>（</a:t>
            </a:r>
            <a:r>
              <a:rPr lang="en-US" altLang="zh-CN" sz="2200" b="1" dirty="0">
                <a:solidFill>
                  <a:srgbClr val="006600"/>
                </a:solidFill>
                <a:latin typeface="楷体_GB2312" panose="02010609030101010101" pitchFamily="49" charset="-122"/>
                <a:ea typeface="楷体_GB2312" panose="02010609030101010101" pitchFamily="49" charset="-122"/>
              </a:rPr>
              <a:t>Constraint</a:t>
            </a:r>
            <a:r>
              <a:rPr lang="zh-CN" altLang="en-US" sz="2200" b="1" dirty="0">
                <a:solidFill>
                  <a:srgbClr val="006600"/>
                </a:solidFill>
                <a:latin typeface="楷体_GB2312" panose="02010609030101010101" pitchFamily="49" charset="-122"/>
                <a:ea typeface="楷体_GB2312" panose="02010609030101010101" pitchFamily="49" charset="-122"/>
              </a:rPr>
              <a:t>）</a:t>
            </a:r>
            <a:r>
              <a:rPr lang="zh-CN" altLang="en-US" sz="2200" b="1" dirty="0">
                <a:solidFill>
                  <a:schemeClr val="tx2"/>
                </a:solidFill>
                <a:latin typeface="楷体_GB2312" panose="02010609030101010101" pitchFamily="49" charset="-122"/>
                <a:ea typeface="楷体_GB2312" panose="02010609030101010101" pitchFamily="49" charset="-122"/>
              </a:rPr>
              <a:t>和触发器</a:t>
            </a:r>
            <a:r>
              <a:rPr lang="zh-CN" altLang="en-US" sz="2200" b="1" dirty="0">
                <a:solidFill>
                  <a:srgbClr val="006600"/>
                </a:solidFill>
                <a:latin typeface="楷体_GB2312" panose="02010609030101010101" pitchFamily="49" charset="-122"/>
                <a:ea typeface="楷体_GB2312" panose="02010609030101010101" pitchFamily="49" charset="-122"/>
              </a:rPr>
              <a:t>（</a:t>
            </a:r>
            <a:r>
              <a:rPr lang="en-US" altLang="zh-CN" sz="2200" b="1" dirty="0">
                <a:solidFill>
                  <a:srgbClr val="006600"/>
                </a:solidFill>
                <a:latin typeface="楷体_GB2312" panose="02010609030101010101" pitchFamily="49" charset="-122"/>
                <a:ea typeface="楷体_GB2312" panose="02010609030101010101" pitchFamily="49" charset="-122"/>
              </a:rPr>
              <a:t>Trigger</a:t>
            </a:r>
            <a:r>
              <a:rPr lang="zh-CN" altLang="en-US" sz="2200" b="1" dirty="0">
                <a:solidFill>
                  <a:srgbClr val="006600"/>
                </a:solidFill>
                <a:latin typeface="楷体_GB2312" panose="02010609030101010101" pitchFamily="49" charset="-122"/>
                <a:ea typeface="楷体_GB2312" panose="02010609030101010101" pitchFamily="49" charset="-122"/>
              </a:rPr>
              <a:t>）。</a:t>
            </a:r>
            <a:endParaRPr lang="en-US" altLang="zh-CN" sz="2200" b="1" dirty="0">
              <a:solidFill>
                <a:srgbClr val="006600"/>
              </a:solidFill>
              <a:latin typeface="楷体_GB2312" panose="02010609030101010101" pitchFamily="49" charset="-122"/>
              <a:ea typeface="楷体_GB2312" panose="02010609030101010101" pitchFamily="49" charset="-122"/>
            </a:endParaRPr>
          </a:p>
        </p:txBody>
      </p:sp>
      <p:sp>
        <p:nvSpPr>
          <p:cNvPr id="28677" name="Rectangle 2"/>
          <p:cNvSpPr txBox="1">
            <a:spLocks noChangeArrowheads="1"/>
          </p:cNvSpPr>
          <p:nvPr/>
        </p:nvSpPr>
        <p:spPr bwMode="auto">
          <a:xfrm>
            <a:off x="1787525" y="231775"/>
            <a:ext cx="6561138" cy="563563"/>
          </a:xfrm>
          <a:prstGeom prst="rect">
            <a:avLst/>
          </a:prstGeom>
          <a:noFill/>
          <a:ln w="9525">
            <a:noFill/>
            <a:miter lim="800000"/>
          </a:ln>
        </p:spPr>
        <p:txBody>
          <a:bodyPr anchor="ctr"/>
          <a:lstStyle/>
          <a:p>
            <a:pPr>
              <a:spcBef>
                <a:spcPct val="20000"/>
              </a:spcBef>
              <a:buFont typeface="Wingdings" panose="05000000000000000000" pitchFamily="2" charset="2"/>
              <a:buNone/>
            </a:pPr>
            <a:r>
              <a:rPr lang="zh-CN" altLang="zh-CN" sz="3200" b="1">
                <a:solidFill>
                  <a:schemeClr val="bg1"/>
                </a:solidFill>
              </a:rPr>
              <a:t>10.3 数据库的安全特性和措施</a:t>
            </a:r>
            <a:endParaRPr lang="zh-CN" altLang="zh-CN" sz="3200" b="1">
              <a:solidFill>
                <a:schemeClr val="bg1"/>
              </a:solidFill>
            </a:endParaRPr>
          </a:p>
        </p:txBody>
      </p:sp>
      <p:sp>
        <p:nvSpPr>
          <p:cNvPr id="7" name="圆角矩形 6"/>
          <p:cNvSpPr/>
          <p:nvPr/>
        </p:nvSpPr>
        <p:spPr bwMode="gray">
          <a:xfrm>
            <a:off x="400051" y="1196975"/>
            <a:ext cx="8276405" cy="4176241"/>
          </a:xfrm>
          <a:prstGeom prst="roundRect">
            <a:avLst/>
          </a:prstGeom>
          <a:noFill/>
        </p:spPr>
        <p:style>
          <a:lnRef idx="2">
            <a:schemeClr val="dk1"/>
          </a:lnRef>
          <a:fillRef idx="1">
            <a:schemeClr val="lt1"/>
          </a:fillRef>
          <a:effectRef idx="0">
            <a:schemeClr val="dk1"/>
          </a:effectRef>
          <a:fontRef idx="minor">
            <a:schemeClr val="dk1"/>
          </a:fontRef>
        </p:style>
        <p:txBody>
          <a:bodyPr anchor="ctr"/>
          <a:lstStyle/>
          <a:p>
            <a:pPr>
              <a:spcBef>
                <a:spcPct val="20000"/>
              </a:spcBef>
            </a:pPr>
            <a:r>
              <a:rPr lang="zh-CN" altLang="en-US" b="1" dirty="0">
                <a:solidFill>
                  <a:schemeClr val="tx2"/>
                </a:solidFill>
                <a:latin typeface="Arial" panose="020B0604020202020204" pitchFamily="34" charset="0"/>
              </a:rPr>
              <a:t>      </a:t>
            </a:r>
            <a:endParaRPr lang="en-US" altLang="zh-CN" sz="2200" dirty="0">
              <a:solidFill>
                <a:schemeClr val="tx2"/>
              </a:solidFill>
              <a:latin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647700" y="1844675"/>
            <a:ext cx="7489825" cy="82232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spcBef>
                <a:spcPct val="20000"/>
              </a:spcBef>
              <a:buFont typeface="Wingdings" panose="05000000000000000000" pitchFamily="2" charset="2"/>
              <a:buNone/>
              <a:defRPr/>
            </a:pPr>
            <a:r>
              <a:rPr lang="zh-CN" altLang="en-US" b="1" dirty="0">
                <a:solidFill>
                  <a:schemeClr val="tx2"/>
                </a:solidFill>
                <a:latin typeface="Arial" panose="020B0604020202020204" pitchFamily="34" charset="0"/>
              </a:rPr>
              <a:t>                    </a:t>
            </a:r>
            <a:r>
              <a:rPr lang="zh-CN" altLang="en-US" b="1" dirty="0">
                <a:solidFill>
                  <a:schemeClr val="tx2"/>
                </a:solidFill>
                <a:latin typeface="楷体_GB2312" panose="02010609030101010101" pitchFamily="49" charset="-122"/>
                <a:ea typeface="楷体_GB2312" panose="02010609030101010101" pitchFamily="49" charset="-122"/>
              </a:rPr>
              <a:t>机票售票中</a:t>
            </a:r>
            <a:r>
              <a:rPr lang="en-US" altLang="zh-CN" b="1" dirty="0">
                <a:solidFill>
                  <a:schemeClr val="tx2"/>
                </a:solidFill>
                <a:latin typeface="楷体_GB2312" panose="02010609030101010101" pitchFamily="49" charset="-122"/>
                <a:ea typeface="楷体_GB2312" panose="02010609030101010101" pitchFamily="49" charset="-122"/>
              </a:rPr>
              <a:t>,</a:t>
            </a:r>
            <a:r>
              <a:rPr lang="zh-CN" altLang="en-US" b="1" dirty="0">
                <a:solidFill>
                  <a:schemeClr val="tx2"/>
                </a:solidFill>
                <a:latin typeface="楷体_GB2312" panose="02010609030101010101" pitchFamily="49" charset="-122"/>
                <a:ea typeface="楷体_GB2312" panose="02010609030101010101" pitchFamily="49" charset="-122"/>
              </a:rPr>
              <a:t>有两个订票网站</a:t>
            </a:r>
            <a:r>
              <a:rPr lang="en-US" altLang="zh-CN" b="1" dirty="0">
                <a:solidFill>
                  <a:srgbClr val="006600"/>
                </a:solidFill>
                <a:latin typeface="楷体_GB2312" panose="02010609030101010101" pitchFamily="49" charset="-122"/>
                <a:ea typeface="楷体_GB2312" panose="02010609030101010101" pitchFamily="49" charset="-122"/>
              </a:rPr>
              <a:t>(T1,T2)</a:t>
            </a:r>
            <a:r>
              <a:rPr lang="zh-CN" altLang="en-US" b="1" dirty="0">
                <a:solidFill>
                  <a:schemeClr val="tx2"/>
                </a:solidFill>
                <a:latin typeface="楷体_GB2312" panose="02010609030101010101" pitchFamily="49" charset="-122"/>
                <a:ea typeface="楷体_GB2312" panose="02010609030101010101" pitchFamily="49" charset="-122"/>
              </a:rPr>
              <a:t>对某航线</a:t>
            </a:r>
            <a:r>
              <a:rPr lang="en-US" altLang="zh-CN" b="1" dirty="0">
                <a:solidFill>
                  <a:srgbClr val="006600"/>
                </a:solidFill>
                <a:latin typeface="楷体_GB2312" panose="02010609030101010101" pitchFamily="49" charset="-122"/>
                <a:ea typeface="楷体_GB2312" panose="02010609030101010101" pitchFamily="49" charset="-122"/>
              </a:rPr>
              <a:t>(A)</a:t>
            </a:r>
            <a:r>
              <a:rPr lang="zh-CN" altLang="en-US" b="1" dirty="0">
                <a:solidFill>
                  <a:schemeClr val="tx2"/>
                </a:solidFill>
                <a:latin typeface="楷体_GB2312" panose="02010609030101010101" pitchFamily="49" charset="-122"/>
                <a:ea typeface="楷体_GB2312" panose="02010609030101010101" pitchFamily="49" charset="-122"/>
              </a:rPr>
              <a:t>的机票做事务处理，操作过程如表</a:t>
            </a:r>
            <a:r>
              <a:rPr lang="en-US" altLang="zh-CN" b="1" dirty="0">
                <a:solidFill>
                  <a:schemeClr val="tx2"/>
                </a:solidFill>
                <a:latin typeface="楷体_GB2312" panose="02010609030101010101" pitchFamily="49" charset="-122"/>
                <a:ea typeface="楷体_GB2312" panose="02010609030101010101" pitchFamily="49" charset="-122"/>
              </a:rPr>
              <a:t>10-1</a:t>
            </a:r>
            <a:r>
              <a:rPr lang="zh-CN" altLang="en-US" b="1" dirty="0">
                <a:solidFill>
                  <a:schemeClr val="tx2"/>
                </a:solidFill>
                <a:latin typeface="楷体_GB2312" panose="02010609030101010101" pitchFamily="49" charset="-122"/>
                <a:ea typeface="楷体_GB2312" panose="02010609030101010101" pitchFamily="49" charset="-122"/>
              </a:rPr>
              <a:t>所示。</a:t>
            </a:r>
            <a:endParaRPr lang="en-US" altLang="zh-CN" b="1" dirty="0">
              <a:solidFill>
                <a:schemeClr val="tx2"/>
              </a:solidFill>
              <a:latin typeface="楷体_GB2312" panose="02010609030101010101" pitchFamily="49" charset="-122"/>
              <a:ea typeface="楷体_GB2312" panose="02010609030101010101" pitchFamily="49" charset="-122"/>
            </a:endParaRPr>
          </a:p>
        </p:txBody>
      </p:sp>
      <p:sp>
        <p:nvSpPr>
          <p:cNvPr id="29698" name="内容占位符 13"/>
          <p:cNvSpPr>
            <a:spLocks noChangeArrowheads="1"/>
          </p:cNvSpPr>
          <p:nvPr/>
        </p:nvSpPr>
        <p:spPr bwMode="auto">
          <a:xfrm>
            <a:off x="647700" y="1341438"/>
            <a:ext cx="5095875" cy="51435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r>
              <a:rPr lang="en-US" altLang="zh-CN" sz="2300" b="1">
                <a:solidFill>
                  <a:srgbClr val="CC0000"/>
                </a:solidFill>
                <a:latin typeface="宋体" panose="02010600030101010101" pitchFamily="2" charset="-122"/>
              </a:rPr>
              <a:t>    1.</a:t>
            </a:r>
            <a:r>
              <a:rPr lang="zh-CN" altLang="en-US" sz="2300" b="1">
                <a:solidFill>
                  <a:srgbClr val="CC0000"/>
                </a:solidFill>
                <a:latin typeface="宋体" panose="02010600030101010101" pitchFamily="2" charset="-122"/>
              </a:rPr>
              <a:t>并行操作中数据的不一致性</a:t>
            </a:r>
            <a:r>
              <a:rPr lang="zh-CN" altLang="en-US" sz="2200" b="1">
                <a:solidFill>
                  <a:srgbClr val="CC0000"/>
                </a:solidFill>
                <a:latin typeface="宋体" panose="02010600030101010101" pitchFamily="2" charset="-122"/>
              </a:rPr>
              <a:t> </a:t>
            </a:r>
            <a:endParaRPr lang="en-US" altLang="zh-CN" sz="2200" b="1">
              <a:solidFill>
                <a:srgbClr val="CC0000"/>
              </a:solidFill>
              <a:latin typeface="宋体" panose="02010600030101010101" pitchFamily="2" charset="-122"/>
            </a:endParaRPr>
          </a:p>
        </p:txBody>
      </p:sp>
      <p:graphicFrame>
        <p:nvGraphicFramePr>
          <p:cNvPr id="29761" name="Group 65"/>
          <p:cNvGraphicFramePr>
            <a:graphicFrameLocks noGrp="1"/>
          </p:cNvGraphicFramePr>
          <p:nvPr/>
        </p:nvGraphicFramePr>
        <p:xfrm>
          <a:off x="647700" y="2943225"/>
          <a:ext cx="7561263" cy="1819277"/>
        </p:xfrm>
        <a:graphic>
          <a:graphicData uri="http://schemas.openxmlformats.org/drawingml/2006/table">
            <a:tbl>
              <a:tblPr/>
              <a:tblGrid>
                <a:gridCol w="2114550"/>
                <a:gridCol w="908050"/>
                <a:gridCol w="793750"/>
                <a:gridCol w="1022350"/>
                <a:gridCol w="906463"/>
                <a:gridCol w="906462"/>
                <a:gridCol w="909638"/>
              </a:tblGrid>
              <a:tr h="36036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数据库中</a:t>
                      </a:r>
                      <a:r>
                        <a:rPr kumimoji="0" lang="en-US" altLang="zh-CN"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zh-CN" altLang="en-US"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的值</a:t>
                      </a:r>
                      <a:endParaRPr kumimoji="0" lang="zh-CN" altLang="en-US"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FF"/>
                    </a:solidFill>
                  </a:tcPr>
                </a:tc>
              </a:tr>
              <a:tr h="37941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en-US" altLang="zh-CN" sz="1600" b="1" i="0" u="none" strike="noStrike" cap="none" normalizeH="0" baseline="-3000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1 </a:t>
                      </a:r>
                      <a:r>
                        <a:rPr kumimoji="0" lang="zh-CN" altLang="en-US"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操作</a:t>
                      </a:r>
                      <a:endParaRPr kumimoji="0" lang="zh-CN" altLang="en-US"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read A</a:t>
                      </a:r>
                      <a:endParaRPr kumimoji="0" lang="en-US" altLang="zh-CN"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pPr>
                      <a:endParaRPr kumimoji="0" lang="zh-CN" altLang="en-US"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A:=A-1</a:t>
                      </a:r>
                      <a:endParaRPr kumimoji="0" lang="en-US" altLang="zh-CN"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pPr>
                      <a:endParaRPr kumimoji="0" lang="zh-CN" altLang="en-US"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write A</a:t>
                      </a:r>
                      <a:endParaRPr kumimoji="0" lang="en-US" altLang="zh-CN"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pPr>
                      <a:endParaRPr kumimoji="0" lang="zh-CN" altLang="en-US"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87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en-US" altLang="zh-CN" sz="1600" b="1" i="0" u="none" strike="noStrike" cap="none" normalizeH="0" baseline="-3000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2 </a:t>
                      </a:r>
                      <a:r>
                        <a:rPr kumimoji="0" lang="zh-CN" altLang="en-US"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操作</a:t>
                      </a:r>
                      <a:endParaRPr kumimoji="0" lang="zh-CN" altLang="en-US"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pPr>
                      <a:endParaRPr kumimoji="0" lang="zh-CN" altLang="en-US"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read A</a:t>
                      </a:r>
                      <a:endParaRPr kumimoji="0" lang="en-US" altLang="zh-CN"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pPr>
                      <a:endParaRPr kumimoji="0" lang="zh-CN" altLang="en-US"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A:=A-1</a:t>
                      </a:r>
                      <a:endParaRPr kumimoji="0" lang="en-US" altLang="zh-CN"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pPr>
                      <a:endParaRPr kumimoji="0" lang="zh-CN" altLang="en-US"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write A</a:t>
                      </a:r>
                      <a:endParaRPr kumimoji="0" lang="en-US" altLang="zh-CN"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036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en-US" altLang="zh-CN" sz="1600" b="1" i="0" u="none" strike="noStrike" cap="none" normalizeH="0" baseline="-3000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工作区中</a:t>
                      </a:r>
                      <a:r>
                        <a:rPr kumimoji="0" lang="en-US" altLang="zh-CN"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zh-CN" altLang="en-US"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的值</a:t>
                      </a:r>
                      <a:endParaRPr kumimoji="0" lang="zh-CN" altLang="en-US"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036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en-US" altLang="zh-CN" sz="1600" b="1" i="0" u="none" strike="noStrike" cap="none" normalizeH="0" baseline="-3000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工作区中</a:t>
                      </a:r>
                      <a:r>
                        <a:rPr kumimoji="0" lang="en-US" altLang="zh-CN"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zh-CN" altLang="en-US"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的值</a:t>
                      </a:r>
                      <a:endParaRPr kumimoji="0" lang="zh-CN" altLang="en-US"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pPr>
                      <a:endParaRPr kumimoji="0" lang="zh-CN" altLang="en-US"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smtClean="0">
                        <a:ln>
                          <a:noFill/>
                        </a:ln>
                        <a:solidFill>
                          <a:schemeClr val="tx2"/>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smtClean="0">
                        <a:ln>
                          <a:noFill/>
                        </a:ln>
                        <a:solidFill>
                          <a:schemeClr val="tx2"/>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29750" name="Rectangle 295"/>
          <p:cNvSpPr>
            <a:spLocks noChangeArrowheads="1"/>
          </p:cNvSpPr>
          <p:nvPr/>
        </p:nvSpPr>
        <p:spPr bwMode="auto">
          <a:xfrm>
            <a:off x="1541463" y="2667000"/>
            <a:ext cx="5700712" cy="336550"/>
          </a:xfrm>
          <a:prstGeom prst="rect">
            <a:avLst/>
          </a:prstGeom>
          <a:noFill/>
          <a:ln w="9525">
            <a:noFill/>
            <a:miter lim="800000"/>
          </a:ln>
        </p:spPr>
        <p:txBody>
          <a:bodyPr anchor="ctr">
            <a:spAutoFit/>
          </a:bodyPr>
          <a:lstStyle/>
          <a:p>
            <a:pPr algn="ctr">
              <a:spcBef>
                <a:spcPct val="20000"/>
              </a:spcBef>
              <a:buFont typeface="Wingdings" panose="05000000000000000000" pitchFamily="2" charset="2"/>
              <a:buNone/>
            </a:pPr>
            <a:r>
              <a:rPr lang="zh-CN" altLang="en-US" sz="1600" b="1">
                <a:solidFill>
                  <a:srgbClr val="C00000"/>
                </a:solidFill>
              </a:rPr>
              <a:t>表</a:t>
            </a:r>
            <a:r>
              <a:rPr lang="en-US" altLang="zh-CN" sz="1600" b="1">
                <a:solidFill>
                  <a:srgbClr val="C00000"/>
                </a:solidFill>
              </a:rPr>
              <a:t>10-1 </a:t>
            </a:r>
            <a:r>
              <a:rPr lang="zh-CN" altLang="en-US" sz="1600" b="1">
                <a:solidFill>
                  <a:srgbClr val="C00000"/>
                </a:solidFill>
              </a:rPr>
              <a:t>售票操作对数据库修改内容</a:t>
            </a:r>
            <a:r>
              <a:rPr lang="zh-CN" altLang="en-US" sz="1600" b="1">
                <a:solidFill>
                  <a:schemeClr val="accent1"/>
                </a:solidFill>
              </a:rPr>
              <a:t> </a:t>
            </a:r>
            <a:endParaRPr lang="zh-CN" altLang="en-US" sz="1600" b="1">
              <a:solidFill>
                <a:schemeClr val="accent1"/>
              </a:solidFill>
            </a:endParaRPr>
          </a:p>
        </p:txBody>
      </p:sp>
      <p:sp>
        <p:nvSpPr>
          <p:cNvPr id="4" name="圆角矩形 18"/>
          <p:cNvSpPr/>
          <p:nvPr/>
        </p:nvSpPr>
        <p:spPr bwMode="gray">
          <a:xfrm>
            <a:off x="1042988" y="4829175"/>
            <a:ext cx="6769100" cy="182880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nSpc>
                <a:spcPct val="90000"/>
              </a:lnSpc>
              <a:spcBef>
                <a:spcPct val="20000"/>
              </a:spcBef>
              <a:buFont typeface="Wingdings" panose="05000000000000000000" pitchFamily="2" charset="2"/>
              <a:buNone/>
              <a:defRPr/>
            </a:pPr>
            <a:r>
              <a:rPr lang="zh-CN" altLang="en-US" sz="2000" b="1" dirty="0">
                <a:solidFill>
                  <a:srgbClr val="FF0000"/>
                </a:solidFill>
                <a:latin typeface="Arial" panose="020B0604020202020204" pitchFamily="34" charset="0"/>
              </a:rPr>
              <a:t>      数据不一致性</a:t>
            </a:r>
            <a:r>
              <a:rPr lang="zh-CN" altLang="en-US" sz="2000" b="1" dirty="0">
                <a:solidFill>
                  <a:srgbClr val="CC0099"/>
                </a:solidFill>
                <a:latin typeface="Arial" panose="020B0604020202020204" pitchFamily="34" charset="0"/>
              </a:rPr>
              <a:t>通常分为</a:t>
            </a:r>
            <a:r>
              <a:rPr lang="en-US" altLang="zh-CN" sz="2000" b="1" dirty="0">
                <a:solidFill>
                  <a:srgbClr val="CC0099"/>
                </a:solidFill>
                <a:latin typeface="Arial" panose="020B0604020202020204" pitchFamily="34" charset="0"/>
              </a:rPr>
              <a:t>4</a:t>
            </a:r>
            <a:r>
              <a:rPr lang="zh-CN" altLang="en-US" sz="2000" b="1" dirty="0">
                <a:solidFill>
                  <a:srgbClr val="CC0099"/>
                </a:solidFill>
                <a:latin typeface="Arial" panose="020B0604020202020204" pitchFamily="34" charset="0"/>
              </a:rPr>
              <a:t>类：</a:t>
            </a:r>
            <a:endParaRPr lang="zh-CN" altLang="en-US" sz="2000" b="1" dirty="0">
              <a:solidFill>
                <a:srgbClr val="CC0099"/>
              </a:solidFill>
              <a:latin typeface="Arial" panose="020B0604020202020204" pitchFamily="34" charset="0"/>
            </a:endParaRPr>
          </a:p>
          <a:p>
            <a:pPr>
              <a:lnSpc>
                <a:spcPct val="90000"/>
              </a:lnSpc>
              <a:spcBef>
                <a:spcPct val="20000"/>
              </a:spcBef>
              <a:buFont typeface="Wingdings" panose="05000000000000000000" pitchFamily="2" charset="2"/>
              <a:buNone/>
              <a:defRPr/>
            </a:pPr>
            <a:r>
              <a:rPr lang="zh-CN" altLang="en-US" sz="2000" b="1" dirty="0">
                <a:solidFill>
                  <a:schemeClr val="tx2"/>
                </a:solidFill>
                <a:latin typeface="Arial" panose="020B0604020202020204" pitchFamily="34" charset="0"/>
              </a:rPr>
              <a:t>    （</a:t>
            </a:r>
            <a:r>
              <a:rPr lang="en-US" altLang="zh-CN" sz="2000" b="1" dirty="0">
                <a:solidFill>
                  <a:schemeClr val="tx2"/>
                </a:solidFill>
                <a:latin typeface="Arial" panose="020B0604020202020204" pitchFamily="34" charset="0"/>
              </a:rPr>
              <a:t>1</a:t>
            </a:r>
            <a:r>
              <a:rPr lang="zh-CN" altLang="en-US" sz="2000" b="1" dirty="0">
                <a:solidFill>
                  <a:schemeClr val="tx2"/>
                </a:solidFill>
                <a:latin typeface="Arial" panose="020B0604020202020204" pitchFamily="34" charset="0"/>
              </a:rPr>
              <a:t>）丢失或覆盖更新。</a:t>
            </a:r>
            <a:endParaRPr lang="zh-CN" altLang="en-US" sz="2000" b="1" dirty="0">
              <a:solidFill>
                <a:schemeClr val="tx2"/>
              </a:solidFill>
              <a:latin typeface="Arial" panose="020B0604020202020204" pitchFamily="34" charset="0"/>
            </a:endParaRPr>
          </a:p>
          <a:p>
            <a:pPr>
              <a:lnSpc>
                <a:spcPct val="90000"/>
              </a:lnSpc>
              <a:spcBef>
                <a:spcPct val="20000"/>
              </a:spcBef>
              <a:buFont typeface="Wingdings" panose="05000000000000000000" pitchFamily="2" charset="2"/>
              <a:buNone/>
              <a:defRPr/>
            </a:pPr>
            <a:r>
              <a:rPr lang="zh-CN" altLang="en-US" sz="2000" b="1" dirty="0">
                <a:solidFill>
                  <a:schemeClr val="tx2"/>
                </a:solidFill>
                <a:latin typeface="Arial" panose="020B0604020202020204" pitchFamily="34" charset="0"/>
              </a:rPr>
              <a:t>    （</a:t>
            </a:r>
            <a:r>
              <a:rPr lang="en-US" altLang="zh-CN" sz="2000" b="1" dirty="0">
                <a:solidFill>
                  <a:schemeClr val="tx2"/>
                </a:solidFill>
                <a:latin typeface="Arial" panose="020B0604020202020204" pitchFamily="34" charset="0"/>
              </a:rPr>
              <a:t>2</a:t>
            </a:r>
            <a:r>
              <a:rPr lang="zh-CN" altLang="en-US" sz="2000" b="1" dirty="0">
                <a:solidFill>
                  <a:schemeClr val="tx2"/>
                </a:solidFill>
                <a:latin typeface="Arial" panose="020B0604020202020204" pitchFamily="34" charset="0"/>
              </a:rPr>
              <a:t>）不可重复读。</a:t>
            </a:r>
            <a:endParaRPr lang="zh-CN" altLang="en-US" sz="2000" b="1" dirty="0">
              <a:solidFill>
                <a:schemeClr val="tx2"/>
              </a:solidFill>
              <a:latin typeface="Arial" panose="020B0604020202020204" pitchFamily="34" charset="0"/>
            </a:endParaRPr>
          </a:p>
          <a:p>
            <a:pPr>
              <a:lnSpc>
                <a:spcPct val="90000"/>
              </a:lnSpc>
              <a:spcBef>
                <a:spcPct val="20000"/>
              </a:spcBef>
              <a:buFont typeface="Wingdings" panose="05000000000000000000" pitchFamily="2" charset="2"/>
              <a:buNone/>
              <a:defRPr/>
            </a:pPr>
            <a:r>
              <a:rPr lang="zh-CN" altLang="en-US" sz="2000" b="1" dirty="0">
                <a:solidFill>
                  <a:schemeClr val="tx2"/>
                </a:solidFill>
                <a:latin typeface="Arial" panose="020B0604020202020204" pitchFamily="34" charset="0"/>
              </a:rPr>
              <a:t>    （</a:t>
            </a:r>
            <a:r>
              <a:rPr lang="en-US" altLang="zh-CN" sz="2000" b="1" dirty="0">
                <a:solidFill>
                  <a:schemeClr val="tx2"/>
                </a:solidFill>
                <a:latin typeface="Arial" panose="020B0604020202020204" pitchFamily="34" charset="0"/>
              </a:rPr>
              <a:t>3</a:t>
            </a:r>
            <a:r>
              <a:rPr lang="zh-CN" altLang="en-US" sz="2000" b="1" dirty="0">
                <a:solidFill>
                  <a:schemeClr val="tx2"/>
                </a:solidFill>
                <a:latin typeface="Arial" panose="020B0604020202020204" pitchFamily="34" charset="0"/>
              </a:rPr>
              <a:t>）读脏数据。</a:t>
            </a:r>
            <a:endParaRPr lang="zh-CN" altLang="en-US" sz="2000" b="1" dirty="0">
              <a:solidFill>
                <a:schemeClr val="tx2"/>
              </a:solidFill>
              <a:latin typeface="Arial" panose="020B0604020202020204" pitchFamily="34" charset="0"/>
            </a:endParaRPr>
          </a:p>
          <a:p>
            <a:pPr>
              <a:lnSpc>
                <a:spcPct val="90000"/>
              </a:lnSpc>
              <a:spcBef>
                <a:spcPct val="20000"/>
              </a:spcBef>
              <a:buFont typeface="Wingdings" panose="05000000000000000000" pitchFamily="2" charset="2"/>
              <a:buNone/>
              <a:defRPr/>
            </a:pPr>
            <a:r>
              <a:rPr lang="zh-CN" altLang="en-US" sz="2000" b="1" dirty="0">
                <a:solidFill>
                  <a:schemeClr val="tx2"/>
                </a:solidFill>
                <a:latin typeface="Arial" panose="020B0604020202020204" pitchFamily="34" charset="0"/>
              </a:rPr>
              <a:t>    （</a:t>
            </a:r>
            <a:r>
              <a:rPr lang="en-US" altLang="zh-CN" sz="2000" b="1" dirty="0">
                <a:solidFill>
                  <a:schemeClr val="tx2"/>
                </a:solidFill>
                <a:latin typeface="Arial" panose="020B0604020202020204" pitchFamily="34" charset="0"/>
              </a:rPr>
              <a:t>4</a:t>
            </a:r>
            <a:r>
              <a:rPr lang="zh-CN" altLang="en-US" sz="2000" b="1" dirty="0">
                <a:solidFill>
                  <a:schemeClr val="tx2"/>
                </a:solidFill>
                <a:latin typeface="Arial" panose="020B0604020202020204" pitchFamily="34" charset="0"/>
              </a:rPr>
              <a:t>）破坏性的</a:t>
            </a:r>
            <a:r>
              <a:rPr lang="en-US" altLang="zh-CN" sz="2000" b="1" dirty="0">
                <a:solidFill>
                  <a:srgbClr val="006600"/>
                </a:solidFill>
                <a:latin typeface="Arial" panose="020B0604020202020204" pitchFamily="34" charset="0"/>
              </a:rPr>
              <a:t>DDL</a:t>
            </a:r>
            <a:r>
              <a:rPr lang="zh-CN" altLang="en-US" sz="2000" b="1" dirty="0">
                <a:solidFill>
                  <a:schemeClr val="tx2"/>
                </a:solidFill>
                <a:latin typeface="Arial" panose="020B0604020202020204" pitchFamily="34" charset="0"/>
              </a:rPr>
              <a:t>操作。</a:t>
            </a:r>
            <a:endParaRPr lang="en-US" altLang="zh-CN" sz="2000" dirty="0">
              <a:solidFill>
                <a:schemeClr val="tx1"/>
              </a:solidFill>
              <a:latin typeface="Arial" panose="020B0604020202020204" pitchFamily="34" charset="0"/>
            </a:endParaRPr>
          </a:p>
        </p:txBody>
      </p:sp>
      <p:sp>
        <p:nvSpPr>
          <p:cNvPr id="29752" name="内容占位符 13"/>
          <p:cNvSpPr>
            <a:spLocks noChangeArrowheads="1"/>
          </p:cNvSpPr>
          <p:nvPr/>
        </p:nvSpPr>
        <p:spPr bwMode="auto">
          <a:xfrm>
            <a:off x="431800" y="981075"/>
            <a:ext cx="4392613" cy="396875"/>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r>
              <a:rPr lang="zh-CN" altLang="zh-CN" b="1">
                <a:solidFill>
                  <a:srgbClr val="FF0000"/>
                </a:solidFill>
                <a:latin typeface="宋体" panose="02010600030101010101" pitchFamily="2" charset="-122"/>
              </a:rPr>
              <a:t>10.3.3 数据库的并发控制</a:t>
            </a:r>
            <a:endParaRPr lang="zh-CN" altLang="zh-CN" b="1">
              <a:solidFill>
                <a:srgbClr val="FF0000"/>
              </a:solidFill>
              <a:latin typeface="宋体" panose="02010600030101010101" pitchFamily="2" charset="-122"/>
            </a:endParaRPr>
          </a:p>
        </p:txBody>
      </p:sp>
      <p:sp>
        <p:nvSpPr>
          <p:cNvPr id="29753" name="Rectangle 2"/>
          <p:cNvSpPr txBox="1">
            <a:spLocks noChangeArrowheads="1"/>
          </p:cNvSpPr>
          <p:nvPr/>
        </p:nvSpPr>
        <p:spPr bwMode="auto">
          <a:xfrm>
            <a:off x="1787525" y="231775"/>
            <a:ext cx="6561138" cy="563563"/>
          </a:xfrm>
          <a:prstGeom prst="rect">
            <a:avLst/>
          </a:prstGeom>
          <a:noFill/>
          <a:ln w="9525">
            <a:noFill/>
            <a:miter lim="800000"/>
          </a:ln>
        </p:spPr>
        <p:txBody>
          <a:bodyPr anchor="ctr"/>
          <a:lstStyle/>
          <a:p>
            <a:pPr>
              <a:spcBef>
                <a:spcPct val="20000"/>
              </a:spcBef>
              <a:buFont typeface="Wingdings" panose="05000000000000000000" pitchFamily="2" charset="2"/>
              <a:buNone/>
            </a:pPr>
            <a:r>
              <a:rPr lang="zh-CN" altLang="zh-CN" sz="3200" b="1">
                <a:solidFill>
                  <a:schemeClr val="bg1"/>
                </a:solidFill>
              </a:rPr>
              <a:t>10.3 数据库的安全特性和措施</a:t>
            </a:r>
            <a:endParaRPr lang="zh-CN" altLang="zh-CN" sz="3200" b="1">
              <a:solidFill>
                <a:schemeClr val="bg1"/>
              </a:solidFill>
            </a:endParaRPr>
          </a:p>
        </p:txBody>
      </p:sp>
      <p:sp>
        <p:nvSpPr>
          <p:cNvPr id="13" name="圆角矩形 12"/>
          <p:cNvSpPr/>
          <p:nvPr/>
        </p:nvSpPr>
        <p:spPr bwMode="gray">
          <a:xfrm>
            <a:off x="1122363" y="1844675"/>
            <a:ext cx="1104900" cy="374650"/>
          </a:xfrm>
          <a:prstGeom prst="roundRect">
            <a:avLst/>
          </a:prstGeom>
        </p:spPr>
        <p:style>
          <a:lnRef idx="0">
            <a:schemeClr val="accent2"/>
          </a:lnRef>
          <a:fillRef idx="3">
            <a:schemeClr val="accent2"/>
          </a:fillRef>
          <a:effectRef idx="3">
            <a:schemeClr val="accent2"/>
          </a:effectRef>
          <a:fontRef idx="minor">
            <a:schemeClr val="lt1"/>
          </a:fontRef>
        </p:style>
        <p:txBody>
          <a:bodyPr wrap="none" anchor="ctr"/>
          <a:lstStyle>
            <a:lvl1pPr>
              <a:defRPr>
                <a:solidFill>
                  <a:schemeClr val="tx1"/>
                </a:solidFill>
                <a:latin typeface="宋体" panose="02010600030101010101" pitchFamily="2" charset="-122"/>
                <a:ea typeface="宋体" panose="02010600030101010101" pitchFamily="2" charset="-122"/>
              </a:defRPr>
            </a:lvl1pPr>
            <a:lvl2pPr marL="742950" indent="-285750">
              <a:defRPr>
                <a:solidFill>
                  <a:schemeClr val="tx1"/>
                </a:solidFill>
                <a:latin typeface="宋体" panose="02010600030101010101" pitchFamily="2" charset="-122"/>
                <a:ea typeface="宋体" panose="02010600030101010101" pitchFamily="2" charset="-122"/>
              </a:defRPr>
            </a:lvl2pPr>
            <a:lvl3pPr marL="1143000" indent="-228600">
              <a:defRPr>
                <a:solidFill>
                  <a:schemeClr val="tx1"/>
                </a:solidFill>
                <a:latin typeface="宋体" panose="02010600030101010101" pitchFamily="2" charset="-122"/>
                <a:ea typeface="宋体" panose="02010600030101010101" pitchFamily="2" charset="-122"/>
              </a:defRPr>
            </a:lvl3pPr>
            <a:lvl4pPr marL="1600200" indent="-228600">
              <a:defRPr>
                <a:solidFill>
                  <a:schemeClr val="tx1"/>
                </a:solidFill>
                <a:latin typeface="宋体" panose="02010600030101010101" pitchFamily="2" charset="-122"/>
                <a:ea typeface="宋体" panose="02010600030101010101" pitchFamily="2" charset="-122"/>
              </a:defRPr>
            </a:lvl4pPr>
            <a:lvl5pPr marL="2057400" indent="-228600">
              <a:defRPr>
                <a:solidFill>
                  <a:schemeClr val="tx1"/>
                </a:solidFill>
                <a:latin typeface="宋体" panose="02010600030101010101" pitchFamily="2" charset="-122"/>
                <a:ea typeface="宋体" panose="02010600030101010101" pitchFamily="2" charset="-122"/>
              </a:defRPr>
            </a:lvl5pPr>
            <a:lvl6pPr marL="25146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6pPr>
            <a:lvl7pPr marL="29718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7pPr>
            <a:lvl8pPr marL="34290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8pPr>
            <a:lvl9pPr marL="38862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9pPr>
          </a:lstStyle>
          <a:p>
            <a:pPr algn="ctr">
              <a:spcBef>
                <a:spcPct val="20000"/>
              </a:spcBef>
              <a:buFont typeface="Wingdings" panose="05000000000000000000" pitchFamily="2" charset="2"/>
              <a:buNone/>
              <a:defRPr/>
            </a:pPr>
            <a:r>
              <a:rPr lang="zh-CN" altLang="en-US" sz="1600" b="1" dirty="0" smtClean="0">
                <a:solidFill>
                  <a:srgbClr val="002060"/>
                </a:solidFill>
              </a:rPr>
              <a:t>案例</a:t>
            </a:r>
            <a:r>
              <a:rPr lang="en-US" altLang="zh-CN" sz="1600" b="1" dirty="0" smtClean="0">
                <a:solidFill>
                  <a:srgbClr val="002060"/>
                </a:solidFill>
              </a:rPr>
              <a:t>2-4</a:t>
            </a:r>
            <a:endParaRPr lang="zh-CN" altLang="en-US" sz="1600" b="1" dirty="0" smtClean="0">
              <a:solidFill>
                <a:srgbClr val="00206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内容占位符 13"/>
          <p:cNvSpPr>
            <a:spLocks noGrp="1" noChangeArrowheads="1"/>
          </p:cNvSpPr>
          <p:nvPr>
            <p:ph idx="4294967295"/>
          </p:nvPr>
        </p:nvSpPr>
        <p:spPr>
          <a:xfrm>
            <a:off x="419100" y="1185863"/>
            <a:ext cx="8040688" cy="3322637"/>
          </a:xfrm>
        </p:spPr>
        <p:txBody>
          <a:bodyPr/>
          <a:lstStyle/>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19" name="圆角矩形 18"/>
          <p:cNvSpPr/>
          <p:nvPr/>
        </p:nvSpPr>
        <p:spPr bwMode="gray">
          <a:xfrm>
            <a:off x="503238" y="1695450"/>
            <a:ext cx="8135937" cy="394335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spcBef>
                <a:spcPct val="20000"/>
              </a:spcBef>
            </a:pPr>
            <a:r>
              <a:rPr lang="zh-CN" altLang="en-US" b="1">
                <a:solidFill>
                  <a:schemeClr val="tx2"/>
                </a:solidFill>
                <a:latin typeface="Arial" panose="020B0604020202020204" pitchFamily="34" charset="0"/>
              </a:rPr>
              <a:t>       </a:t>
            </a:r>
            <a:r>
              <a:rPr lang="zh-CN" altLang="zh-CN" b="1">
                <a:solidFill>
                  <a:srgbClr val="CC0000"/>
                </a:solidFill>
                <a:latin typeface="Arial" panose="020B0604020202020204" pitchFamily="34" charset="0"/>
              </a:rPr>
              <a:t>并发事件</a:t>
            </a:r>
            <a:r>
              <a:rPr lang="zh-CN" altLang="zh-CN" b="1">
                <a:solidFill>
                  <a:schemeClr val="tx2"/>
                </a:solidFill>
                <a:latin typeface="Arial" panose="020B0604020202020204" pitchFamily="34" charset="0"/>
              </a:rPr>
              <a:t>指在</a:t>
            </a:r>
            <a:r>
              <a:rPr lang="zh-CN" altLang="zh-CN" b="1">
                <a:solidFill>
                  <a:srgbClr val="3333FF"/>
                </a:solidFill>
                <a:latin typeface="Arial" panose="020B0604020202020204" pitchFamily="34" charset="0"/>
              </a:rPr>
              <a:t>实现</a:t>
            </a:r>
            <a:r>
              <a:rPr lang="zh-CN" altLang="zh-CN" b="1">
                <a:solidFill>
                  <a:schemeClr val="tx2"/>
                </a:solidFill>
                <a:latin typeface="Arial" panose="020B0604020202020204" pitchFamily="34" charset="0"/>
              </a:rPr>
              <a:t>多用户共享数据时，有多个用户同时</a:t>
            </a:r>
            <a:r>
              <a:rPr lang="zh-CN" altLang="zh-CN" b="1">
                <a:solidFill>
                  <a:srgbClr val="3333FF"/>
                </a:solidFill>
                <a:latin typeface="Arial" panose="020B0604020202020204" pitchFamily="34" charset="0"/>
              </a:rPr>
              <a:t>存取</a:t>
            </a:r>
            <a:r>
              <a:rPr lang="zh-CN" altLang="zh-CN" b="1">
                <a:solidFill>
                  <a:schemeClr val="tx2"/>
                </a:solidFill>
                <a:latin typeface="Arial" panose="020B0604020202020204" pitchFamily="34" charset="0"/>
              </a:rPr>
              <a:t>数据的事件。对</a:t>
            </a:r>
            <a:r>
              <a:rPr lang="zh-CN" altLang="zh-CN" b="1">
                <a:solidFill>
                  <a:srgbClr val="CC0099"/>
                </a:solidFill>
                <a:latin typeface="Arial" panose="020B0604020202020204" pitchFamily="34" charset="0"/>
              </a:rPr>
              <a:t>并发事件</a:t>
            </a:r>
            <a:r>
              <a:rPr lang="zh-CN" altLang="zh-CN" b="1">
                <a:solidFill>
                  <a:schemeClr val="tx2"/>
                </a:solidFill>
                <a:latin typeface="Arial" panose="020B0604020202020204" pitchFamily="34" charset="0"/>
              </a:rPr>
              <a:t>的</a:t>
            </a:r>
            <a:r>
              <a:rPr lang="zh-CN" altLang="zh-CN" b="1">
                <a:solidFill>
                  <a:srgbClr val="3333FF"/>
                </a:solidFill>
                <a:latin typeface="Arial" panose="020B0604020202020204" pitchFamily="34" charset="0"/>
              </a:rPr>
              <a:t>有效控制</a:t>
            </a:r>
            <a:r>
              <a:rPr lang="zh-CN" altLang="zh-CN" b="1">
                <a:solidFill>
                  <a:schemeClr val="tx2"/>
                </a:solidFill>
                <a:latin typeface="Arial" panose="020B0604020202020204" pitchFamily="34" charset="0"/>
              </a:rPr>
              <a:t>称为</a:t>
            </a:r>
            <a:r>
              <a:rPr lang="zh-CN" altLang="zh-CN" b="1" u="sng">
                <a:solidFill>
                  <a:srgbClr val="FF0000"/>
                </a:solidFill>
                <a:latin typeface="Arial" panose="020B0604020202020204" pitchFamily="34" charset="0"/>
              </a:rPr>
              <a:t>并发控制</a:t>
            </a:r>
            <a:r>
              <a:rPr lang="zh-CN" altLang="zh-CN" b="1">
                <a:solidFill>
                  <a:schemeClr val="tx2"/>
                </a:solidFill>
                <a:latin typeface="Arial" panose="020B0604020202020204" pitchFamily="34" charset="0"/>
              </a:rPr>
              <a:t>。</a:t>
            </a:r>
            <a:endParaRPr lang="zh-CN" altLang="en-US" b="1">
              <a:solidFill>
                <a:schemeClr val="tx2"/>
              </a:solidFill>
              <a:latin typeface="Arial" panose="020B0604020202020204" pitchFamily="34" charset="0"/>
            </a:endParaRPr>
          </a:p>
          <a:p>
            <a:pPr>
              <a:spcBef>
                <a:spcPct val="20000"/>
              </a:spcBef>
            </a:pPr>
            <a:r>
              <a:rPr lang="zh-CN" altLang="en-US" b="1">
                <a:solidFill>
                  <a:srgbClr val="FF0000"/>
                </a:solidFill>
                <a:latin typeface="Arial" panose="020B0604020202020204" pitchFamily="34" charset="0"/>
              </a:rPr>
              <a:t>      </a:t>
            </a:r>
            <a:r>
              <a:rPr lang="zh-CN" altLang="en-US" b="1" u="sng">
                <a:solidFill>
                  <a:srgbClr val="FF0000"/>
                </a:solidFill>
                <a:latin typeface="Arial" panose="020B0604020202020204" pitchFamily="34" charset="0"/>
              </a:rPr>
              <a:t>事务</a:t>
            </a:r>
            <a:r>
              <a:rPr lang="zh-CN" altLang="en-US" b="1">
                <a:solidFill>
                  <a:srgbClr val="006600"/>
                </a:solidFill>
                <a:latin typeface="Arial" panose="020B0604020202020204" pitchFamily="34" charset="0"/>
              </a:rPr>
              <a:t>（</a:t>
            </a:r>
            <a:r>
              <a:rPr lang="en-US" altLang="zh-CN" b="1">
                <a:solidFill>
                  <a:srgbClr val="006600"/>
                </a:solidFill>
                <a:latin typeface="Arial" panose="020B0604020202020204" pitchFamily="34" charset="0"/>
              </a:rPr>
              <a:t>Transaction</a:t>
            </a:r>
            <a:r>
              <a:rPr lang="zh-CN" altLang="en-US" b="1">
                <a:solidFill>
                  <a:srgbClr val="006600"/>
                </a:solidFill>
                <a:latin typeface="Arial" panose="020B0604020202020204" pitchFamily="34" charset="0"/>
              </a:rPr>
              <a:t>）</a:t>
            </a:r>
            <a:r>
              <a:rPr lang="zh-CN" altLang="en-US" b="1">
                <a:solidFill>
                  <a:schemeClr val="tx2"/>
                </a:solidFill>
                <a:latin typeface="Arial" panose="020B0604020202020204" pitchFamily="34" charset="0"/>
              </a:rPr>
              <a:t>是数据库的逻辑工作单位</a:t>
            </a:r>
            <a:r>
              <a:rPr lang="en-US" altLang="zh-CN" b="1">
                <a:solidFill>
                  <a:schemeClr val="tx2"/>
                </a:solidFill>
                <a:latin typeface="Arial" panose="020B0604020202020204" pitchFamily="34" charset="0"/>
              </a:rPr>
              <a:t>,</a:t>
            </a:r>
            <a:r>
              <a:rPr lang="zh-CN" altLang="en-US" b="1">
                <a:solidFill>
                  <a:schemeClr val="tx2"/>
                </a:solidFill>
                <a:latin typeface="Arial" panose="020B0604020202020204" pitchFamily="34" charset="0"/>
              </a:rPr>
              <a:t>是用户定义的一组</a:t>
            </a:r>
            <a:r>
              <a:rPr lang="zh-CN" altLang="en-US" b="1">
                <a:solidFill>
                  <a:srgbClr val="800000"/>
                </a:solidFill>
                <a:latin typeface="Arial" panose="020B0604020202020204" pitchFamily="34" charset="0"/>
              </a:rPr>
              <a:t>操作序列</a:t>
            </a:r>
            <a:r>
              <a:rPr lang="zh-CN" altLang="en-US" b="1">
                <a:solidFill>
                  <a:schemeClr val="tx2"/>
                </a:solidFill>
                <a:latin typeface="Arial" panose="020B0604020202020204" pitchFamily="34" charset="0"/>
              </a:rPr>
              <a:t>。</a:t>
            </a:r>
            <a:r>
              <a:rPr lang="zh-CN" altLang="en-US" b="1">
                <a:solidFill>
                  <a:srgbClr val="CC0099"/>
                </a:solidFill>
                <a:latin typeface="Arial" panose="020B0604020202020204" pitchFamily="34" charset="0"/>
              </a:rPr>
              <a:t>并发控制</a:t>
            </a:r>
            <a:r>
              <a:rPr lang="zh-CN" altLang="en-US" b="1">
                <a:solidFill>
                  <a:schemeClr val="tx2"/>
                </a:solidFill>
                <a:latin typeface="Arial" panose="020B0604020202020204" pitchFamily="34" charset="0"/>
              </a:rPr>
              <a:t>则</a:t>
            </a:r>
            <a:r>
              <a:rPr lang="zh-CN" altLang="en-US" b="1">
                <a:solidFill>
                  <a:srgbClr val="CC0000"/>
                </a:solidFill>
                <a:latin typeface="Arial" panose="020B0604020202020204" pitchFamily="34" charset="0"/>
              </a:rPr>
              <a:t>以事务为单位</a:t>
            </a:r>
            <a:r>
              <a:rPr lang="en-US" altLang="zh-CN" b="1">
                <a:solidFill>
                  <a:schemeClr val="tx2"/>
                </a:solidFill>
                <a:latin typeface="Arial" panose="020B0604020202020204" pitchFamily="34" charset="0"/>
              </a:rPr>
              <a:t>.</a:t>
            </a:r>
            <a:r>
              <a:rPr lang="zh-CN" altLang="en-US" b="1">
                <a:solidFill>
                  <a:schemeClr val="tx2"/>
                </a:solidFill>
                <a:latin typeface="Arial" panose="020B0604020202020204" pitchFamily="34" charset="0"/>
              </a:rPr>
              <a:t>一个事务可以是一组</a:t>
            </a:r>
            <a:r>
              <a:rPr lang="en-US" altLang="zh-CN" b="1">
                <a:solidFill>
                  <a:srgbClr val="006600"/>
                </a:solidFill>
                <a:latin typeface="Arial" panose="020B0604020202020204" pitchFamily="34" charset="0"/>
              </a:rPr>
              <a:t>SQL</a:t>
            </a:r>
            <a:r>
              <a:rPr lang="zh-CN" altLang="en-US" b="1">
                <a:solidFill>
                  <a:schemeClr val="tx2"/>
                </a:solidFill>
                <a:latin typeface="Arial" panose="020B0604020202020204" pitchFamily="34" charset="0"/>
              </a:rPr>
              <a:t>语句、一条</a:t>
            </a:r>
            <a:r>
              <a:rPr lang="en-US" altLang="zh-CN" b="1">
                <a:solidFill>
                  <a:srgbClr val="006600"/>
                </a:solidFill>
                <a:latin typeface="Arial" panose="020B0604020202020204" pitchFamily="34" charset="0"/>
              </a:rPr>
              <a:t>SQL</a:t>
            </a:r>
            <a:r>
              <a:rPr lang="zh-CN" altLang="en-US" b="1">
                <a:solidFill>
                  <a:schemeClr val="tx2"/>
                </a:solidFill>
                <a:latin typeface="Arial" panose="020B0604020202020204" pitchFamily="34" charset="0"/>
              </a:rPr>
              <a:t>语句或整个程序。</a:t>
            </a:r>
            <a:endParaRPr lang="zh-CN" altLang="en-US" b="1">
              <a:solidFill>
                <a:schemeClr val="tx2"/>
              </a:solidFill>
              <a:latin typeface="Arial" panose="020B0604020202020204" pitchFamily="34" charset="0"/>
            </a:endParaRPr>
          </a:p>
          <a:p>
            <a:pPr>
              <a:spcBef>
                <a:spcPct val="20000"/>
              </a:spcBef>
            </a:pPr>
            <a:r>
              <a:rPr lang="zh-CN" altLang="en-US" b="1">
                <a:solidFill>
                  <a:srgbClr val="990033"/>
                </a:solidFill>
                <a:latin typeface="Arial" panose="020B0604020202020204" pitchFamily="34" charset="0"/>
              </a:rPr>
              <a:t>      具有</a:t>
            </a:r>
            <a:r>
              <a:rPr lang="en-US" altLang="zh-CN" b="1">
                <a:solidFill>
                  <a:srgbClr val="990033"/>
                </a:solidFill>
                <a:latin typeface="Arial" panose="020B0604020202020204" pitchFamily="34" charset="0"/>
              </a:rPr>
              <a:t>4</a:t>
            </a:r>
            <a:r>
              <a:rPr lang="zh-CN" altLang="en-US" b="1">
                <a:solidFill>
                  <a:srgbClr val="990033"/>
                </a:solidFill>
                <a:latin typeface="Arial" panose="020B0604020202020204" pitchFamily="34" charset="0"/>
              </a:rPr>
              <a:t>种属性</a:t>
            </a:r>
            <a:r>
              <a:rPr lang="en-US" altLang="zh-CN" b="1">
                <a:solidFill>
                  <a:schemeClr val="tx1"/>
                </a:solidFill>
                <a:latin typeface="Arial" panose="020B0604020202020204" pitchFamily="34" charset="0"/>
              </a:rPr>
              <a:t>(ACID</a:t>
            </a:r>
            <a:r>
              <a:rPr lang="zh-CN" altLang="en-US" b="1">
                <a:solidFill>
                  <a:schemeClr val="tx1"/>
                </a:solidFill>
                <a:latin typeface="Arial" panose="020B0604020202020204" pitchFamily="34" charset="0"/>
              </a:rPr>
              <a:t>特性</a:t>
            </a:r>
            <a:r>
              <a:rPr lang="en-US" altLang="zh-CN" b="1">
                <a:solidFill>
                  <a:schemeClr val="tx1"/>
                </a:solidFill>
                <a:latin typeface="Arial" panose="020B0604020202020204" pitchFamily="34" charset="0"/>
              </a:rPr>
              <a:t>)</a:t>
            </a:r>
            <a:r>
              <a:rPr lang="en-US" altLang="zh-CN">
                <a:solidFill>
                  <a:schemeClr val="tx1"/>
                </a:solidFill>
                <a:latin typeface="Arial" panose="020B0604020202020204" pitchFamily="34" charset="0"/>
              </a:rPr>
              <a:t> </a:t>
            </a:r>
            <a:r>
              <a:rPr lang="zh-CN" altLang="en-US" b="1">
                <a:solidFill>
                  <a:srgbClr val="990033"/>
                </a:solidFill>
                <a:latin typeface="Arial" panose="020B0604020202020204" pitchFamily="34" charset="0"/>
              </a:rPr>
              <a:t>：</a:t>
            </a:r>
            <a:r>
              <a:rPr lang="zh-CN" altLang="en-US" b="1">
                <a:solidFill>
                  <a:schemeClr val="tx2"/>
                </a:solidFill>
                <a:latin typeface="Arial" panose="020B0604020202020204" pitchFamily="34" charset="0"/>
              </a:rPr>
              <a:t> </a:t>
            </a:r>
            <a:endParaRPr lang="zh-CN" altLang="en-US" b="1">
              <a:solidFill>
                <a:schemeClr val="tx2"/>
              </a:solidFill>
              <a:latin typeface="Arial" panose="020B0604020202020204" pitchFamily="34" charset="0"/>
            </a:endParaRPr>
          </a:p>
          <a:p>
            <a:pPr>
              <a:spcBef>
                <a:spcPct val="20000"/>
              </a:spcBef>
            </a:pPr>
            <a:r>
              <a:rPr lang="zh-CN" altLang="en-US" b="1">
                <a:solidFill>
                  <a:schemeClr val="tx2"/>
                </a:solidFill>
                <a:latin typeface="Arial" panose="020B0604020202020204" pitchFamily="34" charset="0"/>
              </a:rPr>
              <a:t>    （</a:t>
            </a:r>
            <a:r>
              <a:rPr lang="en-US" altLang="zh-CN" b="1">
                <a:solidFill>
                  <a:schemeClr val="tx2"/>
                </a:solidFill>
                <a:latin typeface="Arial" panose="020B0604020202020204" pitchFamily="34" charset="0"/>
              </a:rPr>
              <a:t>1</a:t>
            </a:r>
            <a:r>
              <a:rPr lang="zh-CN" altLang="en-US" b="1">
                <a:solidFill>
                  <a:schemeClr val="tx2"/>
                </a:solidFill>
                <a:latin typeface="Arial" panose="020B0604020202020204" pitchFamily="34" charset="0"/>
              </a:rPr>
              <a:t>）原子性。（</a:t>
            </a:r>
            <a:r>
              <a:rPr lang="en-US" altLang="zh-CN" b="1">
                <a:solidFill>
                  <a:schemeClr val="tx2"/>
                </a:solidFill>
                <a:latin typeface="Arial" panose="020B0604020202020204" pitchFamily="34" charset="0"/>
              </a:rPr>
              <a:t>2</a:t>
            </a:r>
            <a:r>
              <a:rPr lang="zh-CN" altLang="en-US" b="1">
                <a:solidFill>
                  <a:schemeClr val="tx2"/>
                </a:solidFill>
                <a:latin typeface="Arial" panose="020B0604020202020204" pitchFamily="34" charset="0"/>
              </a:rPr>
              <a:t>）一致性。</a:t>
            </a:r>
            <a:endParaRPr lang="zh-CN" altLang="en-US" b="1">
              <a:solidFill>
                <a:schemeClr val="tx2"/>
              </a:solidFill>
              <a:latin typeface="Arial" panose="020B0604020202020204" pitchFamily="34" charset="0"/>
            </a:endParaRPr>
          </a:p>
          <a:p>
            <a:pPr>
              <a:spcBef>
                <a:spcPct val="20000"/>
              </a:spcBef>
            </a:pPr>
            <a:r>
              <a:rPr lang="zh-CN" altLang="en-US" b="1">
                <a:solidFill>
                  <a:schemeClr val="tx2"/>
                </a:solidFill>
                <a:latin typeface="Arial" panose="020B0604020202020204" pitchFamily="34" charset="0"/>
              </a:rPr>
              <a:t>    （</a:t>
            </a:r>
            <a:r>
              <a:rPr lang="en-US" altLang="zh-CN" b="1">
                <a:solidFill>
                  <a:schemeClr val="tx2"/>
                </a:solidFill>
                <a:latin typeface="Arial" panose="020B0604020202020204" pitchFamily="34" charset="0"/>
              </a:rPr>
              <a:t>3</a:t>
            </a:r>
            <a:r>
              <a:rPr lang="zh-CN" altLang="en-US" b="1">
                <a:solidFill>
                  <a:schemeClr val="tx2"/>
                </a:solidFill>
                <a:latin typeface="Arial" panose="020B0604020202020204" pitchFamily="34" charset="0"/>
              </a:rPr>
              <a:t>）隔离性。（</a:t>
            </a:r>
            <a:r>
              <a:rPr lang="en-US" altLang="zh-CN" b="1">
                <a:solidFill>
                  <a:schemeClr val="tx2"/>
                </a:solidFill>
                <a:latin typeface="Arial" panose="020B0604020202020204" pitchFamily="34" charset="0"/>
              </a:rPr>
              <a:t>4</a:t>
            </a:r>
            <a:r>
              <a:rPr lang="zh-CN" altLang="en-US" b="1">
                <a:solidFill>
                  <a:schemeClr val="tx2"/>
                </a:solidFill>
                <a:latin typeface="Arial" panose="020B0604020202020204" pitchFamily="34" charset="0"/>
              </a:rPr>
              <a:t>）持久性。</a:t>
            </a:r>
            <a:endParaRPr lang="en-US" altLang="zh-CN" b="1">
              <a:solidFill>
                <a:schemeClr val="tx2"/>
              </a:solidFill>
              <a:latin typeface="Arial" panose="020B0604020202020204" pitchFamily="34" charset="0"/>
            </a:endParaRPr>
          </a:p>
        </p:txBody>
      </p:sp>
      <p:sp>
        <p:nvSpPr>
          <p:cNvPr id="30723" name="内容占位符 13"/>
          <p:cNvSpPr>
            <a:spLocks noChangeArrowheads="1"/>
          </p:cNvSpPr>
          <p:nvPr/>
        </p:nvSpPr>
        <p:spPr bwMode="auto">
          <a:xfrm>
            <a:off x="1162050" y="1268413"/>
            <a:ext cx="4392613" cy="576262"/>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r>
              <a:rPr lang="en-US" altLang="zh-CN" b="1">
                <a:solidFill>
                  <a:srgbClr val="CC0000"/>
                </a:solidFill>
                <a:latin typeface="宋体" panose="02010600030101010101" pitchFamily="2" charset="-122"/>
              </a:rPr>
              <a:t>2.</a:t>
            </a:r>
            <a:r>
              <a:rPr lang="zh-CN" altLang="en-US" b="1">
                <a:solidFill>
                  <a:srgbClr val="CC0000"/>
                </a:solidFill>
                <a:latin typeface="宋体" panose="02010600030101010101" pitchFamily="2" charset="-122"/>
              </a:rPr>
              <a:t>并发控制及事务</a:t>
            </a:r>
            <a:endParaRPr lang="en-US" altLang="zh-CN" b="1">
              <a:solidFill>
                <a:srgbClr val="CC0000"/>
              </a:solidFill>
              <a:latin typeface="宋体" panose="02010600030101010101" pitchFamily="2" charset="-122"/>
            </a:endParaRPr>
          </a:p>
        </p:txBody>
      </p:sp>
      <p:pic>
        <p:nvPicPr>
          <p:cNvPr id="30724" name="Picture 8" descr="MC900429293[1]"/>
          <p:cNvPicPr>
            <a:picLocks noChangeAspect="1" noChangeArrowheads="1"/>
          </p:cNvPicPr>
          <p:nvPr/>
        </p:nvPicPr>
        <p:blipFill>
          <a:blip r:embed="rId1" cstate="print"/>
          <a:srcRect/>
          <a:stretch>
            <a:fillRect/>
          </a:stretch>
        </p:blipFill>
        <p:spPr bwMode="auto">
          <a:xfrm>
            <a:off x="5992813" y="4184650"/>
            <a:ext cx="1439862" cy="1284288"/>
          </a:xfrm>
          <a:prstGeom prst="rect">
            <a:avLst/>
          </a:prstGeom>
          <a:noFill/>
          <a:ln w="9525">
            <a:noFill/>
            <a:miter lim="800000"/>
            <a:headEnd/>
            <a:tailEnd/>
          </a:ln>
        </p:spPr>
      </p:pic>
      <p:sp>
        <p:nvSpPr>
          <p:cNvPr id="30725" name="Rectangle 2"/>
          <p:cNvSpPr txBox="1">
            <a:spLocks noChangeArrowheads="1"/>
          </p:cNvSpPr>
          <p:nvPr/>
        </p:nvSpPr>
        <p:spPr bwMode="auto">
          <a:xfrm>
            <a:off x="1787525" y="231775"/>
            <a:ext cx="6561138" cy="563563"/>
          </a:xfrm>
          <a:prstGeom prst="rect">
            <a:avLst/>
          </a:prstGeom>
          <a:noFill/>
          <a:ln w="9525">
            <a:noFill/>
            <a:miter lim="800000"/>
          </a:ln>
        </p:spPr>
        <p:txBody>
          <a:bodyPr anchor="ctr"/>
          <a:lstStyle/>
          <a:p>
            <a:pPr>
              <a:spcBef>
                <a:spcPct val="20000"/>
              </a:spcBef>
              <a:buFont typeface="Wingdings" panose="05000000000000000000" pitchFamily="2" charset="2"/>
              <a:buNone/>
            </a:pPr>
            <a:r>
              <a:rPr lang="zh-CN" altLang="zh-CN" sz="3200" b="1">
                <a:solidFill>
                  <a:schemeClr val="bg1"/>
                </a:solidFill>
              </a:rPr>
              <a:t>10.3 数据库的安全特性和措施</a:t>
            </a:r>
            <a:endParaRPr lang="zh-CN" altLang="zh-CN" sz="3200" b="1">
              <a:solidFill>
                <a:schemeClr val="bg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内容占位符 13"/>
          <p:cNvSpPr>
            <a:spLocks noGrp="1" noChangeArrowheads="1"/>
          </p:cNvSpPr>
          <p:nvPr>
            <p:ph idx="4294967295"/>
          </p:nvPr>
        </p:nvSpPr>
        <p:spPr>
          <a:xfrm>
            <a:off x="419100" y="1185863"/>
            <a:ext cx="8040688" cy="3322637"/>
          </a:xfrm>
        </p:spPr>
        <p:txBody>
          <a:bodyPr/>
          <a:lstStyle/>
          <a:p>
            <a:pPr eaLnBrk="1" hangingPunct="1">
              <a:buFont typeface="Wingdings" panose="05000000000000000000" pitchFamily="2" charset="2"/>
              <a:buNone/>
            </a:pPr>
            <a:endParaRPr lang="en-US" altLang="zh-CN" sz="1800" smtClean="0">
              <a:solidFill>
                <a:srgbClr val="0000CC"/>
              </a:solidFill>
              <a:latin typeface="Times New Roman" panose="02020603050405020304" pitchFamily="18" charset="0"/>
            </a:endParaRPr>
          </a:p>
          <a:p>
            <a:pPr eaLnBrk="1" hangingPunct="1">
              <a:buFont typeface="Wingdings" panose="05000000000000000000" pitchFamily="2" charset="2"/>
              <a:buNone/>
            </a:pPr>
            <a:r>
              <a:rPr lang="zh-CN" altLang="en-US" sz="1800" smtClean="0">
                <a:solidFill>
                  <a:srgbClr val="0000CC"/>
                </a:solidFill>
                <a:latin typeface="Times New Roman" panose="02020603050405020304" pitchFamily="18" charset="0"/>
              </a:rPr>
              <a:t>  </a:t>
            </a:r>
            <a:endParaRPr lang="en-US" altLang="zh-CN" sz="1800" b="0" smtClean="0">
              <a:solidFill>
                <a:schemeClr val="tx1"/>
              </a:solidFill>
              <a:latin typeface="Times New Roman" panose="02020603050405020304" pitchFamily="18" charset="0"/>
            </a:endParaRPr>
          </a:p>
          <a:p>
            <a:pPr eaLnBrk="1" hangingPunct="1">
              <a:buFont typeface="Wingdings" panose="05000000000000000000" pitchFamily="2" charset="2"/>
              <a:buNone/>
            </a:pPr>
            <a:endParaRPr lang="en-US" altLang="zh-CN" sz="1800" smtClean="0"/>
          </a:p>
        </p:txBody>
      </p:sp>
      <p:sp>
        <p:nvSpPr>
          <p:cNvPr id="19" name="圆角矩形 18"/>
          <p:cNvSpPr/>
          <p:nvPr/>
        </p:nvSpPr>
        <p:spPr bwMode="gray">
          <a:xfrm>
            <a:off x="701675" y="1185863"/>
            <a:ext cx="8210550" cy="5199062"/>
          </a:xfrm>
          <a:prstGeom prst="roundRect">
            <a:avLst/>
          </a:prstGeom>
        </p:spPr>
        <p:style>
          <a:lnRef idx="2">
            <a:schemeClr val="dk1"/>
          </a:lnRef>
          <a:fillRef idx="1">
            <a:schemeClr val="lt1"/>
          </a:fillRef>
          <a:effectRef idx="0">
            <a:schemeClr val="dk1"/>
          </a:effectRef>
          <a:fontRef idx="minor">
            <a:schemeClr val="dk1"/>
          </a:fontRef>
        </p:style>
        <p:txBody>
          <a:bodyPr anchor="ctr"/>
          <a:lstStyle/>
          <a:p>
            <a:r>
              <a:rPr lang="en-US" altLang="zh-CN" b="1">
                <a:solidFill>
                  <a:srgbClr val="CC0000"/>
                </a:solidFill>
                <a:latin typeface="Arial" panose="020B0604020202020204" pitchFamily="34" charset="0"/>
              </a:rPr>
              <a:t>      3.</a:t>
            </a:r>
            <a:r>
              <a:rPr lang="zh-CN" altLang="en-US" b="1">
                <a:solidFill>
                  <a:srgbClr val="CC0000"/>
                </a:solidFill>
                <a:latin typeface="Arial" panose="020B0604020202020204" pitchFamily="34" charset="0"/>
              </a:rPr>
              <a:t>并发控制的具体措施</a:t>
            </a:r>
            <a:endParaRPr lang="zh-CN" altLang="en-US" b="1">
              <a:solidFill>
                <a:srgbClr val="CC0000"/>
              </a:solidFill>
              <a:latin typeface="Arial" panose="020B0604020202020204" pitchFamily="34" charset="0"/>
            </a:endParaRPr>
          </a:p>
          <a:p>
            <a:r>
              <a:rPr lang="zh-CN" altLang="en-US" b="1">
                <a:solidFill>
                  <a:srgbClr val="006600"/>
                </a:solidFill>
                <a:latin typeface="Arial" panose="020B0604020202020204" pitchFamily="34" charset="0"/>
              </a:rPr>
              <a:t>       </a:t>
            </a:r>
            <a:r>
              <a:rPr lang="zh-CN" altLang="en-US" sz="2200" b="1">
                <a:solidFill>
                  <a:srgbClr val="CC0000"/>
                </a:solidFill>
                <a:latin typeface="Arial" panose="020B0604020202020204" pitchFamily="34" charset="0"/>
              </a:rPr>
              <a:t>封锁</a:t>
            </a:r>
            <a:r>
              <a:rPr lang="zh-CN" altLang="en-US" sz="2200" b="1">
                <a:solidFill>
                  <a:srgbClr val="006600"/>
                </a:solidFill>
                <a:latin typeface="Arial" panose="020B0604020202020204" pitchFamily="34" charset="0"/>
              </a:rPr>
              <a:t>有两种：</a:t>
            </a:r>
            <a:r>
              <a:rPr lang="zh-CN" altLang="en-US" sz="2200" b="1" u="sng">
                <a:solidFill>
                  <a:schemeClr val="tx2"/>
                </a:solidFill>
                <a:latin typeface="Arial" panose="020B0604020202020204" pitchFamily="34" charset="0"/>
              </a:rPr>
              <a:t>排它</a:t>
            </a:r>
            <a:r>
              <a:rPr lang="zh-CN" altLang="en-US" sz="2200" b="1" u="sng">
                <a:solidFill>
                  <a:srgbClr val="006600"/>
                </a:solidFill>
                <a:latin typeface="Arial" panose="020B0604020202020204" pitchFamily="34" charset="0"/>
              </a:rPr>
              <a:t>（专用）</a:t>
            </a:r>
            <a:r>
              <a:rPr lang="zh-CN" altLang="en-US" sz="2200" b="1" u="sng">
                <a:solidFill>
                  <a:schemeClr val="tx2"/>
                </a:solidFill>
                <a:latin typeface="Arial" panose="020B0604020202020204" pitchFamily="34" charset="0"/>
              </a:rPr>
              <a:t>封锁</a:t>
            </a:r>
            <a:r>
              <a:rPr lang="zh-CN" altLang="en-US" sz="2200" b="1">
                <a:solidFill>
                  <a:schemeClr val="tx2"/>
                </a:solidFill>
                <a:latin typeface="Arial" panose="020B0604020202020204" pitchFamily="34" charset="0"/>
              </a:rPr>
              <a:t>和</a:t>
            </a:r>
            <a:r>
              <a:rPr lang="zh-CN" altLang="en-US" sz="2200" b="1" u="sng">
                <a:solidFill>
                  <a:schemeClr val="tx2"/>
                </a:solidFill>
                <a:latin typeface="Arial" panose="020B0604020202020204" pitchFamily="34" charset="0"/>
              </a:rPr>
              <a:t>共享封锁</a:t>
            </a:r>
            <a:r>
              <a:rPr lang="en-US" altLang="zh-CN" sz="2200" b="1">
                <a:solidFill>
                  <a:schemeClr val="tx2"/>
                </a:solidFill>
                <a:latin typeface="Arial" panose="020B0604020202020204" pitchFamily="34" charset="0"/>
              </a:rPr>
              <a:t>.</a:t>
            </a:r>
            <a:endParaRPr lang="en-US" altLang="zh-CN" sz="2200" b="1">
              <a:solidFill>
                <a:schemeClr val="tx2"/>
              </a:solidFill>
              <a:latin typeface="Arial" panose="020B0604020202020204" pitchFamily="34" charset="0"/>
            </a:endParaRPr>
          </a:p>
          <a:p>
            <a:pPr>
              <a:spcBef>
                <a:spcPct val="20000"/>
              </a:spcBef>
            </a:pPr>
            <a:r>
              <a:rPr lang="zh-CN" altLang="en-US" sz="2200" b="1">
                <a:solidFill>
                  <a:srgbClr val="CC0000"/>
                </a:solidFill>
                <a:latin typeface="Arial" panose="020B0604020202020204" pitchFamily="34" charset="0"/>
              </a:rPr>
              <a:t>       </a:t>
            </a:r>
            <a:r>
              <a:rPr lang="zh-CN" altLang="en-US" sz="2200" b="1">
                <a:solidFill>
                  <a:schemeClr val="tx1"/>
                </a:solidFill>
                <a:latin typeface="Arial" panose="020B0604020202020204" pitchFamily="34" charset="0"/>
              </a:rPr>
              <a:t>⑴</a:t>
            </a:r>
            <a:r>
              <a:rPr lang="zh-CN" altLang="en-US" sz="2200" b="1">
                <a:solidFill>
                  <a:srgbClr val="CC0000"/>
                </a:solidFill>
                <a:latin typeface="Arial" panose="020B0604020202020204" pitchFamily="34" charset="0"/>
              </a:rPr>
              <a:t>排它封锁</a:t>
            </a:r>
            <a:r>
              <a:rPr lang="zh-CN" altLang="en-US" sz="2200" b="1">
                <a:solidFill>
                  <a:srgbClr val="3333FF"/>
                </a:solidFill>
                <a:latin typeface="Arial" panose="020B0604020202020204" pitchFamily="34" charset="0"/>
              </a:rPr>
              <a:t>禁止</a:t>
            </a:r>
            <a:r>
              <a:rPr lang="zh-CN" altLang="en-US" sz="2200" b="1">
                <a:solidFill>
                  <a:schemeClr val="tx2"/>
                </a:solidFill>
                <a:latin typeface="Arial" panose="020B0604020202020204" pitchFamily="34" charset="0"/>
              </a:rPr>
              <a:t>相关资源的共享，如事务以排它方式</a:t>
            </a:r>
            <a:r>
              <a:rPr lang="zh-CN" altLang="en-US" sz="2200" b="1">
                <a:solidFill>
                  <a:srgbClr val="3333FF"/>
                </a:solidFill>
                <a:latin typeface="Arial" panose="020B0604020202020204" pitchFamily="34" charset="0"/>
              </a:rPr>
              <a:t>封锁</a:t>
            </a:r>
            <a:r>
              <a:rPr lang="zh-CN" altLang="en-US" sz="2200" b="1">
                <a:solidFill>
                  <a:schemeClr val="tx2"/>
                </a:solidFill>
                <a:latin typeface="Arial" panose="020B0604020202020204" pitchFamily="34" charset="0"/>
              </a:rPr>
              <a:t>资源，仅该事务可更改该资源，直至封锁释放。</a:t>
            </a:r>
            <a:endParaRPr lang="zh-CN" altLang="en-US" sz="2200" b="1">
              <a:solidFill>
                <a:schemeClr val="tx2"/>
              </a:solidFill>
              <a:latin typeface="Arial" panose="020B0604020202020204" pitchFamily="34" charset="0"/>
            </a:endParaRPr>
          </a:p>
          <a:p>
            <a:pPr>
              <a:spcBef>
                <a:spcPct val="20000"/>
              </a:spcBef>
            </a:pPr>
            <a:r>
              <a:rPr lang="zh-CN" altLang="en-US" sz="2200" b="1">
                <a:solidFill>
                  <a:srgbClr val="CC0000"/>
                </a:solidFill>
                <a:latin typeface="Arial" panose="020B0604020202020204" pitchFamily="34" charset="0"/>
              </a:rPr>
              <a:t>       </a:t>
            </a:r>
            <a:r>
              <a:rPr lang="zh-CN" altLang="en-US" sz="2200" b="1">
                <a:solidFill>
                  <a:schemeClr val="tx1"/>
                </a:solidFill>
                <a:latin typeface="Arial" panose="020B0604020202020204" pitchFamily="34" charset="0"/>
              </a:rPr>
              <a:t>⑵</a:t>
            </a:r>
            <a:r>
              <a:rPr lang="zh-CN" altLang="en-US" sz="2200" b="1">
                <a:solidFill>
                  <a:srgbClr val="CC0000"/>
                </a:solidFill>
                <a:latin typeface="Arial" panose="020B0604020202020204" pitchFamily="34" charset="0"/>
              </a:rPr>
              <a:t>共享封锁</a:t>
            </a:r>
            <a:r>
              <a:rPr lang="zh-CN" altLang="en-US" sz="2200" b="1">
                <a:solidFill>
                  <a:srgbClr val="3333FF"/>
                </a:solidFill>
                <a:latin typeface="Arial" panose="020B0604020202020204" pitchFamily="34" charset="0"/>
              </a:rPr>
              <a:t>允许</a:t>
            </a:r>
            <a:r>
              <a:rPr lang="zh-CN" altLang="en-US" sz="2200" b="1">
                <a:solidFill>
                  <a:schemeClr val="tx2"/>
                </a:solidFill>
                <a:latin typeface="Arial" panose="020B0604020202020204" pitchFamily="34" charset="0"/>
              </a:rPr>
              <a:t>相关资源共享，多用户可</a:t>
            </a:r>
            <a:r>
              <a:rPr lang="zh-CN" altLang="en-US" sz="2200" b="1">
                <a:solidFill>
                  <a:srgbClr val="3333FF"/>
                </a:solidFill>
                <a:latin typeface="Arial" panose="020B0604020202020204" pitchFamily="34" charset="0"/>
              </a:rPr>
              <a:t>同时读</a:t>
            </a:r>
            <a:r>
              <a:rPr lang="zh-CN" altLang="en-US" sz="2200" b="1">
                <a:solidFill>
                  <a:schemeClr val="tx2"/>
                </a:solidFill>
                <a:latin typeface="Arial" panose="020B0604020202020204" pitchFamily="34" charset="0"/>
              </a:rPr>
              <a:t>同一数据，几个事务可在同一资源上</a:t>
            </a:r>
            <a:r>
              <a:rPr lang="zh-CN" altLang="en-US" sz="2200" b="1">
                <a:solidFill>
                  <a:srgbClr val="3333FF"/>
                </a:solidFill>
                <a:latin typeface="Arial" panose="020B0604020202020204" pitchFamily="34" charset="0"/>
              </a:rPr>
              <a:t>获取</a:t>
            </a:r>
            <a:r>
              <a:rPr lang="zh-CN" altLang="en-US" sz="2200" b="1">
                <a:solidFill>
                  <a:schemeClr val="tx2"/>
                </a:solidFill>
                <a:latin typeface="Arial" panose="020B0604020202020204" pitchFamily="34" charset="0"/>
              </a:rPr>
              <a:t>共享封锁。共享封锁比排它封锁具有更高的数据并行性。</a:t>
            </a:r>
            <a:endParaRPr lang="zh-CN" altLang="en-US" sz="2200" b="1">
              <a:solidFill>
                <a:schemeClr val="tx2"/>
              </a:solidFill>
              <a:latin typeface="Arial" panose="020B0604020202020204" pitchFamily="34" charset="0"/>
            </a:endParaRPr>
          </a:p>
          <a:p>
            <a:pPr>
              <a:spcBef>
                <a:spcPct val="20000"/>
              </a:spcBef>
            </a:pPr>
            <a:r>
              <a:rPr lang="zh-CN" altLang="en-US" sz="2200" b="1">
                <a:solidFill>
                  <a:schemeClr val="tx2"/>
                </a:solidFill>
                <a:latin typeface="Arial" panose="020B0604020202020204" pitchFamily="34" charset="0"/>
              </a:rPr>
              <a:t>       </a:t>
            </a:r>
            <a:r>
              <a:rPr lang="zh-CN" altLang="en-US" sz="2200" b="1">
                <a:solidFill>
                  <a:srgbClr val="CC0000"/>
                </a:solidFill>
                <a:latin typeface="Arial" panose="020B0604020202020204" pitchFamily="34" charset="0"/>
              </a:rPr>
              <a:t>封锁</a:t>
            </a:r>
            <a:r>
              <a:rPr lang="zh-CN" altLang="en-US" sz="2200" b="1">
                <a:solidFill>
                  <a:srgbClr val="3333FF"/>
                </a:solidFill>
                <a:latin typeface="Arial" panose="020B0604020202020204" pitchFamily="34" charset="0"/>
              </a:rPr>
              <a:t>按照</a:t>
            </a:r>
            <a:r>
              <a:rPr lang="zh-CN" altLang="en-US" sz="2200" b="1">
                <a:solidFill>
                  <a:srgbClr val="006600"/>
                </a:solidFill>
                <a:latin typeface="Arial" panose="020B0604020202020204" pitchFamily="34" charset="0"/>
              </a:rPr>
              <a:t>对象</a:t>
            </a:r>
            <a:r>
              <a:rPr lang="zh-CN" altLang="en-US" sz="2200" b="1">
                <a:solidFill>
                  <a:schemeClr val="tx2"/>
                </a:solidFill>
                <a:latin typeface="Arial" panose="020B0604020202020204" pitchFamily="34" charset="0"/>
              </a:rPr>
              <a:t>不同</a:t>
            </a:r>
            <a:r>
              <a:rPr lang="zh-CN" altLang="en-US" sz="2200" b="1">
                <a:solidFill>
                  <a:srgbClr val="CC0099"/>
                </a:solidFill>
                <a:latin typeface="Arial" panose="020B0604020202020204" pitchFamily="34" charset="0"/>
              </a:rPr>
              <a:t>也可分为</a:t>
            </a:r>
            <a:r>
              <a:rPr lang="zh-CN" altLang="en-US" sz="2200" b="1">
                <a:solidFill>
                  <a:srgbClr val="800000"/>
                </a:solidFill>
                <a:latin typeface="Arial" panose="020B0604020202020204" pitchFamily="34" charset="0"/>
              </a:rPr>
              <a:t>数据封锁</a:t>
            </a:r>
            <a:r>
              <a:rPr lang="zh-CN" altLang="en-US" sz="2200" b="1">
                <a:solidFill>
                  <a:schemeClr val="tx2"/>
                </a:solidFill>
                <a:latin typeface="Arial" panose="020B0604020202020204" pitchFamily="34" charset="0"/>
              </a:rPr>
              <a:t>和</a:t>
            </a:r>
            <a:r>
              <a:rPr lang="en-US" altLang="zh-CN" sz="2200" b="1">
                <a:solidFill>
                  <a:srgbClr val="800000"/>
                </a:solidFill>
                <a:latin typeface="Arial" panose="020B0604020202020204" pitchFamily="34" charset="0"/>
              </a:rPr>
              <a:t>DDL</a:t>
            </a:r>
            <a:r>
              <a:rPr lang="zh-CN" altLang="en-US" sz="2200" b="1">
                <a:solidFill>
                  <a:srgbClr val="800000"/>
                </a:solidFill>
                <a:latin typeface="Arial" panose="020B0604020202020204" pitchFamily="34" charset="0"/>
              </a:rPr>
              <a:t>封锁</a:t>
            </a:r>
            <a:r>
              <a:rPr lang="zh-CN" altLang="en-US" sz="2200" b="1">
                <a:solidFill>
                  <a:srgbClr val="CC0099"/>
                </a:solidFill>
                <a:latin typeface="Arial" panose="020B0604020202020204" pitchFamily="34" charset="0"/>
              </a:rPr>
              <a:t>两类</a:t>
            </a:r>
            <a:r>
              <a:rPr lang="en-US" altLang="zh-CN" sz="2200" b="1">
                <a:solidFill>
                  <a:schemeClr val="tx2"/>
                </a:solidFill>
                <a:latin typeface="Arial" panose="020B0604020202020204" pitchFamily="34" charset="0"/>
              </a:rPr>
              <a:t>.</a:t>
            </a:r>
            <a:r>
              <a:rPr lang="zh-CN" altLang="en-US" sz="2200" b="1">
                <a:solidFill>
                  <a:srgbClr val="800000"/>
                </a:solidFill>
                <a:latin typeface="Arial" panose="020B0604020202020204" pitchFamily="34" charset="0"/>
              </a:rPr>
              <a:t>数据封锁</a:t>
            </a:r>
            <a:r>
              <a:rPr lang="zh-CN" altLang="en-US" sz="2200" b="1">
                <a:solidFill>
                  <a:schemeClr val="tx2"/>
                </a:solidFill>
                <a:latin typeface="Arial" panose="020B0604020202020204" pitchFamily="34" charset="0"/>
              </a:rPr>
              <a:t>保护表数据</a:t>
            </a:r>
            <a:r>
              <a:rPr lang="en-US" altLang="zh-CN" sz="2200" b="1">
                <a:solidFill>
                  <a:schemeClr val="tx2"/>
                </a:solidFill>
                <a:latin typeface="Arial" panose="020B0604020202020204" pitchFamily="34" charset="0"/>
              </a:rPr>
              <a:t>,</a:t>
            </a:r>
            <a:r>
              <a:rPr lang="zh-CN" altLang="en-US" sz="2200" b="1">
                <a:solidFill>
                  <a:schemeClr val="tx2"/>
                </a:solidFill>
                <a:latin typeface="Arial" panose="020B0604020202020204" pitchFamily="34" charset="0"/>
              </a:rPr>
              <a:t>当多用户并行存取数据时保证数据的完整性。</a:t>
            </a:r>
            <a:r>
              <a:rPr lang="en-US" altLang="zh-CN" sz="2200" b="1">
                <a:solidFill>
                  <a:srgbClr val="800000"/>
                </a:solidFill>
                <a:latin typeface="Arial" panose="020B0604020202020204" pitchFamily="34" charset="0"/>
              </a:rPr>
              <a:t>DDL</a:t>
            </a:r>
            <a:r>
              <a:rPr lang="zh-CN" altLang="en-US" sz="2200" b="1">
                <a:solidFill>
                  <a:srgbClr val="800000"/>
                </a:solidFill>
                <a:latin typeface="Arial" panose="020B0604020202020204" pitchFamily="34" charset="0"/>
              </a:rPr>
              <a:t>封锁</a:t>
            </a:r>
            <a:r>
              <a:rPr lang="zh-CN" altLang="en-US" sz="2200" b="1">
                <a:solidFill>
                  <a:schemeClr val="tx2"/>
                </a:solidFill>
                <a:latin typeface="Arial" panose="020B0604020202020204" pitchFamily="34" charset="0"/>
              </a:rPr>
              <a:t>保护模式对象</a:t>
            </a:r>
            <a:r>
              <a:rPr lang="en-US" altLang="zh-CN" sz="2200" b="1">
                <a:solidFill>
                  <a:schemeClr val="tx2"/>
                </a:solidFill>
                <a:latin typeface="Arial" panose="020B0604020202020204" pitchFamily="34" charset="0"/>
              </a:rPr>
              <a:t>(</a:t>
            </a:r>
            <a:r>
              <a:rPr lang="zh-CN" altLang="en-US" sz="2200" b="1">
                <a:solidFill>
                  <a:schemeClr val="tx2"/>
                </a:solidFill>
                <a:latin typeface="Arial" panose="020B0604020202020204" pitchFamily="34" charset="0"/>
              </a:rPr>
              <a:t>如表</a:t>
            </a:r>
            <a:r>
              <a:rPr lang="en-US" altLang="zh-CN" sz="2200" b="1">
                <a:solidFill>
                  <a:schemeClr val="tx2"/>
                </a:solidFill>
                <a:latin typeface="Arial" panose="020B0604020202020204" pitchFamily="34" charset="0"/>
              </a:rPr>
              <a:t>)</a:t>
            </a:r>
            <a:r>
              <a:rPr lang="zh-CN" altLang="en-US" sz="2200" b="1">
                <a:solidFill>
                  <a:schemeClr val="tx2"/>
                </a:solidFill>
                <a:latin typeface="Arial" panose="020B0604020202020204" pitchFamily="34" charset="0"/>
              </a:rPr>
              <a:t>的定义。</a:t>
            </a:r>
            <a:endParaRPr lang="en-US" altLang="zh-CN" sz="2200" b="1">
              <a:solidFill>
                <a:schemeClr val="tx2"/>
              </a:solidFill>
              <a:latin typeface="Arial" panose="020B0604020202020204" pitchFamily="34" charset="0"/>
            </a:endParaRPr>
          </a:p>
          <a:p>
            <a:pPr>
              <a:spcBef>
                <a:spcPct val="20000"/>
              </a:spcBef>
            </a:pPr>
            <a:r>
              <a:rPr lang="en-US" altLang="zh-CN" b="1">
                <a:solidFill>
                  <a:srgbClr val="CC0000"/>
                </a:solidFill>
                <a:latin typeface="Arial" panose="020B0604020202020204" pitchFamily="34" charset="0"/>
              </a:rPr>
              <a:t>      4.</a:t>
            </a:r>
            <a:r>
              <a:rPr lang="zh-CN" altLang="en-US" b="1">
                <a:solidFill>
                  <a:srgbClr val="CC0000"/>
                </a:solidFill>
                <a:latin typeface="Arial" panose="020B0604020202020204" pitchFamily="34" charset="0"/>
              </a:rPr>
              <a:t>故障恢复</a:t>
            </a:r>
            <a:endParaRPr lang="zh-CN" altLang="en-US" b="1">
              <a:solidFill>
                <a:srgbClr val="CC0000"/>
              </a:solidFill>
              <a:latin typeface="Arial" panose="020B0604020202020204" pitchFamily="34" charset="0"/>
            </a:endParaRPr>
          </a:p>
          <a:p>
            <a:pPr>
              <a:spcBef>
                <a:spcPct val="20000"/>
              </a:spcBef>
            </a:pPr>
            <a:r>
              <a:rPr lang="zh-CN" altLang="en-US" sz="2200" b="1">
                <a:solidFill>
                  <a:schemeClr val="tx2"/>
                </a:solidFill>
                <a:latin typeface="Arial" panose="020B0604020202020204" pitchFamily="34" charset="0"/>
              </a:rPr>
              <a:t>       由</a:t>
            </a:r>
            <a:r>
              <a:rPr lang="en-US" altLang="zh-CN" sz="2200" b="1">
                <a:solidFill>
                  <a:schemeClr val="tx2"/>
                </a:solidFill>
                <a:latin typeface="Arial" panose="020B0604020202020204" pitchFamily="34" charset="0"/>
              </a:rPr>
              <a:t>DBMS</a:t>
            </a:r>
            <a:r>
              <a:rPr lang="zh-CN" altLang="en-US" sz="2200" b="1">
                <a:solidFill>
                  <a:schemeClr val="tx2"/>
                </a:solidFill>
                <a:latin typeface="Arial" panose="020B0604020202020204" pitchFamily="34" charset="0"/>
              </a:rPr>
              <a:t>提供的机制和方法，可及时发现故障和修复故障，从而防止数据被破坏。</a:t>
            </a:r>
            <a:r>
              <a:rPr lang="zh-CN" altLang="en-US" sz="2200" b="1">
                <a:solidFill>
                  <a:schemeClr val="tx2"/>
                </a:solidFill>
                <a:latin typeface="Arial" panose="020B0604020202020204" pitchFamily="34" charset="0"/>
                <a:hlinkClick r:id="rId1"/>
              </a:rPr>
              <a:t>数据库系统</a:t>
            </a:r>
            <a:r>
              <a:rPr lang="zh-CN" altLang="en-US" sz="2200" b="1">
                <a:solidFill>
                  <a:schemeClr val="tx2"/>
                </a:solidFill>
                <a:latin typeface="Arial" panose="020B0604020202020204" pitchFamily="34" charset="0"/>
              </a:rPr>
              <a:t>可以尽快恢复数据库系统运行时出现的故障。 </a:t>
            </a:r>
            <a:endParaRPr lang="en-US" altLang="zh-CN" sz="2200" b="1">
              <a:solidFill>
                <a:schemeClr val="tx2"/>
              </a:solidFill>
              <a:latin typeface="Arial" panose="020B0604020202020204" pitchFamily="34" charset="0"/>
            </a:endParaRPr>
          </a:p>
        </p:txBody>
      </p:sp>
      <p:sp>
        <p:nvSpPr>
          <p:cNvPr id="31747" name="Rectangle 2"/>
          <p:cNvSpPr txBox="1">
            <a:spLocks noChangeArrowheads="1"/>
          </p:cNvSpPr>
          <p:nvPr/>
        </p:nvSpPr>
        <p:spPr bwMode="auto">
          <a:xfrm>
            <a:off x="1787525" y="231775"/>
            <a:ext cx="6561138" cy="563563"/>
          </a:xfrm>
          <a:prstGeom prst="rect">
            <a:avLst/>
          </a:prstGeom>
          <a:noFill/>
          <a:ln w="9525">
            <a:noFill/>
            <a:miter lim="800000"/>
          </a:ln>
        </p:spPr>
        <p:txBody>
          <a:bodyPr anchor="ctr"/>
          <a:lstStyle/>
          <a:p>
            <a:pPr>
              <a:spcBef>
                <a:spcPct val="20000"/>
              </a:spcBef>
              <a:buFont typeface="Wingdings" panose="05000000000000000000" pitchFamily="2" charset="2"/>
              <a:buNone/>
            </a:pPr>
            <a:r>
              <a:rPr lang="zh-CN" altLang="zh-CN" sz="3200" b="1">
                <a:solidFill>
                  <a:schemeClr val="bg1"/>
                </a:solidFill>
              </a:rPr>
              <a:t>10.3 数据库的安全特性和措施</a:t>
            </a:r>
            <a:endParaRPr lang="zh-CN" altLang="zh-CN" sz="3200" b="1">
              <a:solidFill>
                <a:schemeClr val="bg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gray">
          <a:xfrm>
            <a:off x="395288" y="1808163"/>
            <a:ext cx="8280400" cy="4418012"/>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spcBef>
                <a:spcPct val="20000"/>
              </a:spcBef>
            </a:pPr>
            <a:r>
              <a:rPr lang="zh-CN" altLang="en-US" sz="2000" b="1">
                <a:solidFill>
                  <a:schemeClr val="tx1"/>
                </a:solidFill>
                <a:latin typeface="Arial" panose="020B0604020202020204" pitchFamily="34" charset="0"/>
              </a:rPr>
              <a:t>         </a:t>
            </a:r>
            <a:r>
              <a:rPr lang="zh-CN" sz="2200" b="1">
                <a:solidFill>
                  <a:srgbClr val="FF0000"/>
                </a:solidFill>
                <a:latin typeface="Arial" panose="020B0604020202020204" pitchFamily="34" charset="0"/>
              </a:rPr>
              <a:t>数据库的安全策略</a:t>
            </a:r>
            <a:r>
              <a:rPr lang="zh-CN" altLang="en-US" sz="2200" b="1">
                <a:solidFill>
                  <a:schemeClr val="tx2"/>
                </a:solidFill>
                <a:latin typeface="Arial" panose="020B0604020202020204" pitchFamily="34" charset="0"/>
              </a:rPr>
              <a:t>是指导信息安全的高级准则，即组织、管理、保护和处理敏感信息的法律、规章及方法的集合。包括安全管理策略和访问控制策略。</a:t>
            </a:r>
            <a:r>
              <a:rPr lang="zh-CN" altLang="en-US" sz="2200" b="1">
                <a:solidFill>
                  <a:srgbClr val="CC0000"/>
                </a:solidFill>
                <a:latin typeface="Arial" panose="020B0604020202020204" pitchFamily="34" charset="0"/>
              </a:rPr>
              <a:t>主要包括</a:t>
            </a:r>
            <a:r>
              <a:rPr lang="en-US" altLang="zh-CN" sz="2200" b="1">
                <a:solidFill>
                  <a:srgbClr val="CC0000"/>
                </a:solidFill>
                <a:latin typeface="Arial" panose="020B0604020202020204" pitchFamily="34" charset="0"/>
              </a:rPr>
              <a:t>3</a:t>
            </a:r>
            <a:r>
              <a:rPr lang="zh-CN" altLang="en-US" sz="2200" b="1">
                <a:solidFill>
                  <a:srgbClr val="CC0000"/>
                </a:solidFill>
                <a:latin typeface="Arial" panose="020B0604020202020204" pitchFamily="34" charset="0"/>
              </a:rPr>
              <a:t>个方面</a:t>
            </a:r>
            <a:r>
              <a:rPr lang="zh-CN" altLang="en-US" sz="2200" b="1">
                <a:solidFill>
                  <a:schemeClr val="tx1"/>
                </a:solidFill>
                <a:latin typeface="Arial" panose="020B0604020202020204" pitchFamily="34" charset="0"/>
              </a:rPr>
              <a:t>：</a:t>
            </a:r>
            <a:endParaRPr lang="zh-CN" altLang="en-US" sz="2200" b="1">
              <a:solidFill>
                <a:schemeClr val="tx1"/>
              </a:solidFill>
              <a:latin typeface="Arial" panose="020B0604020202020204" pitchFamily="34" charset="0"/>
            </a:endParaRPr>
          </a:p>
          <a:p>
            <a:pPr>
              <a:spcBef>
                <a:spcPct val="20000"/>
              </a:spcBef>
            </a:pPr>
            <a:r>
              <a:rPr lang="zh-CN" altLang="en-US" sz="2200" b="1">
                <a:solidFill>
                  <a:schemeClr val="tx2"/>
                </a:solidFill>
                <a:latin typeface="Arial" panose="020B0604020202020204" pitchFamily="34" charset="0"/>
              </a:rPr>
              <a:t>       ①管理规章制度方面的安全性。</a:t>
            </a:r>
            <a:r>
              <a:rPr lang="en-US" altLang="zh-CN" sz="2200" b="1">
                <a:solidFill>
                  <a:schemeClr val="tx2"/>
                </a:solidFill>
                <a:latin typeface="Arial" panose="020B0604020202020204" pitchFamily="34" charset="0"/>
              </a:rPr>
              <a:t>SQL Server</a:t>
            </a:r>
            <a:r>
              <a:rPr lang="zh-CN" altLang="en-US" sz="2200" b="1">
                <a:solidFill>
                  <a:schemeClr val="tx2"/>
                </a:solidFill>
                <a:latin typeface="Arial" panose="020B0604020202020204" pitchFamily="34" charset="0"/>
              </a:rPr>
              <a:t>系统在使用中涉及企事业机构的各类操作人员，为了确保系统的安全，应着手制定严格的规章制度和对</a:t>
            </a:r>
            <a:r>
              <a:rPr lang="en-US" altLang="zh-CN" sz="2200" b="1">
                <a:solidFill>
                  <a:schemeClr val="tx2"/>
                </a:solidFill>
                <a:latin typeface="Arial" panose="020B0604020202020204" pitchFamily="34" charset="0"/>
              </a:rPr>
              <a:t>DBA</a:t>
            </a:r>
            <a:r>
              <a:rPr lang="zh-CN" altLang="en-US" sz="2200" b="1">
                <a:solidFill>
                  <a:schemeClr val="tx2"/>
                </a:solidFill>
                <a:latin typeface="Arial" panose="020B0604020202020204" pitchFamily="34" charset="0"/>
              </a:rPr>
              <a:t>的要求，以及在使用业务信息系统时的标准操作流程等。 </a:t>
            </a:r>
            <a:endParaRPr lang="zh-CN" altLang="en-US" sz="2200" b="1">
              <a:solidFill>
                <a:schemeClr val="tx2"/>
              </a:solidFill>
              <a:latin typeface="Arial" panose="020B0604020202020204" pitchFamily="34" charset="0"/>
            </a:endParaRPr>
          </a:p>
          <a:p>
            <a:pPr>
              <a:spcBef>
                <a:spcPct val="20000"/>
              </a:spcBef>
            </a:pPr>
            <a:r>
              <a:rPr lang="zh-CN" altLang="en-US" sz="2200" b="1">
                <a:solidFill>
                  <a:schemeClr val="tx2"/>
                </a:solidFill>
                <a:latin typeface="Arial" panose="020B0604020202020204" pitchFamily="34" charset="0"/>
              </a:rPr>
              <a:t>        ②数据库服务器物理方面的安全性</a:t>
            </a:r>
            <a:r>
              <a:rPr lang="en-US" altLang="zh-CN" sz="2200" b="1">
                <a:solidFill>
                  <a:schemeClr val="tx2"/>
                </a:solidFill>
                <a:latin typeface="Arial" panose="020B0604020202020204" pitchFamily="34" charset="0"/>
              </a:rPr>
              <a:t>.</a:t>
            </a:r>
            <a:r>
              <a:rPr lang="zh-CN" altLang="en-US" sz="2200" b="1">
                <a:solidFill>
                  <a:schemeClr val="tx2"/>
                </a:solidFill>
                <a:latin typeface="Arial" panose="020B0604020202020204" pitchFamily="34" charset="0"/>
              </a:rPr>
              <a:t>为了实现数据库服务器物理方面的安全，应该做好数据库服务器置于安全房间、相关计算机置于安全场所、数据库服务器不与</a:t>
            </a:r>
            <a:r>
              <a:rPr lang="en-US" altLang="zh-CN" sz="2200" b="1">
                <a:solidFill>
                  <a:schemeClr val="tx2"/>
                </a:solidFill>
                <a:latin typeface="Arial" panose="020B0604020202020204" pitchFamily="34" charset="0"/>
              </a:rPr>
              <a:t>Internet</a:t>
            </a:r>
            <a:r>
              <a:rPr lang="zh-CN" altLang="en-US" sz="2200" b="1">
                <a:solidFill>
                  <a:schemeClr val="tx2"/>
                </a:solidFill>
                <a:latin typeface="Arial" panose="020B0604020202020204" pitchFamily="34" charset="0"/>
              </a:rPr>
              <a:t>直接连接、使用防火墙、定期备份数据库中的数据、使用磁盘冗余阵列等。</a:t>
            </a:r>
            <a:endParaRPr lang="zh-CN" altLang="en-US" sz="2200" b="1">
              <a:solidFill>
                <a:schemeClr val="tx2"/>
              </a:solidFill>
              <a:latin typeface="Arial" panose="020B0604020202020204" pitchFamily="34" charset="0"/>
            </a:endParaRPr>
          </a:p>
          <a:p>
            <a:pPr>
              <a:spcBef>
                <a:spcPct val="20000"/>
              </a:spcBef>
            </a:pPr>
            <a:r>
              <a:rPr lang="zh-CN" altLang="en-US" sz="2200" b="1">
                <a:solidFill>
                  <a:schemeClr val="tx2"/>
                </a:solidFill>
                <a:latin typeface="Arial" panose="020B0604020202020204" pitchFamily="34" charset="0"/>
              </a:rPr>
              <a:t>        ③数据库服务器逻辑方面的安全性。</a:t>
            </a:r>
            <a:r>
              <a:rPr lang="zh-CN" altLang="en-US">
                <a:solidFill>
                  <a:schemeClr val="tx1"/>
                </a:solidFill>
                <a:latin typeface="Arial" panose="020B0604020202020204" pitchFamily="34" charset="0"/>
              </a:rPr>
              <a:t> </a:t>
            </a:r>
            <a:endParaRPr lang="en-US" altLang="zh-CN">
              <a:solidFill>
                <a:schemeClr val="tx1"/>
              </a:solidFill>
              <a:latin typeface="Arial" panose="020B0604020202020204" pitchFamily="34" charset="0"/>
            </a:endParaRPr>
          </a:p>
        </p:txBody>
      </p:sp>
      <p:sp>
        <p:nvSpPr>
          <p:cNvPr id="32770" name="内容占位符 13"/>
          <p:cNvSpPr>
            <a:spLocks noChangeArrowheads="1"/>
          </p:cNvSpPr>
          <p:nvPr/>
        </p:nvSpPr>
        <p:spPr bwMode="auto">
          <a:xfrm>
            <a:off x="431800" y="1196975"/>
            <a:ext cx="8116888" cy="53975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Char char="n"/>
            </a:pPr>
            <a:r>
              <a:rPr lang="zh-CN" altLang="zh-CN" b="1">
                <a:solidFill>
                  <a:srgbClr val="CC0000"/>
                </a:solidFill>
                <a:latin typeface="宋体" panose="02010600030101010101" pitchFamily="2" charset="-122"/>
              </a:rPr>
              <a:t>10.4.1 数据库的安全策略</a:t>
            </a:r>
            <a:endParaRPr lang="zh-CN" altLang="zh-CN" b="1">
              <a:solidFill>
                <a:srgbClr val="CC0000"/>
              </a:solidFill>
              <a:latin typeface="宋体" panose="02010600030101010101" pitchFamily="2" charset="-122"/>
            </a:endParaRPr>
          </a:p>
        </p:txBody>
      </p:sp>
      <p:sp>
        <p:nvSpPr>
          <p:cNvPr id="32771" name="Rectangle 2"/>
          <p:cNvSpPr txBox="1">
            <a:spLocks noChangeArrowheads="1"/>
          </p:cNvSpPr>
          <p:nvPr/>
        </p:nvSpPr>
        <p:spPr bwMode="auto">
          <a:xfrm>
            <a:off x="1309688" y="238125"/>
            <a:ext cx="7239000" cy="565150"/>
          </a:xfrm>
          <a:prstGeom prst="rect">
            <a:avLst/>
          </a:prstGeom>
          <a:noFill/>
          <a:ln w="9525">
            <a:noFill/>
            <a:miter lim="800000"/>
          </a:ln>
        </p:spPr>
        <p:txBody>
          <a:bodyPr anchor="ctr"/>
          <a:lstStyle/>
          <a:p>
            <a:pPr>
              <a:spcBef>
                <a:spcPct val="20000"/>
              </a:spcBef>
              <a:buFont typeface="Wingdings" panose="05000000000000000000" pitchFamily="2" charset="2"/>
              <a:buNone/>
            </a:pPr>
            <a:r>
              <a:rPr lang="zh-CN" altLang="zh-CN" sz="3200" b="1">
                <a:solidFill>
                  <a:schemeClr val="bg1"/>
                </a:solidFill>
              </a:rPr>
              <a:t>10.4 数据库的安全策略、管理和机制</a:t>
            </a:r>
            <a:endParaRPr lang="zh-CN" altLang="zh-CN" sz="3200" b="1">
              <a:solidFill>
                <a:schemeClr val="bg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内容占位符 13"/>
          <p:cNvSpPr>
            <a:spLocks noGrp="1" noChangeArrowheads="1"/>
          </p:cNvSpPr>
          <p:nvPr>
            <p:ph idx="4294967295"/>
          </p:nvPr>
        </p:nvSpPr>
        <p:spPr>
          <a:xfrm>
            <a:off x="463550" y="1063625"/>
            <a:ext cx="5548313" cy="396875"/>
          </a:xfrm>
        </p:spPr>
        <p:txBody>
          <a:bodyPr/>
          <a:lstStyle/>
          <a:p>
            <a:pPr eaLnBrk="1" hangingPunct="1">
              <a:buFont typeface="Wingdings" panose="05000000000000000000" pitchFamily="2" charset="2"/>
              <a:buNone/>
            </a:pPr>
            <a:r>
              <a:rPr lang="zh-CN" altLang="zh-CN" sz="2400" smtClean="0">
                <a:solidFill>
                  <a:srgbClr val="FF0000"/>
                </a:solidFill>
              </a:rPr>
              <a:t>10.4.2数据库的安全管理和机制</a:t>
            </a:r>
            <a:endParaRPr lang="zh-CN" altLang="zh-CN" sz="2400" smtClean="0">
              <a:solidFill>
                <a:srgbClr val="FF0000"/>
              </a:solidFill>
            </a:endParaRPr>
          </a:p>
        </p:txBody>
      </p:sp>
      <p:pic>
        <p:nvPicPr>
          <p:cNvPr id="33794" name="Picture 4"/>
          <p:cNvPicPr>
            <a:picLocks noChangeAspect="1" noChangeArrowheads="1"/>
          </p:cNvPicPr>
          <p:nvPr/>
        </p:nvPicPr>
        <p:blipFill>
          <a:blip r:embed="rId1" cstate="print"/>
          <a:srcRect/>
          <a:stretch>
            <a:fillRect/>
          </a:stretch>
        </p:blipFill>
        <p:spPr bwMode="auto">
          <a:xfrm>
            <a:off x="2376488" y="2549525"/>
            <a:ext cx="3994150" cy="1819275"/>
          </a:xfrm>
          <a:prstGeom prst="rect">
            <a:avLst/>
          </a:prstGeom>
          <a:noFill/>
          <a:ln w="9525">
            <a:noFill/>
            <a:miter lim="800000"/>
            <a:headEnd/>
            <a:tailEnd/>
          </a:ln>
        </p:spPr>
      </p:pic>
      <p:sp>
        <p:nvSpPr>
          <p:cNvPr id="33795" name="Rectangle 5"/>
          <p:cNvSpPr>
            <a:spLocks noChangeArrowheads="1"/>
          </p:cNvSpPr>
          <p:nvPr/>
        </p:nvSpPr>
        <p:spPr bwMode="auto">
          <a:xfrm>
            <a:off x="2971800" y="4300538"/>
            <a:ext cx="2835275" cy="304800"/>
          </a:xfrm>
          <a:prstGeom prst="rect">
            <a:avLst/>
          </a:prstGeom>
          <a:noFill/>
          <a:ln w="9525">
            <a:noFill/>
            <a:miter lim="800000"/>
          </a:ln>
        </p:spPr>
        <p:txBody>
          <a:bodyPr>
            <a:spAutoFit/>
          </a:bodyPr>
          <a:lstStyle/>
          <a:p>
            <a:pPr algn="dist">
              <a:spcBef>
                <a:spcPct val="20000"/>
              </a:spcBef>
              <a:buFont typeface="Wingdings" panose="05000000000000000000" pitchFamily="2" charset="2"/>
              <a:buNone/>
            </a:pPr>
            <a:r>
              <a:rPr lang="zh-CN" altLang="en-US" sz="1400" b="1">
                <a:solidFill>
                  <a:srgbClr val="C00000"/>
                </a:solidFill>
              </a:rPr>
              <a:t>图</a:t>
            </a:r>
            <a:r>
              <a:rPr lang="en-US" altLang="zh-CN" sz="1400" b="1">
                <a:solidFill>
                  <a:srgbClr val="C00000"/>
                </a:solidFill>
              </a:rPr>
              <a:t>10-6 </a:t>
            </a:r>
            <a:r>
              <a:rPr lang="zh-CN" altLang="en-US" sz="1400" b="1">
                <a:solidFill>
                  <a:srgbClr val="C00000"/>
                </a:solidFill>
              </a:rPr>
              <a:t>数据库系统的安全机制</a:t>
            </a:r>
            <a:endParaRPr lang="zh-CN" altLang="en-US" sz="1400" b="1">
              <a:solidFill>
                <a:srgbClr val="C00000"/>
              </a:solidFill>
            </a:endParaRPr>
          </a:p>
        </p:txBody>
      </p:sp>
      <p:sp>
        <p:nvSpPr>
          <p:cNvPr id="33796" name="圆角矩形 18"/>
          <p:cNvSpPr>
            <a:spLocks noChangeArrowheads="1"/>
          </p:cNvSpPr>
          <p:nvPr/>
        </p:nvSpPr>
        <p:spPr bwMode="auto">
          <a:xfrm>
            <a:off x="533400" y="1460500"/>
            <a:ext cx="8077200" cy="5113338"/>
          </a:xfrm>
          <a:prstGeom prst="roundRect">
            <a:avLst>
              <a:gd name="adj" fmla="val 16667"/>
            </a:avLst>
          </a:prstGeom>
          <a:noFill/>
          <a:ln w="25400">
            <a:solidFill>
              <a:schemeClr val="tx1"/>
            </a:solidFill>
            <a:round/>
          </a:ln>
        </p:spPr>
        <p:txBody>
          <a:bodyPr anchor="ctr"/>
          <a:lstStyle/>
          <a:p>
            <a:pPr>
              <a:spcBef>
                <a:spcPct val="20000"/>
              </a:spcBef>
              <a:buFont typeface="Wingdings" panose="05000000000000000000" pitchFamily="2" charset="2"/>
              <a:buNone/>
            </a:pPr>
            <a:r>
              <a:rPr lang="en-US" altLang="zh-CN" sz="2200" b="1">
                <a:solidFill>
                  <a:srgbClr val="CC0000"/>
                </a:solidFill>
              </a:rPr>
              <a:t>       </a:t>
            </a:r>
            <a:r>
              <a:rPr lang="zh-CN" altLang="zh-CN" sz="2200" b="1">
                <a:solidFill>
                  <a:srgbClr val="CC0000"/>
                </a:solidFill>
              </a:rPr>
              <a:t>SQL Server具有权限层次安全机制</a:t>
            </a:r>
            <a:r>
              <a:rPr lang="zh-CN" altLang="en-US" sz="2200" b="1">
                <a:solidFill>
                  <a:schemeClr val="tx2"/>
                </a:solidFill>
              </a:rPr>
              <a:t>对数据库系统的安全极为重要，包括：访问控制与身份认证、存取控制、审计、数据加密、视图机制、特殊数据库的安全规则等</a:t>
            </a:r>
            <a:r>
              <a:rPr lang="en-US" altLang="zh-CN" sz="2200" b="1">
                <a:solidFill>
                  <a:schemeClr val="tx2"/>
                </a:solidFill>
              </a:rPr>
              <a:t>,</a:t>
            </a:r>
            <a:r>
              <a:rPr lang="zh-CN" altLang="en-US" sz="2200" b="1">
                <a:solidFill>
                  <a:schemeClr val="tx2"/>
                </a:solidFill>
              </a:rPr>
              <a:t>如图</a:t>
            </a:r>
            <a:r>
              <a:rPr lang="en-US" altLang="zh-CN" sz="2200" b="1">
                <a:solidFill>
                  <a:schemeClr val="tx2"/>
                </a:solidFill>
              </a:rPr>
              <a:t>10-6.</a:t>
            </a:r>
            <a:endParaRPr lang="zh-CN" altLang="en-US" sz="2200" b="1">
              <a:solidFill>
                <a:schemeClr val="tx2"/>
              </a:solidFill>
            </a:endParaRPr>
          </a:p>
          <a:p>
            <a:pPr>
              <a:spcBef>
                <a:spcPct val="20000"/>
              </a:spcBef>
              <a:buFont typeface="Wingdings" panose="05000000000000000000" pitchFamily="2" charset="2"/>
              <a:buNone/>
            </a:pPr>
            <a:endParaRPr lang="zh-CN" altLang="en-US" sz="2200" b="1">
              <a:solidFill>
                <a:schemeClr val="tx2"/>
              </a:solidFill>
            </a:endParaRPr>
          </a:p>
          <a:p>
            <a:pPr>
              <a:spcBef>
                <a:spcPct val="20000"/>
              </a:spcBef>
              <a:buFont typeface="Wingdings" panose="05000000000000000000" pitchFamily="2" charset="2"/>
              <a:buNone/>
            </a:pPr>
            <a:endParaRPr lang="zh-CN" altLang="en-US" sz="2200" b="1">
              <a:solidFill>
                <a:schemeClr val="tx2"/>
              </a:solidFill>
            </a:endParaRPr>
          </a:p>
          <a:p>
            <a:pPr>
              <a:spcBef>
                <a:spcPct val="20000"/>
              </a:spcBef>
              <a:buFont typeface="Wingdings" panose="05000000000000000000" pitchFamily="2" charset="2"/>
              <a:buNone/>
            </a:pPr>
            <a:endParaRPr lang="zh-CN" altLang="en-US" sz="2200" b="1">
              <a:solidFill>
                <a:schemeClr val="tx2"/>
              </a:solidFill>
            </a:endParaRPr>
          </a:p>
          <a:p>
            <a:pPr>
              <a:spcBef>
                <a:spcPct val="20000"/>
              </a:spcBef>
              <a:buFont typeface="Wingdings" panose="05000000000000000000" pitchFamily="2" charset="2"/>
              <a:buNone/>
            </a:pPr>
            <a:endParaRPr lang="zh-CN" altLang="en-US" sz="2200" b="1">
              <a:solidFill>
                <a:schemeClr val="tx2"/>
              </a:solidFill>
            </a:endParaRPr>
          </a:p>
          <a:p>
            <a:pPr>
              <a:spcBef>
                <a:spcPct val="20000"/>
              </a:spcBef>
              <a:buFont typeface="Wingdings" panose="05000000000000000000" pitchFamily="2" charset="2"/>
              <a:buNone/>
            </a:pPr>
            <a:endParaRPr lang="en-US" altLang="zh-CN" sz="2200" b="1">
              <a:solidFill>
                <a:schemeClr val="tx2"/>
              </a:solidFill>
            </a:endParaRPr>
          </a:p>
          <a:p>
            <a:pPr>
              <a:spcBef>
                <a:spcPct val="20000"/>
              </a:spcBef>
              <a:buFont typeface="Wingdings" panose="05000000000000000000" pitchFamily="2" charset="2"/>
              <a:buNone/>
            </a:pPr>
            <a:r>
              <a:rPr lang="en-US" altLang="zh-CN" sz="2200" b="1">
                <a:solidFill>
                  <a:schemeClr val="tx2"/>
                </a:solidFill>
              </a:rPr>
              <a:t>        SQL Server</a:t>
            </a:r>
            <a:r>
              <a:rPr lang="zh-CN" altLang="en-US" sz="2200" b="1">
                <a:solidFill>
                  <a:schemeClr val="tx2"/>
                </a:solidFill>
              </a:rPr>
              <a:t>具有权限层次安全机制。</a:t>
            </a:r>
            <a:r>
              <a:rPr lang="en-US" altLang="zh-CN" sz="2200" b="1">
                <a:solidFill>
                  <a:srgbClr val="CC0000"/>
                </a:solidFill>
              </a:rPr>
              <a:t>SQL Server 2019</a:t>
            </a:r>
            <a:r>
              <a:rPr lang="zh-CN" altLang="en-US" sz="2200" b="1">
                <a:solidFill>
                  <a:srgbClr val="CC0000"/>
                </a:solidFill>
              </a:rPr>
              <a:t>的安全性管理</a:t>
            </a:r>
            <a:r>
              <a:rPr lang="zh-CN" altLang="en-US" sz="2200" b="1">
                <a:solidFill>
                  <a:schemeClr val="tx2"/>
                </a:solidFill>
              </a:rPr>
              <a:t>可分为</a:t>
            </a:r>
            <a:r>
              <a:rPr lang="en-US" altLang="zh-CN" sz="2200" b="1">
                <a:solidFill>
                  <a:schemeClr val="tx2"/>
                </a:solidFill>
              </a:rPr>
              <a:t>3</a:t>
            </a:r>
            <a:r>
              <a:rPr lang="zh-CN" altLang="en-US" sz="2200" b="1">
                <a:solidFill>
                  <a:schemeClr val="tx2"/>
                </a:solidFill>
              </a:rPr>
              <a:t>个等级：</a:t>
            </a:r>
            <a:endParaRPr lang="zh-CN" altLang="en-US" sz="2200" b="1">
              <a:solidFill>
                <a:schemeClr val="tx2"/>
              </a:solidFill>
            </a:endParaRPr>
          </a:p>
          <a:p>
            <a:pPr>
              <a:spcBef>
                <a:spcPct val="20000"/>
              </a:spcBef>
              <a:buFont typeface="Wingdings" panose="05000000000000000000" pitchFamily="2" charset="2"/>
              <a:buNone/>
            </a:pPr>
            <a:r>
              <a:rPr lang="zh-CN" altLang="en-US" sz="2200" b="1">
                <a:solidFill>
                  <a:schemeClr val="tx2"/>
                </a:solidFill>
              </a:rPr>
              <a:t>        ①操作系统级的安全性。 </a:t>
            </a:r>
            <a:endParaRPr lang="zh-CN" altLang="en-US" sz="2200" b="1">
              <a:solidFill>
                <a:schemeClr val="tx2"/>
              </a:solidFill>
            </a:endParaRPr>
          </a:p>
          <a:p>
            <a:pPr>
              <a:spcBef>
                <a:spcPct val="20000"/>
              </a:spcBef>
              <a:buFont typeface="Wingdings" panose="05000000000000000000" pitchFamily="2" charset="2"/>
              <a:buNone/>
            </a:pPr>
            <a:r>
              <a:rPr lang="en-US" altLang="zh-CN" sz="2200" b="1">
                <a:solidFill>
                  <a:schemeClr val="tx2"/>
                </a:solidFill>
              </a:rPr>
              <a:t>        ②SQL Server</a:t>
            </a:r>
            <a:r>
              <a:rPr lang="zh-CN" altLang="en-US" sz="2200" b="1">
                <a:solidFill>
                  <a:schemeClr val="tx2"/>
                </a:solidFill>
              </a:rPr>
              <a:t>级的安全性。</a:t>
            </a:r>
            <a:endParaRPr lang="zh-CN" altLang="en-US" sz="2200" b="1">
              <a:solidFill>
                <a:schemeClr val="tx2"/>
              </a:solidFill>
            </a:endParaRPr>
          </a:p>
          <a:p>
            <a:pPr>
              <a:spcBef>
                <a:spcPct val="20000"/>
              </a:spcBef>
              <a:buFont typeface="Wingdings" panose="05000000000000000000" pitchFamily="2" charset="2"/>
              <a:buNone/>
            </a:pPr>
            <a:r>
              <a:rPr lang="zh-CN" altLang="en-US" sz="2200" b="1">
                <a:solidFill>
                  <a:schemeClr val="tx2"/>
                </a:solidFill>
              </a:rPr>
              <a:t>        ③数据库级的安全性。  </a:t>
            </a:r>
            <a:endParaRPr lang="en-US" altLang="zh-CN" sz="2200" b="1">
              <a:solidFill>
                <a:schemeClr val="tx2"/>
              </a:solidFill>
            </a:endParaRPr>
          </a:p>
        </p:txBody>
      </p:sp>
      <p:sp>
        <p:nvSpPr>
          <p:cNvPr id="33797" name="Rectangle 2"/>
          <p:cNvSpPr txBox="1">
            <a:spLocks noChangeArrowheads="1"/>
          </p:cNvSpPr>
          <p:nvPr/>
        </p:nvSpPr>
        <p:spPr bwMode="auto">
          <a:xfrm>
            <a:off x="1309688" y="238125"/>
            <a:ext cx="7239000" cy="565150"/>
          </a:xfrm>
          <a:prstGeom prst="rect">
            <a:avLst/>
          </a:prstGeom>
          <a:noFill/>
          <a:ln w="9525">
            <a:noFill/>
            <a:miter lim="800000"/>
          </a:ln>
        </p:spPr>
        <p:txBody>
          <a:bodyPr anchor="ctr"/>
          <a:lstStyle/>
          <a:p>
            <a:pPr>
              <a:spcBef>
                <a:spcPct val="20000"/>
              </a:spcBef>
              <a:buFont typeface="Wingdings" panose="05000000000000000000" pitchFamily="2" charset="2"/>
              <a:buNone/>
            </a:pPr>
            <a:r>
              <a:rPr lang="zh-CN" altLang="zh-CN" sz="3200" b="1">
                <a:solidFill>
                  <a:schemeClr val="bg1"/>
                </a:solidFill>
              </a:rPr>
              <a:t>10.4 数据库的安全策略、管理和机制</a:t>
            </a:r>
            <a:endParaRPr lang="zh-CN" altLang="zh-CN" sz="3200" b="1">
              <a:solidFill>
                <a:schemeClr val="bg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内容占位符 13"/>
          <p:cNvSpPr>
            <a:spLocks noGrp="1" noChangeArrowheads="1"/>
          </p:cNvSpPr>
          <p:nvPr>
            <p:ph idx="4294967295"/>
          </p:nvPr>
        </p:nvSpPr>
        <p:spPr>
          <a:xfrm>
            <a:off x="395288" y="1196975"/>
            <a:ext cx="8208962" cy="631825"/>
          </a:xfrm>
        </p:spPr>
        <p:txBody>
          <a:bodyPr/>
          <a:lstStyle/>
          <a:p>
            <a:pPr>
              <a:buFont typeface="Wingdings" panose="05000000000000000000" pitchFamily="2" charset="2"/>
              <a:buNone/>
            </a:pPr>
            <a:r>
              <a:rPr lang="zh-CN" altLang="zh-CN" sz="2800" smtClean="0">
                <a:solidFill>
                  <a:srgbClr val="FF0000"/>
                </a:solidFill>
                <a:latin typeface="Times New Roman" panose="02020603050405020304" pitchFamily="18" charset="0"/>
              </a:rPr>
              <a:t>10.4.3 SQL Server安全性及合规管理</a:t>
            </a:r>
            <a:endParaRPr lang="en-US" altLang="zh-CN" sz="2400" smtClean="0">
              <a:solidFill>
                <a:srgbClr val="CC0000"/>
              </a:solidFill>
            </a:endParaRPr>
          </a:p>
        </p:txBody>
      </p:sp>
      <p:sp>
        <p:nvSpPr>
          <p:cNvPr id="19" name="圆角矩形 18"/>
          <p:cNvSpPr/>
          <p:nvPr/>
        </p:nvSpPr>
        <p:spPr bwMode="gray">
          <a:xfrm>
            <a:off x="598488" y="1752600"/>
            <a:ext cx="8188325" cy="372745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spcBef>
                <a:spcPct val="20000"/>
              </a:spcBef>
              <a:buFont typeface="Wingdings" panose="05000000000000000000" pitchFamily="2" charset="2"/>
              <a:buNone/>
              <a:defRPr/>
            </a:pPr>
            <a:endParaRPr lang="en-US" altLang="zh-CN">
              <a:solidFill>
                <a:schemeClr val="tx1"/>
              </a:solidFill>
              <a:latin typeface="Arial" panose="020B0604020202020204" pitchFamily="34" charset="0"/>
            </a:endParaRPr>
          </a:p>
        </p:txBody>
      </p:sp>
      <p:sp>
        <p:nvSpPr>
          <p:cNvPr id="34819" name="内容占位符 13"/>
          <p:cNvSpPr>
            <a:spLocks noChangeArrowheads="1"/>
          </p:cNvSpPr>
          <p:nvPr/>
        </p:nvSpPr>
        <p:spPr bwMode="auto">
          <a:xfrm>
            <a:off x="358775" y="1052513"/>
            <a:ext cx="8153400" cy="576262"/>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buFont typeface="Wingdings" panose="05000000000000000000" pitchFamily="2" charset="2"/>
              <a:buNone/>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en-US" altLang="zh-CN" b="1">
                <a:solidFill>
                  <a:srgbClr val="0000CC"/>
                </a:solidFill>
                <a:latin typeface="Times New Roman" panose="02020603050405020304" pitchFamily="18" charset="0"/>
              </a:rPr>
              <a:t> </a:t>
            </a: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chemeClr val="tx2"/>
              </a:solidFill>
              <a:latin typeface="宋体" panose="02010600030101010101" pitchFamily="2" charset="-122"/>
            </a:endParaRPr>
          </a:p>
        </p:txBody>
      </p:sp>
      <p:sp>
        <p:nvSpPr>
          <p:cNvPr id="34820" name="Rectangle 7"/>
          <p:cNvSpPr>
            <a:spLocks noChangeArrowheads="1"/>
          </p:cNvSpPr>
          <p:nvPr/>
        </p:nvSpPr>
        <p:spPr bwMode="auto">
          <a:xfrm>
            <a:off x="849313" y="1860550"/>
            <a:ext cx="7445375" cy="3513138"/>
          </a:xfrm>
          <a:prstGeom prst="rect">
            <a:avLst/>
          </a:prstGeom>
          <a:noFill/>
          <a:ln w="9525">
            <a:noFill/>
            <a:miter lim="800000"/>
          </a:ln>
        </p:spPr>
        <p:txBody>
          <a:bodyPr anchor="ctr">
            <a:spAutoFit/>
          </a:bodyPr>
          <a:lstStyle/>
          <a:p>
            <a:pPr>
              <a:spcBef>
                <a:spcPct val="20000"/>
              </a:spcBef>
              <a:buFont typeface="Wingdings" panose="05000000000000000000" pitchFamily="2" charset="2"/>
              <a:buNone/>
            </a:pPr>
            <a:r>
              <a:rPr lang="zh-CN" altLang="en-US" sz="2100" b="1">
                <a:solidFill>
                  <a:schemeClr val="tx2"/>
                </a:solidFill>
              </a:rPr>
              <a:t>① 合规管理及认证</a:t>
            </a:r>
            <a:endParaRPr lang="zh-CN" altLang="en-US" sz="2100" b="1">
              <a:solidFill>
                <a:schemeClr val="tx2"/>
              </a:solidFill>
            </a:endParaRPr>
          </a:p>
          <a:p>
            <a:pPr>
              <a:spcBef>
                <a:spcPct val="20000"/>
              </a:spcBef>
              <a:buFont typeface="Wingdings" panose="05000000000000000000" pitchFamily="2" charset="2"/>
              <a:buNone/>
            </a:pPr>
            <a:r>
              <a:rPr lang="zh-CN" altLang="en-US" sz="2100" b="1">
                <a:solidFill>
                  <a:schemeClr val="tx2"/>
                </a:solidFill>
              </a:rPr>
              <a:t>② 数据保护</a:t>
            </a:r>
            <a:endParaRPr lang="en-US" altLang="zh-CN" sz="2100" b="1">
              <a:solidFill>
                <a:schemeClr val="tx2"/>
              </a:solidFill>
            </a:endParaRPr>
          </a:p>
          <a:p>
            <a:pPr>
              <a:spcBef>
                <a:spcPct val="20000"/>
              </a:spcBef>
              <a:buFont typeface="Wingdings" panose="05000000000000000000" pitchFamily="2" charset="2"/>
              <a:buNone/>
            </a:pPr>
            <a:r>
              <a:rPr lang="zh-CN" altLang="en-US" sz="2100" b="1">
                <a:solidFill>
                  <a:schemeClr val="tx2"/>
                </a:solidFill>
              </a:rPr>
              <a:t>③ 加密性能增强</a:t>
            </a:r>
            <a:endParaRPr lang="zh-CN" altLang="en-US" sz="2100" b="1">
              <a:solidFill>
                <a:schemeClr val="tx2"/>
              </a:solidFill>
            </a:endParaRPr>
          </a:p>
          <a:p>
            <a:pPr>
              <a:spcBef>
                <a:spcPct val="20000"/>
              </a:spcBef>
              <a:buFont typeface="Wingdings" panose="05000000000000000000" pitchFamily="2" charset="2"/>
              <a:buNone/>
            </a:pPr>
            <a:r>
              <a:rPr lang="zh-CN" altLang="en-US" sz="2100" b="1">
                <a:solidFill>
                  <a:schemeClr val="tx2"/>
                </a:solidFill>
              </a:rPr>
              <a:t>④ 控制访问权限 </a:t>
            </a:r>
            <a:endParaRPr lang="zh-CN" altLang="en-US" sz="2100" b="1">
              <a:solidFill>
                <a:schemeClr val="tx2"/>
              </a:solidFill>
            </a:endParaRPr>
          </a:p>
          <a:p>
            <a:pPr>
              <a:spcBef>
                <a:spcPct val="20000"/>
              </a:spcBef>
              <a:buFont typeface="Wingdings" panose="05000000000000000000" pitchFamily="2" charset="2"/>
              <a:buNone/>
            </a:pPr>
            <a:r>
              <a:rPr lang="zh-CN" altLang="en-US" sz="2100" b="1">
                <a:solidFill>
                  <a:schemeClr val="tx2"/>
                </a:solidFill>
              </a:rPr>
              <a:t>⑤ 用户定义的服务器角色</a:t>
            </a:r>
            <a:endParaRPr lang="en-US" altLang="zh-CN" sz="2100" b="1">
              <a:solidFill>
                <a:schemeClr val="tx2"/>
              </a:solidFill>
            </a:endParaRPr>
          </a:p>
          <a:p>
            <a:pPr>
              <a:spcBef>
                <a:spcPct val="20000"/>
              </a:spcBef>
              <a:buFont typeface="Wingdings" panose="05000000000000000000" pitchFamily="2" charset="2"/>
              <a:buNone/>
            </a:pPr>
            <a:r>
              <a:rPr lang="zh-CN" altLang="en-US" sz="2100" b="1">
                <a:solidFill>
                  <a:schemeClr val="tx2"/>
                </a:solidFill>
              </a:rPr>
              <a:t>⑥ 默认的组间架构 </a:t>
            </a:r>
            <a:endParaRPr lang="zh-CN" altLang="en-US" sz="2100" b="1">
              <a:solidFill>
                <a:schemeClr val="tx2"/>
              </a:solidFill>
            </a:endParaRPr>
          </a:p>
          <a:p>
            <a:pPr>
              <a:spcBef>
                <a:spcPct val="20000"/>
              </a:spcBef>
              <a:buFont typeface="Wingdings" panose="05000000000000000000" pitchFamily="2" charset="2"/>
              <a:buNone/>
            </a:pPr>
            <a:r>
              <a:rPr lang="zh-CN" altLang="en-US" sz="2100" b="1">
                <a:solidFill>
                  <a:schemeClr val="tx2"/>
                </a:solidFill>
              </a:rPr>
              <a:t>⑦ 内置的数据库身份验证 </a:t>
            </a:r>
            <a:endParaRPr lang="zh-CN" altLang="en-US" sz="2100" b="1">
              <a:solidFill>
                <a:schemeClr val="tx2"/>
              </a:solidFill>
            </a:endParaRPr>
          </a:p>
          <a:p>
            <a:pPr>
              <a:spcBef>
                <a:spcPct val="20000"/>
              </a:spcBef>
              <a:buFont typeface="Wingdings" panose="05000000000000000000" pitchFamily="2" charset="2"/>
              <a:buNone/>
            </a:pPr>
            <a:r>
              <a:rPr lang="zh-CN" altLang="en-US" sz="2100" b="1">
                <a:solidFill>
                  <a:schemeClr val="tx2"/>
                </a:solidFill>
              </a:rPr>
              <a:t>⑧ </a:t>
            </a:r>
            <a:r>
              <a:rPr lang="en-US" altLang="zh-CN" sz="2100" b="1">
                <a:solidFill>
                  <a:schemeClr val="tx2"/>
                </a:solidFill>
              </a:rPr>
              <a:t>SharePoint</a:t>
            </a:r>
            <a:r>
              <a:rPr lang="zh-CN" altLang="en-US" sz="2100" b="1">
                <a:solidFill>
                  <a:schemeClr val="tx2"/>
                </a:solidFill>
              </a:rPr>
              <a:t>激活路径</a:t>
            </a:r>
            <a:endParaRPr lang="zh-CN" altLang="en-US" sz="2100" b="1">
              <a:solidFill>
                <a:schemeClr val="tx2"/>
              </a:solidFill>
            </a:endParaRPr>
          </a:p>
          <a:p>
            <a:pPr>
              <a:spcBef>
                <a:spcPct val="20000"/>
              </a:spcBef>
              <a:buFont typeface="Wingdings" panose="05000000000000000000" pitchFamily="2" charset="2"/>
              <a:buNone/>
            </a:pPr>
            <a:r>
              <a:rPr lang="zh-CN" altLang="en-US" sz="2100" b="1">
                <a:solidFill>
                  <a:schemeClr val="tx2"/>
                </a:solidFill>
              </a:rPr>
              <a:t>⑨ 对</a:t>
            </a:r>
            <a:r>
              <a:rPr lang="en-US" altLang="zh-CN" sz="2100" b="1">
                <a:solidFill>
                  <a:schemeClr val="tx2"/>
                </a:solidFill>
              </a:rPr>
              <a:t>SQL Server</a:t>
            </a:r>
            <a:r>
              <a:rPr lang="zh-CN" altLang="en-US" sz="2100" b="1">
                <a:solidFill>
                  <a:schemeClr val="tx2"/>
                </a:solidFill>
              </a:rPr>
              <a:t>所有版本的审核</a:t>
            </a:r>
            <a:endParaRPr lang="zh-CN" altLang="en-US" sz="2200" b="1"/>
          </a:p>
        </p:txBody>
      </p:sp>
      <p:pic>
        <p:nvPicPr>
          <p:cNvPr id="34821" name="Picture 3"/>
          <p:cNvPicPr>
            <a:picLocks noChangeAspect="1" noChangeArrowheads="1"/>
          </p:cNvPicPr>
          <p:nvPr/>
        </p:nvPicPr>
        <p:blipFill>
          <a:blip r:embed="rId1" cstate="print"/>
          <a:srcRect/>
          <a:stretch>
            <a:fillRect/>
          </a:stretch>
        </p:blipFill>
        <p:spPr bwMode="auto">
          <a:xfrm>
            <a:off x="4114800" y="1752600"/>
            <a:ext cx="4618038" cy="3267075"/>
          </a:xfrm>
          <a:prstGeom prst="rect">
            <a:avLst/>
          </a:prstGeom>
          <a:noFill/>
          <a:ln w="9525">
            <a:noFill/>
            <a:miter lim="800000"/>
            <a:headEnd/>
            <a:tailEnd/>
          </a:ln>
        </p:spPr>
      </p:pic>
      <p:sp>
        <p:nvSpPr>
          <p:cNvPr id="34822" name="Rectangle 10"/>
          <p:cNvSpPr>
            <a:spLocks noChangeArrowheads="1"/>
          </p:cNvSpPr>
          <p:nvPr/>
        </p:nvSpPr>
        <p:spPr bwMode="auto">
          <a:xfrm>
            <a:off x="5492750" y="5019675"/>
            <a:ext cx="2895600" cy="307975"/>
          </a:xfrm>
          <a:prstGeom prst="rect">
            <a:avLst/>
          </a:prstGeom>
          <a:noFill/>
          <a:ln w="9525">
            <a:noFill/>
            <a:miter lim="800000"/>
          </a:ln>
        </p:spPr>
        <p:txBody>
          <a:bodyPr wrap="none" anchor="ctr">
            <a:spAutoFit/>
          </a:bodyPr>
          <a:lstStyle/>
          <a:p>
            <a:pPr algn="dist" eaLnBrk="0" hangingPunct="0">
              <a:spcBef>
                <a:spcPct val="20000"/>
              </a:spcBef>
              <a:buFont typeface="Wingdings" panose="05000000000000000000" pitchFamily="2" charset="2"/>
              <a:buNone/>
            </a:pPr>
            <a:r>
              <a:rPr lang="zh-CN" altLang="en-US" sz="1400" b="1">
                <a:solidFill>
                  <a:srgbClr val="C00000"/>
                </a:solidFill>
              </a:rPr>
              <a:t>图</a:t>
            </a:r>
            <a:r>
              <a:rPr lang="en-US" altLang="zh-CN" sz="1400" b="1">
                <a:solidFill>
                  <a:srgbClr val="C00000"/>
                </a:solidFill>
              </a:rPr>
              <a:t>10-7 </a:t>
            </a:r>
            <a:r>
              <a:rPr lang="zh-CN" altLang="en-US" sz="1400" b="1">
                <a:solidFill>
                  <a:srgbClr val="C00000"/>
                </a:solidFill>
              </a:rPr>
              <a:t>用户定义服务器角色界面 </a:t>
            </a:r>
            <a:endParaRPr lang="zh-CN" altLang="en-US" sz="1400" b="1">
              <a:solidFill>
                <a:srgbClr val="C00000"/>
              </a:solidFill>
            </a:endParaRPr>
          </a:p>
        </p:txBody>
      </p:sp>
      <p:sp>
        <p:nvSpPr>
          <p:cNvPr id="34823" name="Rectangle 2"/>
          <p:cNvSpPr txBox="1">
            <a:spLocks noChangeArrowheads="1"/>
          </p:cNvSpPr>
          <p:nvPr/>
        </p:nvSpPr>
        <p:spPr bwMode="auto">
          <a:xfrm>
            <a:off x="1309688" y="238125"/>
            <a:ext cx="7239000" cy="565150"/>
          </a:xfrm>
          <a:prstGeom prst="rect">
            <a:avLst/>
          </a:prstGeom>
          <a:noFill/>
          <a:ln w="9525">
            <a:noFill/>
            <a:miter lim="800000"/>
          </a:ln>
        </p:spPr>
        <p:txBody>
          <a:bodyPr anchor="ctr"/>
          <a:lstStyle/>
          <a:p>
            <a:pPr>
              <a:spcBef>
                <a:spcPct val="20000"/>
              </a:spcBef>
              <a:buFont typeface="Wingdings" panose="05000000000000000000" pitchFamily="2" charset="2"/>
              <a:buNone/>
            </a:pPr>
            <a:r>
              <a:rPr lang="zh-CN" altLang="zh-CN" sz="3200" b="1">
                <a:solidFill>
                  <a:schemeClr val="bg1"/>
                </a:solidFill>
              </a:rPr>
              <a:t>10.4 数据库的安全策略、管理和机制</a:t>
            </a:r>
            <a:endParaRPr lang="zh-CN" altLang="zh-CN" sz="3200" b="1">
              <a:solidFill>
                <a:schemeClr val="bg1"/>
              </a:solidFill>
            </a:endParaRPr>
          </a:p>
        </p:txBody>
      </p:sp>
      <p:sp>
        <p:nvSpPr>
          <p:cNvPr id="34824" name="圆角矩形 18"/>
          <p:cNvSpPr>
            <a:spLocks noChangeArrowheads="1"/>
          </p:cNvSpPr>
          <p:nvPr/>
        </p:nvSpPr>
        <p:spPr bwMode="auto">
          <a:xfrm>
            <a:off x="1309688" y="5610225"/>
            <a:ext cx="6205537" cy="1050925"/>
          </a:xfrm>
          <a:prstGeom prst="roundRect">
            <a:avLst>
              <a:gd name="adj" fmla="val 16667"/>
            </a:avLst>
          </a:prstGeom>
          <a:solidFill>
            <a:srgbClr val="FFFF99"/>
          </a:solidFill>
          <a:ln w="25400">
            <a:solidFill>
              <a:schemeClr val="tx1"/>
            </a:solidFill>
            <a:round/>
          </a:ln>
        </p:spPr>
        <p:txBody>
          <a:bodyPr anchor="ctr"/>
          <a:lstStyle/>
          <a:p>
            <a:pPr>
              <a:lnSpc>
                <a:spcPct val="110000"/>
              </a:lnSpc>
              <a:spcBef>
                <a:spcPct val="20000"/>
              </a:spcBef>
              <a:buFont typeface="Wingdings" panose="05000000000000000000" pitchFamily="2" charset="2"/>
              <a:buNone/>
            </a:pPr>
            <a:r>
              <a:rPr lang="en-US" altLang="zh-CN" sz="1600" b="1">
                <a:solidFill>
                  <a:srgbClr val="FF0000"/>
                </a:solidFill>
                <a:latin typeface="黑体" panose="02010609060101010101" pitchFamily="49" charset="-122"/>
                <a:ea typeface="黑体" panose="02010609060101010101" pitchFamily="49" charset="-122"/>
              </a:rPr>
              <a:t>  </a:t>
            </a:r>
            <a:r>
              <a:rPr lang="zh-CN" altLang="zh-CN" sz="1600" b="1">
                <a:solidFill>
                  <a:srgbClr val="FF0000"/>
                </a:solidFill>
                <a:latin typeface="黑体" panose="02010609060101010101" pitchFamily="49" charset="-122"/>
                <a:ea typeface="黑体" panose="02010609060101010101" pitchFamily="49" charset="-122"/>
              </a:rPr>
              <a:t>讨论思考</a:t>
            </a:r>
            <a:r>
              <a:rPr lang="zh-CN" altLang="zh-CN" sz="1600" b="1"/>
              <a:t>：</a:t>
            </a:r>
            <a:endParaRPr lang="zh-CN" altLang="zh-CN" sz="1600" b="1"/>
          </a:p>
          <a:p>
            <a:pPr>
              <a:lnSpc>
                <a:spcPct val="110000"/>
              </a:lnSpc>
              <a:spcBef>
                <a:spcPct val="20000"/>
              </a:spcBef>
              <a:buFont typeface="Wingdings" panose="05000000000000000000" pitchFamily="2" charset="2"/>
              <a:buNone/>
            </a:pPr>
            <a:r>
              <a:rPr lang="zh-CN" altLang="zh-CN" sz="1600" b="1"/>
              <a:t>       1）什么是数据库的安全策略？主要有哪些？</a:t>
            </a:r>
            <a:endParaRPr lang="zh-CN" altLang="zh-CN" sz="1600" b="1"/>
          </a:p>
          <a:p>
            <a:pPr>
              <a:lnSpc>
                <a:spcPct val="110000"/>
              </a:lnSpc>
              <a:spcBef>
                <a:spcPct val="20000"/>
              </a:spcBef>
              <a:buFont typeface="Wingdings" panose="05000000000000000000" pitchFamily="2" charset="2"/>
              <a:buNone/>
            </a:pPr>
            <a:r>
              <a:rPr lang="zh-CN" altLang="zh-CN" sz="1600" b="1"/>
              <a:t>       2）数据库安全的管理机制具体是什么？</a:t>
            </a:r>
            <a:endParaRPr lang="zh-CN" altLang="zh-CN" sz="1600" b="1"/>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txBox="1">
            <a:spLocks noChangeArrowheads="1"/>
          </p:cNvSpPr>
          <p:nvPr/>
        </p:nvSpPr>
        <p:spPr bwMode="auto">
          <a:xfrm>
            <a:off x="1893888" y="320675"/>
            <a:ext cx="5554662" cy="563563"/>
          </a:xfrm>
          <a:prstGeom prst="rect">
            <a:avLst/>
          </a:prstGeom>
          <a:noFill/>
          <a:ln w="9525">
            <a:noFill/>
            <a:miter lim="800000"/>
          </a:ln>
        </p:spPr>
        <p:txBody>
          <a:bodyPr anchor="ctr"/>
          <a:lstStyle/>
          <a:p>
            <a:pPr>
              <a:spcBef>
                <a:spcPct val="20000"/>
              </a:spcBef>
              <a:buFont typeface="Wingdings" panose="05000000000000000000" pitchFamily="2" charset="2"/>
              <a:buNone/>
            </a:pPr>
            <a:r>
              <a:rPr lang="zh-CN" altLang="zh-CN" sz="3200" b="1">
                <a:solidFill>
                  <a:schemeClr val="bg1"/>
                </a:solidFill>
              </a:rPr>
              <a:t>10.5 数据库的备份与恢复</a:t>
            </a:r>
            <a:endParaRPr lang="zh-CN" altLang="zh-CN" sz="3200" b="1">
              <a:solidFill>
                <a:schemeClr val="bg1"/>
              </a:solidFill>
            </a:endParaRPr>
          </a:p>
        </p:txBody>
      </p:sp>
      <p:sp>
        <p:nvSpPr>
          <p:cNvPr id="35842" name="内容占位符 13"/>
          <p:cNvSpPr>
            <a:spLocks noGrp="1" noChangeArrowheads="1"/>
          </p:cNvSpPr>
          <p:nvPr>
            <p:ph idx="4294967295"/>
          </p:nvPr>
        </p:nvSpPr>
        <p:spPr>
          <a:xfrm>
            <a:off x="419100" y="1185863"/>
            <a:ext cx="4945063" cy="587375"/>
          </a:xfrm>
        </p:spPr>
        <p:txBody>
          <a:bodyPr/>
          <a:lstStyle/>
          <a:p>
            <a:pPr eaLnBrk="1" hangingPunct="1">
              <a:buFont typeface="Wingdings" panose="05000000000000000000" pitchFamily="2" charset="2"/>
              <a:buNone/>
            </a:pPr>
            <a:r>
              <a:rPr lang="zh-CN" altLang="zh-CN" sz="2800" smtClean="0">
                <a:solidFill>
                  <a:srgbClr val="FF0000"/>
                </a:solidFill>
              </a:rPr>
              <a:t>10.5.1 数据库的备份</a:t>
            </a:r>
            <a:endParaRPr lang="zh-CN" altLang="zh-CN" sz="2800" smtClean="0">
              <a:solidFill>
                <a:srgbClr val="FF0000"/>
              </a:solidFill>
            </a:endParaRPr>
          </a:p>
        </p:txBody>
      </p:sp>
      <p:sp>
        <p:nvSpPr>
          <p:cNvPr id="35843" name="圆角矩形 18"/>
          <p:cNvSpPr>
            <a:spLocks noChangeArrowheads="1"/>
          </p:cNvSpPr>
          <p:nvPr/>
        </p:nvSpPr>
        <p:spPr bwMode="auto">
          <a:xfrm>
            <a:off x="492125" y="1844675"/>
            <a:ext cx="7966075" cy="4784725"/>
          </a:xfrm>
          <a:prstGeom prst="roundRect">
            <a:avLst>
              <a:gd name="adj" fmla="val 16667"/>
            </a:avLst>
          </a:prstGeom>
          <a:noFill/>
          <a:ln w="25400">
            <a:solidFill>
              <a:schemeClr val="tx1"/>
            </a:solidFill>
            <a:round/>
          </a:ln>
        </p:spPr>
        <p:txBody>
          <a:bodyPr anchor="ctr"/>
          <a:lstStyle/>
          <a:p>
            <a:pPr>
              <a:spcBef>
                <a:spcPct val="20000"/>
              </a:spcBef>
              <a:buFont typeface="Wingdings" panose="05000000000000000000" pitchFamily="2" charset="2"/>
              <a:buNone/>
            </a:pPr>
            <a:r>
              <a:rPr lang="zh-CN" altLang="en-US" b="1">
                <a:solidFill>
                  <a:srgbClr val="CC0000"/>
                </a:solidFill>
              </a:rPr>
              <a:t>       </a:t>
            </a:r>
            <a:r>
              <a:rPr lang="zh-CN" altLang="en-US" b="1">
                <a:solidFill>
                  <a:srgbClr val="FF0000"/>
                </a:solidFill>
              </a:rPr>
              <a:t>数据库备份</a:t>
            </a:r>
            <a:r>
              <a:rPr lang="zh-CN" altLang="en-US" b="1">
                <a:solidFill>
                  <a:schemeClr val="tx2"/>
                </a:solidFill>
              </a:rPr>
              <a:t>（</a:t>
            </a:r>
            <a:r>
              <a:rPr lang="en-US" altLang="zh-CN" b="1">
                <a:solidFill>
                  <a:schemeClr val="tx2"/>
                </a:solidFill>
              </a:rPr>
              <a:t>Database Backup</a:t>
            </a:r>
            <a:r>
              <a:rPr lang="zh-CN" altLang="en-US" b="1">
                <a:solidFill>
                  <a:schemeClr val="tx2"/>
                </a:solidFill>
              </a:rPr>
              <a:t>）是指</a:t>
            </a:r>
            <a:r>
              <a:rPr lang="zh-CN" altLang="en-US" b="1">
                <a:solidFill>
                  <a:srgbClr val="3333FF"/>
                </a:solidFill>
              </a:rPr>
              <a:t>为防止</a:t>
            </a:r>
            <a:r>
              <a:rPr lang="zh-CN" altLang="en-US" b="1">
                <a:solidFill>
                  <a:schemeClr val="tx2"/>
                </a:solidFill>
              </a:rPr>
              <a:t>系统出现操作失误或系统故障</a:t>
            </a:r>
            <a:r>
              <a:rPr lang="zh-CN" altLang="en-US" b="1">
                <a:solidFill>
                  <a:srgbClr val="3333FF"/>
                </a:solidFill>
              </a:rPr>
              <a:t>导致</a:t>
            </a:r>
            <a:r>
              <a:rPr lang="zh-CN" altLang="en-US" b="1">
                <a:solidFill>
                  <a:srgbClr val="006600"/>
                </a:solidFill>
              </a:rPr>
              <a:t>数据</a:t>
            </a:r>
            <a:r>
              <a:rPr lang="zh-CN" altLang="en-US" b="1">
                <a:solidFill>
                  <a:srgbClr val="990033"/>
                </a:solidFill>
              </a:rPr>
              <a:t>丢失</a:t>
            </a:r>
            <a:r>
              <a:rPr lang="zh-CN" altLang="en-US" b="1">
                <a:solidFill>
                  <a:schemeClr val="tx2"/>
                </a:solidFill>
              </a:rPr>
              <a:t>，而将数据库的全部或部分数据</a:t>
            </a:r>
            <a:r>
              <a:rPr lang="zh-CN" altLang="en-US" b="1">
                <a:solidFill>
                  <a:srgbClr val="3333FF"/>
                </a:solidFill>
              </a:rPr>
              <a:t>复制到</a:t>
            </a:r>
            <a:r>
              <a:rPr lang="zh-CN" altLang="en-US" b="1">
                <a:solidFill>
                  <a:schemeClr val="tx2"/>
                </a:solidFill>
              </a:rPr>
              <a:t>其它存储介质的</a:t>
            </a:r>
            <a:r>
              <a:rPr lang="zh-CN" altLang="en-US" b="1">
                <a:solidFill>
                  <a:srgbClr val="990033"/>
                </a:solidFill>
              </a:rPr>
              <a:t>过程</a:t>
            </a:r>
            <a:r>
              <a:rPr lang="zh-CN" altLang="en-US" b="1">
                <a:solidFill>
                  <a:schemeClr val="tx2"/>
                </a:solidFill>
              </a:rPr>
              <a:t>。</a:t>
            </a:r>
            <a:endParaRPr lang="zh-CN" altLang="en-US" b="1">
              <a:solidFill>
                <a:schemeClr val="tx2"/>
              </a:solidFill>
            </a:endParaRPr>
          </a:p>
          <a:p>
            <a:pPr>
              <a:spcBef>
                <a:spcPct val="20000"/>
              </a:spcBef>
              <a:buFont typeface="Wingdings" panose="05000000000000000000" pitchFamily="2" charset="2"/>
              <a:buNone/>
            </a:pPr>
            <a:r>
              <a:rPr lang="zh-CN" altLang="en-US" b="1">
                <a:solidFill>
                  <a:srgbClr val="990033"/>
                </a:solidFill>
              </a:rPr>
              <a:t>     确定数据库备份策略</a:t>
            </a:r>
            <a:r>
              <a:rPr lang="zh-CN" altLang="en-US" b="1">
                <a:solidFill>
                  <a:srgbClr val="CC0099"/>
                </a:solidFill>
              </a:rPr>
              <a:t>需考虑的</a:t>
            </a:r>
            <a:r>
              <a:rPr lang="en-US" altLang="zh-CN" b="1">
                <a:solidFill>
                  <a:srgbClr val="CC0099"/>
                </a:solidFill>
              </a:rPr>
              <a:t>3</a:t>
            </a:r>
            <a:r>
              <a:rPr lang="zh-CN" altLang="en-US" b="1">
                <a:solidFill>
                  <a:srgbClr val="CC0099"/>
                </a:solidFill>
              </a:rPr>
              <a:t>个因素：</a:t>
            </a:r>
            <a:endParaRPr lang="zh-CN" altLang="en-US" b="1">
              <a:solidFill>
                <a:schemeClr val="tx2"/>
              </a:solidFill>
            </a:endParaRPr>
          </a:p>
          <a:p>
            <a:pPr>
              <a:spcBef>
                <a:spcPct val="20000"/>
              </a:spcBef>
              <a:buFont typeface="Wingdings" panose="05000000000000000000" pitchFamily="2" charset="2"/>
              <a:buNone/>
            </a:pPr>
            <a:r>
              <a:rPr lang="en-US" altLang="zh-CN" b="1">
                <a:solidFill>
                  <a:schemeClr val="tx2"/>
                </a:solidFill>
              </a:rPr>
              <a:t>    </a:t>
            </a:r>
            <a:r>
              <a:rPr lang="zh-CN" altLang="en-US" b="1">
                <a:solidFill>
                  <a:schemeClr val="tx2"/>
                </a:solidFill>
              </a:rPr>
              <a:t>（</a:t>
            </a:r>
            <a:r>
              <a:rPr lang="en-US" altLang="zh-CN" sz="2200" b="1">
                <a:solidFill>
                  <a:schemeClr val="tx2"/>
                </a:solidFill>
              </a:rPr>
              <a:t>1</a:t>
            </a:r>
            <a:r>
              <a:rPr lang="zh-CN" altLang="en-US" sz="2200" b="1">
                <a:solidFill>
                  <a:schemeClr val="tx2"/>
                </a:solidFill>
              </a:rPr>
              <a:t>）备份内容与频率</a:t>
            </a:r>
            <a:endParaRPr lang="zh-CN" altLang="en-US" sz="2200" b="1">
              <a:solidFill>
                <a:schemeClr val="tx2"/>
              </a:solidFill>
            </a:endParaRPr>
          </a:p>
          <a:p>
            <a:pPr>
              <a:spcBef>
                <a:spcPct val="20000"/>
              </a:spcBef>
              <a:buFont typeface="Wingdings" panose="05000000000000000000" pitchFamily="2" charset="2"/>
              <a:buNone/>
            </a:pPr>
            <a:r>
              <a:rPr lang="zh-CN" altLang="en-US" sz="2200" b="1">
                <a:solidFill>
                  <a:schemeClr val="tx2"/>
                </a:solidFill>
              </a:rPr>
              <a:t>      </a:t>
            </a:r>
            <a:r>
              <a:rPr lang="zh-CN" altLang="en-US" sz="2200" b="1"/>
              <a:t>①</a:t>
            </a:r>
            <a:r>
              <a:rPr lang="zh-CN" altLang="en-US" sz="2200" b="1">
                <a:solidFill>
                  <a:schemeClr val="tx2"/>
                </a:solidFill>
              </a:rPr>
              <a:t>备份内容  </a:t>
            </a:r>
            <a:r>
              <a:rPr lang="zh-CN" altLang="en-US" sz="2200" b="1"/>
              <a:t>②</a:t>
            </a:r>
            <a:r>
              <a:rPr lang="zh-CN" altLang="en-US" sz="2200" b="1">
                <a:solidFill>
                  <a:schemeClr val="tx2"/>
                </a:solidFill>
              </a:rPr>
              <a:t>备份频率</a:t>
            </a:r>
            <a:endParaRPr lang="zh-CN" altLang="en-US" sz="2200" b="1">
              <a:solidFill>
                <a:schemeClr val="tx2"/>
              </a:solidFill>
            </a:endParaRPr>
          </a:p>
          <a:p>
            <a:pPr>
              <a:spcBef>
                <a:spcPct val="20000"/>
              </a:spcBef>
              <a:buFont typeface="Wingdings" panose="05000000000000000000" pitchFamily="2" charset="2"/>
              <a:buNone/>
            </a:pPr>
            <a:r>
              <a:rPr lang="en-US" altLang="zh-CN" sz="2200" b="1">
                <a:solidFill>
                  <a:schemeClr val="tx2"/>
                </a:solidFill>
              </a:rPr>
              <a:t>     </a:t>
            </a:r>
            <a:r>
              <a:rPr lang="zh-CN" altLang="en-US" sz="2200" b="1">
                <a:solidFill>
                  <a:schemeClr val="tx2"/>
                </a:solidFill>
              </a:rPr>
              <a:t>（</a:t>
            </a:r>
            <a:r>
              <a:rPr lang="en-US" altLang="zh-CN" sz="2200" b="1">
                <a:solidFill>
                  <a:schemeClr val="tx2"/>
                </a:solidFill>
              </a:rPr>
              <a:t>2</a:t>
            </a:r>
            <a:r>
              <a:rPr lang="zh-CN" altLang="en-US" sz="2200" b="1">
                <a:solidFill>
                  <a:schemeClr val="tx2"/>
                </a:solidFill>
              </a:rPr>
              <a:t>）备份技术</a:t>
            </a:r>
            <a:endParaRPr lang="zh-CN" altLang="en-US" sz="2200" b="1">
              <a:solidFill>
                <a:schemeClr val="tx2"/>
              </a:solidFill>
            </a:endParaRPr>
          </a:p>
          <a:p>
            <a:pPr>
              <a:spcBef>
                <a:spcPct val="20000"/>
              </a:spcBef>
              <a:buFont typeface="Wingdings" panose="05000000000000000000" pitchFamily="2" charset="2"/>
              <a:buNone/>
            </a:pPr>
            <a:r>
              <a:rPr lang="zh-CN" altLang="en-US" sz="2200" b="1">
                <a:solidFill>
                  <a:srgbClr val="006600"/>
                </a:solidFill>
              </a:rPr>
              <a:t>      </a:t>
            </a:r>
            <a:r>
              <a:rPr lang="zh-CN" altLang="en-US" sz="2200" b="1"/>
              <a:t>最常用的</a:t>
            </a:r>
            <a:r>
              <a:rPr lang="zh-CN" altLang="en-US" sz="2200" b="1">
                <a:solidFill>
                  <a:srgbClr val="990033"/>
                </a:solidFill>
              </a:rPr>
              <a:t>数据备份技术</a:t>
            </a:r>
            <a:r>
              <a:rPr lang="zh-CN" altLang="en-US" sz="2200" b="1">
                <a:solidFill>
                  <a:schemeClr val="tx2"/>
                </a:solidFill>
              </a:rPr>
              <a:t>是数据转存和撰写日志。</a:t>
            </a:r>
            <a:endParaRPr lang="zh-CN" altLang="en-US" sz="2200" b="1">
              <a:solidFill>
                <a:schemeClr val="tx2"/>
              </a:solidFill>
            </a:endParaRPr>
          </a:p>
          <a:p>
            <a:pPr>
              <a:spcBef>
                <a:spcPct val="20000"/>
              </a:spcBef>
              <a:buFont typeface="Wingdings" panose="05000000000000000000" pitchFamily="2" charset="2"/>
              <a:buNone/>
            </a:pPr>
            <a:r>
              <a:rPr lang="zh-CN" altLang="en-US" sz="2200" b="1">
                <a:solidFill>
                  <a:schemeClr val="tx2"/>
                </a:solidFill>
              </a:rPr>
              <a:t>      </a:t>
            </a:r>
            <a:r>
              <a:rPr lang="zh-CN" altLang="en-US" sz="2200" b="1"/>
              <a:t>①</a:t>
            </a:r>
            <a:r>
              <a:rPr lang="zh-CN" altLang="en-US" sz="2200" b="1">
                <a:solidFill>
                  <a:schemeClr val="tx2"/>
                </a:solidFill>
              </a:rPr>
              <a:t>数据转存</a:t>
            </a:r>
            <a:r>
              <a:rPr lang="en-US" altLang="zh-CN" sz="2200" b="1">
                <a:solidFill>
                  <a:schemeClr val="tx2"/>
                </a:solidFill>
              </a:rPr>
              <a:t>(</a:t>
            </a:r>
            <a:r>
              <a:rPr lang="zh-CN" altLang="en-US" sz="2200" b="1">
                <a:solidFill>
                  <a:schemeClr val="tx2"/>
                </a:solidFill>
              </a:rPr>
              <a:t>静</a:t>
            </a:r>
            <a:r>
              <a:rPr lang="en-US" altLang="zh-CN" sz="2200" b="1">
                <a:solidFill>
                  <a:schemeClr val="tx2"/>
                </a:solidFill>
              </a:rPr>
              <a:t>/</a:t>
            </a:r>
            <a:r>
              <a:rPr lang="zh-CN" altLang="en-US" sz="2200" b="1">
                <a:solidFill>
                  <a:schemeClr val="tx2"/>
                </a:solidFill>
              </a:rPr>
              <a:t>动态</a:t>
            </a:r>
            <a:r>
              <a:rPr lang="en-US" altLang="zh-CN" sz="2200" b="1">
                <a:solidFill>
                  <a:schemeClr val="tx2"/>
                </a:solidFill>
              </a:rPr>
              <a:t>) </a:t>
            </a:r>
            <a:r>
              <a:rPr lang="zh-CN" altLang="en-US" sz="2200" b="1"/>
              <a:t>②</a:t>
            </a:r>
            <a:r>
              <a:rPr lang="zh-CN" altLang="en-US" sz="2200" b="1">
                <a:solidFill>
                  <a:schemeClr val="tx2"/>
                </a:solidFill>
              </a:rPr>
              <a:t>撰写日志</a:t>
            </a:r>
            <a:r>
              <a:rPr lang="en-US" altLang="zh-CN" sz="2200" b="1">
                <a:solidFill>
                  <a:schemeClr val="tx2"/>
                </a:solidFill>
              </a:rPr>
              <a:t>(</a:t>
            </a:r>
            <a:r>
              <a:rPr lang="zh-CN" altLang="en-US" sz="2200" b="1">
                <a:solidFill>
                  <a:schemeClr val="tx2"/>
                </a:solidFill>
              </a:rPr>
              <a:t>更新记录</a:t>
            </a:r>
            <a:r>
              <a:rPr lang="en-US" altLang="zh-CN" sz="2200" b="1">
                <a:solidFill>
                  <a:schemeClr val="tx2"/>
                </a:solidFill>
              </a:rPr>
              <a:t>)</a:t>
            </a:r>
            <a:endParaRPr lang="zh-CN" altLang="en-US" sz="2200" b="1">
              <a:solidFill>
                <a:schemeClr val="tx2"/>
              </a:solidFill>
            </a:endParaRPr>
          </a:p>
          <a:p>
            <a:pPr>
              <a:spcBef>
                <a:spcPct val="20000"/>
              </a:spcBef>
              <a:buFont typeface="Wingdings" panose="05000000000000000000" pitchFamily="2" charset="2"/>
              <a:buNone/>
            </a:pPr>
            <a:r>
              <a:rPr lang="en-US" altLang="zh-CN" sz="2200" b="1">
                <a:solidFill>
                  <a:schemeClr val="tx2"/>
                </a:solidFill>
              </a:rPr>
              <a:t>      </a:t>
            </a:r>
            <a:r>
              <a:rPr lang="zh-CN" altLang="en-US" sz="2200" b="1">
                <a:solidFill>
                  <a:schemeClr val="tx2"/>
                </a:solidFill>
              </a:rPr>
              <a:t>（</a:t>
            </a:r>
            <a:r>
              <a:rPr lang="en-US" altLang="zh-CN" sz="2200" b="1">
                <a:solidFill>
                  <a:schemeClr val="tx2"/>
                </a:solidFill>
              </a:rPr>
              <a:t>3</a:t>
            </a:r>
            <a:r>
              <a:rPr lang="zh-CN" altLang="en-US" sz="2200" b="1">
                <a:solidFill>
                  <a:schemeClr val="tx2"/>
                </a:solidFill>
              </a:rPr>
              <a:t>）基本相关工具</a:t>
            </a:r>
            <a:endParaRPr lang="zh-CN" altLang="en-US" sz="2200" b="1">
              <a:solidFill>
                <a:schemeClr val="tx2"/>
              </a:solidFill>
            </a:endParaRPr>
          </a:p>
          <a:p>
            <a:pPr>
              <a:spcBef>
                <a:spcPct val="20000"/>
              </a:spcBef>
              <a:buFont typeface="Wingdings" panose="05000000000000000000" pitchFamily="2" charset="2"/>
              <a:buNone/>
            </a:pPr>
            <a:r>
              <a:rPr lang="zh-CN" altLang="en-US" sz="2200" b="1">
                <a:solidFill>
                  <a:schemeClr val="tx2"/>
                </a:solidFill>
              </a:rPr>
              <a:t>      </a:t>
            </a:r>
            <a:r>
              <a:rPr lang="zh-CN" altLang="en-US" sz="2200" b="1"/>
              <a:t>①</a:t>
            </a:r>
            <a:r>
              <a:rPr lang="zh-CN" altLang="en-US" sz="2200" b="1">
                <a:solidFill>
                  <a:schemeClr val="tx2"/>
                </a:solidFill>
              </a:rPr>
              <a:t>备份工具 </a:t>
            </a:r>
            <a:r>
              <a:rPr lang="zh-CN" altLang="en-US" sz="2200" b="1"/>
              <a:t>②</a:t>
            </a:r>
            <a:r>
              <a:rPr lang="zh-CN" altLang="en-US" sz="2200" b="1">
                <a:solidFill>
                  <a:schemeClr val="tx2"/>
                </a:solidFill>
              </a:rPr>
              <a:t>日志工具 </a:t>
            </a:r>
            <a:r>
              <a:rPr lang="zh-CN" altLang="zh-CN" sz="2200" b="1"/>
              <a:t>③</a:t>
            </a:r>
            <a:r>
              <a:rPr lang="zh-CN" altLang="en-US" sz="2200" b="1">
                <a:solidFill>
                  <a:schemeClr val="tx2"/>
                </a:solidFill>
              </a:rPr>
              <a:t>检查点工具</a:t>
            </a:r>
            <a:endParaRPr lang="en-US" altLang="zh-CN" sz="2200" b="1">
              <a:solidFill>
                <a:schemeClr val="tx2"/>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内容占位符 13"/>
          <p:cNvSpPr>
            <a:spLocks noGrp="1" noChangeArrowheads="1"/>
          </p:cNvSpPr>
          <p:nvPr>
            <p:ph idx="4294967295"/>
          </p:nvPr>
        </p:nvSpPr>
        <p:spPr>
          <a:xfrm>
            <a:off x="925513" y="1046163"/>
            <a:ext cx="4056062" cy="360362"/>
          </a:xfrm>
        </p:spPr>
        <p:txBody>
          <a:bodyPr/>
          <a:lstStyle/>
          <a:p>
            <a:pPr algn="just" eaLnBrk="1" hangingPunct="1">
              <a:buFont typeface="Wingdings" panose="05000000000000000000" pitchFamily="2" charset="2"/>
              <a:buNone/>
            </a:pPr>
            <a:r>
              <a:rPr lang="zh-CN" altLang="zh-CN" sz="2400" smtClean="0">
                <a:solidFill>
                  <a:srgbClr val="FF0000"/>
                </a:solidFill>
              </a:rPr>
              <a:t>10.5.2 数据库的恢复</a:t>
            </a:r>
            <a:endParaRPr lang="zh-CN" altLang="zh-CN" sz="2400" smtClean="0">
              <a:solidFill>
                <a:srgbClr val="FF0000"/>
              </a:solidFill>
            </a:endParaRPr>
          </a:p>
        </p:txBody>
      </p:sp>
      <p:sp>
        <p:nvSpPr>
          <p:cNvPr id="19" name="圆角矩形 18"/>
          <p:cNvSpPr/>
          <p:nvPr/>
        </p:nvSpPr>
        <p:spPr bwMode="gray">
          <a:xfrm>
            <a:off x="827087" y="4077071"/>
            <a:ext cx="7849369" cy="2513879"/>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nSpc>
                <a:spcPct val="90000"/>
              </a:lnSpc>
              <a:spcBef>
                <a:spcPct val="20000"/>
              </a:spcBef>
              <a:buFont typeface="Wingdings" panose="05000000000000000000" pitchFamily="2" charset="2"/>
              <a:buNone/>
              <a:defRPr/>
            </a:pPr>
            <a:r>
              <a:rPr lang="zh-CN" altLang="en-US" sz="2200" b="1" dirty="0">
                <a:solidFill>
                  <a:schemeClr val="tx2"/>
                </a:solidFill>
                <a:latin typeface="Arial" panose="020B0604020202020204" pitchFamily="34" charset="0"/>
              </a:rPr>
              <a:t>       </a:t>
            </a:r>
            <a:r>
              <a:rPr lang="zh-CN" altLang="en-US" sz="2200" b="1" dirty="0">
                <a:solidFill>
                  <a:srgbClr val="FF0000"/>
                </a:solidFill>
                <a:latin typeface="Arial" panose="020B0604020202020204" pitchFamily="34" charset="0"/>
              </a:rPr>
              <a:t>数据库恢复（</a:t>
            </a:r>
            <a:r>
              <a:rPr lang="en-US" altLang="zh-CN" sz="2200" b="1" dirty="0">
                <a:solidFill>
                  <a:srgbClr val="FF0000"/>
                </a:solidFill>
                <a:latin typeface="Arial" panose="020B0604020202020204" pitchFamily="34" charset="0"/>
              </a:rPr>
              <a:t>Database Recovery</a:t>
            </a:r>
            <a:r>
              <a:rPr lang="zh-CN" altLang="en-US" sz="2200" b="1" dirty="0">
                <a:solidFill>
                  <a:srgbClr val="FF0000"/>
                </a:solidFill>
                <a:latin typeface="Arial" panose="020B0604020202020204" pitchFamily="34" charset="0"/>
              </a:rPr>
              <a:t>）</a:t>
            </a:r>
            <a:r>
              <a:rPr lang="zh-CN" altLang="en-US" sz="2200" b="1" dirty="0">
                <a:solidFill>
                  <a:srgbClr val="006600"/>
                </a:solidFill>
                <a:latin typeface="Arial" panose="020B0604020202020204" pitchFamily="34" charset="0"/>
              </a:rPr>
              <a:t>指</a:t>
            </a:r>
            <a:r>
              <a:rPr lang="zh-CN" altLang="en-US" sz="2200" b="1" dirty="0">
                <a:solidFill>
                  <a:schemeClr val="tx2"/>
                </a:solidFill>
                <a:latin typeface="Arial" panose="020B0604020202020204" pitchFamily="34" charset="0"/>
              </a:rPr>
              <a:t>当数据库或数据</a:t>
            </a:r>
            <a:r>
              <a:rPr lang="zh-CN" altLang="en-US" sz="2200" b="1" dirty="0">
                <a:solidFill>
                  <a:srgbClr val="3333FF"/>
                </a:solidFill>
                <a:latin typeface="Arial" panose="020B0604020202020204" pitchFamily="34" charset="0"/>
              </a:rPr>
              <a:t>遭到破坏</a:t>
            </a:r>
            <a:r>
              <a:rPr lang="zh-CN" altLang="en-US" sz="2200" b="1" dirty="0">
                <a:solidFill>
                  <a:schemeClr val="tx2"/>
                </a:solidFill>
                <a:latin typeface="Arial" panose="020B0604020202020204" pitchFamily="34" charset="0"/>
              </a:rPr>
              <a:t>时，</a:t>
            </a:r>
            <a:r>
              <a:rPr lang="zh-CN" altLang="en-US" sz="2200" b="1" dirty="0">
                <a:solidFill>
                  <a:srgbClr val="3333FF"/>
                </a:solidFill>
                <a:latin typeface="Arial" panose="020B0604020202020204" pitchFamily="34" charset="0"/>
              </a:rPr>
              <a:t>进行</a:t>
            </a:r>
            <a:r>
              <a:rPr lang="zh-CN" altLang="en-US" sz="2200" b="1" dirty="0">
                <a:solidFill>
                  <a:schemeClr val="tx2"/>
                </a:solidFill>
                <a:latin typeface="Arial" panose="020B0604020202020204" pitchFamily="34" charset="0"/>
              </a:rPr>
              <a:t>快速准确地</a:t>
            </a:r>
            <a:r>
              <a:rPr lang="zh-CN" altLang="en-US" sz="2200" b="1" dirty="0">
                <a:solidFill>
                  <a:srgbClr val="3333FF"/>
                </a:solidFill>
                <a:latin typeface="Arial" panose="020B0604020202020204" pitchFamily="34" charset="0"/>
              </a:rPr>
              <a:t>恢复</a:t>
            </a:r>
            <a:r>
              <a:rPr lang="zh-CN" altLang="en-US" sz="2200" b="1" dirty="0">
                <a:solidFill>
                  <a:schemeClr val="tx2"/>
                </a:solidFill>
                <a:latin typeface="Arial" panose="020B0604020202020204" pitchFamily="34" charset="0"/>
              </a:rPr>
              <a:t>的过程。</a:t>
            </a:r>
            <a:endParaRPr lang="zh-CN" altLang="en-US" sz="2200" b="1" dirty="0">
              <a:solidFill>
                <a:schemeClr val="tx2"/>
              </a:solidFill>
              <a:latin typeface="Arial" panose="020B0604020202020204" pitchFamily="34" charset="0"/>
            </a:endParaRPr>
          </a:p>
          <a:p>
            <a:pPr>
              <a:lnSpc>
                <a:spcPct val="90000"/>
              </a:lnSpc>
              <a:spcBef>
                <a:spcPct val="20000"/>
              </a:spcBef>
              <a:buFont typeface="Wingdings" panose="05000000000000000000" pitchFamily="2" charset="2"/>
              <a:buNone/>
              <a:defRPr/>
            </a:pPr>
            <a:r>
              <a:rPr lang="en-US" altLang="zh-CN" sz="2200" b="1" dirty="0">
                <a:solidFill>
                  <a:schemeClr val="tx2"/>
                </a:solidFill>
                <a:latin typeface="Arial" panose="020B0604020202020204" pitchFamily="34" charset="0"/>
              </a:rPr>
              <a:t>   </a:t>
            </a:r>
            <a:r>
              <a:rPr lang="zh-CN" altLang="en-US" sz="2200" b="1" dirty="0">
                <a:solidFill>
                  <a:srgbClr val="C00000"/>
                </a:solidFill>
                <a:latin typeface="Arial" panose="020B0604020202020204" pitchFamily="34" charset="0"/>
              </a:rPr>
              <a:t>（</a:t>
            </a:r>
            <a:r>
              <a:rPr lang="en-US" altLang="zh-CN" sz="2200" b="1" dirty="0">
                <a:solidFill>
                  <a:srgbClr val="C00000"/>
                </a:solidFill>
                <a:latin typeface="Arial" panose="020B0604020202020204" pitchFamily="34" charset="0"/>
              </a:rPr>
              <a:t>1</a:t>
            </a:r>
            <a:r>
              <a:rPr lang="zh-CN" altLang="en-US" sz="2200" b="1" dirty="0">
                <a:solidFill>
                  <a:srgbClr val="C00000"/>
                </a:solidFill>
                <a:latin typeface="Arial" panose="020B0604020202020204" pitchFamily="34" charset="0"/>
              </a:rPr>
              <a:t>）恢复策略</a:t>
            </a:r>
            <a:endParaRPr lang="zh-CN" altLang="en-US" sz="2200" b="1" dirty="0">
              <a:solidFill>
                <a:srgbClr val="C00000"/>
              </a:solidFill>
              <a:latin typeface="Arial" panose="020B0604020202020204" pitchFamily="34" charset="0"/>
            </a:endParaRPr>
          </a:p>
          <a:p>
            <a:pPr>
              <a:lnSpc>
                <a:spcPct val="90000"/>
              </a:lnSpc>
              <a:spcBef>
                <a:spcPct val="20000"/>
              </a:spcBef>
              <a:buFont typeface="Wingdings" panose="05000000000000000000" pitchFamily="2" charset="2"/>
              <a:buNone/>
              <a:defRPr/>
            </a:pPr>
            <a:r>
              <a:rPr lang="zh-CN" altLang="en-US" sz="2200" b="1" dirty="0">
                <a:solidFill>
                  <a:schemeClr val="tx2"/>
                </a:solidFill>
                <a:latin typeface="Arial" panose="020B0604020202020204" pitchFamily="34" charset="0"/>
              </a:rPr>
              <a:t>       </a:t>
            </a:r>
            <a:r>
              <a:rPr lang="en-US" altLang="zh-CN" sz="2200" b="1" dirty="0">
                <a:solidFill>
                  <a:schemeClr val="tx2"/>
                </a:solidFill>
                <a:latin typeface="Arial" panose="020B0604020202020204" pitchFamily="34" charset="0"/>
              </a:rPr>
              <a:t>1</a:t>
            </a:r>
            <a:r>
              <a:rPr lang="zh-CN" altLang="en-US" sz="2200" b="1" dirty="0">
                <a:solidFill>
                  <a:schemeClr val="tx2"/>
                </a:solidFill>
                <a:latin typeface="Arial" panose="020B0604020202020204" pitchFamily="34" charset="0"/>
              </a:rPr>
              <a:t>）事务故障恢复   </a:t>
            </a:r>
            <a:r>
              <a:rPr lang="en-US" altLang="zh-CN" sz="2200" b="1" dirty="0">
                <a:solidFill>
                  <a:schemeClr val="tx2"/>
                </a:solidFill>
                <a:latin typeface="Arial" panose="020B0604020202020204" pitchFamily="34" charset="0"/>
              </a:rPr>
              <a:t>2</a:t>
            </a:r>
            <a:r>
              <a:rPr lang="zh-CN" altLang="en-US" sz="2200" b="1" dirty="0">
                <a:solidFill>
                  <a:schemeClr val="tx2"/>
                </a:solidFill>
                <a:latin typeface="Arial" panose="020B0604020202020204" pitchFamily="34" charset="0"/>
              </a:rPr>
              <a:t>）系统故障恢复   </a:t>
            </a:r>
            <a:r>
              <a:rPr lang="en-US" altLang="zh-CN" sz="2200" b="1" dirty="0">
                <a:solidFill>
                  <a:schemeClr val="tx2"/>
                </a:solidFill>
                <a:latin typeface="Arial" panose="020B0604020202020204" pitchFamily="34" charset="0"/>
              </a:rPr>
              <a:t>3</a:t>
            </a:r>
            <a:r>
              <a:rPr lang="zh-CN" altLang="en-US" sz="2200" b="1" dirty="0">
                <a:solidFill>
                  <a:schemeClr val="tx2"/>
                </a:solidFill>
                <a:latin typeface="Arial" panose="020B0604020202020204" pitchFamily="34" charset="0"/>
              </a:rPr>
              <a:t>）介质故障恢复</a:t>
            </a:r>
            <a:endParaRPr lang="zh-CN" altLang="en-US" sz="2200" b="1" dirty="0">
              <a:solidFill>
                <a:schemeClr val="tx2"/>
              </a:solidFill>
              <a:latin typeface="Arial" panose="020B0604020202020204" pitchFamily="34" charset="0"/>
            </a:endParaRPr>
          </a:p>
          <a:p>
            <a:pPr>
              <a:lnSpc>
                <a:spcPct val="90000"/>
              </a:lnSpc>
              <a:spcBef>
                <a:spcPct val="20000"/>
              </a:spcBef>
              <a:buFont typeface="Wingdings" panose="05000000000000000000" pitchFamily="2" charset="2"/>
              <a:buNone/>
              <a:defRPr/>
            </a:pPr>
            <a:r>
              <a:rPr lang="en-US" altLang="zh-CN" sz="2200" b="1" dirty="0">
                <a:solidFill>
                  <a:schemeClr val="tx2"/>
                </a:solidFill>
                <a:latin typeface="Arial" panose="020B0604020202020204" pitchFamily="34" charset="0"/>
              </a:rPr>
              <a:t>   </a:t>
            </a:r>
            <a:r>
              <a:rPr lang="zh-CN" altLang="en-US" sz="2200" b="1" dirty="0">
                <a:solidFill>
                  <a:srgbClr val="C00000"/>
                </a:solidFill>
                <a:latin typeface="Arial" panose="020B0604020202020204" pitchFamily="34" charset="0"/>
              </a:rPr>
              <a:t>（</a:t>
            </a:r>
            <a:r>
              <a:rPr lang="en-US" altLang="zh-CN" sz="2200" b="1" dirty="0">
                <a:solidFill>
                  <a:srgbClr val="C00000"/>
                </a:solidFill>
                <a:latin typeface="Arial" panose="020B0604020202020204" pitchFamily="34" charset="0"/>
              </a:rPr>
              <a:t>2</a:t>
            </a:r>
            <a:r>
              <a:rPr lang="zh-CN" altLang="en-US" sz="2200" b="1" dirty="0">
                <a:solidFill>
                  <a:srgbClr val="C00000"/>
                </a:solidFill>
                <a:latin typeface="Arial" panose="020B0604020202020204" pitchFamily="34" charset="0"/>
              </a:rPr>
              <a:t>）恢复方法</a:t>
            </a:r>
            <a:endParaRPr lang="zh-CN" altLang="en-US" sz="2200" b="1" dirty="0">
              <a:solidFill>
                <a:srgbClr val="C00000"/>
              </a:solidFill>
              <a:latin typeface="Arial" panose="020B0604020202020204" pitchFamily="34" charset="0"/>
            </a:endParaRPr>
          </a:p>
          <a:p>
            <a:pPr>
              <a:lnSpc>
                <a:spcPct val="90000"/>
              </a:lnSpc>
              <a:spcBef>
                <a:spcPct val="20000"/>
              </a:spcBef>
              <a:buFont typeface="Wingdings" panose="05000000000000000000" pitchFamily="2" charset="2"/>
              <a:buNone/>
              <a:defRPr/>
            </a:pPr>
            <a:r>
              <a:rPr lang="zh-CN" altLang="en-US" sz="2200" b="1" dirty="0">
                <a:solidFill>
                  <a:schemeClr val="tx2"/>
                </a:solidFill>
                <a:latin typeface="Arial" panose="020B0604020202020204" pitchFamily="34" charset="0"/>
              </a:rPr>
              <a:t>       </a:t>
            </a:r>
            <a:r>
              <a:rPr lang="en-US" altLang="zh-CN" sz="2200" b="1" dirty="0">
                <a:solidFill>
                  <a:schemeClr val="tx2"/>
                </a:solidFill>
                <a:latin typeface="Arial" panose="020B0604020202020204" pitchFamily="34" charset="0"/>
              </a:rPr>
              <a:t>1</a:t>
            </a:r>
            <a:r>
              <a:rPr lang="zh-CN" altLang="en-US" sz="2200" b="1" dirty="0">
                <a:solidFill>
                  <a:schemeClr val="tx2"/>
                </a:solidFill>
                <a:latin typeface="Arial" panose="020B0604020202020204" pitchFamily="34" charset="0"/>
              </a:rPr>
              <a:t>）备份恢复   </a:t>
            </a:r>
            <a:r>
              <a:rPr lang="en-US" altLang="zh-CN" sz="2200" b="1" dirty="0">
                <a:solidFill>
                  <a:schemeClr val="tx2"/>
                </a:solidFill>
                <a:latin typeface="Arial" panose="020B0604020202020204" pitchFamily="34" charset="0"/>
              </a:rPr>
              <a:t>2</a:t>
            </a:r>
            <a:r>
              <a:rPr lang="zh-CN" altLang="en-US" sz="2200" b="1" dirty="0">
                <a:solidFill>
                  <a:schemeClr val="tx2"/>
                </a:solidFill>
                <a:latin typeface="Arial" panose="020B0604020202020204" pitchFamily="34" charset="0"/>
              </a:rPr>
              <a:t>）事务日志恢复   </a:t>
            </a:r>
            <a:r>
              <a:rPr lang="en-US" altLang="zh-CN" sz="2200" b="1" dirty="0">
                <a:solidFill>
                  <a:schemeClr val="tx2"/>
                </a:solidFill>
                <a:latin typeface="Arial" panose="020B0604020202020204" pitchFamily="34" charset="0"/>
              </a:rPr>
              <a:t>3</a:t>
            </a:r>
            <a:r>
              <a:rPr lang="zh-CN" altLang="en-US" sz="2200" b="1" dirty="0">
                <a:solidFill>
                  <a:schemeClr val="tx2"/>
                </a:solidFill>
                <a:latin typeface="Arial" panose="020B0604020202020204" pitchFamily="34" charset="0"/>
              </a:rPr>
              <a:t>）镜像技术</a:t>
            </a:r>
            <a:endParaRPr lang="zh-CN" altLang="en-US" sz="2200" dirty="0">
              <a:solidFill>
                <a:schemeClr val="tx2"/>
              </a:solidFill>
              <a:latin typeface="Arial" panose="020B0604020202020204" pitchFamily="34" charset="0"/>
            </a:endParaRPr>
          </a:p>
          <a:p>
            <a:pPr>
              <a:lnSpc>
                <a:spcPct val="90000"/>
              </a:lnSpc>
              <a:spcBef>
                <a:spcPct val="20000"/>
              </a:spcBef>
              <a:buFont typeface="Wingdings" panose="05000000000000000000" pitchFamily="2" charset="2"/>
              <a:buNone/>
              <a:defRPr/>
            </a:pPr>
            <a:r>
              <a:rPr lang="en-US" altLang="zh-CN" sz="2200" b="1" dirty="0">
                <a:solidFill>
                  <a:schemeClr val="tx2"/>
                </a:solidFill>
                <a:latin typeface="Arial" panose="020B0604020202020204" pitchFamily="34" charset="0"/>
              </a:rPr>
              <a:t>    </a:t>
            </a:r>
            <a:r>
              <a:rPr lang="zh-CN" altLang="en-US" sz="2200" b="1" dirty="0">
                <a:solidFill>
                  <a:srgbClr val="C00000"/>
                </a:solidFill>
                <a:latin typeface="Arial" panose="020B0604020202020204" pitchFamily="34" charset="0"/>
              </a:rPr>
              <a:t>（</a:t>
            </a:r>
            <a:r>
              <a:rPr lang="en-US" altLang="zh-CN" sz="2200" b="1" dirty="0">
                <a:solidFill>
                  <a:srgbClr val="C00000"/>
                </a:solidFill>
                <a:latin typeface="Arial" panose="020B0604020202020204" pitchFamily="34" charset="0"/>
              </a:rPr>
              <a:t>3</a:t>
            </a:r>
            <a:r>
              <a:rPr lang="zh-CN" altLang="en-US" sz="2200" b="1" dirty="0">
                <a:solidFill>
                  <a:srgbClr val="C00000"/>
                </a:solidFill>
                <a:latin typeface="Arial" panose="020B0604020202020204" pitchFamily="34" charset="0"/>
              </a:rPr>
              <a:t>）恢复管理器</a:t>
            </a:r>
            <a:endParaRPr lang="en-US" altLang="zh-CN" sz="2200" b="1" dirty="0">
              <a:solidFill>
                <a:srgbClr val="C00000"/>
              </a:solidFill>
              <a:latin typeface="Arial" panose="020B0604020202020204" pitchFamily="34" charset="0"/>
            </a:endParaRPr>
          </a:p>
        </p:txBody>
      </p:sp>
      <p:sp>
        <p:nvSpPr>
          <p:cNvPr id="36867" name="内容占位符 13"/>
          <p:cNvSpPr>
            <a:spLocks noChangeArrowheads="1"/>
          </p:cNvSpPr>
          <p:nvPr/>
        </p:nvSpPr>
        <p:spPr bwMode="auto">
          <a:xfrm>
            <a:off x="0" y="1196975"/>
            <a:ext cx="8153400" cy="5314950"/>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None/>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buFont typeface="Wingdings" panose="05000000000000000000" pitchFamily="2" charset="2"/>
              <a:buNone/>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chemeClr val="tx2"/>
              </a:solidFill>
              <a:latin typeface="宋体" panose="02010600030101010101" pitchFamily="2" charset="-122"/>
            </a:endParaRPr>
          </a:p>
        </p:txBody>
      </p:sp>
      <p:sp>
        <p:nvSpPr>
          <p:cNvPr id="36868" name="内容占位符 13"/>
          <p:cNvSpPr>
            <a:spLocks noChangeArrowheads="1"/>
          </p:cNvSpPr>
          <p:nvPr/>
        </p:nvSpPr>
        <p:spPr bwMode="auto">
          <a:xfrm>
            <a:off x="323850" y="2582861"/>
            <a:ext cx="8153400" cy="3929063"/>
          </a:xfrm>
          <a:prstGeom prst="rect">
            <a:avLst/>
          </a:prstGeom>
          <a:noFill/>
          <a:ln w="9525">
            <a:noFill/>
            <a:miter lim="800000"/>
          </a:ln>
        </p:spPr>
        <p:txBody>
          <a:bodyPr/>
          <a:lstStyle/>
          <a:p>
            <a:pPr marL="342900" indent="-342900">
              <a:spcBef>
                <a:spcPct val="20000"/>
              </a:spcBef>
              <a:spcAft>
                <a:spcPts val="600"/>
              </a:spcAft>
              <a:buClr>
                <a:schemeClr val="hlink"/>
              </a:buClr>
              <a:buFont typeface="Wingdings" panose="05000000000000000000" pitchFamily="2" charset="2"/>
              <a:buChar char="n"/>
            </a:pPr>
            <a:endParaRPr lang="zh-CN" altLang="en-US" sz="2600" b="1">
              <a:solidFill>
                <a:srgbClr val="CC0000"/>
              </a:solidFill>
              <a:latin typeface="宋体" panose="02010600030101010101" pitchFamily="2" charset="-122"/>
            </a:endParaRPr>
          </a:p>
          <a:p>
            <a:pPr marL="342900" indent="-342900">
              <a:spcBef>
                <a:spcPct val="20000"/>
              </a:spcBef>
              <a:buClr>
                <a:schemeClr val="hlink"/>
              </a:buClr>
              <a:buFont typeface="Wingdings" panose="05000000000000000000" pitchFamily="2" charset="2"/>
              <a:buChar char="n"/>
            </a:pPr>
            <a:endParaRPr lang="en-US" altLang="zh-CN">
              <a:solidFill>
                <a:srgbClr val="FF0000"/>
              </a:solidFill>
              <a:latin typeface="Calibri" panose="020F0502020204030204" pitchFamily="34" charset="0"/>
              <a:ea typeface="黑体" panose="02010609060101010101" pitchFamily="49" charset="-122"/>
            </a:endParaRPr>
          </a:p>
          <a:p>
            <a:pPr marL="342900" indent="-342900">
              <a:spcBef>
                <a:spcPct val="20000"/>
              </a:spcBef>
              <a:buClr>
                <a:schemeClr val="hlink"/>
              </a:buClr>
              <a:buFont typeface="Wingdings" panose="05000000000000000000" pitchFamily="2" charset="2"/>
              <a:buNone/>
            </a:pPr>
            <a:r>
              <a:rPr lang="zh-CN" altLang="en-US" b="1">
                <a:solidFill>
                  <a:srgbClr val="FF0000"/>
                </a:solidFill>
                <a:latin typeface="宋体" panose="02010600030101010101" pitchFamily="2" charset="-122"/>
              </a:rPr>
              <a:t> </a:t>
            </a:r>
            <a:endParaRPr lang="en-US" altLang="zh-CN" b="1">
              <a:solidFill>
                <a:schemeClr val="tx2"/>
              </a:solidFill>
              <a:latin typeface="宋体" panose="02010600030101010101" pitchFamily="2" charset="-122"/>
            </a:endParaRPr>
          </a:p>
          <a:p>
            <a:pPr marL="342900" indent="-342900">
              <a:spcBef>
                <a:spcPct val="20000"/>
              </a:spcBef>
              <a:buClr>
                <a:schemeClr val="hlink"/>
              </a:buClr>
              <a:buFont typeface="Wingdings" panose="05000000000000000000" pitchFamily="2" charset="2"/>
              <a:buNone/>
            </a:pP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en-US" altLang="zh-CN" b="1">
                <a:solidFill>
                  <a:srgbClr val="0000CC"/>
                </a:solidFill>
                <a:latin typeface="Times New Roman" panose="02020603050405020304" pitchFamily="18" charset="0"/>
              </a:rPr>
              <a:t> </a:t>
            </a:r>
            <a:endParaRPr lang="en-US" altLang="zh-CN" b="1">
              <a:solidFill>
                <a:srgbClr val="0000CC"/>
              </a:solidFill>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r>
              <a:rPr lang="zh-CN" altLang="en-US" b="1">
                <a:solidFill>
                  <a:srgbClr val="0000CC"/>
                </a:solidFill>
                <a:latin typeface="Times New Roman" panose="02020603050405020304" pitchFamily="18" charset="0"/>
              </a:rPr>
              <a:t>  </a:t>
            </a:r>
            <a:endParaRPr lang="en-US" altLang="zh-CN">
              <a:latin typeface="Times New Roman" panose="02020603050405020304" pitchFamily="18" charset="0"/>
            </a:endParaRPr>
          </a:p>
          <a:p>
            <a:pPr marL="342900" indent="-342900">
              <a:spcBef>
                <a:spcPct val="20000"/>
              </a:spcBef>
              <a:buClr>
                <a:schemeClr val="hlink"/>
              </a:buClr>
              <a:buFont typeface="Wingdings" panose="05000000000000000000" pitchFamily="2" charset="2"/>
              <a:buNone/>
            </a:pPr>
            <a:endParaRPr lang="en-US" altLang="zh-CN" b="1">
              <a:solidFill>
                <a:schemeClr val="tx2"/>
              </a:solidFill>
              <a:latin typeface="宋体" panose="02010600030101010101" pitchFamily="2" charset="-122"/>
            </a:endParaRPr>
          </a:p>
        </p:txBody>
      </p:sp>
      <p:sp>
        <p:nvSpPr>
          <p:cNvPr id="36869" name="圆角矩形 18"/>
          <p:cNvSpPr>
            <a:spLocks noChangeArrowheads="1"/>
          </p:cNvSpPr>
          <p:nvPr/>
        </p:nvSpPr>
        <p:spPr bwMode="auto">
          <a:xfrm>
            <a:off x="862013" y="1520626"/>
            <a:ext cx="7615237" cy="2352675"/>
          </a:xfrm>
          <a:prstGeom prst="roundRect">
            <a:avLst>
              <a:gd name="adj" fmla="val 16667"/>
            </a:avLst>
          </a:prstGeom>
          <a:solidFill>
            <a:schemeClr val="bg1"/>
          </a:solidFill>
          <a:ln w="25400">
            <a:solidFill>
              <a:schemeClr val="tx1"/>
            </a:solidFill>
            <a:round/>
          </a:ln>
        </p:spPr>
        <p:txBody>
          <a:bodyPr anchor="ctr"/>
          <a:lstStyle/>
          <a:p>
            <a:pPr>
              <a:lnSpc>
                <a:spcPct val="110000"/>
              </a:lnSpc>
              <a:spcBef>
                <a:spcPct val="20000"/>
              </a:spcBef>
              <a:buFont typeface="Wingdings" panose="05000000000000000000" pitchFamily="2" charset="2"/>
              <a:buNone/>
            </a:pPr>
            <a:r>
              <a:rPr lang="en-US" altLang="zh-CN" sz="1600" b="1" dirty="0"/>
              <a:t>                          </a:t>
            </a:r>
            <a:r>
              <a:rPr lang="zh-CN" altLang="zh-CN" sz="1800" b="1" dirty="0">
                <a:solidFill>
                  <a:srgbClr val="FF0000"/>
                </a:solidFill>
              </a:rPr>
              <a:t>2001年9月11日的恐怖袭击对美国及全球产生巨大影响</a:t>
            </a:r>
            <a:r>
              <a:rPr lang="zh-CN" altLang="zh-CN" sz="1800" b="1" dirty="0"/>
              <a:t>。这是继第二次世界大战期间珍珠港事件后，历史上第二次对</a:t>
            </a:r>
            <a:r>
              <a:rPr lang="zh-CN" altLang="zh-CN" sz="1800" b="1" dirty="0">
                <a:solidFill>
                  <a:srgbClr val="C00000"/>
                </a:solidFill>
              </a:rPr>
              <a:t>美国造成重大伤亡的袭击</a:t>
            </a:r>
            <a:r>
              <a:rPr lang="zh-CN" altLang="zh-CN" sz="1800" b="1" dirty="0"/>
              <a:t>。纽约世界贸易中心的两幢110层摩天大楼(双子塔）在遭到被劫持的飞机撞击后相继倒塌，附近5幢建筑物也受震而坍塌损毁，五角大楼遭到局部破坏部分结构坍塌</a:t>
            </a:r>
            <a:r>
              <a:rPr lang="zh-CN" altLang="zh-CN" sz="1800" b="1" dirty="0" smtClean="0"/>
              <a:t>，共有</a:t>
            </a:r>
            <a:r>
              <a:rPr lang="zh-CN" altLang="zh-CN" sz="1800" b="1" dirty="0"/>
              <a:t>2998人遇难</a:t>
            </a:r>
            <a:r>
              <a:rPr lang="zh-CN" altLang="zh-CN" sz="1800" b="1" dirty="0" smtClean="0"/>
              <a:t>。美国五角大楼</a:t>
            </a:r>
            <a:r>
              <a:rPr lang="zh-CN" altLang="zh-CN" sz="1800" b="1" dirty="0"/>
              <a:t>由于采取了西海岸异地数据备份和恢复应急措施，使很多极其重要的关键数据得到快速恢复并投入使用</a:t>
            </a:r>
            <a:r>
              <a:rPr lang="zh-CN" altLang="en-US" sz="1800" b="1" dirty="0"/>
              <a:t>。</a:t>
            </a:r>
            <a:endParaRPr lang="en-US" altLang="zh-CN" sz="1800" dirty="0"/>
          </a:p>
        </p:txBody>
      </p:sp>
      <p:sp>
        <p:nvSpPr>
          <p:cNvPr id="36870" name="Rectangle 2"/>
          <p:cNvSpPr txBox="1">
            <a:spLocks noChangeArrowheads="1"/>
          </p:cNvSpPr>
          <p:nvPr/>
        </p:nvSpPr>
        <p:spPr bwMode="auto">
          <a:xfrm>
            <a:off x="1893888" y="320675"/>
            <a:ext cx="5554662" cy="563563"/>
          </a:xfrm>
          <a:prstGeom prst="rect">
            <a:avLst/>
          </a:prstGeom>
          <a:noFill/>
          <a:ln w="9525">
            <a:noFill/>
            <a:miter lim="800000"/>
          </a:ln>
        </p:spPr>
        <p:txBody>
          <a:bodyPr anchor="ctr"/>
          <a:lstStyle/>
          <a:p>
            <a:pPr>
              <a:spcBef>
                <a:spcPct val="20000"/>
              </a:spcBef>
              <a:buFont typeface="Wingdings" panose="05000000000000000000" pitchFamily="2" charset="2"/>
              <a:buNone/>
            </a:pPr>
            <a:r>
              <a:rPr lang="zh-CN" altLang="zh-CN" sz="3200" b="1">
                <a:solidFill>
                  <a:schemeClr val="bg1"/>
                </a:solidFill>
              </a:rPr>
              <a:t>10.5 数据库的备份与恢复</a:t>
            </a:r>
            <a:endParaRPr lang="zh-CN" altLang="zh-CN" sz="3200" b="1">
              <a:solidFill>
                <a:schemeClr val="bg1"/>
              </a:solidFill>
            </a:endParaRPr>
          </a:p>
        </p:txBody>
      </p:sp>
      <p:sp>
        <p:nvSpPr>
          <p:cNvPr id="13" name="圆角矩形 12"/>
          <p:cNvSpPr/>
          <p:nvPr/>
        </p:nvSpPr>
        <p:spPr bwMode="gray">
          <a:xfrm>
            <a:off x="1377950" y="1406525"/>
            <a:ext cx="1104900" cy="374650"/>
          </a:xfrm>
          <a:prstGeom prst="roundRect">
            <a:avLst/>
          </a:prstGeom>
        </p:spPr>
        <p:style>
          <a:lnRef idx="0">
            <a:schemeClr val="accent2"/>
          </a:lnRef>
          <a:fillRef idx="3">
            <a:schemeClr val="accent2"/>
          </a:fillRef>
          <a:effectRef idx="3">
            <a:schemeClr val="accent2"/>
          </a:effectRef>
          <a:fontRef idx="minor">
            <a:schemeClr val="lt1"/>
          </a:fontRef>
        </p:style>
        <p:txBody>
          <a:bodyPr wrap="none" anchor="ctr"/>
          <a:lstStyle>
            <a:lvl1pPr>
              <a:defRPr>
                <a:solidFill>
                  <a:schemeClr val="tx1"/>
                </a:solidFill>
                <a:latin typeface="宋体" panose="02010600030101010101" pitchFamily="2" charset="-122"/>
                <a:ea typeface="宋体" panose="02010600030101010101" pitchFamily="2" charset="-122"/>
              </a:defRPr>
            </a:lvl1pPr>
            <a:lvl2pPr marL="742950" indent="-285750">
              <a:defRPr>
                <a:solidFill>
                  <a:schemeClr val="tx1"/>
                </a:solidFill>
                <a:latin typeface="宋体" panose="02010600030101010101" pitchFamily="2" charset="-122"/>
                <a:ea typeface="宋体" panose="02010600030101010101" pitchFamily="2" charset="-122"/>
              </a:defRPr>
            </a:lvl2pPr>
            <a:lvl3pPr marL="1143000" indent="-228600">
              <a:defRPr>
                <a:solidFill>
                  <a:schemeClr val="tx1"/>
                </a:solidFill>
                <a:latin typeface="宋体" panose="02010600030101010101" pitchFamily="2" charset="-122"/>
                <a:ea typeface="宋体" panose="02010600030101010101" pitchFamily="2" charset="-122"/>
              </a:defRPr>
            </a:lvl3pPr>
            <a:lvl4pPr marL="1600200" indent="-228600">
              <a:defRPr>
                <a:solidFill>
                  <a:schemeClr val="tx1"/>
                </a:solidFill>
                <a:latin typeface="宋体" panose="02010600030101010101" pitchFamily="2" charset="-122"/>
                <a:ea typeface="宋体" panose="02010600030101010101" pitchFamily="2" charset="-122"/>
              </a:defRPr>
            </a:lvl4pPr>
            <a:lvl5pPr marL="2057400" indent="-228600">
              <a:defRPr>
                <a:solidFill>
                  <a:schemeClr val="tx1"/>
                </a:solidFill>
                <a:latin typeface="宋体" panose="02010600030101010101" pitchFamily="2" charset="-122"/>
                <a:ea typeface="宋体" panose="02010600030101010101" pitchFamily="2" charset="-122"/>
              </a:defRPr>
            </a:lvl5pPr>
            <a:lvl6pPr marL="25146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6pPr>
            <a:lvl7pPr marL="29718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7pPr>
            <a:lvl8pPr marL="34290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8pPr>
            <a:lvl9pPr marL="3886200" indent="-228600" fontAlgn="base">
              <a:spcBef>
                <a:spcPct val="0"/>
              </a:spcBef>
              <a:spcAft>
                <a:spcPct val="0"/>
              </a:spcAft>
              <a:defRPr>
                <a:solidFill>
                  <a:schemeClr val="tx1"/>
                </a:solidFill>
                <a:latin typeface="宋体" panose="02010600030101010101" pitchFamily="2" charset="-122"/>
                <a:ea typeface="宋体" panose="02010600030101010101" pitchFamily="2" charset="-122"/>
              </a:defRPr>
            </a:lvl9pPr>
          </a:lstStyle>
          <a:p>
            <a:pPr algn="ctr">
              <a:spcBef>
                <a:spcPct val="20000"/>
              </a:spcBef>
              <a:buFont typeface="Wingdings" panose="05000000000000000000" pitchFamily="2" charset="2"/>
              <a:buNone/>
              <a:defRPr/>
            </a:pPr>
            <a:r>
              <a:rPr lang="zh-CN" altLang="en-US" sz="1600" b="1" dirty="0" smtClean="0">
                <a:solidFill>
                  <a:srgbClr val="002060"/>
                </a:solidFill>
              </a:rPr>
              <a:t>案例</a:t>
            </a:r>
            <a:r>
              <a:rPr lang="en-US" altLang="zh-CN" sz="1600" b="1" dirty="0" smtClean="0">
                <a:solidFill>
                  <a:srgbClr val="002060"/>
                </a:solidFill>
              </a:rPr>
              <a:t>2-5</a:t>
            </a:r>
            <a:endParaRPr lang="zh-CN" altLang="en-US" sz="1600" b="1" dirty="0" smtClean="0">
              <a:solidFill>
                <a:srgbClr val="00206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txBox="1">
            <a:spLocks noChangeArrowheads="1"/>
          </p:cNvSpPr>
          <p:nvPr/>
        </p:nvSpPr>
        <p:spPr bwMode="auto">
          <a:xfrm>
            <a:off x="2176463" y="169863"/>
            <a:ext cx="5484812" cy="563562"/>
          </a:xfrm>
          <a:prstGeom prst="rect">
            <a:avLst/>
          </a:prstGeom>
          <a:noFill/>
          <a:ln w="9525">
            <a:noFill/>
            <a:miter lim="800000"/>
          </a:ln>
        </p:spPr>
        <p:txBody>
          <a:bodyPr anchor="ctr"/>
          <a:lstStyle/>
          <a:p>
            <a:pPr>
              <a:spcBef>
                <a:spcPct val="20000"/>
              </a:spcBef>
              <a:buFont typeface="Wingdings" panose="05000000000000000000" pitchFamily="2" charset="2"/>
              <a:buNone/>
            </a:pPr>
            <a:r>
              <a:rPr lang="zh-CN" altLang="zh-CN" sz="3200" b="1">
                <a:solidFill>
                  <a:schemeClr val="bg1"/>
                </a:solidFill>
              </a:rPr>
              <a:t>*10.6 数据库安全解决方案</a:t>
            </a:r>
            <a:endParaRPr lang="zh-CN" altLang="zh-CN" sz="3200" b="1">
              <a:solidFill>
                <a:schemeClr val="bg1"/>
              </a:solidFill>
            </a:endParaRPr>
          </a:p>
        </p:txBody>
      </p:sp>
      <p:sp>
        <p:nvSpPr>
          <p:cNvPr id="37890" name="Rectangle 16"/>
          <p:cNvSpPr>
            <a:spLocks noChangeArrowheads="1"/>
          </p:cNvSpPr>
          <p:nvPr/>
        </p:nvSpPr>
        <p:spPr bwMode="auto">
          <a:xfrm>
            <a:off x="827088" y="2049463"/>
            <a:ext cx="5230812" cy="581025"/>
          </a:xfrm>
          <a:prstGeom prst="rect">
            <a:avLst/>
          </a:prstGeom>
          <a:noFill/>
          <a:ln w="9525">
            <a:noFill/>
            <a:miter lim="800000"/>
          </a:ln>
        </p:spPr>
        <p:txBody>
          <a:bodyPr anchor="ctr">
            <a:spAutoFit/>
          </a:bodyPr>
          <a:lstStyle/>
          <a:p>
            <a:pPr>
              <a:spcBef>
                <a:spcPct val="20000"/>
              </a:spcBef>
              <a:buFont typeface="Wingdings" panose="05000000000000000000" pitchFamily="2" charset="2"/>
              <a:buNone/>
            </a:pPr>
            <a:endParaRPr lang="zh-CN" altLang="en-US" sz="1600"/>
          </a:p>
          <a:p>
            <a:pPr eaLnBrk="0" hangingPunct="0">
              <a:spcBef>
                <a:spcPct val="20000"/>
              </a:spcBef>
              <a:buFont typeface="Wingdings" panose="05000000000000000000" pitchFamily="2" charset="2"/>
              <a:buNone/>
            </a:pPr>
            <a:endParaRPr lang="zh-CN" altLang="en-US" sz="1600">
              <a:latin typeface="宋体" panose="02010600030101010101" pitchFamily="2" charset="-122"/>
            </a:endParaRPr>
          </a:p>
        </p:txBody>
      </p:sp>
      <p:sp>
        <p:nvSpPr>
          <p:cNvPr id="37891" name="Rectangle 19"/>
          <p:cNvSpPr>
            <a:spLocks noChangeArrowheads="1"/>
          </p:cNvSpPr>
          <p:nvPr/>
        </p:nvSpPr>
        <p:spPr bwMode="auto">
          <a:xfrm>
            <a:off x="801688" y="1203325"/>
            <a:ext cx="4464050" cy="522288"/>
          </a:xfrm>
          <a:prstGeom prst="rect">
            <a:avLst/>
          </a:prstGeom>
          <a:noFill/>
          <a:ln w="9525">
            <a:noFill/>
            <a:miter lim="800000"/>
          </a:ln>
        </p:spPr>
        <p:txBody>
          <a:bodyPr anchor="ctr">
            <a:spAutoFit/>
          </a:bodyPr>
          <a:lstStyle/>
          <a:p>
            <a:pPr>
              <a:spcBef>
                <a:spcPct val="20000"/>
              </a:spcBef>
              <a:buFont typeface="Wingdings" panose="05000000000000000000" pitchFamily="2" charset="2"/>
              <a:buNone/>
            </a:pPr>
            <a:r>
              <a:rPr lang="zh-CN" altLang="zh-CN" sz="2800" b="1">
                <a:solidFill>
                  <a:srgbClr val="FF0000"/>
                </a:solidFill>
              </a:rPr>
              <a:t>10.6.1 数据库安全策略</a:t>
            </a:r>
            <a:endParaRPr lang="zh-CN" altLang="zh-CN" sz="2800" b="1">
              <a:solidFill>
                <a:srgbClr val="FF0000"/>
              </a:solidFill>
            </a:endParaRPr>
          </a:p>
        </p:txBody>
      </p:sp>
      <p:sp>
        <p:nvSpPr>
          <p:cNvPr id="2" name="圆角矩形 4"/>
          <p:cNvSpPr/>
          <p:nvPr/>
        </p:nvSpPr>
        <p:spPr bwMode="gray">
          <a:xfrm>
            <a:off x="1141413" y="1843088"/>
            <a:ext cx="7089775" cy="4132262"/>
          </a:xfrm>
          <a:prstGeom prst="roundRect">
            <a:avLst/>
          </a:prstGeom>
        </p:spPr>
        <p:style>
          <a:lnRef idx="2">
            <a:schemeClr val="accent1"/>
          </a:lnRef>
          <a:fillRef idx="1">
            <a:schemeClr val="lt1"/>
          </a:fillRef>
          <a:effectRef idx="0">
            <a:schemeClr val="accent1"/>
          </a:effectRef>
          <a:fontRef idx="minor">
            <a:schemeClr val="dk1"/>
          </a:fontRef>
        </p:style>
        <p:txBody>
          <a:bodyPr anchor="ctr" anchorCtr="1">
            <a:normAutofit fontScale="92500"/>
          </a:bodyPr>
          <a:lstStyle/>
          <a:p>
            <a:pPr>
              <a:spcBef>
                <a:spcPct val="20000"/>
              </a:spcBef>
              <a:buFont typeface="Wingdings" panose="05000000000000000000" pitchFamily="2" charset="2"/>
              <a:buNone/>
              <a:defRPr/>
            </a:pPr>
            <a:r>
              <a:rPr lang="en-US" altLang="zh-CN" sz="2200" b="1" dirty="0">
                <a:solidFill>
                  <a:schemeClr val="accent5">
                    <a:lumMod val="50000"/>
                  </a:schemeClr>
                </a:solidFill>
                <a:latin typeface="Arial" panose="020B0604020202020204" pitchFamily="34" charset="0"/>
              </a:rPr>
              <a:t>1</a:t>
            </a:r>
            <a:r>
              <a:rPr lang="zh-CN" altLang="en-US" sz="2200" b="1" dirty="0">
                <a:solidFill>
                  <a:schemeClr val="accent5">
                    <a:lumMod val="50000"/>
                  </a:schemeClr>
                </a:solidFill>
                <a:latin typeface="Arial" panose="020B0604020202020204" pitchFamily="34" charset="0"/>
              </a:rPr>
              <a:t>．管理</a:t>
            </a:r>
            <a:r>
              <a:rPr lang="en-US" altLang="zh-CN" sz="2200" b="1" dirty="0" err="1">
                <a:solidFill>
                  <a:schemeClr val="accent5">
                    <a:lumMod val="50000"/>
                  </a:schemeClr>
                </a:solidFill>
                <a:latin typeface="Arial" panose="020B0604020202020204" pitchFamily="34" charset="0"/>
              </a:rPr>
              <a:t>sa</a:t>
            </a:r>
            <a:r>
              <a:rPr lang="zh-CN" altLang="en-US" sz="2200" b="1" dirty="0">
                <a:solidFill>
                  <a:schemeClr val="accent5">
                    <a:lumMod val="50000"/>
                  </a:schemeClr>
                </a:solidFill>
                <a:latin typeface="Arial" panose="020B0604020202020204" pitchFamily="34" charset="0"/>
              </a:rPr>
              <a:t>密码</a:t>
            </a:r>
            <a:endParaRPr lang="zh-CN" altLang="en-US" sz="2200" b="1" dirty="0">
              <a:solidFill>
                <a:schemeClr val="accent5">
                  <a:lumMod val="50000"/>
                </a:schemeClr>
              </a:solidFill>
              <a:latin typeface="Arial" panose="020B0604020202020204" pitchFamily="34" charset="0"/>
            </a:endParaRPr>
          </a:p>
          <a:p>
            <a:pPr>
              <a:spcBef>
                <a:spcPct val="20000"/>
              </a:spcBef>
              <a:buFont typeface="Wingdings" panose="05000000000000000000" pitchFamily="2" charset="2"/>
              <a:buNone/>
              <a:defRPr/>
            </a:pPr>
            <a:r>
              <a:rPr lang="en-US" altLang="zh-CN" sz="2200" b="1" dirty="0">
                <a:solidFill>
                  <a:schemeClr val="accent5">
                    <a:lumMod val="50000"/>
                  </a:schemeClr>
                </a:solidFill>
                <a:latin typeface="Arial" panose="020B0604020202020204" pitchFamily="34" charset="0"/>
              </a:rPr>
              <a:t>2</a:t>
            </a:r>
            <a:r>
              <a:rPr lang="zh-CN" altLang="en-US" sz="2200" b="1" dirty="0">
                <a:solidFill>
                  <a:schemeClr val="accent5">
                    <a:lumMod val="50000"/>
                  </a:schemeClr>
                </a:solidFill>
                <a:latin typeface="Arial" panose="020B0604020202020204" pitchFamily="34" charset="0"/>
              </a:rPr>
              <a:t>．采用安全帐号策略和</a:t>
            </a:r>
            <a:r>
              <a:rPr lang="en-US" altLang="zh-CN" sz="2200" b="1" dirty="0">
                <a:solidFill>
                  <a:schemeClr val="accent5">
                    <a:lumMod val="50000"/>
                  </a:schemeClr>
                </a:solidFill>
                <a:latin typeface="Arial" panose="020B0604020202020204" pitchFamily="34" charset="0"/>
              </a:rPr>
              <a:t>Windows</a:t>
            </a:r>
            <a:r>
              <a:rPr lang="zh-CN" altLang="en-US" sz="2200" b="1" dirty="0">
                <a:solidFill>
                  <a:schemeClr val="accent5">
                    <a:lumMod val="50000"/>
                  </a:schemeClr>
                </a:solidFill>
                <a:latin typeface="Arial" panose="020B0604020202020204" pitchFamily="34" charset="0"/>
              </a:rPr>
              <a:t>认证模式</a:t>
            </a:r>
            <a:r>
              <a:rPr lang="zh-CN" altLang="en-US" sz="2200" dirty="0">
                <a:solidFill>
                  <a:schemeClr val="accent5">
                    <a:lumMod val="50000"/>
                  </a:schemeClr>
                </a:solidFill>
                <a:latin typeface="Arial" panose="020B0604020202020204" pitchFamily="34" charset="0"/>
              </a:rPr>
              <a:t> </a:t>
            </a:r>
            <a:endParaRPr lang="zh-CN" altLang="en-US" sz="2200" b="1" dirty="0">
              <a:solidFill>
                <a:schemeClr val="accent5">
                  <a:lumMod val="50000"/>
                </a:schemeClr>
              </a:solidFill>
              <a:latin typeface="Arial" panose="020B0604020202020204" pitchFamily="34" charset="0"/>
            </a:endParaRPr>
          </a:p>
          <a:p>
            <a:pPr>
              <a:spcBef>
                <a:spcPct val="20000"/>
              </a:spcBef>
              <a:buFont typeface="Wingdings" panose="05000000000000000000" pitchFamily="2" charset="2"/>
              <a:buNone/>
              <a:defRPr/>
            </a:pPr>
            <a:r>
              <a:rPr lang="en-US" altLang="zh-CN" sz="2200" b="1" dirty="0">
                <a:solidFill>
                  <a:schemeClr val="accent5">
                    <a:lumMod val="50000"/>
                  </a:schemeClr>
                </a:solidFill>
                <a:latin typeface="Arial" panose="020B0604020202020204" pitchFamily="34" charset="0"/>
              </a:rPr>
              <a:t>3</a:t>
            </a:r>
            <a:r>
              <a:rPr lang="zh-CN" altLang="en-US" sz="2200" b="1" dirty="0">
                <a:solidFill>
                  <a:schemeClr val="accent5">
                    <a:lumMod val="50000"/>
                  </a:schemeClr>
                </a:solidFill>
                <a:latin typeface="Arial" panose="020B0604020202020204" pitchFamily="34" charset="0"/>
              </a:rPr>
              <a:t>．防火墙禁用</a:t>
            </a:r>
            <a:r>
              <a:rPr lang="en-US" altLang="zh-CN" sz="2200" b="1" dirty="0">
                <a:solidFill>
                  <a:schemeClr val="accent5">
                    <a:lumMod val="50000"/>
                  </a:schemeClr>
                </a:solidFill>
                <a:latin typeface="Arial" panose="020B0604020202020204" pitchFamily="34" charset="0"/>
              </a:rPr>
              <a:t>SQL Server</a:t>
            </a:r>
            <a:r>
              <a:rPr lang="zh-CN" altLang="en-US" sz="2200" b="1" dirty="0">
                <a:solidFill>
                  <a:schemeClr val="accent5">
                    <a:lumMod val="50000"/>
                  </a:schemeClr>
                </a:solidFill>
                <a:latin typeface="Arial" panose="020B0604020202020204" pitchFamily="34" charset="0"/>
              </a:rPr>
              <a:t>端口</a:t>
            </a:r>
            <a:endParaRPr lang="zh-CN" altLang="en-US" sz="2200" b="1" dirty="0">
              <a:solidFill>
                <a:schemeClr val="accent5">
                  <a:lumMod val="50000"/>
                </a:schemeClr>
              </a:solidFill>
              <a:latin typeface="Arial" panose="020B0604020202020204" pitchFamily="34" charset="0"/>
            </a:endParaRPr>
          </a:p>
          <a:p>
            <a:pPr>
              <a:spcBef>
                <a:spcPct val="20000"/>
              </a:spcBef>
              <a:buFont typeface="Wingdings" panose="05000000000000000000" pitchFamily="2" charset="2"/>
              <a:buNone/>
              <a:defRPr/>
            </a:pPr>
            <a:r>
              <a:rPr lang="en-US" altLang="zh-CN" sz="2200" b="1" dirty="0">
                <a:solidFill>
                  <a:schemeClr val="accent5">
                    <a:lumMod val="50000"/>
                  </a:schemeClr>
                </a:solidFill>
                <a:latin typeface="Arial" panose="020B0604020202020204" pitchFamily="34" charset="0"/>
              </a:rPr>
              <a:t>4</a:t>
            </a:r>
            <a:r>
              <a:rPr lang="zh-CN" altLang="en-US" sz="2200" b="1" dirty="0">
                <a:solidFill>
                  <a:schemeClr val="accent5">
                    <a:lumMod val="50000"/>
                  </a:schemeClr>
                </a:solidFill>
                <a:latin typeface="Arial" panose="020B0604020202020204" pitchFamily="34" charset="0"/>
              </a:rPr>
              <a:t>．审核指向</a:t>
            </a:r>
            <a:r>
              <a:rPr lang="en-US" altLang="zh-CN" sz="2200" b="1" dirty="0">
                <a:solidFill>
                  <a:schemeClr val="accent5">
                    <a:lumMod val="50000"/>
                  </a:schemeClr>
                </a:solidFill>
                <a:latin typeface="Arial" panose="020B0604020202020204" pitchFamily="34" charset="0"/>
              </a:rPr>
              <a:t>SQL Server</a:t>
            </a:r>
            <a:r>
              <a:rPr lang="zh-CN" altLang="en-US" sz="2200" b="1" dirty="0">
                <a:solidFill>
                  <a:schemeClr val="accent5">
                    <a:lumMod val="50000"/>
                  </a:schemeClr>
                </a:solidFill>
                <a:latin typeface="Arial" panose="020B0604020202020204" pitchFamily="34" charset="0"/>
              </a:rPr>
              <a:t>的连接</a:t>
            </a:r>
            <a:endParaRPr lang="zh-CN" altLang="en-US" sz="2200" b="1" dirty="0">
              <a:solidFill>
                <a:schemeClr val="accent5">
                  <a:lumMod val="50000"/>
                </a:schemeClr>
              </a:solidFill>
              <a:latin typeface="Arial" panose="020B0604020202020204" pitchFamily="34" charset="0"/>
            </a:endParaRPr>
          </a:p>
          <a:p>
            <a:pPr>
              <a:spcBef>
                <a:spcPct val="20000"/>
              </a:spcBef>
              <a:buFont typeface="Wingdings" panose="05000000000000000000" pitchFamily="2" charset="2"/>
              <a:buNone/>
              <a:defRPr/>
            </a:pPr>
            <a:r>
              <a:rPr lang="en-US" altLang="zh-CN" sz="2200" b="1" dirty="0">
                <a:solidFill>
                  <a:schemeClr val="accent5">
                    <a:lumMod val="50000"/>
                  </a:schemeClr>
                </a:solidFill>
                <a:latin typeface="Arial" panose="020B0604020202020204" pitchFamily="34" charset="0"/>
              </a:rPr>
              <a:t>5</a:t>
            </a:r>
            <a:r>
              <a:rPr lang="zh-CN" altLang="en-US" sz="2200" b="1" dirty="0">
                <a:solidFill>
                  <a:schemeClr val="accent5">
                    <a:lumMod val="50000"/>
                  </a:schemeClr>
                </a:solidFill>
                <a:latin typeface="Arial" panose="020B0604020202020204" pitchFamily="34" charset="0"/>
              </a:rPr>
              <a:t>．管理扩展存储过程</a:t>
            </a:r>
            <a:endParaRPr lang="zh-CN" altLang="en-US" sz="2200" b="1" dirty="0">
              <a:solidFill>
                <a:schemeClr val="accent5">
                  <a:lumMod val="50000"/>
                </a:schemeClr>
              </a:solidFill>
              <a:latin typeface="Arial" panose="020B0604020202020204" pitchFamily="34" charset="0"/>
            </a:endParaRPr>
          </a:p>
          <a:p>
            <a:pPr>
              <a:spcBef>
                <a:spcPct val="20000"/>
              </a:spcBef>
              <a:buFont typeface="Wingdings" panose="05000000000000000000" pitchFamily="2" charset="2"/>
              <a:buNone/>
              <a:defRPr/>
            </a:pPr>
            <a:r>
              <a:rPr lang="en-US" altLang="zh-CN" sz="2200" b="1" dirty="0">
                <a:solidFill>
                  <a:schemeClr val="accent5">
                    <a:lumMod val="50000"/>
                  </a:schemeClr>
                </a:solidFill>
                <a:latin typeface="Arial" panose="020B0604020202020204" pitchFamily="34" charset="0"/>
              </a:rPr>
              <a:t>6</a:t>
            </a:r>
            <a:r>
              <a:rPr lang="zh-CN" altLang="en-US" sz="2200" b="1" dirty="0">
                <a:solidFill>
                  <a:schemeClr val="accent5">
                    <a:lumMod val="50000"/>
                  </a:schemeClr>
                </a:solidFill>
                <a:latin typeface="Arial" panose="020B0604020202020204" pitchFamily="34" charset="0"/>
              </a:rPr>
              <a:t>．用视图和存储程序限制用户访问权限</a:t>
            </a:r>
            <a:endParaRPr lang="zh-CN" altLang="en-US" sz="2200" b="1" dirty="0">
              <a:solidFill>
                <a:schemeClr val="accent5">
                  <a:lumMod val="50000"/>
                </a:schemeClr>
              </a:solidFill>
              <a:latin typeface="Arial" panose="020B0604020202020204" pitchFamily="34" charset="0"/>
            </a:endParaRPr>
          </a:p>
          <a:p>
            <a:pPr>
              <a:spcBef>
                <a:spcPct val="20000"/>
              </a:spcBef>
              <a:buFont typeface="Wingdings" panose="05000000000000000000" pitchFamily="2" charset="2"/>
              <a:buNone/>
              <a:defRPr/>
            </a:pPr>
            <a:r>
              <a:rPr lang="en-US" altLang="zh-CN" sz="2200" b="1" dirty="0">
                <a:solidFill>
                  <a:schemeClr val="accent5">
                    <a:lumMod val="50000"/>
                  </a:schemeClr>
                </a:solidFill>
                <a:latin typeface="Arial" panose="020B0604020202020204" pitchFamily="34" charset="0"/>
              </a:rPr>
              <a:t>7</a:t>
            </a:r>
            <a:r>
              <a:rPr lang="zh-CN" altLang="en-US" sz="2200" b="1" dirty="0">
                <a:solidFill>
                  <a:schemeClr val="accent5">
                    <a:lumMod val="50000"/>
                  </a:schemeClr>
                </a:solidFill>
                <a:latin typeface="Arial" panose="020B0604020202020204" pitchFamily="34" charset="0"/>
              </a:rPr>
              <a:t>．使用最安全的文件系统</a:t>
            </a:r>
            <a:endParaRPr lang="zh-CN" altLang="en-US" sz="2200" b="1" dirty="0">
              <a:solidFill>
                <a:schemeClr val="accent5">
                  <a:lumMod val="50000"/>
                </a:schemeClr>
              </a:solidFill>
              <a:latin typeface="Arial" panose="020B0604020202020204" pitchFamily="34" charset="0"/>
            </a:endParaRPr>
          </a:p>
          <a:p>
            <a:pPr>
              <a:spcBef>
                <a:spcPct val="20000"/>
              </a:spcBef>
              <a:buFont typeface="Wingdings" panose="05000000000000000000" pitchFamily="2" charset="2"/>
              <a:buNone/>
              <a:defRPr/>
            </a:pPr>
            <a:r>
              <a:rPr lang="en-US" altLang="zh-CN" sz="2200" b="1" dirty="0">
                <a:solidFill>
                  <a:schemeClr val="accent5">
                    <a:lumMod val="50000"/>
                  </a:schemeClr>
                </a:solidFill>
                <a:latin typeface="Arial" panose="020B0604020202020204" pitchFamily="34" charset="0"/>
              </a:rPr>
              <a:t>8</a:t>
            </a:r>
            <a:r>
              <a:rPr lang="zh-CN" altLang="en-US" sz="2200" b="1" dirty="0">
                <a:solidFill>
                  <a:schemeClr val="accent5">
                    <a:lumMod val="50000"/>
                  </a:schemeClr>
                </a:solidFill>
                <a:latin typeface="Arial" panose="020B0604020202020204" pitchFamily="34" charset="0"/>
              </a:rPr>
              <a:t>．安装升级包</a:t>
            </a:r>
            <a:endParaRPr lang="zh-CN" altLang="en-US" sz="2200" b="1" dirty="0">
              <a:solidFill>
                <a:schemeClr val="accent5">
                  <a:lumMod val="50000"/>
                </a:schemeClr>
              </a:solidFill>
              <a:latin typeface="Arial" panose="020B0604020202020204" pitchFamily="34" charset="0"/>
            </a:endParaRPr>
          </a:p>
          <a:p>
            <a:pPr>
              <a:spcBef>
                <a:spcPct val="20000"/>
              </a:spcBef>
              <a:buFont typeface="Wingdings" panose="05000000000000000000" pitchFamily="2" charset="2"/>
              <a:buNone/>
              <a:defRPr/>
            </a:pPr>
            <a:r>
              <a:rPr lang="en-US" altLang="zh-CN" sz="2200" b="1" dirty="0">
                <a:solidFill>
                  <a:schemeClr val="accent5">
                    <a:lumMod val="50000"/>
                  </a:schemeClr>
                </a:solidFill>
                <a:latin typeface="Arial" panose="020B0604020202020204" pitchFamily="34" charset="0"/>
              </a:rPr>
              <a:t>9</a:t>
            </a:r>
            <a:r>
              <a:rPr lang="zh-CN" altLang="en-US" sz="2200" b="1" dirty="0">
                <a:solidFill>
                  <a:schemeClr val="accent5">
                    <a:lumMod val="50000"/>
                  </a:schemeClr>
                </a:solidFill>
                <a:latin typeface="Arial" panose="020B0604020202020204" pitchFamily="34" charset="0"/>
              </a:rPr>
              <a:t>．利用</a:t>
            </a:r>
            <a:r>
              <a:rPr lang="en-US" altLang="zh-CN" sz="2200" b="1" dirty="0">
                <a:solidFill>
                  <a:schemeClr val="accent5">
                    <a:lumMod val="50000"/>
                  </a:schemeClr>
                </a:solidFill>
                <a:latin typeface="Arial" panose="020B0604020202020204" pitchFamily="34" charset="0"/>
              </a:rPr>
              <a:t>MBSA</a:t>
            </a:r>
            <a:r>
              <a:rPr lang="zh-CN" altLang="en-US" sz="2200" b="1" dirty="0">
                <a:solidFill>
                  <a:schemeClr val="accent5">
                    <a:lumMod val="50000"/>
                  </a:schemeClr>
                </a:solidFill>
                <a:latin typeface="Arial" panose="020B0604020202020204" pitchFamily="34" charset="0"/>
              </a:rPr>
              <a:t>评估服务器安全性  </a:t>
            </a:r>
            <a:endParaRPr lang="zh-CN" altLang="en-US" sz="2200" b="1" dirty="0">
              <a:solidFill>
                <a:schemeClr val="accent5">
                  <a:lumMod val="50000"/>
                </a:schemeClr>
              </a:solidFill>
              <a:latin typeface="Arial" panose="020B0604020202020204" pitchFamily="34" charset="0"/>
            </a:endParaRPr>
          </a:p>
          <a:p>
            <a:pPr>
              <a:spcBef>
                <a:spcPct val="20000"/>
              </a:spcBef>
              <a:buFont typeface="Wingdings" panose="05000000000000000000" pitchFamily="2" charset="2"/>
              <a:buNone/>
              <a:defRPr/>
            </a:pPr>
            <a:r>
              <a:rPr lang="en-US" altLang="zh-CN" sz="2200" b="1" dirty="0">
                <a:solidFill>
                  <a:schemeClr val="accent5">
                    <a:lumMod val="50000"/>
                  </a:schemeClr>
                </a:solidFill>
                <a:latin typeface="Arial" panose="020B0604020202020204" pitchFamily="34" charset="0"/>
              </a:rPr>
              <a:t>10</a:t>
            </a:r>
            <a:r>
              <a:rPr lang="zh-CN" altLang="en-US" sz="2200" b="1" dirty="0">
                <a:solidFill>
                  <a:schemeClr val="accent5">
                    <a:lumMod val="50000"/>
                  </a:schemeClr>
                </a:solidFill>
                <a:latin typeface="Arial" panose="020B0604020202020204" pitchFamily="34" charset="0"/>
              </a:rPr>
              <a:t>．其他安全策略</a:t>
            </a:r>
            <a:r>
              <a:rPr lang="zh-CN" altLang="en-US" dirty="0">
                <a:solidFill>
                  <a:schemeClr val="accent5">
                    <a:lumMod val="50000"/>
                  </a:schemeClr>
                </a:solidFill>
                <a:latin typeface="Arial" panose="020B0604020202020204" pitchFamily="34" charset="0"/>
              </a:rPr>
              <a:t>   </a:t>
            </a:r>
            <a:endParaRPr lang="zh-CN" altLang="en-US" dirty="0">
              <a:solidFill>
                <a:schemeClr val="accent5">
                  <a:lumMod val="50000"/>
                </a:schemeClr>
              </a:solidFill>
              <a:latin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3"/>
          <p:cNvSpPr>
            <a:spLocks noChangeArrowheads="1"/>
          </p:cNvSpPr>
          <p:nvPr/>
        </p:nvSpPr>
        <p:spPr bwMode="auto">
          <a:xfrm>
            <a:off x="827088" y="2049463"/>
            <a:ext cx="5230812" cy="581025"/>
          </a:xfrm>
          <a:prstGeom prst="rect">
            <a:avLst/>
          </a:prstGeom>
          <a:noFill/>
          <a:ln w="9525">
            <a:noFill/>
            <a:miter lim="800000"/>
          </a:ln>
        </p:spPr>
        <p:txBody>
          <a:bodyPr anchor="ctr">
            <a:spAutoFit/>
          </a:bodyPr>
          <a:lstStyle/>
          <a:p>
            <a:pPr>
              <a:spcBef>
                <a:spcPct val="20000"/>
              </a:spcBef>
              <a:buFont typeface="Wingdings" panose="05000000000000000000" pitchFamily="2" charset="2"/>
              <a:buNone/>
            </a:pPr>
            <a:endParaRPr lang="zh-CN" altLang="en-US" sz="1600"/>
          </a:p>
          <a:p>
            <a:pPr eaLnBrk="0" hangingPunct="0">
              <a:spcBef>
                <a:spcPct val="20000"/>
              </a:spcBef>
              <a:buFont typeface="Wingdings" panose="05000000000000000000" pitchFamily="2" charset="2"/>
              <a:buNone/>
            </a:pPr>
            <a:endParaRPr lang="zh-CN" altLang="en-US" sz="1600">
              <a:latin typeface="宋体" panose="02010600030101010101" pitchFamily="2" charset="-122"/>
            </a:endParaRPr>
          </a:p>
        </p:txBody>
      </p:sp>
      <p:sp>
        <p:nvSpPr>
          <p:cNvPr id="5" name="圆角矩形 4"/>
          <p:cNvSpPr/>
          <p:nvPr/>
        </p:nvSpPr>
        <p:spPr bwMode="gray">
          <a:xfrm>
            <a:off x="531813" y="1536700"/>
            <a:ext cx="8080375" cy="4483100"/>
          </a:xfrm>
          <a:prstGeom prst="roundRect">
            <a:avLst/>
          </a:prstGeom>
        </p:spPr>
        <p:style>
          <a:lnRef idx="2">
            <a:schemeClr val="accent1"/>
          </a:lnRef>
          <a:fillRef idx="1">
            <a:schemeClr val="lt1"/>
          </a:fillRef>
          <a:effectRef idx="0">
            <a:schemeClr val="accent1"/>
          </a:effectRef>
          <a:fontRef idx="minor">
            <a:schemeClr val="dk1"/>
          </a:fontRef>
        </p:style>
        <p:txBody>
          <a:bodyPr anchor="ctr" anchorCtr="1">
            <a:normAutofit/>
          </a:bodyPr>
          <a:lstStyle/>
          <a:p>
            <a:pPr>
              <a:lnSpc>
                <a:spcPct val="80000"/>
              </a:lnSpc>
              <a:spcBef>
                <a:spcPct val="16000"/>
              </a:spcBef>
            </a:pPr>
            <a:r>
              <a:rPr lang="en-US" altLang="zh-CN" sz="2000" b="1">
                <a:solidFill>
                  <a:srgbClr val="CC0000"/>
                </a:solidFill>
                <a:latin typeface="Arial" panose="020B0604020202020204" pitchFamily="34" charset="0"/>
              </a:rPr>
              <a:t>      1</a:t>
            </a:r>
            <a:r>
              <a:rPr lang="zh-CN" altLang="en-US" sz="2000" b="1">
                <a:solidFill>
                  <a:srgbClr val="CC0000"/>
                </a:solidFill>
                <a:latin typeface="Arial" panose="020B0604020202020204" pitchFamily="34" charset="0"/>
              </a:rPr>
              <a:t>．数据加密的概念</a:t>
            </a:r>
            <a:endParaRPr lang="zh-CN" altLang="en-US" sz="2000" b="1">
              <a:solidFill>
                <a:srgbClr val="CC0000"/>
              </a:solidFill>
              <a:latin typeface="Arial" panose="020B0604020202020204" pitchFamily="34" charset="0"/>
            </a:endParaRPr>
          </a:p>
          <a:p>
            <a:pPr>
              <a:lnSpc>
                <a:spcPct val="80000"/>
              </a:lnSpc>
              <a:spcBef>
                <a:spcPct val="16000"/>
              </a:spcBef>
            </a:pPr>
            <a:r>
              <a:rPr lang="zh-CN" altLang="en-US" sz="2000" b="1">
                <a:solidFill>
                  <a:schemeClr val="tx1"/>
                </a:solidFill>
                <a:latin typeface="Arial" panose="020B0604020202020204" pitchFamily="34" charset="0"/>
              </a:rPr>
              <a:t>       </a:t>
            </a:r>
            <a:r>
              <a:rPr lang="zh-CN" altLang="en-US" sz="2000" b="1">
                <a:solidFill>
                  <a:srgbClr val="CC0000"/>
                </a:solidFill>
                <a:latin typeface="Arial" panose="020B0604020202020204" pitchFamily="34" charset="0"/>
              </a:rPr>
              <a:t>数据加密</a:t>
            </a:r>
            <a:r>
              <a:rPr lang="zh-CN" altLang="en-US" sz="2000" b="1">
                <a:solidFill>
                  <a:schemeClr val="tx1"/>
                </a:solidFill>
                <a:latin typeface="Arial" panose="020B0604020202020204" pitchFamily="34" charset="0"/>
              </a:rPr>
              <a:t>是防止数据在存储和传输中失密的有效手段。</a:t>
            </a:r>
            <a:r>
              <a:rPr lang="zh-CN" altLang="en-US" sz="2000" b="1">
                <a:solidFill>
                  <a:srgbClr val="CC0066"/>
                </a:solidFill>
                <a:latin typeface="Arial" panose="020B0604020202020204" pitchFamily="34" charset="0"/>
              </a:rPr>
              <a:t>加密方法</a:t>
            </a:r>
            <a:r>
              <a:rPr lang="zh-CN" altLang="en-US" sz="2000" b="1" u="sng">
                <a:solidFill>
                  <a:srgbClr val="CC0066"/>
                </a:solidFill>
                <a:latin typeface="Arial" panose="020B0604020202020204" pitchFamily="34" charset="0"/>
              </a:rPr>
              <a:t>主要方式</a:t>
            </a:r>
            <a:r>
              <a:rPr lang="zh-CN" altLang="en-US" sz="2000" b="1">
                <a:solidFill>
                  <a:schemeClr val="tx1"/>
                </a:solidFill>
                <a:latin typeface="Arial" panose="020B0604020202020204" pitchFamily="34" charset="0"/>
              </a:rPr>
              <a:t>：</a:t>
            </a:r>
            <a:endParaRPr lang="zh-CN" altLang="en-US" sz="2000" b="1">
              <a:solidFill>
                <a:schemeClr val="tx1"/>
              </a:solidFill>
              <a:latin typeface="Arial" panose="020B0604020202020204" pitchFamily="34" charset="0"/>
            </a:endParaRPr>
          </a:p>
          <a:p>
            <a:pPr>
              <a:lnSpc>
                <a:spcPct val="80000"/>
              </a:lnSpc>
              <a:spcBef>
                <a:spcPct val="16000"/>
              </a:spcBef>
            </a:pPr>
            <a:r>
              <a:rPr lang="zh-CN" altLang="en-US" sz="2000" b="1">
                <a:solidFill>
                  <a:schemeClr val="tx1"/>
                </a:solidFill>
                <a:latin typeface="Arial" panose="020B0604020202020204" pitchFamily="34" charset="0"/>
              </a:rPr>
              <a:t>   ①替换方法。使用密钥</a:t>
            </a:r>
            <a:r>
              <a:rPr lang="en-US" altLang="zh-CN" sz="2000" b="1">
                <a:solidFill>
                  <a:schemeClr val="tx1"/>
                </a:solidFill>
                <a:latin typeface="Arial" panose="020B0604020202020204" pitchFamily="34" charset="0"/>
              </a:rPr>
              <a:t>(Encryption Key)</a:t>
            </a:r>
            <a:r>
              <a:rPr lang="zh-CN" altLang="en-US" sz="2000" b="1">
                <a:solidFill>
                  <a:schemeClr val="tx1"/>
                </a:solidFill>
                <a:latin typeface="Arial" panose="020B0604020202020204" pitchFamily="34" charset="0"/>
              </a:rPr>
              <a:t>将明文中的每个字符转换为密文中的字符。</a:t>
            </a:r>
            <a:endParaRPr lang="zh-CN" altLang="en-US" sz="2000" b="1">
              <a:solidFill>
                <a:schemeClr val="tx1"/>
              </a:solidFill>
              <a:latin typeface="Arial" panose="020B0604020202020204" pitchFamily="34" charset="0"/>
            </a:endParaRPr>
          </a:p>
          <a:p>
            <a:pPr>
              <a:lnSpc>
                <a:spcPct val="80000"/>
              </a:lnSpc>
              <a:spcBef>
                <a:spcPct val="16000"/>
              </a:spcBef>
            </a:pPr>
            <a:r>
              <a:rPr lang="zh-CN" altLang="en-US" sz="2000" b="1">
                <a:solidFill>
                  <a:schemeClr val="tx1"/>
                </a:solidFill>
                <a:latin typeface="Arial" panose="020B0604020202020204" pitchFamily="34" charset="0"/>
              </a:rPr>
              <a:t>   ②置换方法。只将明文的字符按不同的顺序重新排列。</a:t>
            </a:r>
            <a:endParaRPr lang="zh-CN" altLang="en-US" sz="2000" b="1">
              <a:solidFill>
                <a:schemeClr val="tx1"/>
              </a:solidFill>
              <a:latin typeface="Arial" panose="020B0604020202020204" pitchFamily="34" charset="0"/>
            </a:endParaRPr>
          </a:p>
          <a:p>
            <a:pPr>
              <a:lnSpc>
                <a:spcPct val="80000"/>
              </a:lnSpc>
              <a:spcBef>
                <a:spcPct val="16000"/>
              </a:spcBef>
            </a:pPr>
            <a:r>
              <a:rPr lang="zh-CN" altLang="en-US" sz="2000" b="1">
                <a:solidFill>
                  <a:schemeClr val="tx1"/>
                </a:solidFill>
                <a:latin typeface="Arial" panose="020B0604020202020204" pitchFamily="34" charset="0"/>
              </a:rPr>
              <a:t>将这两种方式结合，就可达到相当高的安全程度。  </a:t>
            </a:r>
            <a:endParaRPr lang="zh-CN" altLang="en-US" sz="2000" b="1">
              <a:solidFill>
                <a:schemeClr val="tx1"/>
              </a:solidFill>
              <a:latin typeface="Arial" panose="020B0604020202020204" pitchFamily="34" charset="0"/>
            </a:endParaRPr>
          </a:p>
          <a:p>
            <a:pPr>
              <a:lnSpc>
                <a:spcPct val="80000"/>
              </a:lnSpc>
              <a:spcBef>
                <a:spcPct val="16000"/>
              </a:spcBef>
            </a:pPr>
            <a:r>
              <a:rPr lang="en-US" altLang="zh-CN" sz="2000" b="1">
                <a:solidFill>
                  <a:srgbClr val="CC0000"/>
                </a:solidFill>
                <a:latin typeface="Arial" panose="020B0604020202020204" pitchFamily="34" charset="0"/>
              </a:rPr>
              <a:t>       2</a:t>
            </a:r>
            <a:r>
              <a:rPr lang="zh-CN" altLang="en-US" sz="2000" b="1">
                <a:solidFill>
                  <a:srgbClr val="CC0000"/>
                </a:solidFill>
                <a:latin typeface="Arial" panose="020B0604020202020204" pitchFamily="34" charset="0"/>
              </a:rPr>
              <a:t>．</a:t>
            </a:r>
            <a:r>
              <a:rPr lang="en-US" altLang="zh-CN" sz="2000" b="1">
                <a:solidFill>
                  <a:srgbClr val="CC0000"/>
                </a:solidFill>
                <a:latin typeface="Arial" panose="020B0604020202020204" pitchFamily="34" charset="0"/>
              </a:rPr>
              <a:t>SQL Server</a:t>
            </a:r>
            <a:r>
              <a:rPr lang="zh-CN" altLang="en-US" sz="2000" b="1">
                <a:solidFill>
                  <a:srgbClr val="CC0000"/>
                </a:solidFill>
                <a:latin typeface="Arial" panose="020B0604020202020204" pitchFamily="34" charset="0"/>
              </a:rPr>
              <a:t>加密技术</a:t>
            </a:r>
            <a:r>
              <a:rPr lang="zh-CN" altLang="en-US" sz="2000" b="1">
                <a:solidFill>
                  <a:schemeClr val="tx1"/>
                </a:solidFill>
                <a:latin typeface="Arial" panose="020B0604020202020204" pitchFamily="34" charset="0"/>
              </a:rPr>
              <a:t> </a:t>
            </a:r>
            <a:endParaRPr lang="zh-CN" altLang="en-US" sz="2000" b="1">
              <a:solidFill>
                <a:schemeClr val="tx1"/>
              </a:solidFill>
              <a:latin typeface="Arial" panose="020B0604020202020204" pitchFamily="34" charset="0"/>
            </a:endParaRPr>
          </a:p>
          <a:p>
            <a:pPr>
              <a:lnSpc>
                <a:spcPct val="80000"/>
              </a:lnSpc>
              <a:spcBef>
                <a:spcPct val="16000"/>
              </a:spcBef>
            </a:pPr>
            <a:r>
              <a:rPr lang="zh-CN" altLang="en-US" sz="2000" b="1">
                <a:solidFill>
                  <a:schemeClr val="tx1"/>
                </a:solidFill>
                <a:latin typeface="Arial" panose="020B0604020202020204" pitchFamily="34" charset="0"/>
              </a:rPr>
              <a:t>       数据用数字方式存储在服务器中并非万无一失</a:t>
            </a:r>
            <a:r>
              <a:rPr lang="en-US" altLang="zh-CN" sz="2000" b="1">
                <a:solidFill>
                  <a:schemeClr val="tx1"/>
                </a:solidFill>
                <a:latin typeface="Arial" panose="020B0604020202020204" pitchFamily="34" charset="0"/>
              </a:rPr>
              <a:t>,</a:t>
            </a:r>
            <a:r>
              <a:rPr lang="zh-CN" altLang="en-US" sz="2000" b="1">
                <a:solidFill>
                  <a:schemeClr val="tx1"/>
                </a:solidFill>
                <a:latin typeface="Arial" panose="020B0604020202020204" pitchFamily="34" charset="0"/>
              </a:rPr>
              <a:t>数据加密成为更好的数据保护技术</a:t>
            </a:r>
            <a:r>
              <a:rPr lang="en-US" altLang="zh-CN" sz="2000" b="1">
                <a:solidFill>
                  <a:schemeClr val="tx1"/>
                </a:solidFill>
                <a:latin typeface="Arial" panose="020B0604020202020204" pitchFamily="34" charset="0"/>
              </a:rPr>
              <a:t>,</a:t>
            </a:r>
            <a:r>
              <a:rPr lang="zh-CN" altLang="en-US" sz="2000" b="1">
                <a:solidFill>
                  <a:schemeClr val="tx1"/>
                </a:solidFill>
                <a:latin typeface="Arial" panose="020B0604020202020204" pitchFamily="34" charset="0"/>
              </a:rPr>
              <a:t>如对数据增加了一层保护</a:t>
            </a:r>
            <a:r>
              <a:rPr lang="en-US" altLang="zh-CN" sz="2000" b="1">
                <a:solidFill>
                  <a:schemeClr val="tx1"/>
                </a:solidFill>
                <a:latin typeface="Arial" panose="020B0604020202020204" pitchFamily="34" charset="0"/>
              </a:rPr>
              <a:t>.</a:t>
            </a:r>
            <a:r>
              <a:rPr lang="zh-CN" altLang="en-US" sz="2000" b="1">
                <a:solidFill>
                  <a:srgbClr val="CC0066"/>
                </a:solidFill>
                <a:latin typeface="Arial" panose="020B0604020202020204" pitchFamily="34" charset="0"/>
              </a:rPr>
              <a:t>加密方法</a:t>
            </a:r>
            <a:r>
              <a:rPr lang="zh-CN" altLang="en-US" sz="2000" b="1">
                <a:solidFill>
                  <a:schemeClr val="tx1"/>
                </a:solidFill>
                <a:latin typeface="Arial" panose="020B0604020202020204" pitchFamily="34" charset="0"/>
              </a:rPr>
              <a:t>： </a:t>
            </a:r>
            <a:endParaRPr lang="zh-CN" altLang="en-US" sz="2000" b="1">
              <a:solidFill>
                <a:schemeClr val="tx1"/>
              </a:solidFill>
              <a:latin typeface="Arial" panose="020B0604020202020204" pitchFamily="34" charset="0"/>
            </a:endParaRPr>
          </a:p>
          <a:p>
            <a:pPr>
              <a:lnSpc>
                <a:spcPct val="80000"/>
              </a:lnSpc>
              <a:spcBef>
                <a:spcPct val="16000"/>
              </a:spcBef>
            </a:pPr>
            <a:r>
              <a:rPr lang="zh-CN" altLang="en-US" sz="2000" b="1">
                <a:solidFill>
                  <a:schemeClr val="tx1"/>
                </a:solidFill>
                <a:latin typeface="Arial" panose="020B0604020202020204" pitchFamily="34" charset="0"/>
              </a:rPr>
              <a:t>① 对称式加密（</a:t>
            </a:r>
            <a:r>
              <a:rPr lang="en-US" altLang="zh-CN" sz="2000" b="1">
                <a:solidFill>
                  <a:schemeClr val="tx1"/>
                </a:solidFill>
                <a:latin typeface="Arial" panose="020B0604020202020204" pitchFamily="34" charset="0"/>
              </a:rPr>
              <a:t>Symmetric Key Encryption</a:t>
            </a:r>
            <a:r>
              <a:rPr lang="zh-CN" altLang="en-US" sz="2000" b="1">
                <a:solidFill>
                  <a:schemeClr val="tx1"/>
                </a:solidFill>
                <a:latin typeface="Arial" panose="020B0604020202020204" pitchFamily="34" charset="0"/>
              </a:rPr>
              <a:t>）。</a:t>
            </a:r>
            <a:endParaRPr lang="zh-CN" altLang="en-US" sz="2000" b="1">
              <a:solidFill>
                <a:schemeClr val="tx1"/>
              </a:solidFill>
              <a:latin typeface="Arial" panose="020B0604020202020204" pitchFamily="34" charset="0"/>
            </a:endParaRPr>
          </a:p>
          <a:p>
            <a:pPr>
              <a:lnSpc>
                <a:spcPct val="80000"/>
              </a:lnSpc>
              <a:spcBef>
                <a:spcPct val="16000"/>
              </a:spcBef>
            </a:pPr>
            <a:r>
              <a:rPr lang="zh-CN" altLang="en-US" sz="2000" b="1">
                <a:solidFill>
                  <a:schemeClr val="tx1"/>
                </a:solidFill>
                <a:latin typeface="Arial" panose="020B0604020202020204" pitchFamily="34" charset="0"/>
              </a:rPr>
              <a:t>② 非对称密钥加密（</a:t>
            </a:r>
            <a:r>
              <a:rPr lang="en-US" altLang="zh-CN" sz="2000" b="1">
                <a:solidFill>
                  <a:schemeClr val="tx1"/>
                </a:solidFill>
                <a:latin typeface="Arial" panose="020B0604020202020204" pitchFamily="34" charset="0"/>
              </a:rPr>
              <a:t>Asymmetric Key Encryption</a:t>
            </a:r>
            <a:r>
              <a:rPr lang="zh-CN" altLang="en-US" sz="2000" b="1">
                <a:solidFill>
                  <a:schemeClr val="tx1"/>
                </a:solidFill>
                <a:latin typeface="Arial" panose="020B0604020202020204" pitchFamily="34" charset="0"/>
              </a:rPr>
              <a:t>）。</a:t>
            </a:r>
            <a:endParaRPr lang="zh-CN" altLang="en-US" sz="2000" b="1">
              <a:solidFill>
                <a:schemeClr val="tx1"/>
              </a:solidFill>
              <a:latin typeface="Arial" panose="020B0604020202020204" pitchFamily="34" charset="0"/>
            </a:endParaRPr>
          </a:p>
          <a:p>
            <a:pPr>
              <a:lnSpc>
                <a:spcPct val="80000"/>
              </a:lnSpc>
              <a:spcBef>
                <a:spcPct val="16000"/>
              </a:spcBef>
            </a:pPr>
            <a:r>
              <a:rPr lang="zh-CN" altLang="en-US" sz="2000" b="1">
                <a:solidFill>
                  <a:schemeClr val="tx1"/>
                </a:solidFill>
                <a:latin typeface="Arial" panose="020B0604020202020204" pitchFamily="34" charset="0"/>
              </a:rPr>
              <a:t>③ 数字证书（</a:t>
            </a:r>
            <a:r>
              <a:rPr lang="en-US" altLang="zh-CN" sz="2000" b="1">
                <a:solidFill>
                  <a:schemeClr val="tx1"/>
                </a:solidFill>
                <a:latin typeface="Arial" panose="020B0604020202020204" pitchFamily="34" charset="0"/>
              </a:rPr>
              <a:t>Certificate</a:t>
            </a:r>
            <a:r>
              <a:rPr lang="zh-CN" altLang="en-US" sz="2000" b="1">
                <a:solidFill>
                  <a:schemeClr val="tx1"/>
                </a:solidFill>
                <a:latin typeface="Arial" panose="020B0604020202020204" pitchFamily="34" charset="0"/>
              </a:rPr>
              <a:t>）。 </a:t>
            </a:r>
            <a:endParaRPr lang="zh-CN" altLang="en-US" sz="2000" b="1">
              <a:solidFill>
                <a:schemeClr val="tx1"/>
              </a:solidFill>
              <a:latin typeface="Arial" panose="020B0604020202020204" pitchFamily="34" charset="0"/>
            </a:endParaRPr>
          </a:p>
        </p:txBody>
      </p:sp>
      <p:sp>
        <p:nvSpPr>
          <p:cNvPr id="38915" name="Rectangle 5"/>
          <p:cNvSpPr>
            <a:spLocks noChangeArrowheads="1"/>
          </p:cNvSpPr>
          <p:nvPr/>
        </p:nvSpPr>
        <p:spPr bwMode="auto">
          <a:xfrm>
            <a:off x="468313" y="1014413"/>
            <a:ext cx="4895850" cy="522287"/>
          </a:xfrm>
          <a:prstGeom prst="rect">
            <a:avLst/>
          </a:prstGeom>
          <a:noFill/>
          <a:ln w="9525">
            <a:noFill/>
            <a:miter lim="800000"/>
          </a:ln>
        </p:spPr>
        <p:txBody>
          <a:bodyPr anchor="ctr">
            <a:spAutoFit/>
          </a:bodyPr>
          <a:lstStyle/>
          <a:p>
            <a:pPr>
              <a:spcBef>
                <a:spcPct val="20000"/>
              </a:spcBef>
              <a:buFont typeface="Wingdings" panose="05000000000000000000" pitchFamily="2" charset="2"/>
              <a:buNone/>
            </a:pPr>
            <a:r>
              <a:rPr lang="zh-CN" altLang="zh-CN" sz="2800" b="1">
                <a:solidFill>
                  <a:srgbClr val="FF0000"/>
                </a:solidFill>
              </a:rPr>
              <a:t>10.6.2 数据常用加密技术</a:t>
            </a:r>
            <a:r>
              <a:rPr lang="zh-CN" altLang="en-US"/>
              <a:t> </a:t>
            </a:r>
            <a:endParaRPr lang="zh-CN" altLang="en-US"/>
          </a:p>
        </p:txBody>
      </p:sp>
      <p:pic>
        <p:nvPicPr>
          <p:cNvPr id="38916" name="Picture 7" descr="MC900436992[1]"/>
          <p:cNvPicPr>
            <a:picLocks noChangeAspect="1" noChangeArrowheads="1"/>
          </p:cNvPicPr>
          <p:nvPr/>
        </p:nvPicPr>
        <p:blipFill>
          <a:blip r:embed="rId1" cstate="print"/>
          <a:srcRect/>
          <a:stretch>
            <a:fillRect/>
          </a:stretch>
        </p:blipFill>
        <p:spPr bwMode="auto">
          <a:xfrm>
            <a:off x="7315200" y="5562600"/>
            <a:ext cx="1625600" cy="1109663"/>
          </a:xfrm>
          <a:prstGeom prst="rect">
            <a:avLst/>
          </a:prstGeom>
          <a:noFill/>
          <a:ln w="9525">
            <a:noFill/>
            <a:miter lim="800000"/>
            <a:headEnd/>
            <a:tailEnd/>
          </a:ln>
        </p:spPr>
      </p:pic>
      <p:sp>
        <p:nvSpPr>
          <p:cNvPr id="38917" name="Rectangle 2"/>
          <p:cNvSpPr txBox="1">
            <a:spLocks noChangeArrowheads="1"/>
          </p:cNvSpPr>
          <p:nvPr/>
        </p:nvSpPr>
        <p:spPr bwMode="auto">
          <a:xfrm>
            <a:off x="2176463" y="169863"/>
            <a:ext cx="5484812" cy="563562"/>
          </a:xfrm>
          <a:prstGeom prst="rect">
            <a:avLst/>
          </a:prstGeom>
          <a:noFill/>
          <a:ln w="9525">
            <a:noFill/>
            <a:miter lim="800000"/>
          </a:ln>
        </p:spPr>
        <p:txBody>
          <a:bodyPr anchor="ctr"/>
          <a:lstStyle/>
          <a:p>
            <a:pPr>
              <a:spcBef>
                <a:spcPct val="20000"/>
              </a:spcBef>
              <a:buFont typeface="Wingdings" panose="05000000000000000000" pitchFamily="2" charset="2"/>
              <a:buNone/>
            </a:pPr>
            <a:r>
              <a:rPr lang="zh-CN" altLang="zh-CN" sz="3200" b="1">
                <a:solidFill>
                  <a:schemeClr val="bg1"/>
                </a:solidFill>
              </a:rPr>
              <a:t>*10.6 数据库安全解决方案</a:t>
            </a:r>
            <a:endParaRPr lang="zh-CN" altLang="zh-CN" sz="3200" b="1">
              <a:solidFill>
                <a:schemeClr val="bg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4"/>
          <p:cNvSpPr>
            <a:spLocks noChangeArrowheads="1"/>
          </p:cNvSpPr>
          <p:nvPr/>
        </p:nvSpPr>
        <p:spPr bwMode="auto">
          <a:xfrm>
            <a:off x="539750" y="1195388"/>
            <a:ext cx="6048375" cy="522287"/>
          </a:xfrm>
          <a:prstGeom prst="rect">
            <a:avLst/>
          </a:prstGeom>
          <a:noFill/>
          <a:ln w="9525">
            <a:noFill/>
            <a:miter lim="800000"/>
          </a:ln>
        </p:spPr>
        <p:txBody>
          <a:bodyPr anchor="ctr">
            <a:spAutoFit/>
          </a:bodyPr>
          <a:lstStyle/>
          <a:p>
            <a:pPr indent="266700">
              <a:spcBef>
                <a:spcPct val="20000"/>
              </a:spcBef>
              <a:buFont typeface="Wingdings" panose="05000000000000000000" pitchFamily="2" charset="2"/>
              <a:buNone/>
              <a:tabLst>
                <a:tab pos="533400" algn="l"/>
              </a:tabLst>
            </a:pPr>
            <a:r>
              <a:rPr lang="zh-CN" altLang="zh-CN" sz="2800" b="1">
                <a:solidFill>
                  <a:srgbClr val="FF0000"/>
                </a:solidFill>
              </a:rPr>
              <a:t>10.6.3 数据库安全审计</a:t>
            </a:r>
            <a:endParaRPr lang="zh-CN" altLang="zh-CN" sz="2800" b="1">
              <a:solidFill>
                <a:srgbClr val="FF0000"/>
              </a:solidFill>
            </a:endParaRPr>
          </a:p>
        </p:txBody>
      </p:sp>
      <p:sp>
        <p:nvSpPr>
          <p:cNvPr id="39939" name="Rectangle 15"/>
          <p:cNvSpPr>
            <a:spLocks noChangeArrowheads="1"/>
          </p:cNvSpPr>
          <p:nvPr/>
        </p:nvSpPr>
        <p:spPr bwMode="auto">
          <a:xfrm>
            <a:off x="511175" y="1863725"/>
            <a:ext cx="8121650" cy="1570038"/>
          </a:xfrm>
          <a:prstGeom prst="rect">
            <a:avLst/>
          </a:prstGeom>
          <a:noFill/>
          <a:ln w="9525">
            <a:noFill/>
            <a:miter lim="800000"/>
          </a:ln>
        </p:spPr>
        <p:txBody>
          <a:bodyPr anchor="ctr">
            <a:spAutoFit/>
          </a:bodyPr>
          <a:lstStyle/>
          <a:p>
            <a:pPr indent="266700">
              <a:spcBef>
                <a:spcPct val="20000"/>
              </a:spcBef>
              <a:buFont typeface="Wingdings" panose="05000000000000000000" pitchFamily="2" charset="2"/>
              <a:buNone/>
            </a:pPr>
            <a:r>
              <a:rPr lang="zh-CN" altLang="en-US" b="1" dirty="0"/>
              <a:t>       </a:t>
            </a:r>
            <a:r>
              <a:rPr lang="zh-CN" altLang="en-US" b="1" dirty="0">
                <a:solidFill>
                  <a:srgbClr val="CC0000"/>
                </a:solidFill>
              </a:rPr>
              <a:t>审计功能</a:t>
            </a:r>
            <a:r>
              <a:rPr lang="zh-CN" altLang="en-US" b="1" dirty="0"/>
              <a:t>是将用户对数据库的操作自动记录存入审计日志</a:t>
            </a:r>
            <a:r>
              <a:rPr lang="en-US" altLang="zh-CN" b="1" dirty="0"/>
              <a:t>(Audit Log)</a:t>
            </a:r>
            <a:r>
              <a:rPr lang="zh-CN" altLang="en-US" b="1" dirty="0"/>
              <a:t>，当发生数据被非法存取时，</a:t>
            </a:r>
            <a:r>
              <a:rPr lang="en-US" altLang="zh-CN" b="1" dirty="0"/>
              <a:t>DBA</a:t>
            </a:r>
            <a:r>
              <a:rPr lang="zh-CN" altLang="en-US" b="1" dirty="0"/>
              <a:t>可利用</a:t>
            </a:r>
            <a:r>
              <a:rPr lang="zh-CN" altLang="en-US" b="1" dirty="0">
                <a:solidFill>
                  <a:srgbClr val="C00000"/>
                </a:solidFill>
              </a:rPr>
              <a:t>审计跟踪</a:t>
            </a:r>
            <a:r>
              <a:rPr lang="zh-CN" altLang="en-US" b="1" dirty="0"/>
              <a:t>信息，确定非法存取数据的人、时间和内容等，可有效地保护和维护数据安全。</a:t>
            </a:r>
            <a:endParaRPr lang="zh-CN" altLang="en-US" dirty="0"/>
          </a:p>
        </p:txBody>
      </p:sp>
      <p:pic>
        <p:nvPicPr>
          <p:cNvPr id="39940" name="Picture 10"/>
          <p:cNvPicPr>
            <a:picLocks noChangeAspect="1" noChangeArrowheads="1"/>
          </p:cNvPicPr>
          <p:nvPr/>
        </p:nvPicPr>
        <p:blipFill>
          <a:blip r:embed="rId1" cstate="print">
            <a:lum contrast="12000"/>
          </a:blip>
          <a:srcRect/>
          <a:stretch>
            <a:fillRect/>
          </a:stretch>
        </p:blipFill>
        <p:spPr bwMode="auto">
          <a:xfrm>
            <a:off x="792163" y="3433763"/>
            <a:ext cx="3671887" cy="2943225"/>
          </a:xfrm>
          <a:prstGeom prst="rect">
            <a:avLst/>
          </a:prstGeom>
          <a:noFill/>
          <a:ln w="9525">
            <a:noFill/>
            <a:miter lim="800000"/>
            <a:headEnd/>
            <a:tailEnd/>
          </a:ln>
        </p:spPr>
      </p:pic>
      <p:pic>
        <p:nvPicPr>
          <p:cNvPr id="39941" name="Picture 9"/>
          <p:cNvPicPr>
            <a:picLocks noChangeAspect="1" noChangeArrowheads="1"/>
          </p:cNvPicPr>
          <p:nvPr/>
        </p:nvPicPr>
        <p:blipFill>
          <a:blip r:embed="rId2" cstate="print">
            <a:lum contrast="6000"/>
          </a:blip>
          <a:srcRect/>
          <a:stretch>
            <a:fillRect/>
          </a:stretch>
        </p:blipFill>
        <p:spPr bwMode="auto">
          <a:xfrm>
            <a:off x="4608513" y="3433763"/>
            <a:ext cx="3671887" cy="2892425"/>
          </a:xfrm>
          <a:prstGeom prst="rect">
            <a:avLst/>
          </a:prstGeom>
          <a:noFill/>
          <a:ln w="9525">
            <a:noFill/>
            <a:miter lim="800000"/>
            <a:headEnd/>
            <a:tailEnd/>
          </a:ln>
        </p:spPr>
      </p:pic>
      <p:sp>
        <p:nvSpPr>
          <p:cNvPr id="39942" name="Rectangle 11"/>
          <p:cNvSpPr>
            <a:spLocks noChangeArrowheads="1"/>
          </p:cNvSpPr>
          <p:nvPr/>
        </p:nvSpPr>
        <p:spPr bwMode="auto">
          <a:xfrm>
            <a:off x="0" y="1046163"/>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39943" name="Rectangle 12"/>
          <p:cNvSpPr>
            <a:spLocks noChangeArrowheads="1"/>
          </p:cNvSpPr>
          <p:nvPr/>
        </p:nvSpPr>
        <p:spPr bwMode="auto">
          <a:xfrm>
            <a:off x="4465638" y="3189288"/>
            <a:ext cx="215900" cy="244475"/>
          </a:xfrm>
          <a:prstGeom prst="rect">
            <a:avLst/>
          </a:prstGeom>
          <a:noFill/>
          <a:ln w="9525">
            <a:noFill/>
            <a:miter lim="800000"/>
          </a:ln>
        </p:spPr>
        <p:txBody>
          <a:bodyPr wrap="none" anchor="ctr">
            <a:spAutoFit/>
          </a:bodyPr>
          <a:lstStyle/>
          <a:p>
            <a:pPr algn="dist" eaLnBrk="0" hangingPunct="0">
              <a:spcBef>
                <a:spcPct val="20000"/>
              </a:spcBef>
              <a:buFont typeface="Wingdings" panose="05000000000000000000" pitchFamily="2" charset="2"/>
              <a:buNone/>
            </a:pPr>
            <a:r>
              <a:rPr lang="zh-CN" altLang="en-US" sz="1000">
                <a:latin typeface="Times New Roman" panose="02020603050405020304" pitchFamily="18" charset="0"/>
                <a:ea typeface="方正书宋简体"/>
                <a:cs typeface="方正书宋简体"/>
              </a:rPr>
              <a:t> </a:t>
            </a:r>
            <a:endParaRPr lang="zh-CN" altLang="en-US">
              <a:ea typeface="方正书宋简体"/>
              <a:cs typeface="方正书宋简体"/>
            </a:endParaRPr>
          </a:p>
        </p:txBody>
      </p:sp>
      <p:sp>
        <p:nvSpPr>
          <p:cNvPr id="39944" name="Rectangle 13"/>
          <p:cNvSpPr>
            <a:spLocks noChangeArrowheads="1"/>
          </p:cNvSpPr>
          <p:nvPr/>
        </p:nvSpPr>
        <p:spPr bwMode="auto">
          <a:xfrm>
            <a:off x="1838325" y="6461125"/>
            <a:ext cx="5781675" cy="276225"/>
          </a:xfrm>
          <a:prstGeom prst="rect">
            <a:avLst/>
          </a:prstGeom>
          <a:noFill/>
          <a:ln w="9525">
            <a:noFill/>
            <a:miter lim="800000"/>
          </a:ln>
        </p:spPr>
        <p:txBody>
          <a:bodyPr anchor="ctr">
            <a:spAutoFit/>
          </a:bodyPr>
          <a:lstStyle/>
          <a:p>
            <a:pPr algn="dist" eaLnBrk="0" hangingPunct="0">
              <a:spcBef>
                <a:spcPct val="20000"/>
              </a:spcBef>
              <a:buFont typeface="Wingdings" panose="05000000000000000000" pitchFamily="2" charset="2"/>
              <a:buNone/>
            </a:pPr>
            <a:r>
              <a:rPr lang="zh-CN" altLang="en-US" sz="1200" b="1">
                <a:latin typeface="Times New Roman" panose="02020603050405020304" pitchFamily="18" charset="0"/>
                <a:ea typeface="方正书宋简体"/>
                <a:cs typeface="方正书宋简体"/>
              </a:rPr>
              <a:t>图</a:t>
            </a:r>
            <a:r>
              <a:rPr lang="en-US" altLang="zh-CN" sz="1200" b="1">
                <a:latin typeface="Times New Roman" panose="02020603050405020304" pitchFamily="18" charset="0"/>
                <a:ea typeface="方正书宋简体"/>
                <a:cs typeface="方正书宋简体"/>
              </a:rPr>
              <a:t>10-8 </a:t>
            </a:r>
            <a:r>
              <a:rPr lang="zh-CN" altLang="en-US" sz="1200" b="1">
                <a:latin typeface="Times New Roman" panose="02020603050405020304" pitchFamily="18" charset="0"/>
                <a:ea typeface="方正书宋简体"/>
                <a:cs typeface="方正书宋简体"/>
              </a:rPr>
              <a:t>选择要跟踪的事件类               图</a:t>
            </a:r>
            <a:r>
              <a:rPr lang="en-US" altLang="zh-CN" sz="1200" b="1">
                <a:latin typeface="Times New Roman" panose="02020603050405020304" pitchFamily="18" charset="0"/>
                <a:ea typeface="方正书宋简体"/>
                <a:cs typeface="方正书宋简体"/>
              </a:rPr>
              <a:t>10-9 </a:t>
            </a:r>
            <a:r>
              <a:rPr lang="zh-CN" altLang="en-US" sz="1200" b="1">
                <a:latin typeface="Times New Roman" panose="02020603050405020304" pitchFamily="18" charset="0"/>
                <a:ea typeface="方正书宋简体"/>
                <a:cs typeface="方正书宋简体"/>
              </a:rPr>
              <a:t>登录事件查询分析器</a:t>
            </a:r>
            <a:endParaRPr lang="zh-CN" altLang="en-US" sz="1200" b="1">
              <a:ea typeface="方正书宋简体"/>
              <a:cs typeface="方正书宋简体"/>
            </a:endParaRPr>
          </a:p>
        </p:txBody>
      </p:sp>
      <p:sp>
        <p:nvSpPr>
          <p:cNvPr id="39945" name="Rectangle 2"/>
          <p:cNvSpPr txBox="1">
            <a:spLocks noChangeArrowheads="1"/>
          </p:cNvSpPr>
          <p:nvPr/>
        </p:nvSpPr>
        <p:spPr bwMode="auto">
          <a:xfrm>
            <a:off x="2176463" y="169863"/>
            <a:ext cx="5484812" cy="563562"/>
          </a:xfrm>
          <a:prstGeom prst="rect">
            <a:avLst/>
          </a:prstGeom>
          <a:noFill/>
          <a:ln w="9525">
            <a:noFill/>
            <a:miter lim="800000"/>
          </a:ln>
        </p:spPr>
        <p:txBody>
          <a:bodyPr anchor="ctr"/>
          <a:lstStyle/>
          <a:p>
            <a:pPr>
              <a:spcBef>
                <a:spcPct val="20000"/>
              </a:spcBef>
              <a:buFont typeface="Wingdings" panose="05000000000000000000" pitchFamily="2" charset="2"/>
              <a:buNone/>
            </a:pPr>
            <a:r>
              <a:rPr lang="zh-CN" altLang="zh-CN" sz="3200" b="1">
                <a:solidFill>
                  <a:schemeClr val="bg1"/>
                </a:solidFill>
              </a:rPr>
              <a:t>*10.6 数据库安全解决方案</a:t>
            </a:r>
            <a:endParaRPr lang="zh-CN" altLang="zh-CN" sz="3200" b="1">
              <a:solidFill>
                <a:schemeClr val="bg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3"/>
          <p:cNvSpPr>
            <a:spLocks noGrp="1" noChangeArrowheads="1"/>
          </p:cNvSpPr>
          <p:nvPr>
            <p:ph type="body" idx="4294967295"/>
          </p:nvPr>
        </p:nvSpPr>
        <p:spPr>
          <a:xfrm>
            <a:off x="-49213" y="1163638"/>
            <a:ext cx="6086476" cy="863600"/>
          </a:xfrm>
        </p:spPr>
        <p:txBody>
          <a:bodyPr/>
          <a:lstStyle/>
          <a:p>
            <a:pPr marL="457200" lvl="1" indent="0">
              <a:buFont typeface="Wingdings" panose="05000000000000000000" pitchFamily="2" charset="2"/>
              <a:buNone/>
            </a:pPr>
            <a:r>
              <a:rPr lang="zh-CN" altLang="zh-CN" sz="2400" b="1" smtClean="0">
                <a:solidFill>
                  <a:srgbClr val="FF0000"/>
                </a:solidFill>
              </a:rPr>
              <a:t>10.6.4 银行数据库安全解决方案</a:t>
            </a:r>
            <a:endParaRPr lang="zh-CN" altLang="zh-CN" sz="2400" b="1" smtClean="0">
              <a:solidFill>
                <a:srgbClr val="FF0000"/>
              </a:solidFill>
            </a:endParaRPr>
          </a:p>
          <a:p>
            <a:pPr marL="457200" lvl="1" indent="0">
              <a:buFont typeface="Wingdings" panose="05000000000000000000" pitchFamily="2" charset="2"/>
              <a:buNone/>
            </a:pPr>
            <a:r>
              <a:rPr lang="en-US" altLang="zh-CN" b="1" smtClean="0">
                <a:solidFill>
                  <a:srgbClr val="CC0066"/>
                </a:solidFill>
              </a:rPr>
              <a:t>    1. </a:t>
            </a:r>
            <a:r>
              <a:rPr lang="zh-CN" altLang="en-US" b="1" smtClean="0">
                <a:solidFill>
                  <a:srgbClr val="CC0066"/>
                </a:solidFill>
              </a:rPr>
              <a:t>银行数据库安全面临的风险</a:t>
            </a:r>
            <a:endParaRPr lang="zh-CN" altLang="en-US" b="1" smtClean="0">
              <a:solidFill>
                <a:srgbClr val="CC0066"/>
              </a:solidFill>
            </a:endParaRPr>
          </a:p>
        </p:txBody>
      </p:sp>
      <p:sp>
        <p:nvSpPr>
          <p:cNvPr id="5" name="圆角矩形 4"/>
          <p:cNvSpPr/>
          <p:nvPr/>
        </p:nvSpPr>
        <p:spPr bwMode="gray">
          <a:xfrm>
            <a:off x="395288" y="2097088"/>
            <a:ext cx="4994275" cy="4483100"/>
          </a:xfrm>
          <a:prstGeom prst="roundRect">
            <a:avLst/>
          </a:prstGeom>
        </p:spPr>
        <p:style>
          <a:lnRef idx="2">
            <a:schemeClr val="accent1"/>
          </a:lnRef>
          <a:fillRef idx="1">
            <a:schemeClr val="lt1"/>
          </a:fillRef>
          <a:effectRef idx="0">
            <a:schemeClr val="accent1"/>
          </a:effectRef>
          <a:fontRef idx="minor">
            <a:schemeClr val="dk1"/>
          </a:fontRef>
        </p:style>
        <p:txBody>
          <a:bodyPr anchor="ctr" anchorCtr="1">
            <a:normAutofit fontScale="77500" lnSpcReduction="20000"/>
          </a:bodyPr>
          <a:lstStyle/>
          <a:p>
            <a:pPr>
              <a:spcBef>
                <a:spcPct val="20000"/>
              </a:spcBef>
              <a:buFont typeface="Wingdings" panose="05000000000000000000" pitchFamily="2" charset="2"/>
              <a:buNone/>
              <a:defRPr/>
            </a:pPr>
            <a:r>
              <a:rPr lang="zh-CN" altLang="en-US" b="1" dirty="0">
                <a:solidFill>
                  <a:schemeClr val="tx1"/>
                </a:solidFill>
                <a:latin typeface="Arial" panose="020B0604020202020204" pitchFamily="34" charset="0"/>
              </a:rPr>
              <a:t>       </a:t>
            </a:r>
            <a:r>
              <a:rPr lang="zh-CN" altLang="en-US" b="1" dirty="0">
                <a:solidFill>
                  <a:srgbClr val="CC0066"/>
                </a:solidFill>
                <a:latin typeface="Arial" panose="020B0604020202020204" pitchFamily="34" charset="0"/>
              </a:rPr>
              <a:t>光大证券“乌龙指”致股市暴涨，涉操纵市场</a:t>
            </a:r>
            <a:r>
              <a:rPr lang="zh-CN" altLang="en-US" b="1" dirty="0">
                <a:solidFill>
                  <a:schemeClr val="tx1"/>
                </a:solidFill>
                <a:latin typeface="Arial" panose="020B0604020202020204" pitchFamily="34" charset="0"/>
              </a:rPr>
              <a:t>。</a:t>
            </a:r>
            <a:r>
              <a:rPr lang="en-US" altLang="zh-CN" b="1" dirty="0">
                <a:solidFill>
                  <a:schemeClr val="tx1"/>
                </a:solidFill>
                <a:latin typeface="Arial" panose="020B0604020202020204" pitchFamily="34" charset="0"/>
              </a:rPr>
              <a:t>2013</a:t>
            </a:r>
            <a:r>
              <a:rPr lang="zh-CN" altLang="en-US" b="1" dirty="0">
                <a:solidFill>
                  <a:schemeClr val="tx1"/>
                </a:solidFill>
                <a:latin typeface="Arial" panose="020B0604020202020204" pitchFamily="34" charset="0"/>
              </a:rPr>
              <a:t>年</a:t>
            </a:r>
            <a:r>
              <a:rPr lang="en-US" altLang="zh-CN" b="1" dirty="0">
                <a:solidFill>
                  <a:schemeClr val="tx1"/>
                </a:solidFill>
                <a:latin typeface="Arial" panose="020B0604020202020204" pitchFamily="34" charset="0"/>
              </a:rPr>
              <a:t>8</a:t>
            </a:r>
            <a:r>
              <a:rPr lang="zh-CN" altLang="en-US" b="1" dirty="0">
                <a:solidFill>
                  <a:schemeClr val="tx1"/>
                </a:solidFill>
                <a:latin typeface="Arial" panose="020B0604020202020204" pitchFamily="34" charset="0"/>
              </a:rPr>
              <a:t>月</a:t>
            </a:r>
            <a:r>
              <a:rPr lang="en-US" altLang="zh-CN" b="1" dirty="0">
                <a:solidFill>
                  <a:schemeClr val="tx1"/>
                </a:solidFill>
                <a:latin typeface="Arial" panose="020B0604020202020204" pitchFamily="34" charset="0"/>
              </a:rPr>
              <a:t>16</a:t>
            </a:r>
            <a:r>
              <a:rPr lang="zh-CN" altLang="en-US" b="1" dirty="0">
                <a:solidFill>
                  <a:schemeClr val="tx1"/>
                </a:solidFill>
                <a:latin typeface="Arial" panose="020B0604020202020204" pitchFamily="34" charset="0"/>
              </a:rPr>
              <a:t>日，光大证券的全资子公司光大期货，在股指期货上的空头陡增</a:t>
            </a:r>
            <a:r>
              <a:rPr lang="en-US" altLang="zh-CN" b="1" dirty="0">
                <a:solidFill>
                  <a:schemeClr val="tx1"/>
                </a:solidFill>
                <a:latin typeface="Arial" panose="020B0604020202020204" pitchFamily="34" charset="0"/>
              </a:rPr>
              <a:t>7023</a:t>
            </a:r>
            <a:r>
              <a:rPr lang="zh-CN" altLang="en-US" b="1" dirty="0">
                <a:solidFill>
                  <a:schemeClr val="tx1"/>
                </a:solidFill>
                <a:latin typeface="Arial" panose="020B0604020202020204" pitchFamily="34" charset="0"/>
              </a:rPr>
              <a:t>手，价值逾</a:t>
            </a:r>
            <a:r>
              <a:rPr lang="en-US" altLang="zh-CN" b="1" dirty="0">
                <a:solidFill>
                  <a:schemeClr val="tx1"/>
                </a:solidFill>
                <a:latin typeface="Arial" panose="020B0604020202020204" pitchFamily="34" charset="0"/>
              </a:rPr>
              <a:t>48</a:t>
            </a:r>
            <a:r>
              <a:rPr lang="zh-CN" altLang="en-US" b="1" dirty="0">
                <a:solidFill>
                  <a:schemeClr val="tx1"/>
                </a:solidFill>
                <a:latin typeface="Arial" panose="020B0604020202020204" pitchFamily="34" charset="0"/>
              </a:rPr>
              <a:t>亿元。导致沪指惊天逆转一度飙升</a:t>
            </a:r>
            <a:r>
              <a:rPr lang="en-US" altLang="zh-CN" b="1" dirty="0">
                <a:solidFill>
                  <a:schemeClr val="tx1"/>
                </a:solidFill>
                <a:latin typeface="Arial" panose="020B0604020202020204" pitchFamily="34" charset="0"/>
              </a:rPr>
              <a:t>5%</a:t>
            </a:r>
            <a:r>
              <a:rPr lang="zh-CN" altLang="en-US" b="1" dirty="0">
                <a:solidFill>
                  <a:schemeClr val="tx1"/>
                </a:solidFill>
                <a:latin typeface="Arial" panose="020B0604020202020204" pitchFamily="34" charset="0"/>
              </a:rPr>
              <a:t>，上证指数瞬间飙升逾</a:t>
            </a:r>
            <a:r>
              <a:rPr lang="en-US" altLang="zh-CN" b="1" dirty="0">
                <a:solidFill>
                  <a:schemeClr val="tx1"/>
                </a:solidFill>
                <a:latin typeface="Arial" panose="020B0604020202020204" pitchFamily="34" charset="0"/>
              </a:rPr>
              <a:t>100</a:t>
            </a:r>
            <a:r>
              <a:rPr lang="zh-CN" altLang="en-US" b="1" dirty="0">
                <a:solidFill>
                  <a:schemeClr val="tx1"/>
                </a:solidFill>
                <a:latin typeface="Arial" panose="020B0604020202020204" pitchFamily="34" charset="0"/>
              </a:rPr>
              <a:t>点，最高冲至</a:t>
            </a:r>
            <a:r>
              <a:rPr lang="en-US" altLang="zh-CN" b="1" dirty="0">
                <a:solidFill>
                  <a:schemeClr val="tx1"/>
                </a:solidFill>
                <a:latin typeface="Arial" panose="020B0604020202020204" pitchFamily="34" charset="0"/>
              </a:rPr>
              <a:t>2198.85</a:t>
            </a:r>
            <a:r>
              <a:rPr lang="zh-CN" altLang="en-US" b="1" dirty="0">
                <a:solidFill>
                  <a:schemeClr val="tx1"/>
                </a:solidFill>
                <a:latin typeface="Arial" panose="020B0604020202020204" pitchFamily="34" charset="0"/>
              </a:rPr>
              <a:t>点，部分权重股瞬间冲到涨停版。数据显示，在股指期货市场上，光大期货单日持有的</a:t>
            </a:r>
            <a:r>
              <a:rPr lang="en-US" altLang="zh-CN" b="1" dirty="0">
                <a:solidFill>
                  <a:schemeClr val="tx1"/>
                </a:solidFill>
                <a:latin typeface="Arial" panose="020B0604020202020204" pitchFamily="34" charset="0"/>
              </a:rPr>
              <a:t>IF1309</a:t>
            </a:r>
            <a:r>
              <a:rPr lang="zh-CN" altLang="en-US" b="1" dirty="0">
                <a:solidFill>
                  <a:schemeClr val="tx1"/>
                </a:solidFill>
                <a:latin typeface="Arial" panose="020B0604020202020204" pitchFamily="34" charset="0"/>
              </a:rPr>
              <a:t>合约空单增加</a:t>
            </a:r>
            <a:r>
              <a:rPr lang="en-US" altLang="zh-CN" b="1" dirty="0">
                <a:solidFill>
                  <a:schemeClr val="tx1"/>
                </a:solidFill>
                <a:latin typeface="Arial" panose="020B0604020202020204" pitchFamily="34" charset="0"/>
              </a:rPr>
              <a:t>7023</a:t>
            </a:r>
            <a:r>
              <a:rPr lang="zh-CN" altLang="en-US" b="1" dirty="0">
                <a:solidFill>
                  <a:schemeClr val="tx1"/>
                </a:solidFill>
                <a:latin typeface="Arial" panose="020B0604020202020204" pitchFamily="34" charset="0"/>
              </a:rPr>
              <a:t>手，超过持续排名第一的中证期货，成为昨日股指期货市场上持空单过夜做多的机构。根据当天</a:t>
            </a:r>
            <a:r>
              <a:rPr lang="en-US" altLang="zh-CN" b="1" dirty="0">
                <a:solidFill>
                  <a:schemeClr val="tx1"/>
                </a:solidFill>
                <a:latin typeface="Arial" panose="020B0604020202020204" pitchFamily="34" charset="0"/>
              </a:rPr>
              <a:t>A</a:t>
            </a:r>
            <a:r>
              <a:rPr lang="zh-CN" altLang="en-US" b="1" dirty="0">
                <a:solidFill>
                  <a:schemeClr val="tx1"/>
                </a:solidFill>
                <a:latin typeface="Arial" panose="020B0604020202020204" pitchFamily="34" charset="0"/>
              </a:rPr>
              <a:t>股走势，光大证券自营盘动用</a:t>
            </a:r>
            <a:r>
              <a:rPr lang="en-US" altLang="zh-CN" b="1" dirty="0">
                <a:solidFill>
                  <a:schemeClr val="tx1"/>
                </a:solidFill>
                <a:latin typeface="Arial" panose="020B0604020202020204" pitchFamily="34" charset="0"/>
              </a:rPr>
              <a:t>70</a:t>
            </a:r>
            <a:r>
              <a:rPr lang="zh-CN" altLang="en-US" b="1" dirty="0">
                <a:solidFill>
                  <a:schemeClr val="tx1"/>
                </a:solidFill>
                <a:latin typeface="Arial" panose="020B0604020202020204" pitchFamily="34" charset="0"/>
              </a:rPr>
              <a:t>亿元资金，在涨停价格上买入大量蓝筹股，随后股价大幅回落，按照上证</a:t>
            </a:r>
            <a:r>
              <a:rPr lang="en-US" altLang="zh-CN" b="1" dirty="0">
                <a:solidFill>
                  <a:schemeClr val="tx1"/>
                </a:solidFill>
                <a:latin typeface="Arial" panose="020B0604020202020204" pitchFamily="34" charset="0"/>
              </a:rPr>
              <a:t>50</a:t>
            </a:r>
            <a:r>
              <a:rPr lang="zh-CN" altLang="en-US" b="1" dirty="0">
                <a:solidFill>
                  <a:schemeClr val="tx1"/>
                </a:solidFill>
                <a:latin typeface="Arial" panose="020B0604020202020204" pitchFamily="34" charset="0"/>
              </a:rPr>
              <a:t>指数最终跌</a:t>
            </a:r>
            <a:r>
              <a:rPr lang="en-US" altLang="zh-CN" b="1" dirty="0">
                <a:solidFill>
                  <a:schemeClr val="tx1"/>
                </a:solidFill>
                <a:latin typeface="Arial" panose="020B0604020202020204" pitchFamily="34" charset="0"/>
              </a:rPr>
              <a:t>0.15%</a:t>
            </a:r>
            <a:r>
              <a:rPr lang="zh-CN" altLang="en-US" b="1" dirty="0">
                <a:solidFill>
                  <a:schemeClr val="tx1"/>
                </a:solidFill>
                <a:latin typeface="Arial" panose="020B0604020202020204" pitchFamily="34" charset="0"/>
              </a:rPr>
              <a:t>的幅度测算，错误交易可能导致光大证券近</a:t>
            </a:r>
            <a:r>
              <a:rPr lang="en-US" altLang="zh-CN" b="1" dirty="0">
                <a:solidFill>
                  <a:schemeClr val="tx1"/>
                </a:solidFill>
                <a:latin typeface="Arial" panose="020B0604020202020204" pitchFamily="34" charset="0"/>
              </a:rPr>
              <a:t>7</a:t>
            </a:r>
            <a:r>
              <a:rPr lang="zh-CN" altLang="en-US" b="1" dirty="0">
                <a:solidFill>
                  <a:schemeClr val="tx1"/>
                </a:solidFill>
                <a:latin typeface="Arial" panose="020B0604020202020204" pitchFamily="34" charset="0"/>
              </a:rPr>
              <a:t>亿元的浮亏，却可能通过做空获利约</a:t>
            </a:r>
            <a:r>
              <a:rPr lang="en-US" altLang="zh-CN" b="1" dirty="0">
                <a:solidFill>
                  <a:schemeClr val="tx1"/>
                </a:solidFill>
                <a:latin typeface="Arial" panose="020B0604020202020204" pitchFamily="34" charset="0"/>
              </a:rPr>
              <a:t>48</a:t>
            </a:r>
            <a:r>
              <a:rPr lang="zh-CN" altLang="en-US" b="1" dirty="0">
                <a:solidFill>
                  <a:schemeClr val="tx1"/>
                </a:solidFill>
                <a:latin typeface="Arial" panose="020B0604020202020204" pitchFamily="34" charset="0"/>
              </a:rPr>
              <a:t>亿元。</a:t>
            </a:r>
            <a:r>
              <a:rPr lang="zh-CN" altLang="en-US" dirty="0">
                <a:solidFill>
                  <a:schemeClr val="tx1"/>
                </a:solidFill>
                <a:latin typeface="Arial" panose="020B0604020202020204" pitchFamily="34" charset="0"/>
              </a:rPr>
              <a:t> </a:t>
            </a:r>
            <a:endParaRPr lang="zh-CN" altLang="en-US" sz="2200" b="1" dirty="0">
              <a:solidFill>
                <a:schemeClr val="tx1"/>
              </a:solidFill>
              <a:latin typeface="Arial" panose="020B0604020202020204" pitchFamily="34" charset="0"/>
            </a:endParaRPr>
          </a:p>
        </p:txBody>
      </p:sp>
      <p:pic>
        <p:nvPicPr>
          <p:cNvPr id="40963" name="Picture 8"/>
          <p:cNvPicPr>
            <a:picLocks noChangeAspect="1" noChangeArrowheads="1"/>
          </p:cNvPicPr>
          <p:nvPr/>
        </p:nvPicPr>
        <p:blipFill>
          <a:blip r:embed="rId1" cstate="print"/>
          <a:srcRect/>
          <a:stretch>
            <a:fillRect/>
          </a:stretch>
        </p:blipFill>
        <p:spPr bwMode="auto">
          <a:xfrm>
            <a:off x="5508625" y="2276475"/>
            <a:ext cx="3455988" cy="3421063"/>
          </a:xfrm>
          <a:prstGeom prst="rect">
            <a:avLst/>
          </a:prstGeom>
          <a:noFill/>
          <a:ln w="9525">
            <a:noFill/>
            <a:miter lim="800000"/>
            <a:headEnd/>
            <a:tailEnd/>
          </a:ln>
        </p:spPr>
      </p:pic>
      <p:sp>
        <p:nvSpPr>
          <p:cNvPr id="40964" name="Rectangle 9"/>
          <p:cNvSpPr>
            <a:spLocks noChangeArrowheads="1"/>
          </p:cNvSpPr>
          <p:nvPr/>
        </p:nvSpPr>
        <p:spPr bwMode="auto">
          <a:xfrm>
            <a:off x="5954713" y="5997575"/>
            <a:ext cx="2833687" cy="339725"/>
          </a:xfrm>
          <a:prstGeom prst="rect">
            <a:avLst/>
          </a:prstGeom>
          <a:noFill/>
          <a:ln w="9525">
            <a:noFill/>
            <a:miter lim="800000"/>
          </a:ln>
        </p:spPr>
        <p:txBody>
          <a:bodyPr wrap="none" anchor="ctr">
            <a:spAutoFit/>
          </a:bodyPr>
          <a:lstStyle/>
          <a:p>
            <a:pPr algn="dist" eaLnBrk="0" hangingPunct="0">
              <a:spcBef>
                <a:spcPct val="20000"/>
              </a:spcBef>
              <a:buFont typeface="Wingdings" panose="05000000000000000000" pitchFamily="2" charset="2"/>
              <a:buNone/>
            </a:pPr>
            <a:r>
              <a:rPr lang="zh-CN" altLang="en-US" sz="1600" b="1"/>
              <a:t>图</a:t>
            </a:r>
            <a:r>
              <a:rPr lang="en-US" altLang="zh-CN" sz="1600" b="1"/>
              <a:t>10-10 </a:t>
            </a:r>
            <a:r>
              <a:rPr lang="zh-CN" altLang="en-US" sz="1600" b="1"/>
              <a:t>数据库安全需求分析</a:t>
            </a:r>
            <a:endParaRPr lang="zh-CN" altLang="en-US" sz="1600" b="1"/>
          </a:p>
        </p:txBody>
      </p:sp>
      <p:sp>
        <p:nvSpPr>
          <p:cNvPr id="40965" name="Rectangle 2"/>
          <p:cNvSpPr txBox="1">
            <a:spLocks noChangeArrowheads="1"/>
          </p:cNvSpPr>
          <p:nvPr/>
        </p:nvSpPr>
        <p:spPr bwMode="auto">
          <a:xfrm>
            <a:off x="1514475" y="206375"/>
            <a:ext cx="6799263" cy="563563"/>
          </a:xfrm>
          <a:prstGeom prst="rect">
            <a:avLst/>
          </a:prstGeom>
          <a:noFill/>
          <a:ln w="9525">
            <a:noFill/>
            <a:miter lim="800000"/>
          </a:ln>
        </p:spPr>
        <p:txBody>
          <a:bodyPr anchor="ctr"/>
          <a:lstStyle/>
          <a:p>
            <a:pPr>
              <a:spcBef>
                <a:spcPct val="20000"/>
              </a:spcBef>
              <a:buFont typeface="Wingdings" panose="05000000000000000000" pitchFamily="2" charset="2"/>
              <a:buNone/>
            </a:pPr>
            <a:r>
              <a:rPr lang="en-US" altLang="zh-CN" sz="3200" b="1">
                <a:solidFill>
                  <a:schemeClr val="bg1"/>
                </a:solidFill>
              </a:rPr>
              <a:t>10.6.4  </a:t>
            </a:r>
            <a:r>
              <a:rPr lang="zh-CN" altLang="en-US" sz="3200" b="1">
                <a:solidFill>
                  <a:schemeClr val="bg1"/>
                </a:solidFill>
              </a:rPr>
              <a:t>银行数据库安全解决方案</a:t>
            </a:r>
            <a:endParaRPr lang="zh-CN" altLang="en-US" sz="3200" b="1">
              <a:solidFill>
                <a:schemeClr val="bg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3"/>
          <p:cNvSpPr>
            <a:spLocks noGrp="1" noChangeArrowheads="1"/>
          </p:cNvSpPr>
          <p:nvPr>
            <p:ph type="body" idx="4294967295"/>
          </p:nvPr>
        </p:nvSpPr>
        <p:spPr>
          <a:xfrm>
            <a:off x="287338" y="1125538"/>
            <a:ext cx="8153400" cy="2097087"/>
          </a:xfrm>
        </p:spPr>
        <p:txBody>
          <a:bodyPr/>
          <a:lstStyle/>
          <a:p>
            <a:pPr marL="457200" lvl="1" indent="0">
              <a:buFont typeface="Wingdings" panose="05000000000000000000" pitchFamily="2" charset="2"/>
              <a:buNone/>
            </a:pPr>
            <a:r>
              <a:rPr lang="en-US" altLang="zh-CN" sz="2400" b="1" smtClean="0">
                <a:solidFill>
                  <a:srgbClr val="CC0066"/>
                </a:solidFill>
              </a:rPr>
              <a:t>2. </a:t>
            </a:r>
            <a:r>
              <a:rPr lang="zh-CN" altLang="en-US" sz="2400" b="1" smtClean="0">
                <a:solidFill>
                  <a:srgbClr val="CC0066"/>
                </a:solidFill>
              </a:rPr>
              <a:t>解决方案的制定与实施</a:t>
            </a:r>
            <a:endParaRPr lang="zh-CN" altLang="en-US" sz="2400" b="1" smtClean="0">
              <a:solidFill>
                <a:srgbClr val="CC0066"/>
              </a:solidFill>
            </a:endParaRPr>
          </a:p>
          <a:p>
            <a:pPr marL="457200" lvl="1" indent="0">
              <a:buFont typeface="Wingdings" panose="05000000000000000000" pitchFamily="2" charset="2"/>
              <a:buNone/>
            </a:pPr>
            <a:r>
              <a:rPr lang="en-US" altLang="zh-CN" b="1" smtClean="0"/>
              <a:t>  1</a:t>
            </a:r>
            <a:r>
              <a:rPr lang="zh-CN" altLang="en-US" b="1" smtClean="0"/>
              <a:t>）面对外部的</a:t>
            </a:r>
            <a:r>
              <a:rPr lang="en-US" altLang="zh-CN" b="1" smtClean="0"/>
              <a:t>WEB</a:t>
            </a:r>
            <a:r>
              <a:rPr lang="zh-CN" altLang="en-US" b="1" smtClean="0"/>
              <a:t>应用风险</a:t>
            </a:r>
            <a:endParaRPr lang="zh-CN" altLang="en-US" b="1" smtClean="0"/>
          </a:p>
          <a:p>
            <a:pPr marL="457200" lvl="1" indent="0">
              <a:buFont typeface="Wingdings" panose="05000000000000000000" pitchFamily="2" charset="2"/>
              <a:buNone/>
            </a:pPr>
            <a:r>
              <a:rPr lang="en-US" altLang="zh-CN" b="1" smtClean="0"/>
              <a:t>  2</a:t>
            </a:r>
            <a:r>
              <a:rPr lang="zh-CN" altLang="en-US" b="1" smtClean="0"/>
              <a:t>）面对内部的数据库风险</a:t>
            </a:r>
            <a:endParaRPr lang="zh-CN" altLang="en-US" b="1" smtClean="0"/>
          </a:p>
          <a:p>
            <a:pPr marL="457200" lvl="1" indent="0">
              <a:buFont typeface="Wingdings" panose="05000000000000000000" pitchFamily="2" charset="2"/>
              <a:buNone/>
            </a:pPr>
            <a:r>
              <a:rPr lang="en-US" altLang="zh-CN" b="1" smtClean="0"/>
              <a:t>  3</a:t>
            </a:r>
            <a:r>
              <a:rPr lang="zh-CN" altLang="en-US" b="1" smtClean="0"/>
              <a:t>）数据库安全解决方案</a:t>
            </a:r>
            <a:endParaRPr lang="zh-CN" altLang="en-US" b="1" smtClean="0"/>
          </a:p>
          <a:p>
            <a:pPr marL="457200" lvl="1" indent="0">
              <a:buFont typeface="Wingdings" panose="05000000000000000000" pitchFamily="2" charset="2"/>
              <a:buNone/>
            </a:pPr>
            <a:r>
              <a:rPr lang="zh-CN" altLang="en-US" b="1" smtClean="0"/>
              <a:t>加强数据库安全有</a:t>
            </a:r>
            <a:r>
              <a:rPr lang="en-US" altLang="zh-CN" b="1" smtClean="0"/>
              <a:t>9</a:t>
            </a:r>
            <a:r>
              <a:rPr lang="zh-CN" altLang="en-US" b="1" smtClean="0"/>
              <a:t>个要点，具体防御步骤如表</a:t>
            </a:r>
            <a:r>
              <a:rPr lang="en-US" altLang="zh-CN" b="1" smtClean="0"/>
              <a:t>10-3</a:t>
            </a:r>
            <a:r>
              <a:rPr lang="zh-CN" altLang="en-US" b="1" smtClean="0"/>
              <a:t>所示。</a:t>
            </a:r>
            <a:r>
              <a:rPr lang="zh-CN" altLang="en-US" smtClean="0"/>
              <a:t> </a:t>
            </a:r>
            <a:endParaRPr lang="zh-CN" altLang="en-US" smtClean="0"/>
          </a:p>
        </p:txBody>
      </p:sp>
      <p:sp>
        <p:nvSpPr>
          <p:cNvPr id="41986" name="Rectangle 4"/>
          <p:cNvSpPr>
            <a:spLocks noChangeArrowheads="1"/>
          </p:cNvSpPr>
          <p:nvPr/>
        </p:nvSpPr>
        <p:spPr bwMode="auto">
          <a:xfrm>
            <a:off x="3022600" y="3259138"/>
            <a:ext cx="3098800" cy="338137"/>
          </a:xfrm>
          <a:prstGeom prst="rect">
            <a:avLst/>
          </a:prstGeom>
          <a:noFill/>
          <a:ln w="9525">
            <a:noFill/>
            <a:miter lim="800000"/>
          </a:ln>
        </p:spPr>
        <p:txBody>
          <a:bodyPr wrap="none" anchor="ctr">
            <a:spAutoFit/>
          </a:bodyPr>
          <a:lstStyle/>
          <a:p>
            <a:pPr algn="dist" eaLnBrk="0" hangingPunct="0">
              <a:spcBef>
                <a:spcPct val="20000"/>
              </a:spcBef>
              <a:buFont typeface="Wingdings" panose="05000000000000000000" pitchFamily="2" charset="2"/>
              <a:buNone/>
              <a:tabLst>
                <a:tab pos="457200" algn="l"/>
              </a:tabLst>
            </a:pPr>
            <a:r>
              <a:rPr lang="zh-CN" altLang="en-US" sz="1600" b="1">
                <a:solidFill>
                  <a:srgbClr val="C00000"/>
                </a:solidFill>
              </a:rPr>
              <a:t>表</a:t>
            </a:r>
            <a:r>
              <a:rPr lang="en-US" altLang="zh-CN" sz="1600" b="1">
                <a:solidFill>
                  <a:srgbClr val="C00000"/>
                </a:solidFill>
              </a:rPr>
              <a:t>10-3 </a:t>
            </a:r>
            <a:r>
              <a:rPr lang="zh-CN" altLang="en-US" sz="1600" b="1">
                <a:solidFill>
                  <a:srgbClr val="C00000"/>
                </a:solidFill>
              </a:rPr>
              <a:t>银行数据库安全防御要点</a:t>
            </a:r>
            <a:endParaRPr lang="zh-CN" altLang="en-US" sz="1600" b="1">
              <a:solidFill>
                <a:srgbClr val="C00000"/>
              </a:solidFill>
            </a:endParaRPr>
          </a:p>
        </p:txBody>
      </p:sp>
      <p:graphicFrame>
        <p:nvGraphicFramePr>
          <p:cNvPr id="99502" name="Group 174"/>
          <p:cNvGraphicFramePr>
            <a:graphicFrameLocks noGrp="1"/>
          </p:cNvGraphicFramePr>
          <p:nvPr/>
        </p:nvGraphicFramePr>
        <p:xfrm>
          <a:off x="863600" y="3597275"/>
          <a:ext cx="7669213" cy="2743200"/>
        </p:xfrm>
        <a:graphic>
          <a:graphicData uri="http://schemas.openxmlformats.org/drawingml/2006/table">
            <a:tbl>
              <a:tblPr/>
              <a:tblGrid>
                <a:gridCol w="685800"/>
                <a:gridCol w="3141663"/>
                <a:gridCol w="3841750"/>
              </a:tblGrid>
              <a:tr h="27432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序号</a:t>
                      </a:r>
                      <a:endPar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防御步骤</a:t>
                      </a:r>
                      <a:endPar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防御功能</a:t>
                      </a:r>
                      <a:endPar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860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防止威胁侵入</a:t>
                      </a:r>
                      <a:endPar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阻止和记录：边界防御</a:t>
                      </a:r>
                      <a:endPar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860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漏洞评估和安全配置</a:t>
                      </a:r>
                      <a:endPar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3">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审计监视：安全配置、检测审计误用、回滚撤销损坏</a:t>
                      </a:r>
                      <a:endPar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860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自动化活动监视和审计报告</a:t>
                      </a:r>
                      <a:endPar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r>
              <a:tr h="22860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安全更改跟踪</a:t>
                      </a:r>
                      <a:endPar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r>
              <a:tr h="22860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特权用户访问控制和多因素授权</a:t>
                      </a:r>
                      <a:endPar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访问控制：控制特权用户、多因素授权</a:t>
                      </a:r>
                      <a:endPar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57163">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数据分类以实现访问控制</a:t>
                      </a:r>
                      <a:endPar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r>
              <a:tr h="22860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基于标准的全面加密</a:t>
                      </a:r>
                      <a:endPar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3">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加密和屏蔽：加密敏感或传输数据，保护数据备份，屏蔽开发或测试数据</a:t>
                      </a:r>
                      <a:endPar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860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集成的磁带或云备份管理</a:t>
                      </a:r>
                      <a:endPar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r>
              <a:tr h="231775">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endPar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200" b="1"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不可逆地去除身份信息</a:t>
                      </a:r>
                      <a:endPar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r>
            </a:tbl>
          </a:graphicData>
        </a:graphic>
      </p:graphicFrame>
      <p:sp>
        <p:nvSpPr>
          <p:cNvPr id="42030" name="Rectangle 2"/>
          <p:cNvSpPr txBox="1">
            <a:spLocks noChangeArrowheads="1"/>
          </p:cNvSpPr>
          <p:nvPr/>
        </p:nvSpPr>
        <p:spPr bwMode="auto">
          <a:xfrm>
            <a:off x="1281113" y="231775"/>
            <a:ext cx="6834187" cy="563563"/>
          </a:xfrm>
          <a:prstGeom prst="rect">
            <a:avLst/>
          </a:prstGeom>
          <a:noFill/>
          <a:ln w="9525">
            <a:noFill/>
            <a:miter lim="800000"/>
          </a:ln>
        </p:spPr>
        <p:txBody>
          <a:bodyPr anchor="ctr"/>
          <a:lstStyle/>
          <a:p>
            <a:pPr>
              <a:spcBef>
                <a:spcPct val="20000"/>
              </a:spcBef>
              <a:buFont typeface="Wingdings" panose="05000000000000000000" pitchFamily="2" charset="2"/>
              <a:buNone/>
            </a:pPr>
            <a:r>
              <a:rPr lang="en-US" altLang="zh-CN" sz="3200" b="1">
                <a:solidFill>
                  <a:schemeClr val="bg1"/>
                </a:solidFill>
              </a:rPr>
              <a:t>10.6.4  </a:t>
            </a:r>
            <a:r>
              <a:rPr lang="zh-CN" altLang="en-US" sz="3200" b="1">
                <a:solidFill>
                  <a:schemeClr val="bg1"/>
                </a:solidFill>
              </a:rPr>
              <a:t>银行数据库安全解决方案</a:t>
            </a:r>
            <a:endParaRPr lang="zh-CN" altLang="en-US" sz="3200" b="1">
              <a:solidFill>
                <a:schemeClr val="bg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3"/>
          <p:cNvSpPr>
            <a:spLocks noGrp="1" noChangeArrowheads="1"/>
          </p:cNvSpPr>
          <p:nvPr>
            <p:ph type="body" idx="4294967295"/>
          </p:nvPr>
        </p:nvSpPr>
        <p:spPr>
          <a:xfrm>
            <a:off x="215900" y="1125538"/>
            <a:ext cx="8153400" cy="1008062"/>
          </a:xfrm>
        </p:spPr>
        <p:txBody>
          <a:bodyPr/>
          <a:lstStyle/>
          <a:p>
            <a:pPr marL="457200" lvl="1" indent="0" algn="just">
              <a:buFont typeface="Wingdings" panose="05000000000000000000" pitchFamily="2" charset="2"/>
              <a:buNone/>
            </a:pPr>
            <a:r>
              <a:rPr lang="zh-CN" altLang="en-US" b="1" smtClean="0">
                <a:solidFill>
                  <a:srgbClr val="C00000"/>
                </a:solidFill>
              </a:rPr>
              <a:t>数据库安全整体架构设计和部署</a:t>
            </a:r>
            <a:r>
              <a:rPr lang="zh-CN" altLang="en-US" b="1" smtClean="0"/>
              <a:t>如图</a:t>
            </a:r>
            <a:r>
              <a:rPr lang="en-US" altLang="zh-CN" b="1" smtClean="0"/>
              <a:t>10-11</a:t>
            </a:r>
            <a:r>
              <a:rPr lang="zh-CN" altLang="en-US" b="1" smtClean="0"/>
              <a:t>和图</a:t>
            </a:r>
            <a:r>
              <a:rPr lang="en-US" altLang="zh-CN" b="1" smtClean="0"/>
              <a:t>10-12</a:t>
            </a:r>
            <a:r>
              <a:rPr lang="zh-CN" altLang="en-US" b="1" smtClean="0"/>
              <a:t>所示。</a:t>
            </a:r>
            <a:endParaRPr lang="zh-CN" altLang="en-US" b="1" smtClean="0"/>
          </a:p>
        </p:txBody>
      </p:sp>
      <p:pic>
        <p:nvPicPr>
          <p:cNvPr id="44034" name="Picture 49"/>
          <p:cNvPicPr>
            <a:picLocks noChangeAspect="1" noChangeArrowheads="1"/>
          </p:cNvPicPr>
          <p:nvPr/>
        </p:nvPicPr>
        <p:blipFill>
          <a:blip r:embed="rId1" cstate="print"/>
          <a:srcRect/>
          <a:stretch>
            <a:fillRect/>
          </a:stretch>
        </p:blipFill>
        <p:spPr bwMode="auto">
          <a:xfrm>
            <a:off x="304800" y="2133600"/>
            <a:ext cx="3852863" cy="3440113"/>
          </a:xfrm>
          <a:prstGeom prst="rect">
            <a:avLst/>
          </a:prstGeom>
          <a:noFill/>
          <a:ln w="9525">
            <a:noFill/>
            <a:miter lim="800000"/>
            <a:headEnd/>
            <a:tailEnd/>
          </a:ln>
        </p:spPr>
      </p:pic>
      <p:pic>
        <p:nvPicPr>
          <p:cNvPr id="44035" name="Picture 48"/>
          <p:cNvPicPr>
            <a:picLocks noChangeAspect="1" noChangeArrowheads="1"/>
          </p:cNvPicPr>
          <p:nvPr/>
        </p:nvPicPr>
        <p:blipFill>
          <a:blip r:embed="rId2" cstate="print"/>
          <a:srcRect/>
          <a:stretch>
            <a:fillRect/>
          </a:stretch>
        </p:blipFill>
        <p:spPr bwMode="auto">
          <a:xfrm>
            <a:off x="4243388" y="1981200"/>
            <a:ext cx="4699000" cy="3592513"/>
          </a:xfrm>
          <a:prstGeom prst="rect">
            <a:avLst/>
          </a:prstGeom>
          <a:noFill/>
          <a:ln w="9525">
            <a:noFill/>
            <a:miter lim="800000"/>
            <a:headEnd/>
            <a:tailEnd/>
          </a:ln>
        </p:spPr>
      </p:pic>
      <p:sp>
        <p:nvSpPr>
          <p:cNvPr id="44036" name="Rectangle 51"/>
          <p:cNvSpPr>
            <a:spLocks noChangeArrowheads="1"/>
          </p:cNvSpPr>
          <p:nvPr/>
        </p:nvSpPr>
        <p:spPr bwMode="auto">
          <a:xfrm>
            <a:off x="0" y="3295650"/>
            <a:ext cx="9144000" cy="0"/>
          </a:xfrm>
          <a:prstGeom prst="rect">
            <a:avLst/>
          </a:prstGeom>
          <a:solidFill>
            <a:srgbClr val="FFFFFF"/>
          </a:solid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44037" name="Rectangle 52"/>
          <p:cNvSpPr>
            <a:spLocks noChangeArrowheads="1"/>
          </p:cNvSpPr>
          <p:nvPr/>
        </p:nvSpPr>
        <p:spPr bwMode="auto">
          <a:xfrm>
            <a:off x="971550" y="5686425"/>
            <a:ext cx="6953250" cy="307975"/>
          </a:xfrm>
          <a:prstGeom prst="rect">
            <a:avLst/>
          </a:prstGeom>
          <a:noFill/>
          <a:ln w="9525">
            <a:noFill/>
            <a:miter lim="800000"/>
          </a:ln>
        </p:spPr>
        <p:txBody>
          <a:bodyPr anchor="ctr">
            <a:spAutoFit/>
          </a:bodyPr>
          <a:lstStyle/>
          <a:p>
            <a:pPr eaLnBrk="0" hangingPunct="0">
              <a:spcBef>
                <a:spcPct val="20000"/>
              </a:spcBef>
              <a:buFont typeface="Wingdings" panose="05000000000000000000" pitchFamily="2" charset="2"/>
              <a:buNone/>
            </a:pPr>
            <a:r>
              <a:rPr lang="zh-CN" altLang="en-US" sz="1400" b="1">
                <a:solidFill>
                  <a:srgbClr val="C00000"/>
                </a:solidFill>
                <a:latin typeface="Calibri" panose="020F0502020204030204" pitchFamily="34" charset="0"/>
              </a:rPr>
              <a:t>图</a:t>
            </a:r>
            <a:r>
              <a:rPr lang="en-US" altLang="zh-CN" sz="1400" b="1">
                <a:solidFill>
                  <a:srgbClr val="C00000"/>
                </a:solidFill>
                <a:latin typeface="Calibri" panose="020F0502020204030204" pitchFamily="34" charset="0"/>
              </a:rPr>
              <a:t>10-11 </a:t>
            </a:r>
            <a:r>
              <a:rPr lang="zh-CN" altLang="en-US" sz="1400" b="1">
                <a:solidFill>
                  <a:srgbClr val="C00000"/>
                </a:solidFill>
                <a:latin typeface="Calibri" panose="020F0502020204030204" pitchFamily="34" charset="0"/>
              </a:rPr>
              <a:t>数据库安全整体架构设计                                                图</a:t>
            </a:r>
            <a:r>
              <a:rPr lang="en-US" altLang="zh-CN" sz="1400" b="1">
                <a:solidFill>
                  <a:srgbClr val="C00000"/>
                </a:solidFill>
                <a:latin typeface="Calibri" panose="020F0502020204030204" pitchFamily="34" charset="0"/>
              </a:rPr>
              <a:t>10-12 </a:t>
            </a:r>
            <a:r>
              <a:rPr lang="zh-CN" altLang="en-US" sz="1400" b="1">
                <a:solidFill>
                  <a:srgbClr val="C00000"/>
                </a:solidFill>
                <a:latin typeface="Calibri" panose="020F0502020204030204" pitchFamily="34" charset="0"/>
              </a:rPr>
              <a:t>数据库安全架构部署</a:t>
            </a:r>
            <a:endParaRPr lang="zh-CN" altLang="en-US" sz="1400" b="1">
              <a:solidFill>
                <a:srgbClr val="C00000"/>
              </a:solidFill>
              <a:latin typeface="Calibri" panose="020F0502020204030204" pitchFamily="34" charset="0"/>
            </a:endParaRPr>
          </a:p>
        </p:txBody>
      </p:sp>
      <p:sp>
        <p:nvSpPr>
          <p:cNvPr id="44038"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a:spcBef>
                <a:spcPct val="20000"/>
              </a:spcBef>
              <a:buFont typeface="Wingdings" panose="05000000000000000000" pitchFamily="2" charset="2"/>
              <a:buNone/>
            </a:pPr>
            <a:r>
              <a:rPr lang="en-US" altLang="zh-CN" sz="3200" b="1">
                <a:solidFill>
                  <a:schemeClr val="bg1"/>
                </a:solidFill>
              </a:rPr>
              <a:t>10.2.4  </a:t>
            </a:r>
            <a:r>
              <a:rPr lang="zh-CN" altLang="en-US" sz="3200" b="1">
                <a:solidFill>
                  <a:schemeClr val="bg1"/>
                </a:solidFill>
              </a:rPr>
              <a:t>银行数据库安全解决方案</a:t>
            </a:r>
            <a:endParaRPr lang="zh-CN" altLang="en-US" sz="3200" b="1">
              <a:solidFill>
                <a:schemeClr val="bg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txBox="1">
            <a:spLocks noChangeArrowheads="1"/>
          </p:cNvSpPr>
          <p:nvPr/>
        </p:nvSpPr>
        <p:spPr bwMode="auto">
          <a:xfrm>
            <a:off x="3295650" y="196850"/>
            <a:ext cx="3502025" cy="563563"/>
          </a:xfrm>
          <a:prstGeom prst="rect">
            <a:avLst/>
          </a:prstGeom>
          <a:noFill/>
          <a:ln w="9525">
            <a:noFill/>
            <a:miter lim="800000"/>
          </a:ln>
        </p:spPr>
        <p:txBody>
          <a:bodyPr anchor="ctr"/>
          <a:lstStyle/>
          <a:p>
            <a:pPr>
              <a:spcBef>
                <a:spcPct val="20000"/>
              </a:spcBef>
              <a:buFont typeface="Wingdings" panose="05000000000000000000" pitchFamily="2" charset="2"/>
              <a:buNone/>
            </a:pPr>
            <a:r>
              <a:rPr lang="en-US" altLang="zh-CN" sz="3200" b="1">
                <a:solidFill>
                  <a:schemeClr val="bg1"/>
                </a:solidFill>
              </a:rPr>
              <a:t>10.7 </a:t>
            </a:r>
            <a:r>
              <a:rPr lang="zh-CN" altLang="en-US" sz="3200" b="1">
                <a:solidFill>
                  <a:schemeClr val="bg1"/>
                </a:solidFill>
              </a:rPr>
              <a:t>本章小结</a:t>
            </a:r>
            <a:endParaRPr lang="zh-CN" altLang="en-US"/>
          </a:p>
        </p:txBody>
      </p:sp>
      <p:sp>
        <p:nvSpPr>
          <p:cNvPr id="5" name="圆角矩形 4"/>
          <p:cNvSpPr/>
          <p:nvPr/>
        </p:nvSpPr>
        <p:spPr bwMode="gray">
          <a:xfrm>
            <a:off x="531813" y="1289050"/>
            <a:ext cx="8210550" cy="4511675"/>
          </a:xfrm>
          <a:prstGeom prst="roundRect">
            <a:avLst/>
          </a:prstGeom>
        </p:spPr>
        <p:style>
          <a:lnRef idx="2">
            <a:schemeClr val="accent1"/>
          </a:lnRef>
          <a:fillRef idx="1">
            <a:schemeClr val="lt1"/>
          </a:fillRef>
          <a:effectRef idx="0">
            <a:schemeClr val="accent1"/>
          </a:effectRef>
          <a:fontRef idx="minor">
            <a:schemeClr val="dk1"/>
          </a:fontRef>
        </p:style>
        <p:txBody>
          <a:bodyPr anchor="ctr" anchorCtr="1">
            <a:normAutofit lnSpcReduction="10000"/>
          </a:bodyPr>
          <a:lstStyle/>
          <a:p>
            <a:pPr>
              <a:spcBef>
                <a:spcPct val="20000"/>
              </a:spcBef>
              <a:buFont typeface="Wingdings" panose="05000000000000000000" pitchFamily="2" charset="2"/>
              <a:buNone/>
              <a:defRPr/>
            </a:pPr>
            <a:r>
              <a:rPr lang="zh-CN" altLang="en-US" sz="2500" b="1" dirty="0">
                <a:solidFill>
                  <a:schemeClr val="tx1"/>
                </a:solidFill>
                <a:latin typeface="Arial" panose="020B0604020202020204" pitchFamily="34" charset="0"/>
              </a:rPr>
              <a:t>       数据库安全技术对于整个网络系统的安全</a:t>
            </a:r>
            <a:r>
              <a:rPr lang="zh-CN" altLang="en-US" sz="2500" b="1" dirty="0">
                <a:solidFill>
                  <a:srgbClr val="CC0000"/>
                </a:solidFill>
                <a:latin typeface="Arial" panose="020B0604020202020204" pitchFamily="34" charset="0"/>
              </a:rPr>
              <a:t>极为重要</a:t>
            </a:r>
            <a:r>
              <a:rPr lang="zh-CN" altLang="en-US" sz="2500" b="1" dirty="0">
                <a:solidFill>
                  <a:schemeClr val="tx1"/>
                </a:solidFill>
                <a:latin typeface="Arial" panose="020B0604020202020204" pitchFamily="34" charset="0"/>
              </a:rPr>
              <a:t>，</a:t>
            </a:r>
            <a:r>
              <a:rPr lang="zh-CN" altLang="en-US" sz="2500" b="1" u="sng" dirty="0">
                <a:solidFill>
                  <a:srgbClr val="FF0000"/>
                </a:solidFill>
                <a:latin typeface="Arial" panose="020B0604020202020204" pitchFamily="34" charset="0"/>
              </a:rPr>
              <a:t>关键</a:t>
            </a:r>
            <a:r>
              <a:rPr lang="zh-CN" altLang="en-US" sz="2500" b="1" dirty="0">
                <a:solidFill>
                  <a:schemeClr val="tx1"/>
                </a:solidFill>
                <a:latin typeface="Arial" panose="020B0604020202020204" pitchFamily="34" charset="0"/>
              </a:rPr>
              <a:t>在于</a:t>
            </a:r>
            <a:r>
              <a:rPr lang="zh-CN" altLang="en-US" sz="2500" b="1" dirty="0">
                <a:solidFill>
                  <a:srgbClr val="CC0000"/>
                </a:solidFill>
                <a:latin typeface="Arial" panose="020B0604020202020204" pitchFamily="34" charset="0"/>
              </a:rPr>
              <a:t>数据资源的安全</a:t>
            </a:r>
            <a:r>
              <a:rPr lang="zh-CN" altLang="en-US" sz="2500" b="1" dirty="0">
                <a:solidFill>
                  <a:schemeClr val="tx1"/>
                </a:solidFill>
                <a:latin typeface="Arial" panose="020B0604020202020204" pitchFamily="34" charset="0"/>
              </a:rPr>
              <a:t>。</a:t>
            </a:r>
            <a:endParaRPr lang="zh-CN" altLang="en-US" sz="2500" b="1" dirty="0">
              <a:solidFill>
                <a:schemeClr val="tx1"/>
              </a:solidFill>
              <a:latin typeface="Arial" panose="020B0604020202020204" pitchFamily="34" charset="0"/>
            </a:endParaRPr>
          </a:p>
          <a:p>
            <a:pPr>
              <a:spcBef>
                <a:spcPct val="20000"/>
              </a:spcBef>
              <a:buFont typeface="Wingdings" panose="05000000000000000000" pitchFamily="2" charset="2"/>
              <a:buNone/>
              <a:defRPr/>
            </a:pPr>
            <a:r>
              <a:rPr lang="zh-CN" altLang="en-US" sz="2500" b="1" dirty="0">
                <a:solidFill>
                  <a:schemeClr val="tx1"/>
                </a:solidFill>
                <a:latin typeface="Arial" panose="020B0604020202020204" pitchFamily="34" charset="0"/>
              </a:rPr>
              <a:t>       本章概述了数据安全性、数据库安全性和数据库系统安全性的有关概念，数据库安全的主要威胁和隐患，数据库安全的层次结构。数据库安全的核心和关键是数据安全。在此基础上介绍了数据库安全特性，包括安全性、完整性、并发控制和备份与恢复技术等，同时，介绍了数据库的安全策略和机制、数据库安全体系与防护技术及解决方案。</a:t>
            </a:r>
            <a:endParaRPr lang="en-US" altLang="zh-CN" sz="2500" b="1" dirty="0">
              <a:solidFill>
                <a:schemeClr val="tx1"/>
              </a:solidFill>
              <a:latin typeface="Arial" panose="020B0604020202020204" pitchFamily="34" charset="0"/>
            </a:endParaRPr>
          </a:p>
          <a:p>
            <a:pPr>
              <a:spcBef>
                <a:spcPct val="20000"/>
              </a:spcBef>
              <a:buFont typeface="Wingdings" panose="05000000000000000000" pitchFamily="2" charset="2"/>
              <a:buNone/>
              <a:defRPr/>
            </a:pPr>
            <a:r>
              <a:rPr lang="zh-CN" altLang="en-US" sz="2500" b="1" dirty="0">
                <a:solidFill>
                  <a:schemeClr val="tx1"/>
                </a:solidFill>
                <a:latin typeface="Arial" panose="020B0604020202020204" pitchFamily="34" charset="0"/>
              </a:rPr>
              <a:t>       后续内容主要介绍</a:t>
            </a:r>
            <a:r>
              <a:rPr lang="en-US" altLang="zh-CN" sz="2500" b="1" dirty="0">
                <a:solidFill>
                  <a:schemeClr val="tx1"/>
                </a:solidFill>
                <a:latin typeface="Arial" panose="020B0604020202020204" pitchFamily="34" charset="0"/>
              </a:rPr>
              <a:t>SQL Server 2019</a:t>
            </a:r>
            <a:r>
              <a:rPr lang="zh-CN" altLang="en-US" sz="2500" b="1" dirty="0">
                <a:solidFill>
                  <a:schemeClr val="tx1"/>
                </a:solidFill>
                <a:latin typeface="Arial" panose="020B0604020202020204" pitchFamily="34" charset="0"/>
              </a:rPr>
              <a:t>、</a:t>
            </a:r>
            <a:r>
              <a:rPr lang="en-US" altLang="zh-CN" sz="2500" b="1" dirty="0">
                <a:solidFill>
                  <a:schemeClr val="tx1"/>
                </a:solidFill>
                <a:latin typeface="Arial" panose="020B0604020202020204" pitchFamily="34" charset="0"/>
              </a:rPr>
              <a:t>MySQL</a:t>
            </a:r>
            <a:r>
              <a:rPr lang="zh-CN" altLang="en-US" sz="2500" b="1" dirty="0">
                <a:solidFill>
                  <a:schemeClr val="tx1"/>
                </a:solidFill>
                <a:latin typeface="Arial" panose="020B0604020202020204" pitchFamily="34" charset="0"/>
              </a:rPr>
              <a:t>用户安全管理的基本方法和实验步骤。</a:t>
            </a:r>
            <a:endParaRPr lang="zh-CN" altLang="en-US" sz="2500" b="1" dirty="0">
              <a:solidFill>
                <a:schemeClr val="tx1"/>
              </a:solidFill>
              <a:latin typeface="Arial" panose="020B060402020202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ChangeArrowheads="1"/>
          </p:cNvSpPr>
          <p:nvPr>
            <p:ph type="title" idx="4294967295"/>
          </p:nvPr>
        </p:nvSpPr>
        <p:spPr>
          <a:xfrm>
            <a:off x="836613" y="187325"/>
            <a:ext cx="8305800" cy="563563"/>
          </a:xfrm>
        </p:spPr>
        <p:txBody>
          <a:bodyPr/>
          <a:lstStyle/>
          <a:p>
            <a:pPr algn="l"/>
            <a:r>
              <a:rPr lang="zh-CN" altLang="zh-CN" sz="2800" smtClean="0">
                <a:ea typeface="宋体" panose="02010600030101010101" pitchFamily="2" charset="-122"/>
              </a:rPr>
              <a:t>10.8 实验10 SQL Server 2019用户安全管理</a:t>
            </a:r>
            <a:endParaRPr lang="zh-CN" altLang="zh-CN" sz="2800" smtClean="0">
              <a:ea typeface="宋体" panose="02010600030101010101" pitchFamily="2" charset="-122"/>
            </a:endParaRPr>
          </a:p>
        </p:txBody>
      </p:sp>
      <p:sp>
        <p:nvSpPr>
          <p:cNvPr id="35843" name="Rectangle 3"/>
          <p:cNvSpPr>
            <a:spLocks noGrp="1" noChangeArrowheads="1"/>
          </p:cNvSpPr>
          <p:nvPr>
            <p:ph type="body" idx="4294967295"/>
          </p:nvPr>
        </p:nvSpPr>
        <p:spPr>
          <a:xfrm>
            <a:off x="457200" y="1295400"/>
            <a:ext cx="8153400" cy="4876800"/>
          </a:xfrm>
        </p:spPr>
        <p:txBody>
          <a:bodyPr/>
          <a:lstStyle/>
          <a:p>
            <a:pPr lvl="1">
              <a:defRPr/>
            </a:pPr>
            <a:r>
              <a:rPr lang="en-US" altLang="zh-CN" sz="2400" b="1" dirty="0" smtClean="0">
                <a:solidFill>
                  <a:srgbClr val="CC0066"/>
                </a:solidFill>
                <a:cs typeface="+mn-ea"/>
              </a:rPr>
              <a:t>10.8.1 </a:t>
            </a:r>
            <a:r>
              <a:rPr lang="zh-CN" altLang="en-US" sz="2400" b="1" dirty="0" smtClean="0">
                <a:solidFill>
                  <a:srgbClr val="CC0066"/>
                </a:solidFill>
                <a:cs typeface="+mn-ea"/>
              </a:rPr>
              <a:t>实验目的</a:t>
            </a:r>
            <a:endParaRPr lang="zh-CN" altLang="en-US" sz="2400" b="1" dirty="0" smtClean="0">
              <a:solidFill>
                <a:srgbClr val="CC0066"/>
              </a:solidFill>
              <a:cs typeface="+mn-ea"/>
            </a:endParaRPr>
          </a:p>
          <a:p>
            <a:pPr marL="457200" lvl="1" indent="0">
              <a:buFont typeface="Wingdings" panose="05000000000000000000" pitchFamily="2" charset="2"/>
              <a:buNone/>
              <a:defRPr/>
            </a:pPr>
            <a:r>
              <a:rPr lang="en-US" altLang="zh-CN" b="1" dirty="0" smtClean="0">
                <a:cs typeface="+mn-ea"/>
              </a:rPr>
              <a:t>  1</a:t>
            </a:r>
            <a:r>
              <a:rPr lang="zh-CN" altLang="en-US" b="1" dirty="0" smtClean="0">
                <a:cs typeface="+mn-ea"/>
              </a:rPr>
              <a:t>）理解</a:t>
            </a:r>
            <a:r>
              <a:rPr lang="en-US" altLang="zh-CN" b="1" dirty="0" smtClean="0">
                <a:cs typeface="+mn-ea"/>
              </a:rPr>
              <a:t>SQL Server 2019</a:t>
            </a:r>
            <a:r>
              <a:rPr lang="zh-CN" altLang="en-US" b="1" dirty="0" smtClean="0">
                <a:cs typeface="+mn-ea"/>
              </a:rPr>
              <a:t>身份认证的模式</a:t>
            </a:r>
            <a:endParaRPr lang="zh-CN" altLang="en-US" b="1" dirty="0" smtClean="0">
              <a:cs typeface="+mn-ea"/>
            </a:endParaRPr>
          </a:p>
          <a:p>
            <a:pPr marL="457200" lvl="1" indent="0">
              <a:buFont typeface="Wingdings" panose="05000000000000000000" pitchFamily="2" charset="2"/>
              <a:buNone/>
              <a:defRPr/>
            </a:pPr>
            <a:r>
              <a:rPr lang="en-US" altLang="zh-CN" b="1" dirty="0" smtClean="0">
                <a:cs typeface="+mn-ea"/>
              </a:rPr>
              <a:t>  2</a:t>
            </a:r>
            <a:r>
              <a:rPr lang="zh-CN" altLang="en-US" b="1" dirty="0" smtClean="0">
                <a:cs typeface="+mn-ea"/>
              </a:rPr>
              <a:t>）掌握</a:t>
            </a:r>
            <a:r>
              <a:rPr lang="en-US" altLang="zh-CN" b="1" dirty="0" smtClean="0">
                <a:cs typeface="+mn-ea"/>
              </a:rPr>
              <a:t>SQL Server 2019</a:t>
            </a:r>
            <a:r>
              <a:rPr lang="zh-CN" altLang="en-US" b="1" dirty="0" smtClean="0">
                <a:cs typeface="+mn-ea"/>
              </a:rPr>
              <a:t>创建和管理登录用户的方法</a:t>
            </a:r>
            <a:endParaRPr lang="zh-CN" altLang="en-US" b="1" dirty="0" smtClean="0">
              <a:cs typeface="+mn-ea"/>
            </a:endParaRPr>
          </a:p>
          <a:p>
            <a:pPr marL="457200" lvl="1" indent="0">
              <a:buFont typeface="Wingdings" panose="05000000000000000000" pitchFamily="2" charset="2"/>
              <a:buNone/>
              <a:defRPr/>
            </a:pPr>
            <a:r>
              <a:rPr lang="en-US" altLang="zh-CN" b="1" dirty="0" smtClean="0">
                <a:cs typeface="+mn-ea"/>
              </a:rPr>
              <a:t>  3</a:t>
            </a:r>
            <a:r>
              <a:rPr lang="zh-CN" altLang="en-US" b="1" dirty="0" smtClean="0">
                <a:cs typeface="+mn-ea"/>
              </a:rPr>
              <a:t>）了解创建应用程序角色的具体过程和方法</a:t>
            </a:r>
            <a:endParaRPr lang="zh-CN" altLang="en-US" b="1" dirty="0" smtClean="0">
              <a:cs typeface="+mn-ea"/>
            </a:endParaRPr>
          </a:p>
          <a:p>
            <a:pPr marL="457200" lvl="1" indent="0">
              <a:buFont typeface="Wingdings" panose="05000000000000000000" pitchFamily="2" charset="2"/>
              <a:buNone/>
              <a:defRPr/>
            </a:pPr>
            <a:r>
              <a:rPr lang="en-US" altLang="zh-CN" b="1" dirty="0" smtClean="0">
                <a:cs typeface="+mn-ea"/>
              </a:rPr>
              <a:t>  4</a:t>
            </a:r>
            <a:r>
              <a:rPr lang="zh-CN" altLang="en-US" b="1" dirty="0" smtClean="0">
                <a:cs typeface="+mn-ea"/>
              </a:rPr>
              <a:t>）掌握管理用户权限的具体实际操作方法</a:t>
            </a:r>
            <a:endParaRPr lang="zh-CN" altLang="en-US" b="1" dirty="0" smtClean="0">
              <a:cs typeface="+mn-ea"/>
            </a:endParaRPr>
          </a:p>
          <a:p>
            <a:pPr lvl="1">
              <a:defRPr/>
            </a:pPr>
            <a:endParaRPr lang="en-US" altLang="zh-CN" sz="2400" b="1" dirty="0" smtClean="0">
              <a:solidFill>
                <a:srgbClr val="CC0066"/>
              </a:solidFill>
              <a:cs typeface="+mn-ea"/>
            </a:endParaRPr>
          </a:p>
          <a:p>
            <a:pPr lvl="1">
              <a:defRPr/>
            </a:pPr>
            <a:r>
              <a:rPr lang="en-US" altLang="zh-CN" sz="2400" b="1" dirty="0" smtClean="0">
                <a:solidFill>
                  <a:srgbClr val="CC0066"/>
                </a:solidFill>
                <a:cs typeface="+mn-ea"/>
              </a:rPr>
              <a:t>10.8.2 </a:t>
            </a:r>
            <a:r>
              <a:rPr lang="zh-CN" altLang="en-US" sz="2400" b="1" dirty="0" smtClean="0">
                <a:solidFill>
                  <a:srgbClr val="CC0066"/>
                </a:solidFill>
                <a:cs typeface="+mn-ea"/>
              </a:rPr>
              <a:t>实验要求</a:t>
            </a:r>
            <a:endParaRPr lang="zh-CN" altLang="en-US" sz="2400" b="1" dirty="0" smtClean="0">
              <a:solidFill>
                <a:srgbClr val="CC0066"/>
              </a:solidFill>
              <a:cs typeface="+mn-ea"/>
            </a:endParaRPr>
          </a:p>
          <a:p>
            <a:pPr marL="457200" lvl="1" indent="0">
              <a:buFont typeface="Wingdings" panose="05000000000000000000" pitchFamily="2" charset="2"/>
              <a:buNone/>
              <a:defRPr/>
            </a:pPr>
            <a:r>
              <a:rPr lang="zh-CN" altLang="en-US" b="1" dirty="0" smtClean="0">
                <a:cs typeface="+mn-ea"/>
              </a:rPr>
              <a:t>  实验设备：安装有</a:t>
            </a:r>
            <a:r>
              <a:rPr lang="en-US" altLang="zh-CN" b="1" dirty="0" smtClean="0">
                <a:cs typeface="+mn-ea"/>
              </a:rPr>
              <a:t>SQL Server 2019</a:t>
            </a:r>
            <a:r>
              <a:rPr lang="zh-CN" altLang="en-US" b="1" dirty="0" smtClean="0">
                <a:cs typeface="+mn-ea"/>
              </a:rPr>
              <a:t>的计算机。</a:t>
            </a:r>
            <a:endParaRPr lang="zh-CN" altLang="en-US" b="1" dirty="0" smtClean="0">
              <a:cs typeface="+mn-ea"/>
            </a:endParaRPr>
          </a:p>
          <a:p>
            <a:pPr marL="457200" lvl="1" indent="0">
              <a:buFont typeface="Wingdings" panose="05000000000000000000" pitchFamily="2" charset="2"/>
              <a:buNone/>
              <a:defRPr/>
            </a:pPr>
            <a:r>
              <a:rPr lang="zh-CN" altLang="en-US" b="1" dirty="0" smtClean="0">
                <a:cs typeface="+mn-ea"/>
              </a:rPr>
              <a:t>  实验用时：</a:t>
            </a:r>
            <a:r>
              <a:rPr lang="en-US" altLang="zh-CN" b="1" dirty="0" smtClean="0">
                <a:cs typeface="+mn-ea"/>
              </a:rPr>
              <a:t>2</a:t>
            </a:r>
            <a:r>
              <a:rPr lang="zh-CN" altLang="en-US" b="1" dirty="0" smtClean="0">
                <a:cs typeface="+mn-ea"/>
              </a:rPr>
              <a:t>学时。</a:t>
            </a:r>
            <a:endParaRPr lang="zh-CN" altLang="en-US" b="1" dirty="0" smtClean="0">
              <a:cs typeface="+mn-ea"/>
            </a:endParaRPr>
          </a:p>
        </p:txBody>
      </p:sp>
      <p:sp>
        <p:nvSpPr>
          <p:cNvPr id="5" name="圆角矩形 4"/>
          <p:cNvSpPr/>
          <p:nvPr/>
        </p:nvSpPr>
        <p:spPr bwMode="gray">
          <a:xfrm>
            <a:off x="400050" y="1295400"/>
            <a:ext cx="8210550" cy="4513263"/>
          </a:xfrm>
          <a:prstGeom prst="roundRect">
            <a:avLst/>
          </a:prstGeom>
          <a:noFill/>
        </p:spPr>
        <p:style>
          <a:lnRef idx="2">
            <a:schemeClr val="accent1"/>
          </a:lnRef>
          <a:fillRef idx="1">
            <a:schemeClr val="lt1"/>
          </a:fillRef>
          <a:effectRef idx="0">
            <a:schemeClr val="accent1"/>
          </a:effectRef>
          <a:fontRef idx="minor">
            <a:schemeClr val="dk1"/>
          </a:fontRef>
        </p:style>
        <p:txBody>
          <a:bodyPr anchor="ctr" anchorCtr="1">
            <a:normAutofit/>
          </a:bodyPr>
          <a:lstStyle/>
          <a:p>
            <a:pPr>
              <a:spcBef>
                <a:spcPct val="20000"/>
              </a:spcBef>
              <a:buFont typeface="Wingdings" panose="05000000000000000000" pitchFamily="2" charset="2"/>
              <a:buNone/>
              <a:defRPr/>
            </a:pPr>
            <a:r>
              <a:rPr lang="zh-CN" altLang="en-US" sz="2500" b="1" dirty="0">
                <a:solidFill>
                  <a:schemeClr val="tx1"/>
                </a:solidFill>
                <a:latin typeface="Arial" panose="020B0604020202020204" pitchFamily="34" charset="0"/>
              </a:rPr>
              <a:t>      </a:t>
            </a:r>
            <a:endParaRPr lang="zh-CN" altLang="en-US" sz="2500" b="1" dirty="0">
              <a:solidFill>
                <a:schemeClr val="tx1"/>
              </a:solidFill>
              <a:latin typeface="Arial" panose="020B060402020202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Grp="1" noChangeArrowheads="1"/>
          </p:cNvSpPr>
          <p:nvPr>
            <p:ph type="body" idx="4294967295"/>
          </p:nvPr>
        </p:nvSpPr>
        <p:spPr>
          <a:xfrm>
            <a:off x="0" y="981075"/>
            <a:ext cx="8686800" cy="2987675"/>
          </a:xfrm>
        </p:spPr>
        <p:txBody>
          <a:bodyPr/>
          <a:lstStyle/>
          <a:p>
            <a:pPr lvl="1">
              <a:defRPr/>
            </a:pPr>
            <a:r>
              <a:rPr lang="en-US" altLang="zh-CN" sz="2800" b="1" dirty="0" smtClean="0">
                <a:solidFill>
                  <a:srgbClr val="FF0000"/>
                </a:solidFill>
                <a:latin typeface="Times New Roman" panose="02020603050405020304" pitchFamily="18" charset="0"/>
                <a:cs typeface="+mn-ea"/>
              </a:rPr>
              <a:t>10.8.3 </a:t>
            </a:r>
            <a:r>
              <a:rPr lang="zh-CN" altLang="en-US" sz="2800" b="1" dirty="0" smtClean="0">
                <a:solidFill>
                  <a:srgbClr val="FF0000"/>
                </a:solidFill>
                <a:latin typeface="Times New Roman" panose="02020603050405020304" pitchFamily="18" charset="0"/>
                <a:cs typeface="+mn-ea"/>
              </a:rPr>
              <a:t>实验内容及步骤</a:t>
            </a:r>
            <a:endParaRPr lang="zh-CN" altLang="en-US" sz="2800" b="1" dirty="0" smtClean="0">
              <a:solidFill>
                <a:srgbClr val="FF0000"/>
              </a:solidFill>
              <a:latin typeface="Times New Roman" panose="02020603050405020304" pitchFamily="18" charset="0"/>
              <a:cs typeface="+mn-ea"/>
            </a:endParaRPr>
          </a:p>
          <a:p>
            <a:pPr lvl="1">
              <a:defRPr/>
            </a:pPr>
            <a:r>
              <a:rPr lang="en-US" altLang="zh-CN" b="1" dirty="0" smtClean="0">
                <a:solidFill>
                  <a:srgbClr val="CC0000"/>
                </a:solidFill>
                <a:cs typeface="+mn-ea"/>
              </a:rPr>
              <a:t>1</a:t>
            </a:r>
            <a:r>
              <a:rPr lang="zh-CN" altLang="en-US" b="1" dirty="0" smtClean="0">
                <a:solidFill>
                  <a:srgbClr val="CC0000"/>
                </a:solidFill>
                <a:cs typeface="+mn-ea"/>
              </a:rPr>
              <a:t>．</a:t>
            </a:r>
            <a:r>
              <a:rPr lang="en-US" altLang="zh-CN" b="1" dirty="0" smtClean="0">
                <a:solidFill>
                  <a:srgbClr val="CC0000"/>
                </a:solidFill>
                <a:cs typeface="+mn-ea"/>
              </a:rPr>
              <a:t>SQL Server</a:t>
            </a:r>
            <a:r>
              <a:rPr lang="zh-CN" altLang="en-US" b="1" dirty="0" smtClean="0">
                <a:solidFill>
                  <a:srgbClr val="CC0000"/>
                </a:solidFill>
                <a:cs typeface="+mn-ea"/>
              </a:rPr>
              <a:t>认证模式</a:t>
            </a:r>
            <a:endParaRPr lang="zh-CN" altLang="en-US" b="1" dirty="0" smtClean="0">
              <a:solidFill>
                <a:srgbClr val="CC0000"/>
              </a:solidFill>
              <a:cs typeface="+mn-ea"/>
            </a:endParaRPr>
          </a:p>
          <a:p>
            <a:pPr marL="457200" lvl="1" indent="0">
              <a:buFont typeface="Wingdings" panose="05000000000000000000" pitchFamily="2" charset="2"/>
              <a:buNone/>
              <a:defRPr/>
            </a:pPr>
            <a:r>
              <a:rPr lang="zh-CN" altLang="en-US" sz="2000" b="1" dirty="0" smtClean="0">
                <a:latin typeface="Times New Roman" panose="02020603050405020304" pitchFamily="18" charset="0"/>
                <a:cs typeface="+mn-ea"/>
              </a:rPr>
              <a:t>    ①打开</a:t>
            </a:r>
            <a:r>
              <a:rPr lang="en-US" altLang="zh-CN" sz="2000" b="1" dirty="0" smtClean="0">
                <a:latin typeface="Times New Roman" panose="02020603050405020304" pitchFamily="18" charset="0"/>
                <a:cs typeface="+mn-ea"/>
              </a:rPr>
              <a:t>SSMS(SQL Server Management Studio)</a:t>
            </a:r>
            <a:r>
              <a:rPr lang="zh-CN" altLang="en-US" sz="2000" b="1" dirty="0" smtClean="0">
                <a:latin typeface="Times New Roman" panose="02020603050405020304" pitchFamily="18" charset="0"/>
                <a:cs typeface="+mn-ea"/>
              </a:rPr>
              <a:t>窗口，选择一种身份认证模式，建立与服务器的连接。</a:t>
            </a:r>
            <a:endParaRPr lang="zh-CN" altLang="en-US" sz="2000" b="1" dirty="0" smtClean="0">
              <a:latin typeface="Times New Roman" panose="02020603050405020304" pitchFamily="18" charset="0"/>
              <a:cs typeface="+mn-ea"/>
            </a:endParaRPr>
          </a:p>
          <a:p>
            <a:pPr marL="457200" lvl="1" indent="0">
              <a:buFont typeface="Wingdings" panose="05000000000000000000" pitchFamily="2" charset="2"/>
              <a:buNone/>
              <a:defRPr/>
            </a:pPr>
            <a:r>
              <a:rPr lang="zh-CN" altLang="en-US" sz="2000" b="1" dirty="0" smtClean="0">
                <a:latin typeface="Times New Roman" panose="02020603050405020304" pitchFamily="18" charset="0"/>
                <a:cs typeface="+mn-ea"/>
              </a:rPr>
              <a:t>    ②在“对象资源管理器”窗口中右键服务器名称，在弹出的快捷菜单中选择“属性”“服务器属性”对话框。</a:t>
            </a:r>
            <a:endParaRPr lang="zh-CN" altLang="en-US" sz="2000" b="1" dirty="0" smtClean="0">
              <a:latin typeface="Times New Roman" panose="02020603050405020304" pitchFamily="18" charset="0"/>
              <a:cs typeface="+mn-ea"/>
            </a:endParaRPr>
          </a:p>
          <a:p>
            <a:pPr marL="457200" lvl="1" indent="0">
              <a:buFont typeface="Wingdings" panose="05000000000000000000" pitchFamily="2" charset="2"/>
              <a:buNone/>
              <a:defRPr/>
            </a:pPr>
            <a:r>
              <a:rPr lang="zh-CN" altLang="en-US" sz="2000" b="1" dirty="0" smtClean="0">
                <a:latin typeface="Times New Roman" panose="02020603050405020304" pitchFamily="18" charset="0"/>
                <a:cs typeface="+mn-ea"/>
              </a:rPr>
              <a:t>    ③“选项页”列表中单击“安全性”标签，打开如图</a:t>
            </a:r>
            <a:r>
              <a:rPr lang="en-US" altLang="zh-CN" sz="2000" b="1" dirty="0" smtClean="0">
                <a:latin typeface="Times New Roman" panose="02020603050405020304" pitchFamily="18" charset="0"/>
                <a:cs typeface="+mn-ea"/>
              </a:rPr>
              <a:t>10-13</a:t>
            </a:r>
            <a:r>
              <a:rPr lang="zh-CN" altLang="en-US" sz="2000" b="1" dirty="0" smtClean="0">
                <a:latin typeface="Times New Roman" panose="02020603050405020304" pitchFamily="18" charset="0"/>
                <a:cs typeface="+mn-ea"/>
              </a:rPr>
              <a:t>所示的“安全性属性”选项，其中可以设置身份认证模式</a:t>
            </a:r>
            <a:r>
              <a:rPr lang="zh-CN" altLang="en-US" b="1" dirty="0" smtClean="0">
                <a:cs typeface="+mn-ea"/>
              </a:rPr>
              <a:t>。</a:t>
            </a:r>
            <a:endParaRPr lang="zh-CN" altLang="en-US" b="1" dirty="0" smtClean="0">
              <a:cs typeface="+mn-ea"/>
            </a:endParaRPr>
          </a:p>
        </p:txBody>
      </p:sp>
      <p:pic>
        <p:nvPicPr>
          <p:cNvPr id="47106" name="Picture 5" descr="3"/>
          <p:cNvPicPr>
            <a:picLocks noChangeAspect="1" noChangeArrowheads="1"/>
          </p:cNvPicPr>
          <p:nvPr/>
        </p:nvPicPr>
        <p:blipFill>
          <a:blip r:embed="rId1" cstate="print"/>
          <a:srcRect/>
          <a:stretch>
            <a:fillRect/>
          </a:stretch>
        </p:blipFill>
        <p:spPr bwMode="auto">
          <a:xfrm>
            <a:off x="2819400" y="3979863"/>
            <a:ext cx="3481388" cy="2535237"/>
          </a:xfrm>
          <a:prstGeom prst="rect">
            <a:avLst/>
          </a:prstGeom>
          <a:noFill/>
          <a:ln w="9525">
            <a:noFill/>
            <a:miter lim="800000"/>
            <a:headEnd/>
            <a:tailEnd/>
          </a:ln>
        </p:spPr>
      </p:pic>
      <p:sp>
        <p:nvSpPr>
          <p:cNvPr id="47107" name="Rectangle 6"/>
          <p:cNvSpPr>
            <a:spLocks noChangeArrowheads="1"/>
          </p:cNvSpPr>
          <p:nvPr/>
        </p:nvSpPr>
        <p:spPr bwMode="auto">
          <a:xfrm>
            <a:off x="3676650" y="6542088"/>
            <a:ext cx="1766888" cy="307975"/>
          </a:xfrm>
          <a:prstGeom prst="rect">
            <a:avLst/>
          </a:prstGeom>
          <a:noFill/>
          <a:ln w="9525">
            <a:noFill/>
            <a:miter lim="800000"/>
          </a:ln>
        </p:spPr>
        <p:txBody>
          <a:bodyPr wrap="none">
            <a:spAutoFit/>
          </a:bodyPr>
          <a:lstStyle/>
          <a:p>
            <a:pPr algn="dist">
              <a:spcBef>
                <a:spcPct val="20000"/>
              </a:spcBef>
              <a:buFont typeface="Wingdings" panose="05000000000000000000" pitchFamily="2" charset="2"/>
              <a:buNone/>
            </a:pPr>
            <a:r>
              <a:rPr lang="zh-CN" altLang="en-US" sz="1400" b="1">
                <a:solidFill>
                  <a:schemeClr val="tx2"/>
                </a:solidFill>
              </a:rPr>
              <a:t>图</a:t>
            </a:r>
            <a:r>
              <a:rPr lang="en-US" altLang="zh-CN" sz="1400" b="1">
                <a:solidFill>
                  <a:schemeClr val="tx2"/>
                </a:solidFill>
              </a:rPr>
              <a:t>10-13 </a:t>
            </a:r>
            <a:r>
              <a:rPr lang="zh-CN" altLang="en-US" sz="1400" b="1">
                <a:solidFill>
                  <a:schemeClr val="tx2"/>
                </a:solidFill>
              </a:rPr>
              <a:t>安全性属性</a:t>
            </a:r>
            <a:endParaRPr lang="zh-CN" altLang="en-US" sz="1400" b="1">
              <a:solidFill>
                <a:schemeClr val="tx2"/>
              </a:solidFill>
            </a:endParaRPr>
          </a:p>
        </p:txBody>
      </p:sp>
      <p:sp>
        <p:nvSpPr>
          <p:cNvPr id="47108"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eaLnBrk="0" hangingPunct="0"/>
            <a:r>
              <a:rPr lang="en-US" altLang="zh-CN" sz="2800" b="1">
                <a:solidFill>
                  <a:schemeClr val="bg1"/>
                </a:solidFill>
                <a:latin typeface="Verdana" panose="020B0604030504040204" pitchFamily="34" charset="0"/>
              </a:rPr>
              <a:t>10.8 SQL Server2019</a:t>
            </a:r>
            <a:r>
              <a:rPr lang="zh-CN" altLang="en-US" sz="2800" b="1">
                <a:solidFill>
                  <a:schemeClr val="bg1"/>
                </a:solidFill>
                <a:latin typeface="Verdana" panose="020B0604030504040204" pitchFamily="34" charset="0"/>
              </a:rPr>
              <a:t>用户安全管理实验</a:t>
            </a:r>
            <a:endParaRPr lang="zh-CN" altLang="en-US" sz="2800" b="1">
              <a:solidFill>
                <a:schemeClr val="bg1"/>
              </a:solidFill>
              <a:latin typeface="Verdana" panose="020B0604030504040204" pitchFamily="34" charset="0"/>
            </a:endParaRPr>
          </a:p>
        </p:txBody>
      </p:sp>
      <p:sp>
        <p:nvSpPr>
          <p:cNvPr id="5" name="圆角矩形 4"/>
          <p:cNvSpPr/>
          <p:nvPr/>
        </p:nvSpPr>
        <p:spPr bwMode="gray">
          <a:xfrm>
            <a:off x="454025" y="1092200"/>
            <a:ext cx="8210550" cy="2803525"/>
          </a:xfrm>
          <a:prstGeom prst="roundRect">
            <a:avLst/>
          </a:prstGeom>
          <a:noFill/>
        </p:spPr>
        <p:style>
          <a:lnRef idx="2">
            <a:schemeClr val="accent1"/>
          </a:lnRef>
          <a:fillRef idx="1">
            <a:schemeClr val="lt1"/>
          </a:fillRef>
          <a:effectRef idx="0">
            <a:schemeClr val="accent1"/>
          </a:effectRef>
          <a:fontRef idx="minor">
            <a:schemeClr val="dk1"/>
          </a:fontRef>
        </p:style>
        <p:txBody>
          <a:bodyPr anchor="ctr" anchorCtr="1">
            <a:normAutofit/>
          </a:bodyPr>
          <a:lstStyle/>
          <a:p>
            <a:pPr>
              <a:spcBef>
                <a:spcPct val="20000"/>
              </a:spcBef>
              <a:buFont typeface="Wingdings" panose="05000000000000000000" pitchFamily="2" charset="2"/>
              <a:buNone/>
              <a:defRPr/>
            </a:pPr>
            <a:r>
              <a:rPr lang="zh-CN" altLang="en-US" sz="2500" b="1" dirty="0">
                <a:solidFill>
                  <a:schemeClr val="tx1"/>
                </a:solidFill>
                <a:latin typeface="Arial" panose="020B0604020202020204" pitchFamily="34" charset="0"/>
              </a:rPr>
              <a:t>      </a:t>
            </a:r>
            <a:endParaRPr lang="zh-CN" altLang="en-US" sz="2500" b="1" dirty="0">
              <a:solidFill>
                <a:schemeClr val="tx1"/>
              </a:solidFill>
              <a:latin typeface="Arial" panose="020B0604020202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p:cNvSpPr>
            <a:spLocks noGrp="1" noChangeArrowheads="1"/>
          </p:cNvSpPr>
          <p:nvPr>
            <p:ph type="body" idx="4294967295"/>
          </p:nvPr>
        </p:nvSpPr>
        <p:spPr>
          <a:xfrm>
            <a:off x="0" y="1016000"/>
            <a:ext cx="8928100" cy="2952750"/>
          </a:xfrm>
        </p:spPr>
        <p:txBody>
          <a:bodyPr/>
          <a:lstStyle/>
          <a:p>
            <a:pPr lvl="1">
              <a:lnSpc>
                <a:spcPct val="90000"/>
              </a:lnSpc>
            </a:pPr>
            <a:r>
              <a:rPr lang="en-US" altLang="zh-CN" sz="2000" b="1" smtClean="0">
                <a:solidFill>
                  <a:srgbClr val="CC0000"/>
                </a:solidFill>
              </a:rPr>
              <a:t>2</a:t>
            </a:r>
            <a:r>
              <a:rPr lang="zh-CN" altLang="en-US" sz="2000" b="1" smtClean="0">
                <a:solidFill>
                  <a:srgbClr val="CC0000"/>
                </a:solidFill>
              </a:rPr>
              <a:t>．管理服务器帐号</a:t>
            </a:r>
            <a:endParaRPr lang="zh-CN" altLang="en-US" sz="2000" b="1" smtClean="0">
              <a:solidFill>
                <a:srgbClr val="CC0000"/>
              </a:solidFill>
            </a:endParaRPr>
          </a:p>
          <a:p>
            <a:pPr lvl="1">
              <a:lnSpc>
                <a:spcPct val="95000"/>
              </a:lnSpc>
              <a:spcBef>
                <a:spcPct val="5000"/>
              </a:spcBef>
              <a:buFont typeface="Wingdings" panose="05000000000000000000" pitchFamily="2" charset="2"/>
              <a:buNone/>
            </a:pPr>
            <a:r>
              <a:rPr lang="en-US" altLang="zh-CN" sz="1800" b="1" smtClean="0">
                <a:latin typeface="Times New Roman" panose="02020603050405020304" pitchFamily="18" charset="0"/>
                <a:ea typeface="楷体_GB2312" panose="02010609030101010101" pitchFamily="49" charset="-122"/>
              </a:rPr>
              <a:t>    (1)</a:t>
            </a:r>
            <a:r>
              <a:rPr lang="zh-CN" altLang="en-US" sz="1800" b="1" smtClean="0">
                <a:latin typeface="Times New Roman" panose="02020603050405020304" pitchFamily="18" charset="0"/>
                <a:ea typeface="楷体_GB2312" panose="02010609030101010101" pitchFamily="49" charset="-122"/>
              </a:rPr>
              <a:t>查看服务器登录帐号</a:t>
            </a:r>
            <a:endParaRPr lang="zh-CN" altLang="en-US" sz="1800" b="1" smtClean="0">
              <a:latin typeface="Times New Roman" panose="02020603050405020304" pitchFamily="18" charset="0"/>
              <a:ea typeface="楷体_GB2312" panose="02010609030101010101" pitchFamily="49" charset="-122"/>
            </a:endParaRPr>
          </a:p>
          <a:p>
            <a:pPr lvl="1">
              <a:lnSpc>
                <a:spcPct val="95000"/>
              </a:lnSpc>
              <a:spcBef>
                <a:spcPct val="5000"/>
              </a:spcBef>
              <a:buFont typeface="Wingdings" panose="05000000000000000000" pitchFamily="2" charset="2"/>
              <a:buNone/>
            </a:pPr>
            <a:r>
              <a:rPr lang="zh-CN" altLang="en-US" sz="1800" b="1" smtClean="0">
                <a:latin typeface="Times New Roman" panose="02020603050405020304" pitchFamily="18" charset="0"/>
                <a:ea typeface="楷体_GB2312" panose="02010609030101010101" pitchFamily="49" charset="-122"/>
              </a:rPr>
              <a:t>     打开”对象资源管理器”，可以查看当前服务器所有的登录帐户。在“对象资源管理器”中，选择“安全性”，点击“登录名”得到如图</a:t>
            </a:r>
            <a:r>
              <a:rPr lang="en-US" altLang="zh-CN" sz="1800" b="1" smtClean="0">
                <a:latin typeface="Times New Roman" panose="02020603050405020304" pitchFamily="18" charset="0"/>
                <a:ea typeface="楷体_GB2312" panose="02010609030101010101" pitchFamily="49" charset="-122"/>
              </a:rPr>
              <a:t>10-14</a:t>
            </a:r>
            <a:r>
              <a:rPr lang="zh-CN" altLang="en-US" sz="1800" b="1" smtClean="0">
                <a:latin typeface="Times New Roman" panose="02020603050405020304" pitchFamily="18" charset="0"/>
                <a:ea typeface="楷体_GB2312" panose="02010609030101010101" pitchFamily="49" charset="-122"/>
              </a:rPr>
              <a:t>窗口所示。 </a:t>
            </a:r>
            <a:endParaRPr lang="zh-CN" altLang="en-US" sz="1800" b="1" smtClean="0">
              <a:latin typeface="Times New Roman" panose="02020603050405020304" pitchFamily="18" charset="0"/>
              <a:ea typeface="楷体_GB2312" panose="02010609030101010101" pitchFamily="49" charset="-122"/>
            </a:endParaRPr>
          </a:p>
          <a:p>
            <a:pPr lvl="1">
              <a:lnSpc>
                <a:spcPct val="95000"/>
              </a:lnSpc>
              <a:spcBef>
                <a:spcPct val="5000"/>
              </a:spcBef>
              <a:buFont typeface="Wingdings" panose="05000000000000000000" pitchFamily="2" charset="2"/>
              <a:buNone/>
            </a:pPr>
            <a:r>
              <a:rPr lang="en-US" altLang="zh-CN" sz="1800" b="1" smtClean="0">
                <a:latin typeface="Times New Roman" panose="02020603050405020304" pitchFamily="18" charset="0"/>
                <a:ea typeface="楷体_GB2312" panose="02010609030101010101" pitchFamily="49" charset="-122"/>
              </a:rPr>
              <a:t>     (2)</a:t>
            </a:r>
            <a:r>
              <a:rPr lang="zh-CN" altLang="en-US" sz="1800" b="1" smtClean="0">
                <a:latin typeface="Times New Roman" panose="02020603050405020304" pitchFamily="18" charset="0"/>
                <a:ea typeface="楷体_GB2312" panose="02010609030101010101" pitchFamily="49" charset="-122"/>
              </a:rPr>
              <a:t>创建</a:t>
            </a:r>
            <a:r>
              <a:rPr lang="en-US" altLang="zh-CN" sz="1800" b="1" smtClean="0">
                <a:latin typeface="Times New Roman" panose="02020603050405020304" pitchFamily="18" charset="0"/>
                <a:ea typeface="楷体_GB2312" panose="02010609030101010101" pitchFamily="49" charset="-122"/>
              </a:rPr>
              <a:t>SQL Server </a:t>
            </a:r>
            <a:r>
              <a:rPr lang="zh-CN" altLang="en-US" sz="1800" b="1" smtClean="0">
                <a:latin typeface="Times New Roman" panose="02020603050405020304" pitchFamily="18" charset="0"/>
                <a:ea typeface="楷体_GB2312" panose="02010609030101010101" pitchFamily="49" charset="-122"/>
              </a:rPr>
              <a:t>登录账户</a:t>
            </a:r>
            <a:endParaRPr lang="zh-CN" altLang="en-US" sz="1800" b="1" smtClean="0">
              <a:latin typeface="Times New Roman" panose="02020603050405020304" pitchFamily="18" charset="0"/>
              <a:ea typeface="楷体_GB2312" panose="02010609030101010101" pitchFamily="49" charset="-122"/>
            </a:endParaRPr>
          </a:p>
          <a:p>
            <a:pPr lvl="1">
              <a:lnSpc>
                <a:spcPct val="95000"/>
              </a:lnSpc>
              <a:spcBef>
                <a:spcPct val="5000"/>
              </a:spcBef>
              <a:buFont typeface="Wingdings" panose="05000000000000000000" pitchFamily="2" charset="2"/>
              <a:buNone/>
            </a:pPr>
            <a:r>
              <a:rPr lang="zh-CN" altLang="en-US" sz="1800" b="1" smtClean="0">
                <a:latin typeface="Times New Roman" panose="02020603050405020304" pitchFamily="18" charset="0"/>
                <a:ea typeface="楷体_GB2312" panose="02010609030101010101" pitchFamily="49" charset="-122"/>
              </a:rPr>
              <a:t>     ① 打开</a:t>
            </a:r>
            <a:r>
              <a:rPr lang="en-US" altLang="zh-CN" sz="1800" b="1" smtClean="0">
                <a:latin typeface="Times New Roman" panose="02020603050405020304" pitchFamily="18" charset="0"/>
                <a:ea typeface="楷体_GB2312" panose="02010609030101010101" pitchFamily="49" charset="-122"/>
              </a:rPr>
              <a:t>SSMS</a:t>
            </a:r>
            <a:r>
              <a:rPr lang="zh-CN" altLang="en-US" sz="1800" b="1" smtClean="0">
                <a:latin typeface="Times New Roman" panose="02020603050405020304" pitchFamily="18" charset="0"/>
                <a:ea typeface="楷体_GB2312" panose="02010609030101010101" pitchFamily="49" charset="-122"/>
              </a:rPr>
              <a:t>，展开“服务器”，然后点击“安全性”节点。② 右击“登录名”节点</a:t>
            </a:r>
            <a:r>
              <a:rPr lang="en-US" altLang="zh-CN" sz="1800" b="1" smtClean="0">
                <a:latin typeface="Times New Roman" panose="02020603050405020304" pitchFamily="18" charset="0"/>
                <a:ea typeface="楷体_GB2312" panose="02010609030101010101" pitchFamily="49" charset="-122"/>
              </a:rPr>
              <a:t>,</a:t>
            </a:r>
            <a:r>
              <a:rPr lang="zh-CN" altLang="en-US" sz="1800" b="1" smtClean="0">
                <a:latin typeface="Times New Roman" panose="02020603050405020304" pitchFamily="18" charset="0"/>
                <a:ea typeface="楷体_GB2312" panose="02010609030101010101" pitchFamily="49" charset="-122"/>
              </a:rPr>
              <a:t>从弹出的快捷菜单中选择“新建登录名”命令，打开“登录名</a:t>
            </a:r>
            <a:r>
              <a:rPr lang="en-US" altLang="zh-CN" sz="1800" b="1" smtClean="0">
                <a:latin typeface="Times New Roman" panose="02020603050405020304" pitchFamily="18" charset="0"/>
                <a:ea typeface="楷体_GB2312" panose="02010609030101010101" pitchFamily="49" charset="-122"/>
              </a:rPr>
              <a:t>-</a:t>
            </a:r>
            <a:r>
              <a:rPr lang="zh-CN" altLang="en-US" sz="1800" b="1" smtClean="0">
                <a:latin typeface="Times New Roman" panose="02020603050405020304" pitchFamily="18" charset="0"/>
                <a:ea typeface="楷体_GB2312" panose="02010609030101010101" pitchFamily="49" charset="-122"/>
              </a:rPr>
              <a:t>新建”对话框。③ 输入登录名</a:t>
            </a:r>
            <a:r>
              <a:rPr lang="en-US" altLang="zh-CN" sz="1800" b="1" smtClean="0">
                <a:latin typeface="Times New Roman" panose="02020603050405020304" pitchFamily="18" charset="0"/>
                <a:ea typeface="楷体_GB2312" panose="02010609030101010101" pitchFamily="49" charset="-122"/>
              </a:rPr>
              <a:t>NewLogin</a:t>
            </a:r>
            <a:r>
              <a:rPr lang="zh-CN" altLang="en-US" sz="1800" b="1" smtClean="0">
                <a:latin typeface="Times New Roman" panose="02020603050405020304" pitchFamily="18" charset="0"/>
                <a:ea typeface="楷体_GB2312" panose="02010609030101010101" pitchFamily="49" charset="-122"/>
              </a:rPr>
              <a:t>，选择</a:t>
            </a:r>
            <a:r>
              <a:rPr lang="en-US" altLang="zh-CN" sz="1800" b="1" smtClean="0">
                <a:latin typeface="Times New Roman" panose="02020603050405020304" pitchFamily="18" charset="0"/>
                <a:ea typeface="楷体_GB2312" panose="02010609030101010101" pitchFamily="49" charset="-122"/>
              </a:rPr>
              <a:t>SQL Serer</a:t>
            </a:r>
            <a:r>
              <a:rPr lang="zh-CN" altLang="en-US" sz="1800" b="1" smtClean="0">
                <a:latin typeface="Times New Roman" panose="02020603050405020304" pitchFamily="18" charset="0"/>
                <a:ea typeface="楷体_GB2312" panose="02010609030101010101" pitchFamily="49" charset="-122"/>
              </a:rPr>
              <a:t>身份认证并输入符合密码策略的密码， 默认数据库设置为“</a:t>
            </a:r>
            <a:r>
              <a:rPr lang="en-US" altLang="zh-CN" sz="1800" b="1" smtClean="0">
                <a:latin typeface="Times New Roman" panose="02020603050405020304" pitchFamily="18" charset="0"/>
                <a:ea typeface="楷体_GB2312" panose="02010609030101010101" pitchFamily="49" charset="-122"/>
              </a:rPr>
              <a:t>master”</a:t>
            </a:r>
            <a:r>
              <a:rPr lang="zh-CN" altLang="en-US" sz="1800" b="1" smtClean="0">
                <a:latin typeface="Times New Roman" panose="02020603050405020304" pitchFamily="18" charset="0"/>
                <a:ea typeface="楷体_GB2312" panose="02010609030101010101" pitchFamily="49" charset="-122"/>
              </a:rPr>
              <a:t> 。④ 在“服务器角色”页面给该登录名选择一个固定的服务器角色，在“用户映射” 页面选择该登录名映射的数据库并为之分配相应的数据库角色，如图</a:t>
            </a:r>
            <a:r>
              <a:rPr lang="en-US" altLang="zh-CN" sz="1800" b="1" smtClean="0">
                <a:latin typeface="Times New Roman" panose="02020603050405020304" pitchFamily="18" charset="0"/>
                <a:ea typeface="楷体_GB2312" panose="02010609030101010101" pitchFamily="49" charset="-122"/>
              </a:rPr>
              <a:t>10-16</a:t>
            </a:r>
            <a:r>
              <a:rPr lang="zh-CN" altLang="en-US" sz="1800" b="1" smtClean="0">
                <a:latin typeface="Times New Roman" panose="02020603050405020304" pitchFamily="18" charset="0"/>
                <a:ea typeface="楷体_GB2312" panose="02010609030101010101" pitchFamily="49" charset="-122"/>
              </a:rPr>
              <a:t>所示。</a:t>
            </a:r>
            <a:endParaRPr lang="zh-CN" altLang="en-US" sz="1800" b="1" smtClean="0">
              <a:latin typeface="Times New Roman" panose="02020603050405020304" pitchFamily="18" charset="0"/>
              <a:ea typeface="楷体_GB2312" panose="02010609030101010101" pitchFamily="49" charset="-122"/>
            </a:endParaRPr>
          </a:p>
        </p:txBody>
      </p:sp>
      <p:sp>
        <p:nvSpPr>
          <p:cNvPr id="48130" name="Rectangle 7"/>
          <p:cNvSpPr>
            <a:spLocks noChangeArrowheads="1"/>
          </p:cNvSpPr>
          <p:nvPr/>
        </p:nvSpPr>
        <p:spPr bwMode="auto">
          <a:xfrm>
            <a:off x="1893888" y="6627813"/>
            <a:ext cx="1612900" cy="192087"/>
          </a:xfrm>
          <a:prstGeom prst="rect">
            <a:avLst/>
          </a:prstGeom>
          <a:solidFill>
            <a:srgbClr val="FFFFFF"/>
          </a:solidFill>
          <a:ln w="9525">
            <a:noFill/>
            <a:miter lim="800000"/>
          </a:ln>
        </p:spPr>
        <p:txBody>
          <a:bodyPr lIns="0" tIns="0" rIns="0" bIns="0"/>
          <a:lstStyle/>
          <a:p>
            <a:pPr algn="ctr">
              <a:spcBef>
                <a:spcPct val="20000"/>
              </a:spcBef>
              <a:spcAft>
                <a:spcPts val="300"/>
              </a:spcAft>
              <a:buFont typeface="Wingdings" panose="05000000000000000000" pitchFamily="2" charset="2"/>
              <a:buNone/>
            </a:pPr>
            <a:r>
              <a:rPr lang="zh-CN" altLang="en-US" sz="900">
                <a:latin typeface="Times New Roman" panose="02020603050405020304" pitchFamily="18" charset="0"/>
              </a:rPr>
              <a:t>图</a:t>
            </a:r>
            <a:r>
              <a:rPr lang="en-US" altLang="zh-CN" sz="900">
                <a:latin typeface="Times New Roman" panose="02020603050405020304" pitchFamily="18" charset="0"/>
              </a:rPr>
              <a:t>10-14 </a:t>
            </a:r>
            <a:r>
              <a:rPr lang="zh-CN" altLang="en-US" sz="900">
                <a:latin typeface="Times New Roman" panose="02020603050405020304" pitchFamily="18" charset="0"/>
              </a:rPr>
              <a:t>对象资源管理器</a:t>
            </a:r>
            <a:endParaRPr lang="zh-CN" altLang="en-US"/>
          </a:p>
        </p:txBody>
      </p:sp>
      <p:pic>
        <p:nvPicPr>
          <p:cNvPr id="48131" name="Picture 8" descr="5"/>
          <p:cNvPicPr>
            <a:picLocks noChangeAspect="1" noChangeArrowheads="1"/>
          </p:cNvPicPr>
          <p:nvPr/>
        </p:nvPicPr>
        <p:blipFill>
          <a:blip r:embed="rId1" cstate="print"/>
          <a:srcRect/>
          <a:stretch>
            <a:fillRect/>
          </a:stretch>
        </p:blipFill>
        <p:spPr bwMode="auto">
          <a:xfrm>
            <a:off x="4579938" y="4062413"/>
            <a:ext cx="2735262" cy="2473325"/>
          </a:xfrm>
          <a:prstGeom prst="rect">
            <a:avLst/>
          </a:prstGeom>
          <a:noFill/>
          <a:ln w="9525">
            <a:noFill/>
            <a:miter lim="800000"/>
            <a:headEnd/>
            <a:tailEnd/>
          </a:ln>
        </p:spPr>
      </p:pic>
      <p:sp>
        <p:nvSpPr>
          <p:cNvPr id="48132" name="Rectangle 10"/>
          <p:cNvSpPr>
            <a:spLocks noChangeArrowheads="1"/>
          </p:cNvSpPr>
          <p:nvPr/>
        </p:nvSpPr>
        <p:spPr bwMode="auto">
          <a:xfrm>
            <a:off x="0" y="944563"/>
            <a:ext cx="9144000" cy="0"/>
          </a:xfrm>
          <a:prstGeom prst="rect">
            <a:avLst/>
          </a:prstGeom>
          <a:noFill/>
          <a:ln w="9525">
            <a:noFill/>
            <a:miter lim="800000"/>
          </a:ln>
        </p:spPr>
        <p:txBody>
          <a:bodyPr wrap="none" anchor="ctr">
            <a:spAutoFit/>
          </a:bodyPr>
          <a:lstStyle/>
          <a:p>
            <a:pPr algn="dist">
              <a:spcBef>
                <a:spcPct val="20000"/>
              </a:spcBef>
              <a:buFont typeface="Wingdings" panose="05000000000000000000" pitchFamily="2" charset="2"/>
              <a:buNone/>
            </a:pPr>
            <a:endParaRPr lang="zh-CN" altLang="en-US"/>
          </a:p>
        </p:txBody>
      </p:sp>
      <p:sp>
        <p:nvSpPr>
          <p:cNvPr id="48133" name="Rectangle 11"/>
          <p:cNvSpPr>
            <a:spLocks noChangeArrowheads="1"/>
          </p:cNvSpPr>
          <p:nvPr/>
        </p:nvSpPr>
        <p:spPr bwMode="auto">
          <a:xfrm>
            <a:off x="4464050" y="3192463"/>
            <a:ext cx="215900" cy="244475"/>
          </a:xfrm>
          <a:prstGeom prst="rect">
            <a:avLst/>
          </a:prstGeom>
          <a:noFill/>
          <a:ln w="9525">
            <a:noFill/>
            <a:miter lim="800000"/>
          </a:ln>
        </p:spPr>
        <p:txBody>
          <a:bodyPr wrap="none" anchor="ctr">
            <a:spAutoFit/>
          </a:bodyPr>
          <a:lstStyle/>
          <a:p>
            <a:pPr algn="dist" eaLnBrk="0" hangingPunct="0">
              <a:spcBef>
                <a:spcPct val="20000"/>
              </a:spcBef>
              <a:buFont typeface="Wingdings" panose="05000000000000000000" pitchFamily="2" charset="2"/>
              <a:buNone/>
            </a:pPr>
            <a:r>
              <a:rPr lang="zh-CN" altLang="en-US" sz="1000">
                <a:latin typeface="Times New Roman" panose="02020603050405020304" pitchFamily="18" charset="0"/>
                <a:ea typeface="方正书宋简体"/>
                <a:cs typeface="方正书宋简体"/>
              </a:rPr>
              <a:t> </a:t>
            </a:r>
            <a:endParaRPr lang="zh-CN" altLang="en-US">
              <a:ea typeface="方正书宋简体"/>
              <a:cs typeface="方正书宋简体"/>
            </a:endParaRPr>
          </a:p>
        </p:txBody>
      </p:sp>
      <p:sp>
        <p:nvSpPr>
          <p:cNvPr id="48134" name="Rectangle 12"/>
          <p:cNvSpPr>
            <a:spLocks noChangeArrowheads="1"/>
          </p:cNvSpPr>
          <p:nvPr/>
        </p:nvSpPr>
        <p:spPr bwMode="auto">
          <a:xfrm>
            <a:off x="4772025" y="6556375"/>
            <a:ext cx="2349500" cy="230188"/>
          </a:xfrm>
          <a:prstGeom prst="rect">
            <a:avLst/>
          </a:prstGeom>
          <a:noFill/>
          <a:ln w="9525">
            <a:noFill/>
            <a:miter lim="800000"/>
          </a:ln>
        </p:spPr>
        <p:txBody>
          <a:bodyPr wrap="none" anchor="ctr">
            <a:spAutoFit/>
          </a:bodyPr>
          <a:lstStyle/>
          <a:p>
            <a:pPr indent="876300" eaLnBrk="0" hangingPunct="0">
              <a:spcBef>
                <a:spcPct val="20000"/>
              </a:spcBef>
              <a:buFont typeface="Wingdings" panose="05000000000000000000" pitchFamily="2" charset="2"/>
              <a:buNone/>
            </a:pPr>
            <a:r>
              <a:rPr lang="zh-CN" altLang="en-US" sz="900">
                <a:latin typeface="Times New Roman" panose="02020603050405020304" pitchFamily="18" charset="0"/>
                <a:ea typeface="方正书宋简体"/>
                <a:cs typeface="方正书宋简体"/>
              </a:rPr>
              <a:t>图</a:t>
            </a:r>
            <a:r>
              <a:rPr lang="en-US" altLang="zh-CN" sz="900">
                <a:latin typeface="Times New Roman" panose="02020603050405020304" pitchFamily="18" charset="0"/>
                <a:ea typeface="方正书宋简体"/>
                <a:cs typeface="方正书宋简体"/>
              </a:rPr>
              <a:t>10-16 </a:t>
            </a:r>
            <a:r>
              <a:rPr lang="zh-CN" altLang="en-US" sz="900">
                <a:latin typeface="Times New Roman" panose="02020603050405020304" pitchFamily="18" charset="0"/>
                <a:ea typeface="方正书宋简体"/>
                <a:cs typeface="方正书宋简体"/>
              </a:rPr>
              <a:t>服务器角色设置</a:t>
            </a:r>
            <a:endParaRPr lang="zh-CN" altLang="en-US">
              <a:ea typeface="方正书宋简体"/>
              <a:cs typeface="方正书宋简体"/>
            </a:endParaRPr>
          </a:p>
        </p:txBody>
      </p:sp>
      <p:pic>
        <p:nvPicPr>
          <p:cNvPr id="48135" name="Picture 12"/>
          <p:cNvPicPr>
            <a:picLocks noChangeAspect="1" noChangeArrowheads="1"/>
          </p:cNvPicPr>
          <p:nvPr/>
        </p:nvPicPr>
        <p:blipFill>
          <a:blip r:embed="rId2" cstate="print"/>
          <a:srcRect/>
          <a:stretch>
            <a:fillRect/>
          </a:stretch>
        </p:blipFill>
        <p:spPr bwMode="auto">
          <a:xfrm>
            <a:off x="1219200" y="4062413"/>
            <a:ext cx="2962275" cy="2487612"/>
          </a:xfrm>
          <a:prstGeom prst="rect">
            <a:avLst/>
          </a:prstGeom>
          <a:noFill/>
          <a:ln w="9525">
            <a:noFill/>
            <a:miter lim="800000"/>
            <a:headEnd/>
            <a:tailEnd/>
          </a:ln>
        </p:spPr>
      </p:pic>
      <p:sp>
        <p:nvSpPr>
          <p:cNvPr id="48136"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eaLnBrk="0" hangingPunct="0"/>
            <a:r>
              <a:rPr lang="en-US" altLang="zh-CN" sz="2800" b="1">
                <a:solidFill>
                  <a:schemeClr val="bg1"/>
                </a:solidFill>
                <a:latin typeface="Verdana" panose="020B0604030504040204" pitchFamily="34" charset="0"/>
              </a:rPr>
              <a:t>10.8 SQL Server2019</a:t>
            </a:r>
            <a:r>
              <a:rPr lang="zh-CN" altLang="en-US" sz="2800" b="1">
                <a:solidFill>
                  <a:schemeClr val="bg1"/>
                </a:solidFill>
                <a:latin typeface="Verdana" panose="020B0604030504040204" pitchFamily="34" charset="0"/>
              </a:rPr>
              <a:t>用户安全管理实验</a:t>
            </a:r>
            <a:endParaRPr lang="zh-CN" altLang="en-US" sz="2800" b="1">
              <a:solidFill>
                <a:schemeClr val="bg1"/>
              </a:solidFill>
              <a:latin typeface="Verdana" panose="020B0604030504040204" pitchFamily="34" charset="0"/>
            </a:endParaRPr>
          </a:p>
        </p:txBody>
      </p:sp>
      <p:sp>
        <p:nvSpPr>
          <p:cNvPr id="5" name="圆角矩形 4"/>
          <p:cNvSpPr/>
          <p:nvPr/>
        </p:nvSpPr>
        <p:spPr bwMode="gray">
          <a:xfrm>
            <a:off x="358775" y="1016000"/>
            <a:ext cx="8210550" cy="2952750"/>
          </a:xfrm>
          <a:prstGeom prst="roundRect">
            <a:avLst/>
          </a:prstGeom>
          <a:noFill/>
        </p:spPr>
        <p:style>
          <a:lnRef idx="2">
            <a:schemeClr val="accent1"/>
          </a:lnRef>
          <a:fillRef idx="1">
            <a:schemeClr val="lt1"/>
          </a:fillRef>
          <a:effectRef idx="0">
            <a:schemeClr val="accent1"/>
          </a:effectRef>
          <a:fontRef idx="minor">
            <a:schemeClr val="dk1"/>
          </a:fontRef>
        </p:style>
        <p:txBody>
          <a:bodyPr anchor="ctr" anchorCtr="1">
            <a:normAutofit/>
          </a:bodyPr>
          <a:lstStyle/>
          <a:p>
            <a:pPr>
              <a:spcBef>
                <a:spcPct val="20000"/>
              </a:spcBef>
              <a:buFont typeface="Wingdings" panose="05000000000000000000" pitchFamily="2" charset="2"/>
              <a:buNone/>
              <a:defRPr/>
            </a:pPr>
            <a:r>
              <a:rPr lang="zh-CN" altLang="en-US" sz="2500" b="1" dirty="0">
                <a:solidFill>
                  <a:schemeClr val="tx1"/>
                </a:solidFill>
                <a:latin typeface="Arial" panose="020B0604020202020204" pitchFamily="34" charset="0"/>
              </a:rPr>
              <a:t>      </a:t>
            </a:r>
            <a:endParaRPr lang="zh-CN" altLang="en-US" sz="2500" b="1" dirty="0">
              <a:solidFill>
                <a:schemeClr val="tx1"/>
              </a:solidFill>
              <a:latin typeface="Arial" panose="020B060402020202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3"/>
          <p:cNvSpPr>
            <a:spLocks noGrp="1" noChangeArrowheads="1"/>
          </p:cNvSpPr>
          <p:nvPr>
            <p:ph type="body" idx="4294967295"/>
          </p:nvPr>
        </p:nvSpPr>
        <p:spPr>
          <a:xfrm>
            <a:off x="457200" y="1052513"/>
            <a:ext cx="8153400" cy="2700337"/>
          </a:xfrm>
        </p:spPr>
        <p:txBody>
          <a:bodyPr/>
          <a:lstStyle/>
          <a:p>
            <a:pPr>
              <a:lnSpc>
                <a:spcPct val="80000"/>
              </a:lnSpc>
            </a:pPr>
            <a:r>
              <a:rPr lang="en-US" altLang="zh-CN" sz="2600" smtClean="0">
                <a:solidFill>
                  <a:srgbClr val="CC0000"/>
                </a:solidFill>
              </a:rPr>
              <a:t>3</a:t>
            </a:r>
            <a:r>
              <a:rPr lang="zh-CN" altLang="en-US" sz="2600" smtClean="0">
                <a:solidFill>
                  <a:srgbClr val="CC0000"/>
                </a:solidFill>
              </a:rPr>
              <a:t>．创建应用程序角色</a:t>
            </a:r>
            <a:endParaRPr lang="zh-CN" altLang="en-US" sz="2600" smtClean="0">
              <a:solidFill>
                <a:srgbClr val="CC0000"/>
              </a:solidFill>
            </a:endParaRPr>
          </a:p>
          <a:p>
            <a:pPr>
              <a:lnSpc>
                <a:spcPct val="80000"/>
              </a:lnSpc>
            </a:pPr>
            <a:r>
              <a:rPr lang="zh-CN" altLang="en-US" sz="1800" smtClean="0">
                <a:latin typeface="Times New Roman" panose="02020603050405020304" pitchFamily="18" charset="0"/>
                <a:ea typeface="楷体_GB2312" panose="02010609030101010101" pitchFamily="49" charset="-122"/>
              </a:rPr>
              <a:t>①打开</a:t>
            </a:r>
            <a:r>
              <a:rPr lang="en-US" altLang="zh-CN" sz="1800" smtClean="0">
                <a:latin typeface="Times New Roman" panose="02020603050405020304" pitchFamily="18" charset="0"/>
                <a:ea typeface="楷体_GB2312" panose="02010609030101010101" pitchFamily="49" charset="-122"/>
              </a:rPr>
              <a:t>SSMS</a:t>
            </a:r>
            <a:r>
              <a:rPr lang="zh-CN" altLang="en-US" sz="1800" smtClean="0">
                <a:latin typeface="Times New Roman" panose="02020603050405020304" pitchFamily="18" charset="0"/>
                <a:ea typeface="楷体_GB2312" panose="02010609030101010101" pitchFamily="49" charset="-122"/>
              </a:rPr>
              <a:t>，展开“服务器”</a:t>
            </a:r>
            <a:r>
              <a:rPr lang="en-US" altLang="zh-CN" sz="1800" smtClean="0">
                <a:latin typeface="Times New Roman" panose="02020603050405020304" pitchFamily="18" charset="0"/>
                <a:ea typeface="楷体_GB2312" panose="02010609030101010101" pitchFamily="49" charset="-122"/>
              </a:rPr>
              <a:t>,</a:t>
            </a:r>
            <a:r>
              <a:rPr lang="zh-CN" altLang="en-US" sz="1800" smtClean="0">
                <a:latin typeface="Times New Roman" panose="02020603050405020304" pitchFamily="18" charset="0"/>
                <a:ea typeface="楷体_GB2312" panose="02010609030101010101" pitchFamily="49" charset="-122"/>
              </a:rPr>
              <a:t>点击展开“数据库”中选“</a:t>
            </a:r>
            <a:r>
              <a:rPr lang="en-US" altLang="zh-CN" sz="1800" smtClean="0">
                <a:latin typeface="Times New Roman" panose="02020603050405020304" pitchFamily="18" charset="0"/>
                <a:ea typeface="楷体_GB2312" panose="02010609030101010101" pitchFamily="49" charset="-122"/>
              </a:rPr>
              <a:t>master”,</a:t>
            </a:r>
            <a:r>
              <a:rPr lang="zh-CN" altLang="en-US" sz="1800" smtClean="0">
                <a:latin typeface="Times New Roman" panose="02020603050405020304" pitchFamily="18" charset="0"/>
                <a:ea typeface="楷体_GB2312" panose="02010609030101010101" pitchFamily="49" charset="-122"/>
              </a:rPr>
              <a:t>选择“安全性” </a:t>
            </a:r>
            <a:r>
              <a:rPr lang="en-US" altLang="zh-CN" sz="1800" smtClean="0">
                <a:latin typeface="Times New Roman" panose="02020603050405020304" pitchFamily="18" charset="0"/>
                <a:ea typeface="楷体_GB2312" panose="02010609030101010101" pitchFamily="49" charset="-122"/>
              </a:rPr>
              <a:t>,</a:t>
            </a:r>
            <a:r>
              <a:rPr lang="zh-CN" altLang="en-US" sz="1800" smtClean="0">
                <a:latin typeface="Times New Roman" panose="02020603050405020304" pitchFamily="18" charset="0"/>
                <a:ea typeface="楷体_GB2312" panose="02010609030101010101" pitchFamily="49" charset="-122"/>
              </a:rPr>
              <a:t>然后点击“角色”节点</a:t>
            </a:r>
            <a:r>
              <a:rPr lang="en-US" altLang="zh-CN" sz="1800" smtClean="0">
                <a:latin typeface="Times New Roman" panose="02020603050405020304" pitchFamily="18" charset="0"/>
                <a:ea typeface="楷体_GB2312" panose="02010609030101010101" pitchFamily="49" charset="-122"/>
              </a:rPr>
              <a:t>,</a:t>
            </a:r>
            <a:r>
              <a:rPr lang="zh-CN" altLang="en-US" sz="1800" smtClean="0">
                <a:latin typeface="Times New Roman" panose="02020603050405020304" pitchFamily="18" charset="0"/>
                <a:ea typeface="楷体_GB2312" panose="02010609030101010101" pitchFamily="49" charset="-122"/>
              </a:rPr>
              <a:t>右击“应用程序角色”</a:t>
            </a:r>
            <a:r>
              <a:rPr lang="en-US" altLang="zh-CN" sz="1800" smtClean="0">
                <a:latin typeface="Times New Roman" panose="02020603050405020304" pitchFamily="18" charset="0"/>
                <a:ea typeface="楷体_GB2312" panose="02010609030101010101" pitchFamily="49" charset="-122"/>
              </a:rPr>
              <a:t>,</a:t>
            </a:r>
            <a:r>
              <a:rPr lang="zh-CN" altLang="en-US" sz="1800" smtClean="0">
                <a:latin typeface="Times New Roman" panose="02020603050405020304" pitchFamily="18" charset="0"/>
                <a:ea typeface="楷体_GB2312" panose="02010609030101010101" pitchFamily="49" charset="-122"/>
              </a:rPr>
              <a:t>选择“新建应用程序角色”命令</a:t>
            </a:r>
            <a:r>
              <a:rPr lang="en-US" altLang="zh-CN" sz="1800" smtClean="0">
                <a:latin typeface="Times New Roman" panose="02020603050405020304" pitchFamily="18" charset="0"/>
                <a:ea typeface="楷体_GB2312" panose="02010609030101010101" pitchFamily="49" charset="-122"/>
              </a:rPr>
              <a:t>.</a:t>
            </a:r>
            <a:endParaRPr lang="en-US" altLang="zh-CN" sz="1800" smtClean="0">
              <a:latin typeface="Times New Roman" panose="02020603050405020304" pitchFamily="18" charset="0"/>
              <a:ea typeface="楷体_GB2312" panose="02010609030101010101" pitchFamily="49" charset="-122"/>
            </a:endParaRPr>
          </a:p>
          <a:p>
            <a:pPr>
              <a:lnSpc>
                <a:spcPct val="80000"/>
              </a:lnSpc>
            </a:pPr>
            <a:r>
              <a:rPr lang="zh-CN" altLang="en-US" sz="1800" smtClean="0">
                <a:latin typeface="Times New Roman" panose="02020603050405020304" pitchFamily="18" charset="0"/>
                <a:ea typeface="楷体_GB2312" panose="02010609030101010101" pitchFamily="49" charset="-122"/>
              </a:rPr>
              <a:t>②在“角色名称”文本框中输入</a:t>
            </a:r>
            <a:r>
              <a:rPr lang="en-US" altLang="zh-CN" sz="1800" smtClean="0">
                <a:latin typeface="Times New Roman" panose="02020603050405020304" pitchFamily="18" charset="0"/>
                <a:ea typeface="楷体_GB2312" panose="02010609030101010101" pitchFamily="49" charset="-122"/>
              </a:rPr>
              <a:t>Addole,</a:t>
            </a:r>
            <a:r>
              <a:rPr lang="zh-CN" altLang="en-US" sz="1800" smtClean="0">
                <a:latin typeface="Times New Roman" panose="02020603050405020304" pitchFamily="18" charset="0"/>
                <a:ea typeface="楷体_GB2312" panose="02010609030101010101" pitchFamily="49" charset="-122"/>
              </a:rPr>
              <a:t>然后在“默认架构”文本框中输入</a:t>
            </a:r>
            <a:r>
              <a:rPr lang="en-US" altLang="zh-CN" sz="1800" smtClean="0">
                <a:latin typeface="Times New Roman" panose="02020603050405020304" pitchFamily="18" charset="0"/>
                <a:ea typeface="楷体_GB2312" panose="02010609030101010101" pitchFamily="49" charset="-122"/>
              </a:rPr>
              <a:t>dbo</a:t>
            </a:r>
            <a:r>
              <a:rPr lang="zh-CN" altLang="en-US" sz="1800" smtClean="0">
                <a:latin typeface="Times New Roman" panose="02020603050405020304" pitchFamily="18" charset="0"/>
                <a:ea typeface="楷体_GB2312" panose="02010609030101010101" pitchFamily="49" charset="-122"/>
              </a:rPr>
              <a:t>， 在密码和确认密码文本框中输入相应密码，如图</a:t>
            </a:r>
            <a:r>
              <a:rPr lang="en-US" altLang="zh-CN" sz="1800" smtClean="0">
                <a:latin typeface="Times New Roman" panose="02020603050405020304" pitchFamily="18" charset="0"/>
                <a:ea typeface="楷体_GB2312" panose="02010609030101010101" pitchFamily="49" charset="-122"/>
              </a:rPr>
              <a:t>10-17</a:t>
            </a:r>
            <a:r>
              <a:rPr lang="zh-CN" altLang="en-US" sz="1800" smtClean="0">
                <a:latin typeface="Times New Roman" panose="02020603050405020304" pitchFamily="18" charset="0"/>
                <a:ea typeface="楷体_GB2312" panose="02010609030101010101" pitchFamily="49" charset="-122"/>
              </a:rPr>
              <a:t>所示。</a:t>
            </a:r>
            <a:endParaRPr lang="zh-CN" altLang="en-US" sz="1800" smtClean="0">
              <a:latin typeface="Times New Roman" panose="02020603050405020304" pitchFamily="18" charset="0"/>
              <a:ea typeface="楷体_GB2312" panose="02010609030101010101" pitchFamily="49" charset="-122"/>
            </a:endParaRPr>
          </a:p>
          <a:p>
            <a:pPr>
              <a:lnSpc>
                <a:spcPct val="80000"/>
              </a:lnSpc>
            </a:pPr>
            <a:r>
              <a:rPr lang="zh-CN" altLang="en-US" sz="1800" smtClean="0">
                <a:latin typeface="Times New Roman" panose="02020603050405020304" pitchFamily="18" charset="0"/>
                <a:ea typeface="楷体_GB2312" panose="02010609030101010101" pitchFamily="49" charset="-122"/>
              </a:rPr>
              <a:t>③在“安全对象”页面上单击“搜索”按钮，选择“特定对象”单选按钮，然后 单击“确定”按钮。单击“对象类型”按钮，选择“表”，单击“浏览”按钮，选择“</a:t>
            </a:r>
            <a:r>
              <a:rPr lang="en-US" altLang="zh-CN" sz="1800" smtClean="0">
                <a:latin typeface="Times New Roman" panose="02020603050405020304" pitchFamily="18" charset="0"/>
                <a:ea typeface="楷体_GB2312" panose="02010609030101010101" pitchFamily="49" charset="-122"/>
              </a:rPr>
              <a:t>spt_fallback_db”</a:t>
            </a:r>
            <a:r>
              <a:rPr lang="zh-CN" altLang="en-US" sz="1800" smtClean="0">
                <a:latin typeface="Times New Roman" panose="02020603050405020304" pitchFamily="18" charset="0"/>
                <a:ea typeface="楷体_GB2312" panose="02010609030101010101" pitchFamily="49" charset="-122"/>
              </a:rPr>
              <a:t>表，然后单击“确定”按钮。</a:t>
            </a:r>
            <a:endParaRPr lang="zh-CN" altLang="en-US" sz="1800" smtClean="0">
              <a:latin typeface="Times New Roman" panose="02020603050405020304" pitchFamily="18" charset="0"/>
              <a:ea typeface="楷体_GB2312" panose="02010609030101010101" pitchFamily="49" charset="-122"/>
            </a:endParaRPr>
          </a:p>
          <a:p>
            <a:pPr>
              <a:lnSpc>
                <a:spcPct val="80000"/>
              </a:lnSpc>
            </a:pPr>
            <a:r>
              <a:rPr lang="zh-CN" altLang="en-US" sz="1800" smtClean="0">
                <a:latin typeface="Times New Roman" panose="02020603050405020304" pitchFamily="18" charset="0"/>
                <a:ea typeface="楷体_GB2312" panose="02010609030101010101" pitchFamily="49" charset="-122"/>
              </a:rPr>
              <a:t>④在</a:t>
            </a:r>
            <a:r>
              <a:rPr lang="en-US" altLang="zh-CN" sz="1800" smtClean="0">
                <a:latin typeface="Times New Roman" panose="02020603050405020304" pitchFamily="18" charset="0"/>
                <a:ea typeface="楷体_GB2312" panose="02010609030101010101" pitchFamily="49" charset="-122"/>
              </a:rPr>
              <a:t>spt_fallback_db</a:t>
            </a:r>
            <a:r>
              <a:rPr lang="zh-CN" altLang="en-US" sz="1800" smtClean="0">
                <a:latin typeface="Times New Roman" panose="02020603050405020304" pitchFamily="18" charset="0"/>
                <a:ea typeface="楷体_GB2312" panose="02010609030101010101" pitchFamily="49" charset="-122"/>
              </a:rPr>
              <a:t>显示权限列表中</a:t>
            </a:r>
            <a:r>
              <a:rPr lang="en-US" altLang="zh-CN" sz="1800" smtClean="0">
                <a:latin typeface="Times New Roman" panose="02020603050405020304" pitchFamily="18" charset="0"/>
                <a:ea typeface="楷体_GB2312" panose="02010609030101010101" pitchFamily="49" charset="-122"/>
              </a:rPr>
              <a:t>,</a:t>
            </a:r>
            <a:r>
              <a:rPr lang="zh-CN" altLang="en-US" sz="1800" smtClean="0">
                <a:latin typeface="Times New Roman" panose="02020603050405020304" pitchFamily="18" charset="0"/>
                <a:ea typeface="楷体_GB2312" panose="02010609030101010101" pitchFamily="49" charset="-122"/>
              </a:rPr>
              <a:t>启用“选择”</a:t>
            </a:r>
            <a:r>
              <a:rPr lang="en-US" altLang="zh-CN" sz="1800" smtClean="0">
                <a:latin typeface="Times New Roman" panose="02020603050405020304" pitchFamily="18" charset="0"/>
                <a:ea typeface="楷体_GB2312" panose="02010609030101010101" pitchFamily="49" charset="-122"/>
              </a:rPr>
              <a:t>,</a:t>
            </a:r>
            <a:r>
              <a:rPr lang="zh-CN" altLang="en-US" sz="1800" smtClean="0">
                <a:latin typeface="Times New Roman" panose="02020603050405020304" pitchFamily="18" charset="0"/>
                <a:ea typeface="楷体_GB2312" panose="02010609030101010101" pitchFamily="49" charset="-122"/>
              </a:rPr>
              <a:t>单击“授予”复选框</a:t>
            </a:r>
            <a:r>
              <a:rPr lang="en-US" altLang="zh-CN" sz="1800" smtClean="0">
                <a:latin typeface="Times New Roman" panose="02020603050405020304" pitchFamily="18" charset="0"/>
                <a:ea typeface="楷体_GB2312" panose="02010609030101010101" pitchFamily="49" charset="-122"/>
              </a:rPr>
              <a:t>,</a:t>
            </a:r>
            <a:r>
              <a:rPr lang="zh-CN" altLang="en-US" sz="1800" smtClean="0">
                <a:latin typeface="Times New Roman" panose="02020603050405020304" pitchFamily="18" charset="0"/>
                <a:ea typeface="楷体_GB2312" panose="02010609030101010101" pitchFamily="49" charset="-122"/>
              </a:rPr>
              <a:t>然后</a:t>
            </a:r>
            <a:r>
              <a:rPr lang="en-US" altLang="zh-CN" sz="1800" smtClean="0">
                <a:latin typeface="Times New Roman" panose="02020603050405020304" pitchFamily="18" charset="0"/>
                <a:ea typeface="楷体_GB2312" panose="02010609030101010101" pitchFamily="49" charset="-122"/>
              </a:rPr>
              <a:t>,</a:t>
            </a:r>
            <a:r>
              <a:rPr lang="zh-CN" altLang="en-US" sz="1800" smtClean="0">
                <a:latin typeface="Times New Roman" panose="02020603050405020304" pitchFamily="18" charset="0"/>
                <a:ea typeface="楷体_GB2312" panose="02010609030101010101" pitchFamily="49" charset="-122"/>
              </a:rPr>
              <a:t>单击“确定”按钮。</a:t>
            </a:r>
            <a:endParaRPr lang="zh-CN" altLang="en-US" sz="1800" smtClean="0">
              <a:latin typeface="Times New Roman" panose="02020603050405020304" pitchFamily="18" charset="0"/>
              <a:ea typeface="楷体_GB2312" panose="02010609030101010101" pitchFamily="49" charset="-122"/>
            </a:endParaRPr>
          </a:p>
        </p:txBody>
      </p:sp>
      <p:pic>
        <p:nvPicPr>
          <p:cNvPr id="49154" name="Picture 5" descr="7"/>
          <p:cNvPicPr>
            <a:picLocks noChangeAspect="1" noChangeArrowheads="1"/>
          </p:cNvPicPr>
          <p:nvPr/>
        </p:nvPicPr>
        <p:blipFill>
          <a:blip r:embed="rId1" cstate="print"/>
          <a:srcRect/>
          <a:stretch>
            <a:fillRect/>
          </a:stretch>
        </p:blipFill>
        <p:spPr bwMode="auto">
          <a:xfrm>
            <a:off x="3352800" y="3733800"/>
            <a:ext cx="3611563" cy="2670175"/>
          </a:xfrm>
          <a:prstGeom prst="rect">
            <a:avLst/>
          </a:prstGeom>
          <a:noFill/>
          <a:ln w="9525">
            <a:noFill/>
            <a:miter lim="800000"/>
            <a:headEnd/>
            <a:tailEnd/>
          </a:ln>
        </p:spPr>
      </p:pic>
      <p:sp>
        <p:nvSpPr>
          <p:cNvPr id="49155" name="Rectangle 6"/>
          <p:cNvSpPr>
            <a:spLocks noChangeArrowheads="1"/>
          </p:cNvSpPr>
          <p:nvPr/>
        </p:nvSpPr>
        <p:spPr bwMode="auto">
          <a:xfrm>
            <a:off x="3844925" y="6503988"/>
            <a:ext cx="2627313" cy="339725"/>
          </a:xfrm>
          <a:prstGeom prst="rect">
            <a:avLst/>
          </a:prstGeom>
          <a:noFill/>
          <a:ln w="9525">
            <a:noFill/>
            <a:miter lim="800000"/>
          </a:ln>
        </p:spPr>
        <p:txBody>
          <a:bodyPr wrap="none" anchor="ctr">
            <a:spAutoFit/>
          </a:bodyPr>
          <a:lstStyle/>
          <a:p>
            <a:pPr algn="dist" eaLnBrk="0" hangingPunct="0">
              <a:spcBef>
                <a:spcPct val="20000"/>
              </a:spcBef>
              <a:buFont typeface="Wingdings" panose="05000000000000000000" pitchFamily="2" charset="2"/>
              <a:buNone/>
            </a:pPr>
            <a:r>
              <a:rPr lang="zh-CN" altLang="en-US" sz="1600" b="1"/>
              <a:t>图</a:t>
            </a:r>
            <a:r>
              <a:rPr lang="en-US" altLang="zh-CN" sz="1600" b="1"/>
              <a:t>10-17 </a:t>
            </a:r>
            <a:r>
              <a:rPr lang="zh-CN" altLang="en-US" sz="1600" b="1"/>
              <a:t>新建应用程序角色</a:t>
            </a:r>
            <a:endParaRPr lang="zh-CN" altLang="en-US" sz="1600" b="1"/>
          </a:p>
        </p:txBody>
      </p:sp>
      <p:sp>
        <p:nvSpPr>
          <p:cNvPr id="49156"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eaLnBrk="0" hangingPunct="0"/>
            <a:r>
              <a:rPr lang="en-US" altLang="zh-CN" sz="2800" b="1">
                <a:solidFill>
                  <a:schemeClr val="bg1"/>
                </a:solidFill>
                <a:latin typeface="Verdana" panose="020B0604030504040204" pitchFamily="34" charset="0"/>
              </a:rPr>
              <a:t>10.8 SQL Server2019</a:t>
            </a:r>
            <a:r>
              <a:rPr lang="zh-CN" altLang="en-US" sz="2800" b="1">
                <a:solidFill>
                  <a:schemeClr val="bg1"/>
                </a:solidFill>
                <a:latin typeface="Verdana" panose="020B0604030504040204" pitchFamily="34" charset="0"/>
              </a:rPr>
              <a:t>用户安全管理实验</a:t>
            </a:r>
            <a:endParaRPr lang="zh-CN" altLang="en-US" sz="2800" b="1">
              <a:solidFill>
                <a:schemeClr val="bg1"/>
              </a:solidFill>
              <a:latin typeface="Verdana" panose="020B0604030504040204" pitchFamily="34" charset="0"/>
            </a:endParaRPr>
          </a:p>
        </p:txBody>
      </p:sp>
      <p:sp>
        <p:nvSpPr>
          <p:cNvPr id="5" name="圆角矩形 4"/>
          <p:cNvSpPr/>
          <p:nvPr/>
        </p:nvSpPr>
        <p:spPr bwMode="gray">
          <a:xfrm>
            <a:off x="504825" y="1052513"/>
            <a:ext cx="8210550" cy="2820987"/>
          </a:xfrm>
          <a:prstGeom prst="roundRect">
            <a:avLst/>
          </a:prstGeom>
          <a:noFill/>
        </p:spPr>
        <p:style>
          <a:lnRef idx="2">
            <a:schemeClr val="accent1"/>
          </a:lnRef>
          <a:fillRef idx="1">
            <a:schemeClr val="lt1"/>
          </a:fillRef>
          <a:effectRef idx="0">
            <a:schemeClr val="accent1"/>
          </a:effectRef>
          <a:fontRef idx="minor">
            <a:schemeClr val="dk1"/>
          </a:fontRef>
        </p:style>
        <p:txBody>
          <a:bodyPr anchor="ctr" anchorCtr="1">
            <a:normAutofit/>
          </a:bodyPr>
          <a:lstStyle/>
          <a:p>
            <a:pPr>
              <a:spcBef>
                <a:spcPct val="20000"/>
              </a:spcBef>
              <a:buFont typeface="Wingdings" panose="05000000000000000000" pitchFamily="2" charset="2"/>
              <a:buNone/>
              <a:defRPr/>
            </a:pPr>
            <a:r>
              <a:rPr lang="zh-CN" altLang="en-US" sz="2500" b="1" dirty="0">
                <a:solidFill>
                  <a:schemeClr val="tx1"/>
                </a:solidFill>
                <a:latin typeface="Arial" panose="020B0604020202020204" pitchFamily="34" charset="0"/>
              </a:rPr>
              <a:t>      </a:t>
            </a:r>
            <a:endParaRPr lang="zh-CN" altLang="en-US" sz="2500" b="1" dirty="0">
              <a:solidFill>
                <a:schemeClr val="tx1"/>
              </a:solidFill>
              <a:latin typeface="Arial" panose="020B0604020202020204"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3"/>
          <p:cNvSpPr>
            <a:spLocks noGrp="1" noChangeArrowheads="1"/>
          </p:cNvSpPr>
          <p:nvPr>
            <p:ph type="body" idx="4294967295"/>
          </p:nvPr>
        </p:nvSpPr>
        <p:spPr>
          <a:xfrm>
            <a:off x="358775" y="1052513"/>
            <a:ext cx="8153400" cy="2555875"/>
          </a:xfrm>
        </p:spPr>
        <p:txBody>
          <a:bodyPr/>
          <a:lstStyle/>
          <a:p>
            <a:pPr>
              <a:lnSpc>
                <a:spcPct val="80000"/>
              </a:lnSpc>
            </a:pPr>
            <a:r>
              <a:rPr lang="en-US" altLang="zh-CN" sz="2400" smtClean="0">
                <a:solidFill>
                  <a:srgbClr val="CC0000"/>
                </a:solidFill>
              </a:rPr>
              <a:t>4</a:t>
            </a:r>
            <a:r>
              <a:rPr lang="zh-CN" altLang="en-US" sz="2400" smtClean="0">
                <a:solidFill>
                  <a:srgbClr val="CC0000"/>
                </a:solidFill>
              </a:rPr>
              <a:t>．管理用户权限</a:t>
            </a:r>
            <a:endParaRPr lang="zh-CN" altLang="en-US" sz="2400" smtClean="0">
              <a:solidFill>
                <a:srgbClr val="CC0000"/>
              </a:solidFill>
            </a:endParaRPr>
          </a:p>
          <a:p>
            <a:pPr>
              <a:lnSpc>
                <a:spcPct val="80000"/>
              </a:lnSpc>
            </a:pPr>
            <a:r>
              <a:rPr lang="zh-CN" altLang="en-US" sz="1800" smtClean="0">
                <a:latin typeface="Times New Roman" panose="02020603050405020304" pitchFamily="18" charset="0"/>
                <a:ea typeface="楷体_GB2312" panose="02010609030101010101" pitchFamily="49" charset="-122"/>
              </a:rPr>
              <a:t>①单击</a:t>
            </a:r>
            <a:r>
              <a:rPr lang="en-US" altLang="zh-CN" sz="1800" smtClean="0">
                <a:latin typeface="Times New Roman" panose="02020603050405020304" pitchFamily="18" charset="0"/>
                <a:ea typeface="楷体_GB2312" panose="02010609030101010101" pitchFamily="49" charset="-122"/>
              </a:rPr>
              <a:t>SSMS</a:t>
            </a:r>
            <a:r>
              <a:rPr lang="zh-CN" altLang="en-US" sz="1800" smtClean="0">
                <a:latin typeface="Times New Roman" panose="02020603050405020304" pitchFamily="18" charset="0"/>
                <a:ea typeface="楷体_GB2312" panose="02010609030101010101" pitchFamily="49" charset="-122"/>
              </a:rPr>
              <a:t>，依此打开“服务器”中“数据库”，选择“</a:t>
            </a:r>
            <a:r>
              <a:rPr lang="en-US" altLang="zh-CN" sz="1800" smtClean="0">
                <a:latin typeface="Times New Roman" panose="02020603050405020304" pitchFamily="18" charset="0"/>
                <a:ea typeface="楷体_GB2312" panose="02010609030101010101" pitchFamily="49" charset="-122"/>
              </a:rPr>
              <a:t>master”</a:t>
            </a:r>
            <a:r>
              <a:rPr lang="zh-CN" altLang="en-US" sz="1800" smtClean="0">
                <a:latin typeface="Times New Roman" panose="02020603050405020304" pitchFamily="18" charset="0"/>
                <a:ea typeface="楷体_GB2312" panose="02010609030101010101" pitchFamily="49" charset="-122"/>
              </a:rPr>
              <a:t>展开“安全性”中的“用户”节点。②右击“</a:t>
            </a:r>
            <a:r>
              <a:rPr lang="en-US" altLang="zh-CN" sz="1800" smtClean="0">
                <a:latin typeface="Times New Roman" panose="02020603050405020304" pitchFamily="18" charset="0"/>
                <a:ea typeface="楷体_GB2312" panose="02010609030101010101" pitchFamily="49" charset="-122"/>
              </a:rPr>
              <a:t>NewLogin”</a:t>
            </a:r>
            <a:r>
              <a:rPr lang="zh-CN" altLang="en-US" sz="1800" smtClean="0">
                <a:latin typeface="Times New Roman" panose="02020603050405020304" pitchFamily="18" charset="0"/>
                <a:ea typeface="楷体_GB2312" panose="02010609030101010101" pitchFamily="49" charset="-122"/>
              </a:rPr>
              <a:t>节点，在弹出的快捷菜单中选择“属性”，打开“数据库用户</a:t>
            </a:r>
            <a:r>
              <a:rPr lang="en-US" altLang="zh-CN" sz="1800" smtClean="0">
                <a:latin typeface="Times New Roman" panose="02020603050405020304" pitchFamily="18" charset="0"/>
                <a:ea typeface="楷体_GB2312" panose="02010609030101010101" pitchFamily="49" charset="-122"/>
              </a:rPr>
              <a:t>-NewLogin”</a:t>
            </a:r>
            <a:r>
              <a:rPr lang="zh-CN" altLang="en-US" sz="1800" smtClean="0">
                <a:latin typeface="Times New Roman" panose="02020603050405020304" pitchFamily="18" charset="0"/>
                <a:ea typeface="楷体_GB2312" panose="02010609030101010101" pitchFamily="49" charset="-122"/>
              </a:rPr>
              <a:t>对话框。③选择“选项页”中“安全对象”，点击“权限”选项页面，单击“搜索”按钮打开“添加对象”对话框，并选择其中“特定对象</a:t>
            </a:r>
            <a:r>
              <a:rPr lang="en-US" altLang="zh-CN" sz="1800" smtClean="0">
                <a:latin typeface="Times New Roman" panose="02020603050405020304" pitchFamily="18" charset="0"/>
                <a:ea typeface="楷体_GB2312" panose="02010609030101010101" pitchFamily="49" charset="-122"/>
              </a:rPr>
              <a:t>.. ” </a:t>
            </a:r>
            <a:r>
              <a:rPr lang="zh-CN" altLang="en-US" sz="1800" smtClean="0">
                <a:latin typeface="Times New Roman" panose="02020603050405020304" pitchFamily="18" charset="0"/>
                <a:ea typeface="楷体_GB2312" panose="02010609030101010101" pitchFamily="49" charset="-122"/>
              </a:rPr>
              <a:t>，点击“确定”后打开“选择对象”对话框。④单击“对象类型”按钮，打开“选择对象类型”对话框，选中“数据库”，单击“确定”后返回，此时“浏览”按钮被激活。单击“浏览”按钮打开“查找对象”对话框。⑤选中数据库</a:t>
            </a:r>
            <a:r>
              <a:rPr lang="en-US" altLang="zh-CN" sz="1800" smtClean="0">
                <a:latin typeface="Times New Roman" panose="02020603050405020304" pitchFamily="18" charset="0"/>
                <a:ea typeface="楷体_GB2312" panose="02010609030101010101" pitchFamily="49" charset="-122"/>
              </a:rPr>
              <a:t>master</a:t>
            </a:r>
            <a:r>
              <a:rPr lang="zh-CN" altLang="en-US" sz="1800" smtClean="0">
                <a:latin typeface="Times New Roman" panose="02020603050405020304" pitchFamily="18" charset="0"/>
                <a:ea typeface="楷体_GB2312" panose="02010609030101010101" pitchFamily="49" charset="-122"/>
              </a:rPr>
              <a:t>，一直单击“确定”后返回“数据库用户属性”窗口，如图</a:t>
            </a:r>
            <a:r>
              <a:rPr lang="en-US" altLang="zh-CN" sz="1800" smtClean="0">
                <a:latin typeface="Times New Roman" panose="02020603050405020304" pitchFamily="18" charset="0"/>
                <a:ea typeface="楷体_GB2312" panose="02010609030101010101" pitchFamily="49" charset="-122"/>
              </a:rPr>
              <a:t>10-18</a:t>
            </a:r>
            <a:r>
              <a:rPr lang="zh-CN" altLang="en-US" sz="1800" smtClean="0">
                <a:latin typeface="Times New Roman" panose="02020603050405020304" pitchFamily="18" charset="0"/>
                <a:ea typeface="楷体_GB2312" panose="02010609030101010101" pitchFamily="49" charset="-122"/>
              </a:rPr>
              <a:t>所示。此时数据库</a:t>
            </a:r>
            <a:r>
              <a:rPr lang="en-US" altLang="zh-CN" sz="1800" smtClean="0">
                <a:latin typeface="Times New Roman" panose="02020603050405020304" pitchFamily="18" charset="0"/>
                <a:ea typeface="楷体_GB2312" panose="02010609030101010101" pitchFamily="49" charset="-122"/>
              </a:rPr>
              <a:t>master</a:t>
            </a:r>
            <a:r>
              <a:rPr lang="zh-CN" altLang="en-US" sz="1800" smtClean="0">
                <a:latin typeface="Times New Roman" panose="02020603050405020304" pitchFamily="18" charset="0"/>
                <a:ea typeface="楷体_GB2312" panose="02010609030101010101" pitchFamily="49" charset="-122"/>
              </a:rPr>
              <a:t>及其对应的权限出现在窗口，可以通过勾选复选框的方式设置用户权限。配置完成后，“确定”就实现用户权限的设置。</a:t>
            </a:r>
            <a:endParaRPr lang="zh-CN" altLang="en-US" sz="1800" smtClean="0">
              <a:latin typeface="Times New Roman" panose="02020603050405020304" pitchFamily="18" charset="0"/>
              <a:ea typeface="楷体_GB2312" panose="02010609030101010101" pitchFamily="49" charset="-122"/>
            </a:endParaRPr>
          </a:p>
        </p:txBody>
      </p:sp>
      <p:pic>
        <p:nvPicPr>
          <p:cNvPr id="50178" name="Picture 5" descr="10"/>
          <p:cNvPicPr>
            <a:picLocks noChangeAspect="1" noChangeArrowheads="1"/>
          </p:cNvPicPr>
          <p:nvPr/>
        </p:nvPicPr>
        <p:blipFill>
          <a:blip r:embed="rId1" cstate="print"/>
          <a:srcRect/>
          <a:stretch>
            <a:fillRect/>
          </a:stretch>
        </p:blipFill>
        <p:spPr bwMode="auto">
          <a:xfrm>
            <a:off x="2719388" y="3875088"/>
            <a:ext cx="3668712" cy="2624137"/>
          </a:xfrm>
          <a:prstGeom prst="rect">
            <a:avLst/>
          </a:prstGeom>
          <a:noFill/>
          <a:ln w="9525">
            <a:noFill/>
            <a:miter lim="800000"/>
            <a:headEnd/>
            <a:tailEnd/>
          </a:ln>
        </p:spPr>
      </p:pic>
      <p:sp>
        <p:nvSpPr>
          <p:cNvPr id="50179" name="Rectangle 6"/>
          <p:cNvSpPr>
            <a:spLocks noChangeArrowheads="1"/>
          </p:cNvSpPr>
          <p:nvPr/>
        </p:nvSpPr>
        <p:spPr bwMode="auto">
          <a:xfrm>
            <a:off x="3446463" y="6503988"/>
            <a:ext cx="2214562" cy="339725"/>
          </a:xfrm>
          <a:prstGeom prst="rect">
            <a:avLst/>
          </a:prstGeom>
          <a:noFill/>
          <a:ln w="9525">
            <a:noFill/>
            <a:miter lim="800000"/>
          </a:ln>
        </p:spPr>
        <p:txBody>
          <a:bodyPr wrap="none" anchor="ctr">
            <a:spAutoFit/>
          </a:bodyPr>
          <a:lstStyle/>
          <a:p>
            <a:pPr algn="dist" eaLnBrk="0" hangingPunct="0">
              <a:spcBef>
                <a:spcPct val="20000"/>
              </a:spcBef>
              <a:buFont typeface="Wingdings" panose="05000000000000000000" pitchFamily="2" charset="2"/>
              <a:buNone/>
            </a:pPr>
            <a:r>
              <a:rPr lang="zh-CN" altLang="en-US" sz="1600" b="1"/>
              <a:t>图</a:t>
            </a:r>
            <a:r>
              <a:rPr lang="en-US" altLang="zh-CN" sz="1600" b="1"/>
              <a:t>10-18 </a:t>
            </a:r>
            <a:r>
              <a:rPr lang="zh-CN" altLang="en-US" sz="1600" b="1"/>
              <a:t>管理用户权限</a:t>
            </a:r>
            <a:endParaRPr lang="zh-CN" altLang="en-US" sz="1600" b="1"/>
          </a:p>
        </p:txBody>
      </p:sp>
      <p:sp>
        <p:nvSpPr>
          <p:cNvPr id="50180"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eaLnBrk="0" hangingPunct="0"/>
            <a:r>
              <a:rPr lang="en-US" altLang="zh-CN" sz="2800" b="1">
                <a:solidFill>
                  <a:schemeClr val="bg1"/>
                </a:solidFill>
                <a:latin typeface="Verdana" panose="020B0604030504040204" pitchFamily="34" charset="0"/>
              </a:rPr>
              <a:t>10.8 SQL Server2019</a:t>
            </a:r>
            <a:r>
              <a:rPr lang="zh-CN" altLang="en-US" sz="2800" b="1">
                <a:solidFill>
                  <a:schemeClr val="bg1"/>
                </a:solidFill>
                <a:latin typeface="Verdana" panose="020B0604030504040204" pitchFamily="34" charset="0"/>
              </a:rPr>
              <a:t>用户安全管理实验</a:t>
            </a:r>
            <a:endParaRPr lang="zh-CN" altLang="en-US" sz="2800" b="1">
              <a:solidFill>
                <a:schemeClr val="bg1"/>
              </a:solidFill>
              <a:latin typeface="Verdana" panose="020B0604030504040204" pitchFamily="34" charset="0"/>
            </a:endParaRPr>
          </a:p>
        </p:txBody>
      </p:sp>
      <p:sp>
        <p:nvSpPr>
          <p:cNvPr id="6" name="圆角矩形 5"/>
          <p:cNvSpPr/>
          <p:nvPr/>
        </p:nvSpPr>
        <p:spPr bwMode="gray">
          <a:xfrm>
            <a:off x="504825" y="1052513"/>
            <a:ext cx="8210550" cy="2820987"/>
          </a:xfrm>
          <a:prstGeom prst="roundRect">
            <a:avLst/>
          </a:prstGeom>
          <a:noFill/>
        </p:spPr>
        <p:style>
          <a:lnRef idx="2">
            <a:schemeClr val="accent1"/>
          </a:lnRef>
          <a:fillRef idx="1">
            <a:schemeClr val="lt1"/>
          </a:fillRef>
          <a:effectRef idx="0">
            <a:schemeClr val="accent1"/>
          </a:effectRef>
          <a:fontRef idx="minor">
            <a:schemeClr val="dk1"/>
          </a:fontRef>
        </p:style>
        <p:txBody>
          <a:bodyPr anchor="ctr" anchorCtr="1">
            <a:normAutofit/>
          </a:bodyPr>
          <a:lstStyle/>
          <a:p>
            <a:pPr>
              <a:spcBef>
                <a:spcPct val="20000"/>
              </a:spcBef>
              <a:buFont typeface="Wingdings" panose="05000000000000000000" pitchFamily="2" charset="2"/>
              <a:buNone/>
              <a:defRPr/>
            </a:pPr>
            <a:r>
              <a:rPr lang="zh-CN" altLang="en-US" sz="2500" b="1" dirty="0">
                <a:solidFill>
                  <a:schemeClr val="tx1"/>
                </a:solidFill>
                <a:latin typeface="Arial" panose="020B0604020202020204" pitchFamily="34" charset="0"/>
              </a:rPr>
              <a:t>      </a:t>
            </a:r>
            <a:endParaRPr lang="zh-CN" altLang="en-US" sz="2500" b="1" dirty="0">
              <a:solidFill>
                <a:schemeClr val="tx1"/>
              </a:solidFill>
              <a:latin typeface="Arial" panose="020B060402020202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noChangeArrowheads="1"/>
          </p:cNvSpPr>
          <p:nvPr>
            <p:ph type="title" idx="4294967295"/>
          </p:nvPr>
        </p:nvSpPr>
        <p:spPr/>
        <p:txBody>
          <a:bodyPr/>
          <a:lstStyle/>
          <a:p>
            <a:pPr algn="l"/>
            <a:r>
              <a:rPr lang="en-US" altLang="zh-CN" sz="2800" smtClean="0">
                <a:ea typeface="宋体" panose="02010600030101010101" pitchFamily="2" charset="-122"/>
              </a:rPr>
              <a:t>10.8  SQL Server2019</a:t>
            </a:r>
            <a:r>
              <a:rPr lang="zh-CN" altLang="en-US" sz="2800" smtClean="0">
                <a:ea typeface="宋体" panose="02010600030101010101" pitchFamily="2" charset="-122"/>
              </a:rPr>
              <a:t>数据库备份与恢复实验</a:t>
            </a:r>
            <a:endParaRPr lang="zh-CN" altLang="en-US" sz="2800" smtClean="0">
              <a:ea typeface="宋体" panose="02010600030101010101" pitchFamily="2" charset="-122"/>
            </a:endParaRPr>
          </a:p>
        </p:txBody>
      </p:sp>
      <p:sp>
        <p:nvSpPr>
          <p:cNvPr id="35843" name="Rectangle 3"/>
          <p:cNvSpPr>
            <a:spLocks noGrp="1" noChangeArrowheads="1"/>
          </p:cNvSpPr>
          <p:nvPr>
            <p:ph type="body" idx="4294967295"/>
          </p:nvPr>
        </p:nvSpPr>
        <p:spPr>
          <a:xfrm>
            <a:off x="457200" y="1295400"/>
            <a:ext cx="8153400" cy="4876800"/>
          </a:xfrm>
        </p:spPr>
        <p:txBody>
          <a:bodyPr/>
          <a:lstStyle/>
          <a:p>
            <a:pPr lvl="1">
              <a:defRPr/>
            </a:pPr>
            <a:r>
              <a:rPr lang="en-US" altLang="zh-CN" sz="2400" b="1" dirty="0" smtClean="0">
                <a:solidFill>
                  <a:srgbClr val="CC0066"/>
                </a:solidFill>
                <a:cs typeface="+mn-ea"/>
              </a:rPr>
              <a:t>10.8.1 </a:t>
            </a:r>
            <a:r>
              <a:rPr lang="zh-CN" altLang="en-US" sz="2400" b="1" dirty="0" smtClean="0">
                <a:solidFill>
                  <a:srgbClr val="CC0066"/>
                </a:solidFill>
                <a:cs typeface="+mn-ea"/>
              </a:rPr>
              <a:t>实验目的</a:t>
            </a:r>
            <a:endParaRPr lang="zh-CN" altLang="en-US" sz="2400" b="1" dirty="0" smtClean="0">
              <a:solidFill>
                <a:srgbClr val="CC0066"/>
              </a:solidFill>
              <a:cs typeface="+mn-ea"/>
            </a:endParaRPr>
          </a:p>
          <a:p>
            <a:pPr marL="457200" lvl="1" indent="0">
              <a:buFont typeface="Wingdings" panose="05000000000000000000" pitchFamily="2" charset="2"/>
              <a:buNone/>
              <a:defRPr/>
            </a:pPr>
            <a:r>
              <a:rPr lang="en-US" altLang="zh-CN" b="1" dirty="0" smtClean="0">
                <a:cs typeface="+mn-ea"/>
              </a:rPr>
              <a:t>  1</a:t>
            </a:r>
            <a:r>
              <a:rPr lang="zh-CN" altLang="en-US" b="1" dirty="0" smtClean="0">
                <a:cs typeface="+mn-ea"/>
              </a:rPr>
              <a:t>）理解</a:t>
            </a:r>
            <a:r>
              <a:rPr lang="en-US" altLang="zh-CN" b="1" dirty="0" smtClean="0">
                <a:cs typeface="+mn-ea"/>
              </a:rPr>
              <a:t>SQL Server 2019</a:t>
            </a:r>
            <a:r>
              <a:rPr lang="zh-CN" altLang="en-US" b="1" dirty="0" smtClean="0">
                <a:cs typeface="+mn-ea"/>
              </a:rPr>
              <a:t>系统的安全性机制。</a:t>
            </a:r>
            <a:endParaRPr lang="zh-CN" altLang="en-US" b="1" dirty="0" smtClean="0">
              <a:cs typeface="+mn-ea"/>
            </a:endParaRPr>
          </a:p>
          <a:p>
            <a:pPr marL="457200" lvl="1" indent="0">
              <a:buFont typeface="Wingdings" panose="05000000000000000000" pitchFamily="2" charset="2"/>
              <a:buNone/>
              <a:defRPr/>
            </a:pPr>
            <a:r>
              <a:rPr lang="en-US" altLang="zh-CN" b="1" dirty="0" smtClean="0">
                <a:cs typeface="+mn-ea"/>
              </a:rPr>
              <a:t>  2</a:t>
            </a:r>
            <a:r>
              <a:rPr lang="zh-CN" altLang="en-US" b="1" dirty="0" smtClean="0">
                <a:cs typeface="+mn-ea"/>
              </a:rPr>
              <a:t>）通过</a:t>
            </a:r>
            <a:r>
              <a:rPr lang="en-US" altLang="zh-CN" b="1" dirty="0" smtClean="0">
                <a:cs typeface="+mn-ea"/>
              </a:rPr>
              <a:t>SQL Server</a:t>
            </a:r>
            <a:r>
              <a:rPr lang="zh-CN" altLang="en-US" b="1" dirty="0" smtClean="0">
                <a:cs typeface="+mn-ea"/>
              </a:rPr>
              <a:t>自带的备份功能备份数据库。</a:t>
            </a:r>
            <a:endParaRPr lang="zh-CN" altLang="en-US" b="1" dirty="0" smtClean="0">
              <a:cs typeface="+mn-ea"/>
            </a:endParaRPr>
          </a:p>
          <a:p>
            <a:pPr marL="457200" lvl="1" indent="0">
              <a:buFont typeface="Wingdings" panose="05000000000000000000" pitchFamily="2" charset="2"/>
              <a:buNone/>
              <a:defRPr/>
            </a:pPr>
            <a:r>
              <a:rPr lang="en-US" altLang="zh-CN" b="1" dirty="0" smtClean="0">
                <a:cs typeface="+mn-ea"/>
              </a:rPr>
              <a:t>  3</a:t>
            </a:r>
            <a:r>
              <a:rPr lang="zh-CN" altLang="en-US" b="1" dirty="0" smtClean="0">
                <a:cs typeface="+mn-ea"/>
              </a:rPr>
              <a:t>）利用</a:t>
            </a:r>
            <a:r>
              <a:rPr lang="en-US" altLang="zh-CN" b="1" dirty="0" smtClean="0">
                <a:cs typeface="+mn-ea"/>
              </a:rPr>
              <a:t>SQL Server</a:t>
            </a:r>
            <a:r>
              <a:rPr lang="zh-CN" altLang="en-US" b="1" dirty="0" smtClean="0">
                <a:cs typeface="+mn-ea"/>
              </a:rPr>
              <a:t>自带的还原功能还原数据库。</a:t>
            </a:r>
            <a:endParaRPr lang="zh-CN" altLang="en-US" b="1" dirty="0" smtClean="0">
              <a:cs typeface="+mn-ea"/>
            </a:endParaRPr>
          </a:p>
          <a:p>
            <a:pPr lvl="1">
              <a:defRPr/>
            </a:pPr>
            <a:endParaRPr lang="en-US" altLang="zh-CN" sz="2400" b="1" dirty="0" smtClean="0">
              <a:solidFill>
                <a:srgbClr val="CC0066"/>
              </a:solidFill>
              <a:cs typeface="+mn-ea"/>
            </a:endParaRPr>
          </a:p>
          <a:p>
            <a:pPr lvl="1">
              <a:defRPr/>
            </a:pPr>
            <a:r>
              <a:rPr lang="en-US" altLang="zh-CN" sz="2400" b="1" dirty="0" smtClean="0">
                <a:solidFill>
                  <a:srgbClr val="CC0066"/>
                </a:solidFill>
                <a:cs typeface="+mn-ea"/>
              </a:rPr>
              <a:t>10.8.2 </a:t>
            </a:r>
            <a:r>
              <a:rPr lang="zh-CN" altLang="en-US" sz="2400" b="1" dirty="0" smtClean="0">
                <a:solidFill>
                  <a:srgbClr val="CC0066"/>
                </a:solidFill>
                <a:cs typeface="+mn-ea"/>
              </a:rPr>
              <a:t>实验要求</a:t>
            </a:r>
            <a:endParaRPr lang="zh-CN" altLang="en-US" sz="2400" b="1" dirty="0" smtClean="0">
              <a:solidFill>
                <a:srgbClr val="CC0066"/>
              </a:solidFill>
              <a:cs typeface="+mn-ea"/>
            </a:endParaRPr>
          </a:p>
          <a:p>
            <a:pPr marL="457200" lvl="1" indent="0">
              <a:buFont typeface="Wingdings" panose="05000000000000000000" pitchFamily="2" charset="2"/>
              <a:buNone/>
              <a:defRPr/>
            </a:pPr>
            <a:r>
              <a:rPr lang="zh-CN" altLang="en-US" b="1" dirty="0" smtClean="0">
                <a:cs typeface="+mn-ea"/>
              </a:rPr>
              <a:t>  实验设备：安装有</a:t>
            </a:r>
            <a:r>
              <a:rPr lang="en-US" altLang="zh-CN" b="1" dirty="0" smtClean="0">
                <a:cs typeface="+mn-ea"/>
              </a:rPr>
              <a:t>SQL Server 2019</a:t>
            </a:r>
            <a:r>
              <a:rPr lang="zh-CN" altLang="en-US" b="1" dirty="0" smtClean="0">
                <a:cs typeface="+mn-ea"/>
              </a:rPr>
              <a:t>的计算机。</a:t>
            </a:r>
            <a:endParaRPr lang="zh-CN" altLang="en-US" b="1" dirty="0" smtClean="0">
              <a:cs typeface="+mn-ea"/>
            </a:endParaRPr>
          </a:p>
          <a:p>
            <a:pPr marL="457200" lvl="1" indent="0">
              <a:buFont typeface="Wingdings" panose="05000000000000000000" pitchFamily="2" charset="2"/>
              <a:buNone/>
              <a:defRPr/>
            </a:pPr>
            <a:r>
              <a:rPr lang="zh-CN" altLang="en-US" b="1" dirty="0" smtClean="0">
                <a:cs typeface="+mn-ea"/>
              </a:rPr>
              <a:t>  实验用时：</a:t>
            </a:r>
            <a:r>
              <a:rPr lang="en-US" altLang="zh-CN" b="1" dirty="0" smtClean="0">
                <a:cs typeface="+mn-ea"/>
              </a:rPr>
              <a:t>2</a:t>
            </a:r>
            <a:r>
              <a:rPr lang="zh-CN" altLang="en-US" b="1" dirty="0" smtClean="0">
                <a:cs typeface="+mn-ea"/>
              </a:rPr>
              <a:t>学时。</a:t>
            </a:r>
            <a:endParaRPr lang="zh-CN" altLang="en-US" b="1" dirty="0" smtClean="0">
              <a:cs typeface="+mn-ea"/>
            </a:endParaRPr>
          </a:p>
        </p:txBody>
      </p:sp>
      <p:sp>
        <p:nvSpPr>
          <p:cNvPr id="5" name="圆角矩形 4"/>
          <p:cNvSpPr/>
          <p:nvPr/>
        </p:nvSpPr>
        <p:spPr bwMode="gray">
          <a:xfrm>
            <a:off x="400050" y="1295400"/>
            <a:ext cx="8210550" cy="4513263"/>
          </a:xfrm>
          <a:prstGeom prst="roundRect">
            <a:avLst/>
          </a:prstGeom>
          <a:noFill/>
        </p:spPr>
        <p:style>
          <a:lnRef idx="2">
            <a:schemeClr val="accent1"/>
          </a:lnRef>
          <a:fillRef idx="1">
            <a:schemeClr val="lt1"/>
          </a:fillRef>
          <a:effectRef idx="0">
            <a:schemeClr val="accent1"/>
          </a:effectRef>
          <a:fontRef idx="minor">
            <a:schemeClr val="dk1"/>
          </a:fontRef>
        </p:style>
        <p:txBody>
          <a:bodyPr anchor="ctr" anchorCtr="1">
            <a:normAutofit/>
          </a:bodyPr>
          <a:lstStyle/>
          <a:p>
            <a:pPr>
              <a:spcBef>
                <a:spcPct val="20000"/>
              </a:spcBef>
              <a:buFont typeface="Wingdings" panose="05000000000000000000" pitchFamily="2" charset="2"/>
              <a:buNone/>
              <a:defRPr/>
            </a:pPr>
            <a:r>
              <a:rPr lang="zh-CN" altLang="en-US" sz="2500" b="1" dirty="0">
                <a:solidFill>
                  <a:schemeClr val="tx1"/>
                </a:solidFill>
                <a:latin typeface="Arial" panose="020B0604020202020204" pitchFamily="34" charset="0"/>
              </a:rPr>
              <a:t>      </a:t>
            </a:r>
            <a:endParaRPr lang="zh-CN" altLang="en-US" sz="2500" b="1" dirty="0">
              <a:solidFill>
                <a:schemeClr val="tx1"/>
              </a:solidFill>
              <a:latin typeface="Arial" panose="020B060402020202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Grp="1" noChangeArrowheads="1"/>
          </p:cNvSpPr>
          <p:nvPr>
            <p:ph type="body" idx="4294967295"/>
          </p:nvPr>
        </p:nvSpPr>
        <p:spPr>
          <a:xfrm>
            <a:off x="228600" y="981075"/>
            <a:ext cx="8458200" cy="5648325"/>
          </a:xfrm>
        </p:spPr>
        <p:txBody>
          <a:bodyPr/>
          <a:lstStyle/>
          <a:p>
            <a:pPr lvl="1">
              <a:defRPr/>
            </a:pPr>
            <a:r>
              <a:rPr lang="en-US" altLang="zh-CN" sz="2800" b="1" dirty="0" smtClean="0">
                <a:solidFill>
                  <a:srgbClr val="FF0000"/>
                </a:solidFill>
                <a:latin typeface="Times New Roman" panose="02020603050405020304" pitchFamily="18" charset="0"/>
                <a:cs typeface="+mn-ea"/>
              </a:rPr>
              <a:t>10.8.3 </a:t>
            </a:r>
            <a:r>
              <a:rPr lang="zh-CN" altLang="en-US" sz="2800" b="1" dirty="0" smtClean="0">
                <a:solidFill>
                  <a:srgbClr val="FF0000"/>
                </a:solidFill>
                <a:latin typeface="Times New Roman" panose="02020603050405020304" pitchFamily="18" charset="0"/>
                <a:cs typeface="+mn-ea"/>
              </a:rPr>
              <a:t>实验内容及步骤</a:t>
            </a:r>
            <a:endParaRPr lang="zh-CN" altLang="en-US" sz="2800" b="1" dirty="0" smtClean="0">
              <a:solidFill>
                <a:srgbClr val="FF0000"/>
              </a:solidFill>
              <a:latin typeface="Times New Roman" panose="02020603050405020304" pitchFamily="18" charset="0"/>
              <a:cs typeface="+mn-ea"/>
            </a:endParaRPr>
          </a:p>
          <a:p>
            <a:pPr lvl="1">
              <a:defRPr/>
            </a:pPr>
            <a:r>
              <a:rPr lang="en-US" altLang="zh-CN" b="1" dirty="0" smtClean="0">
                <a:solidFill>
                  <a:srgbClr val="CC0000"/>
                </a:solidFill>
                <a:cs typeface="+mn-ea"/>
              </a:rPr>
              <a:t>1</a:t>
            </a:r>
            <a:r>
              <a:rPr lang="zh-CN" altLang="en-US" b="1" dirty="0" smtClean="0">
                <a:solidFill>
                  <a:srgbClr val="CC0000"/>
                </a:solidFill>
                <a:cs typeface="+mn-ea"/>
              </a:rPr>
              <a:t>．建立</a:t>
            </a:r>
            <a:r>
              <a:rPr lang="en-US" altLang="zh-CN" b="1" dirty="0" smtClean="0">
                <a:solidFill>
                  <a:srgbClr val="CC0000"/>
                </a:solidFill>
                <a:cs typeface="+mn-ea"/>
              </a:rPr>
              <a:t>Windows</a:t>
            </a:r>
            <a:r>
              <a:rPr lang="zh-CN" altLang="en-US" b="1" dirty="0" smtClean="0">
                <a:solidFill>
                  <a:srgbClr val="CC0000"/>
                </a:solidFill>
                <a:cs typeface="+mn-ea"/>
              </a:rPr>
              <a:t>及</a:t>
            </a:r>
            <a:r>
              <a:rPr lang="en-US" altLang="zh-CN" b="1" dirty="0" smtClean="0">
                <a:solidFill>
                  <a:srgbClr val="CC0000"/>
                </a:solidFill>
                <a:cs typeface="+mn-ea"/>
              </a:rPr>
              <a:t>SQL Server</a:t>
            </a:r>
            <a:r>
              <a:rPr lang="zh-CN" altLang="en-US" b="1" dirty="0" smtClean="0">
                <a:solidFill>
                  <a:srgbClr val="CC0000"/>
                </a:solidFill>
                <a:cs typeface="+mn-ea"/>
              </a:rPr>
              <a:t>登录名</a:t>
            </a:r>
            <a:endParaRPr lang="zh-CN" altLang="en-US" b="1" dirty="0" smtClean="0">
              <a:solidFill>
                <a:srgbClr val="CC0000"/>
              </a:solidFill>
              <a:cs typeface="+mn-ea"/>
            </a:endParaRPr>
          </a:p>
          <a:p>
            <a:pPr marL="457200" lvl="1" indent="0">
              <a:buFont typeface="Wingdings" panose="05000000000000000000" pitchFamily="2" charset="2"/>
              <a:buNone/>
              <a:defRPr/>
            </a:pPr>
            <a:r>
              <a:rPr lang="en-US" altLang="zh-CN" b="1" dirty="0" smtClean="0">
                <a:cs typeface="+mn-ea"/>
              </a:rPr>
              <a:t>1</a:t>
            </a:r>
            <a:r>
              <a:rPr lang="zh-CN" altLang="en-US" b="1" dirty="0" smtClean="0">
                <a:cs typeface="+mn-ea"/>
              </a:rPr>
              <a:t>）创建</a:t>
            </a:r>
            <a:r>
              <a:rPr lang="en-US" altLang="zh-CN" b="1" dirty="0" smtClean="0">
                <a:cs typeface="+mn-ea"/>
              </a:rPr>
              <a:t>Windows </a:t>
            </a:r>
            <a:r>
              <a:rPr lang="zh-CN" altLang="en-US" b="1" dirty="0" smtClean="0">
                <a:cs typeface="+mn-ea"/>
              </a:rPr>
              <a:t>登录名。依次点击“开始”、“设置”、“控制面板”、“用户账户”，在“用户账户”窗口中新创建一个账户，选择“计算机管理员”</a:t>
            </a:r>
            <a:r>
              <a:rPr lang="en-US" altLang="zh-CN" b="1" dirty="0" smtClean="0">
                <a:cs typeface="+mn-ea"/>
              </a:rPr>
              <a:t> </a:t>
            </a:r>
            <a:r>
              <a:rPr lang="zh-CN" altLang="en-US" b="1" dirty="0" smtClean="0">
                <a:cs typeface="+mn-ea"/>
              </a:rPr>
              <a:t>。</a:t>
            </a:r>
            <a:endParaRPr lang="zh-CN" altLang="en-US" b="1" dirty="0" smtClean="0">
              <a:cs typeface="+mn-ea"/>
            </a:endParaRPr>
          </a:p>
          <a:p>
            <a:pPr marL="457200" lvl="1" indent="0">
              <a:buFont typeface="Wingdings" panose="05000000000000000000" pitchFamily="2" charset="2"/>
              <a:buNone/>
              <a:defRPr/>
            </a:pPr>
            <a:r>
              <a:rPr lang="zh-CN" altLang="en-US" b="1" dirty="0" smtClean="0">
                <a:cs typeface="+mn-ea"/>
              </a:rPr>
              <a:t>以管理员身份登录到</a:t>
            </a:r>
            <a:r>
              <a:rPr lang="en-US" altLang="zh-CN" b="1" dirty="0" smtClean="0">
                <a:cs typeface="+mn-ea"/>
              </a:rPr>
              <a:t>SQL Server Management Studio</a:t>
            </a:r>
            <a:r>
              <a:rPr lang="zh-CN" altLang="en-US" b="1" dirty="0" smtClean="0">
                <a:cs typeface="+mn-ea"/>
              </a:rPr>
              <a:t>（</a:t>
            </a:r>
            <a:r>
              <a:rPr lang="en-US" altLang="zh-CN" b="1" dirty="0" smtClean="0">
                <a:cs typeface="+mn-ea"/>
              </a:rPr>
              <a:t>SSMS</a:t>
            </a:r>
            <a:r>
              <a:rPr lang="zh-CN" altLang="en-US" b="1" dirty="0" smtClean="0">
                <a:cs typeface="+mn-ea"/>
              </a:rPr>
              <a:t>），在“对象资源管理器”中选择“安全性”，然后右击“登录名”，在快捷菜单中选择“新建登录名”菜单项，在“新建登录名”窗口中单击“添加”按钮添加</a:t>
            </a:r>
            <a:r>
              <a:rPr lang="en-US" altLang="zh-CN" b="1" dirty="0" smtClean="0">
                <a:cs typeface="+mn-ea"/>
              </a:rPr>
              <a:t>Windows</a:t>
            </a:r>
            <a:r>
              <a:rPr lang="zh-CN" altLang="en-US" b="1" dirty="0" smtClean="0">
                <a:cs typeface="+mn-ea"/>
              </a:rPr>
              <a:t>用户，选择“</a:t>
            </a:r>
            <a:r>
              <a:rPr lang="en-US" altLang="zh-CN" b="1" dirty="0" smtClean="0">
                <a:cs typeface="+mn-ea"/>
              </a:rPr>
              <a:t>Windows</a:t>
            </a:r>
            <a:r>
              <a:rPr lang="zh-CN" altLang="en-US" b="1" dirty="0" smtClean="0">
                <a:cs typeface="+mn-ea"/>
              </a:rPr>
              <a:t>身份验证”，单击“确定”按钮完成。</a:t>
            </a:r>
            <a:endParaRPr lang="zh-CN" altLang="en-US" b="1" dirty="0" smtClean="0">
              <a:cs typeface="+mn-ea"/>
            </a:endParaRPr>
          </a:p>
          <a:p>
            <a:pPr marL="457200" lvl="1" indent="0">
              <a:buFont typeface="Wingdings" panose="05000000000000000000" pitchFamily="2" charset="2"/>
              <a:buNone/>
              <a:defRPr/>
            </a:pPr>
            <a:r>
              <a:rPr lang="en-US" altLang="zh-CN" b="1" dirty="0" smtClean="0">
                <a:cs typeface="+mn-ea"/>
              </a:rPr>
              <a:t>2</a:t>
            </a:r>
            <a:r>
              <a:rPr lang="zh-CN" altLang="en-US" b="1" dirty="0" smtClean="0">
                <a:cs typeface="+mn-ea"/>
              </a:rPr>
              <a:t>）</a:t>
            </a:r>
            <a:r>
              <a:rPr lang="en-US" altLang="zh-CN" b="1" dirty="0" smtClean="0">
                <a:cs typeface="+mn-ea"/>
              </a:rPr>
              <a:t>SQL Server </a:t>
            </a:r>
            <a:r>
              <a:rPr lang="zh-CN" altLang="en-US" b="1" dirty="0" smtClean="0">
                <a:cs typeface="+mn-ea"/>
              </a:rPr>
              <a:t>登录名。使用界面方式创建登录名</a:t>
            </a:r>
            <a:r>
              <a:rPr lang="en-US" altLang="zh-CN" b="1" dirty="0" smtClean="0">
                <a:cs typeface="+mn-ea"/>
              </a:rPr>
              <a:t>,</a:t>
            </a:r>
            <a:r>
              <a:rPr lang="zh-CN" altLang="en-US" b="1" dirty="0" smtClean="0">
                <a:cs typeface="+mn-ea"/>
              </a:rPr>
              <a:t>类似上述，在“新建登录名”窗口中输入要创建的登录名（如</a:t>
            </a:r>
            <a:r>
              <a:rPr lang="en-US" altLang="zh-CN" b="1" dirty="0" err="1" smtClean="0">
                <a:cs typeface="+mn-ea"/>
              </a:rPr>
              <a:t>sqlsxd</a:t>
            </a:r>
            <a:r>
              <a:rPr lang="zh-CN" altLang="en-US" b="1" dirty="0" smtClean="0">
                <a:cs typeface="+mn-ea"/>
              </a:rPr>
              <a:t>），并选择“</a:t>
            </a:r>
            <a:r>
              <a:rPr lang="en-US" altLang="zh-CN" b="1" dirty="0" smtClean="0">
                <a:cs typeface="+mn-ea"/>
              </a:rPr>
              <a:t>SQL Server</a:t>
            </a:r>
            <a:r>
              <a:rPr lang="zh-CN" altLang="en-US" b="1" dirty="0" smtClean="0">
                <a:cs typeface="+mn-ea"/>
              </a:rPr>
              <a:t>身份验证”，输入密码和重复密码，单击“确定”按钮。</a:t>
            </a:r>
            <a:endParaRPr lang="zh-CN" altLang="en-US" b="1" dirty="0" smtClean="0">
              <a:cs typeface="+mn-ea"/>
            </a:endParaRPr>
          </a:p>
        </p:txBody>
      </p:sp>
      <p:sp>
        <p:nvSpPr>
          <p:cNvPr id="52226"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eaLnBrk="0" hangingPunct="0"/>
            <a:r>
              <a:rPr lang="en-US" altLang="zh-CN" sz="2800" b="1">
                <a:solidFill>
                  <a:schemeClr val="bg1"/>
                </a:solidFill>
                <a:latin typeface="Verdana" panose="020B0604030504040204" pitchFamily="34" charset="0"/>
              </a:rPr>
              <a:t>10.8  SQL Server2019</a:t>
            </a:r>
            <a:r>
              <a:rPr lang="zh-CN" altLang="en-US" sz="2800" b="1">
                <a:solidFill>
                  <a:schemeClr val="bg1"/>
                </a:solidFill>
                <a:latin typeface="Verdana" panose="020B0604030504040204" pitchFamily="34" charset="0"/>
              </a:rPr>
              <a:t>数据库备份与恢复实验</a:t>
            </a:r>
            <a:endParaRPr lang="zh-CN" altLang="en-US" sz="2800" b="1">
              <a:solidFill>
                <a:schemeClr val="bg1"/>
              </a:solidFill>
              <a:latin typeface="Verdana" panose="020B0604030504040204" pitchFamily="34" charset="0"/>
            </a:endParaRPr>
          </a:p>
        </p:txBody>
      </p:sp>
      <p:sp>
        <p:nvSpPr>
          <p:cNvPr id="5" name="圆角矩形 4"/>
          <p:cNvSpPr/>
          <p:nvPr/>
        </p:nvSpPr>
        <p:spPr bwMode="gray">
          <a:xfrm>
            <a:off x="400050" y="1111250"/>
            <a:ext cx="8210550" cy="5146675"/>
          </a:xfrm>
          <a:prstGeom prst="roundRect">
            <a:avLst/>
          </a:prstGeom>
          <a:noFill/>
        </p:spPr>
        <p:style>
          <a:lnRef idx="2">
            <a:schemeClr val="accent1"/>
          </a:lnRef>
          <a:fillRef idx="1">
            <a:schemeClr val="lt1"/>
          </a:fillRef>
          <a:effectRef idx="0">
            <a:schemeClr val="accent1"/>
          </a:effectRef>
          <a:fontRef idx="minor">
            <a:schemeClr val="dk1"/>
          </a:fontRef>
        </p:style>
        <p:txBody>
          <a:bodyPr anchor="ctr" anchorCtr="1">
            <a:normAutofit/>
          </a:bodyPr>
          <a:lstStyle/>
          <a:p>
            <a:pPr>
              <a:spcBef>
                <a:spcPct val="20000"/>
              </a:spcBef>
              <a:buFont typeface="Wingdings" panose="05000000000000000000" pitchFamily="2" charset="2"/>
              <a:buNone/>
              <a:defRPr/>
            </a:pPr>
            <a:r>
              <a:rPr lang="zh-CN" altLang="en-US" sz="2500" b="1" dirty="0">
                <a:solidFill>
                  <a:schemeClr val="tx1"/>
                </a:solidFill>
                <a:latin typeface="Arial" panose="020B0604020202020204" pitchFamily="34" charset="0"/>
              </a:rPr>
              <a:t>      </a:t>
            </a:r>
            <a:endParaRPr lang="zh-CN" altLang="en-US" sz="2500" b="1" dirty="0">
              <a:solidFill>
                <a:schemeClr val="tx1"/>
              </a:solidFill>
              <a:latin typeface="Arial" panose="020B0604020202020204"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Grp="1" noChangeArrowheads="1"/>
          </p:cNvSpPr>
          <p:nvPr>
            <p:ph type="body" idx="4294967295"/>
          </p:nvPr>
        </p:nvSpPr>
        <p:spPr>
          <a:xfrm>
            <a:off x="228600" y="1219200"/>
            <a:ext cx="8458200" cy="5410200"/>
          </a:xfrm>
        </p:spPr>
        <p:txBody>
          <a:bodyPr/>
          <a:lstStyle/>
          <a:p>
            <a:pPr lvl="1">
              <a:defRPr/>
            </a:pPr>
            <a:r>
              <a:rPr lang="en-US" altLang="zh-CN" b="1" dirty="0" smtClean="0">
                <a:solidFill>
                  <a:srgbClr val="C00000"/>
                </a:solidFill>
                <a:cs typeface="+mn-ea"/>
              </a:rPr>
              <a:t>2</a:t>
            </a:r>
            <a:r>
              <a:rPr lang="zh-CN" altLang="en-US" b="1" dirty="0" smtClean="0">
                <a:solidFill>
                  <a:srgbClr val="C00000"/>
                </a:solidFill>
                <a:cs typeface="+mn-ea"/>
              </a:rPr>
              <a:t>．创建数据库用户</a:t>
            </a:r>
            <a:endParaRPr lang="zh-CN" altLang="en-US" b="1" dirty="0" smtClean="0">
              <a:solidFill>
                <a:srgbClr val="C00000"/>
              </a:solidFill>
              <a:cs typeface="+mn-ea"/>
            </a:endParaRPr>
          </a:p>
          <a:p>
            <a:pPr marL="457200" lvl="1" indent="0">
              <a:buFont typeface="Wingdings" panose="05000000000000000000" pitchFamily="2" charset="2"/>
              <a:buNone/>
              <a:defRPr/>
            </a:pPr>
            <a:r>
              <a:rPr lang="zh-CN" altLang="en-US" b="1" dirty="0" smtClean="0">
                <a:cs typeface="+mn-ea"/>
              </a:rPr>
              <a:t>使用界面方式创建</a:t>
            </a:r>
            <a:r>
              <a:rPr lang="en-US" altLang="zh-CN" b="1" dirty="0" err="1" smtClean="0">
                <a:cs typeface="+mn-ea"/>
              </a:rPr>
              <a:t>teachingSystem</a:t>
            </a:r>
            <a:r>
              <a:rPr lang="zh-CN" altLang="en-US" b="1" dirty="0" smtClean="0">
                <a:cs typeface="+mn-ea"/>
              </a:rPr>
              <a:t>的数据库用户。</a:t>
            </a:r>
            <a:endParaRPr lang="zh-CN" altLang="en-US" b="1" dirty="0" smtClean="0">
              <a:cs typeface="+mn-ea"/>
            </a:endParaRPr>
          </a:p>
          <a:p>
            <a:pPr marL="457200" lvl="1" indent="0">
              <a:buFont typeface="Wingdings" panose="05000000000000000000" pitchFamily="2" charset="2"/>
              <a:buNone/>
              <a:defRPr/>
            </a:pPr>
            <a:r>
              <a:rPr lang="zh-CN" altLang="en-US" b="1" dirty="0" smtClean="0">
                <a:cs typeface="+mn-ea"/>
              </a:rPr>
              <a:t>在“对象资源管理器”中选择数据库</a:t>
            </a:r>
            <a:r>
              <a:rPr lang="en-US" altLang="zh-CN" b="1" dirty="0" err="1" smtClean="0">
                <a:cs typeface="+mn-ea"/>
              </a:rPr>
              <a:t>teachingSystem</a:t>
            </a:r>
            <a:r>
              <a:rPr lang="en-US" altLang="zh-CN" b="1" dirty="0" smtClean="0">
                <a:cs typeface="+mn-ea"/>
              </a:rPr>
              <a:t> </a:t>
            </a:r>
            <a:r>
              <a:rPr lang="zh-CN" altLang="en-US" b="1" dirty="0" smtClean="0">
                <a:cs typeface="+mn-ea"/>
              </a:rPr>
              <a:t>的“安全性”→右击“用户”，在弹出的快捷菜单中选择“新建用户”菜单项，在“数据库用户”窗口中输入新建数据库用户名</a:t>
            </a:r>
            <a:r>
              <a:rPr lang="en-US" altLang="zh-CN" b="1" dirty="0" err="1" smtClean="0">
                <a:cs typeface="+mn-ea"/>
              </a:rPr>
              <a:t>shenxd</a:t>
            </a:r>
            <a:r>
              <a:rPr lang="zh-CN" altLang="en-US" b="1" dirty="0" smtClean="0">
                <a:cs typeface="+mn-ea"/>
              </a:rPr>
              <a:t>，输入使用的登录名</a:t>
            </a:r>
            <a:r>
              <a:rPr lang="en-US" altLang="zh-CN" b="1" dirty="0" err="1" smtClean="0">
                <a:cs typeface="+mn-ea"/>
              </a:rPr>
              <a:t>sqlsxd</a:t>
            </a:r>
            <a:r>
              <a:rPr lang="zh-CN" altLang="en-US" b="1" dirty="0" smtClean="0">
                <a:cs typeface="+mn-ea"/>
              </a:rPr>
              <a:t>，“默认架构”填写</a:t>
            </a:r>
            <a:r>
              <a:rPr lang="en-US" altLang="zh-CN" b="1" dirty="0" err="1" smtClean="0">
                <a:cs typeface="+mn-ea"/>
              </a:rPr>
              <a:t>dbo</a:t>
            </a:r>
            <a:r>
              <a:rPr lang="zh-CN" altLang="en-US" b="1" dirty="0" smtClean="0">
                <a:cs typeface="+mn-ea"/>
              </a:rPr>
              <a:t>，单击“确定”按钮。</a:t>
            </a:r>
            <a:endParaRPr lang="zh-CN" altLang="en-US" b="1" dirty="0" smtClean="0">
              <a:cs typeface="+mn-ea"/>
            </a:endParaRPr>
          </a:p>
          <a:p>
            <a:pPr lvl="1">
              <a:defRPr/>
            </a:pPr>
            <a:r>
              <a:rPr lang="en-US" altLang="zh-CN" b="1" dirty="0" smtClean="0">
                <a:solidFill>
                  <a:srgbClr val="C00000"/>
                </a:solidFill>
                <a:cs typeface="+mn-ea"/>
              </a:rPr>
              <a:t>3. </a:t>
            </a:r>
            <a:r>
              <a:rPr lang="zh-CN" altLang="en-US" b="1" dirty="0" smtClean="0">
                <a:solidFill>
                  <a:srgbClr val="C00000"/>
                </a:solidFill>
                <a:cs typeface="+mn-ea"/>
              </a:rPr>
              <a:t>加固定服务器角色成员</a:t>
            </a:r>
            <a:endParaRPr lang="zh-CN" altLang="en-US" b="1" dirty="0" smtClean="0">
              <a:solidFill>
                <a:srgbClr val="C00000"/>
              </a:solidFill>
              <a:cs typeface="+mn-ea"/>
            </a:endParaRPr>
          </a:p>
          <a:p>
            <a:pPr marL="457200" lvl="1" indent="0">
              <a:buFont typeface="Wingdings" panose="05000000000000000000" pitchFamily="2" charset="2"/>
              <a:buNone/>
              <a:defRPr/>
            </a:pPr>
            <a:r>
              <a:rPr lang="zh-CN" altLang="en-US" b="1" dirty="0" smtClean="0">
                <a:cs typeface="+mn-ea"/>
              </a:rPr>
              <a:t>以管理员身份登录到</a:t>
            </a:r>
            <a:r>
              <a:rPr lang="en-US" altLang="zh-CN" b="1" dirty="0" smtClean="0">
                <a:cs typeface="+mn-ea"/>
              </a:rPr>
              <a:t>SQL Server</a:t>
            </a:r>
            <a:r>
              <a:rPr lang="zh-CN" altLang="en-US" b="1" dirty="0" smtClean="0">
                <a:cs typeface="+mn-ea"/>
              </a:rPr>
              <a:t>，在“对象资源管理器”中选择“安全性”→选择要添加的登录名（如</a:t>
            </a:r>
            <a:r>
              <a:rPr lang="en-US" altLang="zh-CN" b="1" dirty="0" err="1" smtClean="0">
                <a:cs typeface="+mn-ea"/>
              </a:rPr>
              <a:t>zhangshf</a:t>
            </a:r>
            <a:r>
              <a:rPr lang="zh-CN" altLang="en-US" b="1" dirty="0" smtClean="0">
                <a:cs typeface="+mn-ea"/>
              </a:rPr>
              <a:t>），右击选择“属性”，在登录名属性窗口中选择“服务器角色”选项页，选择要添加到的服务器角色，单击“确定”按钮即可。</a:t>
            </a:r>
            <a:endParaRPr lang="zh-CN" altLang="en-US" b="1" dirty="0" smtClean="0">
              <a:cs typeface="+mn-ea"/>
            </a:endParaRPr>
          </a:p>
        </p:txBody>
      </p:sp>
      <p:sp>
        <p:nvSpPr>
          <p:cNvPr id="53250"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eaLnBrk="0" hangingPunct="0"/>
            <a:r>
              <a:rPr lang="en-US" altLang="zh-CN" sz="2800" b="1">
                <a:solidFill>
                  <a:schemeClr val="bg1"/>
                </a:solidFill>
                <a:latin typeface="Verdana" panose="020B0604030504040204" pitchFamily="34" charset="0"/>
              </a:rPr>
              <a:t>10.8  SQL Server2019</a:t>
            </a:r>
            <a:r>
              <a:rPr lang="zh-CN" altLang="en-US" sz="2800" b="1">
                <a:solidFill>
                  <a:schemeClr val="bg1"/>
                </a:solidFill>
                <a:latin typeface="Verdana" panose="020B0604030504040204" pitchFamily="34" charset="0"/>
              </a:rPr>
              <a:t>数据库备份与恢复实验</a:t>
            </a:r>
            <a:endParaRPr lang="zh-CN" altLang="en-US" sz="2800" b="1">
              <a:solidFill>
                <a:schemeClr val="bg1"/>
              </a:solidFill>
              <a:latin typeface="Verdana" panose="020B0604030504040204" pitchFamily="34" charset="0"/>
            </a:endParaRPr>
          </a:p>
        </p:txBody>
      </p:sp>
      <p:sp>
        <p:nvSpPr>
          <p:cNvPr id="5" name="圆角矩形 4"/>
          <p:cNvSpPr/>
          <p:nvPr/>
        </p:nvSpPr>
        <p:spPr bwMode="gray">
          <a:xfrm>
            <a:off x="400050" y="1295400"/>
            <a:ext cx="8210550" cy="4513263"/>
          </a:xfrm>
          <a:prstGeom prst="roundRect">
            <a:avLst/>
          </a:prstGeom>
          <a:noFill/>
        </p:spPr>
        <p:style>
          <a:lnRef idx="2">
            <a:schemeClr val="accent1"/>
          </a:lnRef>
          <a:fillRef idx="1">
            <a:schemeClr val="lt1"/>
          </a:fillRef>
          <a:effectRef idx="0">
            <a:schemeClr val="accent1"/>
          </a:effectRef>
          <a:fontRef idx="minor">
            <a:schemeClr val="dk1"/>
          </a:fontRef>
        </p:style>
        <p:txBody>
          <a:bodyPr anchor="ctr" anchorCtr="1">
            <a:normAutofit/>
          </a:bodyPr>
          <a:lstStyle/>
          <a:p>
            <a:pPr>
              <a:spcBef>
                <a:spcPct val="20000"/>
              </a:spcBef>
              <a:buFont typeface="Wingdings" panose="05000000000000000000" pitchFamily="2" charset="2"/>
              <a:buNone/>
              <a:defRPr/>
            </a:pPr>
            <a:r>
              <a:rPr lang="zh-CN" altLang="en-US" sz="2500" b="1" dirty="0">
                <a:solidFill>
                  <a:schemeClr val="tx1"/>
                </a:solidFill>
                <a:latin typeface="Arial" panose="020B0604020202020204" pitchFamily="34" charset="0"/>
              </a:rPr>
              <a:t>      </a:t>
            </a:r>
            <a:endParaRPr lang="zh-CN" altLang="en-US" sz="2500" b="1" dirty="0">
              <a:solidFill>
                <a:schemeClr val="tx1"/>
              </a:solidFill>
              <a:latin typeface="Arial" panose="020B060402020202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Grp="1" noChangeArrowheads="1"/>
          </p:cNvSpPr>
          <p:nvPr>
            <p:ph type="body" idx="4294967295"/>
          </p:nvPr>
        </p:nvSpPr>
        <p:spPr>
          <a:xfrm>
            <a:off x="228600" y="1143000"/>
            <a:ext cx="8458200" cy="5486400"/>
          </a:xfrm>
        </p:spPr>
        <p:txBody>
          <a:bodyPr/>
          <a:lstStyle/>
          <a:p>
            <a:pPr lvl="1">
              <a:defRPr/>
            </a:pPr>
            <a:r>
              <a:rPr lang="en-US" altLang="zh-CN" b="1" dirty="0" smtClean="0">
                <a:solidFill>
                  <a:srgbClr val="C00000"/>
                </a:solidFill>
                <a:cs typeface="+mn-ea"/>
              </a:rPr>
              <a:t>4</a:t>
            </a:r>
            <a:r>
              <a:rPr lang="zh-CN" altLang="en-US" b="1" dirty="0" smtClean="0">
                <a:solidFill>
                  <a:srgbClr val="C00000"/>
                </a:solidFill>
                <a:cs typeface="+mn-ea"/>
              </a:rPr>
              <a:t>．固定数据库角色的创建</a:t>
            </a:r>
            <a:endParaRPr lang="zh-CN" altLang="en-US" b="1" dirty="0" smtClean="0">
              <a:solidFill>
                <a:srgbClr val="C00000"/>
              </a:solidFill>
              <a:cs typeface="+mn-ea"/>
            </a:endParaRPr>
          </a:p>
          <a:p>
            <a:pPr marL="457200" lvl="1" indent="0">
              <a:buFont typeface="Wingdings" panose="05000000000000000000" pitchFamily="2" charset="2"/>
              <a:buNone/>
              <a:defRPr/>
            </a:pPr>
            <a:r>
              <a:rPr lang="zh-CN" altLang="en-US" b="1" dirty="0" smtClean="0">
                <a:cs typeface="+mn-ea"/>
              </a:rPr>
              <a:t>在“数据库”</a:t>
            </a:r>
            <a:r>
              <a:rPr lang="en-US" altLang="zh-CN" b="1" dirty="0" err="1" smtClean="0">
                <a:cs typeface="+mn-ea"/>
              </a:rPr>
              <a:t>teachingSystem</a:t>
            </a:r>
            <a:r>
              <a:rPr lang="en-US" altLang="zh-CN" b="1" dirty="0" smtClean="0">
                <a:cs typeface="+mn-ea"/>
              </a:rPr>
              <a:t> </a:t>
            </a:r>
            <a:r>
              <a:rPr lang="zh-CN" altLang="en-US" b="1" dirty="0" smtClean="0">
                <a:cs typeface="+mn-ea"/>
              </a:rPr>
              <a:t>中展开“角色”→“数据库角色”→“</a:t>
            </a:r>
            <a:r>
              <a:rPr lang="en-US" altLang="zh-CN" b="1" dirty="0" err="1" smtClean="0">
                <a:cs typeface="+mn-ea"/>
              </a:rPr>
              <a:t>db_owner</a:t>
            </a:r>
            <a:r>
              <a:rPr lang="en-US" altLang="zh-CN" b="1" dirty="0" smtClean="0">
                <a:cs typeface="+mn-ea"/>
              </a:rPr>
              <a:t>”</a:t>
            </a:r>
            <a:r>
              <a:rPr lang="zh-CN" altLang="en-US" b="1" dirty="0" smtClean="0">
                <a:cs typeface="+mn-ea"/>
              </a:rPr>
              <a:t>，右击鼠标，在弹出的快捷菜单中选择“属性”菜单项，进入“数据库角色属性”窗口，单击“添加”按钮可以为该固定数据库角色添加成员。</a:t>
            </a:r>
            <a:endParaRPr lang="zh-CN" altLang="en-US" b="1" dirty="0" smtClean="0">
              <a:cs typeface="+mn-ea"/>
            </a:endParaRPr>
          </a:p>
          <a:p>
            <a:pPr lvl="1">
              <a:defRPr/>
            </a:pPr>
            <a:r>
              <a:rPr lang="en-US" altLang="zh-CN" b="1" dirty="0" smtClean="0">
                <a:solidFill>
                  <a:srgbClr val="C00000"/>
                </a:solidFill>
                <a:cs typeface="+mn-ea"/>
              </a:rPr>
              <a:t>5</a:t>
            </a:r>
            <a:r>
              <a:rPr lang="zh-CN" altLang="en-US" b="1" dirty="0" smtClean="0">
                <a:solidFill>
                  <a:srgbClr val="C00000"/>
                </a:solidFill>
                <a:cs typeface="+mn-ea"/>
              </a:rPr>
              <a:t>．自定义数据库角色</a:t>
            </a:r>
            <a:endParaRPr lang="zh-CN" altLang="en-US" b="1" dirty="0" smtClean="0">
              <a:solidFill>
                <a:srgbClr val="C00000"/>
              </a:solidFill>
              <a:cs typeface="+mn-ea"/>
            </a:endParaRPr>
          </a:p>
          <a:p>
            <a:pPr marL="457200" lvl="1" indent="0">
              <a:buFont typeface="Wingdings" panose="05000000000000000000" pitchFamily="2" charset="2"/>
              <a:buNone/>
              <a:defRPr/>
            </a:pPr>
            <a:r>
              <a:rPr lang="zh-CN" altLang="en-US" b="1" dirty="0" smtClean="0">
                <a:cs typeface="+mn-ea"/>
              </a:rPr>
              <a:t>以管理员身份登录到</a:t>
            </a:r>
            <a:r>
              <a:rPr lang="en-US" altLang="zh-CN" b="1" dirty="0" smtClean="0">
                <a:cs typeface="+mn-ea"/>
              </a:rPr>
              <a:t>SQL Server</a:t>
            </a:r>
            <a:r>
              <a:rPr lang="zh-CN" altLang="en-US" b="1" dirty="0" smtClean="0">
                <a:cs typeface="+mn-ea"/>
              </a:rPr>
              <a:t>，在“对象资源管理器”中展开“数据库”→选择要创建角色的数据库（如</a:t>
            </a:r>
            <a:r>
              <a:rPr lang="en-US" altLang="zh-CN" b="1" dirty="0" err="1" smtClean="0">
                <a:cs typeface="+mn-ea"/>
              </a:rPr>
              <a:t>teachingSystem</a:t>
            </a:r>
            <a:r>
              <a:rPr lang="zh-CN" altLang="en-US" b="1" dirty="0" smtClean="0">
                <a:cs typeface="+mn-ea"/>
              </a:rPr>
              <a:t>），展开其中的“安全性”→“角色”，右击鼠标，在弹出的快捷菜单中选择“新建”菜单项→在子菜单中选择“新建数据库角色”菜单项，在新建窗口中输入要创建的角色名</a:t>
            </a:r>
            <a:r>
              <a:rPr lang="en-US" altLang="zh-CN" b="1" dirty="0" err="1" smtClean="0">
                <a:cs typeface="+mn-ea"/>
              </a:rPr>
              <a:t>myrole</a:t>
            </a:r>
            <a:r>
              <a:rPr lang="zh-CN" altLang="en-US" b="1" dirty="0" smtClean="0">
                <a:cs typeface="+mn-ea"/>
              </a:rPr>
              <a:t>，单击“确定”按钮。</a:t>
            </a:r>
            <a:endParaRPr lang="zh-CN" altLang="en-US" b="1" dirty="0" smtClean="0">
              <a:cs typeface="+mn-ea"/>
            </a:endParaRPr>
          </a:p>
          <a:p>
            <a:pPr marL="457200" lvl="1" indent="0">
              <a:buFont typeface="Wingdings" panose="05000000000000000000" pitchFamily="2" charset="2"/>
              <a:buNone/>
              <a:defRPr/>
            </a:pPr>
            <a:r>
              <a:rPr lang="zh-CN" altLang="en-US" b="1" dirty="0" smtClean="0">
                <a:cs typeface="+mn-ea"/>
              </a:rPr>
              <a:t>在新建的角色</a:t>
            </a:r>
            <a:r>
              <a:rPr lang="en-US" altLang="zh-CN" b="1" dirty="0" err="1" smtClean="0">
                <a:cs typeface="+mn-ea"/>
              </a:rPr>
              <a:t>myrole</a:t>
            </a:r>
            <a:r>
              <a:rPr lang="en-US" altLang="zh-CN" b="1" dirty="0" smtClean="0">
                <a:cs typeface="+mn-ea"/>
              </a:rPr>
              <a:t> </a:t>
            </a:r>
            <a:r>
              <a:rPr lang="zh-CN" altLang="en-US" b="1" dirty="0" smtClean="0">
                <a:cs typeface="+mn-ea"/>
              </a:rPr>
              <a:t>的属性窗口中，单击“添加”按钮，即可为其添加成员。</a:t>
            </a:r>
            <a:endParaRPr lang="zh-CN" altLang="en-US" b="1" dirty="0" smtClean="0">
              <a:cs typeface="+mn-ea"/>
            </a:endParaRPr>
          </a:p>
        </p:txBody>
      </p:sp>
      <p:sp>
        <p:nvSpPr>
          <p:cNvPr id="54274"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eaLnBrk="0" hangingPunct="0"/>
            <a:r>
              <a:rPr lang="en-US" altLang="zh-CN" sz="2800" b="1">
                <a:solidFill>
                  <a:schemeClr val="bg1"/>
                </a:solidFill>
                <a:latin typeface="Verdana" panose="020B0604030504040204" pitchFamily="34" charset="0"/>
              </a:rPr>
              <a:t>10.8  SQL Server2019</a:t>
            </a:r>
            <a:r>
              <a:rPr lang="zh-CN" altLang="en-US" sz="2800" b="1">
                <a:solidFill>
                  <a:schemeClr val="bg1"/>
                </a:solidFill>
                <a:latin typeface="Verdana" panose="020B0604030504040204" pitchFamily="34" charset="0"/>
              </a:rPr>
              <a:t>数据库备份与恢复实验</a:t>
            </a:r>
            <a:endParaRPr lang="zh-CN" altLang="en-US" sz="2800" b="1">
              <a:solidFill>
                <a:schemeClr val="bg1"/>
              </a:solidFill>
              <a:latin typeface="Verdana" panose="020B0604030504040204" pitchFamily="34" charset="0"/>
            </a:endParaRPr>
          </a:p>
        </p:txBody>
      </p:sp>
      <p:sp>
        <p:nvSpPr>
          <p:cNvPr id="5" name="圆角矩形 4"/>
          <p:cNvSpPr/>
          <p:nvPr/>
        </p:nvSpPr>
        <p:spPr bwMode="gray">
          <a:xfrm>
            <a:off x="400050" y="1208088"/>
            <a:ext cx="8210550" cy="5173240"/>
          </a:xfrm>
          <a:prstGeom prst="roundRect">
            <a:avLst/>
          </a:prstGeom>
          <a:noFill/>
        </p:spPr>
        <p:style>
          <a:lnRef idx="2">
            <a:schemeClr val="accent1"/>
          </a:lnRef>
          <a:fillRef idx="1">
            <a:schemeClr val="lt1"/>
          </a:fillRef>
          <a:effectRef idx="0">
            <a:schemeClr val="accent1"/>
          </a:effectRef>
          <a:fontRef idx="minor">
            <a:schemeClr val="dk1"/>
          </a:fontRef>
        </p:style>
        <p:txBody>
          <a:bodyPr anchor="ctr" anchorCtr="1">
            <a:normAutofit/>
          </a:bodyPr>
          <a:lstStyle/>
          <a:p>
            <a:pPr>
              <a:spcBef>
                <a:spcPct val="20000"/>
              </a:spcBef>
              <a:buFont typeface="Wingdings" panose="05000000000000000000" pitchFamily="2" charset="2"/>
              <a:buNone/>
              <a:defRPr/>
            </a:pPr>
            <a:r>
              <a:rPr lang="zh-CN" altLang="en-US" sz="2500" b="1" dirty="0">
                <a:solidFill>
                  <a:schemeClr val="tx1"/>
                </a:solidFill>
                <a:latin typeface="Arial" panose="020B0604020202020204" pitchFamily="34" charset="0"/>
              </a:rPr>
              <a:t>      </a:t>
            </a:r>
            <a:endParaRPr lang="zh-CN" altLang="en-US" sz="2500" b="1" dirty="0">
              <a:solidFill>
                <a:schemeClr val="tx1"/>
              </a:solidFill>
              <a:latin typeface="Arial" panose="020B060402020202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Grp="1" noChangeArrowheads="1"/>
          </p:cNvSpPr>
          <p:nvPr>
            <p:ph type="body" idx="4294967295"/>
          </p:nvPr>
        </p:nvSpPr>
        <p:spPr>
          <a:xfrm>
            <a:off x="276225" y="1025525"/>
            <a:ext cx="8458200" cy="5199063"/>
          </a:xfrm>
        </p:spPr>
        <p:txBody>
          <a:bodyPr/>
          <a:lstStyle/>
          <a:p>
            <a:pPr lvl="1">
              <a:defRPr/>
            </a:pPr>
            <a:r>
              <a:rPr lang="en-US" altLang="zh-CN" b="1" dirty="0" smtClean="0">
                <a:solidFill>
                  <a:srgbClr val="C00000"/>
                </a:solidFill>
                <a:cs typeface="+mn-ea"/>
              </a:rPr>
              <a:t>6</a:t>
            </a:r>
            <a:r>
              <a:rPr lang="zh-CN" altLang="en-US" b="1" dirty="0" smtClean="0">
                <a:solidFill>
                  <a:srgbClr val="C00000"/>
                </a:solidFill>
                <a:cs typeface="+mn-ea"/>
              </a:rPr>
              <a:t>．授予数据库权限</a:t>
            </a:r>
            <a:endParaRPr lang="zh-CN" altLang="en-US" b="1" dirty="0" smtClean="0">
              <a:solidFill>
                <a:srgbClr val="C00000"/>
              </a:solidFill>
              <a:cs typeface="+mn-ea"/>
            </a:endParaRPr>
          </a:p>
          <a:p>
            <a:pPr marL="457200" lvl="1" indent="0">
              <a:buFont typeface="Wingdings" panose="05000000000000000000" pitchFamily="2" charset="2"/>
              <a:buNone/>
              <a:defRPr/>
            </a:pPr>
            <a:r>
              <a:rPr lang="zh-CN" altLang="en-US" b="1" dirty="0" smtClean="0">
                <a:cs typeface="+mn-ea"/>
              </a:rPr>
              <a:t>以界面方式授予数据库</a:t>
            </a:r>
            <a:r>
              <a:rPr lang="en-US" altLang="zh-CN" b="1" dirty="0" err="1" smtClean="0">
                <a:cs typeface="+mn-ea"/>
              </a:rPr>
              <a:t>teachingSystem</a:t>
            </a:r>
            <a:r>
              <a:rPr lang="zh-CN" altLang="en-US" b="1" dirty="0" smtClean="0">
                <a:cs typeface="+mn-ea"/>
              </a:rPr>
              <a:t>数据库上的</a:t>
            </a:r>
            <a:r>
              <a:rPr lang="en-US" altLang="zh-CN" b="1" dirty="0" smtClean="0">
                <a:cs typeface="+mn-ea"/>
              </a:rPr>
              <a:t>CREATE TABLE </a:t>
            </a:r>
            <a:r>
              <a:rPr lang="zh-CN" altLang="en-US" b="1" dirty="0" smtClean="0">
                <a:cs typeface="+mn-ea"/>
              </a:rPr>
              <a:t>权限：以管理员身份登录到</a:t>
            </a:r>
            <a:r>
              <a:rPr lang="en-US" altLang="zh-CN" b="1" dirty="0" smtClean="0">
                <a:cs typeface="+mn-ea"/>
              </a:rPr>
              <a:t>SQL Server</a:t>
            </a:r>
            <a:r>
              <a:rPr lang="zh-CN" altLang="en-US" b="1" dirty="0" smtClean="0">
                <a:cs typeface="+mn-ea"/>
              </a:rPr>
              <a:t>，在“对象资源管理器”中展开“数据库”→选择</a:t>
            </a:r>
            <a:r>
              <a:rPr lang="en-US" altLang="zh-CN" b="1" dirty="0" err="1" smtClean="0">
                <a:cs typeface="+mn-ea"/>
              </a:rPr>
              <a:t>teachingSystem</a:t>
            </a:r>
            <a:r>
              <a:rPr lang="zh-CN" altLang="en-US" b="1" dirty="0" smtClean="0">
                <a:cs typeface="+mn-ea"/>
              </a:rPr>
              <a:t>，右击鼠标，在弹出的快捷菜单中选择“属性”菜单项进入</a:t>
            </a:r>
            <a:r>
              <a:rPr lang="en-US" altLang="zh-CN" b="1" dirty="0" err="1" smtClean="0">
                <a:cs typeface="+mn-ea"/>
              </a:rPr>
              <a:t>teachingSystem</a:t>
            </a:r>
            <a:r>
              <a:rPr lang="zh-CN" altLang="en-US" b="1" dirty="0" smtClean="0">
                <a:cs typeface="+mn-ea"/>
              </a:rPr>
              <a:t>的属性窗口，选择“权限”选项页→选择数据库用户</a:t>
            </a:r>
            <a:r>
              <a:rPr lang="en-US" altLang="zh-CN" b="1" dirty="0" err="1" smtClean="0">
                <a:cs typeface="+mn-ea"/>
              </a:rPr>
              <a:t>shenxd</a:t>
            </a:r>
            <a:r>
              <a:rPr lang="zh-CN" altLang="en-US" b="1" dirty="0" smtClean="0">
                <a:cs typeface="+mn-ea"/>
              </a:rPr>
              <a:t>，在下方的权限列表中选择相应的数据库级别上的权限，完成后单击“确定”按钮。</a:t>
            </a:r>
            <a:endParaRPr lang="zh-CN" altLang="en-US" b="1" dirty="0" smtClean="0">
              <a:cs typeface="+mn-ea"/>
            </a:endParaRPr>
          </a:p>
          <a:p>
            <a:pPr marL="457200" lvl="1" indent="0">
              <a:buFont typeface="Wingdings" panose="05000000000000000000" pitchFamily="2" charset="2"/>
              <a:buNone/>
              <a:defRPr/>
            </a:pPr>
            <a:r>
              <a:rPr lang="zh-CN" altLang="en-US" b="1" dirty="0" smtClean="0">
                <a:cs typeface="+mn-ea"/>
              </a:rPr>
              <a:t>以界面方式授予数据库用户在表</a:t>
            </a:r>
            <a:r>
              <a:rPr lang="en-US" altLang="zh-CN" b="1" dirty="0" smtClean="0">
                <a:cs typeface="+mn-ea"/>
              </a:rPr>
              <a:t>teacher </a:t>
            </a:r>
            <a:r>
              <a:rPr lang="zh-CN" altLang="en-US" b="1" dirty="0" smtClean="0">
                <a:cs typeface="+mn-ea"/>
              </a:rPr>
              <a:t>上的</a:t>
            </a:r>
            <a:r>
              <a:rPr lang="en-US" altLang="zh-CN" b="1" dirty="0" smtClean="0">
                <a:cs typeface="+mn-ea"/>
              </a:rPr>
              <a:t>SELECT</a:t>
            </a:r>
            <a:r>
              <a:rPr lang="zh-CN" altLang="en-US" b="1" dirty="0" smtClean="0">
                <a:cs typeface="+mn-ea"/>
              </a:rPr>
              <a:t>、</a:t>
            </a:r>
            <a:r>
              <a:rPr lang="en-US" altLang="zh-CN" b="1" dirty="0" smtClean="0">
                <a:cs typeface="+mn-ea"/>
              </a:rPr>
              <a:t>DELETE </a:t>
            </a:r>
            <a:r>
              <a:rPr lang="zh-CN" altLang="en-US" b="1" dirty="0" smtClean="0">
                <a:cs typeface="+mn-ea"/>
              </a:rPr>
              <a:t>权限：以管理员身份登录到</a:t>
            </a:r>
            <a:r>
              <a:rPr lang="en-US" altLang="zh-CN" b="1" dirty="0" smtClean="0">
                <a:cs typeface="+mn-ea"/>
              </a:rPr>
              <a:t>SQL Server</a:t>
            </a:r>
            <a:r>
              <a:rPr lang="zh-CN" altLang="en-US" b="1" dirty="0" smtClean="0">
                <a:cs typeface="+mn-ea"/>
              </a:rPr>
              <a:t>，在“对象资源管理器”中找到</a:t>
            </a:r>
            <a:r>
              <a:rPr lang="en-US" altLang="zh-CN" b="1" dirty="0" smtClean="0">
                <a:cs typeface="+mn-ea"/>
              </a:rPr>
              <a:t>Employees </a:t>
            </a:r>
            <a:r>
              <a:rPr lang="zh-CN" altLang="en-US" b="1" dirty="0" smtClean="0">
                <a:cs typeface="+mn-ea"/>
              </a:rPr>
              <a:t>表，右击选择“属性”菜单项进入表“</a:t>
            </a:r>
            <a:r>
              <a:rPr lang="en-US" altLang="zh-CN" b="1" dirty="0" smtClean="0">
                <a:cs typeface="+mn-ea"/>
              </a:rPr>
              <a:t>teacher”</a:t>
            </a:r>
            <a:r>
              <a:rPr lang="zh-CN" altLang="en-US" b="1" dirty="0" smtClean="0">
                <a:cs typeface="+mn-ea"/>
              </a:rPr>
              <a:t>的属性窗口，选择“权限”选项页→单击“添加”按钮添加要授予权限的用户或角色，然后在权限列表中选择要授予的权限。</a:t>
            </a:r>
            <a:endParaRPr lang="zh-CN" altLang="en-US" b="1" dirty="0" smtClean="0">
              <a:cs typeface="+mn-ea"/>
            </a:endParaRPr>
          </a:p>
        </p:txBody>
      </p:sp>
      <p:sp>
        <p:nvSpPr>
          <p:cNvPr id="55298"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eaLnBrk="0" hangingPunct="0"/>
            <a:r>
              <a:rPr lang="en-US" altLang="zh-CN" sz="2800" b="1">
                <a:solidFill>
                  <a:schemeClr val="bg1"/>
                </a:solidFill>
                <a:latin typeface="Verdana" panose="020B0604030504040204" pitchFamily="34" charset="0"/>
              </a:rPr>
              <a:t>10.8  SQL Server2019</a:t>
            </a:r>
            <a:r>
              <a:rPr lang="zh-CN" altLang="en-US" sz="2800" b="1">
                <a:solidFill>
                  <a:schemeClr val="bg1"/>
                </a:solidFill>
                <a:latin typeface="Verdana" panose="020B0604030504040204" pitchFamily="34" charset="0"/>
              </a:rPr>
              <a:t>数据库备份与恢复实验</a:t>
            </a:r>
            <a:endParaRPr lang="zh-CN" altLang="en-US" sz="2800" b="1">
              <a:solidFill>
                <a:schemeClr val="bg1"/>
              </a:solidFill>
              <a:latin typeface="Verdana" panose="020B0604030504040204" pitchFamily="34" charset="0"/>
            </a:endParaRPr>
          </a:p>
        </p:txBody>
      </p:sp>
      <p:sp>
        <p:nvSpPr>
          <p:cNvPr id="5" name="圆角矩形 4"/>
          <p:cNvSpPr/>
          <p:nvPr/>
        </p:nvSpPr>
        <p:spPr bwMode="gray">
          <a:xfrm>
            <a:off x="400050" y="1101724"/>
            <a:ext cx="8210550" cy="5063579"/>
          </a:xfrm>
          <a:prstGeom prst="roundRect">
            <a:avLst/>
          </a:prstGeom>
          <a:noFill/>
        </p:spPr>
        <p:style>
          <a:lnRef idx="2">
            <a:schemeClr val="accent1"/>
          </a:lnRef>
          <a:fillRef idx="1">
            <a:schemeClr val="lt1"/>
          </a:fillRef>
          <a:effectRef idx="0">
            <a:schemeClr val="accent1"/>
          </a:effectRef>
          <a:fontRef idx="minor">
            <a:schemeClr val="dk1"/>
          </a:fontRef>
        </p:style>
        <p:txBody>
          <a:bodyPr anchor="ctr" anchorCtr="1">
            <a:normAutofit/>
          </a:bodyPr>
          <a:lstStyle/>
          <a:p>
            <a:pPr>
              <a:spcBef>
                <a:spcPct val="20000"/>
              </a:spcBef>
              <a:buFont typeface="Wingdings" panose="05000000000000000000" pitchFamily="2" charset="2"/>
              <a:buNone/>
              <a:defRPr/>
            </a:pPr>
            <a:r>
              <a:rPr lang="zh-CN" altLang="en-US" sz="2500" b="1" dirty="0">
                <a:solidFill>
                  <a:schemeClr val="tx1"/>
                </a:solidFill>
                <a:latin typeface="Arial" panose="020B0604020202020204" pitchFamily="34" charset="0"/>
              </a:rPr>
              <a:t>      </a:t>
            </a:r>
            <a:endParaRPr lang="zh-CN" altLang="en-US" sz="2500" b="1" dirty="0">
              <a:solidFill>
                <a:schemeClr val="tx1"/>
              </a:solidFill>
              <a:latin typeface="Arial" panose="020B060402020202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Grp="1" noChangeArrowheads="1"/>
          </p:cNvSpPr>
          <p:nvPr>
            <p:ph type="body" idx="4294967295"/>
          </p:nvPr>
        </p:nvSpPr>
        <p:spPr>
          <a:xfrm>
            <a:off x="276225" y="1101724"/>
            <a:ext cx="8458200" cy="5724525"/>
          </a:xfrm>
        </p:spPr>
        <p:txBody>
          <a:bodyPr/>
          <a:lstStyle/>
          <a:p>
            <a:pPr lvl="1">
              <a:defRPr/>
            </a:pPr>
            <a:r>
              <a:rPr lang="en-US" altLang="zh-CN" b="1" dirty="0">
                <a:solidFill>
                  <a:srgbClr val="C00000"/>
                </a:solidFill>
                <a:cs typeface="+mn-ea"/>
              </a:rPr>
              <a:t>7</a:t>
            </a:r>
            <a:r>
              <a:rPr lang="zh-CN" altLang="en-US" b="1" dirty="0" smtClean="0">
                <a:solidFill>
                  <a:srgbClr val="C00000"/>
                </a:solidFill>
                <a:cs typeface="+mn-ea"/>
              </a:rPr>
              <a:t>．数据库备份恢复方法</a:t>
            </a:r>
            <a:endParaRPr lang="zh-CN" altLang="en-US" b="1" dirty="0" smtClean="0">
              <a:solidFill>
                <a:srgbClr val="C00000"/>
              </a:solidFill>
              <a:cs typeface="+mn-ea"/>
            </a:endParaRPr>
          </a:p>
          <a:p>
            <a:pPr marL="457200" lvl="1" indent="0">
              <a:buFont typeface="Wingdings" panose="05000000000000000000" pitchFamily="2" charset="2"/>
              <a:buNone/>
              <a:defRPr/>
            </a:pPr>
            <a:r>
              <a:rPr lang="en-US" altLang="zh-CN" b="1" dirty="0" smtClean="0">
                <a:cs typeface="+mn-ea"/>
              </a:rPr>
              <a:t>1</a:t>
            </a:r>
            <a:r>
              <a:rPr lang="zh-CN" altLang="en-US" b="1" dirty="0" smtClean="0">
                <a:cs typeface="+mn-ea"/>
              </a:rPr>
              <a:t>）利用</a:t>
            </a:r>
            <a:r>
              <a:rPr lang="en-US" altLang="zh-CN" b="1" dirty="0" smtClean="0">
                <a:cs typeface="+mn-ea"/>
              </a:rPr>
              <a:t>SSMS</a:t>
            </a:r>
            <a:r>
              <a:rPr lang="zh-CN" altLang="en-US" b="1" dirty="0" smtClean="0">
                <a:cs typeface="+mn-ea"/>
              </a:rPr>
              <a:t>管理备份设备。在备份一个数据库之前，需要先创建一个备份设备，比如磁带、硬盘等，然后再去复制有备份的数据库、事务日志、文件</a:t>
            </a:r>
            <a:r>
              <a:rPr lang="en-US" altLang="zh-CN" b="1" dirty="0" smtClean="0">
                <a:cs typeface="+mn-ea"/>
              </a:rPr>
              <a:t>/</a:t>
            </a:r>
            <a:r>
              <a:rPr lang="zh-CN" altLang="en-US" b="1" dirty="0" smtClean="0">
                <a:cs typeface="+mn-ea"/>
              </a:rPr>
              <a:t>文件组。</a:t>
            </a:r>
            <a:endParaRPr lang="zh-CN" altLang="en-US" b="1" dirty="0" smtClean="0">
              <a:cs typeface="+mn-ea"/>
            </a:endParaRPr>
          </a:p>
          <a:p>
            <a:pPr marL="457200" lvl="1" indent="0">
              <a:buFont typeface="Wingdings" panose="05000000000000000000" pitchFamily="2" charset="2"/>
              <a:buNone/>
              <a:defRPr/>
            </a:pPr>
            <a:r>
              <a:rPr lang="en-US" altLang="zh-CN" b="1" dirty="0" smtClean="0">
                <a:cs typeface="+mn-ea"/>
              </a:rPr>
              <a:t>2</a:t>
            </a:r>
            <a:r>
              <a:rPr lang="zh-CN" altLang="en-US" b="1" dirty="0" smtClean="0">
                <a:cs typeface="+mn-ea"/>
              </a:rPr>
              <a:t>）备份数据库。打开</a:t>
            </a:r>
            <a:r>
              <a:rPr lang="en-US" altLang="zh-CN" b="1" dirty="0" smtClean="0">
                <a:cs typeface="+mn-ea"/>
              </a:rPr>
              <a:t>SSMS</a:t>
            </a:r>
            <a:r>
              <a:rPr lang="zh-CN" altLang="en-US" b="1" dirty="0" smtClean="0">
                <a:cs typeface="+mn-ea"/>
              </a:rPr>
              <a:t>，右击需要准备备份的具体数据库，选择“任务”→“备份”命令，在备份数据库窗口中选择要备份的数据库和备份类型。</a:t>
            </a:r>
            <a:endParaRPr lang="zh-CN" altLang="en-US" b="1" dirty="0" smtClean="0">
              <a:cs typeface="+mn-ea"/>
            </a:endParaRPr>
          </a:p>
          <a:p>
            <a:pPr marL="457200" lvl="1" indent="0">
              <a:buFont typeface="Wingdings" panose="05000000000000000000" pitchFamily="2" charset="2"/>
              <a:buNone/>
              <a:defRPr/>
            </a:pPr>
            <a:r>
              <a:rPr lang="en-US" altLang="zh-CN" b="1" dirty="0" smtClean="0">
                <a:cs typeface="+mn-ea"/>
              </a:rPr>
              <a:t>3</a:t>
            </a:r>
            <a:r>
              <a:rPr lang="zh-CN" altLang="en-US" b="1" dirty="0" smtClean="0">
                <a:cs typeface="+mn-ea"/>
              </a:rPr>
              <a:t>）数据库的差异备份。差异数据库备份只记录自上次数据库备份后发生更改的数据。差异数据库备份比数据库备份小而且备份速度快，因此可以经常地备份，减少丢失数据的危险。使用差异数据库备份可将数据库还原到差异数据库备份完成时那一点。若要恢复到精确的故障点，必须使用事务日志备份。</a:t>
            </a:r>
            <a:endParaRPr lang="zh-CN" altLang="en-US" b="1" dirty="0" smtClean="0">
              <a:cs typeface="+mn-ea"/>
            </a:endParaRPr>
          </a:p>
          <a:p>
            <a:pPr marL="457200" lvl="1" indent="0">
              <a:buFont typeface="Wingdings" panose="05000000000000000000" pitchFamily="2" charset="2"/>
              <a:buNone/>
              <a:defRPr/>
            </a:pPr>
            <a:r>
              <a:rPr lang="en-US" altLang="zh-CN" b="1" dirty="0" smtClean="0">
                <a:cs typeface="+mn-ea"/>
              </a:rPr>
              <a:t>4</a:t>
            </a:r>
            <a:r>
              <a:rPr lang="zh-CN" altLang="en-US" b="1" dirty="0" smtClean="0">
                <a:cs typeface="+mn-ea"/>
              </a:rPr>
              <a:t>）恢复数据库。启动</a:t>
            </a:r>
            <a:r>
              <a:rPr lang="en-US" altLang="zh-CN" b="1" dirty="0" smtClean="0">
                <a:cs typeface="+mn-ea"/>
              </a:rPr>
              <a:t>SSMS</a:t>
            </a:r>
            <a:r>
              <a:rPr lang="zh-CN" altLang="en-US" b="1" dirty="0" smtClean="0">
                <a:cs typeface="+mn-ea"/>
              </a:rPr>
              <a:t>，选择服务器，右击相应的数据库，选择“还原</a:t>
            </a:r>
            <a:r>
              <a:rPr lang="en-US" altLang="zh-CN" b="1" dirty="0" smtClean="0">
                <a:cs typeface="+mn-ea"/>
              </a:rPr>
              <a:t>(</a:t>
            </a:r>
            <a:r>
              <a:rPr lang="zh-CN" altLang="en-US" b="1" dirty="0" smtClean="0">
                <a:cs typeface="+mn-ea"/>
              </a:rPr>
              <a:t>恢复</a:t>
            </a:r>
            <a:r>
              <a:rPr lang="en-US" altLang="zh-CN" b="1" dirty="0" smtClean="0">
                <a:cs typeface="+mn-ea"/>
              </a:rPr>
              <a:t>)”</a:t>
            </a:r>
            <a:r>
              <a:rPr lang="zh-CN" altLang="en-US" b="1" dirty="0" smtClean="0">
                <a:cs typeface="+mn-ea"/>
              </a:rPr>
              <a:t>命令，再单击“数据库”，出现恢复数据库窗口，按提示完成相应恢复操作。</a:t>
            </a:r>
            <a:endParaRPr lang="zh-CN" altLang="en-US" b="1" dirty="0" smtClean="0">
              <a:cs typeface="+mn-ea"/>
            </a:endParaRPr>
          </a:p>
        </p:txBody>
      </p:sp>
      <p:sp>
        <p:nvSpPr>
          <p:cNvPr id="56322" name="Rectangle 2"/>
          <p:cNvSpPr txBox="1">
            <a:spLocks noChangeArrowheads="1"/>
          </p:cNvSpPr>
          <p:nvPr/>
        </p:nvSpPr>
        <p:spPr bwMode="auto">
          <a:xfrm>
            <a:off x="457200" y="152400"/>
            <a:ext cx="8305800" cy="563563"/>
          </a:xfrm>
          <a:prstGeom prst="rect">
            <a:avLst/>
          </a:prstGeom>
          <a:noFill/>
          <a:ln w="9525">
            <a:noFill/>
            <a:miter lim="800000"/>
          </a:ln>
        </p:spPr>
        <p:txBody>
          <a:bodyPr anchor="ctr"/>
          <a:lstStyle/>
          <a:p>
            <a:pPr eaLnBrk="0" hangingPunct="0"/>
            <a:r>
              <a:rPr lang="en-US" altLang="zh-CN" sz="2800" b="1">
                <a:solidFill>
                  <a:schemeClr val="bg1"/>
                </a:solidFill>
                <a:latin typeface="Verdana" panose="020B0604030504040204" pitchFamily="34" charset="0"/>
              </a:rPr>
              <a:t>10.8  SQL Server2019</a:t>
            </a:r>
            <a:r>
              <a:rPr lang="zh-CN" altLang="en-US" sz="2800" b="1">
                <a:solidFill>
                  <a:schemeClr val="bg1"/>
                </a:solidFill>
                <a:latin typeface="Verdana" panose="020B0604030504040204" pitchFamily="34" charset="0"/>
              </a:rPr>
              <a:t>数据库备份与恢复实验</a:t>
            </a:r>
            <a:endParaRPr lang="zh-CN" altLang="en-US" sz="2800" b="1">
              <a:solidFill>
                <a:schemeClr val="bg1"/>
              </a:solidFill>
              <a:latin typeface="Verdana" panose="020B0604030504040204" pitchFamily="34" charset="0"/>
            </a:endParaRPr>
          </a:p>
        </p:txBody>
      </p:sp>
      <p:sp>
        <p:nvSpPr>
          <p:cNvPr id="5" name="圆角矩形 4"/>
          <p:cNvSpPr/>
          <p:nvPr/>
        </p:nvSpPr>
        <p:spPr bwMode="gray">
          <a:xfrm>
            <a:off x="400050" y="1101724"/>
            <a:ext cx="8210550" cy="5423619"/>
          </a:xfrm>
          <a:prstGeom prst="roundRect">
            <a:avLst/>
          </a:prstGeom>
          <a:noFill/>
        </p:spPr>
        <p:style>
          <a:lnRef idx="2">
            <a:schemeClr val="accent1"/>
          </a:lnRef>
          <a:fillRef idx="1">
            <a:schemeClr val="lt1"/>
          </a:fillRef>
          <a:effectRef idx="0">
            <a:schemeClr val="accent1"/>
          </a:effectRef>
          <a:fontRef idx="minor">
            <a:schemeClr val="dk1"/>
          </a:fontRef>
        </p:style>
        <p:txBody>
          <a:bodyPr anchor="ctr" anchorCtr="1">
            <a:normAutofit/>
          </a:bodyPr>
          <a:lstStyle/>
          <a:p>
            <a:pPr>
              <a:spcBef>
                <a:spcPct val="20000"/>
              </a:spcBef>
              <a:buFont typeface="Wingdings" panose="05000000000000000000" pitchFamily="2" charset="2"/>
              <a:buNone/>
              <a:defRPr/>
            </a:pPr>
            <a:r>
              <a:rPr lang="zh-CN" altLang="en-US" sz="2500" b="1" dirty="0">
                <a:solidFill>
                  <a:schemeClr val="tx1"/>
                </a:solidFill>
                <a:latin typeface="Arial" panose="020B0604020202020204" pitchFamily="34" charset="0"/>
              </a:rPr>
              <a:t>      </a:t>
            </a:r>
            <a:endParaRPr lang="zh-CN" altLang="en-US" sz="2500" b="1" dirty="0">
              <a:solidFill>
                <a:schemeClr val="tx1"/>
              </a:solidFill>
              <a:latin typeface="Arial" panose="020B060402020202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a:spLocks noGrp="1" noChangeArrowheads="1"/>
          </p:cNvSpPr>
          <p:nvPr>
            <p:ph type="title" idx="4294967295"/>
          </p:nvPr>
        </p:nvSpPr>
        <p:spPr/>
        <p:txBody>
          <a:bodyPr/>
          <a:lstStyle/>
          <a:p>
            <a:pPr algn="l"/>
            <a:r>
              <a:rPr lang="en-US" altLang="zh-CN" sz="2800" smtClean="0">
                <a:ea typeface="宋体" panose="02010600030101010101" pitchFamily="2" charset="-122"/>
              </a:rPr>
              <a:t>10.8 MySQL</a:t>
            </a:r>
            <a:r>
              <a:rPr lang="zh-CN" altLang="en-US" sz="2800" smtClean="0">
                <a:ea typeface="宋体" panose="02010600030101010101" pitchFamily="2" charset="-122"/>
              </a:rPr>
              <a:t>用户安全管理实验</a:t>
            </a:r>
            <a:endParaRPr lang="zh-CN" altLang="en-US" sz="2800" smtClean="0">
              <a:ea typeface="宋体" panose="02010600030101010101" pitchFamily="2" charset="-122"/>
            </a:endParaRPr>
          </a:p>
        </p:txBody>
      </p:sp>
      <p:sp>
        <p:nvSpPr>
          <p:cNvPr id="35843" name="Rectangle 3"/>
          <p:cNvSpPr>
            <a:spLocks noGrp="1" noChangeArrowheads="1"/>
          </p:cNvSpPr>
          <p:nvPr>
            <p:ph type="body" idx="4294967295"/>
          </p:nvPr>
        </p:nvSpPr>
        <p:spPr>
          <a:xfrm>
            <a:off x="457200" y="1295400"/>
            <a:ext cx="8153400" cy="4876800"/>
          </a:xfrm>
        </p:spPr>
        <p:txBody>
          <a:bodyPr/>
          <a:lstStyle/>
          <a:p>
            <a:pPr lvl="1">
              <a:defRPr/>
            </a:pPr>
            <a:r>
              <a:rPr lang="en-US" altLang="zh-CN" sz="2400" b="1" dirty="0" smtClean="0">
                <a:solidFill>
                  <a:srgbClr val="CC0066"/>
                </a:solidFill>
                <a:cs typeface="+mn-ea"/>
              </a:rPr>
              <a:t>10.8.1 </a:t>
            </a:r>
            <a:r>
              <a:rPr lang="zh-CN" altLang="en-US" sz="2400" b="1" dirty="0" smtClean="0">
                <a:solidFill>
                  <a:srgbClr val="CC0066"/>
                </a:solidFill>
                <a:cs typeface="+mn-ea"/>
              </a:rPr>
              <a:t>实验目的</a:t>
            </a:r>
            <a:endParaRPr lang="zh-CN" altLang="en-US" sz="2400" b="1" dirty="0" smtClean="0">
              <a:solidFill>
                <a:srgbClr val="CC0066"/>
              </a:solidFill>
              <a:cs typeface="+mn-ea"/>
            </a:endParaRPr>
          </a:p>
          <a:p>
            <a:pPr marL="457200" lvl="1" indent="0">
              <a:buFont typeface="Wingdings" panose="05000000000000000000" pitchFamily="2" charset="2"/>
              <a:buNone/>
              <a:defRPr/>
            </a:pPr>
            <a:r>
              <a:rPr lang="en-US" altLang="zh-CN" b="1" dirty="0" smtClean="0">
                <a:cs typeface="+mn-ea"/>
              </a:rPr>
              <a:t>  1</a:t>
            </a:r>
            <a:r>
              <a:rPr lang="zh-CN" altLang="en-US" b="1" dirty="0" smtClean="0">
                <a:cs typeface="+mn-ea"/>
              </a:rPr>
              <a:t>）理解</a:t>
            </a:r>
            <a:r>
              <a:rPr lang="en-US" altLang="zh-CN" b="1" dirty="0" smtClean="0">
                <a:cs typeface="+mn-ea"/>
              </a:rPr>
              <a:t>MySQL</a:t>
            </a:r>
            <a:r>
              <a:rPr lang="zh-CN" altLang="en-US" b="1" dirty="0" smtClean="0">
                <a:cs typeface="+mn-ea"/>
              </a:rPr>
              <a:t>系统的安全性机制。</a:t>
            </a:r>
            <a:endParaRPr lang="zh-CN" altLang="en-US" b="1" dirty="0" smtClean="0">
              <a:cs typeface="+mn-ea"/>
            </a:endParaRPr>
          </a:p>
          <a:p>
            <a:pPr marL="457200" lvl="1" indent="0">
              <a:buFont typeface="Wingdings" panose="05000000000000000000" pitchFamily="2" charset="2"/>
              <a:buNone/>
              <a:defRPr/>
            </a:pPr>
            <a:r>
              <a:rPr lang="en-US" altLang="zh-CN" b="1" dirty="0" smtClean="0">
                <a:cs typeface="+mn-ea"/>
              </a:rPr>
              <a:t>  2</a:t>
            </a:r>
            <a:r>
              <a:rPr lang="zh-CN" altLang="en-US" b="1" dirty="0" smtClean="0">
                <a:cs typeface="+mn-ea"/>
              </a:rPr>
              <a:t>）掌握</a:t>
            </a:r>
            <a:r>
              <a:rPr lang="en-US" altLang="zh-CN" b="1" dirty="0" smtClean="0">
                <a:cs typeface="+mn-ea"/>
              </a:rPr>
              <a:t>MySQL</a:t>
            </a:r>
            <a:r>
              <a:rPr lang="zh-CN" altLang="en-US" b="1" dirty="0" smtClean="0">
                <a:cs typeface="+mn-ea"/>
              </a:rPr>
              <a:t>数据库的相关安全配置操作。</a:t>
            </a:r>
            <a:endParaRPr lang="zh-CN" altLang="en-US" b="1" dirty="0" smtClean="0">
              <a:cs typeface="+mn-ea"/>
            </a:endParaRPr>
          </a:p>
          <a:p>
            <a:pPr lvl="1">
              <a:defRPr/>
            </a:pPr>
            <a:endParaRPr lang="en-US" altLang="zh-CN" sz="2400" b="1" dirty="0" smtClean="0">
              <a:solidFill>
                <a:srgbClr val="CC0066"/>
              </a:solidFill>
              <a:cs typeface="+mn-ea"/>
            </a:endParaRPr>
          </a:p>
          <a:p>
            <a:pPr lvl="1">
              <a:defRPr/>
            </a:pPr>
            <a:r>
              <a:rPr lang="en-US" altLang="zh-CN" sz="2400" b="1" dirty="0" smtClean="0">
                <a:solidFill>
                  <a:srgbClr val="CC0066"/>
                </a:solidFill>
                <a:cs typeface="+mn-ea"/>
              </a:rPr>
              <a:t>10.8.2 </a:t>
            </a:r>
            <a:r>
              <a:rPr lang="zh-CN" altLang="en-US" sz="2400" b="1" dirty="0" smtClean="0">
                <a:solidFill>
                  <a:srgbClr val="CC0066"/>
                </a:solidFill>
                <a:cs typeface="+mn-ea"/>
              </a:rPr>
              <a:t>实验要求</a:t>
            </a:r>
            <a:endParaRPr lang="zh-CN" altLang="en-US" sz="2400" b="1" dirty="0" smtClean="0">
              <a:solidFill>
                <a:srgbClr val="CC0066"/>
              </a:solidFill>
              <a:cs typeface="+mn-ea"/>
            </a:endParaRPr>
          </a:p>
          <a:p>
            <a:pPr marL="457200" lvl="1" indent="0">
              <a:buFont typeface="Wingdings" panose="05000000000000000000" pitchFamily="2" charset="2"/>
              <a:buNone/>
              <a:defRPr/>
            </a:pPr>
            <a:r>
              <a:rPr lang="zh-CN" altLang="en-US" b="1" dirty="0" smtClean="0">
                <a:cs typeface="+mn-ea"/>
              </a:rPr>
              <a:t>  实验设备：安装有</a:t>
            </a:r>
            <a:r>
              <a:rPr lang="en-US" altLang="zh-CN" b="1" dirty="0" smtClean="0">
                <a:cs typeface="+mn-ea"/>
              </a:rPr>
              <a:t>MySQL</a:t>
            </a:r>
            <a:r>
              <a:rPr lang="zh-CN" altLang="en-US" b="1" dirty="0" smtClean="0">
                <a:cs typeface="+mn-ea"/>
              </a:rPr>
              <a:t>的计算机。</a:t>
            </a:r>
            <a:endParaRPr lang="zh-CN" altLang="en-US" b="1" dirty="0" smtClean="0">
              <a:cs typeface="+mn-ea"/>
            </a:endParaRPr>
          </a:p>
          <a:p>
            <a:pPr marL="457200" lvl="1" indent="0">
              <a:buFont typeface="Wingdings" panose="05000000000000000000" pitchFamily="2" charset="2"/>
              <a:buNone/>
              <a:defRPr/>
            </a:pPr>
            <a:r>
              <a:rPr lang="zh-CN" altLang="en-US" b="1" dirty="0" smtClean="0">
                <a:cs typeface="+mn-ea"/>
              </a:rPr>
              <a:t>  实验用时：</a:t>
            </a:r>
            <a:r>
              <a:rPr lang="en-US" altLang="zh-CN" b="1" dirty="0" smtClean="0">
                <a:cs typeface="+mn-ea"/>
              </a:rPr>
              <a:t>2</a:t>
            </a:r>
            <a:r>
              <a:rPr lang="zh-CN" altLang="en-US" b="1" dirty="0" smtClean="0">
                <a:cs typeface="+mn-ea"/>
              </a:rPr>
              <a:t>学时。</a:t>
            </a:r>
            <a:endParaRPr lang="zh-CN" altLang="en-US" b="1" dirty="0" smtClean="0">
              <a:cs typeface="+mn-ea"/>
            </a:endParaRPr>
          </a:p>
        </p:txBody>
      </p:sp>
      <p:sp>
        <p:nvSpPr>
          <p:cNvPr id="5" name="圆角矩形 4"/>
          <p:cNvSpPr/>
          <p:nvPr/>
        </p:nvSpPr>
        <p:spPr bwMode="gray">
          <a:xfrm>
            <a:off x="400050" y="1295400"/>
            <a:ext cx="8210550" cy="4513263"/>
          </a:xfrm>
          <a:prstGeom prst="roundRect">
            <a:avLst/>
          </a:prstGeom>
          <a:noFill/>
        </p:spPr>
        <p:style>
          <a:lnRef idx="2">
            <a:schemeClr val="accent1"/>
          </a:lnRef>
          <a:fillRef idx="1">
            <a:schemeClr val="lt1"/>
          </a:fillRef>
          <a:effectRef idx="0">
            <a:schemeClr val="accent1"/>
          </a:effectRef>
          <a:fontRef idx="minor">
            <a:schemeClr val="dk1"/>
          </a:fontRef>
        </p:style>
        <p:txBody>
          <a:bodyPr anchor="ctr" anchorCtr="1">
            <a:normAutofit/>
          </a:bodyPr>
          <a:lstStyle/>
          <a:p>
            <a:pPr>
              <a:spcBef>
                <a:spcPct val="20000"/>
              </a:spcBef>
              <a:buFont typeface="Wingdings" panose="05000000000000000000" pitchFamily="2" charset="2"/>
              <a:buNone/>
              <a:defRPr/>
            </a:pPr>
            <a:r>
              <a:rPr lang="zh-CN" altLang="en-US" sz="2500" b="1" dirty="0">
                <a:solidFill>
                  <a:schemeClr val="tx1"/>
                </a:solidFill>
                <a:latin typeface="Arial" panose="020B0604020202020204" pitchFamily="34" charset="0"/>
              </a:rPr>
              <a:t>      </a:t>
            </a:r>
            <a:endParaRPr lang="zh-CN" altLang="en-US" sz="2500" b="1" dirty="0">
              <a:solidFill>
                <a:schemeClr val="tx1"/>
              </a:solidFill>
              <a:latin typeface="Arial" panose="020B0604020202020204"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Grp="1" noChangeArrowheads="1"/>
          </p:cNvSpPr>
          <p:nvPr>
            <p:ph type="body" idx="4294967295"/>
          </p:nvPr>
        </p:nvSpPr>
        <p:spPr>
          <a:xfrm>
            <a:off x="0" y="1219200"/>
            <a:ext cx="8686800" cy="2362200"/>
          </a:xfrm>
        </p:spPr>
        <p:txBody>
          <a:bodyPr/>
          <a:lstStyle/>
          <a:p>
            <a:pPr lvl="1">
              <a:defRPr/>
            </a:pPr>
            <a:r>
              <a:rPr lang="en-US" altLang="zh-CN" sz="2800" b="1" dirty="0" smtClean="0">
                <a:solidFill>
                  <a:srgbClr val="FF0000"/>
                </a:solidFill>
                <a:latin typeface="Times New Roman" panose="02020603050405020304" pitchFamily="18" charset="0"/>
                <a:cs typeface="+mn-ea"/>
              </a:rPr>
              <a:t>10.8.3 </a:t>
            </a:r>
            <a:r>
              <a:rPr lang="zh-CN" altLang="en-US" sz="2800" b="1" dirty="0" smtClean="0">
                <a:solidFill>
                  <a:srgbClr val="FF0000"/>
                </a:solidFill>
                <a:latin typeface="Times New Roman" panose="02020603050405020304" pitchFamily="18" charset="0"/>
                <a:cs typeface="+mn-ea"/>
              </a:rPr>
              <a:t>实验内容及步骤</a:t>
            </a:r>
            <a:endParaRPr lang="zh-CN" altLang="en-US" sz="2800" b="1" dirty="0" smtClean="0">
              <a:solidFill>
                <a:srgbClr val="FF0000"/>
              </a:solidFill>
              <a:latin typeface="Times New Roman" panose="02020603050405020304" pitchFamily="18" charset="0"/>
              <a:cs typeface="+mn-ea"/>
            </a:endParaRPr>
          </a:p>
          <a:p>
            <a:pPr lvl="1">
              <a:defRPr/>
            </a:pPr>
            <a:r>
              <a:rPr lang="en-US" altLang="zh-CN" b="1" dirty="0" smtClean="0">
                <a:solidFill>
                  <a:srgbClr val="CC0000"/>
                </a:solidFill>
                <a:cs typeface="+mn-ea"/>
              </a:rPr>
              <a:t>1</a:t>
            </a:r>
            <a:r>
              <a:rPr lang="zh-CN" altLang="en-US" b="1" dirty="0" smtClean="0">
                <a:solidFill>
                  <a:srgbClr val="CC0000"/>
                </a:solidFill>
                <a:cs typeface="+mn-ea"/>
              </a:rPr>
              <a:t>．查看</a:t>
            </a:r>
            <a:r>
              <a:rPr lang="en-US" altLang="zh-CN" b="1" dirty="0" smtClean="0">
                <a:solidFill>
                  <a:srgbClr val="CC0000"/>
                </a:solidFill>
                <a:cs typeface="+mn-ea"/>
              </a:rPr>
              <a:t>User</a:t>
            </a:r>
            <a:r>
              <a:rPr lang="zh-CN" altLang="en-US" b="1" dirty="0" smtClean="0">
                <a:solidFill>
                  <a:srgbClr val="CC0000"/>
                </a:solidFill>
                <a:cs typeface="+mn-ea"/>
              </a:rPr>
              <a:t>表</a:t>
            </a:r>
            <a:endParaRPr lang="zh-CN" altLang="en-US" b="1" dirty="0" smtClean="0">
              <a:solidFill>
                <a:srgbClr val="CC0000"/>
              </a:solidFill>
              <a:cs typeface="+mn-ea"/>
            </a:endParaRPr>
          </a:p>
          <a:p>
            <a:pPr marL="457200" lvl="1" indent="0">
              <a:buFont typeface="Wingdings" panose="05000000000000000000" pitchFamily="2" charset="2"/>
              <a:buNone/>
              <a:defRPr/>
            </a:pPr>
            <a:r>
              <a:rPr lang="zh-CN" altLang="en-US" sz="2000" b="1" dirty="0" smtClean="0">
                <a:latin typeface="Times New Roman" panose="02020603050405020304" pitchFamily="18" charset="0"/>
                <a:cs typeface="+mn-ea"/>
              </a:rPr>
              <a:t>    </a:t>
            </a:r>
            <a:r>
              <a:rPr lang="en-US" altLang="zh-CN" sz="2000" b="1" dirty="0" smtClean="0">
                <a:latin typeface="Times New Roman" panose="02020603050405020304" pitchFamily="18" charset="0"/>
                <a:cs typeface="+mn-ea"/>
              </a:rPr>
              <a:t>use </a:t>
            </a:r>
            <a:r>
              <a:rPr lang="en-US" altLang="zh-CN" sz="2000" b="1" dirty="0" err="1" smtClean="0">
                <a:latin typeface="Times New Roman" panose="02020603050405020304" pitchFamily="18" charset="0"/>
                <a:cs typeface="+mn-ea"/>
              </a:rPr>
              <a:t>mysql</a:t>
            </a:r>
            <a:endParaRPr lang="en-US" altLang="zh-CN" sz="2000" b="1" dirty="0" smtClean="0">
              <a:latin typeface="Times New Roman" panose="02020603050405020304" pitchFamily="18" charset="0"/>
              <a:cs typeface="+mn-ea"/>
            </a:endParaRPr>
          </a:p>
          <a:p>
            <a:pPr marL="457200" lvl="1" indent="0">
              <a:buFont typeface="Wingdings" panose="05000000000000000000" pitchFamily="2" charset="2"/>
              <a:buNone/>
              <a:defRPr/>
            </a:pPr>
            <a:r>
              <a:rPr lang="en-US" altLang="zh-CN" sz="2000" b="1" dirty="0" smtClean="0">
                <a:latin typeface="Times New Roman" panose="02020603050405020304" pitchFamily="18" charset="0"/>
                <a:cs typeface="+mn-ea"/>
              </a:rPr>
              <a:t>    select </a:t>
            </a:r>
            <a:r>
              <a:rPr lang="en-US" altLang="zh-CN" sz="2000" b="1" dirty="0" err="1" smtClean="0">
                <a:latin typeface="Times New Roman" panose="02020603050405020304" pitchFamily="18" charset="0"/>
                <a:cs typeface="+mn-ea"/>
              </a:rPr>
              <a:t>Host,User,Password,Select_priv,Grant_priv</a:t>
            </a:r>
            <a:r>
              <a:rPr lang="en-US" altLang="zh-CN" sz="2000" b="1" dirty="0" smtClean="0">
                <a:latin typeface="Times New Roman" panose="02020603050405020304" pitchFamily="18" charset="0"/>
                <a:cs typeface="+mn-ea"/>
              </a:rPr>
              <a:t> form user;</a:t>
            </a:r>
            <a:endParaRPr lang="en-US" altLang="zh-CN" sz="2000" b="1" dirty="0" smtClean="0">
              <a:latin typeface="Times New Roman" panose="02020603050405020304" pitchFamily="18" charset="0"/>
              <a:cs typeface="+mn-ea"/>
            </a:endParaRPr>
          </a:p>
          <a:p>
            <a:pPr marL="457200" lvl="1" indent="0">
              <a:buFont typeface="Wingdings" panose="05000000000000000000" pitchFamily="2" charset="2"/>
              <a:buNone/>
              <a:defRPr/>
            </a:pPr>
            <a:r>
              <a:rPr lang="zh-CN" altLang="en-US" sz="2000" b="1" dirty="0" smtClean="0">
                <a:latin typeface="Times New Roman" panose="02020603050405020304" pitchFamily="18" charset="0"/>
                <a:cs typeface="+mn-ea"/>
              </a:rPr>
              <a:t>    结果如图</a:t>
            </a:r>
            <a:r>
              <a:rPr lang="en-US" altLang="zh-CN" sz="2000" b="1" dirty="0" smtClean="0">
                <a:latin typeface="Times New Roman" panose="02020603050405020304" pitchFamily="18" charset="0"/>
                <a:cs typeface="+mn-ea"/>
              </a:rPr>
              <a:t>10-19</a:t>
            </a:r>
            <a:r>
              <a:rPr lang="zh-CN" altLang="en-US" sz="2000" b="1" dirty="0" smtClean="0">
                <a:latin typeface="Times New Roman" panose="02020603050405020304" pitchFamily="18" charset="0"/>
                <a:cs typeface="+mn-ea"/>
              </a:rPr>
              <a:t>所示。</a:t>
            </a:r>
            <a:endParaRPr lang="zh-CN" altLang="en-US" sz="2000" b="1" dirty="0" smtClean="0">
              <a:latin typeface="Times New Roman" panose="02020603050405020304" pitchFamily="18" charset="0"/>
              <a:cs typeface="+mn-ea"/>
            </a:endParaRPr>
          </a:p>
        </p:txBody>
      </p:sp>
      <p:sp>
        <p:nvSpPr>
          <p:cNvPr id="58370" name="Rectangle 2"/>
          <p:cNvSpPr>
            <a:spLocks noChangeArrowheads="1"/>
          </p:cNvSpPr>
          <p:nvPr/>
        </p:nvSpPr>
        <p:spPr bwMode="auto">
          <a:xfrm>
            <a:off x="457200" y="152400"/>
            <a:ext cx="8305800" cy="563563"/>
          </a:xfrm>
          <a:prstGeom prst="rect">
            <a:avLst/>
          </a:prstGeom>
          <a:noFill/>
          <a:ln w="9525">
            <a:noFill/>
            <a:miter lim="800000"/>
          </a:ln>
        </p:spPr>
        <p:txBody>
          <a:bodyPr anchor="ctr"/>
          <a:lstStyle/>
          <a:p>
            <a:pPr eaLnBrk="0" hangingPunct="0">
              <a:spcBef>
                <a:spcPct val="20000"/>
              </a:spcBef>
              <a:buFont typeface="Wingdings" panose="05000000000000000000" pitchFamily="2" charset="2"/>
              <a:buNone/>
            </a:pPr>
            <a:r>
              <a:rPr lang="en-US" altLang="zh-CN" sz="2800" b="1">
                <a:solidFill>
                  <a:schemeClr val="bg1"/>
                </a:solidFill>
                <a:latin typeface="Verdana" panose="020B0604030504040204" pitchFamily="34" charset="0"/>
              </a:rPr>
              <a:t>10.8 MySQL</a:t>
            </a:r>
            <a:r>
              <a:rPr lang="zh-CN" altLang="en-US" sz="2800" b="1">
                <a:solidFill>
                  <a:schemeClr val="bg1"/>
                </a:solidFill>
                <a:latin typeface="Verdana" panose="020B0604030504040204" pitchFamily="34" charset="0"/>
              </a:rPr>
              <a:t>用户安全管理实验</a:t>
            </a:r>
            <a:endParaRPr lang="zh-CN" altLang="en-US" sz="2800" b="1">
              <a:solidFill>
                <a:schemeClr val="bg1"/>
              </a:solidFill>
              <a:latin typeface="Verdana" panose="020B0604030504040204" pitchFamily="34" charset="0"/>
            </a:endParaRPr>
          </a:p>
        </p:txBody>
      </p:sp>
      <p:sp>
        <p:nvSpPr>
          <p:cNvPr id="58371" name="Rectangle 6"/>
          <p:cNvSpPr>
            <a:spLocks noChangeArrowheads="1"/>
          </p:cNvSpPr>
          <p:nvPr/>
        </p:nvSpPr>
        <p:spPr bwMode="auto">
          <a:xfrm>
            <a:off x="3725863" y="6019800"/>
            <a:ext cx="1768475" cy="307975"/>
          </a:xfrm>
          <a:prstGeom prst="rect">
            <a:avLst/>
          </a:prstGeom>
          <a:noFill/>
          <a:ln w="9525">
            <a:noFill/>
            <a:miter lim="800000"/>
          </a:ln>
        </p:spPr>
        <p:txBody>
          <a:bodyPr wrap="none">
            <a:spAutoFit/>
          </a:bodyPr>
          <a:lstStyle/>
          <a:p>
            <a:pPr algn="dist">
              <a:spcBef>
                <a:spcPct val="20000"/>
              </a:spcBef>
              <a:buFont typeface="Wingdings" panose="05000000000000000000" pitchFamily="2" charset="2"/>
              <a:buNone/>
            </a:pPr>
            <a:r>
              <a:rPr lang="zh-CN" altLang="en-US" sz="1400" b="1">
                <a:solidFill>
                  <a:schemeClr val="tx2"/>
                </a:solidFill>
              </a:rPr>
              <a:t>图</a:t>
            </a:r>
            <a:r>
              <a:rPr lang="en-US" altLang="zh-CN" sz="1400" b="1">
                <a:solidFill>
                  <a:schemeClr val="tx2"/>
                </a:solidFill>
              </a:rPr>
              <a:t>10-19 </a:t>
            </a:r>
            <a:r>
              <a:rPr lang="zh-CN" altLang="en-US" sz="1400" b="1">
                <a:solidFill>
                  <a:schemeClr val="tx2"/>
                </a:solidFill>
              </a:rPr>
              <a:t>安全性属性</a:t>
            </a:r>
            <a:endParaRPr lang="zh-CN" altLang="en-US" sz="1400" b="1">
              <a:solidFill>
                <a:schemeClr val="tx2"/>
              </a:solidFill>
            </a:endParaRPr>
          </a:p>
        </p:txBody>
      </p:sp>
      <p:pic>
        <p:nvPicPr>
          <p:cNvPr id="58372" name="图片 101" descr="4"/>
          <p:cNvPicPr>
            <a:picLocks noChangeAspect="1" noChangeArrowheads="1"/>
          </p:cNvPicPr>
          <p:nvPr/>
        </p:nvPicPr>
        <p:blipFill>
          <a:blip r:embed="rId1" cstate="print"/>
          <a:srcRect/>
          <a:stretch>
            <a:fillRect/>
          </a:stretch>
        </p:blipFill>
        <p:spPr bwMode="auto">
          <a:xfrm>
            <a:off x="1620838" y="3549650"/>
            <a:ext cx="5694362" cy="2139950"/>
          </a:xfrm>
          <a:prstGeom prst="rect">
            <a:avLst/>
          </a:prstGeom>
          <a:noFill/>
          <a:ln w="9525">
            <a:noFill/>
            <a:miter lim="800000"/>
            <a:headEnd/>
            <a:tailEnd/>
          </a:ln>
        </p:spPr>
      </p:pic>
      <p:sp>
        <p:nvSpPr>
          <p:cNvPr id="5" name="圆角矩形 4"/>
          <p:cNvSpPr/>
          <p:nvPr/>
        </p:nvSpPr>
        <p:spPr bwMode="gray">
          <a:xfrm>
            <a:off x="400050" y="1295400"/>
            <a:ext cx="8210550" cy="4513263"/>
          </a:xfrm>
          <a:prstGeom prst="roundRect">
            <a:avLst/>
          </a:prstGeom>
          <a:noFill/>
        </p:spPr>
        <p:style>
          <a:lnRef idx="2">
            <a:schemeClr val="accent1"/>
          </a:lnRef>
          <a:fillRef idx="1">
            <a:schemeClr val="lt1"/>
          </a:fillRef>
          <a:effectRef idx="0">
            <a:schemeClr val="accent1"/>
          </a:effectRef>
          <a:fontRef idx="minor">
            <a:schemeClr val="dk1"/>
          </a:fontRef>
        </p:style>
        <p:txBody>
          <a:bodyPr anchor="ctr" anchorCtr="1">
            <a:normAutofit/>
          </a:bodyPr>
          <a:lstStyle/>
          <a:p>
            <a:pPr>
              <a:spcBef>
                <a:spcPct val="20000"/>
              </a:spcBef>
              <a:buFont typeface="Wingdings" panose="05000000000000000000" pitchFamily="2" charset="2"/>
              <a:buNone/>
              <a:defRPr/>
            </a:pPr>
            <a:r>
              <a:rPr lang="zh-CN" altLang="en-US" sz="2500" b="1" dirty="0">
                <a:solidFill>
                  <a:schemeClr val="tx1"/>
                </a:solidFill>
                <a:latin typeface="Arial" panose="020B0604020202020204" pitchFamily="34" charset="0"/>
              </a:rPr>
              <a:t>      </a:t>
            </a:r>
            <a:endParaRPr lang="zh-CN" altLang="en-US" sz="2500" b="1" dirty="0">
              <a:solidFill>
                <a:schemeClr val="tx1"/>
              </a:solidFill>
              <a:latin typeface="Arial" panose="020B0604020202020204"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Grp="1" noChangeArrowheads="1"/>
          </p:cNvSpPr>
          <p:nvPr>
            <p:ph type="body" idx="4294967295"/>
          </p:nvPr>
        </p:nvSpPr>
        <p:spPr>
          <a:xfrm>
            <a:off x="304800" y="1219200"/>
            <a:ext cx="8382000" cy="4953000"/>
          </a:xfrm>
        </p:spPr>
        <p:txBody>
          <a:bodyPr/>
          <a:lstStyle/>
          <a:p>
            <a:pPr lvl="1">
              <a:defRPr/>
            </a:pPr>
            <a:r>
              <a:rPr lang="en-US" altLang="zh-CN" b="1" dirty="0">
                <a:solidFill>
                  <a:srgbClr val="CC0000"/>
                </a:solidFill>
                <a:cs typeface="+mn-ea"/>
              </a:rPr>
              <a:t>4</a:t>
            </a:r>
            <a:r>
              <a:rPr lang="zh-CN" altLang="en-US" b="1" dirty="0" smtClean="0">
                <a:solidFill>
                  <a:srgbClr val="CC0000"/>
                </a:solidFill>
                <a:cs typeface="+mn-ea"/>
              </a:rPr>
              <a:t>．</a:t>
            </a:r>
            <a:r>
              <a:rPr lang="en-US" altLang="zh-CN" b="1" dirty="0" smtClean="0">
                <a:solidFill>
                  <a:srgbClr val="CC0000"/>
                </a:solidFill>
                <a:cs typeface="+mn-ea"/>
              </a:rPr>
              <a:t>MySQL</a:t>
            </a:r>
            <a:r>
              <a:rPr lang="zh-CN" altLang="en-US" b="1" dirty="0" smtClean="0">
                <a:solidFill>
                  <a:srgbClr val="CC0000"/>
                </a:solidFill>
                <a:cs typeface="+mn-ea"/>
              </a:rPr>
              <a:t>授权表的结构与内容</a:t>
            </a:r>
            <a:endParaRPr lang="zh-CN" altLang="en-US" b="1" dirty="0">
              <a:solidFill>
                <a:srgbClr val="CC0000"/>
              </a:solidFill>
              <a:cs typeface="+mn-ea"/>
            </a:endParaRPr>
          </a:p>
          <a:p>
            <a:pPr marL="457200" lvl="1" indent="0">
              <a:buFont typeface="Wingdings" panose="05000000000000000000" pitchFamily="2" charset="2"/>
              <a:buNone/>
              <a:defRPr/>
            </a:pPr>
            <a:r>
              <a:rPr lang="zh-CN" altLang="en-US" sz="2000" b="1" dirty="0" smtClean="0">
                <a:latin typeface="Times New Roman" panose="02020603050405020304" pitchFamily="18" charset="0"/>
                <a:cs typeface="+mn-ea"/>
              </a:rPr>
              <a:t>（</a:t>
            </a:r>
            <a:r>
              <a:rPr lang="en-US" altLang="zh-CN" sz="2000" b="1" dirty="0" smtClean="0">
                <a:latin typeface="Times New Roman" panose="02020603050405020304" pitchFamily="18" charset="0"/>
                <a:cs typeface="+mn-ea"/>
              </a:rPr>
              <a:t>1</a:t>
            </a:r>
            <a:r>
              <a:rPr lang="zh-CN" altLang="en-US" sz="2000" b="1" dirty="0" smtClean="0">
                <a:latin typeface="Times New Roman" panose="02020603050405020304" pitchFamily="18" charset="0"/>
                <a:cs typeface="+mn-ea"/>
              </a:rPr>
              <a:t>）</a:t>
            </a:r>
            <a:r>
              <a:rPr lang="en-US" altLang="zh-CN" sz="2000" b="1" dirty="0" err="1" smtClean="0">
                <a:latin typeface="Times New Roman" panose="02020603050405020304" pitchFamily="18" charset="0"/>
                <a:cs typeface="+mn-ea"/>
              </a:rPr>
              <a:t>Desc</a:t>
            </a:r>
            <a:r>
              <a:rPr lang="en-US" altLang="zh-CN" sz="2000" b="1" dirty="0" smtClean="0">
                <a:latin typeface="Times New Roman" panose="02020603050405020304" pitchFamily="18" charset="0"/>
                <a:cs typeface="+mn-ea"/>
              </a:rPr>
              <a:t> user</a:t>
            </a:r>
            <a:endParaRPr lang="en-US" altLang="zh-CN" sz="2000" b="1" dirty="0" smtClean="0">
              <a:latin typeface="Times New Roman" panose="02020603050405020304" pitchFamily="18" charset="0"/>
              <a:cs typeface="+mn-ea"/>
            </a:endParaRPr>
          </a:p>
          <a:p>
            <a:pPr marL="457200" lvl="1" indent="0">
              <a:buFont typeface="Wingdings" panose="05000000000000000000" pitchFamily="2" charset="2"/>
              <a:buNone/>
              <a:defRPr/>
            </a:pPr>
            <a:r>
              <a:rPr lang="en-US" altLang="zh-CN" sz="2000" b="1" dirty="0" smtClean="0">
                <a:latin typeface="Times New Roman" panose="02020603050405020304" pitchFamily="18" charset="0"/>
                <a:cs typeface="+mn-ea"/>
              </a:rPr>
              <a:t> User </a:t>
            </a:r>
            <a:r>
              <a:rPr lang="zh-CN" altLang="en-US" sz="2000" b="1" dirty="0" smtClean="0">
                <a:latin typeface="Times New Roman" panose="02020603050405020304" pitchFamily="18" charset="0"/>
                <a:cs typeface="+mn-ea"/>
              </a:rPr>
              <a:t>表是授权表中最重要的一个，</a:t>
            </a:r>
            <a:r>
              <a:rPr lang="en-US" altLang="zh-CN" sz="2000" b="1" dirty="0" err="1" smtClean="0">
                <a:latin typeface="Times New Roman" panose="02020603050405020304" pitchFamily="18" charset="0"/>
                <a:cs typeface="+mn-ea"/>
              </a:rPr>
              <a:t>Desc</a:t>
            </a:r>
            <a:r>
              <a:rPr lang="en-US" altLang="zh-CN" sz="2000" b="1" dirty="0" smtClean="0">
                <a:latin typeface="Times New Roman" panose="02020603050405020304" pitchFamily="18" charset="0"/>
                <a:cs typeface="+mn-ea"/>
              </a:rPr>
              <a:t> user</a:t>
            </a:r>
            <a:r>
              <a:rPr lang="zh-CN" altLang="en-US" sz="2000" b="1" dirty="0" smtClean="0">
                <a:latin typeface="Times New Roman" panose="02020603050405020304" pitchFamily="18" charset="0"/>
                <a:cs typeface="+mn-ea"/>
              </a:rPr>
              <a:t>命令可列出可以连接服务器的用户及其加密口令，并且它指定它们有哪种全局</a:t>
            </a:r>
            <a:r>
              <a:rPr lang="en-US" altLang="zh-CN" sz="2000" b="1" dirty="0" smtClean="0">
                <a:latin typeface="Times New Roman" panose="02020603050405020304" pitchFamily="18" charset="0"/>
                <a:cs typeface="+mn-ea"/>
              </a:rPr>
              <a:t>(</a:t>
            </a:r>
            <a:r>
              <a:rPr lang="zh-CN" altLang="en-US" sz="2000" b="1" dirty="0" smtClean="0">
                <a:latin typeface="Times New Roman" panose="02020603050405020304" pitchFamily="18" charset="0"/>
                <a:cs typeface="+mn-ea"/>
              </a:rPr>
              <a:t>超级用户</a:t>
            </a:r>
            <a:r>
              <a:rPr lang="en-US" altLang="zh-CN" sz="2000" b="1" dirty="0" smtClean="0">
                <a:latin typeface="Times New Roman" panose="02020603050405020304" pitchFamily="18" charset="0"/>
                <a:cs typeface="+mn-ea"/>
              </a:rPr>
              <a:t>)</a:t>
            </a:r>
            <a:r>
              <a:rPr lang="zh-CN" altLang="en-US" sz="2000" b="1" dirty="0" smtClean="0">
                <a:latin typeface="Times New Roman" panose="02020603050405020304" pitchFamily="18" charset="0"/>
                <a:cs typeface="+mn-ea"/>
              </a:rPr>
              <a:t>权限。在</a:t>
            </a:r>
            <a:r>
              <a:rPr lang="en-US" altLang="zh-CN" sz="2000" b="1" dirty="0" smtClean="0">
                <a:latin typeface="Times New Roman" panose="02020603050405020304" pitchFamily="18" charset="0"/>
                <a:cs typeface="+mn-ea"/>
              </a:rPr>
              <a:t>User</a:t>
            </a:r>
            <a:r>
              <a:rPr lang="zh-CN" altLang="en-US" sz="2000" b="1" dirty="0" smtClean="0">
                <a:latin typeface="Times New Roman" panose="02020603050405020304" pitchFamily="18" charset="0"/>
                <a:cs typeface="+mn-ea"/>
              </a:rPr>
              <a:t>表启用的任何权限均是全局权限，并适用于所有数据库。所以我们不能给任何用户访问</a:t>
            </a:r>
            <a:r>
              <a:rPr lang="en-US" altLang="zh-CN" sz="2000" b="1" dirty="0" err="1" smtClean="0">
                <a:latin typeface="Times New Roman" panose="02020603050405020304" pitchFamily="18" charset="0"/>
                <a:cs typeface="+mn-ea"/>
              </a:rPr>
              <a:t>mysql.user</a:t>
            </a:r>
            <a:r>
              <a:rPr lang="zh-CN" altLang="en-US" sz="2000" b="1" dirty="0" smtClean="0">
                <a:latin typeface="Times New Roman" panose="02020603050405020304" pitchFamily="18" charset="0"/>
                <a:cs typeface="+mn-ea"/>
              </a:rPr>
              <a:t>表的权限。</a:t>
            </a:r>
            <a:endParaRPr lang="zh-CN" altLang="en-US" sz="2000" b="1" dirty="0" smtClean="0">
              <a:latin typeface="Times New Roman" panose="02020603050405020304" pitchFamily="18" charset="0"/>
              <a:cs typeface="+mn-ea"/>
            </a:endParaRPr>
          </a:p>
          <a:p>
            <a:pPr marL="457200" lvl="1" indent="0">
              <a:buFont typeface="Wingdings" panose="05000000000000000000" pitchFamily="2" charset="2"/>
              <a:buNone/>
              <a:defRPr/>
            </a:pPr>
            <a:r>
              <a:rPr lang="zh-CN" altLang="en-US" sz="2000" b="1" dirty="0" smtClean="0">
                <a:latin typeface="Times New Roman" panose="02020603050405020304" pitchFamily="18" charset="0"/>
                <a:cs typeface="+mn-ea"/>
              </a:rPr>
              <a:t>（</a:t>
            </a:r>
            <a:r>
              <a:rPr lang="en-US" altLang="zh-CN" sz="2000" b="1" dirty="0" smtClean="0">
                <a:latin typeface="Times New Roman" panose="02020603050405020304" pitchFamily="18" charset="0"/>
                <a:cs typeface="+mn-ea"/>
              </a:rPr>
              <a:t>2</a:t>
            </a:r>
            <a:r>
              <a:rPr lang="zh-CN" altLang="en-US" sz="2000" b="1" dirty="0" smtClean="0">
                <a:latin typeface="Times New Roman" panose="02020603050405020304" pitchFamily="18" charset="0"/>
                <a:cs typeface="+mn-ea"/>
              </a:rPr>
              <a:t>）</a:t>
            </a:r>
            <a:r>
              <a:rPr lang="en-US" altLang="zh-CN" sz="2000" b="1" dirty="0" err="1" smtClean="0">
                <a:latin typeface="Times New Roman" panose="02020603050405020304" pitchFamily="18" charset="0"/>
                <a:cs typeface="+mn-ea"/>
              </a:rPr>
              <a:t>Desc</a:t>
            </a:r>
            <a:r>
              <a:rPr lang="en-US" altLang="zh-CN" sz="2000" b="1" dirty="0" smtClean="0">
                <a:latin typeface="Times New Roman" panose="02020603050405020304" pitchFamily="18" charset="0"/>
                <a:cs typeface="+mn-ea"/>
              </a:rPr>
              <a:t> </a:t>
            </a:r>
            <a:r>
              <a:rPr lang="en-US" altLang="zh-CN" sz="2000" b="1" dirty="0" err="1" smtClean="0">
                <a:latin typeface="Times New Roman" panose="02020603050405020304" pitchFamily="18" charset="0"/>
                <a:cs typeface="+mn-ea"/>
              </a:rPr>
              <a:t>db</a:t>
            </a:r>
            <a:endParaRPr lang="en-US" altLang="zh-CN" sz="2000" b="1" dirty="0" smtClean="0">
              <a:latin typeface="Times New Roman" panose="02020603050405020304" pitchFamily="18" charset="0"/>
              <a:cs typeface="+mn-ea"/>
            </a:endParaRPr>
          </a:p>
          <a:p>
            <a:pPr marL="457200" lvl="1" indent="0">
              <a:buFont typeface="Wingdings" panose="05000000000000000000" pitchFamily="2" charset="2"/>
              <a:buNone/>
              <a:defRPr/>
            </a:pPr>
            <a:r>
              <a:rPr lang="zh-CN" altLang="en-US" sz="2000" b="1" dirty="0" smtClean="0">
                <a:latin typeface="Times New Roman" panose="02020603050405020304" pitchFamily="18" charset="0"/>
                <a:cs typeface="+mn-ea"/>
              </a:rPr>
              <a:t>该命令用于查看</a:t>
            </a:r>
            <a:r>
              <a:rPr lang="en-US" altLang="zh-CN" sz="2000" b="1" dirty="0" err="1" smtClean="0">
                <a:latin typeface="Times New Roman" panose="02020603050405020304" pitchFamily="18" charset="0"/>
                <a:cs typeface="+mn-ea"/>
              </a:rPr>
              <a:t>Db</a:t>
            </a:r>
            <a:r>
              <a:rPr lang="zh-CN" altLang="en-US" sz="2000" b="1" dirty="0" smtClean="0">
                <a:latin typeface="Times New Roman" panose="02020603050405020304" pitchFamily="18" charset="0"/>
                <a:cs typeface="+mn-ea"/>
              </a:rPr>
              <a:t>表，列出所有数据库，而用户有权限访问它们。在这里指定的权限适用于一个数据库中的所有表。</a:t>
            </a:r>
            <a:endParaRPr lang="zh-CN" altLang="en-US" sz="2000" b="1" dirty="0" smtClean="0">
              <a:latin typeface="Times New Roman" panose="02020603050405020304" pitchFamily="18" charset="0"/>
              <a:cs typeface="+mn-ea"/>
            </a:endParaRPr>
          </a:p>
          <a:p>
            <a:pPr marL="457200" lvl="1" indent="0">
              <a:buFont typeface="Wingdings" panose="05000000000000000000" pitchFamily="2" charset="2"/>
              <a:buNone/>
              <a:defRPr/>
            </a:pPr>
            <a:r>
              <a:rPr lang="zh-CN" altLang="en-US" sz="2000" b="1" dirty="0" smtClean="0">
                <a:latin typeface="Times New Roman" panose="02020603050405020304" pitchFamily="18" charset="0"/>
                <a:cs typeface="+mn-ea"/>
              </a:rPr>
              <a:t>（</a:t>
            </a:r>
            <a:r>
              <a:rPr lang="en-US" altLang="zh-CN" sz="2000" b="1" dirty="0" smtClean="0">
                <a:latin typeface="Times New Roman" panose="02020603050405020304" pitchFamily="18" charset="0"/>
                <a:cs typeface="+mn-ea"/>
              </a:rPr>
              <a:t>3</a:t>
            </a:r>
            <a:r>
              <a:rPr lang="zh-CN" altLang="en-US" sz="2000" b="1" dirty="0" smtClean="0">
                <a:latin typeface="Times New Roman" panose="02020603050405020304" pitchFamily="18" charset="0"/>
                <a:cs typeface="+mn-ea"/>
              </a:rPr>
              <a:t>）</a:t>
            </a:r>
            <a:r>
              <a:rPr lang="en-US" altLang="zh-CN" sz="2000" b="1" dirty="0" err="1" smtClean="0">
                <a:latin typeface="Times New Roman" panose="02020603050405020304" pitchFamily="18" charset="0"/>
                <a:cs typeface="+mn-ea"/>
              </a:rPr>
              <a:t>Desc</a:t>
            </a:r>
            <a:r>
              <a:rPr lang="en-US" altLang="zh-CN" sz="2000" b="1" dirty="0" smtClean="0">
                <a:latin typeface="Times New Roman" panose="02020603050405020304" pitchFamily="18" charset="0"/>
                <a:cs typeface="+mn-ea"/>
              </a:rPr>
              <a:t> host</a:t>
            </a:r>
            <a:endParaRPr lang="en-US" altLang="zh-CN" sz="2000" b="1" dirty="0" smtClean="0">
              <a:latin typeface="Times New Roman" panose="02020603050405020304" pitchFamily="18" charset="0"/>
              <a:cs typeface="+mn-ea"/>
            </a:endParaRPr>
          </a:p>
          <a:p>
            <a:pPr marL="457200" lvl="1" indent="0">
              <a:buFont typeface="Wingdings" panose="05000000000000000000" pitchFamily="2" charset="2"/>
              <a:buNone/>
              <a:defRPr/>
            </a:pPr>
            <a:r>
              <a:rPr lang="en-US" altLang="zh-CN" sz="2000" b="1" dirty="0" smtClean="0">
                <a:latin typeface="Times New Roman" panose="02020603050405020304" pitchFamily="18" charset="0"/>
                <a:cs typeface="+mn-ea"/>
              </a:rPr>
              <a:t>Host</a:t>
            </a:r>
            <a:r>
              <a:rPr lang="zh-CN" altLang="en-US" sz="2000" b="1" dirty="0" smtClean="0">
                <a:latin typeface="Times New Roman" panose="02020603050405020304" pitchFamily="18" charset="0"/>
                <a:cs typeface="+mn-ea"/>
              </a:rPr>
              <a:t>表与</a:t>
            </a:r>
            <a:r>
              <a:rPr lang="en-US" altLang="zh-CN" sz="2000" b="1" dirty="0" err="1" smtClean="0">
                <a:latin typeface="Times New Roman" panose="02020603050405020304" pitchFamily="18" charset="0"/>
                <a:cs typeface="+mn-ea"/>
              </a:rPr>
              <a:t>db</a:t>
            </a:r>
            <a:r>
              <a:rPr lang="en-US" altLang="zh-CN" sz="2000" b="1" dirty="0" smtClean="0">
                <a:latin typeface="Times New Roman" panose="02020603050405020304" pitchFamily="18" charset="0"/>
                <a:cs typeface="+mn-ea"/>
              </a:rPr>
              <a:t> </a:t>
            </a:r>
            <a:r>
              <a:rPr lang="zh-CN" altLang="en-US" sz="2000" b="1" dirty="0" smtClean="0">
                <a:latin typeface="Times New Roman" panose="02020603050405020304" pitchFamily="18" charset="0"/>
                <a:cs typeface="+mn-ea"/>
              </a:rPr>
              <a:t>表结合使用在一个较好层次上控制特定主机对数据库的访问权限，这可能比单独使用</a:t>
            </a:r>
            <a:r>
              <a:rPr lang="en-US" altLang="zh-CN" sz="2000" b="1" dirty="0" err="1" smtClean="0">
                <a:latin typeface="Times New Roman" panose="02020603050405020304" pitchFamily="18" charset="0"/>
                <a:cs typeface="+mn-ea"/>
              </a:rPr>
              <a:t>db</a:t>
            </a:r>
            <a:r>
              <a:rPr lang="en-US" altLang="zh-CN" sz="2000" b="1" dirty="0" smtClean="0">
                <a:latin typeface="Times New Roman" panose="02020603050405020304" pitchFamily="18" charset="0"/>
                <a:cs typeface="+mn-ea"/>
              </a:rPr>
              <a:t> </a:t>
            </a:r>
            <a:r>
              <a:rPr lang="zh-CN" altLang="en-US" sz="2000" b="1" dirty="0" smtClean="0">
                <a:latin typeface="Times New Roman" panose="02020603050405020304" pitchFamily="18" charset="0"/>
                <a:cs typeface="+mn-ea"/>
              </a:rPr>
              <a:t>好些。这个表不受</a:t>
            </a:r>
            <a:r>
              <a:rPr lang="en-US" altLang="zh-CN" sz="2000" b="1" dirty="0" smtClean="0">
                <a:latin typeface="Times New Roman" panose="02020603050405020304" pitchFamily="18" charset="0"/>
                <a:cs typeface="+mn-ea"/>
              </a:rPr>
              <a:t>GRANT</a:t>
            </a:r>
            <a:r>
              <a:rPr lang="zh-CN" altLang="en-US" sz="2000" b="1" dirty="0" smtClean="0">
                <a:latin typeface="Times New Roman" panose="02020603050405020304" pitchFamily="18" charset="0"/>
                <a:cs typeface="+mn-ea"/>
              </a:rPr>
              <a:t>和</a:t>
            </a:r>
            <a:r>
              <a:rPr lang="en-US" altLang="zh-CN" sz="2000" b="1" dirty="0" smtClean="0">
                <a:latin typeface="Times New Roman" panose="02020603050405020304" pitchFamily="18" charset="0"/>
                <a:cs typeface="+mn-ea"/>
              </a:rPr>
              <a:t>REVOKE</a:t>
            </a:r>
            <a:r>
              <a:rPr lang="zh-CN" altLang="en-US" sz="2000" b="1" dirty="0" smtClean="0">
                <a:latin typeface="Times New Roman" panose="02020603050405020304" pitchFamily="18" charset="0"/>
                <a:cs typeface="+mn-ea"/>
              </a:rPr>
              <a:t>语句的影响。</a:t>
            </a:r>
            <a:endParaRPr lang="zh-CN" altLang="en-US" sz="2000" b="1" dirty="0" smtClean="0">
              <a:latin typeface="Times New Roman" panose="02020603050405020304" pitchFamily="18" charset="0"/>
              <a:cs typeface="+mn-ea"/>
            </a:endParaRPr>
          </a:p>
        </p:txBody>
      </p:sp>
      <p:sp>
        <p:nvSpPr>
          <p:cNvPr id="59394" name="Rectangle 2"/>
          <p:cNvSpPr>
            <a:spLocks noChangeArrowheads="1"/>
          </p:cNvSpPr>
          <p:nvPr/>
        </p:nvSpPr>
        <p:spPr bwMode="auto">
          <a:xfrm>
            <a:off x="457200" y="152400"/>
            <a:ext cx="8305800" cy="563563"/>
          </a:xfrm>
          <a:prstGeom prst="rect">
            <a:avLst/>
          </a:prstGeom>
          <a:noFill/>
          <a:ln w="9525">
            <a:noFill/>
            <a:miter lim="800000"/>
          </a:ln>
        </p:spPr>
        <p:txBody>
          <a:bodyPr anchor="ctr"/>
          <a:lstStyle/>
          <a:p>
            <a:pPr eaLnBrk="0" hangingPunct="0">
              <a:spcBef>
                <a:spcPct val="20000"/>
              </a:spcBef>
              <a:buFont typeface="Wingdings" panose="05000000000000000000" pitchFamily="2" charset="2"/>
              <a:buNone/>
            </a:pPr>
            <a:r>
              <a:rPr lang="en-US" altLang="zh-CN" sz="2800" b="1">
                <a:solidFill>
                  <a:schemeClr val="bg1"/>
                </a:solidFill>
                <a:latin typeface="Verdana" panose="020B0604030504040204" pitchFamily="34" charset="0"/>
              </a:rPr>
              <a:t>10.8 MySQL</a:t>
            </a:r>
            <a:r>
              <a:rPr lang="zh-CN" altLang="en-US" sz="2800" b="1">
                <a:solidFill>
                  <a:schemeClr val="bg1"/>
                </a:solidFill>
                <a:latin typeface="Verdana" panose="020B0604030504040204" pitchFamily="34" charset="0"/>
              </a:rPr>
              <a:t>用户安全管理实验</a:t>
            </a:r>
            <a:endParaRPr lang="zh-CN" altLang="en-US" sz="2800" b="1">
              <a:solidFill>
                <a:schemeClr val="bg1"/>
              </a:solidFill>
              <a:latin typeface="Verdana" panose="020B0604030504040204" pitchFamily="34" charset="0"/>
            </a:endParaRPr>
          </a:p>
        </p:txBody>
      </p:sp>
      <p:sp>
        <p:nvSpPr>
          <p:cNvPr id="5" name="圆角矩形 4"/>
          <p:cNvSpPr/>
          <p:nvPr/>
        </p:nvSpPr>
        <p:spPr bwMode="gray">
          <a:xfrm>
            <a:off x="400050" y="1295400"/>
            <a:ext cx="8210550" cy="4513263"/>
          </a:xfrm>
          <a:prstGeom prst="roundRect">
            <a:avLst/>
          </a:prstGeom>
          <a:noFill/>
        </p:spPr>
        <p:style>
          <a:lnRef idx="2">
            <a:schemeClr val="accent1"/>
          </a:lnRef>
          <a:fillRef idx="1">
            <a:schemeClr val="lt1"/>
          </a:fillRef>
          <a:effectRef idx="0">
            <a:schemeClr val="accent1"/>
          </a:effectRef>
          <a:fontRef idx="minor">
            <a:schemeClr val="dk1"/>
          </a:fontRef>
        </p:style>
        <p:txBody>
          <a:bodyPr anchor="ctr" anchorCtr="1">
            <a:normAutofit/>
          </a:bodyPr>
          <a:lstStyle/>
          <a:p>
            <a:pPr>
              <a:spcBef>
                <a:spcPct val="20000"/>
              </a:spcBef>
              <a:buFont typeface="Wingdings" panose="05000000000000000000" pitchFamily="2" charset="2"/>
              <a:buNone/>
              <a:defRPr/>
            </a:pPr>
            <a:r>
              <a:rPr lang="zh-CN" altLang="en-US" sz="2500" b="1" dirty="0">
                <a:solidFill>
                  <a:schemeClr val="tx1"/>
                </a:solidFill>
                <a:latin typeface="Arial" panose="020B0604020202020204" pitchFamily="34" charset="0"/>
              </a:rPr>
              <a:t>      </a:t>
            </a:r>
            <a:endParaRPr lang="zh-CN" altLang="en-US" sz="2500" b="1" dirty="0">
              <a:solidFill>
                <a:schemeClr val="tx1"/>
              </a:solidFill>
              <a:latin typeface="Arial" panose="020B0604020202020204"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Grp="1" noChangeArrowheads="1"/>
          </p:cNvSpPr>
          <p:nvPr>
            <p:ph type="body" idx="4294967295"/>
          </p:nvPr>
        </p:nvSpPr>
        <p:spPr>
          <a:xfrm>
            <a:off x="304800" y="1219200"/>
            <a:ext cx="8382000" cy="4953000"/>
          </a:xfrm>
        </p:spPr>
        <p:txBody>
          <a:bodyPr/>
          <a:lstStyle/>
          <a:p>
            <a:pPr lvl="1"/>
            <a:r>
              <a:rPr lang="en-US" altLang="zh-CN" b="1" smtClean="0">
                <a:solidFill>
                  <a:srgbClr val="CC0000"/>
                </a:solidFill>
              </a:rPr>
              <a:t>5</a:t>
            </a:r>
            <a:r>
              <a:rPr lang="zh-CN" altLang="en-US" b="1" smtClean="0">
                <a:solidFill>
                  <a:srgbClr val="CC0000"/>
                </a:solidFill>
              </a:rPr>
              <a:t>．增加用户并授权</a:t>
            </a:r>
            <a:endParaRPr lang="zh-CN" altLang="en-US" b="1" smtClean="0">
              <a:solidFill>
                <a:srgbClr val="CC0000"/>
              </a:solidFill>
            </a:endParaRPr>
          </a:p>
          <a:p>
            <a:pPr lvl="1">
              <a:buFont typeface="Wingdings" panose="05000000000000000000" pitchFamily="2" charset="2"/>
              <a:buNone/>
            </a:pPr>
            <a:r>
              <a:rPr lang="en-US" altLang="zh-CN" sz="2000" b="1" smtClean="0">
                <a:latin typeface="Times New Roman" panose="02020603050405020304" pitchFamily="18" charset="0"/>
              </a:rPr>
              <a:t>Grant all privileges on *.* to test@localhost identified by ‘test’ with grant option;</a:t>
            </a:r>
            <a:endParaRPr lang="en-US" altLang="zh-CN" sz="2000" b="1" smtClean="0">
              <a:latin typeface="Times New Roman" panose="02020603050405020304" pitchFamily="18" charset="0"/>
            </a:endParaRPr>
          </a:p>
          <a:p>
            <a:pPr lvl="1">
              <a:buFont typeface="Wingdings" panose="05000000000000000000" pitchFamily="2" charset="2"/>
              <a:buNone/>
            </a:pPr>
            <a:r>
              <a:rPr lang="zh-CN" altLang="en-US" sz="2000" b="1" smtClean="0">
                <a:latin typeface="Times New Roman" panose="02020603050405020304" pitchFamily="18" charset="0"/>
              </a:rPr>
              <a:t>该命令用于增加一个本地具有所有权限的</a:t>
            </a:r>
            <a:r>
              <a:rPr lang="en-US" altLang="zh-CN" sz="2000" b="1" smtClean="0">
                <a:latin typeface="Times New Roman" panose="02020603050405020304" pitchFamily="18" charset="0"/>
              </a:rPr>
              <a:t>test</a:t>
            </a:r>
            <a:r>
              <a:rPr lang="zh-CN" altLang="en-US" sz="2000" b="1" smtClean="0">
                <a:latin typeface="Times New Roman" panose="02020603050405020304" pitchFamily="18" charset="0"/>
              </a:rPr>
              <a:t>用户</a:t>
            </a:r>
            <a:r>
              <a:rPr lang="en-US" altLang="zh-CN" sz="2000" b="1" smtClean="0">
                <a:latin typeface="Times New Roman" panose="02020603050405020304" pitchFamily="18" charset="0"/>
              </a:rPr>
              <a:t>(</a:t>
            </a:r>
            <a:r>
              <a:rPr lang="zh-CN" altLang="en-US" sz="2000" b="1" smtClean="0">
                <a:latin typeface="Times New Roman" panose="02020603050405020304" pitchFamily="18" charset="0"/>
              </a:rPr>
              <a:t>超级用户</a:t>
            </a:r>
            <a:r>
              <a:rPr lang="en-US" altLang="zh-CN" sz="2000" b="1" smtClean="0">
                <a:latin typeface="Times New Roman" panose="02020603050405020304" pitchFamily="18" charset="0"/>
              </a:rPr>
              <a:t>)</a:t>
            </a:r>
            <a:r>
              <a:rPr lang="zh-CN" altLang="en-US" sz="2000" b="1" smtClean="0">
                <a:latin typeface="Times New Roman" panose="02020603050405020304" pitchFamily="18" charset="0"/>
              </a:rPr>
              <a:t>，密码是</a:t>
            </a:r>
            <a:r>
              <a:rPr lang="en-US" altLang="zh-CN" sz="2000" b="1" smtClean="0">
                <a:latin typeface="Times New Roman" panose="02020603050405020304" pitchFamily="18" charset="0"/>
              </a:rPr>
              <a:t>test</a:t>
            </a:r>
            <a:r>
              <a:rPr lang="zh-CN" altLang="en-US" sz="2000" b="1" smtClean="0">
                <a:latin typeface="Times New Roman" panose="02020603050405020304" pitchFamily="18" charset="0"/>
              </a:rPr>
              <a:t>。</a:t>
            </a:r>
            <a:r>
              <a:rPr lang="en-US" altLang="zh-CN" sz="2000" b="1" smtClean="0">
                <a:latin typeface="Times New Roman" panose="02020603050405020304" pitchFamily="18" charset="0"/>
              </a:rPr>
              <a:t>ON</a:t>
            </a:r>
            <a:r>
              <a:rPr lang="zh-CN" altLang="en-US" sz="2000" b="1" smtClean="0">
                <a:latin typeface="Times New Roman" panose="02020603050405020304" pitchFamily="18" charset="0"/>
              </a:rPr>
              <a:t>子句中的*</a:t>
            </a:r>
            <a:r>
              <a:rPr lang="en-US" altLang="zh-CN" sz="2000" b="1" smtClean="0">
                <a:latin typeface="Times New Roman" panose="02020603050405020304" pitchFamily="18" charset="0"/>
              </a:rPr>
              <a:t>.*</a:t>
            </a:r>
            <a:r>
              <a:rPr lang="zh-CN" altLang="en-US" sz="2000" b="1" smtClean="0">
                <a:latin typeface="Times New Roman" panose="02020603050405020304" pitchFamily="18" charset="0"/>
              </a:rPr>
              <a:t>意味着“所有数据库、所有表”。</a:t>
            </a:r>
            <a:r>
              <a:rPr lang="en-US" altLang="zh-CN" sz="2000" b="1" smtClean="0">
                <a:latin typeface="Times New Roman" panose="02020603050405020304" pitchFamily="18" charset="0"/>
              </a:rPr>
              <a:t>with grant option</a:t>
            </a:r>
            <a:r>
              <a:rPr lang="zh-CN" altLang="en-US" sz="2000" b="1" smtClean="0">
                <a:latin typeface="Times New Roman" panose="02020603050405020304" pitchFamily="18" charset="0"/>
              </a:rPr>
              <a:t>表示它具有</a:t>
            </a:r>
            <a:r>
              <a:rPr lang="en-US" altLang="zh-CN" sz="2000" b="1" smtClean="0">
                <a:latin typeface="Times New Roman" panose="02020603050405020304" pitchFamily="18" charset="0"/>
              </a:rPr>
              <a:t>grant</a:t>
            </a:r>
            <a:r>
              <a:rPr lang="zh-CN" altLang="en-US" sz="2000" b="1" smtClean="0">
                <a:latin typeface="Times New Roman" panose="02020603050405020304" pitchFamily="18" charset="0"/>
              </a:rPr>
              <a:t>权限。用</a:t>
            </a:r>
            <a:r>
              <a:rPr lang="en-US" altLang="zh-CN" sz="2000" b="1" smtClean="0">
                <a:latin typeface="Times New Roman" panose="02020603050405020304" pitchFamily="18" charset="0"/>
              </a:rPr>
              <a:t>grant</a:t>
            </a:r>
            <a:r>
              <a:rPr lang="zh-CN" altLang="en-US" sz="2000" b="1" smtClean="0">
                <a:latin typeface="Times New Roman" panose="02020603050405020304" pitchFamily="18" charset="0"/>
              </a:rPr>
              <a:t>语句创建权限是不需要再手工刷新授权表的，因为它已经自动刷新了。</a:t>
            </a:r>
            <a:endParaRPr lang="zh-CN" altLang="en-US" sz="2000" b="1" smtClean="0">
              <a:latin typeface="Times New Roman" panose="02020603050405020304" pitchFamily="18" charset="0"/>
            </a:endParaRPr>
          </a:p>
          <a:p>
            <a:pPr lvl="1"/>
            <a:r>
              <a:rPr lang="en-US" altLang="zh-CN" b="1" smtClean="0">
                <a:solidFill>
                  <a:srgbClr val="CC0000"/>
                </a:solidFill>
              </a:rPr>
              <a:t>6.</a:t>
            </a:r>
            <a:r>
              <a:rPr lang="zh-CN" altLang="en-US" b="1" smtClean="0">
                <a:solidFill>
                  <a:srgbClr val="CC0000"/>
                </a:solidFill>
              </a:rPr>
              <a:t>删除用户的权限，并删除用户</a:t>
            </a:r>
            <a:endParaRPr lang="zh-CN" altLang="en-US" b="1" smtClean="0">
              <a:solidFill>
                <a:srgbClr val="CC0000"/>
              </a:solidFill>
            </a:endParaRPr>
          </a:p>
          <a:p>
            <a:pPr lvl="1">
              <a:buFont typeface="Wingdings" panose="05000000000000000000" pitchFamily="2" charset="2"/>
              <a:buNone/>
            </a:pPr>
            <a:r>
              <a:rPr lang="zh-CN" altLang="en-US" sz="2000" b="1" smtClean="0">
                <a:latin typeface="Times New Roman" panose="02020603050405020304" pitchFamily="18" charset="0"/>
              </a:rPr>
              <a:t>删除</a:t>
            </a:r>
            <a:r>
              <a:rPr lang="en-US" altLang="zh-CN" sz="2000" b="1" smtClean="0">
                <a:latin typeface="Times New Roman" panose="02020603050405020304" pitchFamily="18" charset="0"/>
              </a:rPr>
              <a:t>test</a:t>
            </a:r>
            <a:r>
              <a:rPr lang="zh-CN" altLang="en-US" sz="2000" b="1" smtClean="0">
                <a:latin typeface="Times New Roman" panose="02020603050405020304" pitchFamily="18" charset="0"/>
              </a:rPr>
              <a:t>用户权限：</a:t>
            </a:r>
            <a:endParaRPr lang="zh-CN" altLang="en-US" sz="2000" b="1" smtClean="0">
              <a:latin typeface="Times New Roman" panose="02020603050405020304" pitchFamily="18" charset="0"/>
            </a:endParaRPr>
          </a:p>
          <a:p>
            <a:pPr lvl="1">
              <a:buFont typeface="Wingdings" panose="05000000000000000000" pitchFamily="2" charset="2"/>
              <a:buNone/>
            </a:pPr>
            <a:r>
              <a:rPr lang="en-US" altLang="zh-CN" sz="2000" b="1" smtClean="0">
                <a:latin typeface="Times New Roman" panose="02020603050405020304" pitchFamily="18" charset="0"/>
              </a:rPr>
              <a:t>Revoke all on *.* from test@localhost;</a:t>
            </a:r>
            <a:endParaRPr lang="en-US" altLang="zh-CN" sz="2000" b="1" smtClean="0">
              <a:latin typeface="Times New Roman" panose="02020603050405020304" pitchFamily="18" charset="0"/>
            </a:endParaRPr>
          </a:p>
          <a:p>
            <a:pPr lvl="1">
              <a:buFont typeface="Wingdings" panose="05000000000000000000" pitchFamily="2" charset="2"/>
              <a:buNone/>
            </a:pPr>
            <a:r>
              <a:rPr lang="zh-CN" altLang="en-US" sz="2000" b="1" smtClean="0">
                <a:latin typeface="Times New Roman" panose="02020603050405020304" pitchFamily="18" charset="0"/>
              </a:rPr>
              <a:t>删除用户</a:t>
            </a:r>
            <a:r>
              <a:rPr lang="en-US" altLang="zh-CN" sz="2000" b="1" smtClean="0">
                <a:latin typeface="Times New Roman" panose="02020603050405020304" pitchFamily="18" charset="0"/>
              </a:rPr>
              <a:t>test</a:t>
            </a:r>
            <a:r>
              <a:rPr lang="zh-CN" altLang="en-US" sz="2000" b="1" smtClean="0">
                <a:latin typeface="Times New Roman" panose="02020603050405020304" pitchFamily="18" charset="0"/>
              </a:rPr>
              <a:t>：</a:t>
            </a:r>
            <a:endParaRPr lang="zh-CN" altLang="en-US" sz="2000" b="1" smtClean="0">
              <a:latin typeface="Times New Roman" panose="02020603050405020304" pitchFamily="18" charset="0"/>
            </a:endParaRPr>
          </a:p>
          <a:p>
            <a:pPr lvl="1">
              <a:buFont typeface="Wingdings" panose="05000000000000000000" pitchFamily="2" charset="2"/>
              <a:buNone/>
            </a:pPr>
            <a:r>
              <a:rPr lang="en-US" altLang="zh-CN" sz="2000" b="1" smtClean="0">
                <a:latin typeface="Times New Roman" panose="02020603050405020304" pitchFamily="18" charset="0"/>
              </a:rPr>
              <a:t>Delete from user where user=’test’;</a:t>
            </a:r>
            <a:endParaRPr lang="en-US" altLang="zh-CN" sz="2000" b="1" smtClean="0">
              <a:latin typeface="Times New Roman" panose="02020603050405020304" pitchFamily="18" charset="0"/>
            </a:endParaRPr>
          </a:p>
        </p:txBody>
      </p:sp>
      <p:sp>
        <p:nvSpPr>
          <p:cNvPr id="60418" name="Rectangle 2"/>
          <p:cNvSpPr>
            <a:spLocks noChangeArrowheads="1"/>
          </p:cNvSpPr>
          <p:nvPr/>
        </p:nvSpPr>
        <p:spPr bwMode="auto">
          <a:xfrm>
            <a:off x="457200" y="152400"/>
            <a:ext cx="8305800" cy="563563"/>
          </a:xfrm>
          <a:prstGeom prst="rect">
            <a:avLst/>
          </a:prstGeom>
          <a:noFill/>
          <a:ln w="9525">
            <a:noFill/>
            <a:miter lim="800000"/>
          </a:ln>
        </p:spPr>
        <p:txBody>
          <a:bodyPr anchor="ctr"/>
          <a:lstStyle/>
          <a:p>
            <a:pPr eaLnBrk="0" hangingPunct="0">
              <a:spcBef>
                <a:spcPct val="20000"/>
              </a:spcBef>
              <a:buFont typeface="Wingdings" panose="05000000000000000000" pitchFamily="2" charset="2"/>
              <a:buNone/>
            </a:pPr>
            <a:r>
              <a:rPr lang="en-US" altLang="zh-CN" sz="2800" b="1">
                <a:solidFill>
                  <a:schemeClr val="bg1"/>
                </a:solidFill>
                <a:latin typeface="Verdana" panose="020B0604030504040204" pitchFamily="34" charset="0"/>
              </a:rPr>
              <a:t>10.8 MySQL</a:t>
            </a:r>
            <a:r>
              <a:rPr lang="zh-CN" altLang="en-US" sz="2800" b="1">
                <a:solidFill>
                  <a:schemeClr val="bg1"/>
                </a:solidFill>
                <a:latin typeface="Verdana" panose="020B0604030504040204" pitchFamily="34" charset="0"/>
              </a:rPr>
              <a:t>用户安全管理实验</a:t>
            </a:r>
            <a:endParaRPr lang="zh-CN" altLang="en-US" sz="2800" b="1">
              <a:solidFill>
                <a:schemeClr val="bg1"/>
              </a:solidFill>
              <a:latin typeface="Verdana" panose="020B0604030504040204" pitchFamily="34" charset="0"/>
            </a:endParaRPr>
          </a:p>
        </p:txBody>
      </p:sp>
      <p:sp>
        <p:nvSpPr>
          <p:cNvPr id="5" name="圆角矩形 4"/>
          <p:cNvSpPr/>
          <p:nvPr/>
        </p:nvSpPr>
        <p:spPr bwMode="gray">
          <a:xfrm>
            <a:off x="400050" y="1295400"/>
            <a:ext cx="8210550" cy="4513263"/>
          </a:xfrm>
          <a:prstGeom prst="roundRect">
            <a:avLst/>
          </a:prstGeom>
          <a:noFill/>
        </p:spPr>
        <p:style>
          <a:lnRef idx="2">
            <a:schemeClr val="accent1"/>
          </a:lnRef>
          <a:fillRef idx="1">
            <a:schemeClr val="lt1"/>
          </a:fillRef>
          <a:effectRef idx="0">
            <a:schemeClr val="accent1"/>
          </a:effectRef>
          <a:fontRef idx="minor">
            <a:schemeClr val="dk1"/>
          </a:fontRef>
        </p:style>
        <p:txBody>
          <a:bodyPr anchor="ctr" anchorCtr="1">
            <a:normAutofit/>
          </a:bodyPr>
          <a:lstStyle/>
          <a:p>
            <a:pPr>
              <a:spcBef>
                <a:spcPct val="20000"/>
              </a:spcBef>
              <a:buFont typeface="Wingdings" panose="05000000000000000000" pitchFamily="2" charset="2"/>
              <a:buNone/>
              <a:defRPr/>
            </a:pPr>
            <a:r>
              <a:rPr lang="zh-CN" altLang="en-US" sz="2500" b="1" dirty="0">
                <a:solidFill>
                  <a:schemeClr val="tx1"/>
                </a:solidFill>
                <a:latin typeface="Arial" panose="020B0604020202020204" pitchFamily="34" charset="0"/>
              </a:rPr>
              <a:t>      </a:t>
            </a:r>
            <a:endParaRPr lang="zh-CN" altLang="en-US" sz="2500" b="1" dirty="0">
              <a:solidFill>
                <a:schemeClr val="tx1"/>
              </a:solidFill>
              <a:latin typeface="Arial" panose="020B0604020202020204"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Grp="1" noChangeArrowheads="1"/>
          </p:cNvSpPr>
          <p:nvPr>
            <p:ph type="body" idx="4294967295"/>
          </p:nvPr>
        </p:nvSpPr>
        <p:spPr>
          <a:xfrm>
            <a:off x="304800" y="981075"/>
            <a:ext cx="8382000" cy="5648325"/>
          </a:xfrm>
        </p:spPr>
        <p:txBody>
          <a:bodyPr/>
          <a:lstStyle/>
          <a:p>
            <a:pPr lvl="1">
              <a:defRPr/>
            </a:pPr>
            <a:r>
              <a:rPr lang="en-US" altLang="zh-CN" sz="2800" b="1" dirty="0" smtClean="0">
                <a:solidFill>
                  <a:srgbClr val="FF0000"/>
                </a:solidFill>
                <a:latin typeface="Times New Roman" panose="02020603050405020304" pitchFamily="18" charset="0"/>
                <a:cs typeface="+mn-ea"/>
              </a:rPr>
              <a:t>10.7.3 </a:t>
            </a:r>
            <a:r>
              <a:rPr lang="zh-CN" altLang="en-US" sz="2800" b="1" dirty="0" smtClean="0">
                <a:solidFill>
                  <a:srgbClr val="FF0000"/>
                </a:solidFill>
                <a:latin typeface="Times New Roman" panose="02020603050405020304" pitchFamily="18" charset="0"/>
                <a:cs typeface="+mn-ea"/>
              </a:rPr>
              <a:t>实验内容及步骤</a:t>
            </a:r>
            <a:endParaRPr lang="zh-CN" altLang="en-US" sz="2800" b="1" dirty="0" smtClean="0">
              <a:solidFill>
                <a:srgbClr val="FF0000"/>
              </a:solidFill>
              <a:latin typeface="Times New Roman" panose="02020603050405020304" pitchFamily="18" charset="0"/>
              <a:cs typeface="+mn-ea"/>
            </a:endParaRPr>
          </a:p>
          <a:p>
            <a:pPr lvl="1" indent="0">
              <a:spcBef>
                <a:spcPts val="0"/>
              </a:spcBef>
              <a:defRPr/>
            </a:pPr>
            <a:r>
              <a:rPr lang="en-US" altLang="zh-CN" b="1" dirty="0" smtClean="0">
                <a:solidFill>
                  <a:srgbClr val="CC0000"/>
                </a:solidFill>
                <a:cs typeface="+mn-ea"/>
              </a:rPr>
              <a:t>1</a:t>
            </a:r>
            <a:r>
              <a:rPr lang="zh-CN" altLang="en-US" b="1" dirty="0" smtClean="0">
                <a:solidFill>
                  <a:srgbClr val="CC0000"/>
                </a:solidFill>
                <a:cs typeface="+mn-ea"/>
              </a:rPr>
              <a:t>．使用</a:t>
            </a:r>
            <a:r>
              <a:rPr lang="en-US" altLang="zh-CN" b="1" dirty="0" err="1" smtClean="0">
                <a:solidFill>
                  <a:srgbClr val="CC0000"/>
                </a:solidFill>
                <a:cs typeface="+mn-ea"/>
              </a:rPr>
              <a:t>mys</a:t>
            </a:r>
            <a:r>
              <a:rPr lang="en-US" altLang="zh-CN" sz="2000" b="1" dirty="0" err="1" smtClean="0">
                <a:solidFill>
                  <a:srgbClr val="CC0000"/>
                </a:solidFill>
                <a:cs typeface="+mn-ea"/>
              </a:rPr>
              <a:t>qldump</a:t>
            </a:r>
            <a:r>
              <a:rPr lang="zh-CN" altLang="en-US" sz="2000" b="1" dirty="0" smtClean="0">
                <a:solidFill>
                  <a:srgbClr val="CC0000"/>
                </a:solidFill>
                <a:cs typeface="+mn-ea"/>
              </a:rPr>
              <a:t>命令备份</a:t>
            </a:r>
            <a:endParaRPr lang="zh-CN" altLang="en-US" sz="2000" b="1" dirty="0" smtClean="0">
              <a:solidFill>
                <a:srgbClr val="CC0000"/>
              </a:solidFill>
              <a:cs typeface="+mn-ea"/>
            </a:endParaRPr>
          </a:p>
          <a:p>
            <a:pPr marL="457200" lvl="1" indent="0">
              <a:spcBef>
                <a:spcPts val="0"/>
              </a:spcBef>
              <a:buFont typeface="Wingdings" panose="05000000000000000000" pitchFamily="2" charset="2"/>
              <a:buNone/>
              <a:defRPr/>
            </a:pPr>
            <a:r>
              <a:rPr lang="en-US" altLang="zh-CN" sz="2000" b="1" dirty="0" err="1" smtClean="0">
                <a:cs typeface="+mn-ea"/>
              </a:rPr>
              <a:t>mysqldump</a:t>
            </a:r>
            <a:r>
              <a:rPr lang="zh-CN" altLang="en-US" sz="2000" b="1" dirty="0" smtClean="0">
                <a:cs typeface="+mn-ea"/>
              </a:rPr>
              <a:t>命令将数据库中的数据备份成一个文本文件，表的结构和表中的数据将存储在生成的文本文件中。其工作原理很简单：它先查出需要备份的表的结构，再在文本文件中生成一个</a:t>
            </a:r>
            <a:r>
              <a:rPr lang="en-US" altLang="zh-CN" sz="2000" b="1" dirty="0" smtClean="0">
                <a:cs typeface="+mn-ea"/>
              </a:rPr>
              <a:t>CREATE</a:t>
            </a:r>
            <a:r>
              <a:rPr lang="zh-CN" altLang="en-US" sz="2000" b="1" dirty="0" smtClean="0">
                <a:cs typeface="+mn-ea"/>
              </a:rPr>
              <a:t>语句，然后将表中的所有记录转换成一条</a:t>
            </a:r>
            <a:r>
              <a:rPr lang="en-US" altLang="zh-CN" sz="2000" b="1" dirty="0" smtClean="0">
                <a:cs typeface="+mn-ea"/>
              </a:rPr>
              <a:t>INSERT</a:t>
            </a:r>
            <a:r>
              <a:rPr lang="zh-CN" altLang="en-US" sz="2000" b="1" dirty="0" smtClean="0">
                <a:cs typeface="+mn-ea"/>
              </a:rPr>
              <a:t>语句，然后通过这些语句，就能够创建表并插入数据。</a:t>
            </a:r>
            <a:endParaRPr lang="zh-CN" altLang="en-US" sz="2000" b="1" dirty="0" smtClean="0">
              <a:cs typeface="+mn-ea"/>
            </a:endParaRPr>
          </a:p>
          <a:p>
            <a:pPr marL="457200" lvl="1" indent="0">
              <a:spcBef>
                <a:spcPts val="0"/>
              </a:spcBef>
              <a:buFont typeface="Wingdings" panose="05000000000000000000" pitchFamily="2" charset="2"/>
              <a:buNone/>
              <a:defRPr/>
            </a:pPr>
            <a:r>
              <a:rPr lang="zh-CN" altLang="en-US" sz="2000" b="1" dirty="0" smtClean="0">
                <a:solidFill>
                  <a:srgbClr val="C00000"/>
                </a:solidFill>
                <a:cs typeface="+mn-ea"/>
              </a:rPr>
              <a:t>（</a:t>
            </a:r>
            <a:r>
              <a:rPr lang="en-US" altLang="zh-CN" sz="2000" b="1" dirty="0" smtClean="0">
                <a:solidFill>
                  <a:srgbClr val="C00000"/>
                </a:solidFill>
                <a:cs typeface="+mn-ea"/>
              </a:rPr>
              <a:t>1</a:t>
            </a:r>
            <a:r>
              <a:rPr lang="zh-CN" altLang="en-US" sz="2000" b="1" dirty="0" smtClean="0">
                <a:solidFill>
                  <a:srgbClr val="C00000"/>
                </a:solidFill>
                <a:cs typeface="+mn-ea"/>
              </a:rPr>
              <a:t>）备份一个数据库</a:t>
            </a:r>
            <a:endParaRPr lang="zh-CN" altLang="en-US" sz="2000" b="1" dirty="0" smtClean="0">
              <a:solidFill>
                <a:srgbClr val="C00000"/>
              </a:solidFill>
              <a:cs typeface="+mn-ea"/>
            </a:endParaRPr>
          </a:p>
          <a:p>
            <a:pPr marL="457200" lvl="1" indent="0">
              <a:spcBef>
                <a:spcPts val="0"/>
              </a:spcBef>
              <a:buFont typeface="Wingdings" panose="05000000000000000000" pitchFamily="2" charset="2"/>
              <a:buNone/>
              <a:defRPr/>
            </a:pPr>
            <a:r>
              <a:rPr lang="en-US" altLang="zh-CN" sz="2000" b="1" dirty="0" err="1" smtClean="0">
                <a:cs typeface="+mn-ea"/>
              </a:rPr>
              <a:t>mysqldump</a:t>
            </a:r>
            <a:r>
              <a:rPr lang="en-US" altLang="zh-CN" sz="2000" b="1" dirty="0" smtClean="0">
                <a:cs typeface="+mn-ea"/>
              </a:rPr>
              <a:t> -u username -p </a:t>
            </a:r>
            <a:r>
              <a:rPr lang="en-US" altLang="zh-CN" sz="2000" b="1" dirty="0" err="1" smtClean="0">
                <a:cs typeface="+mn-ea"/>
              </a:rPr>
              <a:t>dbname</a:t>
            </a:r>
            <a:r>
              <a:rPr lang="en-US" altLang="zh-CN" sz="2000" b="1" dirty="0" smtClean="0">
                <a:cs typeface="+mn-ea"/>
              </a:rPr>
              <a:t> table1 table2 ...-&gt; </a:t>
            </a:r>
            <a:r>
              <a:rPr lang="en-US" altLang="zh-CN" sz="2000" b="1" dirty="0" err="1" smtClean="0">
                <a:cs typeface="+mn-ea"/>
              </a:rPr>
              <a:t>BackupName.sql</a:t>
            </a:r>
            <a:endParaRPr lang="en-US" altLang="zh-CN" sz="2000" b="1" dirty="0" smtClean="0">
              <a:cs typeface="+mn-ea"/>
            </a:endParaRPr>
          </a:p>
          <a:p>
            <a:pPr marL="457200" lvl="1" indent="0">
              <a:spcBef>
                <a:spcPts val="0"/>
              </a:spcBef>
              <a:buFont typeface="Wingdings" panose="05000000000000000000" pitchFamily="2" charset="2"/>
              <a:buNone/>
              <a:defRPr/>
            </a:pPr>
            <a:r>
              <a:rPr lang="en-US" altLang="zh-CN" sz="2000" b="1" dirty="0" smtClean="0">
                <a:cs typeface="+mn-ea"/>
              </a:rPr>
              <a:t>•</a:t>
            </a:r>
            <a:r>
              <a:rPr lang="en-US" altLang="zh-CN" sz="2000" b="1" dirty="0" err="1" smtClean="0">
                <a:cs typeface="+mn-ea"/>
              </a:rPr>
              <a:t>dbname</a:t>
            </a:r>
            <a:r>
              <a:rPr lang="zh-CN" altLang="en-US" sz="2000" b="1" dirty="0" smtClean="0">
                <a:cs typeface="+mn-ea"/>
              </a:rPr>
              <a:t>参数表示数据库的名称；</a:t>
            </a:r>
            <a:endParaRPr lang="zh-CN" altLang="en-US" sz="2000" b="1" dirty="0" smtClean="0">
              <a:cs typeface="+mn-ea"/>
            </a:endParaRPr>
          </a:p>
          <a:p>
            <a:pPr marL="457200" lvl="1" indent="0">
              <a:spcBef>
                <a:spcPts val="0"/>
              </a:spcBef>
              <a:buFont typeface="Wingdings" panose="05000000000000000000" pitchFamily="2" charset="2"/>
              <a:buNone/>
              <a:defRPr/>
            </a:pPr>
            <a:r>
              <a:rPr lang="en-US" altLang="zh-CN" sz="2000" b="1" dirty="0" smtClean="0">
                <a:cs typeface="+mn-ea"/>
              </a:rPr>
              <a:t>•table1</a:t>
            </a:r>
            <a:r>
              <a:rPr lang="zh-CN" altLang="en-US" sz="2000" b="1" dirty="0" smtClean="0">
                <a:cs typeface="+mn-ea"/>
              </a:rPr>
              <a:t>和</a:t>
            </a:r>
            <a:r>
              <a:rPr lang="en-US" altLang="zh-CN" sz="2000" b="1" dirty="0" smtClean="0">
                <a:cs typeface="+mn-ea"/>
              </a:rPr>
              <a:t>table2</a:t>
            </a:r>
            <a:r>
              <a:rPr lang="zh-CN" altLang="en-US" sz="2000" b="1" dirty="0" smtClean="0">
                <a:cs typeface="+mn-ea"/>
              </a:rPr>
              <a:t>参数表示需要备份的表的名称，为空则整个数据库备份；</a:t>
            </a:r>
            <a:endParaRPr lang="zh-CN" altLang="en-US" sz="2000" b="1" dirty="0" smtClean="0">
              <a:cs typeface="+mn-ea"/>
            </a:endParaRPr>
          </a:p>
          <a:p>
            <a:pPr marL="457200" lvl="1" indent="0">
              <a:spcBef>
                <a:spcPts val="0"/>
              </a:spcBef>
              <a:buFont typeface="Wingdings" panose="05000000000000000000" pitchFamily="2" charset="2"/>
              <a:buNone/>
              <a:defRPr/>
            </a:pPr>
            <a:r>
              <a:rPr lang="en-US" altLang="zh-CN" sz="2000" b="1" dirty="0" smtClean="0">
                <a:cs typeface="+mn-ea"/>
              </a:rPr>
              <a:t>•</a:t>
            </a:r>
            <a:r>
              <a:rPr lang="en-US" altLang="zh-CN" sz="2000" b="1" dirty="0" err="1" smtClean="0">
                <a:cs typeface="+mn-ea"/>
              </a:rPr>
              <a:t>BackupName.sql</a:t>
            </a:r>
            <a:r>
              <a:rPr lang="zh-CN" altLang="en-US" sz="2000" b="1" dirty="0" smtClean="0">
                <a:cs typeface="+mn-ea"/>
              </a:rPr>
              <a:t>参数表设计备份文件的名称，文件名前面可以加上一个绝对路径。</a:t>
            </a:r>
            <a:endParaRPr lang="zh-CN" altLang="en-US" sz="2000" b="1" dirty="0" smtClean="0">
              <a:cs typeface="+mn-ea"/>
            </a:endParaRPr>
          </a:p>
        </p:txBody>
      </p:sp>
      <p:sp>
        <p:nvSpPr>
          <p:cNvPr id="61442" name="Rectangle 2"/>
          <p:cNvSpPr>
            <a:spLocks noChangeArrowheads="1"/>
          </p:cNvSpPr>
          <p:nvPr/>
        </p:nvSpPr>
        <p:spPr bwMode="auto">
          <a:xfrm>
            <a:off x="457200" y="152400"/>
            <a:ext cx="8305800" cy="563563"/>
          </a:xfrm>
          <a:prstGeom prst="rect">
            <a:avLst/>
          </a:prstGeom>
          <a:noFill/>
          <a:ln w="9525">
            <a:noFill/>
            <a:miter lim="800000"/>
          </a:ln>
        </p:spPr>
        <p:txBody>
          <a:bodyPr anchor="ctr"/>
          <a:lstStyle/>
          <a:p>
            <a:pPr eaLnBrk="0" hangingPunct="0">
              <a:spcBef>
                <a:spcPct val="20000"/>
              </a:spcBef>
              <a:buFont typeface="Wingdings" panose="05000000000000000000" pitchFamily="2" charset="2"/>
              <a:buNone/>
            </a:pPr>
            <a:r>
              <a:rPr lang="en-US" altLang="zh-CN" sz="2800" b="1">
                <a:solidFill>
                  <a:schemeClr val="bg1"/>
                </a:solidFill>
                <a:latin typeface="Verdana" panose="020B0604030504040204" pitchFamily="34" charset="0"/>
              </a:rPr>
              <a:t>10.7 MySQL</a:t>
            </a:r>
            <a:r>
              <a:rPr lang="zh-CN" altLang="en-US" sz="2800" b="1">
                <a:solidFill>
                  <a:schemeClr val="bg1"/>
                </a:solidFill>
                <a:latin typeface="Verdana" panose="020B0604030504040204" pitchFamily="34" charset="0"/>
              </a:rPr>
              <a:t>数据库备份与恢复实验</a:t>
            </a:r>
            <a:endParaRPr lang="zh-CN" altLang="en-US" sz="2800" b="1">
              <a:solidFill>
                <a:schemeClr val="bg1"/>
              </a:solidFill>
              <a:latin typeface="Verdana" panose="020B0604030504040204" pitchFamily="34" charset="0"/>
            </a:endParaRPr>
          </a:p>
        </p:txBody>
      </p:sp>
      <p:sp>
        <p:nvSpPr>
          <p:cNvPr id="5" name="圆角矩形 4"/>
          <p:cNvSpPr/>
          <p:nvPr/>
        </p:nvSpPr>
        <p:spPr bwMode="gray">
          <a:xfrm>
            <a:off x="390525" y="1419225"/>
            <a:ext cx="8210550" cy="4511675"/>
          </a:xfrm>
          <a:prstGeom prst="roundRect">
            <a:avLst/>
          </a:prstGeom>
          <a:noFill/>
        </p:spPr>
        <p:style>
          <a:lnRef idx="2">
            <a:schemeClr val="accent1"/>
          </a:lnRef>
          <a:fillRef idx="1">
            <a:schemeClr val="lt1"/>
          </a:fillRef>
          <a:effectRef idx="0">
            <a:schemeClr val="accent1"/>
          </a:effectRef>
          <a:fontRef idx="minor">
            <a:schemeClr val="dk1"/>
          </a:fontRef>
        </p:style>
        <p:txBody>
          <a:bodyPr anchor="ctr" anchorCtr="1">
            <a:normAutofit/>
          </a:bodyPr>
          <a:lstStyle/>
          <a:p>
            <a:pPr>
              <a:spcBef>
                <a:spcPct val="20000"/>
              </a:spcBef>
              <a:buFont typeface="Wingdings" panose="05000000000000000000" pitchFamily="2" charset="2"/>
              <a:buNone/>
              <a:defRPr/>
            </a:pPr>
            <a:r>
              <a:rPr lang="zh-CN" altLang="en-US" sz="2500" b="1" dirty="0">
                <a:solidFill>
                  <a:schemeClr val="tx1"/>
                </a:solidFill>
                <a:latin typeface="Arial" panose="020B0604020202020204" pitchFamily="34" charset="0"/>
              </a:rPr>
              <a:t>      </a:t>
            </a:r>
            <a:endParaRPr lang="zh-CN" altLang="en-US" sz="2500" b="1" dirty="0">
              <a:solidFill>
                <a:schemeClr val="tx1"/>
              </a:solidFill>
              <a:latin typeface="Arial" panose="020B0604020202020204"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Grp="1" noChangeArrowheads="1"/>
          </p:cNvSpPr>
          <p:nvPr>
            <p:ph type="body" idx="4294967295"/>
          </p:nvPr>
        </p:nvSpPr>
        <p:spPr>
          <a:xfrm>
            <a:off x="304800" y="1219200"/>
            <a:ext cx="8382000" cy="5486400"/>
          </a:xfrm>
        </p:spPr>
        <p:txBody>
          <a:bodyPr/>
          <a:lstStyle/>
          <a:p>
            <a:pPr lvl="1">
              <a:defRPr/>
            </a:pPr>
            <a:r>
              <a:rPr lang="zh-CN" altLang="en-US" b="1" dirty="0" smtClean="0">
                <a:solidFill>
                  <a:srgbClr val="CC0000"/>
                </a:solidFill>
                <a:cs typeface="+mn-ea"/>
              </a:rPr>
              <a:t>（</a:t>
            </a:r>
            <a:r>
              <a:rPr lang="en-US" altLang="zh-CN" b="1" dirty="0" smtClean="0">
                <a:solidFill>
                  <a:srgbClr val="CC0000"/>
                </a:solidFill>
                <a:cs typeface="+mn-ea"/>
              </a:rPr>
              <a:t>1</a:t>
            </a:r>
            <a:r>
              <a:rPr lang="zh-CN" altLang="en-US" b="1" dirty="0" smtClean="0">
                <a:solidFill>
                  <a:srgbClr val="CC0000"/>
                </a:solidFill>
                <a:cs typeface="+mn-ea"/>
              </a:rPr>
              <a:t>）备份一个数据库</a:t>
            </a:r>
            <a:endParaRPr lang="zh-CN" altLang="en-US" b="1" dirty="0">
              <a:solidFill>
                <a:srgbClr val="CC0000"/>
              </a:solidFill>
              <a:cs typeface="+mn-ea"/>
            </a:endParaRPr>
          </a:p>
          <a:p>
            <a:pPr marL="457200" lvl="1" indent="0">
              <a:buFont typeface="Wingdings" panose="05000000000000000000" pitchFamily="2" charset="2"/>
              <a:buNone/>
              <a:defRPr/>
            </a:pPr>
            <a:r>
              <a:rPr lang="zh-CN" altLang="en-US" sz="2000" b="1" dirty="0" smtClean="0">
                <a:latin typeface="Times New Roman" panose="02020603050405020304" pitchFamily="18" charset="0"/>
                <a:cs typeface="+mn-ea"/>
              </a:rPr>
              <a:t>通常将数据库被分成一个后缀名为</a:t>
            </a:r>
            <a:r>
              <a:rPr lang="en-US" altLang="zh-CN" sz="2000" b="1" dirty="0" err="1" smtClean="0">
                <a:latin typeface="Times New Roman" panose="02020603050405020304" pitchFamily="18" charset="0"/>
                <a:cs typeface="+mn-ea"/>
              </a:rPr>
              <a:t>sql</a:t>
            </a:r>
            <a:r>
              <a:rPr lang="zh-CN" altLang="en-US" sz="2000" b="1" dirty="0" smtClean="0">
                <a:latin typeface="Times New Roman" panose="02020603050405020304" pitchFamily="18" charset="0"/>
                <a:cs typeface="+mn-ea"/>
              </a:rPr>
              <a:t>的文件。如，用</a:t>
            </a:r>
            <a:r>
              <a:rPr lang="en-US" altLang="zh-CN" sz="2000" b="1" dirty="0" smtClean="0">
                <a:latin typeface="Times New Roman" panose="02020603050405020304" pitchFamily="18" charset="0"/>
                <a:cs typeface="+mn-ea"/>
              </a:rPr>
              <a:t>root</a:t>
            </a:r>
            <a:r>
              <a:rPr lang="zh-CN" altLang="en-US" sz="2000" b="1" dirty="0" smtClean="0">
                <a:latin typeface="Times New Roman" panose="02020603050405020304" pitchFamily="18" charset="0"/>
                <a:cs typeface="+mn-ea"/>
              </a:rPr>
              <a:t>用户备份</a:t>
            </a:r>
            <a:r>
              <a:rPr lang="en-US" altLang="zh-CN" sz="2000" b="1" dirty="0" smtClean="0">
                <a:latin typeface="Times New Roman" panose="02020603050405020304" pitchFamily="18" charset="0"/>
                <a:cs typeface="+mn-ea"/>
              </a:rPr>
              <a:t>test</a:t>
            </a:r>
            <a:r>
              <a:rPr lang="zh-CN" altLang="en-US" sz="2000" b="1" dirty="0" smtClean="0">
                <a:latin typeface="Times New Roman" panose="02020603050405020304" pitchFamily="18" charset="0"/>
                <a:cs typeface="+mn-ea"/>
              </a:rPr>
              <a:t>数据库下的</a:t>
            </a:r>
            <a:r>
              <a:rPr lang="en-US" altLang="zh-CN" sz="2000" b="1" dirty="0" smtClean="0">
                <a:latin typeface="Times New Roman" panose="02020603050405020304" pitchFamily="18" charset="0"/>
                <a:cs typeface="+mn-ea"/>
              </a:rPr>
              <a:t>person</a:t>
            </a:r>
            <a:r>
              <a:rPr lang="zh-CN" altLang="en-US" sz="2000" b="1" dirty="0" smtClean="0">
                <a:latin typeface="Times New Roman" panose="02020603050405020304" pitchFamily="18" charset="0"/>
                <a:cs typeface="+mn-ea"/>
              </a:rPr>
              <a:t>表：</a:t>
            </a:r>
            <a:endParaRPr lang="zh-CN" altLang="en-US" sz="2000" b="1" dirty="0" smtClean="0">
              <a:latin typeface="Times New Roman" panose="02020603050405020304" pitchFamily="18" charset="0"/>
              <a:cs typeface="+mn-ea"/>
            </a:endParaRPr>
          </a:p>
          <a:p>
            <a:pPr marL="457200" lvl="1" indent="0">
              <a:buFont typeface="Wingdings" panose="05000000000000000000" pitchFamily="2" charset="2"/>
              <a:buNone/>
              <a:defRPr/>
            </a:pPr>
            <a:r>
              <a:rPr lang="en-US" altLang="zh-CN" sz="2000" b="1" dirty="0" err="1" smtClean="0">
                <a:latin typeface="Times New Roman" panose="02020603050405020304" pitchFamily="18" charset="0"/>
                <a:cs typeface="+mn-ea"/>
              </a:rPr>
              <a:t>mysqldump</a:t>
            </a:r>
            <a:r>
              <a:rPr lang="en-US" altLang="zh-CN" sz="2000" b="1" dirty="0" smtClean="0">
                <a:latin typeface="Times New Roman" panose="02020603050405020304" pitchFamily="18" charset="0"/>
                <a:cs typeface="+mn-ea"/>
              </a:rPr>
              <a:t> -u root -p test person &gt; D:\backup.sql</a:t>
            </a:r>
            <a:endParaRPr lang="en-US" altLang="zh-CN" sz="2000" b="1" dirty="0" smtClean="0">
              <a:latin typeface="Times New Roman" panose="02020603050405020304" pitchFamily="18" charset="0"/>
              <a:cs typeface="+mn-ea"/>
            </a:endParaRPr>
          </a:p>
          <a:p>
            <a:pPr lvl="1">
              <a:defRPr/>
            </a:pPr>
            <a:r>
              <a:rPr lang="zh-CN" altLang="en-US" b="1" dirty="0" smtClean="0">
                <a:solidFill>
                  <a:srgbClr val="CC0000"/>
                </a:solidFill>
                <a:cs typeface="+mn-ea"/>
              </a:rPr>
              <a:t>（</a:t>
            </a:r>
            <a:r>
              <a:rPr lang="en-US" altLang="zh-CN" b="1" dirty="0" smtClean="0">
                <a:solidFill>
                  <a:srgbClr val="CC0000"/>
                </a:solidFill>
                <a:cs typeface="+mn-ea"/>
              </a:rPr>
              <a:t>2</a:t>
            </a:r>
            <a:r>
              <a:rPr lang="zh-CN" altLang="en-US" b="1" dirty="0" smtClean="0">
                <a:solidFill>
                  <a:srgbClr val="CC0000"/>
                </a:solidFill>
                <a:cs typeface="+mn-ea"/>
              </a:rPr>
              <a:t>）备份多个数据库</a:t>
            </a:r>
            <a:endParaRPr lang="zh-CN" altLang="en-US" b="1" dirty="0" smtClean="0">
              <a:solidFill>
                <a:srgbClr val="CC0000"/>
              </a:solidFill>
              <a:cs typeface="+mn-ea"/>
            </a:endParaRPr>
          </a:p>
          <a:p>
            <a:pPr marL="457200" lvl="1" indent="0">
              <a:buFont typeface="Wingdings" panose="05000000000000000000" pitchFamily="2" charset="2"/>
              <a:buNone/>
              <a:defRPr/>
            </a:pPr>
            <a:r>
              <a:rPr lang="en-US" altLang="zh-CN" sz="2000" b="1" dirty="0" err="1" smtClean="0">
                <a:latin typeface="Times New Roman" panose="02020603050405020304" pitchFamily="18" charset="0"/>
                <a:cs typeface="+mn-ea"/>
              </a:rPr>
              <a:t>mysqldump</a:t>
            </a:r>
            <a:r>
              <a:rPr lang="en-US" altLang="zh-CN" sz="2000" b="1" dirty="0" smtClean="0">
                <a:latin typeface="Times New Roman" panose="02020603050405020304" pitchFamily="18" charset="0"/>
                <a:cs typeface="+mn-ea"/>
              </a:rPr>
              <a:t> -u username -p --databases dbname1 dbname2 &gt; </a:t>
            </a:r>
            <a:r>
              <a:rPr lang="en-US" altLang="zh-CN" sz="2000" b="1" dirty="0" err="1" smtClean="0">
                <a:latin typeface="Times New Roman" panose="02020603050405020304" pitchFamily="18" charset="0"/>
                <a:cs typeface="+mn-ea"/>
              </a:rPr>
              <a:t>Backup.sql</a:t>
            </a:r>
            <a:endParaRPr lang="en-US" altLang="zh-CN" sz="2000" b="1" dirty="0" smtClean="0">
              <a:latin typeface="Times New Roman" panose="02020603050405020304" pitchFamily="18" charset="0"/>
              <a:cs typeface="+mn-ea"/>
            </a:endParaRPr>
          </a:p>
          <a:p>
            <a:pPr marL="457200" lvl="1" indent="0">
              <a:buFont typeface="Wingdings" panose="05000000000000000000" pitchFamily="2" charset="2"/>
              <a:buNone/>
              <a:defRPr/>
            </a:pPr>
            <a:r>
              <a:rPr lang="zh-CN" altLang="en-US" sz="2000" b="1" dirty="0" smtClean="0">
                <a:latin typeface="Times New Roman" panose="02020603050405020304" pitchFamily="18" charset="0"/>
                <a:cs typeface="+mn-ea"/>
              </a:rPr>
              <a:t>加上了</a:t>
            </a:r>
            <a:r>
              <a:rPr lang="en-US" altLang="zh-CN" sz="2000" b="1" dirty="0" smtClean="0">
                <a:latin typeface="Times New Roman" panose="02020603050405020304" pitchFamily="18" charset="0"/>
                <a:cs typeface="+mn-ea"/>
              </a:rPr>
              <a:t>--databases</a:t>
            </a:r>
            <a:r>
              <a:rPr lang="zh-CN" altLang="en-US" sz="2000" b="1" dirty="0" smtClean="0">
                <a:latin typeface="Times New Roman" panose="02020603050405020304" pitchFamily="18" charset="0"/>
                <a:cs typeface="+mn-ea"/>
              </a:rPr>
              <a:t>选项，然后后面跟多个数据库。如：</a:t>
            </a:r>
            <a:endParaRPr lang="zh-CN" altLang="en-US" sz="2000" b="1" dirty="0" smtClean="0">
              <a:latin typeface="Times New Roman" panose="02020603050405020304" pitchFamily="18" charset="0"/>
              <a:cs typeface="+mn-ea"/>
            </a:endParaRPr>
          </a:p>
          <a:p>
            <a:pPr marL="457200" lvl="1" indent="0">
              <a:buFont typeface="Wingdings" panose="05000000000000000000" pitchFamily="2" charset="2"/>
              <a:buNone/>
              <a:defRPr/>
            </a:pPr>
            <a:r>
              <a:rPr lang="en-US" altLang="zh-CN" sz="2000" b="1" dirty="0" err="1" smtClean="0">
                <a:latin typeface="Times New Roman" panose="02020603050405020304" pitchFamily="18" charset="0"/>
                <a:cs typeface="+mn-ea"/>
              </a:rPr>
              <a:t>mysqldump</a:t>
            </a:r>
            <a:r>
              <a:rPr lang="en-US" altLang="zh-CN" sz="2000" b="1" dirty="0" smtClean="0">
                <a:latin typeface="Times New Roman" panose="02020603050405020304" pitchFamily="18" charset="0"/>
                <a:cs typeface="+mn-ea"/>
              </a:rPr>
              <a:t> -u root -p --databases test </a:t>
            </a:r>
            <a:r>
              <a:rPr lang="en-US" altLang="zh-CN" sz="2000" b="1" dirty="0" err="1" smtClean="0">
                <a:latin typeface="Times New Roman" panose="02020603050405020304" pitchFamily="18" charset="0"/>
                <a:cs typeface="+mn-ea"/>
              </a:rPr>
              <a:t>mysql</a:t>
            </a:r>
            <a:r>
              <a:rPr lang="en-US" altLang="zh-CN" sz="2000" b="1" dirty="0" smtClean="0">
                <a:latin typeface="Times New Roman" panose="02020603050405020304" pitchFamily="18" charset="0"/>
                <a:cs typeface="+mn-ea"/>
              </a:rPr>
              <a:t> &gt; D:\backup.sql</a:t>
            </a:r>
            <a:endParaRPr lang="en-US" altLang="zh-CN" sz="2000" b="1" dirty="0" smtClean="0">
              <a:latin typeface="Times New Roman" panose="02020603050405020304" pitchFamily="18" charset="0"/>
              <a:cs typeface="+mn-ea"/>
            </a:endParaRPr>
          </a:p>
          <a:p>
            <a:pPr lvl="1">
              <a:defRPr/>
            </a:pPr>
            <a:r>
              <a:rPr lang="zh-CN" altLang="en-US" b="1" dirty="0">
                <a:solidFill>
                  <a:srgbClr val="CC0000"/>
                </a:solidFill>
                <a:cs typeface="+mn-ea"/>
              </a:rPr>
              <a:t>（</a:t>
            </a:r>
            <a:r>
              <a:rPr lang="en-US" altLang="zh-CN" b="1" dirty="0">
                <a:solidFill>
                  <a:srgbClr val="CC0000"/>
                </a:solidFill>
                <a:cs typeface="+mn-ea"/>
              </a:rPr>
              <a:t>3</a:t>
            </a:r>
            <a:r>
              <a:rPr lang="zh-CN" altLang="en-US" b="1" dirty="0">
                <a:solidFill>
                  <a:srgbClr val="CC0000"/>
                </a:solidFill>
                <a:cs typeface="+mn-ea"/>
              </a:rPr>
              <a:t>）备份所有数据库</a:t>
            </a:r>
            <a:endParaRPr lang="zh-CN" altLang="en-US" b="1" dirty="0">
              <a:solidFill>
                <a:srgbClr val="CC0000"/>
              </a:solidFill>
              <a:cs typeface="+mn-ea"/>
            </a:endParaRPr>
          </a:p>
          <a:p>
            <a:pPr marL="457200" lvl="1" indent="0">
              <a:buFont typeface="Wingdings" panose="05000000000000000000" pitchFamily="2" charset="2"/>
              <a:buNone/>
              <a:defRPr/>
            </a:pPr>
            <a:r>
              <a:rPr lang="en-US" altLang="zh-CN" sz="2000" b="1" dirty="0" err="1" smtClean="0">
                <a:latin typeface="Times New Roman" panose="02020603050405020304" pitchFamily="18" charset="0"/>
                <a:cs typeface="+mn-ea"/>
              </a:rPr>
              <a:t>mysqldump</a:t>
            </a:r>
            <a:r>
              <a:rPr lang="zh-CN" altLang="en-US" sz="2000" b="1" dirty="0" smtClean="0">
                <a:latin typeface="Times New Roman" panose="02020603050405020304" pitchFamily="18" charset="0"/>
                <a:cs typeface="+mn-ea"/>
              </a:rPr>
              <a:t>命令备份所有数据库的语法如下：</a:t>
            </a:r>
            <a:endParaRPr lang="zh-CN" altLang="en-US" sz="2000" b="1" dirty="0" smtClean="0">
              <a:latin typeface="Times New Roman" panose="02020603050405020304" pitchFamily="18" charset="0"/>
              <a:cs typeface="+mn-ea"/>
            </a:endParaRPr>
          </a:p>
          <a:p>
            <a:pPr marL="457200" lvl="1" indent="0">
              <a:buFont typeface="Wingdings" panose="05000000000000000000" pitchFamily="2" charset="2"/>
              <a:buNone/>
              <a:defRPr/>
            </a:pPr>
            <a:r>
              <a:rPr lang="en-US" altLang="zh-CN" sz="2000" b="1" dirty="0" err="1" smtClean="0">
                <a:latin typeface="Times New Roman" panose="02020603050405020304" pitchFamily="18" charset="0"/>
                <a:cs typeface="+mn-ea"/>
              </a:rPr>
              <a:t>mysqldump</a:t>
            </a:r>
            <a:r>
              <a:rPr lang="en-US" altLang="zh-CN" sz="2000" b="1" dirty="0" smtClean="0">
                <a:latin typeface="Times New Roman" panose="02020603050405020304" pitchFamily="18" charset="0"/>
                <a:cs typeface="+mn-ea"/>
              </a:rPr>
              <a:t> -u username -p -all-databases &gt; </a:t>
            </a:r>
            <a:r>
              <a:rPr lang="en-US" altLang="zh-CN" sz="2000" b="1" dirty="0" err="1" smtClean="0">
                <a:latin typeface="Times New Roman" panose="02020603050405020304" pitchFamily="18" charset="0"/>
                <a:cs typeface="+mn-ea"/>
              </a:rPr>
              <a:t>BackupName.sql</a:t>
            </a:r>
            <a:endParaRPr lang="en-US" altLang="zh-CN" sz="2000" b="1" dirty="0" smtClean="0">
              <a:latin typeface="Times New Roman" panose="02020603050405020304" pitchFamily="18" charset="0"/>
              <a:cs typeface="+mn-ea"/>
            </a:endParaRPr>
          </a:p>
          <a:p>
            <a:pPr marL="457200" lvl="1" indent="0">
              <a:buFont typeface="Wingdings" panose="05000000000000000000" pitchFamily="2" charset="2"/>
              <a:buNone/>
              <a:defRPr/>
            </a:pPr>
            <a:r>
              <a:rPr lang="zh-CN" altLang="en-US" sz="2000" b="1" dirty="0" smtClean="0">
                <a:latin typeface="Times New Roman" panose="02020603050405020304" pitchFamily="18" charset="0"/>
                <a:cs typeface="+mn-ea"/>
              </a:rPr>
              <a:t>如：</a:t>
            </a:r>
            <a:r>
              <a:rPr lang="en-US" altLang="zh-CN" sz="2000" b="1" dirty="0" err="1" smtClean="0">
                <a:latin typeface="Times New Roman" panose="02020603050405020304" pitchFamily="18" charset="0"/>
                <a:cs typeface="+mn-ea"/>
              </a:rPr>
              <a:t>mysqldump</a:t>
            </a:r>
            <a:r>
              <a:rPr lang="en-US" altLang="zh-CN" sz="2000" b="1" dirty="0" smtClean="0">
                <a:latin typeface="Times New Roman" panose="02020603050405020304" pitchFamily="18" charset="0"/>
                <a:cs typeface="+mn-ea"/>
              </a:rPr>
              <a:t> -u -root -p -all-databases &gt; D:\all.sql;</a:t>
            </a:r>
            <a:endParaRPr lang="en-US" altLang="zh-CN" sz="2000" b="1" dirty="0" smtClean="0">
              <a:latin typeface="Times New Roman" panose="02020603050405020304" pitchFamily="18" charset="0"/>
              <a:cs typeface="+mn-ea"/>
            </a:endParaRPr>
          </a:p>
        </p:txBody>
      </p:sp>
      <p:sp>
        <p:nvSpPr>
          <p:cNvPr id="62466" name="Rectangle 2"/>
          <p:cNvSpPr>
            <a:spLocks noChangeArrowheads="1"/>
          </p:cNvSpPr>
          <p:nvPr/>
        </p:nvSpPr>
        <p:spPr bwMode="auto">
          <a:xfrm>
            <a:off x="457200" y="152400"/>
            <a:ext cx="8305800" cy="563563"/>
          </a:xfrm>
          <a:prstGeom prst="rect">
            <a:avLst/>
          </a:prstGeom>
          <a:noFill/>
          <a:ln w="9525">
            <a:noFill/>
            <a:miter lim="800000"/>
          </a:ln>
        </p:spPr>
        <p:txBody>
          <a:bodyPr anchor="ctr"/>
          <a:lstStyle/>
          <a:p>
            <a:pPr eaLnBrk="0" hangingPunct="0">
              <a:spcBef>
                <a:spcPct val="20000"/>
              </a:spcBef>
              <a:buFont typeface="Wingdings" panose="05000000000000000000" pitchFamily="2" charset="2"/>
              <a:buNone/>
            </a:pPr>
            <a:r>
              <a:rPr lang="en-US" altLang="zh-CN" sz="2800" b="1">
                <a:solidFill>
                  <a:schemeClr val="bg1"/>
                </a:solidFill>
                <a:latin typeface="Verdana" panose="020B0604030504040204" pitchFamily="34" charset="0"/>
              </a:rPr>
              <a:t>10.7 MySQL</a:t>
            </a:r>
            <a:r>
              <a:rPr lang="zh-CN" altLang="en-US" sz="2800" b="1">
                <a:solidFill>
                  <a:schemeClr val="bg1"/>
                </a:solidFill>
                <a:latin typeface="Verdana" panose="020B0604030504040204" pitchFamily="34" charset="0"/>
              </a:rPr>
              <a:t>数据库备份与恢复实验</a:t>
            </a:r>
            <a:endParaRPr lang="zh-CN" altLang="en-US" sz="2800" b="1">
              <a:solidFill>
                <a:schemeClr val="bg1"/>
              </a:solidFill>
              <a:latin typeface="Verdana" panose="020B0604030504040204" pitchFamily="34" charset="0"/>
            </a:endParaRPr>
          </a:p>
        </p:txBody>
      </p:sp>
      <p:sp>
        <p:nvSpPr>
          <p:cNvPr id="5" name="圆角矩形 4"/>
          <p:cNvSpPr/>
          <p:nvPr/>
        </p:nvSpPr>
        <p:spPr bwMode="gray">
          <a:xfrm>
            <a:off x="400050" y="1295400"/>
            <a:ext cx="8210550" cy="4918075"/>
          </a:xfrm>
          <a:prstGeom prst="roundRect">
            <a:avLst/>
          </a:prstGeom>
          <a:noFill/>
        </p:spPr>
        <p:style>
          <a:lnRef idx="2">
            <a:schemeClr val="accent1"/>
          </a:lnRef>
          <a:fillRef idx="1">
            <a:schemeClr val="lt1"/>
          </a:fillRef>
          <a:effectRef idx="0">
            <a:schemeClr val="accent1"/>
          </a:effectRef>
          <a:fontRef idx="minor">
            <a:schemeClr val="dk1"/>
          </a:fontRef>
        </p:style>
        <p:txBody>
          <a:bodyPr anchor="ctr" anchorCtr="1">
            <a:normAutofit/>
          </a:bodyPr>
          <a:lstStyle/>
          <a:p>
            <a:pPr>
              <a:spcBef>
                <a:spcPct val="20000"/>
              </a:spcBef>
              <a:buFont typeface="Wingdings" panose="05000000000000000000" pitchFamily="2" charset="2"/>
              <a:buNone/>
              <a:defRPr/>
            </a:pPr>
            <a:r>
              <a:rPr lang="zh-CN" altLang="en-US" sz="2500" b="1" dirty="0">
                <a:solidFill>
                  <a:schemeClr val="tx1"/>
                </a:solidFill>
                <a:latin typeface="Arial" panose="020B0604020202020204" pitchFamily="34" charset="0"/>
              </a:rPr>
              <a:t>      </a:t>
            </a:r>
            <a:endParaRPr lang="zh-CN" altLang="en-US" sz="2500" b="1" dirty="0">
              <a:solidFill>
                <a:schemeClr val="tx1"/>
              </a:solidFill>
              <a:latin typeface="Arial" panose="020B0604020202020204" pitchFamily="3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Grp="1" noChangeArrowheads="1"/>
          </p:cNvSpPr>
          <p:nvPr>
            <p:ph type="body" idx="4294967295"/>
          </p:nvPr>
        </p:nvSpPr>
        <p:spPr>
          <a:xfrm>
            <a:off x="304800" y="1219200"/>
            <a:ext cx="8382000" cy="5410200"/>
          </a:xfrm>
        </p:spPr>
        <p:txBody>
          <a:bodyPr/>
          <a:lstStyle/>
          <a:p>
            <a:pPr lvl="1">
              <a:defRPr/>
            </a:pPr>
            <a:r>
              <a:rPr lang="en-US" altLang="zh-CN" b="1" dirty="0" smtClean="0">
                <a:solidFill>
                  <a:srgbClr val="CC0000"/>
                </a:solidFill>
                <a:cs typeface="+mn-ea"/>
              </a:rPr>
              <a:t>2</a:t>
            </a:r>
            <a:r>
              <a:rPr lang="zh-CN" altLang="en-US" b="1" dirty="0" smtClean="0">
                <a:solidFill>
                  <a:srgbClr val="CC0000"/>
                </a:solidFill>
                <a:cs typeface="+mn-ea"/>
              </a:rPr>
              <a:t>．直接</a:t>
            </a:r>
            <a:r>
              <a:rPr lang="zh-CN" altLang="en-US" b="1" dirty="0">
                <a:solidFill>
                  <a:srgbClr val="CC0000"/>
                </a:solidFill>
                <a:cs typeface="+mn-ea"/>
              </a:rPr>
              <a:t>复制整个数据库目录</a:t>
            </a:r>
            <a:endParaRPr lang="zh-CN" altLang="en-US" b="1" dirty="0">
              <a:solidFill>
                <a:srgbClr val="CC0000"/>
              </a:solidFill>
              <a:cs typeface="+mn-ea"/>
            </a:endParaRPr>
          </a:p>
          <a:p>
            <a:pPr marL="457200" lvl="1" indent="0">
              <a:buFont typeface="Wingdings" panose="05000000000000000000" pitchFamily="2" charset="2"/>
              <a:buNone/>
              <a:defRPr/>
            </a:pPr>
            <a:r>
              <a:rPr lang="en-US" altLang="zh-CN" sz="2000" b="1" dirty="0" smtClean="0">
                <a:latin typeface="Times New Roman" panose="02020603050405020304" pitchFamily="18" charset="0"/>
                <a:cs typeface="+mn-ea"/>
              </a:rPr>
              <a:t>MySQL</a:t>
            </a:r>
            <a:r>
              <a:rPr lang="zh-CN" altLang="en-US" sz="2000" b="1" dirty="0" smtClean="0">
                <a:latin typeface="Times New Roman" panose="02020603050405020304" pitchFamily="18" charset="0"/>
                <a:cs typeface="+mn-ea"/>
              </a:rPr>
              <a:t>有一种非常简单的备份方法，就是将</a:t>
            </a:r>
            <a:r>
              <a:rPr lang="en-US" altLang="zh-CN" sz="2000" b="1" dirty="0" smtClean="0">
                <a:latin typeface="Times New Roman" panose="02020603050405020304" pitchFamily="18" charset="0"/>
                <a:cs typeface="+mn-ea"/>
              </a:rPr>
              <a:t>MySQL</a:t>
            </a:r>
            <a:r>
              <a:rPr lang="zh-CN" altLang="en-US" sz="2000" b="1" dirty="0" smtClean="0">
                <a:latin typeface="Times New Roman" panose="02020603050405020304" pitchFamily="18" charset="0"/>
                <a:cs typeface="+mn-ea"/>
              </a:rPr>
              <a:t>中的数据库文件直接复制出来。不过在此之前，要先将服务器停止，这样才可以保证在复制期间数据库的数据不会发生变化。如果在复制数据库的过程中还有数据写入，就会造成数据不一致。这种情况在开发环境可以，但是在生产环境中很难允许停止服务器。</a:t>
            </a:r>
            <a:endParaRPr lang="zh-CN" altLang="en-US" sz="2000" b="1" dirty="0" smtClean="0">
              <a:latin typeface="Times New Roman" panose="02020603050405020304" pitchFamily="18" charset="0"/>
              <a:cs typeface="+mn-ea"/>
            </a:endParaRPr>
          </a:p>
          <a:p>
            <a:pPr marL="457200" lvl="1" indent="0">
              <a:buFont typeface="Wingdings" panose="05000000000000000000" pitchFamily="2" charset="2"/>
              <a:buNone/>
              <a:defRPr/>
            </a:pPr>
            <a:r>
              <a:rPr lang="zh-CN" altLang="en-US" sz="2000" b="1" dirty="0" smtClean="0">
                <a:latin typeface="Times New Roman" panose="02020603050405020304" pitchFamily="18" charset="0"/>
                <a:cs typeface="+mn-ea"/>
              </a:rPr>
              <a:t>注意：这种方法不适用于</a:t>
            </a:r>
            <a:r>
              <a:rPr lang="en-US" altLang="zh-CN" sz="2000" b="1" dirty="0" err="1" smtClean="0">
                <a:latin typeface="Times New Roman" panose="02020603050405020304" pitchFamily="18" charset="0"/>
                <a:cs typeface="+mn-ea"/>
              </a:rPr>
              <a:t>InnoDB</a:t>
            </a:r>
            <a:r>
              <a:rPr lang="zh-CN" altLang="en-US" sz="2000" b="1" dirty="0" smtClean="0">
                <a:latin typeface="Times New Roman" panose="02020603050405020304" pitchFamily="18" charset="0"/>
                <a:cs typeface="+mn-ea"/>
              </a:rPr>
              <a:t>存储引擎的表，而对于</a:t>
            </a:r>
            <a:r>
              <a:rPr lang="en-US" altLang="zh-CN" sz="2000" b="1" dirty="0" err="1" smtClean="0">
                <a:latin typeface="Times New Roman" panose="02020603050405020304" pitchFamily="18" charset="0"/>
                <a:cs typeface="+mn-ea"/>
              </a:rPr>
              <a:t>MyISAM</a:t>
            </a:r>
            <a:r>
              <a:rPr lang="zh-CN" altLang="en-US" sz="2000" b="1" dirty="0" smtClean="0">
                <a:latin typeface="Times New Roman" panose="02020603050405020304" pitchFamily="18" charset="0"/>
                <a:cs typeface="+mn-ea"/>
              </a:rPr>
              <a:t>存储引擎的表很方便。同时，还原时</a:t>
            </a:r>
            <a:r>
              <a:rPr lang="en-US" altLang="zh-CN" sz="2000" b="1" dirty="0" smtClean="0">
                <a:latin typeface="Times New Roman" panose="02020603050405020304" pitchFamily="18" charset="0"/>
                <a:cs typeface="+mn-ea"/>
              </a:rPr>
              <a:t>MySQL</a:t>
            </a:r>
            <a:r>
              <a:rPr lang="zh-CN" altLang="en-US" sz="2000" b="1" dirty="0" smtClean="0">
                <a:latin typeface="Times New Roman" panose="02020603050405020304" pitchFamily="18" charset="0"/>
                <a:cs typeface="+mn-ea"/>
              </a:rPr>
              <a:t>的版本最好相同。</a:t>
            </a:r>
            <a:endParaRPr lang="zh-CN" altLang="en-US" sz="2000" b="1" dirty="0" smtClean="0">
              <a:latin typeface="Times New Roman" panose="02020603050405020304" pitchFamily="18" charset="0"/>
              <a:cs typeface="+mn-ea"/>
            </a:endParaRPr>
          </a:p>
          <a:p>
            <a:pPr lvl="1">
              <a:defRPr/>
            </a:pPr>
            <a:r>
              <a:rPr lang="en-US" altLang="zh-CN" b="1" dirty="0" smtClean="0">
                <a:solidFill>
                  <a:srgbClr val="CC0000"/>
                </a:solidFill>
                <a:cs typeface="+mn-ea"/>
              </a:rPr>
              <a:t>3. </a:t>
            </a:r>
            <a:r>
              <a:rPr lang="zh-CN" altLang="en-US" b="1" dirty="0" smtClean="0">
                <a:solidFill>
                  <a:srgbClr val="CC0000"/>
                </a:solidFill>
                <a:cs typeface="+mn-ea"/>
              </a:rPr>
              <a:t>使用</a:t>
            </a:r>
            <a:r>
              <a:rPr lang="en-US" altLang="zh-CN" b="1" dirty="0" err="1" smtClean="0">
                <a:solidFill>
                  <a:srgbClr val="CC0000"/>
                </a:solidFill>
                <a:cs typeface="+mn-ea"/>
              </a:rPr>
              <a:t>mysqlhotcopy</a:t>
            </a:r>
            <a:r>
              <a:rPr lang="zh-CN" altLang="en-US" b="1" dirty="0">
                <a:solidFill>
                  <a:srgbClr val="CC0000"/>
                </a:solidFill>
                <a:cs typeface="+mn-ea"/>
              </a:rPr>
              <a:t>工具快速备份</a:t>
            </a:r>
            <a:endParaRPr lang="zh-CN" altLang="en-US" b="1" dirty="0">
              <a:solidFill>
                <a:srgbClr val="CC0000"/>
              </a:solidFill>
              <a:cs typeface="+mn-ea"/>
            </a:endParaRPr>
          </a:p>
          <a:p>
            <a:pPr marL="457200" lvl="1" indent="0">
              <a:buFont typeface="Wingdings" panose="05000000000000000000" pitchFamily="2" charset="2"/>
              <a:buNone/>
              <a:defRPr/>
            </a:pPr>
            <a:r>
              <a:rPr lang="zh-CN" altLang="en-US" sz="2000" b="1" dirty="0" smtClean="0">
                <a:latin typeface="Times New Roman" panose="02020603050405020304" pitchFamily="18" charset="0"/>
                <a:cs typeface="+mn-ea"/>
              </a:rPr>
              <a:t>该命令是热备份，支持不停止</a:t>
            </a:r>
            <a:r>
              <a:rPr lang="en-US" altLang="zh-CN" sz="2000" b="1" dirty="0" smtClean="0">
                <a:latin typeface="Times New Roman" panose="02020603050405020304" pitchFamily="18" charset="0"/>
                <a:cs typeface="+mn-ea"/>
              </a:rPr>
              <a:t>MySQL</a:t>
            </a:r>
            <a:r>
              <a:rPr lang="zh-CN" altLang="en-US" sz="2000" b="1" dirty="0" smtClean="0">
                <a:latin typeface="Times New Roman" panose="02020603050405020304" pitchFamily="18" charset="0"/>
                <a:cs typeface="+mn-ea"/>
              </a:rPr>
              <a:t>服务器备份。而且，</a:t>
            </a:r>
            <a:r>
              <a:rPr lang="en-US" altLang="zh-CN" sz="2000" b="1" dirty="0" err="1" smtClean="0">
                <a:latin typeface="Times New Roman" panose="02020603050405020304" pitchFamily="18" charset="0"/>
                <a:cs typeface="+mn-ea"/>
              </a:rPr>
              <a:t>mysqlhotcopy</a:t>
            </a:r>
            <a:r>
              <a:rPr lang="zh-CN" altLang="en-US" sz="2000" b="1" dirty="0" smtClean="0">
                <a:latin typeface="Times New Roman" panose="02020603050405020304" pitchFamily="18" charset="0"/>
                <a:cs typeface="+mn-ea"/>
              </a:rPr>
              <a:t>的备份方式比</a:t>
            </a:r>
            <a:r>
              <a:rPr lang="en-US" altLang="zh-CN" sz="2000" b="1" dirty="0" err="1" smtClean="0">
                <a:latin typeface="Times New Roman" panose="02020603050405020304" pitchFamily="18" charset="0"/>
                <a:cs typeface="+mn-ea"/>
              </a:rPr>
              <a:t>mysqldump</a:t>
            </a:r>
            <a:r>
              <a:rPr lang="zh-CN" altLang="en-US" sz="2000" b="1" dirty="0" smtClean="0">
                <a:latin typeface="Times New Roman" panose="02020603050405020304" pitchFamily="18" charset="0"/>
                <a:cs typeface="+mn-ea"/>
              </a:rPr>
              <a:t>快。</a:t>
            </a:r>
            <a:r>
              <a:rPr lang="en-US" altLang="zh-CN" sz="2000" b="1" dirty="0" err="1" smtClean="0">
                <a:latin typeface="Times New Roman" panose="02020603050405020304" pitchFamily="18" charset="0"/>
                <a:cs typeface="+mn-ea"/>
              </a:rPr>
              <a:t>mysqlhotcopy</a:t>
            </a:r>
            <a:r>
              <a:rPr lang="zh-CN" altLang="en-US" sz="2000" b="1" dirty="0" smtClean="0">
                <a:latin typeface="Times New Roman" panose="02020603050405020304" pitchFamily="18" charset="0"/>
                <a:cs typeface="+mn-ea"/>
              </a:rPr>
              <a:t>是一个</a:t>
            </a:r>
            <a:r>
              <a:rPr lang="en-US" altLang="zh-CN" sz="2000" b="1" dirty="0" err="1" smtClean="0">
                <a:latin typeface="Times New Roman" panose="02020603050405020304" pitchFamily="18" charset="0"/>
                <a:cs typeface="+mn-ea"/>
              </a:rPr>
              <a:t>perl</a:t>
            </a:r>
            <a:r>
              <a:rPr lang="zh-CN" altLang="en-US" sz="2000" b="1" dirty="0" smtClean="0">
                <a:latin typeface="Times New Roman" panose="02020603050405020304" pitchFamily="18" charset="0"/>
                <a:cs typeface="+mn-ea"/>
              </a:rPr>
              <a:t>脚本，主要在</a:t>
            </a:r>
            <a:r>
              <a:rPr lang="en-US" altLang="zh-CN" sz="2000" b="1" dirty="0" smtClean="0">
                <a:latin typeface="Times New Roman" panose="02020603050405020304" pitchFamily="18" charset="0"/>
                <a:cs typeface="+mn-ea"/>
              </a:rPr>
              <a:t>Linux</a:t>
            </a:r>
            <a:r>
              <a:rPr lang="zh-CN" altLang="en-US" sz="2000" b="1" dirty="0" smtClean="0">
                <a:latin typeface="Times New Roman" panose="02020603050405020304" pitchFamily="18" charset="0"/>
                <a:cs typeface="+mn-ea"/>
              </a:rPr>
              <a:t>系统下使用。其使用</a:t>
            </a:r>
            <a:r>
              <a:rPr lang="en-US" altLang="zh-CN" sz="2000" b="1" dirty="0" smtClean="0">
                <a:latin typeface="Times New Roman" panose="02020603050405020304" pitchFamily="18" charset="0"/>
                <a:cs typeface="+mn-ea"/>
              </a:rPr>
              <a:t>LOCK TABLES</a:t>
            </a:r>
            <a:r>
              <a:rPr lang="zh-CN" altLang="en-US" sz="2000" b="1" dirty="0" smtClean="0">
                <a:latin typeface="Times New Roman" panose="02020603050405020304" pitchFamily="18" charset="0"/>
                <a:cs typeface="+mn-ea"/>
              </a:rPr>
              <a:t>、</a:t>
            </a:r>
            <a:r>
              <a:rPr lang="en-US" altLang="zh-CN" sz="2000" b="1" dirty="0" smtClean="0">
                <a:latin typeface="Times New Roman" panose="02020603050405020304" pitchFamily="18" charset="0"/>
                <a:cs typeface="+mn-ea"/>
              </a:rPr>
              <a:t>FLUSH TABLES</a:t>
            </a:r>
            <a:r>
              <a:rPr lang="zh-CN" altLang="en-US" sz="2000" b="1" dirty="0" smtClean="0">
                <a:latin typeface="Times New Roman" panose="02020603050405020304" pitchFamily="18" charset="0"/>
                <a:cs typeface="+mn-ea"/>
              </a:rPr>
              <a:t>和</a:t>
            </a:r>
            <a:r>
              <a:rPr lang="en-US" altLang="zh-CN" sz="2000" b="1" dirty="0" err="1" smtClean="0">
                <a:latin typeface="Times New Roman" panose="02020603050405020304" pitchFamily="18" charset="0"/>
                <a:cs typeface="+mn-ea"/>
              </a:rPr>
              <a:t>cp</a:t>
            </a:r>
            <a:r>
              <a:rPr lang="zh-CN" altLang="en-US" sz="2000" b="1" dirty="0" smtClean="0">
                <a:latin typeface="Times New Roman" panose="02020603050405020304" pitchFamily="18" charset="0"/>
                <a:cs typeface="+mn-ea"/>
              </a:rPr>
              <a:t>来进行快速备份。</a:t>
            </a:r>
            <a:endParaRPr lang="zh-CN" altLang="en-US" sz="2000" b="1" dirty="0" smtClean="0">
              <a:latin typeface="Times New Roman" panose="02020603050405020304" pitchFamily="18" charset="0"/>
              <a:cs typeface="+mn-ea"/>
            </a:endParaRPr>
          </a:p>
          <a:p>
            <a:pPr marL="457200" lvl="1" indent="0">
              <a:buFont typeface="Wingdings" panose="05000000000000000000" pitchFamily="2" charset="2"/>
              <a:buNone/>
              <a:defRPr/>
            </a:pPr>
            <a:r>
              <a:rPr lang="zh-CN" altLang="en-US" sz="2000" b="1" dirty="0" smtClean="0">
                <a:latin typeface="Times New Roman" panose="02020603050405020304" pitchFamily="18" charset="0"/>
                <a:cs typeface="+mn-ea"/>
              </a:rPr>
              <a:t>基本原理为：先将需要备份的数据库加上一个读锁，然后用</a:t>
            </a:r>
            <a:r>
              <a:rPr lang="en-US" altLang="zh-CN" sz="2000" b="1" dirty="0" smtClean="0">
                <a:latin typeface="Times New Roman" panose="02020603050405020304" pitchFamily="18" charset="0"/>
                <a:cs typeface="+mn-ea"/>
              </a:rPr>
              <a:t>FLUSH TABLES</a:t>
            </a:r>
            <a:r>
              <a:rPr lang="zh-CN" altLang="en-US" sz="2000" b="1" dirty="0" smtClean="0">
                <a:latin typeface="Times New Roman" panose="02020603050405020304" pitchFamily="18" charset="0"/>
                <a:cs typeface="+mn-ea"/>
              </a:rPr>
              <a:t>将内存中的数据写回到硬盘上的数据库，最后，把需要备份的数据库文件复制到目标目录。</a:t>
            </a:r>
            <a:endParaRPr lang="zh-CN" altLang="en-US" sz="2000" b="1" dirty="0" smtClean="0">
              <a:latin typeface="Times New Roman" panose="02020603050405020304" pitchFamily="18" charset="0"/>
              <a:cs typeface="+mn-ea"/>
            </a:endParaRPr>
          </a:p>
        </p:txBody>
      </p:sp>
      <p:sp>
        <p:nvSpPr>
          <p:cNvPr id="63490" name="Rectangle 2"/>
          <p:cNvSpPr>
            <a:spLocks noChangeArrowheads="1"/>
          </p:cNvSpPr>
          <p:nvPr/>
        </p:nvSpPr>
        <p:spPr bwMode="auto">
          <a:xfrm>
            <a:off x="457200" y="152400"/>
            <a:ext cx="8305800" cy="563563"/>
          </a:xfrm>
          <a:prstGeom prst="rect">
            <a:avLst/>
          </a:prstGeom>
          <a:noFill/>
          <a:ln w="9525">
            <a:noFill/>
            <a:miter lim="800000"/>
          </a:ln>
        </p:spPr>
        <p:txBody>
          <a:bodyPr anchor="ctr"/>
          <a:lstStyle/>
          <a:p>
            <a:pPr eaLnBrk="0" hangingPunct="0">
              <a:spcBef>
                <a:spcPct val="20000"/>
              </a:spcBef>
              <a:buFont typeface="Wingdings" panose="05000000000000000000" pitchFamily="2" charset="2"/>
              <a:buNone/>
            </a:pPr>
            <a:r>
              <a:rPr lang="en-US" altLang="zh-CN" sz="2800" b="1">
                <a:solidFill>
                  <a:schemeClr val="bg1"/>
                </a:solidFill>
                <a:latin typeface="Verdana" panose="020B0604030504040204" pitchFamily="34" charset="0"/>
              </a:rPr>
              <a:t>10.7 MySQL</a:t>
            </a:r>
            <a:r>
              <a:rPr lang="zh-CN" altLang="en-US" sz="2800" b="1">
                <a:solidFill>
                  <a:schemeClr val="bg1"/>
                </a:solidFill>
                <a:latin typeface="Verdana" panose="020B0604030504040204" pitchFamily="34" charset="0"/>
              </a:rPr>
              <a:t>数据库备份与恢复实验</a:t>
            </a:r>
            <a:endParaRPr lang="zh-CN" altLang="en-US" sz="2800" b="1">
              <a:solidFill>
                <a:schemeClr val="bg1"/>
              </a:solidFill>
              <a:latin typeface="Verdana" panose="020B0604030504040204" pitchFamily="34" charset="0"/>
            </a:endParaRPr>
          </a:p>
        </p:txBody>
      </p:sp>
      <p:sp>
        <p:nvSpPr>
          <p:cNvPr id="5" name="圆角矩形 4"/>
          <p:cNvSpPr/>
          <p:nvPr/>
        </p:nvSpPr>
        <p:spPr bwMode="gray">
          <a:xfrm>
            <a:off x="400050" y="1295400"/>
            <a:ext cx="8210550" cy="5164138"/>
          </a:xfrm>
          <a:prstGeom prst="roundRect">
            <a:avLst/>
          </a:prstGeom>
          <a:noFill/>
        </p:spPr>
        <p:style>
          <a:lnRef idx="2">
            <a:schemeClr val="accent1"/>
          </a:lnRef>
          <a:fillRef idx="1">
            <a:schemeClr val="lt1"/>
          </a:fillRef>
          <a:effectRef idx="0">
            <a:schemeClr val="accent1"/>
          </a:effectRef>
          <a:fontRef idx="minor">
            <a:schemeClr val="dk1"/>
          </a:fontRef>
        </p:style>
        <p:txBody>
          <a:bodyPr anchor="ctr" anchorCtr="1">
            <a:normAutofit/>
          </a:bodyPr>
          <a:lstStyle/>
          <a:p>
            <a:pPr>
              <a:spcBef>
                <a:spcPct val="20000"/>
              </a:spcBef>
              <a:buFont typeface="Wingdings" panose="05000000000000000000" pitchFamily="2" charset="2"/>
              <a:buNone/>
              <a:defRPr/>
            </a:pPr>
            <a:r>
              <a:rPr lang="zh-CN" altLang="en-US" sz="2500" b="1" dirty="0">
                <a:solidFill>
                  <a:schemeClr val="tx1"/>
                </a:solidFill>
                <a:latin typeface="Arial" panose="020B0604020202020204" pitchFamily="34" charset="0"/>
              </a:rPr>
              <a:t>      </a:t>
            </a:r>
            <a:endParaRPr lang="zh-CN" altLang="en-US" sz="2500" b="1" dirty="0">
              <a:solidFill>
                <a:schemeClr val="tx1"/>
              </a:solidFill>
              <a:latin typeface="Arial" panose="020B0604020202020204"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Grp="1" noChangeArrowheads="1"/>
          </p:cNvSpPr>
          <p:nvPr>
            <p:ph type="body" idx="4294967295"/>
          </p:nvPr>
        </p:nvSpPr>
        <p:spPr>
          <a:xfrm>
            <a:off x="304800" y="1219200"/>
            <a:ext cx="8382000" cy="5486400"/>
          </a:xfrm>
        </p:spPr>
        <p:txBody>
          <a:bodyPr/>
          <a:lstStyle/>
          <a:p>
            <a:pPr lvl="1">
              <a:defRPr/>
            </a:pPr>
            <a:r>
              <a:rPr lang="en-US" altLang="zh-CN" b="1" dirty="0" smtClean="0">
                <a:solidFill>
                  <a:srgbClr val="CC0000"/>
                </a:solidFill>
                <a:cs typeface="+mn-ea"/>
              </a:rPr>
              <a:t>3. </a:t>
            </a:r>
            <a:r>
              <a:rPr lang="zh-CN" altLang="en-US" b="1" dirty="0" smtClean="0">
                <a:solidFill>
                  <a:srgbClr val="CC0000"/>
                </a:solidFill>
                <a:cs typeface="+mn-ea"/>
              </a:rPr>
              <a:t>使用</a:t>
            </a:r>
            <a:r>
              <a:rPr lang="en-US" altLang="zh-CN" b="1" dirty="0" err="1" smtClean="0">
                <a:solidFill>
                  <a:srgbClr val="CC0000"/>
                </a:solidFill>
                <a:cs typeface="+mn-ea"/>
              </a:rPr>
              <a:t>mysqlhotcopy</a:t>
            </a:r>
            <a:r>
              <a:rPr lang="zh-CN" altLang="en-US" b="1" dirty="0" smtClean="0">
                <a:solidFill>
                  <a:srgbClr val="CC0000"/>
                </a:solidFill>
                <a:cs typeface="+mn-ea"/>
              </a:rPr>
              <a:t>工具</a:t>
            </a:r>
            <a:r>
              <a:rPr lang="zh-CN" altLang="en-US" b="1" dirty="0">
                <a:solidFill>
                  <a:srgbClr val="CC0000"/>
                </a:solidFill>
                <a:cs typeface="+mn-ea"/>
              </a:rPr>
              <a:t>快速</a:t>
            </a:r>
            <a:r>
              <a:rPr lang="zh-CN" altLang="en-US" b="1" dirty="0" smtClean="0">
                <a:solidFill>
                  <a:srgbClr val="CC0000"/>
                </a:solidFill>
                <a:cs typeface="+mn-ea"/>
              </a:rPr>
              <a:t>备份</a:t>
            </a:r>
            <a:endParaRPr lang="zh-CN" altLang="en-US" b="1" dirty="0">
              <a:solidFill>
                <a:srgbClr val="CC0000"/>
              </a:solidFill>
              <a:cs typeface="+mn-ea"/>
            </a:endParaRPr>
          </a:p>
          <a:p>
            <a:pPr marL="457200" lvl="1" indent="0">
              <a:buFont typeface="Wingdings" panose="05000000000000000000" pitchFamily="2" charset="2"/>
              <a:buNone/>
              <a:defRPr/>
            </a:pPr>
            <a:r>
              <a:rPr lang="zh-CN" altLang="en-US" sz="2000" b="1" dirty="0" smtClean="0">
                <a:latin typeface="Times New Roman" panose="02020603050405020304" pitchFamily="18" charset="0"/>
                <a:cs typeface="+mn-ea"/>
              </a:rPr>
              <a:t>命令格式如下：</a:t>
            </a:r>
            <a:endParaRPr lang="zh-CN" altLang="en-US" sz="2000" b="1" dirty="0" smtClean="0">
              <a:latin typeface="Times New Roman" panose="02020603050405020304" pitchFamily="18" charset="0"/>
              <a:cs typeface="+mn-ea"/>
            </a:endParaRPr>
          </a:p>
          <a:p>
            <a:pPr marL="457200" lvl="1" indent="0">
              <a:buFont typeface="Wingdings" panose="05000000000000000000" pitchFamily="2" charset="2"/>
              <a:buNone/>
              <a:defRPr/>
            </a:pPr>
            <a:r>
              <a:rPr lang="en-US" altLang="zh-CN" sz="2000" b="1" dirty="0" smtClean="0">
                <a:latin typeface="Times New Roman" panose="02020603050405020304" pitchFamily="18" charset="0"/>
                <a:cs typeface="+mn-ea"/>
              </a:rPr>
              <a:t># </a:t>
            </a:r>
            <a:r>
              <a:rPr lang="en-US" altLang="zh-CN" sz="2000" b="1" dirty="0" err="1" smtClean="0">
                <a:latin typeface="Times New Roman" panose="02020603050405020304" pitchFamily="18" charset="0"/>
                <a:cs typeface="+mn-ea"/>
              </a:rPr>
              <a:t>mysqlhotcopy</a:t>
            </a:r>
            <a:r>
              <a:rPr lang="en-US" altLang="zh-CN" sz="2000" b="1" dirty="0" smtClean="0">
                <a:latin typeface="Times New Roman" panose="02020603050405020304" pitchFamily="18" charset="0"/>
                <a:cs typeface="+mn-ea"/>
              </a:rPr>
              <a:t> [option] dbname1 dbname2 </a:t>
            </a:r>
            <a:r>
              <a:rPr lang="en-US" altLang="zh-CN" sz="2000" b="1" dirty="0" err="1" smtClean="0">
                <a:latin typeface="Times New Roman" panose="02020603050405020304" pitchFamily="18" charset="0"/>
                <a:cs typeface="+mn-ea"/>
              </a:rPr>
              <a:t>backupDir</a:t>
            </a:r>
            <a:r>
              <a:rPr lang="en-US" altLang="zh-CN" sz="2000" b="1" dirty="0" smtClean="0">
                <a:latin typeface="Times New Roman" panose="02020603050405020304" pitchFamily="18" charset="0"/>
                <a:cs typeface="+mn-ea"/>
              </a:rPr>
              <a:t>/</a:t>
            </a:r>
            <a:endParaRPr lang="en-US" altLang="zh-CN" sz="2000" b="1" dirty="0" smtClean="0">
              <a:latin typeface="Times New Roman" panose="02020603050405020304" pitchFamily="18" charset="0"/>
              <a:cs typeface="+mn-ea"/>
            </a:endParaRPr>
          </a:p>
          <a:p>
            <a:pPr marL="457200" lvl="1" indent="0">
              <a:buFont typeface="Wingdings" panose="05000000000000000000" pitchFamily="2" charset="2"/>
              <a:buNone/>
              <a:defRPr/>
            </a:pPr>
            <a:r>
              <a:rPr lang="en-US" altLang="zh-CN" sz="2000" b="1" dirty="0" smtClean="0">
                <a:latin typeface="Times New Roman" panose="02020603050405020304" pitchFamily="18" charset="0"/>
                <a:cs typeface="+mn-ea"/>
              </a:rPr>
              <a:t>•</a:t>
            </a:r>
            <a:r>
              <a:rPr lang="en-US" altLang="zh-CN" sz="2000" b="1" dirty="0" err="1" smtClean="0">
                <a:latin typeface="Times New Roman" panose="02020603050405020304" pitchFamily="18" charset="0"/>
                <a:cs typeface="+mn-ea"/>
              </a:rPr>
              <a:t>dbname</a:t>
            </a:r>
            <a:r>
              <a:rPr lang="zh-CN" altLang="en-US" sz="2000" b="1" dirty="0" smtClean="0">
                <a:latin typeface="Times New Roman" panose="02020603050405020304" pitchFamily="18" charset="0"/>
                <a:cs typeface="+mn-ea"/>
              </a:rPr>
              <a:t>：数据库名称；</a:t>
            </a:r>
            <a:endParaRPr lang="zh-CN" altLang="en-US" sz="2000" b="1" dirty="0" smtClean="0">
              <a:latin typeface="Times New Roman" panose="02020603050405020304" pitchFamily="18" charset="0"/>
              <a:cs typeface="+mn-ea"/>
            </a:endParaRPr>
          </a:p>
          <a:p>
            <a:pPr marL="457200" lvl="1" indent="0">
              <a:buFont typeface="Wingdings" panose="05000000000000000000" pitchFamily="2" charset="2"/>
              <a:buNone/>
              <a:defRPr/>
            </a:pPr>
            <a:r>
              <a:rPr lang="en-US" altLang="zh-CN" sz="2000" b="1" dirty="0" smtClean="0">
                <a:latin typeface="Times New Roman" panose="02020603050405020304" pitchFamily="18" charset="0"/>
                <a:cs typeface="+mn-ea"/>
              </a:rPr>
              <a:t>•</a:t>
            </a:r>
            <a:r>
              <a:rPr lang="en-US" altLang="zh-CN" sz="2000" b="1" dirty="0" err="1" smtClean="0">
                <a:latin typeface="Times New Roman" panose="02020603050405020304" pitchFamily="18" charset="0"/>
                <a:cs typeface="+mn-ea"/>
              </a:rPr>
              <a:t>backupDir</a:t>
            </a:r>
            <a:r>
              <a:rPr lang="zh-CN" altLang="en-US" sz="2000" b="1" dirty="0" smtClean="0">
                <a:latin typeface="Times New Roman" panose="02020603050405020304" pitchFamily="18" charset="0"/>
                <a:cs typeface="+mn-ea"/>
              </a:rPr>
              <a:t>：备份到哪个文件夹下；</a:t>
            </a:r>
            <a:endParaRPr lang="en-US" altLang="zh-CN" sz="2000" b="1" dirty="0" smtClean="0">
              <a:latin typeface="Times New Roman" panose="02020603050405020304" pitchFamily="18" charset="0"/>
              <a:cs typeface="+mn-ea"/>
            </a:endParaRPr>
          </a:p>
          <a:p>
            <a:pPr marL="457200" lvl="1" indent="0">
              <a:buFont typeface="Wingdings" panose="05000000000000000000" pitchFamily="2" charset="2"/>
              <a:buNone/>
              <a:defRPr/>
            </a:pPr>
            <a:r>
              <a:rPr lang="en-US" altLang="zh-CN" sz="2000" b="1" dirty="0" err="1" smtClean="0">
                <a:latin typeface="Times New Roman" panose="02020603050405020304" pitchFamily="18" charset="0"/>
                <a:cs typeface="+mn-ea"/>
              </a:rPr>
              <a:t>mysqlhotcopy</a:t>
            </a:r>
            <a:r>
              <a:rPr lang="zh-CN" altLang="en-US" sz="2000" b="1" dirty="0" smtClean="0">
                <a:latin typeface="Times New Roman" panose="02020603050405020304" pitchFamily="18" charset="0"/>
                <a:cs typeface="+mn-ea"/>
              </a:rPr>
              <a:t>并非</a:t>
            </a:r>
            <a:r>
              <a:rPr lang="en-US" altLang="zh-CN" sz="2000" b="1" dirty="0" err="1" smtClean="0">
                <a:latin typeface="Times New Roman" panose="02020603050405020304" pitchFamily="18" charset="0"/>
                <a:cs typeface="+mn-ea"/>
              </a:rPr>
              <a:t>mysql</a:t>
            </a:r>
            <a:r>
              <a:rPr lang="zh-CN" altLang="en-US" sz="2000" b="1" dirty="0" smtClean="0">
                <a:latin typeface="Times New Roman" panose="02020603050405020304" pitchFamily="18" charset="0"/>
                <a:cs typeface="+mn-ea"/>
              </a:rPr>
              <a:t>自带，需要安装</a:t>
            </a:r>
            <a:r>
              <a:rPr lang="en-US" altLang="zh-CN" sz="2000" b="1" dirty="0" smtClean="0">
                <a:latin typeface="Times New Roman" panose="02020603050405020304" pitchFamily="18" charset="0"/>
                <a:cs typeface="+mn-ea"/>
              </a:rPr>
              <a:t>Perl</a:t>
            </a:r>
            <a:r>
              <a:rPr lang="zh-CN" altLang="en-US" sz="2000" b="1" dirty="0" smtClean="0">
                <a:latin typeface="Times New Roman" panose="02020603050405020304" pitchFamily="18" charset="0"/>
                <a:cs typeface="+mn-ea"/>
              </a:rPr>
              <a:t>的数据库接口包，且该工具也仅仅能够备份</a:t>
            </a:r>
            <a:r>
              <a:rPr lang="en-US" altLang="zh-CN" sz="2000" b="1" dirty="0" err="1" smtClean="0">
                <a:latin typeface="Times New Roman" panose="02020603050405020304" pitchFamily="18" charset="0"/>
                <a:cs typeface="+mn-ea"/>
              </a:rPr>
              <a:t>MyISAM</a:t>
            </a:r>
            <a:r>
              <a:rPr lang="zh-CN" altLang="en-US" sz="2000" b="1" dirty="0" smtClean="0">
                <a:latin typeface="Times New Roman" panose="02020603050405020304" pitchFamily="18" charset="0"/>
                <a:cs typeface="+mn-ea"/>
              </a:rPr>
              <a:t>类型的表。</a:t>
            </a:r>
            <a:endParaRPr lang="zh-CN" altLang="en-US" sz="2000" b="1" dirty="0" smtClean="0">
              <a:latin typeface="Times New Roman" panose="02020603050405020304" pitchFamily="18" charset="0"/>
              <a:cs typeface="+mn-ea"/>
            </a:endParaRPr>
          </a:p>
          <a:p>
            <a:pPr lvl="1">
              <a:defRPr/>
            </a:pPr>
            <a:r>
              <a:rPr lang="en-US" altLang="zh-CN" b="1" dirty="0">
                <a:solidFill>
                  <a:srgbClr val="CC0000"/>
                </a:solidFill>
                <a:cs typeface="+mn-ea"/>
              </a:rPr>
              <a:t>4.</a:t>
            </a:r>
            <a:r>
              <a:rPr lang="zh-CN" altLang="en-US" b="1" dirty="0">
                <a:solidFill>
                  <a:srgbClr val="CC0000"/>
                </a:solidFill>
                <a:cs typeface="+mn-ea"/>
              </a:rPr>
              <a:t>还原使用</a:t>
            </a:r>
            <a:r>
              <a:rPr lang="en-US" altLang="zh-CN" b="1" dirty="0" err="1">
                <a:solidFill>
                  <a:srgbClr val="CC0000"/>
                </a:solidFill>
                <a:cs typeface="+mn-ea"/>
              </a:rPr>
              <a:t>mysqldump</a:t>
            </a:r>
            <a:r>
              <a:rPr lang="zh-CN" altLang="en-US" b="1" dirty="0">
                <a:solidFill>
                  <a:srgbClr val="CC0000"/>
                </a:solidFill>
                <a:cs typeface="+mn-ea"/>
              </a:rPr>
              <a:t>命令备份的数据库</a:t>
            </a:r>
            <a:endParaRPr lang="zh-CN" altLang="en-US" b="1" dirty="0">
              <a:solidFill>
                <a:srgbClr val="CC0000"/>
              </a:solidFill>
              <a:cs typeface="+mn-ea"/>
            </a:endParaRPr>
          </a:p>
          <a:p>
            <a:pPr marL="457200" lvl="1" indent="0">
              <a:buFont typeface="Wingdings" panose="05000000000000000000" pitchFamily="2" charset="2"/>
              <a:buNone/>
              <a:defRPr/>
            </a:pPr>
            <a:r>
              <a:rPr lang="en-US" altLang="zh-CN" sz="2000" b="1" dirty="0" err="1" smtClean="0">
                <a:latin typeface="Times New Roman" panose="02020603050405020304" pitchFamily="18" charset="0"/>
                <a:cs typeface="+mn-ea"/>
              </a:rPr>
              <a:t>mysql</a:t>
            </a:r>
            <a:r>
              <a:rPr lang="en-US" altLang="zh-CN" sz="2000" b="1" dirty="0" smtClean="0">
                <a:latin typeface="Times New Roman" panose="02020603050405020304" pitchFamily="18" charset="0"/>
                <a:cs typeface="+mn-ea"/>
              </a:rPr>
              <a:t> -u root -p [</a:t>
            </a:r>
            <a:r>
              <a:rPr lang="en-US" altLang="zh-CN" sz="2000" b="1" dirty="0" err="1" smtClean="0">
                <a:latin typeface="Times New Roman" panose="02020603050405020304" pitchFamily="18" charset="0"/>
                <a:cs typeface="+mn-ea"/>
              </a:rPr>
              <a:t>dbname</a:t>
            </a:r>
            <a:r>
              <a:rPr lang="en-US" altLang="zh-CN" sz="2000" b="1" dirty="0" smtClean="0">
                <a:latin typeface="Times New Roman" panose="02020603050405020304" pitchFamily="18" charset="0"/>
                <a:cs typeface="+mn-ea"/>
              </a:rPr>
              <a:t>] &lt; </a:t>
            </a:r>
            <a:r>
              <a:rPr lang="en-US" altLang="zh-CN" sz="2000" b="1" dirty="0" err="1" smtClean="0">
                <a:latin typeface="Times New Roman" panose="02020603050405020304" pitchFamily="18" charset="0"/>
                <a:cs typeface="+mn-ea"/>
              </a:rPr>
              <a:t>backup.sql</a:t>
            </a:r>
            <a:endParaRPr lang="en-US" altLang="zh-CN" sz="2000" b="1" dirty="0" smtClean="0">
              <a:latin typeface="Times New Roman" panose="02020603050405020304" pitchFamily="18" charset="0"/>
              <a:cs typeface="+mn-ea"/>
            </a:endParaRPr>
          </a:p>
          <a:p>
            <a:pPr marL="457200" lvl="1" indent="0">
              <a:buFont typeface="Wingdings" panose="05000000000000000000" pitchFamily="2" charset="2"/>
              <a:buNone/>
              <a:defRPr/>
            </a:pPr>
            <a:r>
              <a:rPr lang="zh-CN" altLang="en-US" sz="2000" b="1" dirty="0" smtClean="0">
                <a:latin typeface="Times New Roman" panose="02020603050405020304" pitchFamily="18" charset="0"/>
                <a:cs typeface="+mn-ea"/>
              </a:rPr>
              <a:t>如：</a:t>
            </a:r>
            <a:r>
              <a:rPr lang="en-US" altLang="zh-CN" sz="2000" b="1" dirty="0" err="1" smtClean="0">
                <a:latin typeface="Times New Roman" panose="02020603050405020304" pitchFamily="18" charset="0"/>
                <a:cs typeface="+mn-ea"/>
              </a:rPr>
              <a:t>mysql</a:t>
            </a:r>
            <a:r>
              <a:rPr lang="en-US" altLang="zh-CN" sz="2000" b="1" dirty="0" smtClean="0">
                <a:latin typeface="Times New Roman" panose="02020603050405020304" pitchFamily="18" charset="0"/>
                <a:cs typeface="+mn-ea"/>
              </a:rPr>
              <a:t> -u root -p &lt; D:\backup.sql</a:t>
            </a:r>
            <a:endParaRPr lang="en-US" altLang="zh-CN" sz="2000" b="1" dirty="0" smtClean="0">
              <a:latin typeface="Times New Roman" panose="02020603050405020304" pitchFamily="18" charset="0"/>
              <a:cs typeface="+mn-ea"/>
            </a:endParaRPr>
          </a:p>
          <a:p>
            <a:pPr lvl="1">
              <a:defRPr/>
            </a:pPr>
            <a:r>
              <a:rPr lang="en-US" altLang="zh-CN" b="1" dirty="0">
                <a:solidFill>
                  <a:srgbClr val="CC0000"/>
                </a:solidFill>
                <a:cs typeface="+mn-ea"/>
              </a:rPr>
              <a:t>5.</a:t>
            </a:r>
            <a:r>
              <a:rPr lang="zh-CN" altLang="en-US" b="1" dirty="0">
                <a:solidFill>
                  <a:srgbClr val="CC0000"/>
                </a:solidFill>
                <a:cs typeface="+mn-ea"/>
              </a:rPr>
              <a:t>还原直接复制目录的备份</a:t>
            </a:r>
            <a:endParaRPr lang="zh-CN" altLang="en-US" b="1" dirty="0">
              <a:solidFill>
                <a:srgbClr val="CC0000"/>
              </a:solidFill>
              <a:cs typeface="+mn-ea"/>
            </a:endParaRPr>
          </a:p>
          <a:p>
            <a:pPr marL="457200" lvl="1" indent="0">
              <a:buFont typeface="Wingdings" panose="05000000000000000000" pitchFamily="2" charset="2"/>
              <a:buNone/>
              <a:defRPr/>
            </a:pPr>
            <a:r>
              <a:rPr lang="zh-CN" altLang="en-US" sz="2000" b="1" dirty="0" smtClean="0">
                <a:latin typeface="Times New Roman" panose="02020603050405020304" pitchFamily="18" charset="0"/>
                <a:cs typeface="+mn-ea"/>
              </a:rPr>
              <a:t>通过这种方式还原时，必须保证两个</a:t>
            </a:r>
            <a:r>
              <a:rPr lang="en-US" altLang="zh-CN" sz="2000" b="1" dirty="0" smtClean="0">
                <a:latin typeface="Times New Roman" panose="02020603050405020304" pitchFamily="18" charset="0"/>
                <a:cs typeface="+mn-ea"/>
              </a:rPr>
              <a:t>MySQL</a:t>
            </a:r>
            <a:r>
              <a:rPr lang="zh-CN" altLang="en-US" sz="2000" b="1" dirty="0" smtClean="0">
                <a:latin typeface="Times New Roman" panose="02020603050405020304" pitchFamily="18" charset="0"/>
                <a:cs typeface="+mn-ea"/>
              </a:rPr>
              <a:t>数据库的版本号是相同的。</a:t>
            </a:r>
            <a:r>
              <a:rPr lang="en-US" altLang="zh-CN" sz="2000" b="1" dirty="0" err="1" smtClean="0">
                <a:latin typeface="Times New Roman" panose="02020603050405020304" pitchFamily="18" charset="0"/>
                <a:cs typeface="+mn-ea"/>
              </a:rPr>
              <a:t>MyISAM</a:t>
            </a:r>
            <a:r>
              <a:rPr lang="zh-CN" altLang="en-US" sz="2000" b="1" dirty="0" smtClean="0">
                <a:latin typeface="Times New Roman" panose="02020603050405020304" pitchFamily="18" charset="0"/>
                <a:cs typeface="+mn-ea"/>
              </a:rPr>
              <a:t>类型的表有效，对于</a:t>
            </a:r>
            <a:r>
              <a:rPr lang="en-US" altLang="zh-CN" sz="2000" b="1" dirty="0" err="1" smtClean="0">
                <a:latin typeface="Times New Roman" panose="02020603050405020304" pitchFamily="18" charset="0"/>
                <a:cs typeface="+mn-ea"/>
              </a:rPr>
              <a:t>InnoDB</a:t>
            </a:r>
            <a:r>
              <a:rPr lang="zh-CN" altLang="en-US" sz="2000" b="1" dirty="0" smtClean="0">
                <a:latin typeface="Times New Roman" panose="02020603050405020304" pitchFamily="18" charset="0"/>
                <a:cs typeface="+mn-ea"/>
              </a:rPr>
              <a:t>类型的表不可用，</a:t>
            </a:r>
            <a:r>
              <a:rPr lang="en-US" altLang="zh-CN" sz="2000" b="1" dirty="0" err="1" smtClean="0">
                <a:latin typeface="Times New Roman" panose="02020603050405020304" pitchFamily="18" charset="0"/>
                <a:cs typeface="+mn-ea"/>
              </a:rPr>
              <a:t>InnoDB</a:t>
            </a:r>
            <a:r>
              <a:rPr lang="zh-CN" altLang="en-US" sz="2000" b="1" dirty="0" smtClean="0">
                <a:latin typeface="Times New Roman" panose="02020603050405020304" pitchFamily="18" charset="0"/>
                <a:cs typeface="+mn-ea"/>
              </a:rPr>
              <a:t>表的表空间不能直接复制。</a:t>
            </a:r>
            <a:endParaRPr lang="zh-CN" altLang="en-US" sz="2000" b="1" dirty="0" smtClean="0">
              <a:latin typeface="Times New Roman" panose="02020603050405020304" pitchFamily="18" charset="0"/>
              <a:cs typeface="+mn-ea"/>
            </a:endParaRPr>
          </a:p>
          <a:p>
            <a:pPr marL="457200" lvl="1" indent="0">
              <a:buFont typeface="Wingdings" panose="05000000000000000000" pitchFamily="2" charset="2"/>
              <a:buNone/>
              <a:defRPr/>
            </a:pPr>
            <a:endParaRPr lang="zh-CN" altLang="en-US" sz="2000" b="1" dirty="0" smtClean="0">
              <a:latin typeface="Times New Roman" panose="02020603050405020304" pitchFamily="18" charset="0"/>
              <a:cs typeface="+mn-ea"/>
            </a:endParaRPr>
          </a:p>
        </p:txBody>
      </p:sp>
      <p:sp>
        <p:nvSpPr>
          <p:cNvPr id="64514" name="Rectangle 2"/>
          <p:cNvSpPr>
            <a:spLocks noChangeArrowheads="1"/>
          </p:cNvSpPr>
          <p:nvPr/>
        </p:nvSpPr>
        <p:spPr bwMode="auto">
          <a:xfrm>
            <a:off x="457200" y="152400"/>
            <a:ext cx="8305800" cy="563563"/>
          </a:xfrm>
          <a:prstGeom prst="rect">
            <a:avLst/>
          </a:prstGeom>
          <a:noFill/>
          <a:ln w="9525">
            <a:noFill/>
            <a:miter lim="800000"/>
          </a:ln>
        </p:spPr>
        <p:txBody>
          <a:bodyPr anchor="ctr"/>
          <a:lstStyle/>
          <a:p>
            <a:pPr eaLnBrk="0" hangingPunct="0">
              <a:spcBef>
                <a:spcPct val="20000"/>
              </a:spcBef>
              <a:buFont typeface="Wingdings" panose="05000000000000000000" pitchFamily="2" charset="2"/>
              <a:buNone/>
            </a:pPr>
            <a:r>
              <a:rPr lang="en-US" altLang="zh-CN" sz="2800" b="1">
                <a:solidFill>
                  <a:schemeClr val="bg1"/>
                </a:solidFill>
                <a:latin typeface="Verdana" panose="020B0604030504040204" pitchFamily="34" charset="0"/>
              </a:rPr>
              <a:t>10.7 MySQL</a:t>
            </a:r>
            <a:r>
              <a:rPr lang="zh-CN" altLang="en-US" sz="2800" b="1">
                <a:solidFill>
                  <a:schemeClr val="bg1"/>
                </a:solidFill>
                <a:latin typeface="Verdana" panose="020B0604030504040204" pitchFamily="34" charset="0"/>
              </a:rPr>
              <a:t>数据库备份与恢复实验</a:t>
            </a:r>
            <a:endParaRPr lang="zh-CN" altLang="en-US" sz="2800" b="1">
              <a:solidFill>
                <a:schemeClr val="bg1"/>
              </a:solidFill>
              <a:latin typeface="Verdana" panose="020B0604030504040204" pitchFamily="34" charset="0"/>
            </a:endParaRPr>
          </a:p>
        </p:txBody>
      </p:sp>
      <p:sp>
        <p:nvSpPr>
          <p:cNvPr id="5" name="圆角矩形 4"/>
          <p:cNvSpPr/>
          <p:nvPr/>
        </p:nvSpPr>
        <p:spPr bwMode="gray">
          <a:xfrm>
            <a:off x="400050" y="1295400"/>
            <a:ext cx="8210550" cy="4997450"/>
          </a:xfrm>
          <a:prstGeom prst="roundRect">
            <a:avLst/>
          </a:prstGeom>
          <a:noFill/>
        </p:spPr>
        <p:style>
          <a:lnRef idx="2">
            <a:schemeClr val="accent1"/>
          </a:lnRef>
          <a:fillRef idx="1">
            <a:schemeClr val="lt1"/>
          </a:fillRef>
          <a:effectRef idx="0">
            <a:schemeClr val="accent1"/>
          </a:effectRef>
          <a:fontRef idx="minor">
            <a:schemeClr val="dk1"/>
          </a:fontRef>
        </p:style>
        <p:txBody>
          <a:bodyPr anchor="ctr" anchorCtr="1">
            <a:normAutofit/>
          </a:bodyPr>
          <a:lstStyle/>
          <a:p>
            <a:pPr>
              <a:spcBef>
                <a:spcPct val="20000"/>
              </a:spcBef>
              <a:buFont typeface="Wingdings" panose="05000000000000000000" pitchFamily="2" charset="2"/>
              <a:buNone/>
              <a:defRPr/>
            </a:pPr>
            <a:r>
              <a:rPr lang="zh-CN" altLang="en-US" sz="2500" b="1" dirty="0">
                <a:solidFill>
                  <a:schemeClr val="tx1"/>
                </a:solidFill>
                <a:latin typeface="Arial" panose="020B0604020202020204" pitchFamily="34" charset="0"/>
              </a:rPr>
              <a:t>      </a:t>
            </a:r>
            <a:endParaRPr lang="zh-CN" altLang="en-US" sz="2500" b="1" dirty="0">
              <a:solidFill>
                <a:schemeClr val="tx1"/>
              </a:solidFill>
              <a:latin typeface="Arial" panose="020B0604020202020204" pitchFamily="3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5537" name="对象 15"/>
          <p:cNvGraphicFramePr/>
          <p:nvPr/>
        </p:nvGraphicFramePr>
        <p:xfrm>
          <a:off x="3175" y="984250"/>
          <a:ext cx="9137650" cy="5872163"/>
        </p:xfrm>
        <a:graphic>
          <a:graphicData uri="http://schemas.openxmlformats.org/presentationml/2006/ole">
            <mc:AlternateContent xmlns:mc="http://schemas.openxmlformats.org/markup-compatibility/2006">
              <mc:Choice xmlns:v="urn:schemas-microsoft-com:vml" Requires="v">
                <p:oleObj spid="_x0000_s2053" name="" r:id="rId1" imgW="4273550" imgH="2857500" progId="PBrush">
                  <p:embed/>
                </p:oleObj>
              </mc:Choice>
              <mc:Fallback>
                <p:oleObj name="" r:id="rId1" imgW="4273550" imgH="2857500" progId="PBrush">
                  <p:embed/>
                  <p:pic>
                    <p:nvPicPr>
                      <p:cNvPr id="0" name="对象 15"/>
                      <p:cNvPicPr/>
                      <p:nvPr/>
                    </p:nvPicPr>
                    <p:blipFill>
                      <a:blip r:embed="rId2"/>
                      <a:stretch>
                        <a:fillRect/>
                      </a:stretch>
                    </p:blipFill>
                    <p:spPr>
                      <a:xfrm>
                        <a:off x="3175" y="984250"/>
                        <a:ext cx="9137650" cy="5872163"/>
                      </a:xfrm>
                      <a:prstGeom prst="rect">
                        <a:avLst/>
                      </a:prstGeom>
                      <a:noFill/>
                      <a:ln w="38100">
                        <a:noFill/>
                      </a:ln>
                    </p:spPr>
                  </p:pic>
                </p:oleObj>
              </mc:Fallback>
            </mc:AlternateContent>
          </a:graphicData>
        </a:graphic>
      </p:graphicFrame>
      <p:pic>
        <p:nvPicPr>
          <p:cNvPr id="65538" name="Picture 24" descr="C:\Program Files\Microsoft Office\MEDIA\CAGCAT10\j0300520.gif"/>
          <p:cNvPicPr>
            <a:picLocks noChangeAspect="1" noChangeArrowheads="1"/>
          </p:cNvPicPr>
          <p:nvPr/>
        </p:nvPicPr>
        <p:blipFill>
          <a:blip r:embed="rId3" cstate="print"/>
          <a:srcRect/>
          <a:stretch>
            <a:fillRect/>
          </a:stretch>
        </p:blipFill>
        <p:spPr bwMode="auto">
          <a:xfrm>
            <a:off x="5684168" y="5722936"/>
            <a:ext cx="1152525" cy="990600"/>
          </a:xfrm>
          <a:prstGeom prst="rect">
            <a:avLst/>
          </a:prstGeom>
          <a:noFill/>
          <a:ln w="9525">
            <a:noFill/>
            <a:miter lim="800000"/>
            <a:headEnd/>
            <a:tailEnd/>
          </a:ln>
        </p:spPr>
      </p:pic>
      <p:sp>
        <p:nvSpPr>
          <p:cNvPr id="65539" name="WordArt 3"/>
          <p:cNvSpPr>
            <a:spLocks noChangeArrowheads="1" noChangeShapeType="1" noTextEdit="1"/>
          </p:cNvSpPr>
          <p:nvPr/>
        </p:nvSpPr>
        <p:spPr bwMode="auto">
          <a:xfrm>
            <a:off x="2263775" y="1776413"/>
            <a:ext cx="4298950" cy="857250"/>
          </a:xfrm>
          <a:prstGeom prst="rect">
            <a:avLst/>
          </a:prstGeom>
        </p:spPr>
        <p:txBody>
          <a:bodyPr wrap="none" fromWordArt="1">
            <a:prstTxWarp prst="textPlain">
              <a:avLst>
                <a:gd name="adj" fmla="val 50000"/>
              </a:avLst>
            </a:prstTxWarp>
          </a:bodyPr>
          <a:lstStyle/>
          <a:p>
            <a:pPr algn="ctr"/>
            <a:r>
              <a:rPr lang="zh-CN" altLang="en-US" sz="3600" b="1" kern="10">
                <a:ln w="9525">
                  <a:solidFill>
                    <a:srgbClr val="FFFF00"/>
                  </a:solidFill>
                  <a:round/>
                </a:ln>
                <a:solidFill>
                  <a:srgbClr val="FF0000"/>
                </a:solidFill>
                <a:effectLst>
                  <a:outerShdw dist="35921" dir="2700000" algn="ctr" rotWithShape="0">
                    <a:srgbClr val="C0C0C0">
                      <a:alpha val="79999"/>
                    </a:srgbClr>
                  </a:outerShdw>
                </a:effectLst>
                <a:latin typeface="隶书" panose="02010509060101010101" charset="-122"/>
              </a:rPr>
              <a:t>诚挚谢意！</a:t>
            </a:r>
            <a:endParaRPr lang="zh-CN" altLang="en-US" sz="3600" b="1" kern="10">
              <a:ln w="9525">
                <a:solidFill>
                  <a:srgbClr val="FFFF00"/>
                </a:solidFill>
                <a:round/>
              </a:ln>
              <a:solidFill>
                <a:srgbClr val="FF0000"/>
              </a:solidFill>
              <a:effectLst>
                <a:outerShdw dist="35921" dir="2700000" algn="ctr" rotWithShape="0">
                  <a:srgbClr val="C0C0C0">
                    <a:alpha val="79999"/>
                  </a:srgbClr>
                </a:outerShdw>
              </a:effectLst>
              <a:latin typeface="隶书" panose="02010509060101010101" charset="-122"/>
            </a:endParaRPr>
          </a:p>
        </p:txBody>
      </p:sp>
      <p:sp>
        <p:nvSpPr>
          <p:cNvPr id="3" name="AutoShape 6"/>
          <p:cNvSpPr>
            <a:spLocks noChangeArrowheads="1"/>
          </p:cNvSpPr>
          <p:nvPr/>
        </p:nvSpPr>
        <p:spPr bwMode="auto">
          <a:xfrm>
            <a:off x="646113" y="57150"/>
            <a:ext cx="3641725" cy="1066800"/>
          </a:xfrm>
          <a:prstGeom prst="flowChartAlternateProcess">
            <a:avLst/>
          </a:prstGeom>
          <a:gradFill rotWithShape="1">
            <a:gsLst>
              <a:gs pos="0">
                <a:srgbClr val="FF0000">
                  <a:gamma/>
                  <a:shade val="46275"/>
                  <a:invGamma/>
                </a:srgbClr>
              </a:gs>
              <a:gs pos="50000">
                <a:srgbClr val="FF0000"/>
              </a:gs>
              <a:gs pos="100000">
                <a:srgbClr val="FF0000">
                  <a:gamma/>
                  <a:shade val="46275"/>
                  <a:invGamma/>
                </a:srgbClr>
              </a:gs>
            </a:gsLst>
            <a:lin ang="5400000" scaled="1"/>
          </a:gradFill>
          <a:ln w="9525" algn="ctr">
            <a:noFill/>
            <a:miter lim="800000"/>
          </a:ln>
        </p:spPr>
        <p:txBody>
          <a:bodyPr wrap="none" anchor="ctr"/>
          <a:lstStyle/>
          <a:p>
            <a:pPr algn="ctr">
              <a:spcBef>
                <a:spcPct val="20000"/>
              </a:spcBef>
              <a:buFont typeface="Wingdings" panose="05000000000000000000" pitchFamily="2" charset="2"/>
              <a:buNone/>
              <a:defRPr/>
            </a:pPr>
            <a:r>
              <a:rPr lang="zh-CN" altLang="en-US" sz="2100" b="1" dirty="0">
                <a:solidFill>
                  <a:srgbClr val="FFFF00"/>
                </a:solidFill>
                <a:effectLst>
                  <a:outerShdw blurRad="38100" dist="38100" dir="2700000" algn="tl">
                    <a:srgbClr val="000000"/>
                  </a:outerShdw>
                </a:effectLst>
                <a:ea typeface="黑体" panose="02010609060101010101" pitchFamily="49" charset="-122"/>
              </a:rPr>
              <a:t>“十三五”国家重点出版规划</a:t>
            </a:r>
            <a:endParaRPr lang="zh-CN" altLang="en-US" sz="2100" b="1" dirty="0">
              <a:solidFill>
                <a:srgbClr val="FFFF00"/>
              </a:solidFill>
              <a:effectLst>
                <a:outerShdw blurRad="38100" dist="38100" dir="2700000" algn="tl">
                  <a:srgbClr val="000000"/>
                </a:outerShdw>
              </a:effectLst>
              <a:ea typeface="黑体" panose="02010609060101010101" pitchFamily="49" charset="-122"/>
            </a:endParaRPr>
          </a:p>
          <a:p>
            <a:pPr algn="ctr">
              <a:spcBef>
                <a:spcPct val="20000"/>
              </a:spcBef>
              <a:buFont typeface="Wingdings" panose="05000000000000000000" pitchFamily="2" charset="2"/>
              <a:buNone/>
              <a:defRPr/>
            </a:pPr>
            <a:r>
              <a:rPr lang="zh-CN" altLang="en-US" sz="2100" b="1" dirty="0">
                <a:solidFill>
                  <a:srgbClr val="FFFF00"/>
                </a:solidFill>
                <a:effectLst>
                  <a:outerShdw blurRad="38100" dist="38100" dir="2700000" algn="tl">
                    <a:srgbClr val="000000"/>
                  </a:outerShdw>
                </a:effectLst>
                <a:ea typeface="黑体" panose="02010609060101010101" pitchFamily="49" charset="-122"/>
              </a:rPr>
              <a:t>项目</a:t>
            </a:r>
            <a:r>
              <a:rPr lang="en-US" altLang="zh-CN" sz="2100" b="1" dirty="0">
                <a:solidFill>
                  <a:srgbClr val="FFFF00"/>
                </a:solidFill>
                <a:effectLst>
                  <a:outerShdw blurRad="38100" dist="38100" dir="2700000" algn="tl">
                    <a:srgbClr val="000000"/>
                  </a:outerShdw>
                </a:effectLst>
                <a:ea typeface="黑体" panose="02010609060101010101" pitchFamily="49" charset="-122"/>
              </a:rPr>
              <a:t>,</a:t>
            </a:r>
            <a:r>
              <a:rPr lang="zh-CN" altLang="en-US" sz="2100" b="1" dirty="0">
                <a:solidFill>
                  <a:srgbClr val="FFFF00"/>
                </a:solidFill>
                <a:effectLst>
                  <a:outerShdw blurRad="38100" dist="38100" dir="2700000" algn="tl">
                    <a:srgbClr val="000000"/>
                  </a:outerShdw>
                </a:effectLst>
                <a:ea typeface="黑体" panose="02010609060101010101" pitchFamily="49" charset="-122"/>
                <a:sym typeface="+mn-ea"/>
              </a:rPr>
              <a:t>上海市高校优秀教材奖</a:t>
            </a:r>
            <a:endParaRPr lang="zh-CN" altLang="en-US" sz="2100" b="1" dirty="0">
              <a:solidFill>
                <a:srgbClr val="FFFF00"/>
              </a:solidFill>
              <a:effectLst>
                <a:outerShdw blurRad="38100" dist="38100" dir="2700000" algn="tl">
                  <a:srgbClr val="000000"/>
                </a:outerShdw>
              </a:effectLst>
              <a:ea typeface="黑体" panose="02010609060101010101" pitchFamily="49" charset="-122"/>
            </a:endParaRPr>
          </a:p>
        </p:txBody>
      </p:sp>
      <p:sp>
        <p:nvSpPr>
          <p:cNvPr id="4" name="AutoShape 6"/>
          <p:cNvSpPr>
            <a:spLocks noChangeArrowheads="1"/>
          </p:cNvSpPr>
          <p:nvPr/>
        </p:nvSpPr>
        <p:spPr bwMode="auto">
          <a:xfrm>
            <a:off x="4962525" y="95250"/>
            <a:ext cx="3657600" cy="990600"/>
          </a:xfrm>
          <a:prstGeom prst="flowChartAlternateProcess">
            <a:avLst/>
          </a:prstGeom>
          <a:solidFill>
            <a:srgbClr val="FFFF00"/>
          </a:solidFill>
          <a:ln w="9525" algn="ctr">
            <a:noFill/>
            <a:miter lim="800000"/>
          </a:ln>
          <a:effectLst/>
        </p:spPr>
        <p:txBody>
          <a:bodyPr wrap="none" anchor="ctr"/>
          <a:lstStyle/>
          <a:p>
            <a:pPr algn="ctr">
              <a:spcBef>
                <a:spcPct val="20000"/>
              </a:spcBef>
              <a:buFont typeface="Wingdings" panose="05000000000000000000" pitchFamily="2" charset="2"/>
              <a:buNone/>
              <a:defRPr/>
            </a:pPr>
            <a:r>
              <a:rPr lang="zh-CN" altLang="en-US" sz="2000" b="1" dirty="0">
                <a:solidFill>
                  <a:srgbClr val="FF0000"/>
                </a:solidFill>
                <a:effectLst>
                  <a:outerShdw blurRad="38100" dist="38100" dir="2700000" algn="tl">
                    <a:srgbClr val="000000"/>
                  </a:outerShdw>
                </a:effectLst>
                <a:ea typeface="黑体" panose="02010609060101010101" pitchFamily="49" charset="-122"/>
              </a:rPr>
              <a:t>上海市高校精品课程特色教材</a:t>
            </a:r>
            <a:endParaRPr lang="zh-CN" altLang="en-US" sz="2000" b="1" dirty="0">
              <a:solidFill>
                <a:srgbClr val="FF0000"/>
              </a:solidFill>
              <a:effectLst>
                <a:outerShdw blurRad="38100" dist="38100" dir="2700000" algn="tl">
                  <a:srgbClr val="000000"/>
                </a:outerShdw>
              </a:effectLst>
              <a:ea typeface="黑体" panose="02010609060101010101" pitchFamily="49" charset="-122"/>
            </a:endParaRPr>
          </a:p>
          <a:p>
            <a:pPr algn="ctr">
              <a:spcBef>
                <a:spcPct val="20000"/>
              </a:spcBef>
              <a:buFont typeface="Wingdings" panose="05000000000000000000" pitchFamily="2" charset="2"/>
              <a:buNone/>
              <a:defRPr/>
            </a:pPr>
            <a:r>
              <a:rPr lang="zh-CN" altLang="en-US" sz="2000" b="1" dirty="0">
                <a:solidFill>
                  <a:srgbClr val="FF0000"/>
                </a:solidFill>
                <a:effectLst>
                  <a:outerShdw blurRad="38100" dist="38100" dir="2700000" algn="tl">
                    <a:srgbClr val="000000"/>
                  </a:outerShdw>
                </a:effectLst>
                <a:ea typeface="黑体" panose="02010609060101010101" pitchFamily="49" charset="-122"/>
                <a:sym typeface="+mn-ea"/>
              </a:rPr>
              <a:t>上海市高校优质在线课程教材</a:t>
            </a:r>
            <a:endParaRPr lang="zh-CN" altLang="en-US" sz="2000" b="1" dirty="0">
              <a:solidFill>
                <a:srgbClr val="FF0000"/>
              </a:solidFill>
              <a:effectLst>
                <a:outerShdw blurRad="38100" dist="38100" dir="2700000" algn="tl">
                  <a:srgbClr val="000000"/>
                </a:outerShdw>
              </a:effectLst>
              <a:ea typeface="黑体" panose="02010609060101010101" pitchFamily="49" charset="-122"/>
            </a:endParaRPr>
          </a:p>
        </p:txBody>
      </p:sp>
      <p:sp>
        <p:nvSpPr>
          <p:cNvPr id="65542" name="WordArt 15"/>
          <p:cNvSpPr>
            <a:spLocks noChangeArrowheads="1" noChangeShapeType="1" noTextEdit="1"/>
          </p:cNvSpPr>
          <p:nvPr/>
        </p:nvSpPr>
        <p:spPr bwMode="auto">
          <a:xfrm>
            <a:off x="1489075" y="2801938"/>
            <a:ext cx="5341938" cy="685800"/>
          </a:xfrm>
          <a:prstGeom prst="rect">
            <a:avLst/>
          </a:prstGeom>
        </p:spPr>
        <p:txBody>
          <a:bodyPr wrap="none" fromWordArt="1">
            <a:prstTxWarp prst="textPlain">
              <a:avLst>
                <a:gd name="adj" fmla="val 50000"/>
              </a:avLst>
            </a:prstTxWarp>
          </a:bodyPr>
          <a:lstStyle/>
          <a:p>
            <a:pPr algn="ctr"/>
            <a:r>
              <a:rPr lang="zh-CN" altLang="en-US" sz="3600" b="1" kern="10">
                <a:ln w="19050">
                  <a:solidFill>
                    <a:srgbClr val="FFFF00"/>
                  </a:solidFill>
                  <a:round/>
                </a:ln>
                <a:solidFill>
                  <a:srgbClr val="FF0000"/>
                </a:solidFill>
                <a:effectLst>
                  <a:outerShdw dist="107763" dir="2700000" algn="ctr" rotWithShape="0">
                    <a:srgbClr val="990000">
                      <a:alpha val="50000"/>
                    </a:srgbClr>
                  </a:outerShdw>
                </a:effectLst>
                <a:latin typeface="微软雅黑" panose="020B0503020204020204" charset="-122"/>
                <a:ea typeface="微软雅黑" panose="020B0503020204020204" charset="-122"/>
              </a:rPr>
              <a:t>网络安全技术及应用</a:t>
            </a:r>
            <a:endParaRPr lang="zh-CN" altLang="en-US" sz="3600" b="1" kern="10">
              <a:ln w="19050">
                <a:solidFill>
                  <a:srgbClr val="FFFF00"/>
                </a:solidFill>
                <a:round/>
              </a:ln>
              <a:solidFill>
                <a:srgbClr val="FF0000"/>
              </a:solidFill>
              <a:effectLst>
                <a:outerShdw dist="107763" dir="2700000" algn="ctr" rotWithShape="0">
                  <a:srgbClr val="990000">
                    <a:alpha val="50000"/>
                  </a:srgbClr>
                </a:outerShdw>
              </a:effectLst>
              <a:latin typeface="微软雅黑" panose="020B0503020204020204" charset="-122"/>
              <a:ea typeface="微软雅黑" panose="020B0503020204020204" charset="-122"/>
            </a:endParaRPr>
          </a:p>
        </p:txBody>
      </p:sp>
      <p:sp>
        <p:nvSpPr>
          <p:cNvPr id="6" name="WordArt 14"/>
          <p:cNvSpPr>
            <a:spLocks noChangeArrowheads="1" noChangeShapeType="1" noTextEdit="1"/>
          </p:cNvSpPr>
          <p:nvPr/>
        </p:nvSpPr>
        <p:spPr bwMode="auto">
          <a:xfrm>
            <a:off x="2001838" y="3713163"/>
            <a:ext cx="3983037" cy="415925"/>
          </a:xfrm>
          <a:prstGeom prst="rect">
            <a:avLst/>
          </a:prstGeom>
        </p:spPr>
        <p:txBody>
          <a:bodyPr wrap="none" fromWordArt="1">
            <a:prstTxWarp prst="textPlain">
              <a:avLst>
                <a:gd name="adj" fmla="val 50000"/>
              </a:avLst>
            </a:prstTxWarp>
          </a:bodyPr>
          <a:lstStyle/>
          <a:p>
            <a:pPr algn="ctr"/>
            <a:r>
              <a:rPr lang="zh-CN" altLang="en-US" sz="3200" b="1">
                <a:ln w="9525">
                  <a:noFill/>
                  <a:round/>
                </a:ln>
                <a:solidFill>
                  <a:srgbClr val="FF0000"/>
                </a:solidFill>
                <a:effectLst>
                  <a:outerShdw dist="35921" dir="2700000" algn="ctr" rotWithShape="0">
                    <a:srgbClr val="C0C0C0">
                      <a:alpha val="79999"/>
                    </a:srgbClr>
                  </a:outerShdw>
                </a:effectLst>
                <a:latin typeface="楷体" panose="02010609060101010101" charset="-122"/>
                <a:ea typeface="楷体" panose="02010609060101010101" charset="-122"/>
              </a:rPr>
              <a:t>（第</a:t>
            </a:r>
            <a:r>
              <a:rPr lang="en-US" altLang="zh-CN" sz="3200" b="1">
                <a:ln w="9525">
                  <a:noFill/>
                  <a:round/>
                </a:ln>
                <a:solidFill>
                  <a:srgbClr val="FF0000"/>
                </a:solidFill>
                <a:effectLst>
                  <a:outerShdw dist="35921" dir="2700000" algn="ctr" rotWithShape="0">
                    <a:srgbClr val="C0C0C0">
                      <a:alpha val="79999"/>
                    </a:srgbClr>
                  </a:outerShdw>
                </a:effectLst>
                <a:latin typeface="楷体" panose="02010609060101010101" charset="-122"/>
                <a:ea typeface="楷体" panose="02010609060101010101" charset="-122"/>
              </a:rPr>
              <a:t>4</a:t>
            </a:r>
            <a:r>
              <a:rPr lang="zh-CN" altLang="en-US" sz="3200" b="1">
                <a:ln w="9525">
                  <a:noFill/>
                  <a:round/>
                </a:ln>
                <a:solidFill>
                  <a:srgbClr val="FF0000"/>
                </a:solidFill>
                <a:effectLst>
                  <a:outerShdw dist="35921" dir="2700000" algn="ctr" rotWithShape="0">
                    <a:srgbClr val="C0C0C0">
                      <a:alpha val="79999"/>
                    </a:srgbClr>
                  </a:outerShdw>
                </a:effectLst>
                <a:latin typeface="楷体" panose="02010609060101010101" charset="-122"/>
                <a:ea typeface="楷体" panose="02010609060101010101" charset="-122"/>
              </a:rPr>
              <a:t>版</a:t>
            </a:r>
            <a:r>
              <a:rPr lang="en-US" altLang="zh-CN" sz="3200" b="1">
                <a:ln w="9525">
                  <a:noFill/>
                  <a:round/>
                </a:ln>
                <a:solidFill>
                  <a:srgbClr val="FF0000"/>
                </a:solidFill>
                <a:effectLst>
                  <a:outerShdw dist="35921" dir="2700000" algn="ctr" rotWithShape="0">
                    <a:srgbClr val="C0C0C0">
                      <a:alpha val="79999"/>
                    </a:srgbClr>
                  </a:outerShdw>
                </a:effectLst>
                <a:latin typeface="楷体" panose="02010609060101010101" charset="-122"/>
                <a:ea typeface="楷体" panose="02010609060101010101" charset="-122"/>
              </a:rPr>
              <a:t>.</a:t>
            </a:r>
            <a:r>
              <a:rPr lang="zh-CN" altLang="en-US" sz="3200" b="1">
                <a:ln w="9525">
                  <a:noFill/>
                  <a:round/>
                </a:ln>
                <a:solidFill>
                  <a:srgbClr val="FF0000"/>
                </a:solidFill>
                <a:effectLst>
                  <a:outerShdw dist="35921" dir="2700000" algn="ctr" rotWithShape="0">
                    <a:srgbClr val="C0C0C0">
                      <a:alpha val="79999"/>
                    </a:srgbClr>
                  </a:outerShdw>
                </a:effectLst>
                <a:latin typeface="楷体" panose="02010609060101010101" charset="-122"/>
                <a:ea typeface="楷体" panose="02010609060101010101" charset="-122"/>
              </a:rPr>
              <a:t>微课版立体化）</a:t>
            </a:r>
            <a:endParaRPr lang="zh-CN" altLang="en-US" sz="3200" b="1">
              <a:ln w="9525">
                <a:noFill/>
                <a:round/>
              </a:ln>
              <a:solidFill>
                <a:srgbClr val="FF0000"/>
              </a:solidFill>
              <a:effectLst>
                <a:outerShdw dist="35921" dir="2700000" algn="ctr" rotWithShape="0">
                  <a:srgbClr val="C0C0C0">
                    <a:alpha val="79999"/>
                  </a:srgbClr>
                </a:outerShdw>
              </a:effectLst>
              <a:latin typeface="楷体" panose="02010609060101010101" charset="-122"/>
              <a:ea typeface="楷体" panose="02010609060101010101" charset="-122"/>
            </a:endParaRPr>
          </a:p>
        </p:txBody>
      </p:sp>
      <p:pic>
        <p:nvPicPr>
          <p:cNvPr id="2051" name="对象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7504" y="5114925"/>
            <a:ext cx="1636713" cy="15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ags/tag1.xml><?xml version="1.0" encoding="utf-8"?>
<p:tagLst xmlns:p="http://schemas.openxmlformats.org/presentationml/2006/main">
  <p:tag name="KSO_WPP_MARK_KEY" val="818cb2dd-7bf8-40ab-a5e9-4cc0bdbb606e"/>
  <p:tag name="COMMONDATA" val="eyJoZGlkIjoiYTkyNzU5YmZhNjU4MzM5ZTNjNzVhNGQwZGQwZWI1YzYifQ=="/>
</p:tagLst>
</file>

<file path=ppt/theme/theme1.xml><?xml version="1.0" encoding="utf-8"?>
<a:theme xmlns:a="http://schemas.openxmlformats.org/drawingml/2006/main" name="Ch10 数据库及数据安全">
  <a:themeElements>
    <a:clrScheme name="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fontScheme name="Default Design">
      <a:majorFont>
        <a:latin typeface="Verdana"/>
        <a:ea typeface=""/>
        <a:cs typeface=""/>
      </a:majorFont>
      <a:minorFont>
        <a:latin typeface="宋体"/>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dist" defTabSz="914400" rtl="0" eaLnBrk="1" fontAlgn="base" latinLnBrk="0" hangingPunct="1">
          <a:lnSpc>
            <a:spcPct val="100000"/>
          </a:lnSpc>
          <a:spcBef>
            <a:spcPct val="20000"/>
          </a:spcBef>
          <a:spcAft>
            <a:spcPct val="0"/>
          </a:spcAft>
          <a:buClrTx/>
          <a:buSzTx/>
          <a:buFont typeface="Wingdings" panose="05000000000000000000" pitchFamily="2" charset="2"/>
          <a:buNone/>
          <a:defRPr kumimoji="0" 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dist" defTabSz="914400" rtl="0" eaLnBrk="1" fontAlgn="base" latinLnBrk="0" hangingPunct="1">
          <a:lnSpc>
            <a:spcPct val="100000"/>
          </a:lnSpc>
          <a:spcBef>
            <a:spcPct val="20000"/>
          </a:spcBef>
          <a:spcAft>
            <a:spcPct val="0"/>
          </a:spcAft>
          <a:buClrTx/>
          <a:buSzTx/>
          <a:buFont typeface="Wingdings" panose="05000000000000000000" pitchFamily="2" charset="2"/>
          <a:buNone/>
          <a:defRPr kumimoji="0" 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Default Design 1">
        <a:dk1>
          <a:srgbClr val="29698D"/>
        </a:dk1>
        <a:lt1>
          <a:srgbClr val="FFFFFF"/>
        </a:lt1>
        <a:dk2>
          <a:srgbClr val="000000"/>
        </a:dk2>
        <a:lt2>
          <a:srgbClr val="D6E1E2"/>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Default Design 2">
        <a:dk1>
          <a:srgbClr val="666699"/>
        </a:dk1>
        <a:lt1>
          <a:srgbClr val="FFFFFF"/>
        </a:lt1>
        <a:dk2>
          <a:srgbClr val="000000"/>
        </a:dk2>
        <a:lt2>
          <a:srgbClr val="F7F4D5"/>
        </a:lt2>
        <a:accent1>
          <a:srgbClr val="72B88E"/>
        </a:accent1>
        <a:accent2>
          <a:srgbClr val="917FC9"/>
        </a:accent2>
        <a:accent3>
          <a:srgbClr val="FFFFFF"/>
        </a:accent3>
        <a:accent4>
          <a:srgbClr val="565682"/>
        </a:accent4>
        <a:accent5>
          <a:srgbClr val="BCD8C6"/>
        </a:accent5>
        <a:accent6>
          <a:srgbClr val="8372B6"/>
        </a:accent6>
        <a:hlink>
          <a:srgbClr val="3197BB"/>
        </a:hlink>
        <a:folHlink>
          <a:srgbClr val="878FA5"/>
        </a:folHlink>
      </a:clrScheme>
      <a:clrMap bg1="lt1" tx1="dk1" bg2="lt2" tx2="dk2" accent1="accent1" accent2="accent2" accent3="accent3" accent4="accent4" accent5="accent5" accent6="accent6" hlink="hlink" folHlink="folHlink"/>
    </a:extraClrScheme>
    <a:extraClrScheme>
      <a:clrScheme name="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Default Design">
  <a:themeElements>
    <a:clrScheme name="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fontScheme name="Default Design">
      <a:majorFont>
        <a:latin typeface="Verdana"/>
        <a:ea typeface=""/>
        <a:cs typeface=""/>
      </a:majorFont>
      <a:minorFont>
        <a:latin typeface="宋体"/>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dist" defTabSz="914400" rtl="0" eaLnBrk="1" fontAlgn="base" latinLnBrk="0" hangingPunct="1">
          <a:lnSpc>
            <a:spcPct val="100000"/>
          </a:lnSpc>
          <a:spcBef>
            <a:spcPct val="20000"/>
          </a:spcBef>
          <a:spcAft>
            <a:spcPct val="0"/>
          </a:spcAft>
          <a:buClrTx/>
          <a:buSzTx/>
          <a:buFont typeface="Wingdings" panose="05000000000000000000" pitchFamily="2" charset="2"/>
          <a:buNone/>
          <a:defRPr kumimoji="0" 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dist" defTabSz="914400" rtl="0" eaLnBrk="1" fontAlgn="base" latinLnBrk="0" hangingPunct="1">
          <a:lnSpc>
            <a:spcPct val="100000"/>
          </a:lnSpc>
          <a:spcBef>
            <a:spcPct val="20000"/>
          </a:spcBef>
          <a:spcAft>
            <a:spcPct val="0"/>
          </a:spcAft>
          <a:buClrTx/>
          <a:buSzTx/>
          <a:buFont typeface="Wingdings" panose="05000000000000000000" pitchFamily="2" charset="2"/>
          <a:buNone/>
          <a:defRPr kumimoji="0" 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Default Design 1">
        <a:dk1>
          <a:srgbClr val="29698D"/>
        </a:dk1>
        <a:lt1>
          <a:srgbClr val="FFFFFF"/>
        </a:lt1>
        <a:dk2>
          <a:srgbClr val="000000"/>
        </a:dk2>
        <a:lt2>
          <a:srgbClr val="D6E1E2"/>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Default Design 2">
        <a:dk1>
          <a:srgbClr val="666699"/>
        </a:dk1>
        <a:lt1>
          <a:srgbClr val="FFFFFF"/>
        </a:lt1>
        <a:dk2>
          <a:srgbClr val="000000"/>
        </a:dk2>
        <a:lt2>
          <a:srgbClr val="F7F4D5"/>
        </a:lt2>
        <a:accent1>
          <a:srgbClr val="72B88E"/>
        </a:accent1>
        <a:accent2>
          <a:srgbClr val="917FC9"/>
        </a:accent2>
        <a:accent3>
          <a:srgbClr val="FFFFFF"/>
        </a:accent3>
        <a:accent4>
          <a:srgbClr val="565682"/>
        </a:accent4>
        <a:accent5>
          <a:srgbClr val="BCD8C6"/>
        </a:accent5>
        <a:accent6>
          <a:srgbClr val="8372B6"/>
        </a:accent6>
        <a:hlink>
          <a:srgbClr val="3197BB"/>
        </a:hlink>
        <a:folHlink>
          <a:srgbClr val="878FA5"/>
        </a:folHlink>
      </a:clrScheme>
      <a:clrMap bg1="lt1" tx1="dk1" bg2="lt2" tx2="dk2" accent1="accent1" accent2="accent2" accent3="accent3" accent4="accent4" accent5="accent5" accent6="accent6" hlink="hlink" folHlink="folHlink"/>
    </a:extraClrScheme>
    <a:extraClrScheme>
      <a:clrScheme name="Default Design 3">
        <a:dk1>
          <a:srgbClr val="29698D"/>
        </a:dk1>
        <a:lt1>
          <a:srgbClr val="FFFFFF"/>
        </a:lt1>
        <a:dk2>
          <a:srgbClr val="000000"/>
        </a:dk2>
        <a:lt2>
          <a:srgbClr val="D6E1E2"/>
        </a:lt2>
        <a:accent1>
          <a:srgbClr val="0099CC"/>
        </a:accent1>
        <a:accent2>
          <a:srgbClr val="FF9900"/>
        </a:accent2>
        <a:accent3>
          <a:srgbClr val="FFFFFF"/>
        </a:accent3>
        <a:accent4>
          <a:srgbClr val="215978"/>
        </a:accent4>
        <a:accent5>
          <a:srgbClr val="AACAE2"/>
        </a:accent5>
        <a:accent6>
          <a:srgbClr val="E78A00"/>
        </a:accent6>
        <a:hlink>
          <a:srgbClr val="669900"/>
        </a:hlink>
        <a:folHlink>
          <a:srgbClr val="83A6A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Ch10 数据库及数据安全</Template>
  <TotalTime>0</TotalTime>
  <Words>16227</Words>
  <Application>WPS 演示</Application>
  <PresentationFormat>全屏显示(4:3)</PresentationFormat>
  <Paragraphs>970</Paragraphs>
  <Slides>56</Slides>
  <Notes>3</Notes>
  <HiddenSlides>0</HiddenSlides>
  <MMClips>0</MMClips>
  <ScaleCrop>false</ScaleCrop>
  <HeadingPairs>
    <vt:vector size="8" baseType="variant">
      <vt:variant>
        <vt:lpstr>已用的字体</vt:lpstr>
      </vt:variant>
      <vt:variant>
        <vt:i4>15</vt:i4>
      </vt:variant>
      <vt:variant>
        <vt:lpstr>主题</vt:lpstr>
      </vt:variant>
      <vt:variant>
        <vt:i4>2</vt:i4>
      </vt:variant>
      <vt:variant>
        <vt:lpstr>嵌入 OLE 服务器</vt:lpstr>
      </vt:variant>
      <vt:variant>
        <vt:i4>1</vt:i4>
      </vt:variant>
      <vt:variant>
        <vt:lpstr>幻灯片标题</vt:lpstr>
      </vt:variant>
      <vt:variant>
        <vt:i4>56</vt:i4>
      </vt:variant>
    </vt:vector>
  </HeadingPairs>
  <TitlesOfParts>
    <vt:vector size="74" baseType="lpstr">
      <vt:lpstr>Arial</vt:lpstr>
      <vt:lpstr>宋体</vt:lpstr>
      <vt:lpstr>Wingdings</vt:lpstr>
      <vt:lpstr>Verdana</vt:lpstr>
      <vt:lpstr>Calibri</vt:lpstr>
      <vt:lpstr>黑体</vt:lpstr>
      <vt:lpstr>微软雅黑</vt:lpstr>
      <vt:lpstr>楷体</vt:lpstr>
      <vt:lpstr>华文琥珀</vt:lpstr>
      <vt:lpstr>Times New Roman</vt:lpstr>
      <vt:lpstr>楷体_GB2312</vt:lpstr>
      <vt:lpstr>新宋体</vt:lpstr>
      <vt:lpstr>Arial Unicode MS</vt:lpstr>
      <vt:lpstr>方正书宋简体</vt:lpstr>
      <vt:lpstr>隶书</vt:lpstr>
      <vt:lpstr>Ch10 数据库及数据安全</vt:lpstr>
      <vt:lpstr>1_Default Design</vt:lpstr>
      <vt:lpstr>PBrush</vt:lpstr>
      <vt:lpstr>PowerPoint 演示文稿</vt:lpstr>
      <vt:lpstr>第10章 数据库及数据安全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10.8 实验10 SQL Server 2019用户安全管理</vt:lpstr>
      <vt:lpstr>PowerPoint 演示文稿</vt:lpstr>
      <vt:lpstr>PowerPoint 演示文稿</vt:lpstr>
      <vt:lpstr>PowerPoint 演示文稿</vt:lpstr>
      <vt:lpstr>PowerPoint 演示文稿</vt:lpstr>
      <vt:lpstr>10.8  SQL Server2019数据库备份与恢复实验</vt:lpstr>
      <vt:lpstr>PowerPoint 演示文稿</vt:lpstr>
      <vt:lpstr>PowerPoint 演示文稿</vt:lpstr>
      <vt:lpstr>PowerPoint 演示文稿</vt:lpstr>
      <vt:lpstr>PowerPoint 演示文稿</vt:lpstr>
      <vt:lpstr>PowerPoint 演示文稿</vt:lpstr>
      <vt:lpstr>10.8 MySQL用户安全管理实验</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GuildDesign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dreamsummit</dc:creator>
  <cp:lastModifiedBy>Stronger Dady</cp:lastModifiedBy>
  <cp:revision>6</cp:revision>
  <dcterms:created xsi:type="dcterms:W3CDTF">2020-07-17T07:05:00Z</dcterms:created>
  <dcterms:modified xsi:type="dcterms:W3CDTF">2022-12-13T07:40:02Z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2052-11.1.0.12980</vt:lpwstr>
  </property>
  <property fmtid="{D5CDD505-2E9C-101B-9397-08002B2CF9AE}" pid="3" name="ICV">
    <vt:lpwstr>1A778F593EBB41DB92492F44F58509BA</vt:lpwstr>
  </property>
</Properties>
</file>