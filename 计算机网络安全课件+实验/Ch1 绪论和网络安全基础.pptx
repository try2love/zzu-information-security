
<file path=[Content_Types].xml><?xml version="1.0" encoding="utf-8"?>
<Types xmlns="http://schemas.openxmlformats.org/package/2006/content-types">
  <Default Extension="jpeg" ContentType="image/jpeg"/>
  <Default Extension="JPG" ContentType="image/.jpg"/>
  <Default Extension="gif" ContentType="image/gif"/>
  <Default Extension="wmf" ContentType="image/x-wmf"/>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handoutMasterIdLst>
    <p:handoutMasterId r:id="rId114"/>
  </p:handoutMasterIdLst>
  <p:sldIdLst>
    <p:sldId id="391" r:id="rId4"/>
    <p:sldId id="754" r:id="rId6"/>
    <p:sldId id="665" r:id="rId7"/>
    <p:sldId id="666" r:id="rId8"/>
    <p:sldId id="669" r:id="rId9"/>
    <p:sldId id="668" r:id="rId10"/>
    <p:sldId id="667" r:id="rId11"/>
    <p:sldId id="756" r:id="rId12"/>
    <p:sldId id="1052" r:id="rId13"/>
    <p:sldId id="755" r:id="rId14"/>
    <p:sldId id="757" r:id="rId15"/>
    <p:sldId id="758" r:id="rId16"/>
    <p:sldId id="759" r:id="rId17"/>
    <p:sldId id="760" r:id="rId18"/>
    <p:sldId id="761" r:id="rId19"/>
    <p:sldId id="260" r:id="rId20"/>
    <p:sldId id="762" r:id="rId21"/>
    <p:sldId id="1152" r:id="rId22"/>
    <p:sldId id="488" r:id="rId23"/>
    <p:sldId id="394" r:id="rId24"/>
    <p:sldId id="569" r:id="rId25"/>
    <p:sldId id="964" r:id="rId26"/>
    <p:sldId id="570" r:id="rId27"/>
    <p:sldId id="571" r:id="rId28"/>
    <p:sldId id="572" r:id="rId29"/>
    <p:sldId id="573" r:id="rId30"/>
    <p:sldId id="574" r:id="rId31"/>
    <p:sldId id="575" r:id="rId32"/>
    <p:sldId id="576" r:id="rId33"/>
    <p:sldId id="577" r:id="rId34"/>
    <p:sldId id="578" r:id="rId35"/>
    <p:sldId id="579" r:id="rId36"/>
    <p:sldId id="580" r:id="rId37"/>
    <p:sldId id="581" r:id="rId38"/>
    <p:sldId id="582" r:id="rId39"/>
    <p:sldId id="583" r:id="rId40"/>
    <p:sldId id="584" r:id="rId41"/>
    <p:sldId id="585" r:id="rId42"/>
    <p:sldId id="416" r:id="rId43"/>
    <p:sldId id="417" r:id="rId44"/>
    <p:sldId id="418" r:id="rId45"/>
    <p:sldId id="851" r:id="rId46"/>
    <p:sldId id="853" r:id="rId47"/>
    <p:sldId id="854" r:id="rId48"/>
    <p:sldId id="855" r:id="rId49"/>
    <p:sldId id="419" r:id="rId50"/>
    <p:sldId id="420" r:id="rId51"/>
    <p:sldId id="850" r:id="rId52"/>
    <p:sldId id="849" r:id="rId53"/>
    <p:sldId id="421" r:id="rId54"/>
    <p:sldId id="422" r:id="rId55"/>
    <p:sldId id="423" r:id="rId56"/>
    <p:sldId id="424" r:id="rId57"/>
    <p:sldId id="425" r:id="rId58"/>
    <p:sldId id="426" r:id="rId59"/>
    <p:sldId id="428" r:id="rId60"/>
    <p:sldId id="429" r:id="rId61"/>
    <p:sldId id="430" r:id="rId62"/>
    <p:sldId id="431" r:id="rId63"/>
    <p:sldId id="432" r:id="rId64"/>
    <p:sldId id="433" r:id="rId65"/>
    <p:sldId id="434" r:id="rId66"/>
    <p:sldId id="916" r:id="rId67"/>
    <p:sldId id="917" r:id="rId68"/>
    <p:sldId id="918" r:id="rId69"/>
    <p:sldId id="919" r:id="rId70"/>
    <p:sldId id="915" r:id="rId71"/>
    <p:sldId id="920" r:id="rId72"/>
    <p:sldId id="436" r:id="rId73"/>
    <p:sldId id="437" r:id="rId74"/>
    <p:sldId id="438" r:id="rId75"/>
    <p:sldId id="440" r:id="rId76"/>
    <p:sldId id="441" r:id="rId77"/>
    <p:sldId id="442" r:id="rId78"/>
    <p:sldId id="443" r:id="rId79"/>
    <p:sldId id="444" r:id="rId80"/>
    <p:sldId id="445" r:id="rId81"/>
    <p:sldId id="446" r:id="rId82"/>
    <p:sldId id="471" r:id="rId83"/>
    <p:sldId id="472" r:id="rId84"/>
    <p:sldId id="473" r:id="rId85"/>
    <p:sldId id="474" r:id="rId86"/>
    <p:sldId id="475" r:id="rId87"/>
    <p:sldId id="476" r:id="rId88"/>
    <p:sldId id="477" r:id="rId89"/>
    <p:sldId id="486" r:id="rId90"/>
    <p:sldId id="478" r:id="rId91"/>
    <p:sldId id="479" r:id="rId92"/>
    <p:sldId id="480" r:id="rId93"/>
    <p:sldId id="481" r:id="rId94"/>
    <p:sldId id="482" r:id="rId95"/>
    <p:sldId id="483" r:id="rId96"/>
    <p:sldId id="484" r:id="rId97"/>
    <p:sldId id="485" r:id="rId98"/>
    <p:sldId id="400" r:id="rId99"/>
    <p:sldId id="401" r:id="rId100"/>
    <p:sldId id="402" r:id="rId101"/>
    <p:sldId id="403" r:id="rId102"/>
    <p:sldId id="404" r:id="rId103"/>
    <p:sldId id="405" r:id="rId104"/>
    <p:sldId id="406" r:id="rId105"/>
    <p:sldId id="407" r:id="rId106"/>
    <p:sldId id="408" r:id="rId107"/>
    <p:sldId id="393" r:id="rId108"/>
    <p:sldId id="395" r:id="rId109"/>
    <p:sldId id="396" r:id="rId110"/>
    <p:sldId id="397" r:id="rId111"/>
    <p:sldId id="398" r:id="rId112"/>
    <p:sldId id="399" r:id="rId113"/>
  </p:sldIdLst>
  <p:sldSz cx="9144000" cy="6858000" type="screen4x3"/>
  <p:notesSz cx="6858000" cy="9144000"/>
  <p:custDataLst>
    <p:tags r:id="rId118"/>
  </p:custDataLst>
  <p:defaultTextStyle>
    <a:defPPr>
      <a:defRPr lang="en-US"/>
    </a:defPPr>
    <a:lvl1pPr algn="l" rtl="0" fontAlgn="base">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clrMru>
    <a:srgbClr val="FF0000"/>
    <a:srgbClr val="3366FF"/>
    <a:srgbClr val="CCFFFF"/>
    <a:srgbClr val="0066FF"/>
    <a:srgbClr val="CC0000"/>
    <a:srgbClr val="B2B2B2"/>
    <a:srgbClr val="2B166E"/>
    <a:srgbClr val="692A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112" autoAdjust="0"/>
    <p:restoredTop sz="94652" autoAdjust="0"/>
  </p:normalViewPr>
  <p:slideViewPr>
    <p:cSldViewPr>
      <p:cViewPr varScale="1">
        <p:scale>
          <a:sx n="71" d="100"/>
          <a:sy n="71" d="100"/>
        </p:scale>
        <p:origin x="-474" y="-9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5.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8" Type="http://schemas.openxmlformats.org/officeDocument/2006/relationships/tags" Target="tags/tag1.xml"/><Relationship Id="rId117" Type="http://schemas.openxmlformats.org/officeDocument/2006/relationships/tableStyles" Target="tableStyles.xml"/><Relationship Id="rId116" Type="http://schemas.openxmlformats.org/officeDocument/2006/relationships/viewProps" Target="viewProps.xml"/><Relationship Id="rId115" Type="http://schemas.openxmlformats.org/officeDocument/2006/relationships/presProps" Target="presProps.xml"/><Relationship Id="rId114" Type="http://schemas.openxmlformats.org/officeDocument/2006/relationships/handoutMaster" Target="handoutMasters/handoutMaster1.xml"/><Relationship Id="rId113" Type="http://schemas.openxmlformats.org/officeDocument/2006/relationships/slide" Target="slides/slide109.xml"/><Relationship Id="rId112" Type="http://schemas.openxmlformats.org/officeDocument/2006/relationships/slide" Target="slides/slide108.xml"/><Relationship Id="rId111" Type="http://schemas.openxmlformats.org/officeDocument/2006/relationships/slide" Target="slides/slide107.xml"/><Relationship Id="rId110" Type="http://schemas.openxmlformats.org/officeDocument/2006/relationships/slide" Target="slides/slide106.xml"/><Relationship Id="rId11" Type="http://schemas.openxmlformats.org/officeDocument/2006/relationships/slide" Target="slides/slide7.xml"/><Relationship Id="rId109" Type="http://schemas.openxmlformats.org/officeDocument/2006/relationships/slide" Target="slides/slide105.xml"/><Relationship Id="rId108" Type="http://schemas.openxmlformats.org/officeDocument/2006/relationships/slide" Target="slides/slide104.xml"/><Relationship Id="rId107" Type="http://schemas.openxmlformats.org/officeDocument/2006/relationships/slide" Target="slides/slide103.xml"/><Relationship Id="rId106" Type="http://schemas.openxmlformats.org/officeDocument/2006/relationships/slide" Target="slides/slide102.xml"/><Relationship Id="rId105" Type="http://schemas.openxmlformats.org/officeDocument/2006/relationships/slide" Target="slides/slide101.xml"/><Relationship Id="rId104" Type="http://schemas.openxmlformats.org/officeDocument/2006/relationships/slide" Target="slides/slide100.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noProof="1"/>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noProof="1" smtClean="0"/>
            </a:lvl1pPr>
          </a:lstStyle>
          <a:p>
            <a:fld id="{0F9B84EA-7D68-4D60-9CB1-D50884785D1C}" type="datetimeFigureOut">
              <a:rPr lang="zh-CN" altLang="en-US"/>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noProof="1"/>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lstStyle>
            <a:lvl1pPr algn="r">
              <a:defRPr sz="1200" b="1"/>
            </a:lvl1pPr>
          </a:lstStyle>
          <a:p>
            <a:fld id="{CB7350FD-38BD-49C7-BBC2-9780AFDF3648}" type="slidenum">
              <a:rPr lang="zh-CN" altLang="en-US"/>
            </a:fld>
            <a:endParaRPr lang="zh-CN" altLang="en-US">
              <a:latin typeface="Verdana" panose="020B0604030504040204" pitchFamily="34" charset="0"/>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90114"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algn="l" eaLnBrk="0" hangingPunct="0">
              <a:spcBef>
                <a:spcPct val="20000"/>
              </a:spcBef>
              <a:buFont typeface="Wingdings" panose="05000000000000000000" pitchFamily="2" charset="2"/>
              <a:buNone/>
              <a:defRPr sz="1200">
                <a:latin typeface="Arial" panose="020B0604020202020204" pitchFamily="34" charset="0"/>
              </a:defRPr>
            </a:lvl1pPr>
          </a:lstStyle>
          <a:p>
            <a:pPr>
              <a:defRPr/>
            </a:pPr>
            <a:endParaRPr lang="zh-CN" altLang="en-US"/>
          </a:p>
        </p:txBody>
      </p:sp>
      <p:sp>
        <p:nvSpPr>
          <p:cNvPr id="90115"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eaLnBrk="0" hangingPunct="0">
              <a:spcBef>
                <a:spcPct val="20000"/>
              </a:spcBef>
              <a:buFont typeface="Wingdings" panose="05000000000000000000" pitchFamily="2" charset="2"/>
              <a:buNone/>
              <a:defRPr sz="1200">
                <a:latin typeface="Arial" panose="020B0604020202020204" pitchFamily="34" charset="0"/>
              </a:defRPr>
            </a:lvl1pPr>
          </a:lstStyle>
          <a:p>
            <a:pPr>
              <a:defRPr/>
            </a:pPr>
            <a:fld id="{4BC77AB1-65D6-4F30-A6EB-A337728DCC0C}" type="datetimeFigureOut">
              <a:rPr lang="zh-CN" altLang="en-US"/>
            </a:fld>
            <a:endParaRPr lang="zh-CN" altLang="en-US"/>
          </a:p>
        </p:txBody>
      </p:sp>
      <p:sp>
        <p:nvSpPr>
          <p:cNvPr id="6148" name="Rectangle 4"/>
          <p:cNvSpPr>
            <a:spLocks noGrp="1" noRot="1" noChangeAspect="1" noChangeArrowheads="1" noTextEdit="1"/>
          </p:cNvSpPr>
          <p:nvPr>
            <p:ph type="sldImg" idx="4294967295"/>
          </p:nvPr>
        </p:nvSpPr>
        <p:spPr bwMode="auto">
          <a:xfrm>
            <a:off x="1143000" y="685800"/>
            <a:ext cx="4572000" cy="3429000"/>
          </a:xfrm>
          <a:prstGeom prst="rect">
            <a:avLst/>
          </a:prstGeom>
          <a:noFill/>
          <a:ln w="9525">
            <a:solidFill>
              <a:srgbClr val="000000"/>
            </a:solidFill>
            <a:miter lim="800000"/>
          </a:ln>
        </p:spPr>
      </p:sp>
      <p:sp>
        <p:nvSpPr>
          <p:cNvPr id="6149" name="Rectangle 5"/>
          <p:cNvSpPr>
            <a:spLocks noGrp="1" noChangeArrowheads="1"/>
          </p:cNvSpPr>
          <p:nvPr>
            <p:ph type="body" sz="quarter" idx="9"/>
          </p:nvPr>
        </p:nvSpPr>
        <p:spPr bwMode="auto">
          <a:xfrm>
            <a:off x="685800" y="4343400"/>
            <a:ext cx="5486400" cy="4114800"/>
          </a:xfrm>
          <a:prstGeom prst="rect">
            <a:avLst/>
          </a:prstGeom>
          <a:noFill/>
          <a:ln w="9525">
            <a:noFill/>
            <a:miter lim="800000"/>
          </a:ln>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90118"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algn="l" eaLnBrk="0" hangingPunct="0">
              <a:spcBef>
                <a:spcPct val="20000"/>
              </a:spcBef>
              <a:buFont typeface="Wingdings" panose="05000000000000000000" pitchFamily="2" charset="2"/>
              <a:buNone/>
              <a:defRPr sz="1200">
                <a:latin typeface="Arial" panose="020B0604020202020204" pitchFamily="34" charset="0"/>
              </a:defRPr>
            </a:lvl1pPr>
          </a:lstStyle>
          <a:p>
            <a:pPr>
              <a:defRPr/>
            </a:pPr>
            <a:endParaRPr lang="en-US" altLang="zh-CN"/>
          </a:p>
        </p:txBody>
      </p:sp>
      <p:sp>
        <p:nvSpPr>
          <p:cNvPr id="90119"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lstStyle>
            <a:lvl1pPr algn="r">
              <a:spcBef>
                <a:spcPct val="20000"/>
              </a:spcBef>
              <a:defRPr sz="1200"/>
            </a:lvl1pPr>
          </a:lstStyle>
          <a:p>
            <a:fld id="{50FFB756-7A9C-4FC2-AC6C-4C2E4422F00F}"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幻灯片图像占位符 1"/>
          <p:cNvSpPr>
            <a:spLocks noGrp="1" noRot="1" noChangeAspect="1" noChangeArrowheads="1" noTextEdit="1"/>
          </p:cNvSpPr>
          <p:nvPr>
            <p:ph type="sldImg" idx="4294967295"/>
          </p:nvPr>
        </p:nvSpPr>
        <p:spPr/>
      </p:sp>
      <p:sp>
        <p:nvSpPr>
          <p:cNvPr id="8194" name="备注占位符 2"/>
          <p:cNvSpPr>
            <a:spLocks noGrp="1" noChangeArrowheads="1"/>
          </p:cNvSpPr>
          <p:nvPr>
            <p:ph type="body" idx="4294967295"/>
          </p:nvPr>
        </p:nvSpPr>
        <p:spPr/>
        <p:txBody>
          <a:bodyPr/>
          <a:lstStyle/>
          <a:p>
            <a:pPr eaLnBrk="1" hangingPunct="1">
              <a:spcBef>
                <a:spcPct val="0"/>
              </a:spcBef>
            </a:pPr>
            <a:endParaRPr lang="zh-CN" altLang="en-US" smtClean="0"/>
          </a:p>
        </p:txBody>
      </p:sp>
      <p:sp>
        <p:nvSpPr>
          <p:cNvPr id="8195" name="灯片编号占位符 3"/>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spcBef>
                <a:spcPct val="20000"/>
              </a:spcBef>
              <a:buFont typeface="Wingdings" panose="05000000000000000000" pitchFamily="2" charset="2"/>
              <a:buNone/>
            </a:pPr>
            <a:fld id="{BAB1510C-DF43-4B40-9F21-5AB28913E764}" type="slidenum">
              <a:rPr lang="zh-CN" altLang="en-US" sz="1200"/>
            </a:fld>
            <a:endParaRPr lang="zh-CN" alt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4294967295"/>
          </p:nvPr>
        </p:nvSpPr>
        <p:spPr/>
      </p:sp>
      <p:sp>
        <p:nvSpPr>
          <p:cNvPr id="3" name="文本占位符 2"/>
          <p:cNvSpPr/>
          <p:nvPr>
            <p:ph type="body" idx="9"/>
          </p:nvPr>
        </p:nvSpPr>
        <p:spPr/>
        <p:txBody>
          <a:bodyPr/>
          <a:p>
            <a:r>
              <a:rPr lang="zh-CN" altLang="en-US"/>
              <a:t>《2022产业互联网安全十大趋势》 https://xw.qq.com/cmsid/20220302A07RZP00</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7"/>
          <p:cNvSpPr>
            <a:spLocks noGrp="1" noChangeArrowheads="1"/>
          </p:cNvSpPr>
          <p:nvPr>
            <p:ph type="sldNum" sz="quarter" idx="5"/>
          </p:nvPr>
        </p:nvSpPr>
        <p:spPr>
          <a:noFill/>
          <a:ln>
            <a:miter lim="800000"/>
          </a:ln>
        </p:spPr>
        <p:txBody>
          <a:bodyPr/>
          <a:lstStyle/>
          <a:p>
            <a:pPr>
              <a:buFont typeface="Wingdings" panose="05000000000000000000" pitchFamily="2" charset="2"/>
              <a:buNone/>
            </a:pPr>
            <a:fld id="{6F10C2AF-3BC6-446A-AE88-E117574210B0}" type="slidenum">
              <a:rPr lang="en-US" altLang="zh-CN"/>
            </a:fld>
            <a:endParaRPr lang="en-US" altLang="zh-CN"/>
          </a:p>
        </p:txBody>
      </p:sp>
      <p:sp>
        <p:nvSpPr>
          <p:cNvPr id="71682" name="Rectangle 2"/>
          <p:cNvSpPr>
            <a:spLocks noGrp="1" noRot="1" noChangeAspect="1" noChangeArrowheads="1" noTextEdit="1"/>
          </p:cNvSpPr>
          <p:nvPr>
            <p:ph type="sldImg" idx="4294967295"/>
          </p:nvPr>
        </p:nvSpPr>
        <p:spPr/>
      </p:sp>
      <p:sp>
        <p:nvSpPr>
          <p:cNvPr id="71683" name="Rectangle 3"/>
          <p:cNvSpPr>
            <a:spLocks noGrp="1" noChangeArrowheads="1"/>
          </p:cNvSpPr>
          <p:nvPr>
            <p:ph type="body" idx="4294967295"/>
          </p:nvPr>
        </p:nvSpPr>
        <p:spPr/>
        <p:txBody>
          <a:bodyPr/>
          <a:lstStyle/>
          <a:p>
            <a:pPr eaLnBrk="1" hangingPunct="1">
              <a:spcBef>
                <a:spcPct val="0"/>
              </a:spcBef>
            </a:pPr>
            <a:endParaRPr lang="zh-CN" altLang="zh-CN"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4" name="Picture 44" descr="e_12"/>
          <p:cNvPicPr>
            <a:picLocks noChangeAspect="1" noChangeArrowheads="1"/>
          </p:cNvPicPr>
          <p:nvPr userDrawn="1"/>
        </p:nvPicPr>
        <p:blipFill>
          <a:blip r:embed="rId2" cstate="print"/>
          <a:srcRect r="14461"/>
          <a:stretch>
            <a:fillRect/>
          </a:stretch>
        </p:blipFill>
        <p:spPr bwMode="auto">
          <a:xfrm>
            <a:off x="0" y="0"/>
            <a:ext cx="9144000" cy="5157788"/>
          </a:xfrm>
          <a:prstGeom prst="rect">
            <a:avLst/>
          </a:prstGeom>
          <a:noFill/>
          <a:ln w="9525">
            <a:noFill/>
            <a:miter lim="800000"/>
            <a:headEnd/>
            <a:tailEnd/>
          </a:ln>
        </p:spPr>
      </p:pic>
      <p:sp>
        <p:nvSpPr>
          <p:cNvPr id="5" name="Rectangle 45"/>
          <p:cNvSpPr>
            <a:spLocks noChangeArrowheads="1"/>
          </p:cNvSpPr>
          <p:nvPr/>
        </p:nvSpPr>
        <p:spPr bwMode="ltGray">
          <a:xfrm>
            <a:off x="0" y="6611938"/>
            <a:ext cx="9144000" cy="260350"/>
          </a:xfrm>
          <a:prstGeom prst="rect">
            <a:avLst/>
          </a:prstGeom>
          <a:gradFill rotWithShape="1">
            <a:gsLst>
              <a:gs pos="0">
                <a:schemeClr val="hlink">
                  <a:gamma/>
                  <a:shade val="46275"/>
                  <a:invGamma/>
                </a:schemeClr>
              </a:gs>
              <a:gs pos="50000">
                <a:schemeClr val="hlink"/>
              </a:gs>
              <a:gs pos="100000">
                <a:schemeClr val="hlink">
                  <a:gamma/>
                  <a:shade val="46275"/>
                  <a:invGamma/>
                </a:schemeClr>
              </a:gs>
            </a:gsLst>
            <a:lin ang="5400000" scaled="1"/>
          </a:gradFill>
          <a:ln w="9525">
            <a:noFill/>
            <a:miter lim="800000"/>
          </a:ln>
          <a:effectLst/>
        </p:spPr>
        <p:txBody>
          <a:bodyPr wrap="none" anchor="ctr"/>
          <a:lstStyle/>
          <a:p>
            <a:pPr algn="dist">
              <a:spcBef>
                <a:spcPct val="20000"/>
              </a:spcBef>
              <a:buFont typeface="Wingdings" panose="05000000000000000000" pitchFamily="2" charset="2"/>
              <a:buNone/>
              <a:defRPr/>
            </a:pPr>
            <a:endParaRPr lang="zh-CN" altLang="en-US">
              <a:ea typeface="+mn-ea"/>
            </a:endParaRPr>
          </a:p>
        </p:txBody>
      </p:sp>
      <p:sp>
        <p:nvSpPr>
          <p:cNvPr id="3074" name="Rectangle 2"/>
          <p:cNvSpPr>
            <a:spLocks noGrp="1" noChangeArrowheads="1"/>
          </p:cNvSpPr>
          <p:nvPr>
            <p:ph type="ctrTitle" hasCustomPrompt="1"/>
          </p:nvPr>
        </p:nvSpPr>
        <p:spPr>
          <a:xfrm>
            <a:off x="3886200" y="1371600"/>
            <a:ext cx="4876800" cy="3276600"/>
          </a:xfrm>
          <a:effectLst>
            <a:outerShdw dist="53882" dir="2700000" algn="ctr" rotWithShape="0">
              <a:schemeClr val="tx2">
                <a:alpha val="50000"/>
              </a:schemeClr>
            </a:outerShdw>
          </a:effectLst>
        </p:spPr>
        <p:txBody>
          <a:bodyPr/>
          <a:lstStyle>
            <a:lvl1pPr algn="r">
              <a:defRPr sz="4000">
                <a:solidFill>
                  <a:srgbClr val="FFFFCC"/>
                </a:solidFill>
              </a:defRPr>
            </a:lvl1pPr>
          </a:lstStyle>
          <a:p>
            <a:r>
              <a:rPr lang="en-US" altLang="zh-CN" noProof="1"/>
              <a:t>Click to edit </a:t>
            </a:r>
            <a:br>
              <a:rPr lang="en-US" altLang="zh-CN"/>
            </a:br>
            <a:r>
              <a:rPr lang="en-US" altLang="zh-CN" noProof="1"/>
              <a:t>Master title </a:t>
            </a:r>
            <a:br>
              <a:rPr lang="en-US" altLang="zh-CN"/>
            </a:br>
            <a:r>
              <a:rPr lang="en-US" altLang="zh-CN" noProof="1"/>
              <a:t>style</a:t>
            </a:r>
            <a:endParaRPr lang="en-US" altLang="zh-CN" noProof="1"/>
          </a:p>
        </p:txBody>
      </p:sp>
      <p:sp>
        <p:nvSpPr>
          <p:cNvPr id="3075" name="Rectangle 3"/>
          <p:cNvSpPr>
            <a:spLocks noGrp="1" noChangeArrowheads="1"/>
          </p:cNvSpPr>
          <p:nvPr>
            <p:ph type="subTitle" idx="1"/>
          </p:nvPr>
        </p:nvSpPr>
        <p:spPr bwMode="white">
          <a:xfrm>
            <a:off x="1752600" y="5638800"/>
            <a:ext cx="6172200" cy="457200"/>
          </a:xfrm>
        </p:spPr>
        <p:txBody>
          <a:bodyPr/>
          <a:lstStyle>
            <a:lvl1pPr marL="0" indent="0" algn="ctr">
              <a:buFont typeface="Wingdings" panose="05000000000000000000" pitchFamily="2" charset="2"/>
              <a:buNone/>
              <a:defRPr sz="1500"/>
            </a:lvl1pPr>
          </a:lstStyle>
          <a:p>
            <a:r>
              <a:rPr lang="zh-CN" altLang="en-US" noProof="1" smtClean="0"/>
              <a:t>单击此处编辑母版副标题样式</a:t>
            </a:r>
            <a:endParaRPr lang="en-US" altLang="zh-CN"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Rectangle 6"/>
          <p:cNvSpPr>
            <a:spLocks noGrp="1" noChangeArrowheads="1"/>
          </p:cNvSpPr>
          <p:nvPr>
            <p:ph type="sldNum" sz="quarter" idx="10"/>
          </p:nvPr>
        </p:nvSpPr>
        <p:spPr/>
        <p:txBody>
          <a:bodyPr/>
          <a:lstStyle>
            <a:lvl1pPr>
              <a:defRPr/>
            </a:lvl1pPr>
          </a:lstStyle>
          <a:p>
            <a:fld id="{DF866AB9-E7D1-4E96-BAD2-0D67869AF73A}"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
        <p:nvSpPr>
          <p:cNvPr id="4" name="Rectangle 6"/>
          <p:cNvSpPr>
            <a:spLocks noGrp="1" noChangeArrowheads="1"/>
          </p:cNvSpPr>
          <p:nvPr>
            <p:ph type="sldNum" sz="quarter" idx="10"/>
          </p:nvPr>
        </p:nvSpPr>
        <p:spPr/>
        <p:txBody>
          <a:bodyPr/>
          <a:lstStyle>
            <a:lvl1pPr>
              <a:defRPr/>
            </a:lvl1pPr>
          </a:lstStyle>
          <a:p>
            <a:fld id="{F3EAB39F-0D80-4A09-86D1-9FE93C6D170C}"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295400"/>
            <a:ext cx="40005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10100" y="1295400"/>
            <a:ext cx="40005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Rectangle 6"/>
          <p:cNvSpPr>
            <a:spLocks noGrp="1" noChangeArrowheads="1"/>
          </p:cNvSpPr>
          <p:nvPr>
            <p:ph type="sldNum" sz="quarter" idx="10"/>
          </p:nvPr>
        </p:nvSpPr>
        <p:spPr/>
        <p:txBody>
          <a:bodyPr/>
          <a:lstStyle>
            <a:lvl1pPr>
              <a:defRPr/>
            </a:lvl1pPr>
          </a:lstStyle>
          <a:p>
            <a:fld id="{44CCDB3F-14BA-4BD1-A69E-2BDF7AF59E0F}"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7" name="Rectangle 6"/>
          <p:cNvSpPr>
            <a:spLocks noGrp="1" noChangeArrowheads="1"/>
          </p:cNvSpPr>
          <p:nvPr>
            <p:ph type="sldNum" sz="quarter" idx="10"/>
          </p:nvPr>
        </p:nvSpPr>
        <p:spPr/>
        <p:txBody>
          <a:bodyPr/>
          <a:lstStyle>
            <a:lvl1pPr>
              <a:defRPr/>
            </a:lvl1pPr>
          </a:lstStyle>
          <a:p>
            <a:fld id="{CD166EC2-B460-4177-BBF0-F5362C5332A5}"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Rectangle 6"/>
          <p:cNvSpPr>
            <a:spLocks noGrp="1" noChangeArrowheads="1"/>
          </p:cNvSpPr>
          <p:nvPr>
            <p:ph type="sldNum" sz="quarter" idx="10"/>
          </p:nvPr>
        </p:nvSpPr>
        <p:spPr/>
        <p:txBody>
          <a:bodyPr/>
          <a:lstStyle>
            <a:lvl1pPr>
              <a:defRPr/>
            </a:lvl1pPr>
          </a:lstStyle>
          <a:p>
            <a:fld id="{3A5EC394-FB03-4708-92C4-755422BAED7B}"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p:txBody>
          <a:bodyPr/>
          <a:lstStyle>
            <a:lvl1pPr>
              <a:defRPr/>
            </a:lvl1pPr>
          </a:lstStyle>
          <a:p>
            <a:fld id="{2BA9A20D-1AFD-407E-BC8C-D01E18E9F518}"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
        <p:nvSpPr>
          <p:cNvPr id="5" name="Rectangle 6"/>
          <p:cNvSpPr>
            <a:spLocks noGrp="1" noChangeArrowheads="1"/>
          </p:cNvSpPr>
          <p:nvPr>
            <p:ph type="sldNum" sz="quarter" idx="10"/>
          </p:nvPr>
        </p:nvSpPr>
        <p:spPr/>
        <p:txBody>
          <a:bodyPr/>
          <a:lstStyle>
            <a:lvl1pPr>
              <a:defRPr/>
            </a:lvl1pPr>
          </a:lstStyle>
          <a:p>
            <a:fld id="{97F8FC64-B96D-4EFE-96F6-1C2F1521D503}"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
        <p:nvSpPr>
          <p:cNvPr id="5" name="Rectangle 6"/>
          <p:cNvSpPr>
            <a:spLocks noGrp="1" noChangeArrowheads="1"/>
          </p:cNvSpPr>
          <p:nvPr>
            <p:ph type="sldNum" sz="quarter" idx="10"/>
          </p:nvPr>
        </p:nvSpPr>
        <p:spPr/>
        <p:txBody>
          <a:bodyPr/>
          <a:lstStyle>
            <a:lvl1pPr>
              <a:defRPr/>
            </a:lvl1pPr>
          </a:lstStyle>
          <a:p>
            <a:fld id="{218F34A1-BABC-42E2-8175-DF38CABFC851}"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Rectangle 6"/>
          <p:cNvSpPr>
            <a:spLocks noGrp="1" noChangeArrowheads="1"/>
          </p:cNvSpPr>
          <p:nvPr>
            <p:ph type="sldNum" sz="quarter" idx="10"/>
          </p:nvPr>
        </p:nvSpPr>
        <p:spPr/>
        <p:txBody>
          <a:bodyPr/>
          <a:lstStyle>
            <a:lvl1pPr>
              <a:defRPr/>
            </a:lvl1pPr>
          </a:lstStyle>
          <a:p>
            <a:fld id="{33C340B2-96EB-4CB2-BA3F-5361BDB634AE}"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86550" y="152400"/>
            <a:ext cx="2076450" cy="6172200"/>
          </a:xfr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52400"/>
            <a:ext cx="6076950" cy="6172200"/>
          </a:xfr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Rectangle 6"/>
          <p:cNvSpPr>
            <a:spLocks noGrp="1" noChangeArrowheads="1"/>
          </p:cNvSpPr>
          <p:nvPr>
            <p:ph type="sldNum" sz="quarter" idx="10"/>
          </p:nvPr>
        </p:nvSpPr>
        <p:spPr/>
        <p:txBody>
          <a:bodyPr/>
          <a:lstStyle>
            <a:lvl1pPr>
              <a:defRPr/>
            </a:lvl1pPr>
          </a:lstStyle>
          <a:p>
            <a:fld id="{8E299399-85ED-4280-AB99-BCA875538BE4}"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4" name="Picture 44" descr="e_12"/>
          <p:cNvPicPr>
            <a:picLocks noChangeAspect="1" noChangeArrowheads="1"/>
          </p:cNvPicPr>
          <p:nvPr userDrawn="1"/>
        </p:nvPicPr>
        <p:blipFill>
          <a:blip r:embed="rId2" cstate="print"/>
          <a:srcRect r="14461"/>
          <a:stretch>
            <a:fillRect/>
          </a:stretch>
        </p:blipFill>
        <p:spPr bwMode="auto">
          <a:xfrm>
            <a:off x="0" y="0"/>
            <a:ext cx="9144000" cy="5157788"/>
          </a:xfrm>
          <a:prstGeom prst="rect">
            <a:avLst/>
          </a:prstGeom>
          <a:noFill/>
          <a:ln w="9525">
            <a:noFill/>
            <a:miter lim="800000"/>
            <a:headEnd/>
            <a:tailEnd/>
          </a:ln>
        </p:spPr>
      </p:pic>
      <p:sp>
        <p:nvSpPr>
          <p:cNvPr id="5" name="Rectangle 45"/>
          <p:cNvSpPr>
            <a:spLocks noChangeArrowheads="1"/>
          </p:cNvSpPr>
          <p:nvPr/>
        </p:nvSpPr>
        <p:spPr bwMode="ltGray">
          <a:xfrm>
            <a:off x="0" y="6611938"/>
            <a:ext cx="9144000" cy="260350"/>
          </a:xfrm>
          <a:prstGeom prst="rect">
            <a:avLst/>
          </a:prstGeom>
          <a:gradFill rotWithShape="1">
            <a:gsLst>
              <a:gs pos="0">
                <a:schemeClr val="hlink">
                  <a:gamma/>
                  <a:shade val="46275"/>
                  <a:invGamma/>
                </a:schemeClr>
              </a:gs>
              <a:gs pos="50000">
                <a:schemeClr val="hlink"/>
              </a:gs>
              <a:gs pos="100000">
                <a:schemeClr val="hlink">
                  <a:gamma/>
                  <a:shade val="46275"/>
                  <a:invGamma/>
                </a:schemeClr>
              </a:gs>
            </a:gsLst>
            <a:lin ang="5400000" scaled="1"/>
          </a:gradFill>
          <a:ln w="9525">
            <a:noFill/>
            <a:miter lim="800000"/>
          </a:ln>
          <a:effectLst/>
        </p:spPr>
        <p:txBody>
          <a:bodyPr wrap="none" anchor="ctr"/>
          <a:lstStyle/>
          <a:p>
            <a:pPr algn="dist">
              <a:spcBef>
                <a:spcPct val="20000"/>
              </a:spcBef>
              <a:buFont typeface="Wingdings" panose="05000000000000000000" pitchFamily="2" charset="2"/>
              <a:buNone/>
              <a:defRPr/>
            </a:pPr>
            <a:endParaRPr lang="zh-CN" altLang="en-US">
              <a:ea typeface="+mn-ea"/>
            </a:endParaRPr>
          </a:p>
        </p:txBody>
      </p:sp>
      <p:sp>
        <p:nvSpPr>
          <p:cNvPr id="3074" name="Rectangle 2"/>
          <p:cNvSpPr>
            <a:spLocks noGrp="1" noChangeArrowheads="1"/>
          </p:cNvSpPr>
          <p:nvPr>
            <p:ph type="ctrTitle" hasCustomPrompt="1"/>
          </p:nvPr>
        </p:nvSpPr>
        <p:spPr>
          <a:xfrm>
            <a:off x="3886200" y="1371600"/>
            <a:ext cx="4876800" cy="3276600"/>
          </a:xfrm>
          <a:effectLst>
            <a:outerShdw dist="53882" dir="2700000" algn="ctr" rotWithShape="0">
              <a:schemeClr val="tx2">
                <a:alpha val="50000"/>
              </a:schemeClr>
            </a:outerShdw>
          </a:effectLst>
        </p:spPr>
        <p:txBody>
          <a:bodyPr/>
          <a:lstStyle>
            <a:lvl1pPr algn="r">
              <a:defRPr sz="4000">
                <a:solidFill>
                  <a:srgbClr val="FFFFCC"/>
                </a:solidFill>
              </a:defRPr>
            </a:lvl1pPr>
          </a:lstStyle>
          <a:p>
            <a:r>
              <a:rPr lang="en-US" altLang="zh-CN" noProof="1"/>
              <a:t>Click to edit </a:t>
            </a:r>
            <a:br>
              <a:rPr lang="en-US" altLang="zh-CN"/>
            </a:br>
            <a:r>
              <a:rPr lang="en-US" altLang="zh-CN" noProof="1"/>
              <a:t>Master title </a:t>
            </a:r>
            <a:br>
              <a:rPr lang="en-US" altLang="zh-CN"/>
            </a:br>
            <a:r>
              <a:rPr lang="en-US" altLang="zh-CN" noProof="1"/>
              <a:t>style</a:t>
            </a:r>
            <a:endParaRPr lang="en-US" altLang="zh-CN" noProof="1"/>
          </a:p>
        </p:txBody>
      </p:sp>
      <p:sp>
        <p:nvSpPr>
          <p:cNvPr id="3075" name="Rectangle 3"/>
          <p:cNvSpPr>
            <a:spLocks noGrp="1" noChangeArrowheads="1"/>
          </p:cNvSpPr>
          <p:nvPr>
            <p:ph type="subTitle" idx="1"/>
          </p:nvPr>
        </p:nvSpPr>
        <p:spPr bwMode="white">
          <a:xfrm>
            <a:off x="1752600" y="5638800"/>
            <a:ext cx="6172200" cy="457200"/>
          </a:xfrm>
        </p:spPr>
        <p:txBody>
          <a:bodyPr/>
          <a:lstStyle>
            <a:lvl1pPr marL="0" indent="0" algn="ctr">
              <a:buFont typeface="Wingdings" panose="05000000000000000000" pitchFamily="2" charset="2"/>
              <a:buNone/>
              <a:defRPr sz="1500"/>
            </a:lvl1pPr>
          </a:lstStyle>
          <a:p>
            <a:r>
              <a:rPr lang="en-US" altLang="zh-CN" noProof="1"/>
              <a:t>Click to edit Master subtitle style</a:t>
            </a:r>
            <a:endParaRPr lang="en-US" altLang="zh-CN" noProof="1"/>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Rectangle 6"/>
          <p:cNvSpPr>
            <a:spLocks noGrp="1" noChangeArrowheads="1"/>
          </p:cNvSpPr>
          <p:nvPr>
            <p:ph type="sldNum" sz="quarter" idx="10"/>
          </p:nvPr>
        </p:nvSpPr>
        <p:spPr/>
        <p:txBody>
          <a:bodyPr/>
          <a:lstStyle>
            <a:lvl1pPr>
              <a:defRPr/>
            </a:lvl1pPr>
          </a:lstStyle>
          <a:p>
            <a:fld id="{FA08D28F-7A1A-4649-99B9-D8939BE4BD0E}"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
        <p:nvSpPr>
          <p:cNvPr id="4" name="Rectangle 6"/>
          <p:cNvSpPr>
            <a:spLocks noGrp="1" noChangeArrowheads="1"/>
          </p:cNvSpPr>
          <p:nvPr>
            <p:ph type="sldNum" sz="quarter" idx="10"/>
          </p:nvPr>
        </p:nvSpPr>
        <p:spPr/>
        <p:txBody>
          <a:bodyPr/>
          <a:lstStyle>
            <a:lvl1pPr>
              <a:defRPr/>
            </a:lvl1pPr>
          </a:lstStyle>
          <a:p>
            <a:fld id="{CA868DCD-46AD-4FA3-A635-7EFC7AA245E0}"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295400"/>
            <a:ext cx="40005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10100" y="1295400"/>
            <a:ext cx="40005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Rectangle 6"/>
          <p:cNvSpPr>
            <a:spLocks noGrp="1" noChangeArrowheads="1"/>
          </p:cNvSpPr>
          <p:nvPr>
            <p:ph type="sldNum" sz="quarter" idx="10"/>
          </p:nvPr>
        </p:nvSpPr>
        <p:spPr/>
        <p:txBody>
          <a:bodyPr/>
          <a:lstStyle>
            <a:lvl1pPr>
              <a:defRPr/>
            </a:lvl1pPr>
          </a:lstStyle>
          <a:p>
            <a:fld id="{162D2A34-2423-46FE-B0D3-0315F7188302}"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7" name="Rectangle 6"/>
          <p:cNvSpPr>
            <a:spLocks noGrp="1" noChangeArrowheads="1"/>
          </p:cNvSpPr>
          <p:nvPr>
            <p:ph type="sldNum" sz="quarter" idx="10"/>
          </p:nvPr>
        </p:nvSpPr>
        <p:spPr/>
        <p:txBody>
          <a:bodyPr/>
          <a:lstStyle>
            <a:lvl1pPr>
              <a:defRPr/>
            </a:lvl1pPr>
          </a:lstStyle>
          <a:p>
            <a:fld id="{6BD9B1D8-F687-46AB-AE58-F082B3697A28}"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Rectangle 6"/>
          <p:cNvSpPr>
            <a:spLocks noGrp="1" noChangeArrowheads="1"/>
          </p:cNvSpPr>
          <p:nvPr>
            <p:ph type="sldNum" sz="quarter" idx="10"/>
          </p:nvPr>
        </p:nvSpPr>
        <p:spPr/>
        <p:txBody>
          <a:bodyPr/>
          <a:lstStyle>
            <a:lvl1pPr>
              <a:defRPr/>
            </a:lvl1pPr>
          </a:lstStyle>
          <a:p>
            <a:fld id="{F578F65B-CA36-424D-80F5-2FED902119B3}"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p:txBody>
          <a:bodyPr/>
          <a:lstStyle>
            <a:lvl1pPr>
              <a:defRPr/>
            </a:lvl1pPr>
          </a:lstStyle>
          <a:p>
            <a:fld id="{B3916576-AC6D-4981-9F0F-5A8614EA2B6C}"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
        <p:nvSpPr>
          <p:cNvPr id="5" name="Rectangle 6"/>
          <p:cNvSpPr>
            <a:spLocks noGrp="1" noChangeArrowheads="1"/>
          </p:cNvSpPr>
          <p:nvPr>
            <p:ph type="sldNum" sz="quarter" idx="10"/>
          </p:nvPr>
        </p:nvSpPr>
        <p:spPr/>
        <p:txBody>
          <a:bodyPr/>
          <a:lstStyle>
            <a:lvl1pPr>
              <a:defRPr/>
            </a:lvl1pPr>
          </a:lstStyle>
          <a:p>
            <a:fld id="{E187AD92-A9D5-49B8-AB67-25A6F07305F9}"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
        <p:nvSpPr>
          <p:cNvPr id="5" name="Rectangle 6"/>
          <p:cNvSpPr>
            <a:spLocks noGrp="1" noChangeArrowheads="1"/>
          </p:cNvSpPr>
          <p:nvPr>
            <p:ph type="sldNum" sz="quarter" idx="10"/>
          </p:nvPr>
        </p:nvSpPr>
        <p:spPr/>
        <p:txBody>
          <a:bodyPr/>
          <a:lstStyle>
            <a:lvl1pPr>
              <a:defRPr/>
            </a:lvl1pPr>
          </a:lstStyle>
          <a:p>
            <a:fld id="{3A3313A8-2FFF-4492-9009-55200A3094B1}"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Rectangle 6"/>
          <p:cNvSpPr>
            <a:spLocks noGrp="1" noChangeArrowheads="1"/>
          </p:cNvSpPr>
          <p:nvPr>
            <p:ph type="sldNum" sz="quarter" idx="10"/>
          </p:nvPr>
        </p:nvSpPr>
        <p:spPr/>
        <p:txBody>
          <a:bodyPr/>
          <a:lstStyle>
            <a:lvl1pPr>
              <a:defRPr/>
            </a:lvl1pPr>
          </a:lstStyle>
          <a:p>
            <a:fld id="{11892DD1-E22A-4F27-8458-2438E9F26148}"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86550" y="152400"/>
            <a:ext cx="2076450" cy="6172200"/>
          </a:xfr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52400"/>
            <a:ext cx="6076950" cy="6172200"/>
          </a:xfr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Rectangle 6"/>
          <p:cNvSpPr>
            <a:spLocks noGrp="1" noChangeArrowheads="1"/>
          </p:cNvSpPr>
          <p:nvPr>
            <p:ph type="sldNum" sz="quarter" idx="10"/>
          </p:nvPr>
        </p:nvSpPr>
        <p:spPr/>
        <p:txBody>
          <a:bodyPr/>
          <a:lstStyle>
            <a:lvl1pPr>
              <a:defRPr/>
            </a:lvl1pPr>
          </a:lstStyle>
          <a:p>
            <a:fld id="{FBC54BFB-7E4E-4EC6-8276-7DA2260320DB}" type="slidenum">
              <a:rPr lang="zh-CN" altLang="en-US"/>
            </a:fld>
            <a:endParaRPr lang="zh-CN" altLang="en-US">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image" Target="../media/image2.jpe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pic>
        <p:nvPicPr>
          <p:cNvPr id="1026" name="Picture 43" descr="e_11p"/>
          <p:cNvPicPr>
            <a:picLocks noChangeAspect="1" noChangeArrowheads="1"/>
          </p:cNvPicPr>
          <p:nvPr/>
        </p:nvPicPr>
        <p:blipFill>
          <a:blip r:embed="rId12" cstate="print"/>
          <a:srcRect/>
          <a:stretch>
            <a:fillRect/>
          </a:stretch>
        </p:blipFill>
        <p:spPr bwMode="auto">
          <a:xfrm>
            <a:off x="0" y="0"/>
            <a:ext cx="9144000" cy="836613"/>
          </a:xfrm>
          <a:prstGeom prst="rect">
            <a:avLst/>
          </a:prstGeom>
          <a:noFill/>
          <a:ln w="9525">
            <a:noFill/>
            <a:miter lim="800000"/>
            <a:headEnd/>
            <a:tailEnd/>
          </a:ln>
        </p:spPr>
      </p:pic>
      <p:sp>
        <p:nvSpPr>
          <p:cNvPr id="1027" name="Rectangle 3"/>
          <p:cNvSpPr>
            <a:spLocks noGrp="1" noChangeArrowheads="1"/>
          </p:cNvSpPr>
          <p:nvPr>
            <p:ph type="body" idx="4294967295"/>
          </p:nvPr>
        </p:nvSpPr>
        <p:spPr bwMode="auto">
          <a:xfrm>
            <a:off x="457200" y="1295400"/>
            <a:ext cx="8153400" cy="5029200"/>
          </a:xfrm>
          <a:prstGeom prst="rect">
            <a:avLst/>
          </a:prstGeom>
          <a:noFill/>
          <a:ln w="9525">
            <a:noFill/>
            <a:miter lim="800000"/>
          </a:ln>
        </p:spPr>
        <p:txBody>
          <a:bodyPr vert="horz" wrap="square" lIns="91440" tIns="45720" rIns="91440" bIns="45720" numCol="1" anchor="t" anchorCtr="0" compatLnSpc="1"/>
          <a:lstStyle/>
          <a:p>
            <a:pPr lvl="0"/>
            <a:r>
              <a:rPr lang="en-US" altLang="zh-CN" smtClean="0"/>
              <a:t>Click to edit Master text styles</a:t>
            </a:r>
            <a:endParaRPr lang="en-US" altLang="zh-CN" smtClean="0"/>
          </a:p>
          <a:p>
            <a:pPr lvl="1"/>
            <a:r>
              <a:rPr lang="en-US" altLang="zh-CN" smtClean="0"/>
              <a:t>Second level</a:t>
            </a:r>
            <a:endParaRPr lang="en-US" altLang="zh-CN" smtClean="0"/>
          </a:p>
          <a:p>
            <a:pPr lvl="2"/>
            <a:r>
              <a:rPr lang="en-US" altLang="zh-CN" smtClean="0"/>
              <a:t>Third level</a:t>
            </a:r>
            <a:endParaRPr lang="en-US" altLang="zh-CN" smtClean="0"/>
          </a:p>
        </p:txBody>
      </p:sp>
      <p:sp>
        <p:nvSpPr>
          <p:cNvPr id="1030" name="Rectangle 6"/>
          <p:cNvSpPr>
            <a:spLocks noGrp="1" noChangeArrowheads="1"/>
          </p:cNvSpPr>
          <p:nvPr>
            <p:ph type="sldNum" sz="quarter" idx="4"/>
          </p:nvPr>
        </p:nvSpPr>
        <p:spPr bwMode="auto">
          <a:xfrm>
            <a:off x="3276600" y="6480175"/>
            <a:ext cx="2133600" cy="292100"/>
          </a:xfrm>
          <a:prstGeom prst="rect">
            <a:avLst/>
          </a:prstGeom>
          <a:noFill/>
          <a:ln w="9525">
            <a:noFill/>
            <a:miter lim="800000"/>
          </a:ln>
          <a:effectLst/>
        </p:spPr>
        <p:txBody>
          <a:bodyPr vert="horz" wrap="square" lIns="91440" tIns="45720" rIns="91440" bIns="45720" numCol="1" anchor="t" anchorCtr="0" compatLnSpc="1"/>
          <a:lstStyle>
            <a:lvl1pPr algn="ctr">
              <a:defRPr sz="1400" b="1">
                <a:latin typeface="Verdana" panose="020B0604030504040204" pitchFamily="34" charset="0"/>
              </a:defRPr>
            </a:lvl1pPr>
          </a:lstStyle>
          <a:p>
            <a:fld id="{8A0988B1-9813-42E4-BF71-86FD27335093}" type="slidenum">
              <a:rPr lang="zh-CN" altLang="en-US"/>
            </a:fld>
            <a:endParaRPr lang="zh-CN" altLang="en-US"/>
          </a:p>
        </p:txBody>
      </p:sp>
      <p:sp>
        <p:nvSpPr>
          <p:cNvPr id="1029" name="Rectangle 2"/>
          <p:cNvSpPr>
            <a:spLocks noGrp="1" noChangeArrowheads="1"/>
          </p:cNvSpPr>
          <p:nvPr>
            <p:ph type="title" idx="9"/>
          </p:nvPr>
        </p:nvSpPr>
        <p:spPr bwMode="auto">
          <a:xfrm>
            <a:off x="457200" y="152400"/>
            <a:ext cx="8305800" cy="563563"/>
          </a:xfrm>
          <a:prstGeom prst="rect">
            <a:avLst/>
          </a:prstGeom>
          <a:noFill/>
          <a:ln w="9525">
            <a:noFill/>
            <a:miter lim="800000"/>
          </a:ln>
        </p:spPr>
        <p:txBody>
          <a:bodyPr vert="horz" wrap="square" lIns="91440" tIns="45720" rIns="91440" bIns="45720" numCol="1" anchor="ctr" anchorCtr="0" compatLnSpc="1"/>
          <a:lstStyle/>
          <a:p>
            <a:pPr lvl="0"/>
            <a:r>
              <a:rPr lang="zh-CN" altLang="en-US" smtClean="0"/>
              <a:t>单击此处编辑母版标题样式</a:t>
            </a:r>
            <a:endParaRPr lang="en-US" altLang="zh-CN" smtClean="0"/>
          </a:p>
        </p:txBody>
      </p:sp>
      <p:sp>
        <p:nvSpPr>
          <p:cNvPr id="1070" name="Text Box 46"/>
          <p:cNvSpPr txBox="1">
            <a:spLocks noChangeArrowheads="1"/>
          </p:cNvSpPr>
          <p:nvPr/>
        </p:nvSpPr>
        <p:spPr bwMode="auto">
          <a:xfrm>
            <a:off x="0" y="819150"/>
            <a:ext cx="9144000" cy="244475"/>
          </a:xfrm>
          <a:prstGeom prst="rect">
            <a:avLst/>
          </a:prstGeom>
          <a:gradFill rotWithShape="1">
            <a:gsLst>
              <a:gs pos="0">
                <a:schemeClr val="hlink">
                  <a:gamma/>
                  <a:shade val="46275"/>
                  <a:invGamma/>
                </a:schemeClr>
              </a:gs>
              <a:gs pos="50000">
                <a:schemeClr val="hlink"/>
              </a:gs>
              <a:gs pos="100000">
                <a:schemeClr val="hlink">
                  <a:gamma/>
                  <a:shade val="46275"/>
                  <a:invGamma/>
                </a:schemeClr>
              </a:gs>
            </a:gsLst>
            <a:lin ang="5400000" scaled="1"/>
          </a:gradFill>
          <a:ln w="9525">
            <a:noFill/>
            <a:miter lim="800000"/>
          </a:ln>
          <a:effectLst/>
        </p:spPr>
        <p:txBody>
          <a:bodyPr>
            <a:spAutoFit/>
          </a:bodyPr>
          <a:lstStyle/>
          <a:p>
            <a:pPr>
              <a:defRPr/>
            </a:pPr>
            <a:endParaRPr lang="en-US" altLang="zh-CN" sz="1000" b="1">
              <a:solidFill>
                <a:schemeClr val="bg1"/>
              </a:solidFill>
              <a:latin typeface="Verdana" panose="020B060403050404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1" fontAlgn="base" hangingPunct="1">
        <a:spcBef>
          <a:spcPct val="0"/>
        </a:spcBef>
        <a:spcAft>
          <a:spcPct val="0"/>
        </a:spcAft>
        <a:defRPr sz="3200" b="1">
          <a:solidFill>
            <a:schemeClr val="bg1"/>
          </a:solidFill>
          <a:latin typeface="+mj-lt"/>
          <a:ea typeface="+mj-ea"/>
          <a:cs typeface="+mj-cs"/>
        </a:defRPr>
      </a:lvl1pPr>
      <a:lvl2pPr algn="ctr" rtl="0" eaLnBrk="1" fontAlgn="base" hangingPunct="1">
        <a:spcBef>
          <a:spcPct val="0"/>
        </a:spcBef>
        <a:spcAft>
          <a:spcPct val="0"/>
        </a:spcAft>
        <a:defRPr sz="3200" b="1">
          <a:solidFill>
            <a:schemeClr val="bg1"/>
          </a:solidFill>
          <a:latin typeface="Verdana" panose="020B0604030504040204" pitchFamily="34" charset="0"/>
        </a:defRPr>
      </a:lvl2pPr>
      <a:lvl3pPr algn="ctr" rtl="0" eaLnBrk="1" fontAlgn="base" hangingPunct="1">
        <a:spcBef>
          <a:spcPct val="0"/>
        </a:spcBef>
        <a:spcAft>
          <a:spcPct val="0"/>
        </a:spcAft>
        <a:defRPr sz="3200" b="1">
          <a:solidFill>
            <a:schemeClr val="bg1"/>
          </a:solidFill>
          <a:latin typeface="Verdana" panose="020B0604030504040204" pitchFamily="34" charset="0"/>
        </a:defRPr>
      </a:lvl3pPr>
      <a:lvl4pPr algn="ctr" rtl="0" eaLnBrk="1" fontAlgn="base" hangingPunct="1">
        <a:spcBef>
          <a:spcPct val="0"/>
        </a:spcBef>
        <a:spcAft>
          <a:spcPct val="0"/>
        </a:spcAft>
        <a:defRPr sz="3200" b="1">
          <a:solidFill>
            <a:schemeClr val="bg1"/>
          </a:solidFill>
          <a:latin typeface="Verdana" panose="020B0604030504040204" pitchFamily="34" charset="0"/>
        </a:defRPr>
      </a:lvl4pPr>
      <a:lvl5pPr algn="ctr" rtl="0" eaLnBrk="1" fontAlgn="base" hangingPunct="1">
        <a:spcBef>
          <a:spcPct val="0"/>
        </a:spcBef>
        <a:spcAft>
          <a:spcPct val="0"/>
        </a:spcAft>
        <a:defRPr sz="3200" b="1">
          <a:solidFill>
            <a:schemeClr val="bg1"/>
          </a:solidFill>
          <a:latin typeface="Verdana" panose="020B0604030504040204" pitchFamily="34" charset="0"/>
        </a:defRPr>
      </a:lvl5pPr>
      <a:lvl6pPr marL="457200" algn="ctr" rtl="0" eaLnBrk="1" fontAlgn="base" hangingPunct="1">
        <a:spcBef>
          <a:spcPct val="0"/>
        </a:spcBef>
        <a:spcAft>
          <a:spcPct val="0"/>
        </a:spcAft>
        <a:defRPr sz="3200" b="1">
          <a:solidFill>
            <a:schemeClr val="bg1"/>
          </a:solidFill>
          <a:latin typeface="Verdana" panose="020B0604030504040204" pitchFamily="34" charset="0"/>
        </a:defRPr>
      </a:lvl6pPr>
      <a:lvl7pPr marL="914400" algn="ctr" rtl="0" eaLnBrk="1" fontAlgn="base" hangingPunct="1">
        <a:spcBef>
          <a:spcPct val="0"/>
        </a:spcBef>
        <a:spcAft>
          <a:spcPct val="0"/>
        </a:spcAft>
        <a:defRPr sz="3200" b="1">
          <a:solidFill>
            <a:schemeClr val="bg1"/>
          </a:solidFill>
          <a:latin typeface="Verdana" panose="020B0604030504040204" pitchFamily="34" charset="0"/>
        </a:defRPr>
      </a:lvl7pPr>
      <a:lvl8pPr marL="1371600" algn="ctr" rtl="0" eaLnBrk="1" fontAlgn="base" hangingPunct="1">
        <a:spcBef>
          <a:spcPct val="0"/>
        </a:spcBef>
        <a:spcAft>
          <a:spcPct val="0"/>
        </a:spcAft>
        <a:defRPr sz="3200" b="1">
          <a:solidFill>
            <a:schemeClr val="bg1"/>
          </a:solidFill>
          <a:latin typeface="Verdana" panose="020B0604030504040204" pitchFamily="34" charset="0"/>
        </a:defRPr>
      </a:lvl8pPr>
      <a:lvl9pPr marL="1828800" algn="ctr" rtl="0" eaLnBrk="1" fontAlgn="base" hangingPunct="1">
        <a:spcBef>
          <a:spcPct val="0"/>
        </a:spcBef>
        <a:spcAft>
          <a:spcPct val="0"/>
        </a:spcAft>
        <a:defRPr sz="3200" b="1">
          <a:solidFill>
            <a:schemeClr val="bg1"/>
          </a:solidFill>
          <a:latin typeface="Verdana" panose="020B0604030504040204" pitchFamily="34" charset="0"/>
        </a:defRPr>
      </a:lvl9pPr>
    </p:titleStyle>
    <p:bodyStyle>
      <a:lvl1pPr marL="342900" indent="-342900" algn="l" rtl="0" eaLnBrk="1" fontAlgn="base" hangingPunct="1">
        <a:spcBef>
          <a:spcPct val="20000"/>
        </a:spcBef>
        <a:spcAft>
          <a:spcPct val="0"/>
        </a:spcAft>
        <a:buClr>
          <a:schemeClr val="hlink"/>
        </a:buClr>
        <a:buFont typeface="Wingdings" panose="05000000000000000000" pitchFamily="2" charset="2"/>
        <a:buChar char="n"/>
        <a:defRPr sz="2200" b="1">
          <a:solidFill>
            <a:schemeClr val="tx2"/>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Char char="n"/>
        <a:defRPr sz="2200">
          <a:solidFill>
            <a:schemeClr val="tx2"/>
          </a:solidFill>
          <a:latin typeface="+mn-lt"/>
          <a:ea typeface="+mn-ea"/>
        </a:defRPr>
      </a:lvl2pPr>
      <a:lvl3pPr marL="1143000" indent="-228600" algn="l" rtl="0" eaLnBrk="1" fontAlgn="base" hangingPunct="1">
        <a:spcBef>
          <a:spcPct val="20000"/>
        </a:spcBef>
        <a:spcAft>
          <a:spcPct val="0"/>
        </a:spcAft>
        <a:buClr>
          <a:schemeClr val="tx1"/>
        </a:buClr>
        <a:buFont typeface="Wingdings" panose="05000000000000000000" pitchFamily="2" charset="2"/>
        <a:buChar char="n"/>
        <a:defRPr sz="2200">
          <a:solidFill>
            <a:schemeClr val="tx2"/>
          </a:solidFill>
          <a:latin typeface="+mn-lt"/>
          <a:ea typeface="+mn-ea"/>
        </a:defRPr>
      </a:lvl3pPr>
      <a:lvl4pPr marL="1600200" indent="-228600" algn="l" rtl="0" eaLnBrk="1" fontAlgn="base" hangingPunct="1">
        <a:spcBef>
          <a:spcPct val="20000"/>
        </a:spcBef>
        <a:spcAft>
          <a:spcPct val="0"/>
        </a:spcAft>
        <a:defRPr sz="1600">
          <a:solidFill>
            <a:schemeClr val="tx1"/>
          </a:solidFill>
          <a:latin typeface="+mn-lt"/>
          <a:ea typeface="+mn-ea"/>
        </a:defRPr>
      </a:lvl4pPr>
      <a:lvl5pPr marL="2057400" indent="-228600" algn="l" rtl="0" eaLnBrk="1" fontAlgn="base" hangingPunct="1">
        <a:spcBef>
          <a:spcPct val="20000"/>
        </a:spcBef>
        <a:spcAft>
          <a:spcPct val="0"/>
        </a:spcAft>
        <a:buChar char="»"/>
        <a:defRPr sz="1400">
          <a:solidFill>
            <a:schemeClr val="tx1"/>
          </a:solidFill>
          <a:latin typeface="+mn-lt"/>
          <a:ea typeface="+mn-ea"/>
        </a:defRPr>
      </a:lvl5pPr>
      <a:lvl6pPr marL="2514600" indent="-228600" algn="l" rtl="0" eaLnBrk="1" fontAlgn="base" hangingPunct="1">
        <a:spcBef>
          <a:spcPct val="20000"/>
        </a:spcBef>
        <a:spcAft>
          <a:spcPct val="0"/>
        </a:spcAft>
        <a:buChar char="»"/>
        <a:defRPr sz="1400">
          <a:solidFill>
            <a:schemeClr val="tx1"/>
          </a:solidFill>
          <a:latin typeface="+mn-lt"/>
          <a:ea typeface="+mn-ea"/>
        </a:defRPr>
      </a:lvl6pPr>
      <a:lvl7pPr marL="2971800" indent="-228600" algn="l" rtl="0" eaLnBrk="1" fontAlgn="base" hangingPunct="1">
        <a:spcBef>
          <a:spcPct val="20000"/>
        </a:spcBef>
        <a:spcAft>
          <a:spcPct val="0"/>
        </a:spcAft>
        <a:buChar char="»"/>
        <a:defRPr sz="1400">
          <a:solidFill>
            <a:schemeClr val="tx1"/>
          </a:solidFill>
          <a:latin typeface="+mn-lt"/>
          <a:ea typeface="+mn-ea"/>
        </a:defRPr>
      </a:lvl7pPr>
      <a:lvl8pPr marL="3429000" indent="-228600" algn="l" rtl="0" eaLnBrk="1" fontAlgn="base" hangingPunct="1">
        <a:spcBef>
          <a:spcPct val="20000"/>
        </a:spcBef>
        <a:spcAft>
          <a:spcPct val="0"/>
        </a:spcAft>
        <a:buChar char="»"/>
        <a:defRPr sz="1400">
          <a:solidFill>
            <a:schemeClr val="tx1"/>
          </a:solidFill>
          <a:latin typeface="+mn-lt"/>
          <a:ea typeface="+mn-ea"/>
        </a:defRPr>
      </a:lvl8pPr>
      <a:lvl9pPr marL="3886200" indent="-228600" algn="l" rtl="0" eaLnBrk="1" fontAlgn="base" hangingPunct="1">
        <a:spcBef>
          <a:spcPct val="20000"/>
        </a:spcBef>
        <a:spcAft>
          <a:spcPct val="0"/>
        </a:spcAft>
        <a:buChar char="»"/>
        <a:defRPr sz="14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pic>
        <p:nvPicPr>
          <p:cNvPr id="2050" name="Picture 43" descr="e_11p"/>
          <p:cNvPicPr>
            <a:picLocks noChangeAspect="1" noChangeArrowheads="1"/>
          </p:cNvPicPr>
          <p:nvPr/>
        </p:nvPicPr>
        <p:blipFill>
          <a:blip r:embed="rId12" cstate="print"/>
          <a:srcRect/>
          <a:stretch>
            <a:fillRect/>
          </a:stretch>
        </p:blipFill>
        <p:spPr bwMode="auto">
          <a:xfrm>
            <a:off x="0" y="0"/>
            <a:ext cx="9144000" cy="836613"/>
          </a:xfrm>
          <a:prstGeom prst="rect">
            <a:avLst/>
          </a:prstGeom>
          <a:noFill/>
          <a:ln w="9525">
            <a:noFill/>
            <a:miter lim="800000"/>
            <a:headEnd/>
            <a:tailEnd/>
          </a:ln>
        </p:spPr>
      </p:pic>
      <p:sp>
        <p:nvSpPr>
          <p:cNvPr id="2051" name="Rectangle 3"/>
          <p:cNvSpPr>
            <a:spLocks noGrp="1" noChangeArrowheads="1"/>
          </p:cNvSpPr>
          <p:nvPr>
            <p:ph type="body" idx="4294967295"/>
          </p:nvPr>
        </p:nvSpPr>
        <p:spPr bwMode="auto">
          <a:xfrm>
            <a:off x="457200" y="1295400"/>
            <a:ext cx="8153400" cy="5029200"/>
          </a:xfrm>
          <a:prstGeom prst="rect">
            <a:avLst/>
          </a:prstGeom>
          <a:noFill/>
          <a:ln w="9525">
            <a:noFill/>
            <a:miter lim="800000"/>
          </a:ln>
        </p:spPr>
        <p:txBody>
          <a:bodyPr vert="horz" wrap="square" lIns="91440" tIns="45720" rIns="91440" bIns="45720" numCol="1" anchor="t" anchorCtr="0" compatLnSpc="1"/>
          <a:lstStyle/>
          <a:p>
            <a:pPr lvl="0"/>
            <a:r>
              <a:rPr lang="en-US" altLang="zh-CN" smtClean="0"/>
              <a:t>Click to edit Master text styles</a:t>
            </a:r>
            <a:endParaRPr lang="en-US" altLang="zh-CN" smtClean="0"/>
          </a:p>
          <a:p>
            <a:pPr lvl="1"/>
            <a:r>
              <a:rPr lang="en-US" altLang="zh-CN" smtClean="0"/>
              <a:t>Second level</a:t>
            </a:r>
            <a:endParaRPr lang="en-US" altLang="zh-CN" smtClean="0"/>
          </a:p>
          <a:p>
            <a:pPr lvl="2"/>
            <a:r>
              <a:rPr lang="en-US" altLang="zh-CN" smtClean="0"/>
              <a:t>Third level</a:t>
            </a:r>
            <a:endParaRPr lang="en-US" altLang="zh-CN" smtClean="0"/>
          </a:p>
        </p:txBody>
      </p:sp>
      <p:sp>
        <p:nvSpPr>
          <p:cNvPr id="1030" name="Rectangle 6"/>
          <p:cNvSpPr>
            <a:spLocks noGrp="1" noChangeArrowheads="1"/>
          </p:cNvSpPr>
          <p:nvPr>
            <p:ph type="sldNum" sz="quarter" idx="4"/>
          </p:nvPr>
        </p:nvSpPr>
        <p:spPr bwMode="auto">
          <a:xfrm>
            <a:off x="3276600" y="6480175"/>
            <a:ext cx="2133600" cy="292100"/>
          </a:xfrm>
          <a:prstGeom prst="rect">
            <a:avLst/>
          </a:prstGeom>
          <a:noFill/>
          <a:ln w="9525">
            <a:noFill/>
            <a:miter lim="800000"/>
          </a:ln>
          <a:effectLst/>
        </p:spPr>
        <p:txBody>
          <a:bodyPr vert="horz" wrap="square" lIns="91440" tIns="45720" rIns="91440" bIns="45720" numCol="1" anchor="t" anchorCtr="0" compatLnSpc="1"/>
          <a:lstStyle>
            <a:lvl1pPr algn="ctr">
              <a:defRPr sz="1400" b="1">
                <a:latin typeface="Verdana" panose="020B0604030504040204" pitchFamily="34" charset="0"/>
              </a:defRPr>
            </a:lvl1pPr>
          </a:lstStyle>
          <a:p>
            <a:fld id="{5C1C551E-BDAA-4DB6-94FF-387DC56810A9}" type="slidenum">
              <a:rPr lang="zh-CN" altLang="en-US"/>
            </a:fld>
            <a:endParaRPr lang="zh-CN" altLang="en-US"/>
          </a:p>
        </p:txBody>
      </p:sp>
      <p:sp>
        <p:nvSpPr>
          <p:cNvPr id="2053" name="Rectangle 2"/>
          <p:cNvSpPr>
            <a:spLocks noGrp="1" noChangeArrowheads="1"/>
          </p:cNvSpPr>
          <p:nvPr>
            <p:ph type="title" idx="9"/>
          </p:nvPr>
        </p:nvSpPr>
        <p:spPr bwMode="auto">
          <a:xfrm>
            <a:off x="457200" y="152400"/>
            <a:ext cx="8305800" cy="563563"/>
          </a:xfrm>
          <a:prstGeom prst="rect">
            <a:avLst/>
          </a:prstGeom>
          <a:noFill/>
          <a:ln w="9525">
            <a:noFill/>
            <a:miter lim="800000"/>
          </a:ln>
        </p:spPr>
        <p:txBody>
          <a:bodyPr vert="horz" wrap="square" lIns="91440" tIns="45720" rIns="91440" bIns="45720" numCol="1" anchor="ctr" anchorCtr="0" compatLnSpc="1"/>
          <a:lstStyle/>
          <a:p>
            <a:pPr lvl="0"/>
            <a:r>
              <a:rPr lang="en-US" altLang="zh-CN" smtClean="0"/>
              <a:t>Click to edit Master title style</a:t>
            </a:r>
            <a:endParaRPr lang="en-US" altLang="zh-CN" smtClean="0"/>
          </a:p>
        </p:txBody>
      </p:sp>
      <p:sp>
        <p:nvSpPr>
          <p:cNvPr id="1070" name="Text Box 46"/>
          <p:cNvSpPr txBox="1">
            <a:spLocks noChangeArrowheads="1"/>
          </p:cNvSpPr>
          <p:nvPr/>
        </p:nvSpPr>
        <p:spPr bwMode="auto">
          <a:xfrm>
            <a:off x="0" y="819150"/>
            <a:ext cx="9144000" cy="244475"/>
          </a:xfrm>
          <a:prstGeom prst="rect">
            <a:avLst/>
          </a:prstGeom>
          <a:gradFill rotWithShape="1">
            <a:gsLst>
              <a:gs pos="0">
                <a:schemeClr val="hlink">
                  <a:gamma/>
                  <a:shade val="46275"/>
                  <a:invGamma/>
                </a:schemeClr>
              </a:gs>
              <a:gs pos="50000">
                <a:schemeClr val="hlink"/>
              </a:gs>
              <a:gs pos="100000">
                <a:schemeClr val="hlink">
                  <a:gamma/>
                  <a:shade val="46275"/>
                  <a:invGamma/>
                </a:schemeClr>
              </a:gs>
            </a:gsLst>
            <a:lin ang="5400000" scaled="1"/>
          </a:gradFill>
          <a:ln w="9525">
            <a:noFill/>
            <a:miter lim="800000"/>
          </a:ln>
          <a:effectLst/>
        </p:spPr>
        <p:txBody>
          <a:bodyPr>
            <a:spAutoFit/>
          </a:bodyPr>
          <a:lstStyle/>
          <a:p>
            <a:pPr>
              <a:defRPr/>
            </a:pPr>
            <a:endParaRPr lang="en-US" altLang="zh-CN" sz="1000" b="1">
              <a:solidFill>
                <a:schemeClr val="bg1"/>
              </a:solidFill>
              <a:latin typeface="Verdana" panose="020B0604030504040204" pitchFamily="34" charset="0"/>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0" fontAlgn="base" hangingPunct="0">
        <a:spcBef>
          <a:spcPct val="0"/>
        </a:spcBef>
        <a:spcAft>
          <a:spcPct val="0"/>
        </a:spcAft>
        <a:defRPr sz="3200" b="1">
          <a:solidFill>
            <a:schemeClr val="bg1"/>
          </a:solidFill>
          <a:latin typeface="+mj-lt"/>
          <a:ea typeface="+mj-ea"/>
          <a:cs typeface="+mj-cs"/>
        </a:defRPr>
      </a:lvl1pPr>
      <a:lvl2pPr algn="ctr" rtl="0" eaLnBrk="0" fontAlgn="base" hangingPunct="0">
        <a:spcBef>
          <a:spcPct val="0"/>
        </a:spcBef>
        <a:spcAft>
          <a:spcPct val="0"/>
        </a:spcAft>
        <a:defRPr sz="3200" b="1">
          <a:solidFill>
            <a:schemeClr val="bg1"/>
          </a:solidFill>
          <a:latin typeface="Verdana" panose="020B0604030504040204" pitchFamily="34" charset="0"/>
        </a:defRPr>
      </a:lvl2pPr>
      <a:lvl3pPr algn="ctr" rtl="0" eaLnBrk="0" fontAlgn="base" hangingPunct="0">
        <a:spcBef>
          <a:spcPct val="0"/>
        </a:spcBef>
        <a:spcAft>
          <a:spcPct val="0"/>
        </a:spcAft>
        <a:defRPr sz="3200" b="1">
          <a:solidFill>
            <a:schemeClr val="bg1"/>
          </a:solidFill>
          <a:latin typeface="Verdana" panose="020B0604030504040204" pitchFamily="34" charset="0"/>
        </a:defRPr>
      </a:lvl3pPr>
      <a:lvl4pPr algn="ctr" rtl="0" eaLnBrk="0" fontAlgn="base" hangingPunct="0">
        <a:spcBef>
          <a:spcPct val="0"/>
        </a:spcBef>
        <a:spcAft>
          <a:spcPct val="0"/>
        </a:spcAft>
        <a:defRPr sz="3200" b="1">
          <a:solidFill>
            <a:schemeClr val="bg1"/>
          </a:solidFill>
          <a:latin typeface="Verdana" panose="020B0604030504040204" pitchFamily="34" charset="0"/>
        </a:defRPr>
      </a:lvl4pPr>
      <a:lvl5pPr algn="ctr" rtl="0" eaLnBrk="0" fontAlgn="base" hangingPunct="0">
        <a:spcBef>
          <a:spcPct val="0"/>
        </a:spcBef>
        <a:spcAft>
          <a:spcPct val="0"/>
        </a:spcAft>
        <a:defRPr sz="3200" b="1">
          <a:solidFill>
            <a:schemeClr val="bg1"/>
          </a:solidFill>
          <a:latin typeface="Verdana" panose="020B0604030504040204" pitchFamily="34" charset="0"/>
        </a:defRPr>
      </a:lvl5pPr>
      <a:lvl6pPr marL="457200" algn="ctr" rtl="0" fontAlgn="base">
        <a:spcBef>
          <a:spcPct val="0"/>
        </a:spcBef>
        <a:spcAft>
          <a:spcPct val="0"/>
        </a:spcAft>
        <a:defRPr sz="3200" b="1">
          <a:solidFill>
            <a:schemeClr val="bg1"/>
          </a:solidFill>
          <a:latin typeface="Verdana" panose="020B0604030504040204" pitchFamily="34" charset="0"/>
        </a:defRPr>
      </a:lvl6pPr>
      <a:lvl7pPr marL="914400" algn="ctr" rtl="0" fontAlgn="base">
        <a:spcBef>
          <a:spcPct val="0"/>
        </a:spcBef>
        <a:spcAft>
          <a:spcPct val="0"/>
        </a:spcAft>
        <a:defRPr sz="3200" b="1">
          <a:solidFill>
            <a:schemeClr val="bg1"/>
          </a:solidFill>
          <a:latin typeface="Verdana" panose="020B0604030504040204" pitchFamily="34" charset="0"/>
        </a:defRPr>
      </a:lvl7pPr>
      <a:lvl8pPr marL="1371600" algn="ctr" rtl="0" fontAlgn="base">
        <a:spcBef>
          <a:spcPct val="0"/>
        </a:spcBef>
        <a:spcAft>
          <a:spcPct val="0"/>
        </a:spcAft>
        <a:defRPr sz="3200" b="1">
          <a:solidFill>
            <a:schemeClr val="bg1"/>
          </a:solidFill>
          <a:latin typeface="Verdana" panose="020B0604030504040204" pitchFamily="34" charset="0"/>
        </a:defRPr>
      </a:lvl8pPr>
      <a:lvl9pPr marL="1828800" algn="ctr" rtl="0" fontAlgn="base">
        <a:spcBef>
          <a:spcPct val="0"/>
        </a:spcBef>
        <a:spcAft>
          <a:spcPct val="0"/>
        </a:spcAft>
        <a:defRPr sz="3200" b="1">
          <a:solidFill>
            <a:schemeClr val="bg1"/>
          </a:solidFill>
          <a:latin typeface="Verdana" panose="020B0604030504040204" pitchFamily="34" charset="0"/>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n"/>
        <a:defRPr sz="2200" b="1">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n"/>
        <a:defRPr sz="22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n"/>
        <a:defRPr sz="2200">
          <a:solidFill>
            <a:schemeClr val="tx2"/>
          </a:solidFill>
          <a:latin typeface="+mn-lt"/>
          <a:ea typeface="+mn-ea"/>
        </a:defRPr>
      </a:lvl3pPr>
      <a:lvl4pPr marL="1600200" indent="-228600" algn="l" rtl="0" eaLnBrk="0" fontAlgn="base" hangingPunct="0">
        <a:spcBef>
          <a:spcPct val="20000"/>
        </a:spcBef>
        <a:spcAft>
          <a:spcPct val="0"/>
        </a:spcAft>
        <a:defRPr sz="1600">
          <a:solidFill>
            <a:schemeClr val="tx1"/>
          </a:solidFill>
          <a:latin typeface="+mn-lt"/>
          <a:ea typeface="+mn-ea"/>
        </a:defRPr>
      </a:lvl4pPr>
      <a:lvl5pPr marL="2057400" indent="-228600" algn="l" rtl="0" eaLnBrk="0" fontAlgn="base" hangingPunct="0">
        <a:spcBef>
          <a:spcPct val="20000"/>
        </a:spcBef>
        <a:spcAft>
          <a:spcPct val="0"/>
        </a:spcAft>
        <a:buChar char="»"/>
        <a:defRPr sz="1400">
          <a:solidFill>
            <a:schemeClr val="tx1"/>
          </a:solidFill>
          <a:latin typeface="+mn-lt"/>
          <a:ea typeface="+mn-ea"/>
        </a:defRPr>
      </a:lvl5pPr>
      <a:lvl6pPr marL="2514600" indent="-228600" algn="l" rtl="0" fontAlgn="base">
        <a:spcBef>
          <a:spcPct val="20000"/>
        </a:spcBef>
        <a:spcAft>
          <a:spcPct val="0"/>
        </a:spcAft>
        <a:buChar char="»"/>
        <a:defRPr sz="1400">
          <a:solidFill>
            <a:schemeClr val="tx1"/>
          </a:solidFill>
          <a:latin typeface="+mn-lt"/>
          <a:ea typeface="+mn-ea"/>
        </a:defRPr>
      </a:lvl6pPr>
      <a:lvl7pPr marL="2971800" indent="-228600" algn="l" rtl="0" fontAlgn="base">
        <a:spcBef>
          <a:spcPct val="20000"/>
        </a:spcBef>
        <a:spcAft>
          <a:spcPct val="0"/>
        </a:spcAft>
        <a:buChar char="»"/>
        <a:defRPr sz="1400">
          <a:solidFill>
            <a:schemeClr val="tx1"/>
          </a:solidFill>
          <a:latin typeface="+mn-lt"/>
          <a:ea typeface="+mn-ea"/>
        </a:defRPr>
      </a:lvl7pPr>
      <a:lvl8pPr marL="3429000" indent="-228600" algn="l" rtl="0" fontAlgn="base">
        <a:spcBef>
          <a:spcPct val="20000"/>
        </a:spcBef>
        <a:spcAft>
          <a:spcPct val="0"/>
        </a:spcAft>
        <a:buChar char="»"/>
        <a:defRPr sz="1400">
          <a:solidFill>
            <a:schemeClr val="tx1"/>
          </a:solidFill>
          <a:latin typeface="+mn-lt"/>
          <a:ea typeface="+mn-ea"/>
        </a:defRPr>
      </a:lvl8pPr>
      <a:lvl9pPr marL="3886200" indent="-228600"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5.png"/><Relationship Id="rId1" Type="http://schemas.openxmlformats.org/officeDocument/2006/relationships/image" Target="../media/image4.jpe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wmf"/></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w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0.GIF"/></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0.GIF"/></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8.wmf"/></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1.wmf"/></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4.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0.GI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jpe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jpe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jpe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jpe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jpe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wm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jpe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wmf"/></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0.wmf"/><Relationship Id="rId1" Type="http://schemas.openxmlformats.org/officeDocument/2006/relationships/image" Target="../media/image19.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1.jpe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2.emf"/></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GIF"/></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wmf"/></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1.jpe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3.png"/></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4.png"/></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6.png"/><Relationship Id="rId1" Type="http://schemas.openxmlformats.org/officeDocument/2006/relationships/image" Target="../media/image25.jpeg"/></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8.png"/><Relationship Id="rId1" Type="http://schemas.openxmlformats.org/officeDocument/2006/relationships/image" Target="../media/image27.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9.png"/></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0.png"/></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1.png"/></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wmf"/></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wmf"/></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wmf"/></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32.wmf"/></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4.jpeg"/><Relationship Id="rId1" Type="http://schemas.openxmlformats.org/officeDocument/2006/relationships/image" Target="../media/image33.jpeg"/></Relationships>
</file>

<file path=ppt/slides/_rels/slide9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6.png"/><Relationship Id="rId1" Type="http://schemas.openxmlformats.org/officeDocument/2006/relationships/image" Target="../media/image35.png"/></Relationships>
</file>

<file path=ppt/slides/_rels/slide9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8.png"/><Relationship Id="rId1" Type="http://schemas.openxmlformats.org/officeDocument/2006/relationships/image" Target="../media/image37.png"/></Relationships>
</file>

<file path=ppt/slides/_rels/slide9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0.png"/><Relationship Id="rId1" Type="http://schemas.openxmlformats.org/officeDocument/2006/relationships/image" Target="../media/image39.png"/></Relationships>
</file>

<file path=ppt/slides/_rels/slide9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1.png"/><Relationship Id="rId1" Type="http://schemas.openxmlformats.org/officeDocument/2006/relationships/image" Target="../media/image11.wmf"/></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wmf"/></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2.png"/></Relationships>
</file>

<file path=ppt/slides/_rels/slide9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3.png"/></Relationships>
</file>

<file path=ppt/slides/_rels/slide10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4.png"/><Relationship Id="rId1" Type="http://schemas.openxmlformats.org/officeDocument/2006/relationships/image" Target="../media/image11.wmf"/></Relationships>
</file>

<file path=ppt/slides/_rels/slide10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6.png"/><Relationship Id="rId1" Type="http://schemas.openxmlformats.org/officeDocument/2006/relationships/image" Target="../media/image45.png"/></Relationships>
</file>

<file path=ppt/slides/_rels/slide10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8.png"/><Relationship Id="rId1" Type="http://schemas.openxmlformats.org/officeDocument/2006/relationships/image" Target="../media/image47.png"/></Relationships>
</file>

<file path=ppt/slides/_rels/slide10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9.png"/></Relationships>
</file>

<file path=ppt/slides/_rels/slide10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wmf"/></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1.png"/><Relationship Id="rId1" Type="http://schemas.openxmlformats.org/officeDocument/2006/relationships/image" Target="../media/image50.emf"/></Relationships>
</file>

<file path=ppt/slides/_rels/slide10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3.png"/><Relationship Id="rId1" Type="http://schemas.openxmlformats.org/officeDocument/2006/relationships/image" Target="../media/image52.png"/></Relationships>
</file>

<file path=ppt/slides/_rels/slide10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5.png"/><Relationship Id="rId1" Type="http://schemas.openxmlformats.org/officeDocument/2006/relationships/image" Target="../media/image54.png"/></Relationships>
</file>

<file path=ppt/slides/_rels/slide10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7.png"/><Relationship Id="rId1" Type="http://schemas.openxmlformats.org/officeDocument/2006/relationships/image" Target="../media/image5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3" name="WordArt 15"/>
          <p:cNvSpPr>
            <a:spLocks noChangeArrowheads="1" noChangeShapeType="1" noTextEdit="1"/>
          </p:cNvSpPr>
          <p:nvPr/>
        </p:nvSpPr>
        <p:spPr bwMode="auto">
          <a:xfrm>
            <a:off x="3235643" y="2296160"/>
            <a:ext cx="5649912" cy="1066800"/>
          </a:xfrm>
          <a:prstGeom prst="rect">
            <a:avLst/>
          </a:prstGeom>
        </p:spPr>
        <p:txBody>
          <a:bodyPr wrap="none" fromWordArt="1">
            <a:prstTxWarp prst="textPlain">
              <a:avLst>
                <a:gd name="adj" fmla="val 50000"/>
              </a:avLst>
            </a:prstTxWarp>
          </a:bodyPr>
          <a:lstStyle/>
          <a:p>
            <a:pPr algn="ctr"/>
            <a:r>
              <a:rPr lang="zh-CN" altLang="en-US" sz="3600" b="1" kern="10">
                <a:ln w="19050">
                  <a:solidFill>
                    <a:srgbClr val="00FFFF"/>
                  </a:solidFill>
                  <a:round/>
                </a:ln>
                <a:solidFill>
                  <a:srgbClr val="00FFFF"/>
                </a:solidFill>
                <a:effectLst>
                  <a:outerShdw dist="107763" dir="2700000" algn="ctr" rotWithShape="0">
                    <a:srgbClr val="990000">
                      <a:alpha val="50000"/>
                    </a:srgbClr>
                  </a:outerShdw>
                </a:effectLst>
                <a:latin typeface="微软雅黑" panose="020B0503020204020204" charset="-122"/>
                <a:ea typeface="微软雅黑" panose="020B0503020204020204" charset="-122"/>
              </a:rPr>
              <a:t>计算机网络安全</a:t>
            </a:r>
            <a:endParaRPr lang="zh-CN" altLang="en-US" sz="3600" b="1" kern="10">
              <a:ln w="19050">
                <a:solidFill>
                  <a:srgbClr val="00FFFF"/>
                </a:solidFill>
                <a:round/>
              </a:ln>
              <a:solidFill>
                <a:srgbClr val="00FFFF"/>
              </a:solidFill>
              <a:effectLst>
                <a:outerShdw dist="107763" dir="2700000" algn="ctr" rotWithShape="0">
                  <a:srgbClr val="990000">
                    <a:alpha val="50000"/>
                  </a:srgbClr>
                </a:outerShdw>
              </a:effectLst>
              <a:latin typeface="微软雅黑" panose="020B0503020204020204" charset="-122"/>
              <a:ea typeface="微软雅黑" panose="020B0503020204020204" charset="-122"/>
            </a:endParaRPr>
          </a:p>
        </p:txBody>
      </p:sp>
      <p:sp>
        <p:nvSpPr>
          <p:cNvPr id="7176" name="流程图: 过程 9"/>
          <p:cNvSpPr>
            <a:spLocks noChangeArrowheads="1"/>
          </p:cNvSpPr>
          <p:nvPr/>
        </p:nvSpPr>
        <p:spPr bwMode="auto">
          <a:xfrm>
            <a:off x="152400" y="1905000"/>
            <a:ext cx="2514600" cy="990600"/>
          </a:xfrm>
          <a:prstGeom prst="flowChartProcess">
            <a:avLst/>
          </a:prstGeom>
          <a:noFill/>
          <a:ln w="9525">
            <a:noFill/>
            <a:miter lim="800000"/>
          </a:ln>
        </p:spPr>
        <p:txBody>
          <a:bodyPr/>
          <a:lstStyle/>
          <a:p>
            <a:pPr algn="dist">
              <a:spcBef>
                <a:spcPct val="20000"/>
              </a:spcBef>
              <a:buFont typeface="Wingdings" panose="05000000000000000000" pitchFamily="2" charset="2"/>
              <a:buNone/>
            </a:pPr>
            <a:endParaRPr lang="zh-CN" altLang="en-US"/>
          </a:p>
        </p:txBody>
      </p:sp>
      <p:sp>
        <p:nvSpPr>
          <p:cNvPr id="5" name="文本框 4"/>
          <p:cNvSpPr txBox="1"/>
          <p:nvPr/>
        </p:nvSpPr>
        <p:spPr>
          <a:xfrm>
            <a:off x="1838325" y="5942330"/>
            <a:ext cx="5466715" cy="398780"/>
          </a:xfrm>
          <a:prstGeom prst="rect">
            <a:avLst/>
          </a:prstGeom>
          <a:noFill/>
        </p:spPr>
        <p:txBody>
          <a:bodyPr wrap="square" rtlCol="0">
            <a:spAutoFit/>
          </a:bodyPr>
          <a:p>
            <a:pPr algn="ctr"/>
            <a:r>
              <a:rPr lang="zh-CN" altLang="en-US" sz="2000" b="1">
                <a:solidFill>
                  <a:schemeClr val="tx2"/>
                </a:solidFill>
              </a:rPr>
              <a:t>郑州大学网络空间安全学院</a:t>
            </a:r>
            <a:endParaRPr lang="zh-CN" altLang="en-US" sz="2000" b="1">
              <a:solidFill>
                <a:schemeClr val="tx2"/>
              </a:solidFill>
            </a:endParaRP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内容占位符 13"/>
          <p:cNvSpPr>
            <a:spLocks noGrp="1" noChangeArrowheads="1"/>
          </p:cNvSpPr>
          <p:nvPr>
            <p:ph idx="4294967295"/>
          </p:nvPr>
        </p:nvSpPr>
        <p:spPr>
          <a:xfrm>
            <a:off x="431800" y="1196975"/>
            <a:ext cx="8040688" cy="947738"/>
          </a:xfrm>
        </p:spPr>
        <p:txBody>
          <a:bodyPr/>
          <a:lstStyle/>
          <a:p>
            <a:pPr algn="r" eaLnBrk="1" hangingPunct="1">
              <a:spcAft>
                <a:spcPts val="600"/>
              </a:spcAft>
              <a:buFont typeface="Wingdings" panose="05000000000000000000" pitchFamily="2" charset="2"/>
              <a:buNone/>
            </a:pPr>
            <a:endParaRPr lang="en-US" altLang="zh-CN" sz="2400" b="0" smtClean="0">
              <a:solidFill>
                <a:srgbClr val="FF0000"/>
              </a:solidFill>
              <a:latin typeface="Calibri" panose="020F0502020204030204" pitchFamily="34" charset="0"/>
              <a:ea typeface="黑体" panose="02010609060101010101" pitchFamily="49" charset="-122"/>
            </a:endParaRPr>
          </a:p>
          <a:p>
            <a:pPr algn="r" eaLnBrk="1" hangingPunct="1">
              <a:buFont typeface="Wingdings" panose="05000000000000000000" pitchFamily="2" charset="2"/>
              <a:buNone/>
            </a:pPr>
            <a:r>
              <a:rPr lang="zh-CN" altLang="en-US" sz="1800" smtClean="0">
                <a:solidFill>
                  <a:srgbClr val="FF0000"/>
                </a:solidFill>
                <a:ea typeface="黑体" panose="02010609060101010101" pitchFamily="49" charset="-122"/>
              </a:rPr>
              <a:t> </a:t>
            </a:r>
            <a:endParaRPr lang="en-US" altLang="zh-CN" sz="1800" smtClean="0">
              <a:ea typeface="黑体" panose="02010609060101010101" pitchFamily="49" charset="-122"/>
            </a:endParaRPr>
          </a:p>
          <a:p>
            <a:pPr algn="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a typeface="黑体" panose="02010609060101010101" pitchFamily="49" charset="-122"/>
            </a:endParaRPr>
          </a:p>
          <a:p>
            <a:pPr algn="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a typeface="黑体" panose="02010609060101010101" pitchFamily="49" charset="-122"/>
            </a:endParaRPr>
          </a:p>
          <a:p>
            <a:pPr algn="r" eaLnBrk="1" hangingPunct="1">
              <a:buFont typeface="Wingdings" panose="05000000000000000000" pitchFamily="2" charset="2"/>
              <a:buNone/>
            </a:pPr>
            <a:r>
              <a:rPr lang="zh-CN" altLang="en-US" sz="1800" smtClean="0">
                <a:solidFill>
                  <a:srgbClr val="0000CC"/>
                </a:solidFill>
                <a:latin typeface="Times New Roman" panose="02020603050405020304" pitchFamily="18" charset="0"/>
                <a:ea typeface="黑体" panose="02010609060101010101" pitchFamily="49" charset="-122"/>
              </a:rPr>
              <a:t>  </a:t>
            </a:r>
            <a:endParaRPr lang="en-US" altLang="zh-CN" sz="1800" b="0" smtClean="0">
              <a:solidFill>
                <a:schemeClr val="tx1"/>
              </a:solidFill>
              <a:latin typeface="Times New Roman" panose="02020603050405020304" pitchFamily="18" charset="0"/>
              <a:ea typeface="黑体" panose="02010609060101010101" pitchFamily="49" charset="-122"/>
            </a:endParaRPr>
          </a:p>
          <a:p>
            <a:pPr algn="r" eaLnBrk="1" hangingPunct="1">
              <a:buFont typeface="Wingdings" panose="05000000000000000000" pitchFamily="2" charset="2"/>
              <a:buNone/>
            </a:pPr>
            <a:endParaRPr lang="en-US" altLang="zh-CN" sz="1800" smtClean="0">
              <a:ea typeface="黑体" panose="02010609060101010101" pitchFamily="49" charset="-122"/>
            </a:endParaRPr>
          </a:p>
        </p:txBody>
      </p:sp>
      <p:sp>
        <p:nvSpPr>
          <p:cNvPr id="15362" name="副标题 2"/>
          <p:cNvSpPr txBox="1">
            <a:spLocks noChangeArrowheads="1"/>
          </p:cNvSpPr>
          <p:nvPr/>
        </p:nvSpPr>
        <p:spPr bwMode="auto">
          <a:xfrm>
            <a:off x="304800" y="1066800"/>
            <a:ext cx="6400800" cy="528638"/>
          </a:xfrm>
          <a:prstGeom prst="rect">
            <a:avLst/>
          </a:prstGeom>
          <a:noFill/>
          <a:ln w="9525">
            <a:noFill/>
            <a:miter lim="800000"/>
          </a:ln>
        </p:spPr>
        <p:txBody>
          <a:bodyPr/>
          <a:lstStyle/>
          <a:p>
            <a:pPr marL="342900" indent="-342900" eaLnBrk="0" hangingPunct="0">
              <a:spcBef>
                <a:spcPct val="20000"/>
              </a:spcBef>
              <a:buClr>
                <a:schemeClr val="hlink"/>
              </a:buClr>
              <a:buFont typeface="Wingdings" panose="05000000000000000000" pitchFamily="2" charset="2"/>
              <a:buChar char="n"/>
            </a:pPr>
            <a:endParaRPr lang="zh-CN" altLang="en-US" sz="2200" b="1">
              <a:solidFill>
                <a:schemeClr val="tx2"/>
              </a:solidFill>
              <a:latin typeface="宋体" panose="02010600030101010101" pitchFamily="2" charset="-122"/>
            </a:endParaRPr>
          </a:p>
        </p:txBody>
      </p:sp>
      <p:sp>
        <p:nvSpPr>
          <p:cNvPr id="9" name=" 167"/>
          <p:cNvSpPr/>
          <p:nvPr/>
        </p:nvSpPr>
        <p:spPr>
          <a:xfrm>
            <a:off x="524510" y="1148080"/>
            <a:ext cx="8230870" cy="5388610"/>
          </a:xfrm>
          <a:prstGeom prst="roundRect">
            <a:avLst>
              <a:gd name="adj" fmla="val 22731"/>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342900" indent="-342900" eaLnBrk="1" hangingPunct="1">
              <a:buFont typeface="Wingdings" panose="05000000000000000000" charset="0"/>
              <a:buChar char="n"/>
            </a:pPr>
            <a:r>
              <a:rPr kumimoji="1" lang="en-US" altLang="zh-CN" sz="2800"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Teacher: </a:t>
            </a:r>
            <a:r>
              <a:rPr kumimoji="1" lang="zh-CN" altLang="en-US" sz="2800"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任两品</a:t>
            </a:r>
            <a:endParaRPr kumimoji="1" lang="zh-CN" altLang="en-US" sz="2800"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endParaRPr>
          </a:p>
          <a:p>
            <a:pPr marL="800100" lvl="1" indent="-342900" eaLnBrk="1" hangingPunct="1">
              <a:buFont typeface="Wingdings" panose="05000000000000000000" charset="0"/>
              <a:buChar char="n"/>
            </a:pPr>
            <a:r>
              <a:rPr kumimoji="1" lang="en-US" altLang="zh-CN"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Email:rlp820806@163.com</a:t>
            </a:r>
            <a:endParaRPr kumimoji="1" lang="en-US" altLang="zh-CN"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endParaRPr>
          </a:p>
          <a:p>
            <a:pPr marL="800100" lvl="1" indent="-342900" eaLnBrk="1" hangingPunct="1">
              <a:buFont typeface="Wingdings" panose="05000000000000000000" charset="0"/>
              <a:buChar char="n"/>
            </a:pPr>
            <a:r>
              <a:rPr kumimoji="1" lang="zh-CN" altLang="en-US"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办公室：行政楼</a:t>
            </a:r>
            <a:r>
              <a:rPr kumimoji="1" lang="en-US" altLang="zh-CN"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325</a:t>
            </a:r>
            <a:endParaRPr kumimoji="1" lang="zh-CN" altLang="en-US" dirty="0" smtClean="0">
              <a:solidFill>
                <a:schemeClr val="tx1"/>
              </a:solidFill>
              <a:latin typeface="宋体" panose="02010600030101010101" pitchFamily="2" charset="-122"/>
              <a:ea typeface="宋体" panose="02010600030101010101" pitchFamily="2" charset="-122"/>
              <a:cs typeface="宋体" panose="02010600030101010101" pitchFamily="2" charset="-122"/>
            </a:endParaRPr>
          </a:p>
          <a:p>
            <a:pPr eaLnBrk="1" hangingPunct="1">
              <a:defRPr/>
            </a:pPr>
            <a:endParaRPr lang="zh-CN" altLang="en-US" b="1" noProof="1">
              <a:solidFill>
                <a:schemeClr val="tx1"/>
              </a:solidFill>
              <a:latin typeface="宋体" panose="02010600030101010101" pitchFamily="2" charset="-122"/>
              <a:ea typeface="宋体" panose="02010600030101010101" pitchFamily="2" charset="-122"/>
              <a:cs typeface="宋体" panose="02010600030101010101" pitchFamily="2" charset="-122"/>
            </a:endParaRPr>
          </a:p>
          <a:p>
            <a:pPr eaLnBrk="1" hangingPunct="1">
              <a:defRPr/>
            </a:pPr>
            <a:endParaRPr lang="en-US" altLang="zh-CN" dirty="0" smtClean="0">
              <a:solidFill>
                <a:schemeClr val="tx1"/>
              </a:solidFill>
            </a:endParaRPr>
          </a:p>
          <a:p>
            <a:pPr eaLnBrk="1" hangingPunct="1">
              <a:defRPr/>
            </a:pPr>
            <a:r>
              <a:rPr lang="zh-CN" altLang="en-US" b="1" dirty="0" smtClean="0">
                <a:solidFill>
                  <a:schemeClr val="tx1"/>
                </a:solidFill>
                <a:latin typeface="Arial" panose="020B0604020202020204" pitchFamily="34" charset="0"/>
                <a:sym typeface="+mn-ea"/>
              </a:rPr>
              <a:t> </a:t>
            </a:r>
            <a:endParaRPr lang="zh-CN" altLang="en-US" b="1" dirty="0" smtClean="0">
              <a:solidFill>
                <a:schemeClr val="tx1"/>
              </a:solidFill>
              <a:latin typeface="Arial" panose="020B0604020202020204" pitchFamily="34" charset="0"/>
              <a:sym typeface="+mn-ea"/>
            </a:endParaRPr>
          </a:p>
        </p:txBody>
      </p:sp>
      <p:sp>
        <p:nvSpPr>
          <p:cNvPr id="7" name="Rectangle 2"/>
          <p:cNvSpPr txBox="1">
            <a:spLocks noChangeArrowheads="1"/>
          </p:cNvSpPr>
          <p:nvPr/>
        </p:nvSpPr>
        <p:spPr bwMode="white">
          <a:xfrm>
            <a:off x="838200" y="152400"/>
            <a:ext cx="7327900" cy="563563"/>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zh-CN" sz="3200" dirty="0" smtClean="0">
                <a:solidFill>
                  <a:schemeClr val="bg1"/>
                </a:solidFill>
                <a:latin typeface="Verdana" panose="020B0604030504040204" pitchFamily="34" charset="0"/>
              </a:rPr>
              <a:t>认课老师</a:t>
            </a:r>
            <a:endParaRPr lang="zh-CN" sz="3200" dirty="0" smtClean="0">
              <a:solidFill>
                <a:schemeClr val="bg1"/>
              </a:solidFill>
              <a:effectLst>
                <a:outerShdw blurRad="38100" dist="38100" dir="2700000" algn="tl">
                  <a:srgbClr val="C0C0C0"/>
                </a:outerShdw>
              </a:effectLst>
            </a:endParaRPr>
          </a:p>
        </p:txBody>
      </p:sp>
      <p:pic>
        <p:nvPicPr>
          <p:cNvPr id="2" name="图片 1" descr="微信图片_20201021174551"/>
          <p:cNvPicPr>
            <a:picLocks noChangeAspect="1"/>
          </p:cNvPicPr>
          <p:nvPr/>
        </p:nvPicPr>
        <p:blipFill>
          <a:blip r:embed="rId1"/>
          <a:stretch>
            <a:fillRect/>
          </a:stretch>
        </p:blipFill>
        <p:spPr>
          <a:xfrm>
            <a:off x="5875020" y="1690370"/>
            <a:ext cx="1766570" cy="247713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内容占位符 13"/>
          <p:cNvSpPr>
            <a:spLocks noGrp="1" noChangeArrowheads="1"/>
          </p:cNvSpPr>
          <p:nvPr>
            <p:ph idx="4294967295"/>
          </p:nvPr>
        </p:nvSpPr>
        <p:spPr>
          <a:xfrm>
            <a:off x="431800" y="1196975"/>
            <a:ext cx="8040688" cy="947738"/>
          </a:xfrm>
        </p:spPr>
        <p:txBody>
          <a:bodyPr/>
          <a:lstStyle/>
          <a:p>
            <a:pPr algn="r" eaLnBrk="1" hangingPunct="1">
              <a:spcAft>
                <a:spcPts val="600"/>
              </a:spcAft>
              <a:buFont typeface="Wingdings" panose="05000000000000000000" pitchFamily="2" charset="2"/>
              <a:buNone/>
            </a:pPr>
            <a:endParaRPr lang="en-US" altLang="zh-CN" sz="2400" b="0" smtClean="0">
              <a:solidFill>
                <a:srgbClr val="FF0000"/>
              </a:solidFill>
              <a:latin typeface="Calibri" panose="020F0502020204030204" pitchFamily="34" charset="0"/>
              <a:ea typeface="黑体" panose="02010609060101010101" pitchFamily="49" charset="-122"/>
            </a:endParaRPr>
          </a:p>
          <a:p>
            <a:pPr algn="r" eaLnBrk="1" hangingPunct="1">
              <a:buFont typeface="Wingdings" panose="05000000000000000000" pitchFamily="2" charset="2"/>
              <a:buNone/>
            </a:pPr>
            <a:r>
              <a:rPr lang="zh-CN" altLang="en-US" sz="1800" smtClean="0">
                <a:solidFill>
                  <a:srgbClr val="FF0000"/>
                </a:solidFill>
                <a:ea typeface="黑体" panose="02010609060101010101" pitchFamily="49" charset="-122"/>
              </a:rPr>
              <a:t> </a:t>
            </a:r>
            <a:endParaRPr lang="en-US" altLang="zh-CN" sz="1800" smtClean="0">
              <a:ea typeface="黑体" panose="02010609060101010101" pitchFamily="49" charset="-122"/>
            </a:endParaRPr>
          </a:p>
          <a:p>
            <a:pPr algn="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a typeface="黑体" panose="02010609060101010101" pitchFamily="49" charset="-122"/>
            </a:endParaRPr>
          </a:p>
          <a:p>
            <a:pPr algn="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a typeface="黑体" panose="02010609060101010101" pitchFamily="49" charset="-122"/>
            </a:endParaRPr>
          </a:p>
          <a:p>
            <a:pPr algn="r" eaLnBrk="1" hangingPunct="1">
              <a:buFont typeface="Wingdings" panose="05000000000000000000" pitchFamily="2" charset="2"/>
              <a:buNone/>
            </a:pPr>
            <a:r>
              <a:rPr lang="zh-CN" altLang="en-US" sz="1800" smtClean="0">
                <a:solidFill>
                  <a:srgbClr val="0000CC"/>
                </a:solidFill>
                <a:latin typeface="Times New Roman" panose="02020603050405020304" pitchFamily="18" charset="0"/>
                <a:ea typeface="黑体" panose="02010609060101010101" pitchFamily="49" charset="-122"/>
              </a:rPr>
              <a:t>  </a:t>
            </a:r>
            <a:endParaRPr lang="en-US" altLang="zh-CN" sz="1800" b="0" smtClean="0">
              <a:solidFill>
                <a:schemeClr val="tx1"/>
              </a:solidFill>
              <a:latin typeface="Times New Roman" panose="02020603050405020304" pitchFamily="18" charset="0"/>
              <a:ea typeface="黑体" panose="02010609060101010101" pitchFamily="49" charset="-122"/>
            </a:endParaRPr>
          </a:p>
          <a:p>
            <a:pPr algn="r" eaLnBrk="1" hangingPunct="1">
              <a:buFont typeface="Wingdings" panose="05000000000000000000" pitchFamily="2" charset="2"/>
              <a:buNone/>
            </a:pPr>
            <a:endParaRPr lang="en-US" altLang="zh-CN" sz="1800" smtClean="0">
              <a:ea typeface="黑体" panose="02010609060101010101" pitchFamily="49" charset="-122"/>
            </a:endParaRPr>
          </a:p>
        </p:txBody>
      </p:sp>
      <p:sp>
        <p:nvSpPr>
          <p:cNvPr id="15362" name="副标题 2"/>
          <p:cNvSpPr txBox="1">
            <a:spLocks noChangeArrowheads="1"/>
          </p:cNvSpPr>
          <p:nvPr/>
        </p:nvSpPr>
        <p:spPr bwMode="auto">
          <a:xfrm>
            <a:off x="304800" y="1066800"/>
            <a:ext cx="6400800" cy="528638"/>
          </a:xfrm>
          <a:prstGeom prst="rect">
            <a:avLst/>
          </a:prstGeom>
          <a:noFill/>
          <a:ln w="9525">
            <a:noFill/>
            <a:miter lim="800000"/>
          </a:ln>
        </p:spPr>
        <p:txBody>
          <a:bodyPr/>
          <a:lstStyle/>
          <a:p>
            <a:pPr marL="342900" indent="-342900" eaLnBrk="0" hangingPunct="0">
              <a:spcBef>
                <a:spcPct val="20000"/>
              </a:spcBef>
              <a:buClr>
                <a:schemeClr val="hlink"/>
              </a:buClr>
              <a:buFont typeface="Wingdings" panose="05000000000000000000" pitchFamily="2" charset="2"/>
              <a:buChar char="n"/>
            </a:pPr>
            <a:endParaRPr lang="zh-CN" altLang="en-US" sz="2200" b="1">
              <a:solidFill>
                <a:schemeClr val="tx2"/>
              </a:solidFill>
              <a:latin typeface="宋体" panose="02010600030101010101" pitchFamily="2" charset="-122"/>
            </a:endParaRPr>
          </a:p>
        </p:txBody>
      </p:sp>
      <p:sp>
        <p:nvSpPr>
          <p:cNvPr id="9" name=" 167"/>
          <p:cNvSpPr/>
          <p:nvPr/>
        </p:nvSpPr>
        <p:spPr>
          <a:xfrm>
            <a:off x="524510" y="1148080"/>
            <a:ext cx="8230870" cy="5388610"/>
          </a:xfrm>
          <a:prstGeom prst="roundRect">
            <a:avLst>
              <a:gd name="adj" fmla="val 22731"/>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eaLnBrk="1" hangingPunct="1">
              <a:defRPr/>
            </a:pPr>
            <a:r>
              <a:rPr lang="en-US" altLang="zh-CN" b="1" dirty="0" smtClean="0">
                <a:solidFill>
                  <a:schemeClr val="tx1"/>
                </a:solidFill>
                <a:sym typeface="+mn-ea"/>
              </a:rPr>
              <a:t>	</a:t>
            </a:r>
            <a:r>
              <a:rPr lang="zh-CN" altLang="zh-CN" b="1" dirty="0" smtClean="0">
                <a:solidFill>
                  <a:srgbClr val="FF0000"/>
                </a:solidFill>
                <a:sym typeface="+mn-ea"/>
              </a:rPr>
              <a:t>信息化</a:t>
            </a:r>
            <a:r>
              <a:rPr lang="zh-CN" altLang="en-US" b="1" dirty="0" smtClean="0">
                <a:solidFill>
                  <a:schemeClr val="tx1"/>
                </a:solidFill>
                <a:sym typeface="+mn-ea"/>
              </a:rPr>
              <a:t>（数字化、网络化、智能化）</a:t>
            </a:r>
            <a:r>
              <a:rPr lang="zh-CN" altLang="zh-CN" b="1" dirty="0" smtClean="0">
                <a:solidFill>
                  <a:schemeClr val="tx1"/>
                </a:solidFill>
                <a:sym typeface="+mn-ea"/>
              </a:rPr>
              <a:t>已</a:t>
            </a:r>
            <a:r>
              <a:rPr lang="zh-CN" altLang="zh-CN" b="1" dirty="0">
                <a:solidFill>
                  <a:schemeClr val="tx1"/>
                </a:solidFill>
                <a:sym typeface="+mn-ea"/>
              </a:rPr>
              <a:t>成为这个时代最重要的特征。一切人类活动，无论个人生活、企业生产还是国家管理，不仅在传统的陆、海、空等有形空间进行，也</a:t>
            </a:r>
            <a:r>
              <a:rPr lang="zh-CN" altLang="zh-CN" b="1" dirty="0" smtClean="0">
                <a:solidFill>
                  <a:schemeClr val="tx1"/>
                </a:solidFill>
                <a:sym typeface="+mn-ea"/>
              </a:rPr>
              <a:t>在</a:t>
            </a:r>
            <a:r>
              <a:rPr lang="zh-CN" altLang="en-US" b="1" dirty="0" smtClean="0">
                <a:solidFill>
                  <a:schemeClr val="tx1"/>
                </a:solidFill>
                <a:sym typeface="+mn-ea"/>
              </a:rPr>
              <a:t>“</a:t>
            </a:r>
            <a:r>
              <a:rPr lang="zh-CN" altLang="zh-CN" b="1" dirty="0" smtClean="0">
                <a:solidFill>
                  <a:schemeClr val="tx1"/>
                </a:solidFill>
                <a:sym typeface="+mn-ea"/>
              </a:rPr>
              <a:t>无影无形</a:t>
            </a:r>
            <a:r>
              <a:rPr lang="zh-CN" altLang="en-US" b="1" dirty="0" smtClean="0">
                <a:solidFill>
                  <a:schemeClr val="tx1"/>
                </a:solidFill>
                <a:sym typeface="+mn-ea"/>
              </a:rPr>
              <a:t>”</a:t>
            </a:r>
            <a:r>
              <a:rPr lang="zh-CN" altLang="zh-CN" b="1" dirty="0" smtClean="0">
                <a:solidFill>
                  <a:schemeClr val="tx1"/>
                </a:solidFill>
                <a:sym typeface="+mn-ea"/>
              </a:rPr>
              <a:t>的</a:t>
            </a:r>
            <a:r>
              <a:rPr lang="zh-CN" altLang="zh-CN" b="1" dirty="0">
                <a:solidFill>
                  <a:schemeClr val="tx1"/>
                </a:solidFill>
                <a:sym typeface="+mn-ea"/>
              </a:rPr>
              <a:t>网络空间进行</a:t>
            </a:r>
            <a:r>
              <a:rPr lang="zh-CN" altLang="zh-CN" b="1" dirty="0" smtClean="0">
                <a:solidFill>
                  <a:schemeClr val="tx1"/>
                </a:solidFill>
                <a:sym typeface="+mn-ea"/>
              </a:rPr>
              <a:t>。</a:t>
            </a:r>
            <a:r>
              <a:rPr lang="zh-CN" altLang="zh-CN" b="1" dirty="0">
                <a:solidFill>
                  <a:schemeClr val="tx1"/>
                </a:solidFill>
                <a:sym typeface="+mn-ea"/>
              </a:rPr>
              <a:t>网络空间迅速发展，已经成为与陆、海、空、太空并列的</a:t>
            </a:r>
            <a:r>
              <a:rPr lang="zh-CN" altLang="zh-CN" b="1" dirty="0">
                <a:solidFill>
                  <a:srgbClr val="FF0000"/>
                </a:solidFill>
                <a:sym typeface="+mn-ea"/>
              </a:rPr>
              <a:t>第五维空间</a:t>
            </a:r>
            <a:r>
              <a:rPr lang="zh-CN" altLang="zh-CN" b="1" dirty="0">
                <a:solidFill>
                  <a:schemeClr val="tx1"/>
                </a:solidFill>
                <a:sym typeface="+mn-ea"/>
              </a:rPr>
              <a:t>。</a:t>
            </a:r>
            <a:endParaRPr lang="zh-CN" altLang="zh-CN" b="1" dirty="0">
              <a:solidFill>
                <a:schemeClr val="tx1"/>
              </a:solidFill>
              <a:sym typeface="+mn-ea"/>
            </a:endParaRPr>
          </a:p>
          <a:p>
            <a:pPr eaLnBrk="1" hangingPunct="1">
              <a:defRPr/>
            </a:pPr>
            <a:r>
              <a:rPr lang="en-US" altLang="zh-CN" b="1" dirty="0">
                <a:solidFill>
                  <a:schemeClr val="tx1"/>
                </a:solidFill>
                <a:sym typeface="+mn-ea"/>
              </a:rPr>
              <a:t>	</a:t>
            </a:r>
            <a:r>
              <a:rPr lang="zh-CN" altLang="zh-CN" b="1" dirty="0">
                <a:solidFill>
                  <a:schemeClr val="tx1"/>
                </a:solidFill>
                <a:sym typeface="+mn-ea"/>
              </a:rPr>
              <a:t>网络就像空气和水一样，成为人们生活中不可或缺的环境基础。网络空间与陆、海、空、太空等并非处于物理空间上的并列位置，而是与传统空间</a:t>
            </a:r>
            <a:r>
              <a:rPr lang="zh-CN" altLang="zh-CN" b="1" dirty="0">
                <a:solidFill>
                  <a:srgbClr val="FF0000"/>
                </a:solidFill>
                <a:sym typeface="+mn-ea"/>
              </a:rPr>
              <a:t>渗透融合</a:t>
            </a:r>
            <a:r>
              <a:rPr lang="zh-CN" altLang="zh-CN" b="1" dirty="0">
                <a:solidFill>
                  <a:schemeClr val="tx1"/>
                </a:solidFill>
                <a:sym typeface="+mn-ea"/>
              </a:rPr>
              <a:t>，且对实体世界的控制能力越来越强。</a:t>
            </a:r>
            <a:endParaRPr lang="zh-CN" altLang="en-US" b="1" noProof="1">
              <a:solidFill>
                <a:schemeClr val="tx1"/>
              </a:solidFill>
            </a:endParaRPr>
          </a:p>
          <a:p>
            <a:pPr eaLnBrk="1" hangingPunct="1">
              <a:defRPr/>
            </a:pPr>
            <a:endParaRPr lang="en-US" altLang="zh-CN" dirty="0" smtClean="0">
              <a:solidFill>
                <a:schemeClr val="tx1"/>
              </a:solidFill>
            </a:endParaRPr>
          </a:p>
          <a:p>
            <a:pPr eaLnBrk="1" hangingPunct="1">
              <a:defRPr/>
            </a:pPr>
            <a:r>
              <a:rPr lang="zh-CN" altLang="en-US" b="1" dirty="0" smtClean="0">
                <a:solidFill>
                  <a:schemeClr val="tx1"/>
                </a:solidFill>
                <a:latin typeface="Arial" panose="020B0604020202020204" pitchFamily="34" charset="0"/>
                <a:sym typeface="+mn-ea"/>
              </a:rPr>
              <a:t> </a:t>
            </a:r>
            <a:endParaRPr lang="zh-CN" altLang="en-US" b="1" dirty="0" smtClean="0">
              <a:solidFill>
                <a:schemeClr val="tx1"/>
              </a:solidFill>
              <a:latin typeface="Arial" panose="020B0604020202020204" pitchFamily="34" charset="0"/>
              <a:sym typeface="+mn-ea"/>
            </a:endParaRPr>
          </a:p>
        </p:txBody>
      </p:sp>
      <p:sp>
        <p:nvSpPr>
          <p:cNvPr id="7" name="Rectangle 2"/>
          <p:cNvSpPr txBox="1">
            <a:spLocks noChangeArrowheads="1"/>
          </p:cNvSpPr>
          <p:nvPr/>
        </p:nvSpPr>
        <p:spPr bwMode="white">
          <a:xfrm>
            <a:off x="838200" y="152400"/>
            <a:ext cx="7327900" cy="563563"/>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zh-CN" sz="3200" dirty="0" smtClean="0">
                <a:solidFill>
                  <a:schemeClr val="bg1"/>
                </a:solidFill>
                <a:latin typeface="Verdana" panose="020B0604030504040204" pitchFamily="34" charset="0"/>
              </a:rPr>
              <a:t>课程导学</a:t>
            </a:r>
            <a:endParaRPr lang="zh-CN" sz="3200" dirty="0" smtClean="0">
              <a:solidFill>
                <a:schemeClr val="bg1"/>
              </a:solidFill>
              <a:effectLst>
                <a:outerShdw blurRad="38100" dist="38100" dir="2700000" algn="tl">
                  <a:srgbClr val="C0C0C0"/>
                </a:outerShdw>
              </a:effectLs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内容占位符 13"/>
          <p:cNvSpPr>
            <a:spLocks noGrp="1" noChangeArrowheads="1"/>
          </p:cNvSpPr>
          <p:nvPr>
            <p:ph idx="4294967295"/>
          </p:nvPr>
        </p:nvSpPr>
        <p:spPr>
          <a:xfrm>
            <a:off x="431800" y="1196975"/>
            <a:ext cx="8040688" cy="947738"/>
          </a:xfrm>
        </p:spPr>
        <p:txBody>
          <a:bodyPr/>
          <a:lstStyle/>
          <a:p>
            <a:pPr algn="r" eaLnBrk="1" hangingPunct="1">
              <a:spcAft>
                <a:spcPts val="600"/>
              </a:spcAft>
              <a:buFont typeface="Wingdings" panose="05000000000000000000" pitchFamily="2" charset="2"/>
              <a:buNone/>
            </a:pPr>
            <a:endParaRPr lang="en-US" altLang="zh-CN" sz="2400" b="0" smtClean="0">
              <a:solidFill>
                <a:srgbClr val="FF0000"/>
              </a:solidFill>
              <a:latin typeface="Calibri" panose="020F0502020204030204" pitchFamily="34" charset="0"/>
              <a:ea typeface="黑体" panose="02010609060101010101" pitchFamily="49" charset="-122"/>
            </a:endParaRPr>
          </a:p>
          <a:p>
            <a:pPr algn="r" eaLnBrk="1" hangingPunct="1">
              <a:buFont typeface="Wingdings" panose="05000000000000000000" pitchFamily="2" charset="2"/>
              <a:buNone/>
            </a:pPr>
            <a:r>
              <a:rPr lang="zh-CN" altLang="en-US" sz="1800" smtClean="0">
                <a:solidFill>
                  <a:srgbClr val="FF0000"/>
                </a:solidFill>
                <a:ea typeface="黑体" panose="02010609060101010101" pitchFamily="49" charset="-122"/>
              </a:rPr>
              <a:t> </a:t>
            </a:r>
            <a:endParaRPr lang="en-US" altLang="zh-CN" sz="1800" smtClean="0">
              <a:ea typeface="黑体" panose="02010609060101010101" pitchFamily="49" charset="-122"/>
            </a:endParaRPr>
          </a:p>
          <a:p>
            <a:pPr algn="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a typeface="黑体" panose="02010609060101010101" pitchFamily="49" charset="-122"/>
            </a:endParaRPr>
          </a:p>
          <a:p>
            <a:pPr algn="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a typeface="黑体" panose="02010609060101010101" pitchFamily="49" charset="-122"/>
            </a:endParaRPr>
          </a:p>
          <a:p>
            <a:pPr algn="r" eaLnBrk="1" hangingPunct="1">
              <a:buFont typeface="Wingdings" panose="05000000000000000000" pitchFamily="2" charset="2"/>
              <a:buNone/>
            </a:pPr>
            <a:r>
              <a:rPr lang="zh-CN" altLang="en-US" sz="1800" smtClean="0">
                <a:solidFill>
                  <a:srgbClr val="0000CC"/>
                </a:solidFill>
                <a:latin typeface="Times New Roman" panose="02020603050405020304" pitchFamily="18" charset="0"/>
                <a:ea typeface="黑体" panose="02010609060101010101" pitchFamily="49" charset="-122"/>
              </a:rPr>
              <a:t>  </a:t>
            </a:r>
            <a:endParaRPr lang="en-US" altLang="zh-CN" sz="1800" b="0" smtClean="0">
              <a:solidFill>
                <a:schemeClr val="tx1"/>
              </a:solidFill>
              <a:latin typeface="Times New Roman" panose="02020603050405020304" pitchFamily="18" charset="0"/>
              <a:ea typeface="黑体" panose="02010609060101010101" pitchFamily="49" charset="-122"/>
            </a:endParaRPr>
          </a:p>
          <a:p>
            <a:pPr algn="r" eaLnBrk="1" hangingPunct="1">
              <a:buFont typeface="Wingdings" panose="05000000000000000000" pitchFamily="2" charset="2"/>
              <a:buNone/>
            </a:pPr>
            <a:endParaRPr lang="en-US" altLang="zh-CN" sz="1800" smtClean="0">
              <a:ea typeface="黑体" panose="02010609060101010101" pitchFamily="49" charset="-122"/>
            </a:endParaRPr>
          </a:p>
        </p:txBody>
      </p:sp>
      <p:sp>
        <p:nvSpPr>
          <p:cNvPr id="15362" name="副标题 2"/>
          <p:cNvSpPr txBox="1">
            <a:spLocks noChangeArrowheads="1"/>
          </p:cNvSpPr>
          <p:nvPr/>
        </p:nvSpPr>
        <p:spPr bwMode="auto">
          <a:xfrm>
            <a:off x="304800" y="1066800"/>
            <a:ext cx="6400800" cy="528638"/>
          </a:xfrm>
          <a:prstGeom prst="rect">
            <a:avLst/>
          </a:prstGeom>
          <a:noFill/>
          <a:ln w="9525">
            <a:noFill/>
            <a:miter lim="800000"/>
          </a:ln>
        </p:spPr>
        <p:txBody>
          <a:bodyPr/>
          <a:lstStyle/>
          <a:p>
            <a:pPr marL="342900" indent="-342900" eaLnBrk="0" hangingPunct="0">
              <a:spcBef>
                <a:spcPct val="20000"/>
              </a:spcBef>
              <a:buClr>
                <a:schemeClr val="hlink"/>
              </a:buClr>
              <a:buFont typeface="Wingdings" panose="05000000000000000000" pitchFamily="2" charset="2"/>
              <a:buChar char="n"/>
            </a:pPr>
            <a:endParaRPr lang="zh-CN" altLang="en-US" sz="2200" b="1">
              <a:solidFill>
                <a:schemeClr val="tx2"/>
              </a:solidFill>
              <a:latin typeface="宋体" panose="02010600030101010101" pitchFamily="2" charset="-122"/>
            </a:endParaRPr>
          </a:p>
        </p:txBody>
      </p:sp>
      <p:sp>
        <p:nvSpPr>
          <p:cNvPr id="9" name=" 167"/>
          <p:cNvSpPr/>
          <p:nvPr/>
        </p:nvSpPr>
        <p:spPr>
          <a:xfrm>
            <a:off x="524510" y="1148080"/>
            <a:ext cx="8230870" cy="5568315"/>
          </a:xfrm>
          <a:prstGeom prst="roundRect">
            <a:avLst>
              <a:gd name="adj" fmla="val 22731"/>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eaLnBrk="1" hangingPunct="1"/>
            <a:r>
              <a:rPr lang="en-US" altLang="zh-CN" b="1" dirty="0" smtClean="0">
                <a:solidFill>
                  <a:schemeClr val="tx1"/>
                </a:solidFill>
                <a:sym typeface="+mn-ea"/>
              </a:rPr>
              <a:t>	</a:t>
            </a:r>
            <a:r>
              <a:rPr lang="zh-CN" altLang="en-US" b="1" dirty="0" smtClean="0">
                <a:solidFill>
                  <a:schemeClr val="tx1"/>
                </a:solidFill>
                <a:ea typeface="+mn-lt"/>
                <a:cs typeface="+mn-lt"/>
                <a:sym typeface="+mn-ea"/>
              </a:rPr>
              <a:t>伴随着云计算、大数据、人工智能、区块链、</a:t>
            </a:r>
            <a:r>
              <a:rPr lang="en-US" altLang="zh-CN" b="1" dirty="0" smtClean="0">
                <a:solidFill>
                  <a:schemeClr val="tx1"/>
                </a:solidFill>
                <a:ea typeface="+mn-lt"/>
                <a:cs typeface="+mn-lt"/>
                <a:sym typeface="+mn-ea"/>
              </a:rPr>
              <a:t>5G</a:t>
            </a:r>
            <a:r>
              <a:rPr lang="zh-CN" altLang="en-US" b="1" dirty="0" smtClean="0">
                <a:solidFill>
                  <a:schemeClr val="tx1"/>
                </a:solidFill>
                <a:ea typeface="+mn-lt"/>
                <a:cs typeface="+mn-lt"/>
                <a:sym typeface="+mn-ea"/>
              </a:rPr>
              <a:t>、量子计算</a:t>
            </a:r>
            <a:r>
              <a:rPr lang="zh-CN" altLang="en-US" b="1" dirty="0" smtClean="0">
                <a:solidFill>
                  <a:schemeClr val="tx1"/>
                </a:solidFill>
                <a:ea typeface="+mn-lt"/>
                <a:cs typeface="+mn-lt"/>
                <a:sym typeface="+mn-ea"/>
              </a:rPr>
              <a:t>等新一代信息技术的发展，</a:t>
            </a:r>
            <a:r>
              <a:rPr lang="zh-CN" altLang="zh-CN" b="1" dirty="0">
                <a:solidFill>
                  <a:schemeClr val="tx1"/>
                </a:solidFill>
                <a:ea typeface="+mn-lt"/>
                <a:cs typeface="+mn-lt"/>
                <a:sym typeface="+mn-ea"/>
              </a:rPr>
              <a:t>网络</a:t>
            </a:r>
            <a:r>
              <a:rPr lang="zh-CN" altLang="zh-CN" b="1" dirty="0" smtClean="0">
                <a:solidFill>
                  <a:schemeClr val="tx1"/>
                </a:solidFill>
                <a:ea typeface="+mn-lt"/>
                <a:cs typeface="+mn-lt"/>
                <a:sym typeface="+mn-ea"/>
              </a:rPr>
              <a:t>空间</a:t>
            </a:r>
            <a:r>
              <a:rPr lang="zh-CN" altLang="en-US" b="1" dirty="0" smtClean="0">
                <a:solidFill>
                  <a:schemeClr val="tx1"/>
                </a:solidFill>
                <a:ea typeface="+mn-lt"/>
                <a:cs typeface="+mn-lt"/>
                <a:sym typeface="+mn-ea"/>
              </a:rPr>
              <a:t>必将进一步</a:t>
            </a:r>
            <a:r>
              <a:rPr lang="zh-CN" altLang="zh-CN" b="1" dirty="0" smtClean="0">
                <a:solidFill>
                  <a:schemeClr val="tx1"/>
                </a:solidFill>
                <a:ea typeface="+mn-lt"/>
                <a:cs typeface="+mn-lt"/>
                <a:sym typeface="+mn-ea"/>
              </a:rPr>
              <a:t>加速</a:t>
            </a:r>
            <a:r>
              <a:rPr lang="zh-CN" altLang="zh-CN" b="1" dirty="0">
                <a:solidFill>
                  <a:schemeClr val="tx1"/>
                </a:solidFill>
                <a:ea typeface="+mn-lt"/>
                <a:cs typeface="+mn-lt"/>
                <a:sym typeface="+mn-ea"/>
              </a:rPr>
              <a:t>升级拓展</a:t>
            </a:r>
            <a:r>
              <a:rPr lang="zh-CN" altLang="zh-CN" b="1" dirty="0" smtClean="0">
                <a:solidFill>
                  <a:schemeClr val="tx1"/>
                </a:solidFill>
                <a:ea typeface="+mn-lt"/>
                <a:cs typeface="+mn-lt"/>
                <a:sym typeface="+mn-ea"/>
              </a:rPr>
              <a:t>。</a:t>
            </a:r>
            <a:endParaRPr lang="en-US" altLang="zh-CN" b="1" dirty="0" smtClean="0">
              <a:solidFill>
                <a:schemeClr val="tx1"/>
              </a:solidFill>
              <a:ea typeface="+mn-lt"/>
              <a:cs typeface="+mn-lt"/>
            </a:endParaRPr>
          </a:p>
          <a:p>
            <a:pPr eaLnBrk="1" hangingPunct="1"/>
            <a:r>
              <a:rPr lang="en-US" altLang="zh-CN" b="1" dirty="0">
                <a:solidFill>
                  <a:schemeClr val="tx1"/>
                </a:solidFill>
                <a:ea typeface="+mn-lt"/>
                <a:cs typeface="+mn-lt"/>
                <a:sym typeface="+mn-ea"/>
              </a:rPr>
              <a:t>	</a:t>
            </a:r>
            <a:r>
              <a:rPr lang="zh-CN" altLang="zh-CN" b="1" dirty="0">
                <a:solidFill>
                  <a:schemeClr val="tx1"/>
                </a:solidFill>
                <a:ea typeface="+mn-lt"/>
                <a:cs typeface="+mn-lt"/>
                <a:sym typeface="+mn-ea"/>
              </a:rPr>
              <a:t>信息化使我们的生产、生活更加便捷高效，与此同时，却也让全人类面临前所未有的</a:t>
            </a:r>
            <a:r>
              <a:rPr lang="zh-CN" altLang="zh-CN" b="1" dirty="0">
                <a:solidFill>
                  <a:srgbClr val="FF0000"/>
                </a:solidFill>
                <a:ea typeface="+mn-lt"/>
                <a:cs typeface="+mn-lt"/>
                <a:sym typeface="+mn-ea"/>
              </a:rPr>
              <a:t>安全挑战</a:t>
            </a:r>
            <a:r>
              <a:rPr lang="zh-CN" altLang="zh-CN" b="1" dirty="0">
                <a:solidFill>
                  <a:schemeClr val="tx1"/>
                </a:solidFill>
                <a:ea typeface="+mn-lt"/>
                <a:cs typeface="+mn-lt"/>
                <a:sym typeface="+mn-ea"/>
              </a:rPr>
              <a:t>。网络空间早已变成</a:t>
            </a:r>
            <a:r>
              <a:rPr lang="en-US" altLang="zh-CN" b="1" dirty="0">
                <a:solidFill>
                  <a:schemeClr val="tx1"/>
                </a:solidFill>
                <a:ea typeface="+mn-lt"/>
                <a:cs typeface="+mn-lt"/>
                <a:sym typeface="+mn-ea"/>
              </a:rPr>
              <a:t>“</a:t>
            </a:r>
            <a:r>
              <a:rPr lang="zh-CN" altLang="zh-CN" b="1" dirty="0">
                <a:solidFill>
                  <a:schemeClr val="tx1"/>
                </a:solidFill>
                <a:ea typeface="+mn-lt"/>
                <a:cs typeface="+mn-lt"/>
                <a:sym typeface="+mn-ea"/>
              </a:rPr>
              <a:t>狼烟四起</a:t>
            </a:r>
            <a:r>
              <a:rPr lang="en-US" altLang="zh-CN" b="1" dirty="0">
                <a:solidFill>
                  <a:schemeClr val="tx1"/>
                </a:solidFill>
                <a:ea typeface="+mn-lt"/>
                <a:cs typeface="+mn-lt"/>
                <a:sym typeface="+mn-ea"/>
              </a:rPr>
              <a:t>”</a:t>
            </a:r>
            <a:r>
              <a:rPr lang="zh-CN" altLang="zh-CN" b="1" dirty="0">
                <a:solidFill>
                  <a:schemeClr val="tx1"/>
                </a:solidFill>
                <a:ea typeface="+mn-lt"/>
                <a:cs typeface="+mn-lt"/>
                <a:sym typeface="+mn-ea"/>
              </a:rPr>
              <a:t>的新战场。</a:t>
            </a:r>
            <a:endParaRPr lang="zh-CN" altLang="zh-CN" b="1" dirty="0">
              <a:solidFill>
                <a:schemeClr val="tx1"/>
              </a:solidFill>
              <a:ea typeface="+mn-lt"/>
              <a:cs typeface="+mn-lt"/>
              <a:sym typeface="+mn-ea"/>
            </a:endParaRPr>
          </a:p>
          <a:p>
            <a:pPr eaLnBrk="1" hangingPunct="1"/>
            <a:r>
              <a:rPr lang="en-US" altLang="zh-CN" b="1" noProof="1">
                <a:solidFill>
                  <a:schemeClr val="tx1"/>
                </a:solidFill>
                <a:ea typeface="+mn-lt"/>
                <a:cs typeface="+mn-lt"/>
              </a:rPr>
              <a:t>	</a:t>
            </a:r>
            <a:endParaRPr lang="zh-CN" altLang="en-US" b="1" noProof="1">
              <a:solidFill>
                <a:schemeClr val="tx1"/>
              </a:solidFill>
              <a:ea typeface="+mn-lt"/>
              <a:cs typeface="+mn-lt"/>
            </a:endParaRPr>
          </a:p>
          <a:p>
            <a:pPr eaLnBrk="1" hangingPunct="1">
              <a:defRPr/>
            </a:pPr>
            <a:endParaRPr lang="en-US" altLang="zh-CN" dirty="0" smtClean="0">
              <a:solidFill>
                <a:schemeClr val="tx1"/>
              </a:solidFill>
            </a:endParaRPr>
          </a:p>
          <a:p>
            <a:pPr eaLnBrk="1" hangingPunct="1">
              <a:defRPr/>
            </a:pPr>
            <a:r>
              <a:rPr lang="zh-CN" altLang="en-US" b="1" dirty="0" smtClean="0">
                <a:solidFill>
                  <a:schemeClr val="tx1"/>
                </a:solidFill>
                <a:latin typeface="Arial" panose="020B0604020202020204" pitchFamily="34" charset="0"/>
                <a:sym typeface="+mn-ea"/>
              </a:rPr>
              <a:t> </a:t>
            </a:r>
            <a:endParaRPr lang="zh-CN" altLang="en-US" b="1" dirty="0" smtClean="0">
              <a:solidFill>
                <a:schemeClr val="tx1"/>
              </a:solidFill>
              <a:latin typeface="Arial" panose="020B0604020202020204" pitchFamily="34" charset="0"/>
              <a:sym typeface="+mn-ea"/>
            </a:endParaRPr>
          </a:p>
        </p:txBody>
      </p:sp>
      <p:sp>
        <p:nvSpPr>
          <p:cNvPr id="7" name="Rectangle 2"/>
          <p:cNvSpPr txBox="1">
            <a:spLocks noChangeArrowheads="1"/>
          </p:cNvSpPr>
          <p:nvPr/>
        </p:nvSpPr>
        <p:spPr bwMode="white">
          <a:xfrm>
            <a:off x="838200" y="152400"/>
            <a:ext cx="7327900" cy="563563"/>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zh-CN" sz="3200" dirty="0" smtClean="0">
                <a:solidFill>
                  <a:schemeClr val="bg1"/>
                </a:solidFill>
                <a:latin typeface="Verdana" panose="020B0604030504040204" pitchFamily="34" charset="0"/>
              </a:rPr>
              <a:t>课程导学</a:t>
            </a:r>
            <a:endParaRPr lang="zh-CN" sz="3200" dirty="0" smtClean="0">
              <a:solidFill>
                <a:schemeClr val="bg1"/>
              </a:solidFill>
              <a:effectLst>
                <a:outerShdw blurRad="38100" dist="38100" dir="2700000" algn="tl">
                  <a:srgbClr val="C0C0C0"/>
                </a:outerShdw>
              </a:effectLs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内容占位符 13"/>
          <p:cNvSpPr>
            <a:spLocks noGrp="1" noChangeArrowheads="1"/>
          </p:cNvSpPr>
          <p:nvPr>
            <p:ph idx="4294967295"/>
          </p:nvPr>
        </p:nvSpPr>
        <p:spPr>
          <a:xfrm>
            <a:off x="431800" y="1196975"/>
            <a:ext cx="8040688" cy="947738"/>
          </a:xfrm>
        </p:spPr>
        <p:txBody>
          <a:bodyPr/>
          <a:lstStyle/>
          <a:p>
            <a:pPr algn="r" eaLnBrk="1" hangingPunct="1">
              <a:spcAft>
                <a:spcPts val="600"/>
              </a:spcAft>
              <a:buFont typeface="Wingdings" panose="05000000000000000000" pitchFamily="2" charset="2"/>
              <a:buNone/>
            </a:pPr>
            <a:endParaRPr lang="en-US" altLang="zh-CN" sz="2400" b="0" smtClean="0">
              <a:solidFill>
                <a:srgbClr val="FF0000"/>
              </a:solidFill>
              <a:latin typeface="Calibri" panose="020F0502020204030204" pitchFamily="34" charset="0"/>
              <a:ea typeface="黑体" panose="02010609060101010101" pitchFamily="49" charset="-122"/>
            </a:endParaRPr>
          </a:p>
          <a:p>
            <a:pPr algn="r" eaLnBrk="1" hangingPunct="1">
              <a:buFont typeface="Wingdings" panose="05000000000000000000" pitchFamily="2" charset="2"/>
              <a:buNone/>
            </a:pPr>
            <a:r>
              <a:rPr lang="zh-CN" altLang="en-US" sz="1800" smtClean="0">
                <a:solidFill>
                  <a:srgbClr val="FF0000"/>
                </a:solidFill>
                <a:ea typeface="黑体" panose="02010609060101010101" pitchFamily="49" charset="-122"/>
              </a:rPr>
              <a:t> </a:t>
            </a:r>
            <a:endParaRPr lang="en-US" altLang="zh-CN" sz="1800" smtClean="0">
              <a:ea typeface="黑体" panose="02010609060101010101" pitchFamily="49" charset="-122"/>
            </a:endParaRPr>
          </a:p>
          <a:p>
            <a:pPr algn="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a typeface="黑体" panose="02010609060101010101" pitchFamily="49" charset="-122"/>
            </a:endParaRPr>
          </a:p>
          <a:p>
            <a:pPr algn="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a typeface="黑体" panose="02010609060101010101" pitchFamily="49" charset="-122"/>
            </a:endParaRPr>
          </a:p>
          <a:p>
            <a:pPr algn="r" eaLnBrk="1" hangingPunct="1">
              <a:buFont typeface="Wingdings" panose="05000000000000000000" pitchFamily="2" charset="2"/>
              <a:buNone/>
            </a:pPr>
            <a:r>
              <a:rPr lang="zh-CN" altLang="en-US" sz="1800" smtClean="0">
                <a:solidFill>
                  <a:srgbClr val="0000CC"/>
                </a:solidFill>
                <a:latin typeface="Times New Roman" panose="02020603050405020304" pitchFamily="18" charset="0"/>
                <a:ea typeface="黑体" panose="02010609060101010101" pitchFamily="49" charset="-122"/>
              </a:rPr>
              <a:t>  </a:t>
            </a:r>
            <a:endParaRPr lang="en-US" altLang="zh-CN" sz="1800" b="0" smtClean="0">
              <a:solidFill>
                <a:schemeClr val="tx1"/>
              </a:solidFill>
              <a:latin typeface="Times New Roman" panose="02020603050405020304" pitchFamily="18" charset="0"/>
              <a:ea typeface="黑体" panose="02010609060101010101" pitchFamily="49" charset="-122"/>
            </a:endParaRPr>
          </a:p>
          <a:p>
            <a:pPr algn="r" eaLnBrk="1" hangingPunct="1">
              <a:buFont typeface="Wingdings" panose="05000000000000000000" pitchFamily="2" charset="2"/>
              <a:buNone/>
            </a:pPr>
            <a:endParaRPr lang="en-US" altLang="zh-CN" sz="1800" smtClean="0">
              <a:ea typeface="黑体" panose="02010609060101010101" pitchFamily="49" charset="-122"/>
            </a:endParaRPr>
          </a:p>
        </p:txBody>
      </p:sp>
      <p:sp>
        <p:nvSpPr>
          <p:cNvPr id="15362" name="副标题 2"/>
          <p:cNvSpPr txBox="1">
            <a:spLocks noChangeArrowheads="1"/>
          </p:cNvSpPr>
          <p:nvPr/>
        </p:nvSpPr>
        <p:spPr bwMode="auto">
          <a:xfrm>
            <a:off x="304800" y="1066800"/>
            <a:ext cx="6400800" cy="528638"/>
          </a:xfrm>
          <a:prstGeom prst="rect">
            <a:avLst/>
          </a:prstGeom>
          <a:noFill/>
          <a:ln w="9525">
            <a:noFill/>
            <a:miter lim="800000"/>
          </a:ln>
        </p:spPr>
        <p:txBody>
          <a:bodyPr/>
          <a:lstStyle/>
          <a:p>
            <a:pPr marL="342900" indent="-342900" eaLnBrk="0" hangingPunct="0">
              <a:spcBef>
                <a:spcPct val="20000"/>
              </a:spcBef>
              <a:buClr>
                <a:schemeClr val="hlink"/>
              </a:buClr>
              <a:buFont typeface="Wingdings" panose="05000000000000000000" pitchFamily="2" charset="2"/>
              <a:buChar char="n"/>
            </a:pPr>
            <a:endParaRPr lang="zh-CN" altLang="en-US" sz="2200" b="1">
              <a:solidFill>
                <a:schemeClr val="tx2"/>
              </a:solidFill>
              <a:latin typeface="宋体" panose="02010600030101010101" pitchFamily="2" charset="-122"/>
            </a:endParaRPr>
          </a:p>
        </p:txBody>
      </p:sp>
      <p:sp>
        <p:nvSpPr>
          <p:cNvPr id="9" name=" 167"/>
          <p:cNvSpPr/>
          <p:nvPr/>
        </p:nvSpPr>
        <p:spPr>
          <a:xfrm>
            <a:off x="534035" y="1196975"/>
            <a:ext cx="8230870" cy="5280025"/>
          </a:xfrm>
          <a:prstGeom prst="roundRect">
            <a:avLst>
              <a:gd name="adj" fmla="val 22731"/>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285750" indent="-285750">
              <a:lnSpc>
                <a:spcPct val="150000"/>
              </a:lnSpc>
              <a:buFont typeface="Arial" panose="020B0604020202020204" pitchFamily="34" charset="0"/>
              <a:buChar char="•"/>
            </a:pPr>
            <a:r>
              <a:rPr lang="zh-CN" altLang="en-US" sz="2000"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似</a:t>
            </a:r>
            <a:r>
              <a:rPr lang="zh-CN" altLang="en-US" sz="2000" b="1" dirty="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超</a:t>
            </a:r>
            <a:r>
              <a:rPr lang="en-US" altLang="zh-CN" sz="2000" b="1" dirty="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2</a:t>
            </a:r>
            <a:r>
              <a:rPr lang="zh-CN" altLang="en-US" sz="2000" b="1" dirty="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亿国内个人信息在国外暗网论坛</a:t>
            </a:r>
            <a:r>
              <a:rPr lang="zh-CN" altLang="en-US" sz="2000"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兜售</a:t>
            </a:r>
            <a:endParaRPr lang="en-US" altLang="zh-CN" sz="2000" b="1" dirty="0" smtClean="0">
              <a:solidFill>
                <a:schemeClr val="tx1"/>
              </a:solidFill>
              <a:latin typeface="宋体" panose="02010600030101010101" pitchFamily="2" charset="-122"/>
              <a:ea typeface="宋体" panose="02010600030101010101" pitchFamily="2" charset="-122"/>
              <a:cs typeface="宋体" panose="02010600030101010101" pitchFamily="2" charset="-122"/>
            </a:endParaRPr>
          </a:p>
          <a:p>
            <a:pPr marL="285750" indent="-285750">
              <a:lnSpc>
                <a:spcPct val="150000"/>
              </a:lnSpc>
              <a:buFont typeface="Arial" panose="020B0604020202020204" pitchFamily="34" charset="0"/>
              <a:buChar char="•"/>
            </a:pPr>
            <a:r>
              <a:rPr lang="zh-CN" altLang="en-US" sz="2000" b="1" dirty="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国内某银行疑似发生数据泄露 高达</a:t>
            </a:r>
            <a:r>
              <a:rPr lang="en-US" altLang="zh-CN" sz="2000" b="1" dirty="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1679</a:t>
            </a:r>
            <a:r>
              <a:rPr lang="zh-CN" altLang="en-US" sz="2000" b="1" dirty="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万</a:t>
            </a:r>
            <a:r>
              <a:rPr lang="zh-CN" altLang="en-US" sz="2000"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条</a:t>
            </a:r>
            <a:endParaRPr lang="en-US" altLang="zh-CN" sz="2000" b="1" dirty="0" smtClean="0">
              <a:solidFill>
                <a:schemeClr val="tx1"/>
              </a:solidFill>
              <a:latin typeface="宋体" panose="02010600030101010101" pitchFamily="2" charset="-122"/>
              <a:ea typeface="宋体" panose="02010600030101010101" pitchFamily="2" charset="-122"/>
              <a:cs typeface="宋体" panose="02010600030101010101" pitchFamily="2" charset="-122"/>
            </a:endParaRPr>
          </a:p>
          <a:p>
            <a:pPr marL="285750" indent="-285750">
              <a:lnSpc>
                <a:spcPct val="150000"/>
              </a:lnSpc>
              <a:buFont typeface="Arial" panose="020B0604020202020204" pitchFamily="34" charset="0"/>
              <a:buChar char="•"/>
            </a:pPr>
            <a:r>
              <a:rPr lang="zh-CN" altLang="en-US" sz="2000" b="1" dirty="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全国首例利用微信清粉软件获取用户信息案</a:t>
            </a:r>
            <a:r>
              <a:rPr lang="zh-CN" altLang="en-US" sz="2000"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宣判</a:t>
            </a:r>
            <a:endParaRPr lang="en-US" altLang="zh-CN" sz="2000" b="1" dirty="0" smtClean="0">
              <a:solidFill>
                <a:schemeClr val="tx1"/>
              </a:solidFill>
              <a:latin typeface="宋体" panose="02010600030101010101" pitchFamily="2" charset="-122"/>
              <a:ea typeface="宋体" panose="02010600030101010101" pitchFamily="2" charset="-122"/>
              <a:cs typeface="宋体" panose="02010600030101010101" pitchFamily="2" charset="-122"/>
            </a:endParaRPr>
          </a:p>
          <a:p>
            <a:pPr marL="285750" indent="-285750">
              <a:lnSpc>
                <a:spcPct val="150000"/>
              </a:lnSpc>
              <a:buFont typeface="Arial" panose="020B0604020202020204" pitchFamily="34" charset="0"/>
              <a:buChar char="•"/>
            </a:pPr>
            <a:r>
              <a:rPr lang="zh-CN" altLang="en-US" sz="2000" b="1" dirty="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中信银行因泄露客户信息被罚</a:t>
            </a:r>
            <a:r>
              <a:rPr lang="en-US" altLang="zh-CN" sz="2000" b="1" dirty="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450</a:t>
            </a:r>
            <a:r>
              <a:rPr lang="zh-CN" altLang="en-US" sz="2000" b="1" dirty="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万</a:t>
            </a:r>
            <a:r>
              <a:rPr lang="zh-CN" altLang="en-US" sz="2000"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元</a:t>
            </a:r>
            <a:endParaRPr lang="en-US" altLang="zh-CN" sz="2000" b="1" dirty="0" smtClean="0">
              <a:solidFill>
                <a:schemeClr val="tx1"/>
              </a:solidFill>
              <a:latin typeface="宋体" panose="02010600030101010101" pitchFamily="2" charset="-122"/>
              <a:ea typeface="宋体" panose="02010600030101010101" pitchFamily="2" charset="-122"/>
              <a:cs typeface="宋体" panose="02010600030101010101" pitchFamily="2" charset="-122"/>
            </a:endParaRPr>
          </a:p>
          <a:p>
            <a:pPr marL="285750" indent="-285750">
              <a:lnSpc>
                <a:spcPct val="150000"/>
              </a:lnSpc>
              <a:buFont typeface="Arial" panose="020B0604020202020204" pitchFamily="34" charset="0"/>
              <a:buChar char="•"/>
            </a:pPr>
            <a:r>
              <a:rPr lang="en-US" altLang="zh-CN" sz="2000" b="1" dirty="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30</a:t>
            </a:r>
            <a:r>
              <a:rPr lang="zh-CN" altLang="en-US" sz="2000" b="1" dirty="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人贩卖</a:t>
            </a:r>
            <a:r>
              <a:rPr lang="en-US" altLang="zh-CN" sz="2000" b="1" dirty="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6</a:t>
            </a:r>
            <a:r>
              <a:rPr lang="zh-CN" altLang="en-US" sz="2000" b="1" dirty="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亿条个人信息获利</a:t>
            </a:r>
            <a:r>
              <a:rPr lang="en-US" altLang="zh-CN" sz="2000" b="1" dirty="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800</a:t>
            </a:r>
            <a:r>
              <a:rPr lang="zh-CN" altLang="en-US" sz="2000" b="1" dirty="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余</a:t>
            </a:r>
            <a:r>
              <a:rPr lang="zh-CN" altLang="en-US" sz="2000"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万</a:t>
            </a:r>
            <a:endParaRPr lang="en-US" altLang="zh-CN" sz="2000" b="1" dirty="0" smtClean="0">
              <a:solidFill>
                <a:schemeClr val="tx1"/>
              </a:solidFill>
              <a:latin typeface="宋体" panose="02010600030101010101" pitchFamily="2" charset="-122"/>
              <a:ea typeface="宋体" panose="02010600030101010101" pitchFamily="2" charset="-122"/>
              <a:cs typeface="宋体" panose="02010600030101010101" pitchFamily="2" charset="-122"/>
            </a:endParaRPr>
          </a:p>
          <a:p>
            <a:pPr marL="285750" indent="-285750">
              <a:lnSpc>
                <a:spcPct val="150000"/>
              </a:lnSpc>
              <a:buFont typeface="Arial" panose="020B0604020202020204" pitchFamily="34" charset="0"/>
              <a:buChar char="•"/>
            </a:pPr>
            <a:r>
              <a:rPr lang="zh-CN" altLang="en-US" sz="2000" b="1" dirty="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一公司卖个人信息被罚</a:t>
            </a:r>
            <a:r>
              <a:rPr lang="en-US" altLang="zh-CN" sz="2000" b="1" dirty="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320</a:t>
            </a:r>
            <a:r>
              <a:rPr lang="zh-CN" altLang="en-US" sz="2000"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万</a:t>
            </a:r>
            <a:endParaRPr lang="en-US" altLang="zh-CN" sz="2000" b="1" dirty="0" smtClean="0">
              <a:solidFill>
                <a:schemeClr val="tx1"/>
              </a:solidFill>
              <a:latin typeface="宋体" panose="02010600030101010101" pitchFamily="2" charset="-122"/>
              <a:ea typeface="宋体" panose="02010600030101010101" pitchFamily="2" charset="-122"/>
              <a:cs typeface="宋体" panose="02010600030101010101" pitchFamily="2" charset="-122"/>
            </a:endParaRPr>
          </a:p>
          <a:p>
            <a:pPr marL="285750" indent="-285750">
              <a:lnSpc>
                <a:spcPct val="150000"/>
              </a:lnSpc>
              <a:buFont typeface="Arial" panose="020B0604020202020204" pitchFamily="34" charset="0"/>
              <a:buChar char="•"/>
            </a:pPr>
            <a:r>
              <a:rPr lang="zh-CN" altLang="en-US" sz="2000" b="1" dirty="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央视</a:t>
            </a:r>
            <a:r>
              <a:rPr lang="en-US" altLang="zh-CN" sz="2000" b="1" dirty="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315</a:t>
            </a:r>
            <a:r>
              <a:rPr lang="zh-CN" altLang="en-US" sz="2000" b="1" dirty="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曝光摄像头盗取人脸</a:t>
            </a:r>
            <a:r>
              <a:rPr lang="zh-CN" altLang="en-US" sz="2000"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信息</a:t>
            </a:r>
            <a:endParaRPr lang="en-US" altLang="zh-CN" sz="2000" b="1" dirty="0" smtClean="0">
              <a:solidFill>
                <a:schemeClr val="tx1"/>
              </a:solidFill>
              <a:latin typeface="宋体" panose="02010600030101010101" pitchFamily="2" charset="-122"/>
              <a:ea typeface="宋体" panose="02010600030101010101" pitchFamily="2" charset="-122"/>
              <a:cs typeface="宋体" panose="02010600030101010101" pitchFamily="2" charset="-122"/>
            </a:endParaRPr>
          </a:p>
          <a:p>
            <a:pPr marL="285750" indent="-285750">
              <a:lnSpc>
                <a:spcPct val="150000"/>
              </a:lnSpc>
              <a:buFont typeface="Arial" panose="020B0604020202020204" pitchFamily="34" charset="0"/>
              <a:buChar char="•"/>
            </a:pPr>
            <a:r>
              <a:rPr lang="zh-CN" altLang="en-US" sz="2000"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境外白象、海莲花、毒云藤、蔓</a:t>
            </a:r>
            <a:r>
              <a:rPr lang="zh-CN" altLang="en-US" sz="2000" b="1" dirty="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灵</a:t>
            </a:r>
            <a:r>
              <a:rPr lang="zh-CN" altLang="en-US" sz="2000"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花等</a:t>
            </a:r>
            <a:r>
              <a:rPr lang="en-US" altLang="zh-CN" sz="2000"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APT</a:t>
            </a:r>
            <a:r>
              <a:rPr lang="zh-CN" altLang="en-US" sz="2000" b="1" dirty="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组织攻击行动高发</a:t>
            </a:r>
            <a:endParaRPr lang="en-US" altLang="zh-CN" sz="2000" b="1" dirty="0" smtClean="0">
              <a:solidFill>
                <a:schemeClr val="tx1"/>
              </a:solidFill>
              <a:latin typeface="宋体" panose="02010600030101010101" pitchFamily="2" charset="-122"/>
              <a:ea typeface="宋体" panose="02010600030101010101" pitchFamily="2" charset="-122"/>
              <a:cs typeface="宋体" panose="02010600030101010101" pitchFamily="2" charset="-122"/>
            </a:endParaRPr>
          </a:p>
          <a:p>
            <a:pPr marL="285750" indent="-285750">
              <a:lnSpc>
                <a:spcPct val="150000"/>
              </a:lnSpc>
              <a:buFont typeface="Arial" panose="020B0604020202020204" pitchFamily="34" charset="0"/>
              <a:buChar char="•"/>
            </a:pPr>
            <a:r>
              <a:rPr lang="zh-CN" altLang="en-US" sz="2000" b="1" dirty="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美国中央情报局</a:t>
            </a:r>
            <a:r>
              <a:rPr lang="en-US" altLang="zh-CN" sz="2000" b="1" dirty="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CIA</a:t>
            </a:r>
            <a:r>
              <a:rPr lang="zh-CN" altLang="en-US" sz="2000" b="1" dirty="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攻击组织（</a:t>
            </a:r>
            <a:r>
              <a:rPr lang="en-US" altLang="zh-CN" sz="2000" b="1" dirty="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APT-C-39</a:t>
            </a:r>
            <a:r>
              <a:rPr lang="zh-CN" altLang="en-US" sz="2000" b="1" dirty="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）对中国关键领域长达十一年的网络渗透</a:t>
            </a:r>
            <a:r>
              <a:rPr lang="zh-CN" altLang="en-US" sz="2000"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攻击</a:t>
            </a:r>
            <a:endParaRPr lang="zh-CN" altLang="en-US" sz="2000"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endParaRPr>
          </a:p>
          <a:p>
            <a:pPr marL="0" indent="0">
              <a:lnSpc>
                <a:spcPct val="150000"/>
              </a:lnSpc>
              <a:buFont typeface="Arial" panose="020B0604020202020204" pitchFamily="34" charset="0"/>
              <a:buNone/>
            </a:pPr>
            <a:r>
              <a:rPr lang="zh-CN" altLang="en-US" sz="1200" b="1" dirty="0" smtClean="0">
                <a:solidFill>
                  <a:schemeClr val="tx2"/>
                </a:solidFill>
                <a:latin typeface="宋体" panose="02010600030101010101" pitchFamily="2" charset="-122"/>
                <a:ea typeface="宋体" panose="02010600030101010101" pitchFamily="2" charset="-122"/>
                <a:cs typeface="宋体" panose="02010600030101010101" pitchFamily="2" charset="-122"/>
                <a:sym typeface="+mn-ea"/>
              </a:rPr>
              <a:t>关于</a:t>
            </a:r>
            <a:r>
              <a:rPr lang="en-US" altLang="zh-CN" sz="1200" b="1" dirty="0" smtClean="0">
                <a:solidFill>
                  <a:schemeClr val="tx2"/>
                </a:solidFill>
                <a:latin typeface="宋体" panose="02010600030101010101" pitchFamily="2" charset="-122"/>
                <a:ea typeface="宋体" panose="02010600030101010101" pitchFamily="2" charset="-122"/>
                <a:cs typeface="宋体" panose="02010600030101010101" pitchFamily="2" charset="-122"/>
                <a:sym typeface="+mn-ea"/>
              </a:rPr>
              <a:t>APT</a:t>
            </a:r>
            <a:r>
              <a:rPr lang="zh-CN" altLang="en-US" sz="1200" b="1" dirty="0" smtClean="0">
                <a:solidFill>
                  <a:schemeClr val="tx2"/>
                </a:solidFill>
                <a:latin typeface="宋体" panose="02010600030101010101" pitchFamily="2" charset="-122"/>
                <a:ea typeface="宋体" panose="02010600030101010101" pitchFamily="2" charset="-122"/>
                <a:cs typeface="宋体" panose="02010600030101010101" pitchFamily="2" charset="-122"/>
                <a:sym typeface="+mn-ea"/>
              </a:rPr>
              <a:t>参看</a:t>
            </a:r>
            <a:r>
              <a:rPr lang="zh-CN" altLang="en-US" sz="1400" b="1" dirty="0" smtClean="0">
                <a:solidFill>
                  <a:schemeClr val="tx2"/>
                </a:solidFill>
                <a:latin typeface="宋体" panose="02010600030101010101" pitchFamily="2" charset="-122"/>
                <a:ea typeface="宋体" panose="02010600030101010101" pitchFamily="2" charset="-122"/>
                <a:cs typeface="宋体" panose="02010600030101010101" pitchFamily="2" charset="-122"/>
                <a:sym typeface="+mn-ea"/>
              </a:rPr>
              <a:t>http://www.topsec.com.cn/zhuanti/APT.html</a:t>
            </a:r>
            <a:endParaRPr lang="zh-CN" altLang="en-US" sz="1400" b="1" dirty="0" smtClean="0">
              <a:solidFill>
                <a:schemeClr val="tx2"/>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7" name="Rectangle 2"/>
          <p:cNvSpPr txBox="1">
            <a:spLocks noChangeArrowheads="1"/>
          </p:cNvSpPr>
          <p:nvPr/>
        </p:nvSpPr>
        <p:spPr bwMode="white">
          <a:xfrm>
            <a:off x="838200" y="152400"/>
            <a:ext cx="7327900" cy="563563"/>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zh-CN" sz="3200" dirty="0" smtClean="0">
                <a:solidFill>
                  <a:schemeClr val="bg1"/>
                </a:solidFill>
                <a:latin typeface="Verdana" panose="020B0604030504040204" pitchFamily="34" charset="0"/>
              </a:rPr>
              <a:t>课程导学</a:t>
            </a:r>
            <a:endParaRPr lang="zh-CN" sz="3200" dirty="0" smtClean="0">
              <a:solidFill>
                <a:schemeClr val="bg1"/>
              </a:solidFill>
              <a:effectLst>
                <a:outerShdw blurRad="38100" dist="38100" dir="2700000" algn="tl">
                  <a:srgbClr val="C0C0C0"/>
                </a:outerShdw>
              </a:effectLs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内容占位符 13"/>
          <p:cNvSpPr>
            <a:spLocks noGrp="1" noChangeArrowheads="1"/>
          </p:cNvSpPr>
          <p:nvPr>
            <p:ph idx="4294967295"/>
          </p:nvPr>
        </p:nvSpPr>
        <p:spPr>
          <a:xfrm>
            <a:off x="431800" y="1196975"/>
            <a:ext cx="8040688" cy="947738"/>
          </a:xfrm>
        </p:spPr>
        <p:txBody>
          <a:bodyPr/>
          <a:lstStyle/>
          <a:p>
            <a:pPr algn="r" eaLnBrk="1" hangingPunct="1">
              <a:spcAft>
                <a:spcPts val="600"/>
              </a:spcAft>
              <a:buFont typeface="Wingdings" panose="05000000000000000000" pitchFamily="2" charset="2"/>
              <a:buNone/>
            </a:pPr>
            <a:endParaRPr lang="en-US" altLang="zh-CN" sz="2400" b="0" smtClean="0">
              <a:solidFill>
                <a:srgbClr val="FF0000"/>
              </a:solidFill>
              <a:latin typeface="Calibri" panose="020F0502020204030204" pitchFamily="34" charset="0"/>
              <a:ea typeface="黑体" panose="02010609060101010101" pitchFamily="49" charset="-122"/>
            </a:endParaRPr>
          </a:p>
          <a:p>
            <a:pPr algn="r" eaLnBrk="1" hangingPunct="1">
              <a:buFont typeface="Wingdings" panose="05000000000000000000" pitchFamily="2" charset="2"/>
              <a:buNone/>
            </a:pPr>
            <a:r>
              <a:rPr lang="zh-CN" altLang="en-US" sz="1800" smtClean="0">
                <a:solidFill>
                  <a:srgbClr val="FF0000"/>
                </a:solidFill>
                <a:ea typeface="黑体" panose="02010609060101010101" pitchFamily="49" charset="-122"/>
              </a:rPr>
              <a:t> </a:t>
            </a:r>
            <a:endParaRPr lang="en-US" altLang="zh-CN" sz="1800" smtClean="0">
              <a:ea typeface="黑体" panose="02010609060101010101" pitchFamily="49" charset="-122"/>
            </a:endParaRPr>
          </a:p>
          <a:p>
            <a:pPr algn="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a typeface="黑体" panose="02010609060101010101" pitchFamily="49" charset="-122"/>
            </a:endParaRPr>
          </a:p>
          <a:p>
            <a:pPr algn="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a typeface="黑体" panose="02010609060101010101" pitchFamily="49" charset="-122"/>
            </a:endParaRPr>
          </a:p>
          <a:p>
            <a:pPr algn="r" eaLnBrk="1" hangingPunct="1">
              <a:buFont typeface="Wingdings" panose="05000000000000000000" pitchFamily="2" charset="2"/>
              <a:buNone/>
            </a:pPr>
            <a:r>
              <a:rPr lang="zh-CN" altLang="en-US" sz="1800" smtClean="0">
                <a:solidFill>
                  <a:srgbClr val="0000CC"/>
                </a:solidFill>
                <a:latin typeface="Times New Roman" panose="02020603050405020304" pitchFamily="18" charset="0"/>
                <a:ea typeface="黑体" panose="02010609060101010101" pitchFamily="49" charset="-122"/>
              </a:rPr>
              <a:t>  </a:t>
            </a:r>
            <a:endParaRPr lang="en-US" altLang="zh-CN" sz="1800" b="0" smtClean="0">
              <a:solidFill>
                <a:schemeClr val="tx1"/>
              </a:solidFill>
              <a:latin typeface="Times New Roman" panose="02020603050405020304" pitchFamily="18" charset="0"/>
              <a:ea typeface="黑体" panose="02010609060101010101" pitchFamily="49" charset="-122"/>
            </a:endParaRPr>
          </a:p>
          <a:p>
            <a:pPr algn="r" eaLnBrk="1" hangingPunct="1">
              <a:buFont typeface="Wingdings" panose="05000000000000000000" pitchFamily="2" charset="2"/>
              <a:buNone/>
            </a:pPr>
            <a:endParaRPr lang="en-US" altLang="zh-CN" sz="1800" smtClean="0">
              <a:ea typeface="黑体" panose="02010609060101010101" pitchFamily="49" charset="-122"/>
            </a:endParaRPr>
          </a:p>
        </p:txBody>
      </p:sp>
      <p:sp>
        <p:nvSpPr>
          <p:cNvPr id="15362" name="副标题 2"/>
          <p:cNvSpPr txBox="1">
            <a:spLocks noChangeArrowheads="1"/>
          </p:cNvSpPr>
          <p:nvPr/>
        </p:nvSpPr>
        <p:spPr bwMode="auto">
          <a:xfrm>
            <a:off x="304800" y="1066800"/>
            <a:ext cx="6400800" cy="528638"/>
          </a:xfrm>
          <a:prstGeom prst="rect">
            <a:avLst/>
          </a:prstGeom>
          <a:noFill/>
          <a:ln w="9525">
            <a:noFill/>
            <a:miter lim="800000"/>
          </a:ln>
        </p:spPr>
        <p:txBody>
          <a:bodyPr/>
          <a:lstStyle/>
          <a:p>
            <a:pPr marL="342900" indent="-342900" eaLnBrk="0" hangingPunct="0">
              <a:spcBef>
                <a:spcPct val="20000"/>
              </a:spcBef>
              <a:buClr>
                <a:schemeClr val="hlink"/>
              </a:buClr>
              <a:buFont typeface="Wingdings" panose="05000000000000000000" pitchFamily="2" charset="2"/>
              <a:buChar char="n"/>
            </a:pPr>
            <a:endParaRPr lang="zh-CN" altLang="en-US" sz="2200" b="1">
              <a:solidFill>
                <a:schemeClr val="tx2"/>
              </a:solidFill>
              <a:latin typeface="宋体" panose="02010600030101010101" pitchFamily="2" charset="-122"/>
            </a:endParaRPr>
          </a:p>
        </p:txBody>
      </p:sp>
      <p:sp>
        <p:nvSpPr>
          <p:cNvPr id="9" name=" 167"/>
          <p:cNvSpPr/>
          <p:nvPr/>
        </p:nvSpPr>
        <p:spPr>
          <a:xfrm>
            <a:off x="524510" y="1148080"/>
            <a:ext cx="8230870" cy="5568315"/>
          </a:xfrm>
          <a:prstGeom prst="roundRect">
            <a:avLst>
              <a:gd name="adj" fmla="val 22731"/>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eaLnBrk="1" hangingPunct="1"/>
            <a:r>
              <a:rPr lang="en-US" altLang="zh-CN" b="1" noProof="1">
                <a:solidFill>
                  <a:schemeClr val="tx1"/>
                </a:solidFill>
                <a:ea typeface="+mn-lt"/>
                <a:cs typeface="+mn-lt"/>
              </a:rPr>
              <a:t>	</a:t>
            </a:r>
            <a:r>
              <a:rPr lang="zh-CN" altLang="en-US" b="1" noProof="1">
                <a:solidFill>
                  <a:schemeClr val="tx1"/>
                </a:solidFill>
                <a:ea typeface="+mn-lt"/>
                <a:cs typeface="+mn-lt"/>
              </a:rPr>
              <a:t>网络安全是现代信息化建设发展和应用的重要</a:t>
            </a:r>
            <a:r>
              <a:rPr lang="zh-CN" altLang="en-US" b="1" noProof="1">
                <a:solidFill>
                  <a:srgbClr val="FF0000"/>
                </a:solidFill>
                <a:ea typeface="+mn-lt"/>
                <a:cs typeface="+mn-lt"/>
              </a:rPr>
              <a:t>前提和保障</a:t>
            </a:r>
            <a:r>
              <a:rPr lang="zh-CN" altLang="en-US" b="1" noProof="1">
                <a:solidFill>
                  <a:schemeClr val="tx1"/>
                </a:solidFill>
                <a:ea typeface="+mn-lt"/>
                <a:cs typeface="+mn-lt"/>
              </a:rPr>
              <a:t>。网络安全问题已经引起世界各国的高度重视并成为关注的</a:t>
            </a:r>
            <a:r>
              <a:rPr lang="zh-CN" altLang="en-US" b="1" noProof="1">
                <a:solidFill>
                  <a:srgbClr val="FF0000"/>
                </a:solidFill>
                <a:ea typeface="+mn-lt"/>
                <a:cs typeface="+mn-lt"/>
              </a:rPr>
              <a:t>焦点</a:t>
            </a:r>
            <a:r>
              <a:rPr lang="zh-CN" altLang="en-US" b="1" noProof="1">
                <a:solidFill>
                  <a:schemeClr val="tx1"/>
                </a:solidFill>
                <a:ea typeface="+mn-lt"/>
                <a:cs typeface="+mn-lt"/>
              </a:rPr>
              <a:t>，网络安全不仅关系到国计民生，还与国家安全密切相关，不仅涉及到国家政治、军事和经济各个方面，而且影响到国家的安全和主权。</a:t>
            </a:r>
            <a:endParaRPr lang="zh-CN" altLang="en-US" b="1" noProof="1">
              <a:solidFill>
                <a:schemeClr val="tx1"/>
              </a:solidFill>
              <a:ea typeface="+mn-lt"/>
              <a:cs typeface="+mn-lt"/>
            </a:endParaRPr>
          </a:p>
          <a:p>
            <a:pPr eaLnBrk="1" hangingPunct="1"/>
            <a:r>
              <a:rPr lang="zh-CN" altLang="en-US" sz="1800" b="1" noProof="1">
                <a:solidFill>
                  <a:schemeClr val="tx2"/>
                </a:solidFill>
                <a:ea typeface="+mn-lt"/>
                <a:cs typeface="+mn-lt"/>
              </a:rPr>
              <a:t>【</a:t>
            </a:r>
            <a:r>
              <a:rPr lang="en-US" altLang="zh-CN" sz="1800" b="1" noProof="1">
                <a:solidFill>
                  <a:schemeClr val="tx2"/>
                </a:solidFill>
                <a:ea typeface="+mn-lt"/>
                <a:cs typeface="+mn-lt"/>
              </a:rPr>
              <a:t>网络安全和信息化是一体之两翼、驱动之双轮，必须统一谋划、统一部署、统一推进、统一实施。做好网络安全和信息化工作，要处理好安全和发展的关系，做到协调一致、齐头并进，以安全保发展、以发展促安全，努力建久安之势、成长治之业。</a:t>
            </a:r>
            <a:r>
              <a:rPr lang="zh-CN" altLang="en-US" sz="1800" b="1" noProof="1">
                <a:solidFill>
                  <a:schemeClr val="tx2"/>
                </a:solidFill>
                <a:ea typeface="+mn-lt"/>
                <a:cs typeface="+mn-lt"/>
              </a:rPr>
              <a:t>】</a:t>
            </a:r>
            <a:r>
              <a:rPr lang="en-US" altLang="zh-CN" b="1" noProof="1">
                <a:solidFill>
                  <a:schemeClr val="tx1"/>
                </a:solidFill>
                <a:ea typeface="+mn-lt"/>
                <a:cs typeface="+mn-lt"/>
              </a:rPr>
              <a:t>	</a:t>
            </a:r>
            <a:endParaRPr lang="en-US" altLang="zh-CN" b="1" noProof="1">
              <a:solidFill>
                <a:schemeClr val="tx1"/>
              </a:solidFill>
              <a:ea typeface="+mn-lt"/>
              <a:cs typeface="+mn-lt"/>
            </a:endParaRPr>
          </a:p>
          <a:p>
            <a:pPr eaLnBrk="1" hangingPunct="1"/>
            <a:r>
              <a:rPr lang="en-US" altLang="zh-CN" b="1" noProof="1">
                <a:solidFill>
                  <a:schemeClr val="tx1"/>
                </a:solidFill>
                <a:ea typeface="+mn-lt"/>
                <a:cs typeface="+mn-lt"/>
              </a:rPr>
              <a:t>	</a:t>
            </a:r>
            <a:r>
              <a:rPr lang="zh-CN" altLang="en-US" b="1" noProof="1">
                <a:solidFill>
                  <a:schemeClr val="tx1"/>
                </a:solidFill>
                <a:ea typeface="+mn-lt"/>
                <a:cs typeface="+mn-lt"/>
              </a:rPr>
              <a:t>网络安全已成为热门研究和人才需求的新领域。</a:t>
            </a:r>
            <a:r>
              <a:rPr lang="zh-CN" altLang="en-US" sz="1800" b="1" noProof="1">
                <a:solidFill>
                  <a:schemeClr val="tx2"/>
                </a:solidFill>
                <a:ea typeface="+mn-lt"/>
                <a:cs typeface="+mn-lt"/>
              </a:rPr>
              <a:t>【工业和信息化部人才交流中心《网络安全产业人才发展报告》（2021年版】预</a:t>
            </a:r>
            <a:r>
              <a:rPr sz="1800" b="1" noProof="1">
                <a:solidFill>
                  <a:schemeClr val="tx2"/>
                </a:solidFill>
                <a:ea typeface="+mn-lt"/>
                <a:cs typeface="+mn-lt"/>
              </a:rPr>
              <a:t>估目前我国网络安全专业人才累计缺口在140万以上，而每年网络安全相关专业的高校毕业生规模仅2万余人</a:t>
            </a:r>
            <a:r>
              <a:rPr lang="zh-CN" altLang="en-US" sz="1800" b="1" noProof="1">
                <a:solidFill>
                  <a:schemeClr val="tx2"/>
                </a:solidFill>
                <a:ea typeface="+mn-lt"/>
                <a:cs typeface="+mn-lt"/>
              </a:rPr>
              <a:t>。</a:t>
            </a:r>
            <a:endParaRPr lang="zh-CN" altLang="en-US" b="1" noProof="1">
              <a:solidFill>
                <a:schemeClr val="tx1"/>
              </a:solidFill>
              <a:ea typeface="+mn-lt"/>
              <a:cs typeface="+mn-lt"/>
            </a:endParaRPr>
          </a:p>
          <a:p>
            <a:pPr eaLnBrk="1" hangingPunct="1">
              <a:defRPr/>
            </a:pPr>
            <a:r>
              <a:rPr lang="en-US" altLang="zh-CN" sz="1800" b="1" dirty="0" smtClean="0">
                <a:solidFill>
                  <a:schemeClr val="tx2"/>
                </a:solidFill>
                <a:latin typeface="宋体" panose="02010600030101010101" pitchFamily="2" charset="-122"/>
                <a:ea typeface="宋体" panose="02010600030101010101" pitchFamily="2" charset="-122"/>
                <a:cs typeface="宋体" panose="02010600030101010101" pitchFamily="2" charset="-122"/>
              </a:rPr>
              <a:t>2015</a:t>
            </a:r>
            <a:r>
              <a:rPr lang="zh-CN" altLang="en-US" sz="1800" b="1" dirty="0" smtClean="0">
                <a:solidFill>
                  <a:schemeClr val="tx2"/>
                </a:solidFill>
                <a:latin typeface="宋体" panose="02010600030101010101" pitchFamily="2" charset="-122"/>
                <a:ea typeface="宋体" panose="02010600030101010101" pitchFamily="2" charset="-122"/>
                <a:cs typeface="宋体" panose="02010600030101010101" pitchFamily="2" charset="-122"/>
              </a:rPr>
              <a:t>年</a:t>
            </a:r>
            <a:r>
              <a:rPr lang="en-US" altLang="zh-CN" sz="1800" b="1" dirty="0" smtClean="0">
                <a:solidFill>
                  <a:schemeClr val="tx2"/>
                </a:solidFill>
                <a:latin typeface="宋体" panose="02010600030101010101" pitchFamily="2" charset="-122"/>
                <a:ea typeface="宋体" panose="02010600030101010101" pitchFamily="2" charset="-122"/>
                <a:cs typeface="宋体" panose="02010600030101010101" pitchFamily="2" charset="-122"/>
              </a:rPr>
              <a:t>6</a:t>
            </a:r>
            <a:r>
              <a:rPr lang="zh-CN" altLang="en-US" sz="1800" b="1" dirty="0" smtClean="0">
                <a:solidFill>
                  <a:schemeClr val="tx2"/>
                </a:solidFill>
                <a:latin typeface="宋体" panose="02010600030101010101" pitchFamily="2" charset="-122"/>
                <a:ea typeface="宋体" panose="02010600030101010101" pitchFamily="2" charset="-122"/>
                <a:cs typeface="宋体" panose="02010600030101010101" pitchFamily="2" charset="-122"/>
              </a:rPr>
              <a:t>月，国务院学位委员会、教育部</a:t>
            </a:r>
            <a:r>
              <a:rPr lang="en-US" altLang="zh-CN" sz="1800" b="1" dirty="0" smtClean="0">
                <a:solidFill>
                  <a:schemeClr val="tx2"/>
                </a:solidFill>
                <a:latin typeface="宋体" panose="02010600030101010101" pitchFamily="2" charset="-122"/>
                <a:ea typeface="宋体" panose="02010600030101010101" pitchFamily="2" charset="-122"/>
                <a:cs typeface="宋体" panose="02010600030101010101" pitchFamily="2" charset="-122"/>
              </a:rPr>
              <a:t>为实施国家安全战略，加快网络空间安全高层次人才培养，</a:t>
            </a:r>
            <a:r>
              <a:rPr lang="zh-CN" altLang="en-US" sz="1800" b="1" dirty="0" smtClean="0">
                <a:solidFill>
                  <a:schemeClr val="tx2"/>
                </a:solidFill>
                <a:latin typeface="宋体" panose="02010600030101010101" pitchFamily="2" charset="-122"/>
                <a:ea typeface="宋体" panose="02010600030101010101" pitchFamily="2" charset="-122"/>
                <a:cs typeface="宋体" panose="02010600030101010101" pitchFamily="2" charset="-122"/>
              </a:rPr>
              <a:t>在</a:t>
            </a:r>
            <a:r>
              <a:rPr lang="en-US" altLang="zh-CN" sz="1800" b="1" dirty="0" smtClean="0">
                <a:solidFill>
                  <a:schemeClr val="tx2"/>
                </a:solidFill>
                <a:latin typeface="宋体" panose="02010600030101010101" pitchFamily="2" charset="-122"/>
                <a:ea typeface="宋体" panose="02010600030101010101" pitchFamily="2" charset="-122"/>
                <a:cs typeface="宋体" panose="02010600030101010101" pitchFamily="2" charset="-122"/>
              </a:rPr>
              <a:t>《学位授予和人才培养学科目录》</a:t>
            </a:r>
            <a:r>
              <a:rPr lang="zh-CN" altLang="en-US" sz="1800" b="1" dirty="0" smtClean="0">
                <a:solidFill>
                  <a:schemeClr val="tx2"/>
                </a:solidFill>
                <a:latin typeface="宋体" panose="02010600030101010101" pitchFamily="2" charset="-122"/>
                <a:ea typeface="宋体" panose="02010600030101010101" pitchFamily="2" charset="-122"/>
                <a:cs typeface="宋体" panose="02010600030101010101" pitchFamily="2" charset="-122"/>
              </a:rPr>
              <a:t>中在“工学”门类下增设“网络空间安全”一级学科，学科代码为“0839”，授予“工学”学位。</a:t>
            </a:r>
            <a:endParaRPr lang="zh-CN" altLang="en-US" sz="1800" dirty="0" smtClean="0">
              <a:solidFill>
                <a:schemeClr val="tx1"/>
              </a:solidFill>
              <a:latin typeface="宋体" panose="02010600030101010101" pitchFamily="2" charset="-122"/>
              <a:ea typeface="宋体" panose="02010600030101010101" pitchFamily="2" charset="-122"/>
              <a:cs typeface="宋体" panose="02010600030101010101" pitchFamily="2" charset="-122"/>
            </a:endParaRPr>
          </a:p>
          <a:p>
            <a:pPr eaLnBrk="1" hangingPunct="1">
              <a:defRPr/>
            </a:pPr>
            <a:r>
              <a:rPr lang="zh-CN" altLang="en-US" b="1" dirty="0" smtClean="0">
                <a:solidFill>
                  <a:schemeClr val="tx1"/>
                </a:solidFill>
                <a:latin typeface="Arial" panose="020B0604020202020204" pitchFamily="34" charset="0"/>
                <a:sym typeface="+mn-ea"/>
              </a:rPr>
              <a:t> </a:t>
            </a:r>
            <a:endParaRPr lang="zh-CN" altLang="en-US" b="1" dirty="0" smtClean="0">
              <a:solidFill>
                <a:schemeClr val="tx1"/>
              </a:solidFill>
              <a:latin typeface="Arial" panose="020B0604020202020204" pitchFamily="34" charset="0"/>
              <a:sym typeface="+mn-ea"/>
            </a:endParaRPr>
          </a:p>
        </p:txBody>
      </p:sp>
      <p:sp>
        <p:nvSpPr>
          <p:cNvPr id="7" name="Rectangle 2"/>
          <p:cNvSpPr txBox="1">
            <a:spLocks noChangeArrowheads="1"/>
          </p:cNvSpPr>
          <p:nvPr/>
        </p:nvSpPr>
        <p:spPr bwMode="white">
          <a:xfrm>
            <a:off x="838200" y="152400"/>
            <a:ext cx="7327900" cy="563563"/>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zh-CN" sz="3200" dirty="0" smtClean="0">
                <a:solidFill>
                  <a:schemeClr val="bg1"/>
                </a:solidFill>
                <a:latin typeface="Verdana" panose="020B0604030504040204" pitchFamily="34" charset="0"/>
              </a:rPr>
              <a:t>课程导学</a:t>
            </a:r>
            <a:endParaRPr lang="zh-CN" sz="3200" dirty="0" smtClean="0">
              <a:solidFill>
                <a:schemeClr val="bg1"/>
              </a:solidFill>
              <a:effectLst>
                <a:outerShdw blurRad="38100" dist="38100" dir="2700000" algn="tl">
                  <a:srgbClr val="C0C0C0"/>
                </a:outerShdw>
              </a:effectLs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内容占位符 13"/>
          <p:cNvSpPr>
            <a:spLocks noGrp="1" noChangeArrowheads="1"/>
          </p:cNvSpPr>
          <p:nvPr>
            <p:ph idx="4294967295"/>
          </p:nvPr>
        </p:nvSpPr>
        <p:spPr>
          <a:xfrm>
            <a:off x="431800" y="1196975"/>
            <a:ext cx="8040688" cy="947738"/>
          </a:xfrm>
        </p:spPr>
        <p:txBody>
          <a:bodyPr/>
          <a:lstStyle/>
          <a:p>
            <a:pPr algn="r" eaLnBrk="1" hangingPunct="1">
              <a:spcAft>
                <a:spcPts val="600"/>
              </a:spcAft>
              <a:buFont typeface="Wingdings" panose="05000000000000000000" pitchFamily="2" charset="2"/>
              <a:buNone/>
            </a:pPr>
            <a:endParaRPr lang="en-US" altLang="zh-CN" sz="2400" b="0" smtClean="0">
              <a:solidFill>
                <a:srgbClr val="FF0000"/>
              </a:solidFill>
              <a:latin typeface="Calibri" panose="020F0502020204030204" pitchFamily="34" charset="0"/>
              <a:ea typeface="黑体" panose="02010609060101010101" pitchFamily="49" charset="-122"/>
            </a:endParaRPr>
          </a:p>
          <a:p>
            <a:pPr algn="r" eaLnBrk="1" hangingPunct="1">
              <a:buFont typeface="Wingdings" panose="05000000000000000000" pitchFamily="2" charset="2"/>
              <a:buNone/>
            </a:pPr>
            <a:r>
              <a:rPr lang="zh-CN" altLang="en-US" sz="1800" smtClean="0">
                <a:solidFill>
                  <a:srgbClr val="FF0000"/>
                </a:solidFill>
                <a:ea typeface="黑体" panose="02010609060101010101" pitchFamily="49" charset="-122"/>
              </a:rPr>
              <a:t> </a:t>
            </a:r>
            <a:endParaRPr lang="en-US" altLang="zh-CN" sz="1800" smtClean="0">
              <a:ea typeface="黑体" panose="02010609060101010101" pitchFamily="49" charset="-122"/>
            </a:endParaRPr>
          </a:p>
          <a:p>
            <a:pPr algn="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a typeface="黑体" panose="02010609060101010101" pitchFamily="49" charset="-122"/>
            </a:endParaRPr>
          </a:p>
          <a:p>
            <a:pPr algn="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a typeface="黑体" panose="02010609060101010101" pitchFamily="49" charset="-122"/>
            </a:endParaRPr>
          </a:p>
          <a:p>
            <a:pPr algn="r" eaLnBrk="1" hangingPunct="1">
              <a:buFont typeface="Wingdings" panose="05000000000000000000" pitchFamily="2" charset="2"/>
              <a:buNone/>
            </a:pPr>
            <a:r>
              <a:rPr lang="zh-CN" altLang="en-US" sz="1800" smtClean="0">
                <a:solidFill>
                  <a:srgbClr val="0000CC"/>
                </a:solidFill>
                <a:latin typeface="Times New Roman" panose="02020603050405020304" pitchFamily="18" charset="0"/>
                <a:ea typeface="黑体" panose="02010609060101010101" pitchFamily="49" charset="-122"/>
              </a:rPr>
              <a:t>  </a:t>
            </a:r>
            <a:endParaRPr lang="en-US" altLang="zh-CN" sz="1800" b="0" smtClean="0">
              <a:solidFill>
                <a:schemeClr val="tx1"/>
              </a:solidFill>
              <a:latin typeface="Times New Roman" panose="02020603050405020304" pitchFamily="18" charset="0"/>
              <a:ea typeface="黑体" panose="02010609060101010101" pitchFamily="49" charset="-122"/>
            </a:endParaRPr>
          </a:p>
          <a:p>
            <a:pPr algn="r" eaLnBrk="1" hangingPunct="1">
              <a:buFont typeface="Wingdings" panose="05000000000000000000" pitchFamily="2" charset="2"/>
              <a:buNone/>
            </a:pPr>
            <a:endParaRPr lang="en-US" altLang="zh-CN" sz="1800" smtClean="0">
              <a:ea typeface="黑体" panose="02010609060101010101" pitchFamily="49" charset="-122"/>
            </a:endParaRPr>
          </a:p>
        </p:txBody>
      </p:sp>
      <p:sp>
        <p:nvSpPr>
          <p:cNvPr id="15362" name="副标题 2"/>
          <p:cNvSpPr txBox="1">
            <a:spLocks noChangeArrowheads="1"/>
          </p:cNvSpPr>
          <p:nvPr/>
        </p:nvSpPr>
        <p:spPr bwMode="auto">
          <a:xfrm>
            <a:off x="304800" y="1066800"/>
            <a:ext cx="6400800" cy="528638"/>
          </a:xfrm>
          <a:prstGeom prst="rect">
            <a:avLst/>
          </a:prstGeom>
          <a:noFill/>
          <a:ln w="9525">
            <a:noFill/>
            <a:miter lim="800000"/>
          </a:ln>
        </p:spPr>
        <p:txBody>
          <a:bodyPr/>
          <a:lstStyle/>
          <a:p>
            <a:pPr marL="342900" indent="-342900" eaLnBrk="0" hangingPunct="0">
              <a:spcBef>
                <a:spcPct val="20000"/>
              </a:spcBef>
              <a:buClr>
                <a:schemeClr val="hlink"/>
              </a:buClr>
              <a:buFont typeface="Wingdings" panose="05000000000000000000" pitchFamily="2" charset="2"/>
              <a:buChar char="n"/>
            </a:pPr>
            <a:endParaRPr lang="zh-CN" altLang="en-US" sz="2200" b="1">
              <a:solidFill>
                <a:schemeClr val="tx2"/>
              </a:solidFill>
              <a:latin typeface="宋体" panose="02010600030101010101" pitchFamily="2" charset="-122"/>
            </a:endParaRPr>
          </a:p>
        </p:txBody>
      </p:sp>
      <p:sp>
        <p:nvSpPr>
          <p:cNvPr id="9" name=" 167"/>
          <p:cNvSpPr/>
          <p:nvPr/>
        </p:nvSpPr>
        <p:spPr>
          <a:xfrm>
            <a:off x="539750" y="1124585"/>
            <a:ext cx="8230870" cy="5568315"/>
          </a:xfrm>
          <a:prstGeom prst="roundRect">
            <a:avLst>
              <a:gd name="adj" fmla="val 22731"/>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eaLnBrk="1" hangingPunct="1"/>
            <a:r>
              <a:rPr lang="en-US" altLang="zh-CN" b="1" dirty="0" smtClean="0">
                <a:solidFill>
                  <a:schemeClr val="tx1"/>
                </a:solidFill>
                <a:sym typeface="+mn-ea"/>
              </a:rPr>
              <a:t>	</a:t>
            </a:r>
            <a:r>
              <a:rPr lang="zh-CN"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美国、俄罗斯、</a:t>
            </a:r>
            <a:r>
              <a:rPr lang="zh-CN" altLang="en-US" b="1" dirty="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英国、法国、印度、日本等国纷纷发展和建立自己的网络部队。美国于 </a:t>
            </a:r>
            <a:r>
              <a:rPr lang="en-US" altLang="zh-CN" b="1" dirty="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2017 </a:t>
            </a:r>
            <a:r>
              <a:rPr lang="zh-CN" altLang="en-US" b="1" dirty="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年 </a:t>
            </a:r>
            <a:r>
              <a:rPr lang="en-US" altLang="zh-CN" b="1" dirty="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8 </a:t>
            </a:r>
            <a:r>
              <a:rPr lang="zh-CN" altLang="en-US" b="1" dirty="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月将网络</a:t>
            </a:r>
            <a:r>
              <a:rPr lang="zh-CN" altLang="en-US"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司令部</a:t>
            </a:r>
            <a:r>
              <a:rPr lang="zh-CN" altLang="en-US" b="1" dirty="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升格为</a:t>
            </a:r>
            <a:r>
              <a:rPr lang="zh-CN" altLang="en-US" b="1" dirty="0">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一级作战司令部</a:t>
            </a:r>
            <a:r>
              <a:rPr lang="en-US" altLang="zh-CN" b="1" dirty="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 </a:t>
            </a:r>
            <a:r>
              <a:rPr lang="zh-CN" altLang="en-US" b="1" dirty="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其下属的 </a:t>
            </a:r>
            <a:r>
              <a:rPr lang="en-US" altLang="zh-CN" b="1" dirty="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133</a:t>
            </a:r>
            <a:r>
              <a:rPr lang="zh-CN" altLang="en-US" b="1" dirty="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支网络任务部队已具备作战</a:t>
            </a:r>
            <a:r>
              <a:rPr lang="zh-CN" altLang="en-US"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能力</a:t>
            </a:r>
            <a:r>
              <a:rPr lang="en-US" altLang="zh-CN" b="1" dirty="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 </a:t>
            </a:r>
            <a:r>
              <a:rPr lang="zh-CN" altLang="en-US" b="1" dirty="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美国国防部在 </a:t>
            </a:r>
            <a:r>
              <a:rPr lang="en-US" altLang="zh-CN" b="1" dirty="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2018</a:t>
            </a:r>
            <a:r>
              <a:rPr lang="zh-CN" altLang="en-US" b="1" dirty="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年</a:t>
            </a:r>
            <a:r>
              <a:rPr lang="en-US" altLang="zh-CN" b="1" dirty="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7</a:t>
            </a:r>
            <a:r>
              <a:rPr lang="zh-CN" altLang="en-US" b="1" dirty="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月发布</a:t>
            </a:r>
            <a:r>
              <a:rPr lang="en-US" altLang="zh-CN" b="1" dirty="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4580</a:t>
            </a:r>
            <a:r>
              <a:rPr lang="zh-CN" altLang="en-US" b="1" dirty="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万美元的采购计划</a:t>
            </a:r>
            <a:r>
              <a:rPr lang="en-US" altLang="zh-CN" b="1" dirty="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 </a:t>
            </a:r>
            <a:r>
              <a:rPr lang="zh-CN" altLang="en-US" b="1" dirty="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拟开发武器</a:t>
            </a:r>
            <a:r>
              <a:rPr lang="zh-CN" altLang="en-US"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系统</a:t>
            </a:r>
            <a:r>
              <a:rPr lang="zh-CN" altLang="en-US" b="1" dirty="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“网络航母”</a:t>
            </a:r>
            <a:r>
              <a:rPr lang="en-US" altLang="zh-CN" b="1" dirty="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a:t>
            </a:r>
            <a:r>
              <a:rPr lang="zh-CN" altLang="en-US" b="1" dirty="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辅助网络部队执行情报侦察、网络攻击等行动</a:t>
            </a:r>
            <a:r>
              <a:rPr lang="zh-CN" altLang="en-US" b="1" dirty="0">
                <a:solidFill>
                  <a:schemeClr val="tx1"/>
                </a:solidFill>
                <a:latin typeface="微软雅黑" panose="020B0503020204020204" charset="-122"/>
                <a:ea typeface="微软雅黑" panose="020B0503020204020204" charset="-122"/>
                <a:sym typeface="+mn-ea"/>
              </a:rPr>
              <a:t>。</a:t>
            </a:r>
            <a:endParaRPr lang="zh-CN" altLang="en-US" b="1" dirty="0">
              <a:solidFill>
                <a:schemeClr val="tx1"/>
              </a:solidFill>
              <a:latin typeface="微软雅黑" panose="020B0503020204020204" charset="-122"/>
              <a:ea typeface="微软雅黑" panose="020B0503020204020204" charset="-122"/>
              <a:sym typeface="+mn-ea"/>
            </a:endParaRPr>
          </a:p>
          <a:p>
            <a:pPr eaLnBrk="1" hangingPunct="1"/>
            <a:endParaRPr lang="en-US" altLang="zh-CN" dirty="0" smtClean="0">
              <a:solidFill>
                <a:schemeClr val="tx1"/>
              </a:solidFill>
            </a:endParaRPr>
          </a:p>
          <a:p>
            <a:pPr eaLnBrk="1" hangingPunct="1">
              <a:defRPr/>
            </a:pPr>
            <a:r>
              <a:rPr lang="zh-CN" altLang="en-US" b="1" dirty="0" smtClean="0">
                <a:solidFill>
                  <a:schemeClr val="tx1"/>
                </a:solidFill>
                <a:latin typeface="Arial" panose="020B0604020202020204" pitchFamily="34" charset="0"/>
                <a:sym typeface="+mn-ea"/>
              </a:rPr>
              <a:t> </a:t>
            </a:r>
            <a:r>
              <a:rPr lang="en-US" altLang="zh-CN" b="1" dirty="0" smtClean="0">
                <a:solidFill>
                  <a:schemeClr val="tx1"/>
                </a:solidFill>
                <a:latin typeface="Arial" panose="020B0604020202020204" pitchFamily="34" charset="0"/>
                <a:sym typeface="+mn-ea"/>
              </a:rPr>
              <a:t>      </a:t>
            </a:r>
            <a:r>
              <a:rPr lang="zh-CN" altLang="en-US" b="1" dirty="0" smtClean="0">
                <a:solidFill>
                  <a:schemeClr val="tx2"/>
                </a:solidFill>
                <a:latin typeface="Arial" panose="020B0604020202020204" pitchFamily="34" charset="0"/>
                <a:sym typeface="+mn-ea"/>
              </a:rPr>
              <a:t>分享关于俄乌冲突中网络攻击的一些文章</a:t>
            </a:r>
            <a:endParaRPr lang="zh-CN" altLang="en-US" b="1" dirty="0" smtClean="0">
              <a:solidFill>
                <a:schemeClr val="tx2"/>
              </a:solidFill>
              <a:latin typeface="Arial" panose="020B0604020202020204" pitchFamily="34" charset="0"/>
              <a:sym typeface="+mn-ea"/>
            </a:endParaRPr>
          </a:p>
          <a:p>
            <a:pPr eaLnBrk="1" hangingPunct="1">
              <a:defRPr/>
            </a:pPr>
            <a:r>
              <a:rPr lang="en-US" altLang="zh-CN" b="1" dirty="0" smtClean="0">
                <a:solidFill>
                  <a:schemeClr val="tx1"/>
                </a:solidFill>
                <a:latin typeface="Arial" panose="020B0604020202020204" pitchFamily="34" charset="0"/>
                <a:sym typeface="+mn-ea"/>
              </a:rPr>
              <a:t>       </a:t>
            </a:r>
            <a:r>
              <a:rPr lang="zh-CN" altLang="en-US" b="1" dirty="0" smtClean="0">
                <a:solidFill>
                  <a:schemeClr val="tx2"/>
                </a:solidFill>
                <a:latin typeface="Arial" panose="020B0604020202020204" pitchFamily="34" charset="0"/>
                <a:sym typeface="+mn-ea"/>
              </a:rPr>
              <a:t>分享一些专业学习的微信订阅号</a:t>
            </a:r>
            <a:endParaRPr lang="zh-CN" altLang="en-US" b="1" dirty="0" smtClean="0">
              <a:solidFill>
                <a:schemeClr val="tx1"/>
              </a:solidFill>
              <a:latin typeface="Arial" panose="020B0604020202020204" pitchFamily="34" charset="0"/>
              <a:sym typeface="+mn-ea"/>
            </a:endParaRPr>
          </a:p>
          <a:p>
            <a:pPr eaLnBrk="1" hangingPunct="1">
              <a:defRPr/>
            </a:pPr>
            <a:r>
              <a:rPr lang="en-US" altLang="zh-CN" b="1" dirty="0" smtClean="0">
                <a:solidFill>
                  <a:schemeClr val="tx1"/>
                </a:solidFill>
                <a:latin typeface="Arial" panose="020B0604020202020204" pitchFamily="34" charset="0"/>
                <a:sym typeface="+mn-ea"/>
              </a:rPr>
              <a:t>	</a:t>
            </a:r>
            <a:endParaRPr lang="en-US" altLang="zh-CN" b="1" dirty="0" smtClean="0">
              <a:solidFill>
                <a:schemeClr val="tx1"/>
              </a:solidFill>
              <a:latin typeface="Arial" panose="020B0604020202020204" pitchFamily="34" charset="0"/>
              <a:sym typeface="+mn-ea"/>
            </a:endParaRPr>
          </a:p>
        </p:txBody>
      </p:sp>
      <p:sp>
        <p:nvSpPr>
          <p:cNvPr id="7" name="Rectangle 2"/>
          <p:cNvSpPr txBox="1">
            <a:spLocks noChangeArrowheads="1"/>
          </p:cNvSpPr>
          <p:nvPr/>
        </p:nvSpPr>
        <p:spPr bwMode="white">
          <a:xfrm>
            <a:off x="838200" y="152400"/>
            <a:ext cx="7327900" cy="563563"/>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zh-CN" sz="3200" dirty="0" smtClean="0">
                <a:solidFill>
                  <a:schemeClr val="bg1"/>
                </a:solidFill>
                <a:latin typeface="Verdana" panose="020B0604030504040204" pitchFamily="34" charset="0"/>
              </a:rPr>
              <a:t>课程导学</a:t>
            </a:r>
            <a:endParaRPr lang="zh-CN" sz="3200" dirty="0" smtClean="0">
              <a:solidFill>
                <a:schemeClr val="bg1"/>
              </a:solidFill>
              <a:effectLst>
                <a:outerShdw blurRad="38100" dist="38100" dir="2700000" algn="tl">
                  <a:srgbClr val="C0C0C0"/>
                </a:outerShdw>
              </a:effectLs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内容占位符 13"/>
          <p:cNvSpPr>
            <a:spLocks noGrp="1" noChangeArrowheads="1"/>
          </p:cNvSpPr>
          <p:nvPr>
            <p:ph idx="4294967295"/>
          </p:nvPr>
        </p:nvSpPr>
        <p:spPr>
          <a:xfrm>
            <a:off x="431800" y="1196975"/>
            <a:ext cx="8040688" cy="947738"/>
          </a:xfrm>
        </p:spPr>
        <p:txBody>
          <a:bodyPr/>
          <a:lstStyle/>
          <a:p>
            <a:pPr algn="r" eaLnBrk="1" hangingPunct="1">
              <a:spcAft>
                <a:spcPts val="600"/>
              </a:spcAft>
              <a:buFont typeface="Wingdings" panose="05000000000000000000" pitchFamily="2" charset="2"/>
              <a:buNone/>
            </a:pPr>
            <a:endParaRPr lang="en-US" altLang="zh-CN" sz="2400" b="0" smtClean="0">
              <a:solidFill>
                <a:srgbClr val="FF0000"/>
              </a:solidFill>
              <a:latin typeface="Calibri" panose="020F0502020204030204" pitchFamily="34" charset="0"/>
              <a:ea typeface="黑体" panose="02010609060101010101" pitchFamily="49" charset="-122"/>
            </a:endParaRPr>
          </a:p>
          <a:p>
            <a:pPr algn="r" eaLnBrk="1" hangingPunct="1">
              <a:buFont typeface="Wingdings" panose="05000000000000000000" pitchFamily="2" charset="2"/>
              <a:buNone/>
            </a:pPr>
            <a:r>
              <a:rPr lang="zh-CN" altLang="en-US" sz="1800" smtClean="0">
                <a:solidFill>
                  <a:srgbClr val="FF0000"/>
                </a:solidFill>
                <a:ea typeface="黑体" panose="02010609060101010101" pitchFamily="49" charset="-122"/>
              </a:rPr>
              <a:t> </a:t>
            </a:r>
            <a:endParaRPr lang="en-US" altLang="zh-CN" sz="1800" smtClean="0">
              <a:ea typeface="黑体" panose="02010609060101010101" pitchFamily="49" charset="-122"/>
            </a:endParaRPr>
          </a:p>
          <a:p>
            <a:pPr algn="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a typeface="黑体" panose="02010609060101010101" pitchFamily="49" charset="-122"/>
            </a:endParaRPr>
          </a:p>
          <a:p>
            <a:pPr algn="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a typeface="黑体" panose="02010609060101010101" pitchFamily="49" charset="-122"/>
            </a:endParaRPr>
          </a:p>
          <a:p>
            <a:pPr algn="r" eaLnBrk="1" hangingPunct="1">
              <a:buFont typeface="Wingdings" panose="05000000000000000000" pitchFamily="2" charset="2"/>
              <a:buNone/>
            </a:pPr>
            <a:r>
              <a:rPr lang="zh-CN" altLang="en-US" sz="1800" smtClean="0">
                <a:solidFill>
                  <a:srgbClr val="0000CC"/>
                </a:solidFill>
                <a:latin typeface="Times New Roman" panose="02020603050405020304" pitchFamily="18" charset="0"/>
                <a:ea typeface="黑体" panose="02010609060101010101" pitchFamily="49" charset="-122"/>
              </a:rPr>
              <a:t>  </a:t>
            </a:r>
            <a:endParaRPr lang="en-US" altLang="zh-CN" sz="1800" b="0" smtClean="0">
              <a:solidFill>
                <a:schemeClr val="tx1"/>
              </a:solidFill>
              <a:latin typeface="Times New Roman" panose="02020603050405020304" pitchFamily="18" charset="0"/>
              <a:ea typeface="黑体" panose="02010609060101010101" pitchFamily="49" charset="-122"/>
            </a:endParaRPr>
          </a:p>
          <a:p>
            <a:pPr algn="r" eaLnBrk="1" hangingPunct="1">
              <a:buFont typeface="Wingdings" panose="05000000000000000000" pitchFamily="2" charset="2"/>
              <a:buNone/>
            </a:pPr>
            <a:endParaRPr lang="en-US" altLang="zh-CN" sz="1800" smtClean="0">
              <a:ea typeface="黑体" panose="02010609060101010101" pitchFamily="49" charset="-122"/>
            </a:endParaRPr>
          </a:p>
        </p:txBody>
      </p:sp>
      <p:sp>
        <p:nvSpPr>
          <p:cNvPr id="15362" name="副标题 2"/>
          <p:cNvSpPr txBox="1">
            <a:spLocks noChangeArrowheads="1"/>
          </p:cNvSpPr>
          <p:nvPr/>
        </p:nvSpPr>
        <p:spPr bwMode="auto">
          <a:xfrm>
            <a:off x="304800" y="1066800"/>
            <a:ext cx="6400800" cy="528638"/>
          </a:xfrm>
          <a:prstGeom prst="rect">
            <a:avLst/>
          </a:prstGeom>
          <a:noFill/>
          <a:ln w="9525">
            <a:noFill/>
            <a:miter lim="800000"/>
          </a:ln>
        </p:spPr>
        <p:txBody>
          <a:bodyPr/>
          <a:lstStyle/>
          <a:p>
            <a:pPr marL="342900" indent="-342900" eaLnBrk="0" hangingPunct="0">
              <a:spcBef>
                <a:spcPct val="20000"/>
              </a:spcBef>
              <a:buClr>
                <a:schemeClr val="hlink"/>
              </a:buClr>
              <a:buFont typeface="Wingdings" panose="05000000000000000000" pitchFamily="2" charset="2"/>
              <a:buChar char="n"/>
            </a:pPr>
            <a:endParaRPr lang="zh-CN" altLang="en-US" sz="2200" b="1">
              <a:solidFill>
                <a:schemeClr val="tx2"/>
              </a:solidFill>
              <a:latin typeface="宋体" panose="02010600030101010101" pitchFamily="2" charset="-122"/>
            </a:endParaRPr>
          </a:p>
        </p:txBody>
      </p:sp>
      <p:sp>
        <p:nvSpPr>
          <p:cNvPr id="9" name=" 167"/>
          <p:cNvSpPr/>
          <p:nvPr/>
        </p:nvSpPr>
        <p:spPr>
          <a:xfrm>
            <a:off x="3707130" y="2366010"/>
            <a:ext cx="5184775" cy="4422140"/>
          </a:xfrm>
          <a:prstGeom prst="roundRect">
            <a:avLst>
              <a:gd name="adj" fmla="val 22731"/>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eaLnBrk="1" hangingPunct="1"/>
            <a:r>
              <a:rPr lang="en-US" altLang="zh-CN" b="1" dirty="0" smtClean="0">
                <a:solidFill>
                  <a:schemeClr val="tx1"/>
                </a:solidFill>
                <a:sym typeface="+mn-ea"/>
              </a:rPr>
              <a:t>	</a:t>
            </a:r>
            <a:r>
              <a:rPr b="1" dirty="0">
                <a:solidFill>
                  <a:schemeClr val="tx1"/>
                </a:solidFill>
                <a:sym typeface="+mn-ea"/>
              </a:rPr>
              <a:t>党的十八大以来，以习近平同志为核心的党中央坚持从发展中国特色社会主义、实现中华民族伟大复兴中国梦的战略高度，系统部署和全面推进网络安全和信息化工作。我国互联网发展和治理不断开创新局面，网络空间日渐清朗，信息化成果惠及亿万群众，网络安全保障能力不断增强，网络空间命运共同体主张获得国际社会广泛认同。</a:t>
            </a:r>
            <a:endParaRPr b="1" dirty="0">
              <a:solidFill>
                <a:schemeClr val="tx1"/>
              </a:solidFill>
              <a:sym typeface="+mn-ea"/>
            </a:endParaRPr>
          </a:p>
          <a:p>
            <a:pPr eaLnBrk="1" hangingPunct="1">
              <a:defRPr/>
            </a:pPr>
            <a:r>
              <a:rPr lang="zh-CN" altLang="en-US" b="1" dirty="0" smtClean="0">
                <a:solidFill>
                  <a:schemeClr val="tx1"/>
                </a:solidFill>
                <a:latin typeface="Arial" panose="020B0604020202020204" pitchFamily="34" charset="0"/>
                <a:sym typeface="+mn-ea"/>
              </a:rPr>
              <a:t> </a:t>
            </a:r>
            <a:endParaRPr lang="zh-CN" altLang="en-US" b="1" dirty="0" smtClean="0">
              <a:solidFill>
                <a:schemeClr val="tx1"/>
              </a:solidFill>
              <a:latin typeface="Arial" panose="020B0604020202020204" pitchFamily="34" charset="0"/>
              <a:sym typeface="+mn-ea"/>
            </a:endParaRPr>
          </a:p>
        </p:txBody>
      </p:sp>
      <p:sp>
        <p:nvSpPr>
          <p:cNvPr id="7" name="Rectangle 2"/>
          <p:cNvSpPr txBox="1">
            <a:spLocks noChangeArrowheads="1"/>
          </p:cNvSpPr>
          <p:nvPr/>
        </p:nvSpPr>
        <p:spPr bwMode="white">
          <a:xfrm>
            <a:off x="838200" y="152400"/>
            <a:ext cx="7327900" cy="563563"/>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zh-CN" sz="3200" dirty="0" smtClean="0">
                <a:solidFill>
                  <a:schemeClr val="bg1"/>
                </a:solidFill>
                <a:latin typeface="Verdana" panose="020B0604030504040204" pitchFamily="34" charset="0"/>
              </a:rPr>
              <a:t>课程导学</a:t>
            </a:r>
            <a:endParaRPr lang="zh-CN" sz="3200" dirty="0" smtClean="0">
              <a:solidFill>
                <a:schemeClr val="bg1"/>
              </a:solidFill>
              <a:effectLst>
                <a:outerShdw blurRad="38100" dist="38100" dir="2700000" algn="tl">
                  <a:srgbClr val="C0C0C0"/>
                </a:outerShdw>
              </a:effectLst>
            </a:endParaRPr>
          </a:p>
        </p:txBody>
      </p:sp>
      <p:pic>
        <p:nvPicPr>
          <p:cNvPr id="2" name="图片 1" descr="15658938418282410"/>
          <p:cNvPicPr>
            <a:picLocks noChangeAspect="1"/>
          </p:cNvPicPr>
          <p:nvPr/>
        </p:nvPicPr>
        <p:blipFill>
          <a:blip r:embed="rId1"/>
          <a:stretch>
            <a:fillRect/>
          </a:stretch>
        </p:blipFill>
        <p:spPr>
          <a:xfrm>
            <a:off x="102870" y="1066800"/>
            <a:ext cx="2736850" cy="2668270"/>
          </a:xfrm>
          <a:prstGeom prst="rect">
            <a:avLst/>
          </a:prstGeom>
        </p:spPr>
      </p:pic>
      <p:pic>
        <p:nvPicPr>
          <p:cNvPr id="3" name="图片 2"/>
          <p:cNvPicPr>
            <a:picLocks noChangeAspect="1"/>
          </p:cNvPicPr>
          <p:nvPr/>
        </p:nvPicPr>
        <p:blipFill>
          <a:blip r:embed="rId2"/>
          <a:stretch>
            <a:fillRect/>
          </a:stretch>
        </p:blipFill>
        <p:spPr>
          <a:xfrm>
            <a:off x="2957195" y="1287145"/>
            <a:ext cx="6096000" cy="1079500"/>
          </a:xfrm>
          <a:prstGeom prst="rect">
            <a:avLst/>
          </a:prstGeom>
        </p:spPr>
      </p:pic>
      <p:sp>
        <p:nvSpPr>
          <p:cNvPr id="4" name=" 167"/>
          <p:cNvSpPr/>
          <p:nvPr/>
        </p:nvSpPr>
        <p:spPr>
          <a:xfrm>
            <a:off x="304800" y="3735070"/>
            <a:ext cx="3303270" cy="3023870"/>
          </a:xfrm>
          <a:prstGeom prst="roundRect">
            <a:avLst>
              <a:gd name="adj" fmla="val 22731"/>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eaLnBrk="1" hangingPunct="1"/>
            <a:r>
              <a:rPr lang="en-US" altLang="zh-CN" b="1" dirty="0" smtClean="0">
                <a:solidFill>
                  <a:schemeClr val="tx1"/>
                </a:solidFill>
                <a:sym typeface="+mn-ea"/>
              </a:rPr>
              <a:t>	</a:t>
            </a:r>
            <a:r>
              <a:rPr sz="2200" b="1" dirty="0">
                <a:solidFill>
                  <a:srgbClr val="FF0000"/>
                </a:solidFill>
                <a:sym typeface="+mn-ea"/>
              </a:rPr>
              <a:t>没有网络安全就没有国家安全</a:t>
            </a:r>
            <a:r>
              <a:rPr sz="2200" b="1" dirty="0">
                <a:solidFill>
                  <a:schemeClr val="tx1"/>
                </a:solidFill>
                <a:sym typeface="+mn-ea"/>
              </a:rPr>
              <a:t>，没有信息化就没有现代化。</a:t>
            </a:r>
            <a:endParaRPr sz="2200" b="1" dirty="0">
              <a:solidFill>
                <a:schemeClr val="tx1"/>
              </a:solidFill>
              <a:sym typeface="+mn-ea"/>
            </a:endParaRPr>
          </a:p>
          <a:p>
            <a:pPr eaLnBrk="1" hangingPunct="1"/>
            <a:r>
              <a:rPr sz="2200" b="1" dirty="0">
                <a:solidFill>
                  <a:schemeClr val="tx1"/>
                </a:solidFill>
                <a:sym typeface="+mn-ea"/>
              </a:rPr>
              <a:t>——2014年2月27日，在中央网络安全和信息化领导小组第一次会议上的讲话</a:t>
            </a:r>
            <a:endParaRPr sz="2200" b="1" dirty="0">
              <a:solidFill>
                <a:schemeClr val="tx1"/>
              </a:solidFill>
              <a:sym typeface="+mn-ea"/>
            </a:endParaRPr>
          </a:p>
          <a:p>
            <a:pPr eaLnBrk="1" hangingPunct="1">
              <a:defRPr/>
            </a:pPr>
            <a:r>
              <a:rPr lang="zh-CN" altLang="en-US" b="1" dirty="0" smtClean="0">
                <a:solidFill>
                  <a:schemeClr val="tx1"/>
                </a:solidFill>
                <a:latin typeface="Arial" panose="020B0604020202020204" pitchFamily="34" charset="0"/>
                <a:sym typeface="+mn-ea"/>
              </a:rPr>
              <a:t> </a:t>
            </a:r>
            <a:endParaRPr lang="zh-CN" altLang="en-US" b="1" dirty="0" smtClean="0">
              <a:solidFill>
                <a:schemeClr val="tx1"/>
              </a:solidFill>
              <a:latin typeface="Arial" panose="020B0604020202020204" pitchFamily="34" charset="0"/>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内容占位符 13"/>
          <p:cNvSpPr>
            <a:spLocks noGrp="1" noChangeArrowheads="1"/>
          </p:cNvSpPr>
          <p:nvPr>
            <p:ph idx="4294967295"/>
          </p:nvPr>
        </p:nvSpPr>
        <p:spPr>
          <a:xfrm>
            <a:off x="431800" y="1196975"/>
            <a:ext cx="8040688" cy="947738"/>
          </a:xfrm>
        </p:spPr>
        <p:txBody>
          <a:bodyPr/>
          <a:lstStyle/>
          <a:p>
            <a:pPr algn="r" eaLnBrk="1" hangingPunct="1">
              <a:spcAft>
                <a:spcPts val="600"/>
              </a:spcAft>
              <a:buFont typeface="Wingdings" panose="05000000000000000000" pitchFamily="2" charset="2"/>
              <a:buNone/>
            </a:pPr>
            <a:endParaRPr lang="en-US" altLang="zh-CN" sz="2400" b="0" smtClean="0">
              <a:solidFill>
                <a:srgbClr val="FF0000"/>
              </a:solidFill>
              <a:latin typeface="Calibri" panose="020F0502020204030204" pitchFamily="34" charset="0"/>
              <a:ea typeface="黑体" panose="02010609060101010101" pitchFamily="49" charset="-122"/>
            </a:endParaRPr>
          </a:p>
          <a:p>
            <a:pPr algn="r" eaLnBrk="1" hangingPunct="1">
              <a:buFont typeface="Wingdings" panose="05000000000000000000" pitchFamily="2" charset="2"/>
              <a:buNone/>
            </a:pPr>
            <a:r>
              <a:rPr lang="zh-CN" altLang="en-US" sz="1800" smtClean="0">
                <a:solidFill>
                  <a:srgbClr val="FF0000"/>
                </a:solidFill>
                <a:ea typeface="黑体" panose="02010609060101010101" pitchFamily="49" charset="-122"/>
              </a:rPr>
              <a:t> </a:t>
            </a:r>
            <a:endParaRPr lang="en-US" altLang="zh-CN" sz="1800" smtClean="0">
              <a:ea typeface="黑体" panose="02010609060101010101" pitchFamily="49" charset="-122"/>
            </a:endParaRPr>
          </a:p>
          <a:p>
            <a:pPr algn="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a typeface="黑体" panose="02010609060101010101" pitchFamily="49" charset="-122"/>
            </a:endParaRPr>
          </a:p>
          <a:p>
            <a:pPr algn="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a typeface="黑体" panose="02010609060101010101" pitchFamily="49" charset="-122"/>
            </a:endParaRPr>
          </a:p>
          <a:p>
            <a:pPr algn="r" eaLnBrk="1" hangingPunct="1">
              <a:buFont typeface="Wingdings" panose="05000000000000000000" pitchFamily="2" charset="2"/>
              <a:buNone/>
            </a:pPr>
            <a:r>
              <a:rPr lang="zh-CN" altLang="en-US" sz="1800" smtClean="0">
                <a:solidFill>
                  <a:srgbClr val="0000CC"/>
                </a:solidFill>
                <a:latin typeface="Times New Roman" panose="02020603050405020304" pitchFamily="18" charset="0"/>
                <a:ea typeface="黑体" panose="02010609060101010101" pitchFamily="49" charset="-122"/>
              </a:rPr>
              <a:t>  </a:t>
            </a:r>
            <a:endParaRPr lang="en-US" altLang="zh-CN" sz="1800" b="0" smtClean="0">
              <a:solidFill>
                <a:schemeClr val="tx1"/>
              </a:solidFill>
              <a:latin typeface="Times New Roman" panose="02020603050405020304" pitchFamily="18" charset="0"/>
              <a:ea typeface="黑体" panose="02010609060101010101" pitchFamily="49" charset="-122"/>
            </a:endParaRPr>
          </a:p>
          <a:p>
            <a:pPr algn="r" eaLnBrk="1" hangingPunct="1">
              <a:buFont typeface="Wingdings" panose="05000000000000000000" pitchFamily="2" charset="2"/>
              <a:buNone/>
            </a:pPr>
            <a:endParaRPr lang="en-US" altLang="zh-CN" sz="1800" smtClean="0">
              <a:ea typeface="黑体" panose="02010609060101010101" pitchFamily="49" charset="-122"/>
            </a:endParaRPr>
          </a:p>
        </p:txBody>
      </p:sp>
      <p:sp>
        <p:nvSpPr>
          <p:cNvPr id="15362" name="副标题 2"/>
          <p:cNvSpPr txBox="1">
            <a:spLocks noChangeArrowheads="1"/>
          </p:cNvSpPr>
          <p:nvPr/>
        </p:nvSpPr>
        <p:spPr bwMode="auto">
          <a:xfrm>
            <a:off x="304800" y="1066800"/>
            <a:ext cx="6400800" cy="528638"/>
          </a:xfrm>
          <a:prstGeom prst="rect">
            <a:avLst/>
          </a:prstGeom>
          <a:noFill/>
          <a:ln w="9525">
            <a:noFill/>
            <a:miter lim="800000"/>
          </a:ln>
        </p:spPr>
        <p:txBody>
          <a:bodyPr/>
          <a:lstStyle/>
          <a:p>
            <a:pPr marL="342900" indent="-342900" eaLnBrk="0" hangingPunct="0">
              <a:spcBef>
                <a:spcPct val="20000"/>
              </a:spcBef>
              <a:buClr>
                <a:schemeClr val="hlink"/>
              </a:buClr>
              <a:buFont typeface="Wingdings" panose="05000000000000000000" pitchFamily="2" charset="2"/>
              <a:buChar char="n"/>
            </a:pPr>
            <a:endParaRPr lang="zh-CN" altLang="en-US" sz="2200" b="1">
              <a:solidFill>
                <a:schemeClr val="tx2"/>
              </a:solidFill>
              <a:latin typeface="宋体" panose="02010600030101010101" pitchFamily="2" charset="-122"/>
            </a:endParaRPr>
          </a:p>
        </p:txBody>
      </p:sp>
      <p:sp>
        <p:nvSpPr>
          <p:cNvPr id="9" name=" 167"/>
          <p:cNvSpPr/>
          <p:nvPr/>
        </p:nvSpPr>
        <p:spPr>
          <a:xfrm>
            <a:off x="3707130" y="2366010"/>
            <a:ext cx="5184775" cy="4422140"/>
          </a:xfrm>
          <a:prstGeom prst="roundRect">
            <a:avLst>
              <a:gd name="adj" fmla="val 22731"/>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hangingPunct="1"/>
            <a:r>
              <a:rPr lang="en-US" altLang="zh-CN" sz="1800" b="1" dirty="0" smtClean="0">
                <a:solidFill>
                  <a:schemeClr val="tx1"/>
                </a:solidFill>
                <a:sym typeface="+mn-ea"/>
              </a:rPr>
              <a:t>习近平的网络安全观http://www.cac.gov.cn/2018-02/02/c_1122358894.htm</a:t>
            </a:r>
            <a:endParaRPr lang="en-US" altLang="zh-CN" sz="1800" b="1" dirty="0" smtClean="0">
              <a:solidFill>
                <a:schemeClr val="tx1"/>
              </a:solidFill>
              <a:sym typeface="+mn-ea"/>
            </a:endParaRPr>
          </a:p>
          <a:p>
            <a:pPr algn="l" eaLnBrk="1" hangingPunct="1"/>
            <a:endParaRPr lang="en-US" altLang="zh-CN" sz="1800" b="1" dirty="0" smtClean="0">
              <a:solidFill>
                <a:schemeClr val="tx1"/>
              </a:solidFill>
              <a:sym typeface="+mn-ea"/>
            </a:endParaRPr>
          </a:p>
          <a:p>
            <a:pPr algn="l" eaLnBrk="1" hangingPunct="1"/>
            <a:r>
              <a:rPr lang="en-US" altLang="zh-CN" sz="1800" b="1" dirty="0" smtClean="0">
                <a:solidFill>
                  <a:schemeClr val="tx1"/>
                </a:solidFill>
                <a:sym typeface="+mn-ea"/>
              </a:rPr>
              <a:t>习近平谈网络安全和信息化</a:t>
            </a:r>
            <a:endParaRPr lang="en-US" altLang="zh-CN" sz="1800" b="1" dirty="0" smtClean="0">
              <a:solidFill>
                <a:schemeClr val="tx1"/>
              </a:solidFill>
              <a:sym typeface="+mn-ea"/>
            </a:endParaRPr>
          </a:p>
          <a:p>
            <a:pPr algn="l" eaLnBrk="1" hangingPunct="1"/>
            <a:r>
              <a:rPr lang="en-US" altLang="zh-CN" sz="1800" b="1" dirty="0" smtClean="0">
                <a:solidFill>
                  <a:schemeClr val="tx1"/>
                </a:solidFill>
                <a:sym typeface="+mn-ea"/>
              </a:rPr>
              <a:t>http://www.cac.gov.cn/ztzl/xzt/10/zt/</a:t>
            </a:r>
            <a:endParaRPr lang="en-US" altLang="zh-CN" sz="1800" b="1" dirty="0" smtClean="0">
              <a:solidFill>
                <a:schemeClr val="tx1"/>
              </a:solidFill>
              <a:sym typeface="+mn-ea"/>
            </a:endParaRPr>
          </a:p>
          <a:p>
            <a:pPr algn="l" eaLnBrk="1" hangingPunct="1"/>
            <a:endParaRPr lang="en-US" altLang="zh-CN" sz="1800" b="1" dirty="0" smtClean="0">
              <a:solidFill>
                <a:schemeClr val="tx1"/>
              </a:solidFill>
              <a:sym typeface="+mn-ea"/>
            </a:endParaRPr>
          </a:p>
          <a:p>
            <a:pPr algn="l" eaLnBrk="1" hangingPunct="1"/>
            <a:r>
              <a:rPr lang="en-US" altLang="zh-CN" sz="1800" b="1" dirty="0" smtClean="0">
                <a:solidFill>
                  <a:schemeClr val="tx1"/>
                </a:solidFill>
                <a:sym typeface="+mn-ea"/>
              </a:rPr>
              <a:t>2022</a:t>
            </a:r>
            <a:r>
              <a:rPr lang="zh-CN" altLang="en-US" sz="1800" b="1" dirty="0" smtClean="0">
                <a:solidFill>
                  <a:schemeClr val="tx1"/>
                </a:solidFill>
                <a:sym typeface="+mn-ea"/>
              </a:rPr>
              <a:t>网络安全宣传周（</a:t>
            </a:r>
            <a:r>
              <a:rPr lang="en-US" altLang="zh-CN" sz="1800" b="1" dirty="0" smtClean="0">
                <a:solidFill>
                  <a:schemeClr val="tx1"/>
                </a:solidFill>
                <a:sym typeface="+mn-ea"/>
              </a:rPr>
              <a:t>9.5-9.11</a:t>
            </a:r>
            <a:r>
              <a:rPr lang="zh-CN" altLang="en-US" sz="1800" b="1" dirty="0" smtClean="0">
                <a:solidFill>
                  <a:schemeClr val="tx1"/>
                </a:solidFill>
                <a:sym typeface="+mn-ea"/>
              </a:rPr>
              <a:t>）</a:t>
            </a:r>
            <a:endParaRPr lang="zh-CN" altLang="en-US" sz="1800" b="1" dirty="0" smtClean="0">
              <a:solidFill>
                <a:schemeClr val="tx1"/>
              </a:solidFill>
              <a:sym typeface="+mn-ea"/>
            </a:endParaRPr>
          </a:p>
          <a:p>
            <a:pPr algn="l" eaLnBrk="1" hangingPunct="1"/>
            <a:r>
              <a:rPr lang="en-US" altLang="zh-CN" sz="1800" b="1" dirty="0" smtClean="0">
                <a:solidFill>
                  <a:schemeClr val="tx1"/>
                </a:solidFill>
                <a:sym typeface="+mn-ea"/>
              </a:rPr>
              <a:t>https://www.gjwlaqxcz.cn/app/home</a:t>
            </a:r>
            <a:endParaRPr lang="en-US" altLang="zh-CN" sz="1800" b="1" dirty="0" smtClean="0">
              <a:solidFill>
                <a:schemeClr val="tx1"/>
              </a:solidFill>
              <a:sym typeface="+mn-ea"/>
            </a:endParaRPr>
          </a:p>
          <a:p>
            <a:pPr algn="l" eaLnBrk="1" hangingPunct="1"/>
            <a:endParaRPr lang="en-US" altLang="zh-CN" b="1" dirty="0" smtClean="0">
              <a:solidFill>
                <a:schemeClr val="tx1"/>
              </a:solidFill>
              <a:sym typeface="+mn-ea"/>
            </a:endParaRPr>
          </a:p>
          <a:p>
            <a:pPr eaLnBrk="1" hangingPunct="1">
              <a:defRPr/>
            </a:pPr>
            <a:r>
              <a:rPr lang="zh-CN" altLang="en-US" b="1" dirty="0" smtClean="0">
                <a:solidFill>
                  <a:schemeClr val="tx1"/>
                </a:solidFill>
                <a:latin typeface="Arial" panose="020B0604020202020204" pitchFamily="34" charset="0"/>
                <a:sym typeface="+mn-ea"/>
              </a:rPr>
              <a:t> </a:t>
            </a:r>
            <a:endParaRPr lang="zh-CN" altLang="en-US" b="1" dirty="0" smtClean="0">
              <a:solidFill>
                <a:schemeClr val="tx1"/>
              </a:solidFill>
              <a:latin typeface="Arial" panose="020B0604020202020204" pitchFamily="34" charset="0"/>
              <a:sym typeface="+mn-ea"/>
            </a:endParaRPr>
          </a:p>
        </p:txBody>
      </p:sp>
      <p:sp>
        <p:nvSpPr>
          <p:cNvPr id="7" name="Rectangle 2"/>
          <p:cNvSpPr txBox="1">
            <a:spLocks noChangeArrowheads="1"/>
          </p:cNvSpPr>
          <p:nvPr/>
        </p:nvSpPr>
        <p:spPr bwMode="white">
          <a:xfrm>
            <a:off x="838200" y="152400"/>
            <a:ext cx="7327900" cy="563563"/>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zh-CN" sz="3200" dirty="0" smtClean="0">
                <a:solidFill>
                  <a:schemeClr val="bg1"/>
                </a:solidFill>
                <a:latin typeface="Verdana" panose="020B0604030504040204" pitchFamily="34" charset="0"/>
              </a:rPr>
              <a:t>课程导学</a:t>
            </a:r>
            <a:endParaRPr lang="zh-CN" sz="3200" dirty="0" smtClean="0">
              <a:solidFill>
                <a:schemeClr val="bg1"/>
              </a:solidFill>
              <a:effectLst>
                <a:outerShdw blurRad="38100" dist="38100" dir="2700000" algn="tl">
                  <a:srgbClr val="C0C0C0"/>
                </a:outerShdw>
              </a:effectLst>
            </a:endParaRPr>
          </a:p>
        </p:txBody>
      </p:sp>
      <p:pic>
        <p:nvPicPr>
          <p:cNvPr id="2" name="图片 1" descr="15658938418282410"/>
          <p:cNvPicPr>
            <a:picLocks noChangeAspect="1"/>
          </p:cNvPicPr>
          <p:nvPr/>
        </p:nvPicPr>
        <p:blipFill>
          <a:blip r:embed="rId1"/>
          <a:stretch>
            <a:fillRect/>
          </a:stretch>
        </p:blipFill>
        <p:spPr>
          <a:xfrm>
            <a:off x="102870" y="1066800"/>
            <a:ext cx="2736850" cy="2668270"/>
          </a:xfrm>
          <a:prstGeom prst="rect">
            <a:avLst/>
          </a:prstGeom>
        </p:spPr>
      </p:pic>
      <p:pic>
        <p:nvPicPr>
          <p:cNvPr id="3" name="图片 2"/>
          <p:cNvPicPr>
            <a:picLocks noChangeAspect="1"/>
          </p:cNvPicPr>
          <p:nvPr/>
        </p:nvPicPr>
        <p:blipFill>
          <a:blip r:embed="rId2"/>
          <a:stretch>
            <a:fillRect/>
          </a:stretch>
        </p:blipFill>
        <p:spPr>
          <a:xfrm>
            <a:off x="2957195" y="1287145"/>
            <a:ext cx="6096000" cy="1079500"/>
          </a:xfrm>
          <a:prstGeom prst="rect">
            <a:avLst/>
          </a:prstGeom>
        </p:spPr>
      </p:pic>
      <p:sp>
        <p:nvSpPr>
          <p:cNvPr id="4" name=" 167"/>
          <p:cNvSpPr/>
          <p:nvPr/>
        </p:nvSpPr>
        <p:spPr>
          <a:xfrm>
            <a:off x="304800" y="3735070"/>
            <a:ext cx="3303270" cy="3023870"/>
          </a:xfrm>
          <a:prstGeom prst="roundRect">
            <a:avLst>
              <a:gd name="adj" fmla="val 22731"/>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eaLnBrk="1" hangingPunct="1">
              <a:defRPr/>
            </a:pPr>
            <a:r>
              <a:rPr lang="zh-CN" altLang="en-US" b="1" dirty="0" smtClean="0">
                <a:solidFill>
                  <a:schemeClr val="tx1"/>
                </a:solidFill>
                <a:latin typeface="Arial" panose="020B0604020202020204" pitchFamily="34" charset="0"/>
                <a:sym typeface="+mn-ea"/>
              </a:rPr>
              <a:t> </a:t>
            </a:r>
            <a:endParaRPr lang="zh-CN" altLang="en-US" b="1" dirty="0" smtClean="0">
              <a:solidFill>
                <a:schemeClr val="tx1"/>
              </a:solidFill>
              <a:latin typeface="Arial" panose="020B0604020202020204" pitchFamily="34" charset="0"/>
              <a:sym typeface="+mn-ea"/>
            </a:endParaRPr>
          </a:p>
        </p:txBody>
      </p:sp>
      <p:pic>
        <p:nvPicPr>
          <p:cNvPr id="5" name="图片 4"/>
          <p:cNvPicPr>
            <a:picLocks noChangeAspect="1"/>
          </p:cNvPicPr>
          <p:nvPr/>
        </p:nvPicPr>
        <p:blipFill>
          <a:blip r:embed="rId3"/>
          <a:stretch>
            <a:fillRect/>
          </a:stretch>
        </p:blipFill>
        <p:spPr>
          <a:xfrm>
            <a:off x="636905" y="3789045"/>
            <a:ext cx="2639695" cy="292798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内容占位符 13"/>
          <p:cNvSpPr>
            <a:spLocks noGrp="1" noChangeArrowheads="1"/>
          </p:cNvSpPr>
          <p:nvPr>
            <p:ph idx="4294967295"/>
          </p:nvPr>
        </p:nvSpPr>
        <p:spPr>
          <a:xfrm>
            <a:off x="431800" y="1196975"/>
            <a:ext cx="8040688" cy="947738"/>
          </a:xfrm>
        </p:spPr>
        <p:txBody>
          <a:bodyPr/>
          <a:lstStyle/>
          <a:p>
            <a:pPr algn="r" eaLnBrk="1" hangingPunct="1">
              <a:spcAft>
                <a:spcPts val="600"/>
              </a:spcAft>
              <a:buFont typeface="Wingdings" panose="05000000000000000000" pitchFamily="2" charset="2"/>
              <a:buNone/>
            </a:pPr>
            <a:endParaRPr lang="en-US" altLang="zh-CN" sz="2400" b="0" smtClean="0">
              <a:solidFill>
                <a:srgbClr val="FF0000"/>
              </a:solidFill>
              <a:latin typeface="Calibri" panose="020F0502020204030204" pitchFamily="34" charset="0"/>
              <a:ea typeface="黑体" panose="02010609060101010101" pitchFamily="49" charset="-122"/>
            </a:endParaRPr>
          </a:p>
          <a:p>
            <a:pPr algn="r" eaLnBrk="1" hangingPunct="1">
              <a:buFont typeface="Wingdings" panose="05000000000000000000" pitchFamily="2" charset="2"/>
              <a:buNone/>
            </a:pPr>
            <a:r>
              <a:rPr lang="zh-CN" altLang="en-US" sz="1800" smtClean="0">
                <a:solidFill>
                  <a:srgbClr val="FF0000"/>
                </a:solidFill>
                <a:ea typeface="黑体" panose="02010609060101010101" pitchFamily="49" charset="-122"/>
              </a:rPr>
              <a:t> </a:t>
            </a:r>
            <a:endParaRPr lang="en-US" altLang="zh-CN" sz="1800" smtClean="0">
              <a:ea typeface="黑体" panose="02010609060101010101" pitchFamily="49" charset="-122"/>
            </a:endParaRPr>
          </a:p>
          <a:p>
            <a:pPr algn="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a typeface="黑体" panose="02010609060101010101" pitchFamily="49" charset="-122"/>
            </a:endParaRPr>
          </a:p>
          <a:p>
            <a:pPr algn="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a typeface="黑体" panose="02010609060101010101" pitchFamily="49" charset="-122"/>
            </a:endParaRPr>
          </a:p>
          <a:p>
            <a:pPr algn="r" eaLnBrk="1" hangingPunct="1">
              <a:buFont typeface="Wingdings" panose="05000000000000000000" pitchFamily="2" charset="2"/>
              <a:buNone/>
            </a:pPr>
            <a:r>
              <a:rPr lang="zh-CN" altLang="en-US" sz="1800" smtClean="0">
                <a:solidFill>
                  <a:srgbClr val="0000CC"/>
                </a:solidFill>
                <a:latin typeface="Times New Roman" panose="02020603050405020304" pitchFamily="18" charset="0"/>
                <a:ea typeface="黑体" panose="02010609060101010101" pitchFamily="49" charset="-122"/>
              </a:rPr>
              <a:t>  </a:t>
            </a:r>
            <a:endParaRPr lang="en-US" altLang="zh-CN" sz="1800" b="0" smtClean="0">
              <a:solidFill>
                <a:schemeClr val="tx1"/>
              </a:solidFill>
              <a:latin typeface="Times New Roman" panose="02020603050405020304" pitchFamily="18" charset="0"/>
              <a:ea typeface="黑体" panose="02010609060101010101" pitchFamily="49" charset="-122"/>
            </a:endParaRPr>
          </a:p>
          <a:p>
            <a:pPr algn="r" eaLnBrk="1" hangingPunct="1">
              <a:buFont typeface="Wingdings" panose="05000000000000000000" pitchFamily="2" charset="2"/>
              <a:buNone/>
            </a:pPr>
            <a:endParaRPr lang="en-US" altLang="zh-CN" sz="1800" smtClean="0">
              <a:ea typeface="黑体" panose="02010609060101010101" pitchFamily="49" charset="-122"/>
            </a:endParaRPr>
          </a:p>
        </p:txBody>
      </p:sp>
      <p:sp>
        <p:nvSpPr>
          <p:cNvPr id="15362" name="副标题 2"/>
          <p:cNvSpPr txBox="1">
            <a:spLocks noChangeArrowheads="1"/>
          </p:cNvSpPr>
          <p:nvPr/>
        </p:nvSpPr>
        <p:spPr bwMode="auto">
          <a:xfrm>
            <a:off x="304800" y="1066800"/>
            <a:ext cx="6400800" cy="528638"/>
          </a:xfrm>
          <a:prstGeom prst="rect">
            <a:avLst/>
          </a:prstGeom>
          <a:noFill/>
          <a:ln w="9525">
            <a:noFill/>
            <a:miter lim="800000"/>
          </a:ln>
        </p:spPr>
        <p:txBody>
          <a:bodyPr/>
          <a:lstStyle/>
          <a:p>
            <a:pPr marL="342900" indent="-342900" eaLnBrk="0" hangingPunct="0">
              <a:spcBef>
                <a:spcPct val="20000"/>
              </a:spcBef>
              <a:buClr>
                <a:schemeClr val="hlink"/>
              </a:buClr>
              <a:buFont typeface="Wingdings" panose="05000000000000000000" pitchFamily="2" charset="2"/>
              <a:buChar char="n"/>
            </a:pPr>
            <a:endParaRPr lang="zh-CN" altLang="en-US" sz="2200" b="1">
              <a:solidFill>
                <a:schemeClr val="tx2"/>
              </a:solidFill>
              <a:latin typeface="宋体" panose="02010600030101010101" pitchFamily="2" charset="-122"/>
            </a:endParaRPr>
          </a:p>
        </p:txBody>
      </p:sp>
      <p:sp>
        <p:nvSpPr>
          <p:cNvPr id="9" name=" 167"/>
          <p:cNvSpPr/>
          <p:nvPr/>
        </p:nvSpPr>
        <p:spPr>
          <a:xfrm>
            <a:off x="524510" y="1148080"/>
            <a:ext cx="8230870" cy="5568315"/>
          </a:xfrm>
          <a:prstGeom prst="roundRect">
            <a:avLst>
              <a:gd name="adj" fmla="val 22731"/>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eaLnBrk="1" hangingPunct="1"/>
            <a:r>
              <a:rPr lang="en-US" altLang="zh-CN" b="1" dirty="0" smtClean="0">
                <a:solidFill>
                  <a:schemeClr val="tx1"/>
                </a:solidFill>
                <a:sym typeface="+mn-ea"/>
              </a:rPr>
              <a:t>	</a:t>
            </a:r>
            <a:r>
              <a:rPr lang="en-US" altLang="zh-CN"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2014</a:t>
            </a:r>
            <a:r>
              <a:rPr lang="zh-CN" altLang="en-US"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年</a:t>
            </a:r>
            <a:r>
              <a:rPr lang="en-US" altLang="zh-CN"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2</a:t>
            </a:r>
            <a:r>
              <a:rPr lang="zh-CN" altLang="en-US"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月</a:t>
            </a:r>
            <a:r>
              <a:rPr lang="en-US" altLang="zh-CN"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27</a:t>
            </a:r>
            <a:r>
              <a:rPr lang="zh-CN" altLang="en-US"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日，</a:t>
            </a:r>
            <a:r>
              <a:rPr lang="zh-CN" altLang="en-US" b="1" dirty="0" smtClean="0">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中央网络安全和信息化领导小组</a:t>
            </a:r>
            <a:r>
              <a:rPr lang="zh-CN" altLang="en-US"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成立并召开第一次会议，习近平任组长，继中央全面深化改革领导小组和中央国家安全委员会后的第三个由最高领导人习近平牵头的超级机构。</a:t>
            </a:r>
            <a:endParaRPr lang="zh-CN" altLang="en-US"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endParaRPr>
          </a:p>
          <a:p>
            <a:pPr eaLnBrk="1" hangingPunct="1"/>
            <a:r>
              <a:rPr lang="en-US" altLang="zh-CN"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	2015</a:t>
            </a:r>
            <a:r>
              <a:rPr lang="zh-CN" altLang="en-US"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年</a:t>
            </a:r>
            <a:r>
              <a:rPr lang="en-US" altLang="zh-CN"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7</a:t>
            </a:r>
            <a:r>
              <a:rPr lang="zh-CN" altLang="en-US"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月</a:t>
            </a:r>
            <a:r>
              <a:rPr lang="en-US" altLang="zh-CN"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1</a:t>
            </a:r>
            <a:r>
              <a:rPr lang="zh-CN" altLang="en-US"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日，《中华人民共和国</a:t>
            </a:r>
            <a:r>
              <a:rPr lang="zh-CN" altLang="en-US" b="1" dirty="0" smtClean="0">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国家安全法</a:t>
            </a:r>
            <a:r>
              <a:rPr lang="zh-CN" altLang="en-US"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a:t>
            </a:r>
            <a:r>
              <a:rPr lang="zh-CN" altLang="en-US"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颁布实施</a:t>
            </a:r>
            <a:r>
              <a:rPr lang="zh-CN" altLang="en-US"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a:t>
            </a:r>
            <a:r>
              <a:rPr lang="zh-CN" altLang="en-US" sz="2000" b="1" dirty="0" smtClean="0">
                <a:solidFill>
                  <a:schemeClr val="tx2"/>
                </a:solidFill>
                <a:latin typeface="宋体" panose="02010600030101010101" pitchFamily="2" charset="-122"/>
                <a:ea typeface="宋体" panose="02010600030101010101" pitchFamily="2" charset="-122"/>
                <a:cs typeface="宋体" panose="02010600030101010101" pitchFamily="2" charset="-122"/>
                <a:sym typeface="+mn-ea"/>
              </a:rPr>
              <a:t>第二章第二十五条：国家建设网络与信息安全保障体系，提升网络与信息安全保护能力，加强网络和信息技术的创新研究和开发应用，实现网络和信息核心技术、关键基础设施和重要领域信息系统及数据的安全可控；加强网络管理，防范、制止和依法惩治网络攻击、网络入侵、网络窃密、散布违法有害信息等网络违法犯罪行为，维护国家网络空间主权、安全和发展利益。</a:t>
            </a:r>
            <a:endParaRPr lang="zh-CN" altLang="en-US" sz="2000" b="1" dirty="0" smtClean="0">
              <a:solidFill>
                <a:schemeClr val="tx2"/>
              </a:solidFill>
              <a:latin typeface="宋体" panose="02010600030101010101" pitchFamily="2" charset="-122"/>
              <a:ea typeface="宋体" panose="02010600030101010101" pitchFamily="2" charset="-122"/>
              <a:cs typeface="宋体" panose="02010600030101010101" pitchFamily="2" charset="-122"/>
              <a:sym typeface="+mn-ea"/>
            </a:endParaRPr>
          </a:p>
          <a:p>
            <a:pPr eaLnBrk="1" hangingPunct="1"/>
            <a:endParaRPr lang="zh-CN" altLang="en-US" sz="2000" b="1" dirty="0" smtClean="0">
              <a:solidFill>
                <a:schemeClr val="tx2"/>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7" name="Rectangle 2"/>
          <p:cNvSpPr txBox="1">
            <a:spLocks noChangeArrowheads="1"/>
          </p:cNvSpPr>
          <p:nvPr/>
        </p:nvSpPr>
        <p:spPr bwMode="white">
          <a:xfrm>
            <a:off x="838200" y="152400"/>
            <a:ext cx="7327900" cy="563563"/>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zh-CN" sz="3200" dirty="0" smtClean="0">
                <a:solidFill>
                  <a:schemeClr val="bg1"/>
                </a:solidFill>
                <a:latin typeface="Verdana" panose="020B0604030504040204" pitchFamily="34" charset="0"/>
              </a:rPr>
              <a:t>课程导学</a:t>
            </a:r>
            <a:endParaRPr lang="zh-CN" sz="3200" dirty="0" smtClean="0">
              <a:solidFill>
                <a:schemeClr val="bg1"/>
              </a:solidFill>
              <a:effectLst>
                <a:outerShdw blurRad="38100" dist="38100" dir="2700000" algn="tl">
                  <a:srgbClr val="C0C0C0"/>
                </a:outerShdw>
              </a:effectLs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内容占位符 13"/>
          <p:cNvSpPr>
            <a:spLocks noGrp="1" noChangeArrowheads="1"/>
          </p:cNvSpPr>
          <p:nvPr>
            <p:ph idx="4294967295"/>
          </p:nvPr>
        </p:nvSpPr>
        <p:spPr>
          <a:xfrm>
            <a:off x="431800" y="1196975"/>
            <a:ext cx="8040688" cy="947738"/>
          </a:xfrm>
        </p:spPr>
        <p:txBody>
          <a:bodyPr/>
          <a:lstStyle/>
          <a:p>
            <a:pPr algn="r" eaLnBrk="1" hangingPunct="1">
              <a:spcAft>
                <a:spcPts val="600"/>
              </a:spcAft>
              <a:buFont typeface="Wingdings" panose="05000000000000000000" pitchFamily="2" charset="2"/>
              <a:buNone/>
            </a:pPr>
            <a:endParaRPr lang="en-US" altLang="zh-CN" sz="2400" b="0" smtClean="0">
              <a:solidFill>
                <a:srgbClr val="FF0000"/>
              </a:solidFill>
              <a:latin typeface="Calibri" panose="020F0502020204030204" pitchFamily="34" charset="0"/>
              <a:ea typeface="黑体" panose="02010609060101010101" pitchFamily="49" charset="-122"/>
            </a:endParaRPr>
          </a:p>
          <a:p>
            <a:pPr algn="r" eaLnBrk="1" hangingPunct="1">
              <a:buFont typeface="Wingdings" panose="05000000000000000000" pitchFamily="2" charset="2"/>
              <a:buNone/>
            </a:pPr>
            <a:r>
              <a:rPr lang="zh-CN" altLang="en-US" sz="1800" smtClean="0">
                <a:solidFill>
                  <a:srgbClr val="FF0000"/>
                </a:solidFill>
                <a:ea typeface="黑体" panose="02010609060101010101" pitchFamily="49" charset="-122"/>
              </a:rPr>
              <a:t> </a:t>
            </a:r>
            <a:endParaRPr lang="en-US" altLang="zh-CN" sz="1800" smtClean="0">
              <a:ea typeface="黑体" panose="02010609060101010101" pitchFamily="49" charset="-122"/>
            </a:endParaRPr>
          </a:p>
          <a:p>
            <a:pPr algn="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a typeface="黑体" panose="02010609060101010101" pitchFamily="49" charset="-122"/>
            </a:endParaRPr>
          </a:p>
          <a:p>
            <a:pPr algn="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a typeface="黑体" panose="02010609060101010101" pitchFamily="49" charset="-122"/>
            </a:endParaRPr>
          </a:p>
          <a:p>
            <a:pPr algn="r" eaLnBrk="1" hangingPunct="1">
              <a:buFont typeface="Wingdings" panose="05000000000000000000" pitchFamily="2" charset="2"/>
              <a:buNone/>
            </a:pPr>
            <a:r>
              <a:rPr lang="zh-CN" altLang="en-US" sz="1800" smtClean="0">
                <a:solidFill>
                  <a:srgbClr val="0000CC"/>
                </a:solidFill>
                <a:latin typeface="Times New Roman" panose="02020603050405020304" pitchFamily="18" charset="0"/>
                <a:ea typeface="黑体" panose="02010609060101010101" pitchFamily="49" charset="-122"/>
              </a:rPr>
              <a:t>  </a:t>
            </a:r>
            <a:endParaRPr lang="en-US" altLang="zh-CN" sz="1800" b="0" smtClean="0">
              <a:solidFill>
                <a:schemeClr val="tx1"/>
              </a:solidFill>
              <a:latin typeface="Times New Roman" panose="02020603050405020304" pitchFamily="18" charset="0"/>
              <a:ea typeface="黑体" panose="02010609060101010101" pitchFamily="49" charset="-122"/>
            </a:endParaRPr>
          </a:p>
          <a:p>
            <a:pPr algn="r" eaLnBrk="1" hangingPunct="1">
              <a:buFont typeface="Wingdings" panose="05000000000000000000" pitchFamily="2" charset="2"/>
              <a:buNone/>
            </a:pPr>
            <a:endParaRPr lang="en-US" altLang="zh-CN" sz="1800" smtClean="0">
              <a:ea typeface="黑体" panose="02010609060101010101" pitchFamily="49" charset="-122"/>
            </a:endParaRPr>
          </a:p>
        </p:txBody>
      </p:sp>
      <p:sp>
        <p:nvSpPr>
          <p:cNvPr id="15362" name="副标题 2"/>
          <p:cNvSpPr txBox="1">
            <a:spLocks noChangeArrowheads="1"/>
          </p:cNvSpPr>
          <p:nvPr/>
        </p:nvSpPr>
        <p:spPr bwMode="auto">
          <a:xfrm>
            <a:off x="304800" y="1066800"/>
            <a:ext cx="6400800" cy="528638"/>
          </a:xfrm>
          <a:prstGeom prst="rect">
            <a:avLst/>
          </a:prstGeom>
          <a:noFill/>
          <a:ln w="9525">
            <a:noFill/>
            <a:miter lim="800000"/>
          </a:ln>
        </p:spPr>
        <p:txBody>
          <a:bodyPr/>
          <a:lstStyle/>
          <a:p>
            <a:pPr marL="342900" indent="-342900" eaLnBrk="0" hangingPunct="0">
              <a:spcBef>
                <a:spcPct val="20000"/>
              </a:spcBef>
              <a:buClr>
                <a:schemeClr val="hlink"/>
              </a:buClr>
              <a:buFont typeface="Wingdings" panose="05000000000000000000" pitchFamily="2" charset="2"/>
              <a:buChar char="n"/>
            </a:pPr>
            <a:endParaRPr lang="zh-CN" altLang="en-US" sz="2200" b="1">
              <a:solidFill>
                <a:schemeClr val="tx2"/>
              </a:solidFill>
              <a:latin typeface="宋体" panose="02010600030101010101" pitchFamily="2" charset="-122"/>
            </a:endParaRPr>
          </a:p>
        </p:txBody>
      </p:sp>
      <p:sp>
        <p:nvSpPr>
          <p:cNvPr id="9" name=" 167"/>
          <p:cNvSpPr/>
          <p:nvPr/>
        </p:nvSpPr>
        <p:spPr>
          <a:xfrm>
            <a:off x="524510" y="1148080"/>
            <a:ext cx="8230870" cy="5568315"/>
          </a:xfrm>
          <a:prstGeom prst="roundRect">
            <a:avLst>
              <a:gd name="adj" fmla="val 22731"/>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eaLnBrk="1" hangingPunct="1"/>
            <a:r>
              <a:rPr lang="en-US" altLang="zh-CN" b="1" dirty="0" smtClean="0">
                <a:solidFill>
                  <a:schemeClr val="tx1"/>
                </a:solidFill>
                <a:sym typeface="+mn-ea"/>
              </a:rPr>
              <a:t>	2016</a:t>
            </a:r>
            <a:r>
              <a:rPr lang="zh-CN" altLang="en-US" b="1" dirty="0" smtClean="0">
                <a:solidFill>
                  <a:schemeClr val="tx1"/>
                </a:solidFill>
                <a:sym typeface="+mn-ea"/>
              </a:rPr>
              <a:t>年</a:t>
            </a:r>
            <a:r>
              <a:rPr lang="en-US" altLang="zh-CN" b="1" dirty="0" smtClean="0">
                <a:solidFill>
                  <a:schemeClr val="tx1"/>
                </a:solidFill>
                <a:sym typeface="+mn-ea"/>
              </a:rPr>
              <a:t>4</a:t>
            </a:r>
            <a:r>
              <a:rPr lang="zh-CN" altLang="en-US" b="1" dirty="0" smtClean="0">
                <a:solidFill>
                  <a:schemeClr val="tx1"/>
                </a:solidFill>
                <a:sym typeface="+mn-ea"/>
              </a:rPr>
              <a:t>月</a:t>
            </a:r>
            <a:r>
              <a:rPr lang="en-US" altLang="zh-CN" b="1" dirty="0" smtClean="0">
                <a:solidFill>
                  <a:schemeClr val="tx1"/>
                </a:solidFill>
                <a:sym typeface="+mn-ea"/>
              </a:rPr>
              <a:t>19</a:t>
            </a:r>
            <a:r>
              <a:rPr lang="zh-CN" altLang="en-US" b="1" dirty="0" smtClean="0">
                <a:solidFill>
                  <a:schemeClr val="tx1"/>
                </a:solidFill>
                <a:sym typeface="+mn-ea"/>
              </a:rPr>
              <a:t>日，习近平主持召开</a:t>
            </a:r>
            <a:r>
              <a:rPr lang="en-US" altLang="zh-CN" b="1" dirty="0" smtClean="0">
                <a:solidFill>
                  <a:schemeClr val="tx1"/>
                </a:solidFill>
                <a:sym typeface="+mn-ea"/>
              </a:rPr>
              <a:t>网络安全和信息化工作座谈会</a:t>
            </a:r>
            <a:r>
              <a:rPr lang="zh-CN" altLang="en-US" b="1" dirty="0" smtClean="0">
                <a:solidFill>
                  <a:schemeClr val="tx1"/>
                </a:solidFill>
                <a:sym typeface="+mn-ea"/>
              </a:rPr>
              <a:t>并发表重要讲话，</a:t>
            </a:r>
            <a:r>
              <a:rPr lang="zh-CN" altLang="en-US" sz="1800" b="1" dirty="0" smtClean="0">
                <a:solidFill>
                  <a:schemeClr val="tx2"/>
                </a:solidFill>
                <a:sym typeface="+mn-ea"/>
              </a:rPr>
              <a:t>强调按照创新、协调、绿色、开放、共享的发展理念推动我国经济社会发展，是当前和今后一个时期我国发展的总要求和大趋势，我国网信事业发展要适应这个大趋势，在践行新发展理念上先行一步，推进网络强国建设，推动我国网信事业发展，让互联网更好造福国家和人民。</a:t>
            </a:r>
            <a:r>
              <a:rPr lang="en-US" altLang="zh-CN" b="1" dirty="0" smtClean="0">
                <a:solidFill>
                  <a:schemeClr val="tx1"/>
                </a:solidFill>
                <a:sym typeface="+mn-ea"/>
              </a:rPr>
              <a:t>	</a:t>
            </a:r>
            <a:endParaRPr lang="en-US" altLang="zh-CN" b="1" dirty="0" smtClean="0">
              <a:solidFill>
                <a:schemeClr val="tx1"/>
              </a:solidFill>
              <a:sym typeface="+mn-ea"/>
            </a:endParaRPr>
          </a:p>
          <a:p>
            <a:pPr eaLnBrk="1" hangingPunct="1"/>
            <a:r>
              <a:rPr lang="en-US" altLang="zh-CN"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	2016</a:t>
            </a:r>
            <a:r>
              <a:rPr lang="zh-CN" altLang="en-US"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年</a:t>
            </a:r>
            <a:r>
              <a:rPr lang="en-US" altLang="zh-CN"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11</a:t>
            </a:r>
            <a:r>
              <a:rPr lang="zh-CN" altLang="en-US"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月</a:t>
            </a:r>
            <a:r>
              <a:rPr lang="en-US" altLang="zh-CN"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7</a:t>
            </a:r>
            <a:r>
              <a:rPr lang="zh-CN" altLang="en-US"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日，</a:t>
            </a:r>
            <a:r>
              <a:rPr lang="zh-CN" altLang="en-US"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《中华人民共和国</a:t>
            </a:r>
            <a:r>
              <a:rPr lang="zh-CN" altLang="en-US" b="1" dirty="0" smtClean="0">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网络安全法</a:t>
            </a:r>
            <a:r>
              <a:rPr lang="zh-CN" altLang="en-US"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》通过</a:t>
            </a:r>
            <a:r>
              <a:rPr lang="zh-CN" altLang="en-US"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a:t>
            </a:r>
            <a:r>
              <a:rPr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2017年6月1日起施行</a:t>
            </a:r>
            <a:r>
              <a:rPr lang="zh-CN"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a:t>
            </a:r>
            <a:r>
              <a:rPr lang="zh-CN" sz="2000" b="1" dirty="0" smtClean="0">
                <a:solidFill>
                  <a:schemeClr val="tx2"/>
                </a:solidFill>
                <a:latin typeface="宋体" panose="02010600030101010101" pitchFamily="2" charset="-122"/>
                <a:ea typeface="宋体" panose="02010600030101010101" pitchFamily="2" charset="-122"/>
                <a:cs typeface="宋体" panose="02010600030101010101" pitchFamily="2" charset="-122"/>
                <a:sym typeface="+mn-ea"/>
              </a:rPr>
              <a:t>【要求课下浏览全文】</a:t>
            </a:r>
            <a:endParaRPr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endParaRPr>
          </a:p>
          <a:p>
            <a:pPr eaLnBrk="1" hangingPunct="1"/>
            <a:r>
              <a:rPr lang="en-US" altLang="zh-CN"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	2016</a:t>
            </a:r>
            <a:r>
              <a:rPr lang="zh-CN" altLang="en-US"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年</a:t>
            </a:r>
            <a:r>
              <a:rPr lang="en-US" altLang="zh-CN"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12月27日，经中央网络安全和信息化领导小组批准，国家互联网信息办公室发布《</a:t>
            </a:r>
            <a:r>
              <a:rPr lang="en-US" altLang="zh-CN" b="1" dirty="0" smtClean="0">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国家网络空间安全战略</a:t>
            </a:r>
            <a:r>
              <a:rPr lang="en-US" altLang="zh-CN"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a:t>
            </a:r>
            <a:r>
              <a:rPr lang="zh-CN" altLang="en-US" sz="2000" b="1" dirty="0" smtClean="0">
                <a:solidFill>
                  <a:schemeClr val="tx2"/>
                </a:solidFill>
                <a:latin typeface="宋体" panose="02010600030101010101" pitchFamily="2" charset="-122"/>
                <a:ea typeface="宋体" panose="02010600030101010101" pitchFamily="2" charset="-122"/>
                <a:cs typeface="宋体" panose="02010600030101010101" pitchFamily="2" charset="-122"/>
                <a:sym typeface="+mn-ea"/>
              </a:rPr>
              <a:t>【概要浏览全文】</a:t>
            </a:r>
            <a:endParaRPr lang="zh-CN" altLang="en-US" sz="2000" b="1" dirty="0" smtClean="0">
              <a:solidFill>
                <a:schemeClr val="tx2"/>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7" name="Rectangle 2"/>
          <p:cNvSpPr txBox="1">
            <a:spLocks noChangeArrowheads="1"/>
          </p:cNvSpPr>
          <p:nvPr/>
        </p:nvSpPr>
        <p:spPr bwMode="white">
          <a:xfrm>
            <a:off x="838200" y="152400"/>
            <a:ext cx="7327900" cy="563563"/>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zh-CN" sz="3200" dirty="0" smtClean="0">
                <a:solidFill>
                  <a:schemeClr val="bg1"/>
                </a:solidFill>
                <a:latin typeface="Verdana" panose="020B0604030504040204" pitchFamily="34" charset="0"/>
              </a:rPr>
              <a:t>课程导学</a:t>
            </a:r>
            <a:endParaRPr lang="zh-CN" sz="3200" dirty="0" smtClean="0">
              <a:solidFill>
                <a:schemeClr val="bg1"/>
              </a:solidFill>
              <a:effectLst>
                <a:outerShdw blurRad="38100" dist="38100" dir="2700000" algn="tl">
                  <a:srgbClr val="C0C0C0"/>
                </a:outerShdw>
              </a:effectLs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内容占位符 13"/>
          <p:cNvSpPr>
            <a:spLocks noGrp="1" noChangeArrowheads="1"/>
          </p:cNvSpPr>
          <p:nvPr>
            <p:ph idx="4294967295"/>
          </p:nvPr>
        </p:nvSpPr>
        <p:spPr>
          <a:xfrm>
            <a:off x="431800" y="1196975"/>
            <a:ext cx="8040688" cy="947738"/>
          </a:xfrm>
        </p:spPr>
        <p:txBody>
          <a:bodyPr/>
          <a:lstStyle/>
          <a:p>
            <a:pPr algn="r" eaLnBrk="1" hangingPunct="1">
              <a:spcAft>
                <a:spcPts val="600"/>
              </a:spcAft>
              <a:buFont typeface="Wingdings" panose="05000000000000000000" pitchFamily="2" charset="2"/>
              <a:buNone/>
            </a:pPr>
            <a:endParaRPr lang="en-US" altLang="zh-CN" sz="2400" b="0" smtClean="0">
              <a:solidFill>
                <a:srgbClr val="FF0000"/>
              </a:solidFill>
              <a:latin typeface="Calibri" panose="020F0502020204030204" pitchFamily="34" charset="0"/>
              <a:ea typeface="黑体" panose="02010609060101010101" pitchFamily="49" charset="-122"/>
            </a:endParaRPr>
          </a:p>
          <a:p>
            <a:pPr algn="r" eaLnBrk="1" hangingPunct="1">
              <a:buFont typeface="Wingdings" panose="05000000000000000000" pitchFamily="2" charset="2"/>
              <a:buNone/>
            </a:pPr>
            <a:r>
              <a:rPr lang="zh-CN" altLang="en-US" sz="1800" smtClean="0">
                <a:solidFill>
                  <a:srgbClr val="FF0000"/>
                </a:solidFill>
                <a:ea typeface="黑体" panose="02010609060101010101" pitchFamily="49" charset="-122"/>
              </a:rPr>
              <a:t> </a:t>
            </a:r>
            <a:endParaRPr lang="en-US" altLang="zh-CN" sz="1800" smtClean="0">
              <a:ea typeface="黑体" panose="02010609060101010101" pitchFamily="49" charset="-122"/>
            </a:endParaRPr>
          </a:p>
          <a:p>
            <a:pPr algn="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a typeface="黑体" panose="02010609060101010101" pitchFamily="49" charset="-122"/>
            </a:endParaRPr>
          </a:p>
          <a:p>
            <a:pPr algn="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a typeface="黑体" panose="02010609060101010101" pitchFamily="49" charset="-122"/>
            </a:endParaRPr>
          </a:p>
          <a:p>
            <a:pPr algn="r" eaLnBrk="1" hangingPunct="1">
              <a:buFont typeface="Wingdings" panose="05000000000000000000" pitchFamily="2" charset="2"/>
              <a:buNone/>
            </a:pPr>
            <a:r>
              <a:rPr lang="zh-CN" altLang="en-US" sz="1800" smtClean="0">
                <a:solidFill>
                  <a:srgbClr val="0000CC"/>
                </a:solidFill>
                <a:latin typeface="Times New Roman" panose="02020603050405020304" pitchFamily="18" charset="0"/>
                <a:ea typeface="黑体" panose="02010609060101010101" pitchFamily="49" charset="-122"/>
              </a:rPr>
              <a:t>  </a:t>
            </a:r>
            <a:endParaRPr lang="en-US" altLang="zh-CN" sz="1800" b="0" smtClean="0">
              <a:solidFill>
                <a:schemeClr val="tx1"/>
              </a:solidFill>
              <a:latin typeface="Times New Roman" panose="02020603050405020304" pitchFamily="18" charset="0"/>
              <a:ea typeface="黑体" panose="02010609060101010101" pitchFamily="49" charset="-122"/>
            </a:endParaRPr>
          </a:p>
          <a:p>
            <a:pPr algn="r" eaLnBrk="1" hangingPunct="1">
              <a:buFont typeface="Wingdings" panose="05000000000000000000" pitchFamily="2" charset="2"/>
              <a:buNone/>
            </a:pPr>
            <a:endParaRPr lang="en-US" altLang="zh-CN" sz="1800" smtClean="0">
              <a:ea typeface="黑体" panose="02010609060101010101" pitchFamily="49" charset="-122"/>
            </a:endParaRPr>
          </a:p>
        </p:txBody>
      </p:sp>
      <p:sp>
        <p:nvSpPr>
          <p:cNvPr id="15362" name="副标题 2"/>
          <p:cNvSpPr txBox="1">
            <a:spLocks noChangeArrowheads="1"/>
          </p:cNvSpPr>
          <p:nvPr/>
        </p:nvSpPr>
        <p:spPr bwMode="auto">
          <a:xfrm>
            <a:off x="304800" y="1066800"/>
            <a:ext cx="6400800" cy="528638"/>
          </a:xfrm>
          <a:prstGeom prst="rect">
            <a:avLst/>
          </a:prstGeom>
          <a:noFill/>
          <a:ln w="9525">
            <a:noFill/>
            <a:miter lim="800000"/>
          </a:ln>
        </p:spPr>
        <p:txBody>
          <a:bodyPr/>
          <a:lstStyle/>
          <a:p>
            <a:pPr marL="342900" indent="-342900" eaLnBrk="0" hangingPunct="0">
              <a:spcBef>
                <a:spcPct val="20000"/>
              </a:spcBef>
              <a:buClr>
                <a:schemeClr val="hlink"/>
              </a:buClr>
              <a:buFont typeface="Wingdings" panose="05000000000000000000" pitchFamily="2" charset="2"/>
              <a:buChar char="n"/>
            </a:pPr>
            <a:endParaRPr lang="zh-CN" altLang="en-US" sz="2200" b="1">
              <a:solidFill>
                <a:schemeClr val="tx2"/>
              </a:solidFill>
              <a:latin typeface="宋体" panose="02010600030101010101" pitchFamily="2" charset="-122"/>
            </a:endParaRPr>
          </a:p>
        </p:txBody>
      </p:sp>
      <p:sp>
        <p:nvSpPr>
          <p:cNvPr id="9" name=" 167"/>
          <p:cNvSpPr/>
          <p:nvPr/>
        </p:nvSpPr>
        <p:spPr>
          <a:xfrm>
            <a:off x="456565" y="1053465"/>
            <a:ext cx="8230870" cy="5561965"/>
          </a:xfrm>
          <a:prstGeom prst="roundRect">
            <a:avLst>
              <a:gd name="adj" fmla="val 22731"/>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eaLnBrk="1" hangingPunct="1"/>
            <a:r>
              <a:rPr lang="en-US" altLang="zh-CN" b="1" dirty="0" smtClean="0">
                <a:solidFill>
                  <a:schemeClr val="tx1"/>
                </a:solidFill>
                <a:sym typeface="+mn-ea"/>
              </a:rPr>
              <a:t>	</a:t>
            </a:r>
            <a:r>
              <a:rPr lang="en-US" altLang="zh-CN"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2018</a:t>
            </a:r>
            <a:r>
              <a:rPr lang="zh-CN" altLang="en-US"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年</a:t>
            </a:r>
            <a:r>
              <a:rPr lang="en-US"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3</a:t>
            </a:r>
            <a:r>
              <a:rPr lang="zh-CN" altLang="en-US"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月，根据中共中央印发的《深化党和国家机构改革方案》，将中央网络安全和信息化</a:t>
            </a:r>
            <a:r>
              <a:rPr lang="zh-CN" altLang="en-US" b="1" dirty="0" smtClean="0">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领导小组</a:t>
            </a:r>
            <a:r>
              <a:rPr lang="zh-CN" altLang="en-US"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改为中国共产党中央网络安全和信息化</a:t>
            </a:r>
            <a:r>
              <a:rPr lang="zh-CN" altLang="en-US" b="1" dirty="0" smtClean="0">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委员会，</a:t>
            </a:r>
            <a:r>
              <a:rPr lang="zh-CN" altLang="en-US"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其办事机构是办事机构是</a:t>
            </a:r>
            <a:r>
              <a:rPr lang="zh-CN" altLang="en-US" b="1" dirty="0" smtClean="0">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中央网络安全和信息化委员会办公室</a:t>
            </a:r>
            <a:r>
              <a:rPr lang="zh-CN" altLang="en-US"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a:t>
            </a:r>
            <a:r>
              <a:rPr lang="zh-CN" altLang="en-US" b="1" dirty="0" smtClean="0">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国家互联网信息办公室（成立于</a:t>
            </a:r>
            <a:r>
              <a:rPr lang="en-US" altLang="zh-CN" b="1" dirty="0" smtClean="0">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2011</a:t>
            </a:r>
            <a:r>
              <a:rPr lang="zh-CN" altLang="en-US" b="1" dirty="0" smtClean="0">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年</a:t>
            </a:r>
            <a:r>
              <a:rPr lang="en-US" altLang="zh-CN" b="1" dirty="0" smtClean="0">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5</a:t>
            </a:r>
            <a:r>
              <a:rPr lang="zh-CN" altLang="en-US" b="1" dirty="0" smtClean="0">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月</a:t>
            </a:r>
            <a:r>
              <a:rPr lang="zh-CN" altLang="en-US" b="1" dirty="0" smtClean="0">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a:t>
            </a:r>
            <a:r>
              <a:rPr lang="zh-CN" altLang="en-US"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与中央网络安全和信息化委员会办公室，一个机构两块牌子，列入中共中央直属机构序列。</a:t>
            </a:r>
            <a:endParaRPr lang="zh-CN" altLang="en-US"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endParaRPr>
          </a:p>
          <a:p>
            <a:pPr eaLnBrk="1" hangingPunct="1"/>
            <a:r>
              <a:rPr lang="zh-CN" altLang="en-US" sz="1800" b="1" dirty="0" smtClean="0">
                <a:solidFill>
                  <a:schemeClr val="tx2"/>
                </a:solidFill>
                <a:latin typeface="宋体" panose="02010600030101010101" pitchFamily="2" charset="-122"/>
                <a:ea typeface="宋体" panose="02010600030101010101" pitchFamily="2" charset="-122"/>
                <a:cs typeface="宋体" panose="02010600030101010101" pitchFamily="2" charset="-122"/>
                <a:sym typeface="+mn-ea"/>
              </a:rPr>
              <a:t>重要下属机构：</a:t>
            </a:r>
            <a:endParaRPr lang="zh-CN" altLang="en-US" sz="1800" b="1" dirty="0" smtClean="0">
              <a:solidFill>
                <a:schemeClr val="tx2"/>
              </a:solidFill>
              <a:latin typeface="宋体" panose="02010600030101010101" pitchFamily="2" charset="-122"/>
              <a:ea typeface="宋体" panose="02010600030101010101" pitchFamily="2" charset="-122"/>
              <a:cs typeface="宋体" panose="02010600030101010101" pitchFamily="2" charset="-122"/>
              <a:sym typeface="+mn-ea"/>
            </a:endParaRPr>
          </a:p>
          <a:p>
            <a:pPr eaLnBrk="1" hangingPunct="1"/>
            <a:r>
              <a:rPr lang="zh-CN" altLang="en-US" sz="1800" b="1" dirty="0" smtClean="0">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中国互联网络信息中心</a:t>
            </a:r>
            <a:r>
              <a:rPr lang="zh-CN" altLang="en-US" sz="1800" b="1" dirty="0" smtClean="0">
                <a:solidFill>
                  <a:schemeClr val="tx2"/>
                </a:solidFill>
                <a:latin typeface="宋体" panose="02010600030101010101" pitchFamily="2" charset="-122"/>
                <a:ea typeface="宋体" panose="02010600030101010101" pitchFamily="2" charset="-122"/>
                <a:cs typeface="宋体" panose="02010600030101010101" pitchFamily="2" charset="-122"/>
                <a:sym typeface="+mn-ea"/>
              </a:rPr>
              <a:t>（China Internet Network Information Center，简称CNNIC），1997年6月组建，我国域名注册管理机构和域名根服务器运行机构，亚太互联网络信息中心（APNIC）的国家级IP地址注册机构成员</a:t>
            </a:r>
            <a:endParaRPr lang="zh-CN" altLang="en-US" sz="1800" b="1" dirty="0" smtClean="0">
              <a:solidFill>
                <a:schemeClr val="tx2"/>
              </a:solidFill>
              <a:latin typeface="宋体" panose="02010600030101010101" pitchFamily="2" charset="-122"/>
              <a:ea typeface="宋体" panose="02010600030101010101" pitchFamily="2" charset="-122"/>
              <a:cs typeface="宋体" panose="02010600030101010101" pitchFamily="2" charset="-122"/>
              <a:sym typeface="+mn-ea"/>
            </a:endParaRPr>
          </a:p>
          <a:p>
            <a:pPr eaLnBrk="1" hangingPunct="1"/>
            <a:r>
              <a:rPr lang="zh-CN" altLang="en-US" sz="1800" b="1" dirty="0" smtClean="0">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国家互联网应急中心</a:t>
            </a:r>
            <a:r>
              <a:rPr lang="zh-CN" altLang="en-US" sz="1800" b="1" dirty="0" smtClean="0">
                <a:solidFill>
                  <a:schemeClr val="tx2"/>
                </a:solidFill>
                <a:latin typeface="宋体" panose="02010600030101010101" pitchFamily="2" charset="-122"/>
                <a:ea typeface="宋体" panose="02010600030101010101" pitchFamily="2" charset="-122"/>
                <a:cs typeface="宋体" panose="02010600030101010101" pitchFamily="2" charset="-122"/>
                <a:sym typeface="+mn-ea"/>
              </a:rPr>
              <a:t>（缩写CNCERT或CNCERT/CC）全称是国家计算机网络应急技术处理协调中心，成立于2001年8月，开展互联网网络安全事件的预防、发现、预警和协调处置等工作，按照相关标准为政府部门、企事业单位提供安全评测服务，运行和管理国家信息安全漏洞共享平台（CNVD），维护公共互联网安全，保障关键信息基础设施的安全运行。</a:t>
            </a:r>
            <a:endParaRPr lang="zh-CN" altLang="en-US" sz="2000" b="1" dirty="0" smtClean="0">
              <a:solidFill>
                <a:schemeClr val="tx2"/>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7" name="Rectangle 2"/>
          <p:cNvSpPr txBox="1">
            <a:spLocks noChangeArrowheads="1"/>
          </p:cNvSpPr>
          <p:nvPr/>
        </p:nvSpPr>
        <p:spPr bwMode="white">
          <a:xfrm>
            <a:off x="838200" y="152400"/>
            <a:ext cx="7327900" cy="563563"/>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zh-CN" sz="3200" dirty="0" smtClean="0">
                <a:solidFill>
                  <a:schemeClr val="bg1"/>
                </a:solidFill>
                <a:latin typeface="Verdana" panose="020B0604030504040204" pitchFamily="34" charset="0"/>
              </a:rPr>
              <a:t>课程导学</a:t>
            </a:r>
            <a:endParaRPr lang="zh-CN" sz="3200" dirty="0" smtClean="0">
              <a:solidFill>
                <a:schemeClr val="bg1"/>
              </a:solidFill>
              <a:effectLst>
                <a:outerShdw blurRad="38100" dist="38100" dir="2700000" algn="tl">
                  <a:srgbClr val="C0C0C0"/>
                </a:outerShdw>
              </a:effectL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内容占位符 13"/>
          <p:cNvSpPr>
            <a:spLocks noGrp="1" noChangeArrowheads="1"/>
          </p:cNvSpPr>
          <p:nvPr>
            <p:ph idx="4294967295"/>
          </p:nvPr>
        </p:nvSpPr>
        <p:spPr>
          <a:xfrm>
            <a:off x="431800" y="1196975"/>
            <a:ext cx="8040688" cy="947738"/>
          </a:xfrm>
        </p:spPr>
        <p:txBody>
          <a:bodyPr/>
          <a:lstStyle/>
          <a:p>
            <a:pPr algn="r" eaLnBrk="1" hangingPunct="1">
              <a:spcAft>
                <a:spcPts val="600"/>
              </a:spcAft>
              <a:buFont typeface="Wingdings" panose="05000000000000000000" pitchFamily="2" charset="2"/>
              <a:buNone/>
            </a:pPr>
            <a:endParaRPr lang="en-US" altLang="zh-CN" sz="2400" b="0" smtClean="0">
              <a:solidFill>
                <a:srgbClr val="FF0000"/>
              </a:solidFill>
              <a:latin typeface="Calibri" panose="020F0502020204030204" pitchFamily="34" charset="0"/>
              <a:ea typeface="黑体" panose="02010609060101010101" pitchFamily="49" charset="-122"/>
            </a:endParaRPr>
          </a:p>
          <a:p>
            <a:pPr algn="r" eaLnBrk="1" hangingPunct="1">
              <a:buFont typeface="Wingdings" panose="05000000000000000000" pitchFamily="2" charset="2"/>
              <a:buNone/>
            </a:pPr>
            <a:r>
              <a:rPr lang="zh-CN" altLang="en-US" sz="1800" smtClean="0">
                <a:solidFill>
                  <a:srgbClr val="FF0000"/>
                </a:solidFill>
                <a:ea typeface="黑体" panose="02010609060101010101" pitchFamily="49" charset="-122"/>
              </a:rPr>
              <a:t> </a:t>
            </a:r>
            <a:endParaRPr lang="en-US" altLang="zh-CN" sz="1800" smtClean="0">
              <a:ea typeface="黑体" panose="02010609060101010101" pitchFamily="49" charset="-122"/>
            </a:endParaRPr>
          </a:p>
          <a:p>
            <a:pPr algn="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a typeface="黑体" panose="02010609060101010101" pitchFamily="49" charset="-122"/>
            </a:endParaRPr>
          </a:p>
          <a:p>
            <a:pPr algn="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a typeface="黑体" panose="02010609060101010101" pitchFamily="49" charset="-122"/>
            </a:endParaRPr>
          </a:p>
          <a:p>
            <a:pPr algn="r" eaLnBrk="1" hangingPunct="1">
              <a:buFont typeface="Wingdings" panose="05000000000000000000" pitchFamily="2" charset="2"/>
              <a:buNone/>
            </a:pPr>
            <a:r>
              <a:rPr lang="zh-CN" altLang="en-US" sz="1800" smtClean="0">
                <a:solidFill>
                  <a:srgbClr val="0000CC"/>
                </a:solidFill>
                <a:latin typeface="Times New Roman" panose="02020603050405020304" pitchFamily="18" charset="0"/>
                <a:ea typeface="黑体" panose="02010609060101010101" pitchFamily="49" charset="-122"/>
              </a:rPr>
              <a:t>  </a:t>
            </a:r>
            <a:endParaRPr lang="en-US" altLang="zh-CN" sz="1800" b="0" smtClean="0">
              <a:solidFill>
                <a:schemeClr val="tx1"/>
              </a:solidFill>
              <a:latin typeface="Times New Roman" panose="02020603050405020304" pitchFamily="18" charset="0"/>
              <a:ea typeface="黑体" panose="02010609060101010101" pitchFamily="49" charset="-122"/>
            </a:endParaRPr>
          </a:p>
          <a:p>
            <a:pPr algn="r" eaLnBrk="1" hangingPunct="1">
              <a:buFont typeface="Wingdings" panose="05000000000000000000" pitchFamily="2" charset="2"/>
              <a:buNone/>
            </a:pPr>
            <a:endParaRPr lang="en-US" altLang="zh-CN" sz="1800" smtClean="0">
              <a:ea typeface="黑体" panose="02010609060101010101" pitchFamily="49" charset="-122"/>
            </a:endParaRPr>
          </a:p>
        </p:txBody>
      </p:sp>
      <p:sp>
        <p:nvSpPr>
          <p:cNvPr id="15362" name="副标题 2"/>
          <p:cNvSpPr txBox="1">
            <a:spLocks noChangeArrowheads="1"/>
          </p:cNvSpPr>
          <p:nvPr/>
        </p:nvSpPr>
        <p:spPr bwMode="auto">
          <a:xfrm>
            <a:off x="304800" y="1066800"/>
            <a:ext cx="6400800" cy="528638"/>
          </a:xfrm>
          <a:prstGeom prst="rect">
            <a:avLst/>
          </a:prstGeom>
          <a:noFill/>
          <a:ln w="9525">
            <a:noFill/>
            <a:miter lim="800000"/>
          </a:ln>
        </p:spPr>
        <p:txBody>
          <a:bodyPr/>
          <a:lstStyle/>
          <a:p>
            <a:pPr marL="342900" indent="-342900" eaLnBrk="0" hangingPunct="0">
              <a:spcBef>
                <a:spcPct val="20000"/>
              </a:spcBef>
              <a:buClr>
                <a:schemeClr val="hlink"/>
              </a:buClr>
              <a:buFont typeface="Wingdings" panose="05000000000000000000" pitchFamily="2" charset="2"/>
              <a:buChar char="n"/>
            </a:pPr>
            <a:endParaRPr lang="zh-CN" altLang="en-US" sz="2200" b="1">
              <a:solidFill>
                <a:schemeClr val="tx2"/>
              </a:solidFill>
              <a:latin typeface="宋体" panose="02010600030101010101" pitchFamily="2" charset="-122"/>
            </a:endParaRPr>
          </a:p>
        </p:txBody>
      </p:sp>
      <p:sp>
        <p:nvSpPr>
          <p:cNvPr id="9" name=" 167"/>
          <p:cNvSpPr/>
          <p:nvPr/>
        </p:nvSpPr>
        <p:spPr>
          <a:xfrm>
            <a:off x="524510" y="1148080"/>
            <a:ext cx="8230870" cy="5568315"/>
          </a:xfrm>
          <a:prstGeom prst="roundRect">
            <a:avLst>
              <a:gd name="adj" fmla="val 22731"/>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eaLnBrk="1" hangingPunct="1"/>
            <a:r>
              <a:rPr lang="en-US" altLang="zh-CN" b="1" dirty="0" smtClean="0">
                <a:solidFill>
                  <a:schemeClr val="tx1"/>
                </a:solidFill>
                <a:sym typeface="+mn-ea"/>
              </a:rPr>
              <a:t>	2018</a:t>
            </a:r>
            <a:r>
              <a:rPr lang="zh-CN" altLang="en-US" b="1" dirty="0" smtClean="0">
                <a:solidFill>
                  <a:schemeClr val="tx1"/>
                </a:solidFill>
                <a:sym typeface="+mn-ea"/>
              </a:rPr>
              <a:t>年</a:t>
            </a:r>
            <a:r>
              <a:rPr lang="en-US" altLang="zh-CN" b="1" dirty="0" smtClean="0">
                <a:solidFill>
                  <a:schemeClr val="tx1"/>
                </a:solidFill>
                <a:sym typeface="+mn-ea"/>
              </a:rPr>
              <a:t>4</a:t>
            </a:r>
            <a:r>
              <a:rPr lang="zh-CN" altLang="en-US" b="1" dirty="0" smtClean="0">
                <a:solidFill>
                  <a:schemeClr val="tx1"/>
                </a:solidFill>
                <a:sym typeface="+mn-ea"/>
              </a:rPr>
              <a:t>月</a:t>
            </a:r>
            <a:r>
              <a:rPr lang="en-US" altLang="zh-CN" b="1" dirty="0" smtClean="0">
                <a:solidFill>
                  <a:schemeClr val="tx1"/>
                </a:solidFill>
                <a:sym typeface="+mn-ea"/>
              </a:rPr>
              <a:t>20日至21日</a:t>
            </a:r>
            <a:r>
              <a:rPr lang="zh-CN" altLang="en-US" b="1" dirty="0" smtClean="0">
                <a:solidFill>
                  <a:schemeClr val="tx1"/>
                </a:solidFill>
                <a:sym typeface="+mn-ea"/>
              </a:rPr>
              <a:t>，</a:t>
            </a:r>
            <a:r>
              <a:rPr lang="en-US" altLang="zh-CN" b="1" dirty="0" smtClean="0">
                <a:solidFill>
                  <a:srgbClr val="FF0000"/>
                </a:solidFill>
                <a:sym typeface="+mn-ea"/>
              </a:rPr>
              <a:t>全国网络安全和信息化工作会议</a:t>
            </a:r>
            <a:r>
              <a:rPr lang="en-US" altLang="zh-CN" b="1" dirty="0" smtClean="0">
                <a:solidFill>
                  <a:schemeClr val="tx1"/>
                </a:solidFill>
                <a:sym typeface="+mn-ea"/>
              </a:rPr>
              <a:t>在北京召开。中共中央总书记、国家主席、中央军委主席、中央网络安全和信息化委员会主任习近平出席会议并发表重要讲话。</a:t>
            </a:r>
            <a:endParaRPr lang="en-US" altLang="zh-CN" b="1" dirty="0" smtClean="0">
              <a:solidFill>
                <a:schemeClr val="tx1"/>
              </a:solidFill>
              <a:sym typeface="+mn-ea"/>
            </a:endParaRPr>
          </a:p>
          <a:p>
            <a:pPr eaLnBrk="1" hangingPunct="1"/>
            <a:r>
              <a:rPr lang="en-US" altLang="zh-CN" b="1" dirty="0" smtClean="0">
                <a:solidFill>
                  <a:schemeClr val="tx1"/>
                </a:solidFill>
                <a:sym typeface="+mn-ea"/>
              </a:rPr>
              <a:t>	2019</a:t>
            </a:r>
            <a:r>
              <a:rPr lang="zh-CN" altLang="en-US" b="1" dirty="0" smtClean="0">
                <a:solidFill>
                  <a:schemeClr val="tx1"/>
                </a:solidFill>
                <a:sym typeface="+mn-ea"/>
              </a:rPr>
              <a:t>年</a:t>
            </a:r>
            <a:r>
              <a:rPr b="1" dirty="0" smtClean="0">
                <a:solidFill>
                  <a:schemeClr val="tx1"/>
                </a:solidFill>
                <a:sym typeface="+mn-ea"/>
              </a:rPr>
              <a:t>5月13日，国家市场监督管理总局、国家标准化管理委员会召开新闻发布会，</a:t>
            </a:r>
            <a:r>
              <a:rPr b="1" dirty="0" smtClean="0">
                <a:solidFill>
                  <a:srgbClr val="FF0000"/>
                </a:solidFill>
                <a:sym typeface="+mn-ea"/>
              </a:rPr>
              <a:t>等保2.0</a:t>
            </a:r>
            <a:r>
              <a:rPr b="1" dirty="0" smtClean="0">
                <a:solidFill>
                  <a:schemeClr val="tx1"/>
                </a:solidFill>
                <a:sym typeface="+mn-ea"/>
              </a:rPr>
              <a:t>相关的《信息安全技术网络安全等级保护基本要求》、《信息安全技术网络安全等级保护测评要求》、《信息安全技术网络安全等级保护安全设计技术要求》等</a:t>
            </a:r>
            <a:r>
              <a:rPr b="1" dirty="0" smtClean="0">
                <a:solidFill>
                  <a:srgbClr val="FF0000"/>
                </a:solidFill>
                <a:sym typeface="+mn-ea"/>
              </a:rPr>
              <a:t>国家标准</a:t>
            </a:r>
            <a:r>
              <a:rPr b="1" dirty="0" smtClean="0">
                <a:solidFill>
                  <a:schemeClr val="tx1"/>
                </a:solidFill>
                <a:sym typeface="+mn-ea"/>
              </a:rPr>
              <a:t>正式发布，将于2019年12月1日开始实施。</a:t>
            </a:r>
            <a:endParaRPr b="1" dirty="0" smtClean="0">
              <a:solidFill>
                <a:schemeClr val="tx1"/>
              </a:solidFill>
              <a:sym typeface="+mn-ea"/>
            </a:endParaRPr>
          </a:p>
        </p:txBody>
      </p:sp>
      <p:sp>
        <p:nvSpPr>
          <p:cNvPr id="7" name="Rectangle 2"/>
          <p:cNvSpPr txBox="1">
            <a:spLocks noChangeArrowheads="1"/>
          </p:cNvSpPr>
          <p:nvPr/>
        </p:nvSpPr>
        <p:spPr bwMode="white">
          <a:xfrm>
            <a:off x="838200" y="152400"/>
            <a:ext cx="7327900" cy="563563"/>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zh-CN" sz="3200" dirty="0" smtClean="0">
                <a:solidFill>
                  <a:schemeClr val="bg1"/>
                </a:solidFill>
                <a:latin typeface="Verdana" panose="020B0604030504040204" pitchFamily="34" charset="0"/>
              </a:rPr>
              <a:t>课程导学</a:t>
            </a:r>
            <a:endParaRPr lang="zh-CN" sz="3200" dirty="0" smtClean="0">
              <a:solidFill>
                <a:schemeClr val="bg1"/>
              </a:solidFill>
              <a:effectLst>
                <a:outerShdw blurRad="38100" dist="38100" dir="2700000" algn="tl">
                  <a:srgbClr val="C0C0C0"/>
                </a:outerShdw>
              </a:effectLs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内容占位符 13"/>
          <p:cNvSpPr>
            <a:spLocks noGrp="1" noChangeArrowheads="1"/>
          </p:cNvSpPr>
          <p:nvPr>
            <p:ph idx="4294967295"/>
          </p:nvPr>
        </p:nvSpPr>
        <p:spPr>
          <a:xfrm>
            <a:off x="431800" y="1196975"/>
            <a:ext cx="8040688" cy="947738"/>
          </a:xfrm>
        </p:spPr>
        <p:txBody>
          <a:bodyPr/>
          <a:lstStyle/>
          <a:p>
            <a:pPr algn="r" eaLnBrk="1" hangingPunct="1">
              <a:spcAft>
                <a:spcPts val="600"/>
              </a:spcAft>
              <a:buFont typeface="Wingdings" panose="05000000000000000000" pitchFamily="2" charset="2"/>
              <a:buNone/>
            </a:pPr>
            <a:endParaRPr lang="en-US" altLang="zh-CN" sz="2400" b="0" smtClean="0">
              <a:solidFill>
                <a:srgbClr val="FF0000"/>
              </a:solidFill>
              <a:latin typeface="Calibri" panose="020F0502020204030204" pitchFamily="34" charset="0"/>
              <a:ea typeface="黑体" panose="02010609060101010101" pitchFamily="49" charset="-122"/>
            </a:endParaRPr>
          </a:p>
          <a:p>
            <a:pPr algn="r" eaLnBrk="1" hangingPunct="1">
              <a:buFont typeface="Wingdings" panose="05000000000000000000" pitchFamily="2" charset="2"/>
              <a:buNone/>
            </a:pPr>
            <a:r>
              <a:rPr lang="zh-CN" altLang="en-US" sz="1800" smtClean="0">
                <a:solidFill>
                  <a:srgbClr val="FF0000"/>
                </a:solidFill>
                <a:ea typeface="黑体" panose="02010609060101010101" pitchFamily="49" charset="-122"/>
              </a:rPr>
              <a:t> </a:t>
            </a:r>
            <a:endParaRPr lang="en-US" altLang="zh-CN" sz="1800" smtClean="0">
              <a:ea typeface="黑体" panose="02010609060101010101" pitchFamily="49" charset="-122"/>
            </a:endParaRPr>
          </a:p>
          <a:p>
            <a:pPr algn="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a typeface="黑体" panose="02010609060101010101" pitchFamily="49" charset="-122"/>
            </a:endParaRPr>
          </a:p>
          <a:p>
            <a:pPr algn="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a typeface="黑体" panose="02010609060101010101" pitchFamily="49" charset="-122"/>
            </a:endParaRPr>
          </a:p>
          <a:p>
            <a:pPr algn="r" eaLnBrk="1" hangingPunct="1">
              <a:buFont typeface="Wingdings" panose="05000000000000000000" pitchFamily="2" charset="2"/>
              <a:buNone/>
            </a:pPr>
            <a:r>
              <a:rPr lang="zh-CN" altLang="en-US" sz="1800" smtClean="0">
                <a:solidFill>
                  <a:srgbClr val="0000CC"/>
                </a:solidFill>
                <a:latin typeface="Times New Roman" panose="02020603050405020304" pitchFamily="18" charset="0"/>
                <a:ea typeface="黑体" panose="02010609060101010101" pitchFamily="49" charset="-122"/>
              </a:rPr>
              <a:t>  </a:t>
            </a:r>
            <a:endParaRPr lang="en-US" altLang="zh-CN" sz="1800" b="0" smtClean="0">
              <a:solidFill>
                <a:schemeClr val="tx1"/>
              </a:solidFill>
              <a:latin typeface="Times New Roman" panose="02020603050405020304" pitchFamily="18" charset="0"/>
              <a:ea typeface="黑体" panose="02010609060101010101" pitchFamily="49" charset="-122"/>
            </a:endParaRPr>
          </a:p>
          <a:p>
            <a:pPr algn="r" eaLnBrk="1" hangingPunct="1">
              <a:buFont typeface="Wingdings" panose="05000000000000000000" pitchFamily="2" charset="2"/>
              <a:buNone/>
            </a:pPr>
            <a:endParaRPr lang="en-US" altLang="zh-CN" sz="1800" smtClean="0">
              <a:ea typeface="黑体" panose="02010609060101010101" pitchFamily="49" charset="-122"/>
            </a:endParaRPr>
          </a:p>
        </p:txBody>
      </p:sp>
      <p:sp>
        <p:nvSpPr>
          <p:cNvPr id="15362" name="副标题 2"/>
          <p:cNvSpPr txBox="1">
            <a:spLocks noChangeArrowheads="1"/>
          </p:cNvSpPr>
          <p:nvPr/>
        </p:nvSpPr>
        <p:spPr bwMode="auto">
          <a:xfrm>
            <a:off x="304800" y="1066800"/>
            <a:ext cx="6400800" cy="528638"/>
          </a:xfrm>
          <a:prstGeom prst="rect">
            <a:avLst/>
          </a:prstGeom>
          <a:noFill/>
          <a:ln w="9525">
            <a:noFill/>
            <a:miter lim="800000"/>
          </a:ln>
        </p:spPr>
        <p:txBody>
          <a:bodyPr/>
          <a:lstStyle/>
          <a:p>
            <a:pPr marL="342900" indent="-342900" eaLnBrk="0" hangingPunct="0">
              <a:spcBef>
                <a:spcPct val="20000"/>
              </a:spcBef>
              <a:buClr>
                <a:schemeClr val="hlink"/>
              </a:buClr>
              <a:buFont typeface="Wingdings" panose="05000000000000000000" pitchFamily="2" charset="2"/>
              <a:buChar char="n"/>
            </a:pPr>
            <a:endParaRPr lang="zh-CN" altLang="en-US" sz="2200" b="1">
              <a:solidFill>
                <a:schemeClr val="tx2"/>
              </a:solidFill>
              <a:latin typeface="宋体" panose="02010600030101010101" pitchFamily="2" charset="-122"/>
            </a:endParaRPr>
          </a:p>
        </p:txBody>
      </p:sp>
      <p:sp>
        <p:nvSpPr>
          <p:cNvPr id="9" name=" 167"/>
          <p:cNvSpPr/>
          <p:nvPr/>
        </p:nvSpPr>
        <p:spPr>
          <a:xfrm>
            <a:off x="524510" y="1148080"/>
            <a:ext cx="8230870" cy="5568315"/>
          </a:xfrm>
          <a:prstGeom prst="roundRect">
            <a:avLst>
              <a:gd name="adj" fmla="val 22731"/>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eaLnBrk="1" hangingPunct="1"/>
            <a:r>
              <a:rPr lang="en-US" altLang="zh-CN" b="1" dirty="0" smtClean="0">
                <a:solidFill>
                  <a:schemeClr val="tx1"/>
                </a:solidFill>
                <a:sym typeface="+mn-ea"/>
              </a:rPr>
              <a:t>	</a:t>
            </a:r>
            <a:r>
              <a:rPr lang="en-US" altLang="zh-CN"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2019</a:t>
            </a:r>
            <a:r>
              <a:rPr lang="zh-CN" altLang="en-US"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年</a:t>
            </a:r>
            <a:r>
              <a:rPr lang="en-US" altLang="zh-CN"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10</a:t>
            </a:r>
            <a:r>
              <a:rPr lang="zh-CN" altLang="en-US"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月</a:t>
            </a:r>
            <a:r>
              <a:rPr lang="en-US" altLang="zh-CN"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26</a:t>
            </a:r>
            <a:r>
              <a:rPr lang="zh-CN" altLang="en-US"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日，《中华人民共和国</a:t>
            </a:r>
            <a:r>
              <a:rPr lang="zh-CN" altLang="en-US" b="1" dirty="0" smtClean="0">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密码法</a:t>
            </a:r>
            <a:r>
              <a:rPr lang="zh-CN" altLang="en-US"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》颁布，</a:t>
            </a:r>
            <a:r>
              <a:rPr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20</a:t>
            </a:r>
            <a:r>
              <a:rPr lang="en-US"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20</a:t>
            </a:r>
            <a:r>
              <a:rPr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年</a:t>
            </a:r>
            <a:r>
              <a:rPr lang="en-US"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1</a:t>
            </a:r>
            <a:r>
              <a:rPr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月1日起施行</a:t>
            </a:r>
            <a:r>
              <a:rPr lang="zh-CN"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a:t>
            </a:r>
            <a:endParaRPr lang="en-US" altLang="zh-CN" b="1" dirty="0" smtClean="0">
              <a:solidFill>
                <a:schemeClr val="tx1"/>
              </a:solidFill>
              <a:sym typeface="+mn-ea"/>
            </a:endParaRPr>
          </a:p>
          <a:p>
            <a:pPr eaLnBrk="1" hangingPunct="1"/>
            <a:r>
              <a:rPr lang="en-US" altLang="zh-CN" b="1" dirty="0" smtClean="0">
                <a:solidFill>
                  <a:schemeClr val="tx1"/>
                </a:solidFill>
                <a:sym typeface="+mn-ea"/>
              </a:rPr>
              <a:t>	2021</a:t>
            </a:r>
            <a:r>
              <a:rPr lang="zh-CN" altLang="en-US" b="1" dirty="0" smtClean="0">
                <a:solidFill>
                  <a:schemeClr val="tx1"/>
                </a:solidFill>
                <a:sym typeface="+mn-ea"/>
              </a:rPr>
              <a:t>年</a:t>
            </a:r>
            <a:r>
              <a:rPr lang="en-US" b="1" dirty="0" smtClean="0">
                <a:solidFill>
                  <a:schemeClr val="tx1"/>
                </a:solidFill>
                <a:sym typeface="+mn-ea"/>
              </a:rPr>
              <a:t>6</a:t>
            </a:r>
            <a:r>
              <a:rPr b="1" dirty="0" smtClean="0">
                <a:solidFill>
                  <a:schemeClr val="tx1"/>
                </a:solidFill>
                <a:sym typeface="+mn-ea"/>
              </a:rPr>
              <a:t>月1</a:t>
            </a:r>
            <a:r>
              <a:rPr lang="en-US" b="1" dirty="0" smtClean="0">
                <a:solidFill>
                  <a:schemeClr val="tx1"/>
                </a:solidFill>
                <a:sym typeface="+mn-ea"/>
              </a:rPr>
              <a:t>0</a:t>
            </a:r>
            <a:r>
              <a:rPr b="1" dirty="0" smtClean="0">
                <a:solidFill>
                  <a:schemeClr val="tx1"/>
                </a:solidFill>
                <a:sym typeface="+mn-ea"/>
              </a:rPr>
              <a:t>日，</a:t>
            </a:r>
            <a:r>
              <a:rPr lang="zh-CN" b="1" dirty="0" smtClean="0">
                <a:solidFill>
                  <a:schemeClr val="tx1"/>
                </a:solidFill>
                <a:sym typeface="+mn-ea"/>
              </a:rPr>
              <a:t>《</a:t>
            </a:r>
            <a:r>
              <a:rPr lang="zh-CN" altLang="en-US"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中华人民共和国</a:t>
            </a:r>
            <a:r>
              <a:rPr lang="zh-CN" altLang="en-US" b="1" dirty="0" smtClean="0">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数据安全</a:t>
            </a:r>
            <a:r>
              <a:rPr lang="zh-CN" altLang="en-US" b="1" dirty="0" smtClean="0">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法</a:t>
            </a:r>
            <a:r>
              <a:rPr lang="zh-CN" altLang="en-US"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》颁布，</a:t>
            </a:r>
            <a:r>
              <a:rPr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20</a:t>
            </a:r>
            <a:r>
              <a:rPr lang="en-US"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21</a:t>
            </a:r>
            <a:r>
              <a:rPr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年</a:t>
            </a:r>
            <a:r>
              <a:rPr lang="en-US"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9</a:t>
            </a:r>
            <a:r>
              <a:rPr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月1日起施行</a:t>
            </a:r>
            <a:r>
              <a:rPr lang="zh-CN"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a:t>
            </a:r>
            <a:endParaRPr lang="zh-CN"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endParaRPr>
          </a:p>
          <a:p>
            <a:pPr eaLnBrk="1" hangingPunct="1"/>
            <a:r>
              <a:rPr lang="en-US" altLang="zh-CN" b="1" dirty="0" smtClean="0">
                <a:solidFill>
                  <a:schemeClr val="tx1"/>
                </a:solidFill>
                <a:sym typeface="+mn-ea"/>
              </a:rPr>
              <a:t>	2021</a:t>
            </a:r>
            <a:r>
              <a:rPr lang="zh-CN" altLang="en-US" b="1" dirty="0" smtClean="0">
                <a:solidFill>
                  <a:schemeClr val="tx1"/>
                </a:solidFill>
                <a:sym typeface="+mn-ea"/>
              </a:rPr>
              <a:t>年</a:t>
            </a:r>
            <a:r>
              <a:rPr lang="en-US" b="1" dirty="0" smtClean="0">
                <a:solidFill>
                  <a:schemeClr val="tx1"/>
                </a:solidFill>
                <a:sym typeface="+mn-ea"/>
              </a:rPr>
              <a:t>8</a:t>
            </a:r>
            <a:r>
              <a:rPr b="1" dirty="0" smtClean="0">
                <a:solidFill>
                  <a:schemeClr val="tx1"/>
                </a:solidFill>
                <a:sym typeface="+mn-ea"/>
              </a:rPr>
              <a:t>月</a:t>
            </a:r>
            <a:r>
              <a:rPr lang="en-US" b="1" dirty="0" smtClean="0">
                <a:solidFill>
                  <a:schemeClr val="tx1"/>
                </a:solidFill>
                <a:sym typeface="+mn-ea"/>
              </a:rPr>
              <a:t>20</a:t>
            </a:r>
            <a:r>
              <a:rPr b="1" dirty="0" smtClean="0">
                <a:solidFill>
                  <a:schemeClr val="tx1"/>
                </a:solidFill>
                <a:sym typeface="+mn-ea"/>
              </a:rPr>
              <a:t>日，</a:t>
            </a:r>
            <a:r>
              <a:rPr lang="zh-CN" b="1" dirty="0" smtClean="0">
                <a:solidFill>
                  <a:schemeClr val="tx1"/>
                </a:solidFill>
                <a:sym typeface="+mn-ea"/>
              </a:rPr>
              <a:t>《</a:t>
            </a:r>
            <a:r>
              <a:rPr lang="zh-CN" altLang="en-US"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中华人民共和国</a:t>
            </a:r>
            <a:r>
              <a:rPr lang="zh-CN" altLang="en-US" b="1" dirty="0" smtClean="0">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个人信息保护法</a:t>
            </a:r>
            <a:r>
              <a:rPr lang="zh-CN" altLang="en-US"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》通过，</a:t>
            </a:r>
            <a:r>
              <a:rPr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20</a:t>
            </a:r>
            <a:r>
              <a:rPr lang="en-US"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21</a:t>
            </a:r>
            <a:r>
              <a:rPr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年</a:t>
            </a:r>
            <a:r>
              <a:rPr lang="en-US"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11</a:t>
            </a:r>
            <a:r>
              <a:rPr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月1日起施行</a:t>
            </a:r>
            <a:r>
              <a:rPr lang="zh-CN"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a:t>
            </a:r>
            <a:endParaRPr lang="zh-CN" b="1" dirty="0"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endParaRPr>
          </a:p>
          <a:p>
            <a:pPr eaLnBrk="1" hangingPunct="1"/>
            <a:r>
              <a:rPr lang="en-US" b="1" dirty="0" smtClean="0">
                <a:solidFill>
                  <a:schemeClr val="tx1"/>
                </a:solidFill>
                <a:sym typeface="+mn-ea"/>
              </a:rPr>
              <a:t>	</a:t>
            </a:r>
            <a:r>
              <a:rPr lang="zh-CN" altLang="en-US" b="1" dirty="0" smtClean="0">
                <a:solidFill>
                  <a:schemeClr val="tx1"/>
                </a:solidFill>
                <a:sym typeface="+mn-ea"/>
              </a:rPr>
              <a:t>其他行政法规、部门规章、政策文件等有《关键信息基础设施安全保护条例》、《网络安全审查办法》、《</a:t>
            </a:r>
            <a:r>
              <a:rPr lang="zh-CN" altLang="en-US" b="1" dirty="0" smtClean="0">
                <a:solidFill>
                  <a:schemeClr val="tx1"/>
                </a:solidFill>
                <a:sym typeface="+mn-ea"/>
              </a:rPr>
              <a:t>数据出境安全评估办法》、《互联网信息服务算法推荐管理规定》、</a:t>
            </a:r>
            <a:r>
              <a:rPr lang="zh-CN" altLang="en-US" b="1" dirty="0" smtClean="0">
                <a:solidFill>
                  <a:schemeClr val="tx1"/>
                </a:solidFill>
                <a:sym typeface="+mn-ea"/>
              </a:rPr>
              <a:t>《云计算服务安全评估办法》、《网络信息内容生态治理规定》、《汽车数据安全管理若干规定（试行）》、《App违法违规收集使用个人信息行为认定方法》、《常见类型移动互联网应用程序必要个人信息范围规定》等</a:t>
            </a:r>
            <a:endParaRPr lang="zh-CN" altLang="en-US" b="1" dirty="0" smtClean="0">
              <a:solidFill>
                <a:schemeClr val="tx1"/>
              </a:solidFill>
              <a:sym typeface="+mn-ea"/>
            </a:endParaRPr>
          </a:p>
          <a:p>
            <a:pPr eaLnBrk="1" hangingPunct="1"/>
            <a:r>
              <a:rPr lang="zh-CN" altLang="en-US" sz="1600" b="1" dirty="0" smtClean="0">
                <a:solidFill>
                  <a:schemeClr val="tx2"/>
                </a:solidFill>
                <a:sym typeface="+mn-ea"/>
              </a:rPr>
              <a:t>参考</a:t>
            </a:r>
            <a:r>
              <a:rPr lang="en-US" altLang="zh-CN" sz="1600" b="1" dirty="0" smtClean="0">
                <a:solidFill>
                  <a:schemeClr val="tx2"/>
                </a:solidFill>
                <a:sym typeface="+mn-ea"/>
              </a:rPr>
              <a:t>http://www.cac.gov.cn/zcfg/fl/A090901index_1.htm</a:t>
            </a:r>
            <a:endParaRPr lang="en-US" altLang="zh-CN" sz="1600" b="1" dirty="0" smtClean="0">
              <a:solidFill>
                <a:schemeClr val="tx2"/>
              </a:solidFill>
              <a:sym typeface="+mn-ea"/>
            </a:endParaRPr>
          </a:p>
        </p:txBody>
      </p:sp>
      <p:sp>
        <p:nvSpPr>
          <p:cNvPr id="7" name="Rectangle 2"/>
          <p:cNvSpPr txBox="1">
            <a:spLocks noChangeArrowheads="1"/>
          </p:cNvSpPr>
          <p:nvPr/>
        </p:nvSpPr>
        <p:spPr bwMode="white">
          <a:xfrm>
            <a:off x="838200" y="152400"/>
            <a:ext cx="7327900" cy="563563"/>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zh-CN" sz="3200" dirty="0" smtClean="0">
                <a:solidFill>
                  <a:schemeClr val="bg1"/>
                </a:solidFill>
                <a:latin typeface="Verdana" panose="020B0604030504040204" pitchFamily="34" charset="0"/>
              </a:rPr>
              <a:t>课程导学</a:t>
            </a:r>
            <a:endParaRPr lang="zh-CN" sz="3200" dirty="0" smtClean="0">
              <a:solidFill>
                <a:schemeClr val="bg1"/>
              </a:solidFill>
              <a:effectLst>
                <a:outerShdw blurRad="38100" dist="38100" dir="2700000" algn="tl">
                  <a:srgbClr val="C0C0C0"/>
                </a:outerShdw>
              </a:effectLs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内容占位符 13"/>
          <p:cNvSpPr>
            <a:spLocks noGrp="1" noChangeArrowheads="1"/>
          </p:cNvSpPr>
          <p:nvPr>
            <p:ph idx="4294967295"/>
          </p:nvPr>
        </p:nvSpPr>
        <p:spPr>
          <a:xfrm>
            <a:off x="431800" y="1196975"/>
            <a:ext cx="8040688" cy="947738"/>
          </a:xfrm>
        </p:spPr>
        <p:txBody>
          <a:bodyPr/>
          <a:lstStyle/>
          <a:p>
            <a:pPr algn="r" eaLnBrk="1" hangingPunct="1">
              <a:spcAft>
                <a:spcPts val="600"/>
              </a:spcAft>
              <a:buFont typeface="Wingdings" panose="05000000000000000000" pitchFamily="2" charset="2"/>
              <a:buNone/>
            </a:pPr>
            <a:endParaRPr lang="en-US" altLang="zh-CN" sz="2400" b="0" smtClean="0">
              <a:solidFill>
                <a:srgbClr val="FF0000"/>
              </a:solidFill>
              <a:latin typeface="Calibri" panose="020F0502020204030204" pitchFamily="34" charset="0"/>
              <a:ea typeface="黑体" panose="02010609060101010101" pitchFamily="49" charset="-122"/>
            </a:endParaRPr>
          </a:p>
          <a:p>
            <a:pPr algn="r" eaLnBrk="1" hangingPunct="1">
              <a:buFont typeface="Wingdings" panose="05000000000000000000" pitchFamily="2" charset="2"/>
              <a:buNone/>
            </a:pPr>
            <a:r>
              <a:rPr lang="zh-CN" altLang="en-US" sz="1800" smtClean="0">
                <a:solidFill>
                  <a:srgbClr val="FF0000"/>
                </a:solidFill>
                <a:ea typeface="黑体" panose="02010609060101010101" pitchFamily="49" charset="-122"/>
              </a:rPr>
              <a:t> </a:t>
            </a:r>
            <a:endParaRPr lang="en-US" altLang="zh-CN" sz="1800" smtClean="0">
              <a:ea typeface="黑体" panose="02010609060101010101" pitchFamily="49" charset="-122"/>
            </a:endParaRPr>
          </a:p>
          <a:p>
            <a:pPr algn="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a typeface="黑体" panose="02010609060101010101" pitchFamily="49" charset="-122"/>
            </a:endParaRPr>
          </a:p>
          <a:p>
            <a:pPr algn="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a typeface="黑体" panose="02010609060101010101" pitchFamily="49" charset="-122"/>
            </a:endParaRPr>
          </a:p>
          <a:p>
            <a:pPr algn="r" eaLnBrk="1" hangingPunct="1">
              <a:buFont typeface="Wingdings" panose="05000000000000000000" pitchFamily="2" charset="2"/>
              <a:buNone/>
            </a:pPr>
            <a:r>
              <a:rPr lang="zh-CN" altLang="en-US" sz="1800" smtClean="0">
                <a:solidFill>
                  <a:srgbClr val="0000CC"/>
                </a:solidFill>
                <a:latin typeface="Times New Roman" panose="02020603050405020304" pitchFamily="18" charset="0"/>
                <a:ea typeface="黑体" panose="02010609060101010101" pitchFamily="49" charset="-122"/>
              </a:rPr>
              <a:t>  </a:t>
            </a:r>
            <a:endParaRPr lang="en-US" altLang="zh-CN" sz="1800" b="0" smtClean="0">
              <a:solidFill>
                <a:schemeClr val="tx1"/>
              </a:solidFill>
              <a:latin typeface="Times New Roman" panose="02020603050405020304" pitchFamily="18" charset="0"/>
              <a:ea typeface="黑体" panose="02010609060101010101" pitchFamily="49" charset="-122"/>
            </a:endParaRPr>
          </a:p>
          <a:p>
            <a:pPr algn="r" eaLnBrk="1" hangingPunct="1">
              <a:buFont typeface="Wingdings" panose="05000000000000000000" pitchFamily="2" charset="2"/>
              <a:buNone/>
            </a:pPr>
            <a:endParaRPr lang="en-US" altLang="zh-CN" sz="1800" smtClean="0">
              <a:ea typeface="黑体" panose="02010609060101010101" pitchFamily="49" charset="-122"/>
            </a:endParaRPr>
          </a:p>
        </p:txBody>
      </p:sp>
      <p:sp>
        <p:nvSpPr>
          <p:cNvPr id="15362" name="副标题 2"/>
          <p:cNvSpPr txBox="1">
            <a:spLocks noChangeArrowheads="1"/>
          </p:cNvSpPr>
          <p:nvPr/>
        </p:nvSpPr>
        <p:spPr bwMode="auto">
          <a:xfrm>
            <a:off x="304800" y="1066800"/>
            <a:ext cx="6400800" cy="528638"/>
          </a:xfrm>
          <a:prstGeom prst="rect">
            <a:avLst/>
          </a:prstGeom>
          <a:noFill/>
          <a:ln w="9525">
            <a:noFill/>
            <a:miter lim="800000"/>
          </a:ln>
        </p:spPr>
        <p:txBody>
          <a:bodyPr/>
          <a:lstStyle/>
          <a:p>
            <a:pPr marL="342900" indent="-342900" eaLnBrk="0" hangingPunct="0">
              <a:spcBef>
                <a:spcPct val="20000"/>
              </a:spcBef>
              <a:buClr>
                <a:schemeClr val="hlink"/>
              </a:buClr>
              <a:buFont typeface="Wingdings" panose="05000000000000000000" pitchFamily="2" charset="2"/>
              <a:buChar char="n"/>
            </a:pPr>
            <a:endParaRPr lang="zh-CN" altLang="en-US" sz="2200" b="1">
              <a:solidFill>
                <a:schemeClr val="tx2"/>
              </a:solidFill>
              <a:latin typeface="宋体" panose="02010600030101010101" pitchFamily="2" charset="-122"/>
            </a:endParaRPr>
          </a:p>
        </p:txBody>
      </p:sp>
      <p:sp>
        <p:nvSpPr>
          <p:cNvPr id="9" name=" 167"/>
          <p:cNvSpPr/>
          <p:nvPr/>
        </p:nvSpPr>
        <p:spPr>
          <a:xfrm>
            <a:off x="524510" y="1148080"/>
            <a:ext cx="8230870" cy="5568315"/>
          </a:xfrm>
          <a:prstGeom prst="roundRect">
            <a:avLst>
              <a:gd name="adj" fmla="val 22731"/>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eaLnBrk="1" hangingPunct="1"/>
            <a:endParaRPr lang="en-US" altLang="zh-CN" b="1" dirty="0" smtClean="0">
              <a:solidFill>
                <a:schemeClr val="tx1"/>
              </a:solidFill>
              <a:sym typeface="+mn-ea"/>
            </a:endParaRPr>
          </a:p>
        </p:txBody>
      </p:sp>
      <p:sp>
        <p:nvSpPr>
          <p:cNvPr id="7" name="Rectangle 2"/>
          <p:cNvSpPr txBox="1">
            <a:spLocks noChangeArrowheads="1"/>
          </p:cNvSpPr>
          <p:nvPr/>
        </p:nvSpPr>
        <p:spPr bwMode="white">
          <a:xfrm>
            <a:off x="838200" y="152400"/>
            <a:ext cx="7327900" cy="563563"/>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zh-CN" sz="3200" dirty="0" smtClean="0">
                <a:solidFill>
                  <a:schemeClr val="bg1"/>
                </a:solidFill>
                <a:latin typeface="Verdana" panose="020B0604030504040204" pitchFamily="34" charset="0"/>
              </a:rPr>
              <a:t>教材选用</a:t>
            </a:r>
            <a:endParaRPr lang="zh-CN" sz="3200" dirty="0" smtClean="0">
              <a:solidFill>
                <a:schemeClr val="bg1"/>
              </a:solidFill>
              <a:effectLst>
                <a:outerShdw blurRad="38100" dist="38100" dir="2700000" algn="tl">
                  <a:srgbClr val="C0C0C0"/>
                </a:outerShdw>
              </a:effectLst>
            </a:endParaRPr>
          </a:p>
        </p:txBody>
      </p:sp>
      <p:pic>
        <p:nvPicPr>
          <p:cNvPr id="2" name="图片 1"/>
          <p:cNvPicPr>
            <a:picLocks noChangeAspect="1"/>
          </p:cNvPicPr>
          <p:nvPr/>
        </p:nvPicPr>
        <p:blipFill>
          <a:blip r:embed="rId1"/>
          <a:stretch>
            <a:fillRect/>
          </a:stretch>
        </p:blipFill>
        <p:spPr>
          <a:xfrm>
            <a:off x="1076325" y="1196975"/>
            <a:ext cx="7127875" cy="516953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p:cNvSpPr>
            <a:spLocks noGrp="1" noChangeArrowheads="1"/>
          </p:cNvSpPr>
          <p:nvPr>
            <p:ph type="title"/>
          </p:nvPr>
        </p:nvSpPr>
        <p:spPr>
          <a:xfrm>
            <a:off x="584200" y="161925"/>
            <a:ext cx="6578600" cy="533400"/>
          </a:xfrm>
        </p:spPr>
        <p:txBody>
          <a:bodyPr/>
          <a:lstStyle/>
          <a:p>
            <a:pPr eaLnBrk="1" hangingPunct="1"/>
            <a:r>
              <a:rPr lang="zh-CN" altLang="en-US" smtClean="0">
                <a:latin typeface="微软雅黑" panose="020B0503020204020204" charset="-122"/>
                <a:ea typeface="微软雅黑" panose="020B0503020204020204" charset="-122"/>
              </a:rPr>
              <a:t>全  书  目  录</a:t>
            </a:r>
            <a:endParaRPr lang="zh-CN" altLang="en-US" smtClean="0">
              <a:solidFill>
                <a:schemeClr val="accent1"/>
              </a:solidFill>
              <a:latin typeface="微软雅黑" panose="020B0503020204020204" charset="-122"/>
              <a:ea typeface="微软雅黑" panose="020B0503020204020204" charset="-122"/>
            </a:endParaRPr>
          </a:p>
        </p:txBody>
      </p:sp>
      <p:sp>
        <p:nvSpPr>
          <p:cNvPr id="10242" name="Text Box 3"/>
          <p:cNvSpPr txBox="1">
            <a:spLocks noChangeArrowheads="1"/>
          </p:cNvSpPr>
          <p:nvPr/>
        </p:nvSpPr>
        <p:spPr bwMode="auto">
          <a:xfrm>
            <a:off x="2632710" y="850583"/>
            <a:ext cx="184150" cy="366712"/>
          </a:xfrm>
          <a:prstGeom prst="rect">
            <a:avLst/>
          </a:prstGeom>
          <a:noFill/>
          <a:ln w="9525">
            <a:noFill/>
            <a:miter lim="800000"/>
          </a:ln>
        </p:spPr>
        <p:txBody>
          <a:bodyPr wrap="none">
            <a:spAutoFit/>
          </a:bodyPr>
          <a:lstStyle/>
          <a:p>
            <a:endParaRPr lang="zh-CN" altLang="en-US" sz="1800"/>
          </a:p>
        </p:txBody>
      </p:sp>
      <p:grpSp>
        <p:nvGrpSpPr>
          <p:cNvPr id="10243" name="Group 9"/>
          <p:cNvGrpSpPr/>
          <p:nvPr/>
        </p:nvGrpSpPr>
        <p:grpSpPr bwMode="auto">
          <a:xfrm>
            <a:off x="2800985" y="1576070"/>
            <a:ext cx="4724400" cy="584200"/>
            <a:chOff x="1296" y="1824"/>
            <a:chExt cx="2976" cy="432"/>
          </a:xfrm>
        </p:grpSpPr>
        <p:sp>
          <p:nvSpPr>
            <p:cNvPr id="58" name="AutoShape 10"/>
            <p:cNvSpPr>
              <a:spLocks noChangeArrowheads="1"/>
            </p:cNvSpPr>
            <p:nvPr/>
          </p:nvSpPr>
          <p:spPr bwMode="gray">
            <a:xfrm>
              <a:off x="1536" y="1899"/>
              <a:ext cx="2736" cy="288"/>
            </a:xfrm>
            <a:prstGeom prst="roundRect">
              <a:avLst>
                <a:gd name="adj" fmla="val 16667"/>
              </a:avLst>
            </a:prstGeom>
            <a:gradFill rotWithShape="1">
              <a:gsLst>
                <a:gs pos="0">
                  <a:schemeClr val="accent1"/>
                </a:gs>
                <a:gs pos="50000">
                  <a:schemeClr val="accent1">
                    <a:gamma/>
                    <a:tint val="21176"/>
                    <a:invGamma/>
                  </a:schemeClr>
                </a:gs>
                <a:gs pos="100000">
                  <a:schemeClr val="accent1"/>
                </a:gs>
              </a:gsLst>
              <a:lin ang="5400000" scaled="1"/>
            </a:gradFill>
            <a:ln w="12700" algn="ctr">
              <a:solidFill>
                <a:schemeClr val="bg1"/>
              </a:solidFill>
              <a:round/>
            </a:ln>
            <a:effectLst/>
          </p:spPr>
          <p:txBody>
            <a:bodyPr wrap="none" anchor="ctr"/>
            <a:lstStyle/>
            <a:p>
              <a:pPr>
                <a:spcBef>
                  <a:spcPct val="20000"/>
                </a:spcBef>
                <a:buFont typeface="Wingdings" panose="05000000000000000000" pitchFamily="2" charset="2"/>
                <a:buNone/>
                <a:defRPr/>
              </a:pPr>
              <a:endParaRPr lang="zh-CN" altLang="zh-CN" sz="1800" b="1">
                <a:solidFill>
                  <a:schemeClr val="tx2"/>
                </a:solidFill>
                <a:latin typeface="宋体" panose="02010600030101010101" pitchFamily="2" charset="-122"/>
              </a:endParaRPr>
            </a:p>
          </p:txBody>
        </p:sp>
        <p:sp>
          <p:nvSpPr>
            <p:cNvPr id="10245" name="AutoShape 11"/>
            <p:cNvSpPr>
              <a:spLocks noChangeArrowheads="1"/>
            </p:cNvSpPr>
            <p:nvPr/>
          </p:nvSpPr>
          <p:spPr bwMode="auto">
            <a:xfrm>
              <a:off x="1296" y="1824"/>
              <a:ext cx="432" cy="432"/>
            </a:xfrm>
            <a:prstGeom prst="diamond">
              <a:avLst/>
            </a:prstGeom>
            <a:solidFill>
              <a:schemeClr val="accent1"/>
            </a:solidFill>
            <a:ln w="25400">
              <a:solidFill>
                <a:schemeClr val="bg1"/>
              </a:solidFill>
              <a:miter lim="800000"/>
            </a:ln>
          </p:spPr>
          <p:txBody>
            <a:bodyPr wrap="none" anchor="ctr"/>
            <a:lstStyle/>
            <a:p>
              <a:pPr>
                <a:spcBef>
                  <a:spcPct val="20000"/>
                </a:spcBef>
                <a:buFont typeface="Wingdings" panose="05000000000000000000" pitchFamily="2" charset="2"/>
                <a:buNone/>
              </a:pPr>
              <a:endParaRPr lang="zh-CN" altLang="zh-CN" sz="1800" b="1">
                <a:solidFill>
                  <a:schemeClr val="tx2"/>
                </a:solidFill>
                <a:latin typeface="宋体" panose="02010600030101010101" pitchFamily="2" charset="-122"/>
              </a:endParaRPr>
            </a:p>
          </p:txBody>
        </p:sp>
        <p:sp>
          <p:nvSpPr>
            <p:cNvPr id="10246" name="Text Box 12"/>
            <p:cNvSpPr txBox="1">
              <a:spLocks noChangeArrowheads="1"/>
            </p:cNvSpPr>
            <p:nvPr/>
          </p:nvSpPr>
          <p:spPr bwMode="auto">
            <a:xfrm>
              <a:off x="1680" y="1934"/>
              <a:ext cx="2160" cy="273"/>
            </a:xfrm>
            <a:prstGeom prst="rect">
              <a:avLst/>
            </a:prstGeom>
            <a:noFill/>
            <a:ln w="9525">
              <a:noFill/>
              <a:miter lim="800000"/>
            </a:ln>
          </p:spPr>
          <p:txBody>
            <a:bodyPr>
              <a:spAutoFit/>
            </a:bodyPr>
            <a:lstStyle/>
            <a:p>
              <a:pPr>
                <a:spcBef>
                  <a:spcPct val="20000"/>
                </a:spcBef>
                <a:buFont typeface="Wingdings" panose="05000000000000000000" pitchFamily="2" charset="2"/>
                <a:buNone/>
              </a:pPr>
              <a:r>
                <a:rPr lang="en-US" altLang="zh-CN" sz="1800" b="1">
                  <a:solidFill>
                    <a:schemeClr val="tx2"/>
                  </a:solidFill>
                  <a:latin typeface="宋体" panose="02010600030101010101" pitchFamily="2" charset="-122"/>
                </a:rPr>
                <a:t> </a:t>
              </a:r>
              <a:r>
                <a:rPr lang="zh-CN" altLang="en-US" sz="1800" b="1">
                  <a:solidFill>
                    <a:schemeClr val="tx2"/>
                  </a:solidFill>
                  <a:latin typeface="宋体" panose="02010600030101010101" pitchFamily="2" charset="-122"/>
                </a:rPr>
                <a:t>第</a:t>
              </a:r>
              <a:r>
                <a:rPr lang="en-US" altLang="zh-CN" sz="1800" b="1">
                  <a:solidFill>
                    <a:schemeClr val="tx2"/>
                  </a:solidFill>
                  <a:latin typeface="宋体" panose="02010600030101010101" pitchFamily="2" charset="-122"/>
                </a:rPr>
                <a:t>2</a:t>
              </a:r>
              <a:r>
                <a:rPr lang="zh-CN" altLang="en-US" sz="1800" b="1">
                  <a:solidFill>
                    <a:schemeClr val="tx2"/>
                  </a:solidFill>
                  <a:latin typeface="宋体" panose="02010600030101010101" pitchFamily="2" charset="-122"/>
                </a:rPr>
                <a:t>章 网络安全技术基础</a:t>
              </a:r>
              <a:r>
                <a:rPr lang="zh-CN" altLang="en-US" sz="1800" b="1"/>
                <a:t> </a:t>
              </a:r>
              <a:endParaRPr lang="zh-CN" altLang="en-US" sz="1800" b="1"/>
            </a:p>
          </p:txBody>
        </p:sp>
        <p:sp>
          <p:nvSpPr>
            <p:cNvPr id="10247" name="Text Box 13"/>
            <p:cNvSpPr txBox="1">
              <a:spLocks noChangeArrowheads="1"/>
            </p:cNvSpPr>
            <p:nvPr/>
          </p:nvSpPr>
          <p:spPr bwMode="auto">
            <a:xfrm>
              <a:off x="1393" y="1886"/>
              <a:ext cx="223" cy="273"/>
            </a:xfrm>
            <a:prstGeom prst="rect">
              <a:avLst/>
            </a:prstGeom>
            <a:noFill/>
            <a:ln w="9525">
              <a:noFill/>
              <a:miter lim="800000"/>
            </a:ln>
          </p:spPr>
          <p:txBody>
            <a:bodyPr>
              <a:spAutoFit/>
            </a:bodyPr>
            <a:lstStyle/>
            <a:p>
              <a:pPr eaLnBrk="0" hangingPunct="0">
                <a:spcBef>
                  <a:spcPct val="20000"/>
                </a:spcBef>
                <a:buFont typeface="Wingdings" panose="05000000000000000000" pitchFamily="2" charset="2"/>
                <a:buNone/>
              </a:pPr>
              <a:r>
                <a:rPr lang="en-US" altLang="zh-CN" sz="1800" b="1">
                  <a:solidFill>
                    <a:schemeClr val="tx2"/>
                  </a:solidFill>
                  <a:latin typeface="宋体" panose="02010600030101010101" pitchFamily="2" charset="-122"/>
                </a:rPr>
                <a:t>2</a:t>
              </a:r>
              <a:endParaRPr lang="en-US" altLang="zh-CN" sz="1800" b="1">
                <a:solidFill>
                  <a:schemeClr val="tx2"/>
                </a:solidFill>
                <a:latin typeface="宋体" panose="02010600030101010101" pitchFamily="2" charset="-122"/>
              </a:endParaRPr>
            </a:p>
          </p:txBody>
        </p:sp>
      </p:grpSp>
      <p:grpSp>
        <p:nvGrpSpPr>
          <p:cNvPr id="10248" name="Group 14"/>
          <p:cNvGrpSpPr/>
          <p:nvPr/>
        </p:nvGrpSpPr>
        <p:grpSpPr bwMode="auto">
          <a:xfrm>
            <a:off x="2800985" y="1957070"/>
            <a:ext cx="4886325" cy="631825"/>
            <a:chOff x="1296" y="1824"/>
            <a:chExt cx="3078" cy="432"/>
          </a:xfrm>
        </p:grpSpPr>
        <p:sp>
          <p:nvSpPr>
            <p:cNvPr id="63" name="AutoShape 15"/>
            <p:cNvSpPr>
              <a:spLocks noChangeArrowheads="1"/>
            </p:cNvSpPr>
            <p:nvPr/>
          </p:nvSpPr>
          <p:spPr bwMode="gray">
            <a:xfrm>
              <a:off x="1536" y="1899"/>
              <a:ext cx="2736" cy="289"/>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ln>
            <a:effectLst/>
          </p:spPr>
          <p:txBody>
            <a:bodyPr wrap="none" anchor="ctr"/>
            <a:lstStyle/>
            <a:p>
              <a:pPr>
                <a:spcBef>
                  <a:spcPct val="20000"/>
                </a:spcBef>
                <a:buFont typeface="Wingdings" panose="05000000000000000000" pitchFamily="2" charset="2"/>
                <a:buNone/>
                <a:defRPr/>
              </a:pPr>
              <a:endParaRPr lang="zh-CN" altLang="zh-CN" sz="1800" b="1">
                <a:solidFill>
                  <a:schemeClr val="tx2"/>
                </a:solidFill>
                <a:latin typeface="宋体" panose="02010600030101010101" pitchFamily="2" charset="-122"/>
              </a:endParaRPr>
            </a:p>
          </p:txBody>
        </p:sp>
        <p:sp>
          <p:nvSpPr>
            <p:cNvPr id="10250" name="AutoShape 16"/>
            <p:cNvSpPr>
              <a:spLocks noChangeArrowheads="1"/>
            </p:cNvSpPr>
            <p:nvPr/>
          </p:nvSpPr>
          <p:spPr bwMode="auto">
            <a:xfrm>
              <a:off x="1296" y="1824"/>
              <a:ext cx="432" cy="432"/>
            </a:xfrm>
            <a:prstGeom prst="diamond">
              <a:avLst/>
            </a:prstGeom>
            <a:solidFill>
              <a:schemeClr val="hlink"/>
            </a:solidFill>
            <a:ln w="25400">
              <a:solidFill>
                <a:schemeClr val="bg1"/>
              </a:solidFill>
              <a:miter lim="800000"/>
            </a:ln>
          </p:spPr>
          <p:txBody>
            <a:bodyPr wrap="none" anchor="ctr"/>
            <a:lstStyle/>
            <a:p>
              <a:pPr>
                <a:spcBef>
                  <a:spcPct val="20000"/>
                </a:spcBef>
                <a:buFont typeface="Wingdings" panose="05000000000000000000" pitchFamily="2" charset="2"/>
                <a:buNone/>
              </a:pPr>
              <a:endParaRPr lang="zh-CN" altLang="zh-CN" sz="1800" b="1">
                <a:solidFill>
                  <a:schemeClr val="tx2"/>
                </a:solidFill>
                <a:latin typeface="宋体" panose="02010600030101010101" pitchFamily="2" charset="-122"/>
              </a:endParaRPr>
            </a:p>
          </p:txBody>
        </p:sp>
        <p:sp>
          <p:nvSpPr>
            <p:cNvPr id="10251" name="Text Box 17"/>
            <p:cNvSpPr txBox="1">
              <a:spLocks noChangeArrowheads="1"/>
            </p:cNvSpPr>
            <p:nvPr/>
          </p:nvSpPr>
          <p:spPr bwMode="auto">
            <a:xfrm>
              <a:off x="1743" y="1936"/>
              <a:ext cx="2631" cy="253"/>
            </a:xfrm>
            <a:prstGeom prst="rect">
              <a:avLst/>
            </a:prstGeom>
            <a:noFill/>
            <a:ln w="9525">
              <a:noFill/>
              <a:miter lim="800000"/>
            </a:ln>
          </p:spPr>
          <p:txBody>
            <a:bodyPr>
              <a:spAutoFit/>
            </a:bodyPr>
            <a:lstStyle/>
            <a:p>
              <a:pPr eaLnBrk="0" hangingPunct="0">
                <a:spcBef>
                  <a:spcPct val="20000"/>
                </a:spcBef>
                <a:buFont typeface="Wingdings" panose="05000000000000000000" pitchFamily="2" charset="2"/>
                <a:buNone/>
              </a:pPr>
              <a:r>
                <a:rPr lang="zh-CN" altLang="en-US" sz="1800" b="1">
                  <a:solidFill>
                    <a:schemeClr val="tx2"/>
                  </a:solidFill>
                  <a:latin typeface="宋体" panose="02010600030101010101" pitchFamily="2" charset="-122"/>
                </a:rPr>
                <a:t>第</a:t>
              </a:r>
              <a:r>
                <a:rPr lang="en-US" altLang="zh-CN" sz="1800" b="1">
                  <a:solidFill>
                    <a:schemeClr val="tx2"/>
                  </a:solidFill>
                  <a:latin typeface="宋体" panose="02010600030101010101" pitchFamily="2" charset="-122"/>
                </a:rPr>
                <a:t>3</a:t>
              </a:r>
              <a:r>
                <a:rPr lang="zh-CN" altLang="en-US" sz="1800" b="1">
                  <a:solidFill>
                    <a:schemeClr val="tx2"/>
                  </a:solidFill>
                  <a:latin typeface="宋体" panose="02010600030101010101" pitchFamily="2" charset="-122"/>
                </a:rPr>
                <a:t>章 </a:t>
              </a:r>
              <a:r>
                <a:rPr lang="zh-CN" altLang="en-US" sz="1800" b="1">
                  <a:solidFill>
                    <a:schemeClr val="tx2"/>
                  </a:solidFill>
                </a:rPr>
                <a:t>网络安全体系及管理</a:t>
              </a:r>
              <a:endParaRPr lang="zh-CN" altLang="en-US" sz="1800" b="1">
                <a:solidFill>
                  <a:schemeClr val="tx2"/>
                </a:solidFill>
                <a:latin typeface="宋体" panose="02010600030101010101" pitchFamily="2" charset="-122"/>
              </a:endParaRPr>
            </a:p>
          </p:txBody>
        </p:sp>
        <p:sp>
          <p:nvSpPr>
            <p:cNvPr id="10252" name="Text Box 18"/>
            <p:cNvSpPr txBox="1">
              <a:spLocks noChangeArrowheads="1"/>
            </p:cNvSpPr>
            <p:nvPr/>
          </p:nvSpPr>
          <p:spPr bwMode="auto">
            <a:xfrm>
              <a:off x="1405" y="1885"/>
              <a:ext cx="190" cy="253"/>
            </a:xfrm>
            <a:prstGeom prst="rect">
              <a:avLst/>
            </a:prstGeom>
            <a:noFill/>
            <a:ln w="9525">
              <a:noFill/>
              <a:miter lim="800000"/>
            </a:ln>
          </p:spPr>
          <p:txBody>
            <a:bodyPr wrap="none">
              <a:spAutoFit/>
            </a:bodyPr>
            <a:lstStyle/>
            <a:p>
              <a:pPr eaLnBrk="0" hangingPunct="0">
                <a:spcBef>
                  <a:spcPct val="20000"/>
                </a:spcBef>
                <a:buFont typeface="Wingdings" panose="05000000000000000000" pitchFamily="2" charset="2"/>
                <a:buNone/>
              </a:pPr>
              <a:r>
                <a:rPr lang="en-US" altLang="zh-CN" sz="1800" b="1">
                  <a:solidFill>
                    <a:schemeClr val="tx2"/>
                  </a:solidFill>
                  <a:latin typeface="宋体" panose="02010600030101010101" pitchFamily="2" charset="-122"/>
                </a:rPr>
                <a:t>3</a:t>
              </a:r>
              <a:endParaRPr lang="en-US" altLang="zh-CN" sz="1800" b="1">
                <a:solidFill>
                  <a:schemeClr val="tx2"/>
                </a:solidFill>
                <a:latin typeface="宋体" panose="02010600030101010101" pitchFamily="2" charset="-122"/>
              </a:endParaRPr>
            </a:p>
          </p:txBody>
        </p:sp>
      </p:grpSp>
      <p:grpSp>
        <p:nvGrpSpPr>
          <p:cNvPr id="10253" name="Group 19"/>
          <p:cNvGrpSpPr/>
          <p:nvPr/>
        </p:nvGrpSpPr>
        <p:grpSpPr bwMode="auto">
          <a:xfrm>
            <a:off x="2800985" y="2338070"/>
            <a:ext cx="4714875" cy="647700"/>
            <a:chOff x="1296" y="1824"/>
            <a:chExt cx="2976" cy="432"/>
          </a:xfrm>
        </p:grpSpPr>
        <p:sp>
          <p:nvSpPr>
            <p:cNvPr id="68" name="AutoShape 20"/>
            <p:cNvSpPr>
              <a:spLocks noChangeArrowheads="1"/>
            </p:cNvSpPr>
            <p:nvPr/>
          </p:nvSpPr>
          <p:spPr bwMode="gray">
            <a:xfrm>
              <a:off x="1536" y="1899"/>
              <a:ext cx="2736" cy="288"/>
            </a:xfrm>
            <a:prstGeom prst="roundRect">
              <a:avLst>
                <a:gd name="adj" fmla="val 16667"/>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ln>
            <a:effectLst/>
          </p:spPr>
          <p:txBody>
            <a:bodyPr wrap="none" anchor="ctr"/>
            <a:lstStyle/>
            <a:p>
              <a:pPr>
                <a:spcBef>
                  <a:spcPct val="20000"/>
                </a:spcBef>
                <a:buFont typeface="Wingdings" panose="05000000000000000000" pitchFamily="2" charset="2"/>
                <a:buNone/>
                <a:defRPr/>
              </a:pPr>
              <a:endParaRPr lang="zh-CN" altLang="zh-CN" sz="1800" b="1">
                <a:solidFill>
                  <a:schemeClr val="tx2"/>
                </a:solidFill>
                <a:latin typeface="宋体" panose="02010600030101010101" pitchFamily="2" charset="-122"/>
              </a:endParaRPr>
            </a:p>
          </p:txBody>
        </p:sp>
        <p:sp>
          <p:nvSpPr>
            <p:cNvPr id="10255" name="AutoShape 21"/>
            <p:cNvSpPr>
              <a:spLocks noChangeArrowheads="1"/>
            </p:cNvSpPr>
            <p:nvPr/>
          </p:nvSpPr>
          <p:spPr bwMode="auto">
            <a:xfrm>
              <a:off x="1296" y="1824"/>
              <a:ext cx="432" cy="432"/>
            </a:xfrm>
            <a:prstGeom prst="diamond">
              <a:avLst/>
            </a:prstGeom>
            <a:solidFill>
              <a:schemeClr val="folHlink"/>
            </a:solidFill>
            <a:ln w="25400">
              <a:solidFill>
                <a:schemeClr val="bg1"/>
              </a:solidFill>
              <a:miter lim="800000"/>
            </a:ln>
          </p:spPr>
          <p:txBody>
            <a:bodyPr wrap="none" anchor="ctr"/>
            <a:lstStyle/>
            <a:p>
              <a:pPr>
                <a:spcBef>
                  <a:spcPct val="20000"/>
                </a:spcBef>
                <a:buFont typeface="Wingdings" panose="05000000000000000000" pitchFamily="2" charset="2"/>
                <a:buNone/>
              </a:pPr>
              <a:endParaRPr lang="zh-CN" altLang="zh-CN" sz="1800" b="1">
                <a:solidFill>
                  <a:schemeClr val="tx2"/>
                </a:solidFill>
                <a:latin typeface="宋体" panose="02010600030101010101" pitchFamily="2" charset="-122"/>
              </a:endParaRPr>
            </a:p>
          </p:txBody>
        </p:sp>
        <p:sp>
          <p:nvSpPr>
            <p:cNvPr id="10256" name="Text Box 22"/>
            <p:cNvSpPr txBox="1">
              <a:spLocks noChangeArrowheads="1"/>
            </p:cNvSpPr>
            <p:nvPr/>
          </p:nvSpPr>
          <p:spPr bwMode="auto">
            <a:xfrm>
              <a:off x="1742" y="1934"/>
              <a:ext cx="2440" cy="246"/>
            </a:xfrm>
            <a:prstGeom prst="rect">
              <a:avLst/>
            </a:prstGeom>
            <a:noFill/>
            <a:ln w="9525">
              <a:noFill/>
              <a:miter lim="800000"/>
            </a:ln>
          </p:spPr>
          <p:txBody>
            <a:bodyPr>
              <a:spAutoFit/>
            </a:bodyPr>
            <a:lstStyle/>
            <a:p>
              <a:pPr eaLnBrk="0" hangingPunct="0">
                <a:spcBef>
                  <a:spcPct val="20000"/>
                </a:spcBef>
                <a:buFont typeface="Wingdings" panose="05000000000000000000" pitchFamily="2" charset="2"/>
                <a:buNone/>
              </a:pPr>
              <a:r>
                <a:rPr lang="en-US" altLang="zh-CN" sz="1800" b="1">
                  <a:solidFill>
                    <a:srgbClr val="FF0000"/>
                  </a:solidFill>
                  <a:latin typeface="宋体" panose="02010600030101010101" pitchFamily="2" charset="-122"/>
                  <a:sym typeface="+mn-ea"/>
                </a:rPr>
                <a:t>*</a:t>
              </a:r>
              <a:r>
                <a:rPr lang="zh-CN" altLang="en-US" sz="1800" b="1">
                  <a:solidFill>
                    <a:schemeClr val="tx2"/>
                  </a:solidFill>
                  <a:latin typeface="宋体" panose="02010600030101010101" pitchFamily="2" charset="-122"/>
                </a:rPr>
                <a:t>第</a:t>
              </a:r>
              <a:r>
                <a:rPr lang="en-US" altLang="zh-CN" sz="1800" b="1">
                  <a:solidFill>
                    <a:schemeClr val="tx2"/>
                  </a:solidFill>
                  <a:latin typeface="宋体" panose="02010600030101010101" pitchFamily="2" charset="-122"/>
                </a:rPr>
                <a:t>4</a:t>
              </a:r>
              <a:r>
                <a:rPr lang="zh-CN" altLang="en-US" sz="1800" b="1">
                  <a:solidFill>
                    <a:schemeClr val="tx2"/>
                  </a:solidFill>
                  <a:latin typeface="宋体" panose="02010600030101010101" pitchFamily="2" charset="-122"/>
                </a:rPr>
                <a:t>章 黑客攻防及检测防御</a:t>
              </a:r>
              <a:endParaRPr lang="zh-CN" altLang="en-US" sz="1800" b="1">
                <a:solidFill>
                  <a:schemeClr val="tx2"/>
                </a:solidFill>
                <a:latin typeface="宋体" panose="02010600030101010101" pitchFamily="2" charset="-122"/>
              </a:endParaRPr>
            </a:p>
          </p:txBody>
        </p:sp>
        <p:sp>
          <p:nvSpPr>
            <p:cNvPr id="10257" name="Text Box 23"/>
            <p:cNvSpPr txBox="1">
              <a:spLocks noChangeArrowheads="1"/>
            </p:cNvSpPr>
            <p:nvPr/>
          </p:nvSpPr>
          <p:spPr bwMode="auto">
            <a:xfrm>
              <a:off x="1393" y="1886"/>
              <a:ext cx="223" cy="246"/>
            </a:xfrm>
            <a:prstGeom prst="rect">
              <a:avLst/>
            </a:prstGeom>
            <a:noFill/>
            <a:ln w="9525">
              <a:noFill/>
              <a:miter lim="800000"/>
            </a:ln>
          </p:spPr>
          <p:txBody>
            <a:bodyPr>
              <a:spAutoFit/>
            </a:bodyPr>
            <a:lstStyle/>
            <a:p>
              <a:pPr eaLnBrk="0" hangingPunct="0">
                <a:spcBef>
                  <a:spcPct val="20000"/>
                </a:spcBef>
                <a:buFont typeface="Wingdings" panose="05000000000000000000" pitchFamily="2" charset="2"/>
                <a:buNone/>
              </a:pPr>
              <a:r>
                <a:rPr lang="en-US" altLang="zh-CN" sz="1800" b="1">
                  <a:solidFill>
                    <a:schemeClr val="tx2"/>
                  </a:solidFill>
                  <a:latin typeface="宋体" panose="02010600030101010101" pitchFamily="2" charset="-122"/>
                </a:rPr>
                <a:t>4</a:t>
              </a:r>
              <a:endParaRPr lang="en-US" altLang="zh-CN" sz="1800" b="1">
                <a:solidFill>
                  <a:schemeClr val="tx2"/>
                </a:solidFill>
                <a:latin typeface="宋体" panose="02010600030101010101" pitchFamily="2" charset="-122"/>
              </a:endParaRPr>
            </a:p>
          </p:txBody>
        </p:sp>
      </p:grpSp>
      <p:sp>
        <p:nvSpPr>
          <p:cNvPr id="10258" name="Rectangle 51"/>
          <p:cNvSpPr>
            <a:spLocks noChangeArrowheads="1"/>
          </p:cNvSpPr>
          <p:nvPr/>
        </p:nvSpPr>
        <p:spPr bwMode="auto">
          <a:xfrm>
            <a:off x="3204210" y="4062095"/>
            <a:ext cx="4419600" cy="369888"/>
          </a:xfrm>
          <a:prstGeom prst="rect">
            <a:avLst/>
          </a:prstGeom>
          <a:noFill/>
          <a:ln w="9525">
            <a:noFill/>
            <a:miter lim="800000"/>
          </a:ln>
        </p:spPr>
        <p:txBody>
          <a:bodyPr>
            <a:spAutoFit/>
          </a:bodyPr>
          <a:lstStyle/>
          <a:p>
            <a:pPr>
              <a:spcBef>
                <a:spcPct val="20000"/>
              </a:spcBef>
              <a:buFont typeface="Wingdings" panose="05000000000000000000" pitchFamily="2" charset="2"/>
              <a:buNone/>
            </a:pPr>
            <a:r>
              <a:rPr lang="en-US" altLang="zh-CN" sz="1800" b="1">
                <a:solidFill>
                  <a:schemeClr val="tx2"/>
                </a:solidFill>
                <a:latin typeface="宋体" panose="02010600030101010101" pitchFamily="2" charset="-122"/>
              </a:rPr>
              <a:t> </a:t>
            </a:r>
            <a:endParaRPr lang="en-US" altLang="zh-CN" sz="1800" b="1">
              <a:solidFill>
                <a:schemeClr val="tx2"/>
              </a:solidFill>
              <a:latin typeface="宋体" panose="02010600030101010101" pitchFamily="2" charset="-122"/>
            </a:endParaRPr>
          </a:p>
        </p:txBody>
      </p:sp>
      <p:sp>
        <p:nvSpPr>
          <p:cNvPr id="10259" name="Rectangle 52"/>
          <p:cNvSpPr>
            <a:spLocks noChangeArrowheads="1"/>
          </p:cNvSpPr>
          <p:nvPr/>
        </p:nvSpPr>
        <p:spPr bwMode="auto">
          <a:xfrm>
            <a:off x="5202873" y="2690495"/>
            <a:ext cx="301625" cy="369888"/>
          </a:xfrm>
          <a:prstGeom prst="rect">
            <a:avLst/>
          </a:prstGeom>
          <a:noFill/>
          <a:ln w="9525">
            <a:noFill/>
            <a:miter lim="800000"/>
          </a:ln>
        </p:spPr>
        <p:txBody>
          <a:bodyPr wrap="none">
            <a:spAutoFit/>
          </a:bodyPr>
          <a:lstStyle/>
          <a:p>
            <a:pPr>
              <a:spcBef>
                <a:spcPct val="20000"/>
              </a:spcBef>
              <a:buFont typeface="Wingdings" panose="05000000000000000000" pitchFamily="2" charset="2"/>
              <a:buNone/>
            </a:pPr>
            <a:r>
              <a:rPr lang="en-US" altLang="zh-CN" sz="1800" b="1">
                <a:solidFill>
                  <a:schemeClr val="tx2"/>
                </a:solidFill>
                <a:latin typeface="宋体" panose="02010600030101010101" pitchFamily="2" charset="-122"/>
              </a:rPr>
              <a:t> </a:t>
            </a:r>
            <a:endParaRPr lang="en-US" altLang="zh-CN" sz="1800" b="1">
              <a:solidFill>
                <a:schemeClr val="tx2"/>
              </a:solidFill>
              <a:latin typeface="宋体" panose="02010600030101010101" pitchFamily="2" charset="-122"/>
            </a:endParaRPr>
          </a:p>
        </p:txBody>
      </p:sp>
      <p:grpSp>
        <p:nvGrpSpPr>
          <p:cNvPr id="10260" name="Group 4"/>
          <p:cNvGrpSpPr/>
          <p:nvPr/>
        </p:nvGrpSpPr>
        <p:grpSpPr bwMode="auto">
          <a:xfrm>
            <a:off x="2772410" y="1145858"/>
            <a:ext cx="4714875" cy="608012"/>
            <a:chOff x="1296" y="1824"/>
            <a:chExt cx="2970" cy="432"/>
          </a:xfrm>
        </p:grpSpPr>
        <p:sp>
          <p:nvSpPr>
            <p:cNvPr id="75" name="AutoShape 5"/>
            <p:cNvSpPr>
              <a:spLocks noChangeArrowheads="1"/>
            </p:cNvSpPr>
            <p:nvPr/>
          </p:nvSpPr>
          <p:spPr bwMode="gray">
            <a:xfrm>
              <a:off x="1530" y="1898"/>
              <a:ext cx="2736" cy="289"/>
            </a:xfrm>
            <a:prstGeom prst="roundRect">
              <a:avLst>
                <a:gd name="adj" fmla="val 16667"/>
              </a:avLst>
            </a:prstGeom>
            <a:gradFill rotWithShape="1">
              <a:gsLst>
                <a:gs pos="0">
                  <a:schemeClr val="accent2"/>
                </a:gs>
                <a:gs pos="50000">
                  <a:schemeClr val="accent2">
                    <a:gamma/>
                    <a:tint val="21176"/>
                    <a:invGamma/>
                  </a:schemeClr>
                </a:gs>
                <a:gs pos="100000">
                  <a:schemeClr val="accent2"/>
                </a:gs>
              </a:gsLst>
              <a:lin ang="5400000" scaled="1"/>
            </a:gradFill>
            <a:ln w="12700" algn="ctr">
              <a:solidFill>
                <a:schemeClr val="bg1"/>
              </a:solidFill>
              <a:round/>
            </a:ln>
            <a:effectLst/>
          </p:spPr>
          <p:txBody>
            <a:bodyPr wrap="none" anchor="ctr"/>
            <a:lstStyle/>
            <a:p>
              <a:pPr>
                <a:spcBef>
                  <a:spcPct val="20000"/>
                </a:spcBef>
                <a:buFont typeface="Wingdings" panose="05000000000000000000" pitchFamily="2" charset="2"/>
                <a:buNone/>
                <a:defRPr/>
              </a:pPr>
              <a:endParaRPr lang="zh-CN" altLang="zh-CN" sz="1800" b="1">
                <a:solidFill>
                  <a:schemeClr val="tx2"/>
                </a:solidFill>
                <a:latin typeface="宋体" panose="02010600030101010101" pitchFamily="2" charset="-122"/>
              </a:endParaRPr>
            </a:p>
          </p:txBody>
        </p:sp>
        <p:sp>
          <p:nvSpPr>
            <p:cNvPr id="10262" name="AutoShape 6"/>
            <p:cNvSpPr>
              <a:spLocks noChangeArrowheads="1"/>
            </p:cNvSpPr>
            <p:nvPr/>
          </p:nvSpPr>
          <p:spPr bwMode="auto">
            <a:xfrm>
              <a:off x="1296" y="1824"/>
              <a:ext cx="432" cy="432"/>
            </a:xfrm>
            <a:prstGeom prst="diamond">
              <a:avLst/>
            </a:prstGeom>
            <a:solidFill>
              <a:schemeClr val="accent2"/>
            </a:solidFill>
            <a:ln w="25400">
              <a:solidFill>
                <a:schemeClr val="bg1"/>
              </a:solidFill>
              <a:miter lim="800000"/>
            </a:ln>
          </p:spPr>
          <p:txBody>
            <a:bodyPr wrap="none" anchor="ctr"/>
            <a:lstStyle/>
            <a:p>
              <a:pPr>
                <a:spcBef>
                  <a:spcPct val="20000"/>
                </a:spcBef>
                <a:buFont typeface="Wingdings" panose="05000000000000000000" pitchFamily="2" charset="2"/>
                <a:buNone/>
              </a:pPr>
              <a:endParaRPr lang="zh-CN" altLang="zh-CN" sz="1800" b="1">
                <a:solidFill>
                  <a:schemeClr val="tx2"/>
                </a:solidFill>
                <a:latin typeface="宋体" panose="02010600030101010101" pitchFamily="2" charset="-122"/>
              </a:endParaRPr>
            </a:p>
          </p:txBody>
        </p:sp>
        <p:sp>
          <p:nvSpPr>
            <p:cNvPr id="10263" name="Text Box 7"/>
            <p:cNvSpPr txBox="1">
              <a:spLocks noChangeArrowheads="1"/>
            </p:cNvSpPr>
            <p:nvPr/>
          </p:nvSpPr>
          <p:spPr bwMode="auto">
            <a:xfrm>
              <a:off x="1746" y="1935"/>
              <a:ext cx="2160" cy="262"/>
            </a:xfrm>
            <a:prstGeom prst="rect">
              <a:avLst/>
            </a:prstGeom>
            <a:noFill/>
            <a:ln w="9525">
              <a:noFill/>
              <a:miter lim="800000"/>
            </a:ln>
          </p:spPr>
          <p:txBody>
            <a:bodyPr>
              <a:spAutoFit/>
            </a:bodyPr>
            <a:lstStyle/>
            <a:p>
              <a:pPr eaLnBrk="0" hangingPunct="0">
                <a:spcBef>
                  <a:spcPct val="20000"/>
                </a:spcBef>
                <a:buFont typeface="Wingdings" panose="05000000000000000000" pitchFamily="2" charset="2"/>
                <a:buNone/>
              </a:pPr>
              <a:r>
                <a:rPr lang="zh-CN" altLang="en-US" sz="1800" b="1">
                  <a:solidFill>
                    <a:schemeClr val="tx2"/>
                  </a:solidFill>
                  <a:latin typeface="宋体" panose="02010600030101010101" pitchFamily="2" charset="-122"/>
                </a:rPr>
                <a:t>第</a:t>
              </a:r>
              <a:r>
                <a:rPr lang="en-US" altLang="zh-CN" sz="1800" b="1">
                  <a:solidFill>
                    <a:schemeClr val="tx2"/>
                  </a:solidFill>
                  <a:latin typeface="宋体" panose="02010600030101010101" pitchFamily="2" charset="-122"/>
                </a:rPr>
                <a:t>1</a:t>
              </a:r>
              <a:r>
                <a:rPr lang="zh-CN" altLang="en-US" sz="1800" b="1">
                  <a:solidFill>
                    <a:schemeClr val="tx2"/>
                  </a:solidFill>
                  <a:latin typeface="宋体" panose="02010600030101010101" pitchFamily="2" charset="-122"/>
                </a:rPr>
                <a:t>章 </a:t>
              </a:r>
              <a:r>
                <a:rPr lang="zh-CN" altLang="en-US" sz="1800" b="1">
                  <a:solidFill>
                    <a:schemeClr val="tx2"/>
                  </a:solidFill>
                </a:rPr>
                <a:t>网络安全基础</a:t>
              </a:r>
              <a:endParaRPr lang="zh-CN" altLang="en-US" sz="1800" b="1">
                <a:solidFill>
                  <a:schemeClr val="tx2"/>
                </a:solidFill>
              </a:endParaRPr>
            </a:p>
          </p:txBody>
        </p:sp>
        <p:sp>
          <p:nvSpPr>
            <p:cNvPr id="10264" name="Text Box 8"/>
            <p:cNvSpPr txBox="1">
              <a:spLocks noChangeArrowheads="1"/>
            </p:cNvSpPr>
            <p:nvPr/>
          </p:nvSpPr>
          <p:spPr bwMode="auto">
            <a:xfrm>
              <a:off x="1405" y="1886"/>
              <a:ext cx="190" cy="262"/>
            </a:xfrm>
            <a:prstGeom prst="rect">
              <a:avLst/>
            </a:prstGeom>
            <a:noFill/>
            <a:ln w="9525">
              <a:noFill/>
              <a:miter lim="800000"/>
            </a:ln>
          </p:spPr>
          <p:txBody>
            <a:bodyPr wrap="none">
              <a:spAutoFit/>
            </a:bodyPr>
            <a:lstStyle/>
            <a:p>
              <a:pPr eaLnBrk="0" hangingPunct="0">
                <a:spcBef>
                  <a:spcPct val="20000"/>
                </a:spcBef>
                <a:buFont typeface="Wingdings" panose="05000000000000000000" pitchFamily="2" charset="2"/>
                <a:buNone/>
              </a:pPr>
              <a:r>
                <a:rPr lang="en-US" altLang="zh-CN" sz="1800" b="1">
                  <a:solidFill>
                    <a:schemeClr val="tx2"/>
                  </a:solidFill>
                  <a:latin typeface="宋体" panose="02010600030101010101" pitchFamily="2" charset="-122"/>
                </a:rPr>
                <a:t>1</a:t>
              </a:r>
              <a:endParaRPr lang="en-US" altLang="zh-CN" sz="1800" b="1">
                <a:solidFill>
                  <a:schemeClr val="tx2"/>
                </a:solidFill>
                <a:latin typeface="宋体" panose="02010600030101010101" pitchFamily="2" charset="-122"/>
              </a:endParaRPr>
            </a:p>
          </p:txBody>
        </p:sp>
      </p:grpSp>
      <p:sp>
        <p:nvSpPr>
          <p:cNvPr id="10265" name="Rectangle 123"/>
          <p:cNvSpPr>
            <a:spLocks noChangeArrowheads="1"/>
          </p:cNvSpPr>
          <p:nvPr/>
        </p:nvSpPr>
        <p:spPr bwMode="auto">
          <a:xfrm>
            <a:off x="2672398" y="3930333"/>
            <a:ext cx="5068887" cy="369887"/>
          </a:xfrm>
          <a:prstGeom prst="rect">
            <a:avLst/>
          </a:prstGeom>
          <a:noFill/>
          <a:ln w="9525">
            <a:noFill/>
            <a:miter lim="800000"/>
          </a:ln>
        </p:spPr>
        <p:txBody>
          <a:bodyPr>
            <a:spAutoFit/>
          </a:bodyPr>
          <a:lstStyle/>
          <a:p>
            <a:pPr>
              <a:spcBef>
                <a:spcPct val="20000"/>
              </a:spcBef>
              <a:buFont typeface="Wingdings" panose="05000000000000000000" pitchFamily="2" charset="2"/>
              <a:buNone/>
            </a:pPr>
            <a:r>
              <a:rPr lang="en-US" altLang="zh-CN" sz="1800" b="1">
                <a:solidFill>
                  <a:schemeClr val="tx2"/>
                </a:solidFill>
                <a:latin typeface="宋体" panose="02010600030101010101" pitchFamily="2" charset="-122"/>
              </a:rPr>
              <a:t>    </a:t>
            </a:r>
            <a:endParaRPr lang="en-US" altLang="zh-CN" sz="1800" b="1">
              <a:solidFill>
                <a:schemeClr val="tx2"/>
              </a:solidFill>
              <a:latin typeface="宋体" panose="02010600030101010101" pitchFamily="2" charset="-122"/>
            </a:endParaRPr>
          </a:p>
        </p:txBody>
      </p:sp>
      <p:grpSp>
        <p:nvGrpSpPr>
          <p:cNvPr id="10266" name="Group 4"/>
          <p:cNvGrpSpPr/>
          <p:nvPr/>
        </p:nvGrpSpPr>
        <p:grpSpPr bwMode="auto">
          <a:xfrm>
            <a:off x="2800985" y="2795270"/>
            <a:ext cx="4714875" cy="620713"/>
            <a:chOff x="1296" y="1824"/>
            <a:chExt cx="2976" cy="432"/>
          </a:xfrm>
        </p:grpSpPr>
        <p:sp>
          <p:nvSpPr>
            <p:cNvPr id="81" name="AutoShape 5"/>
            <p:cNvSpPr>
              <a:spLocks noChangeArrowheads="1"/>
            </p:cNvSpPr>
            <p:nvPr/>
          </p:nvSpPr>
          <p:spPr bwMode="gray">
            <a:xfrm>
              <a:off x="1536" y="1899"/>
              <a:ext cx="2736" cy="288"/>
            </a:xfrm>
            <a:prstGeom prst="roundRect">
              <a:avLst>
                <a:gd name="adj" fmla="val 16667"/>
              </a:avLst>
            </a:prstGeom>
            <a:gradFill rotWithShape="1">
              <a:gsLst>
                <a:gs pos="0">
                  <a:schemeClr val="accent2"/>
                </a:gs>
                <a:gs pos="50000">
                  <a:schemeClr val="accent2">
                    <a:gamma/>
                    <a:tint val="21176"/>
                    <a:invGamma/>
                  </a:schemeClr>
                </a:gs>
                <a:gs pos="100000">
                  <a:schemeClr val="accent2"/>
                </a:gs>
              </a:gsLst>
              <a:lin ang="5400000" scaled="1"/>
            </a:gradFill>
            <a:ln w="12700" algn="ctr">
              <a:solidFill>
                <a:schemeClr val="bg1"/>
              </a:solidFill>
              <a:round/>
            </a:ln>
            <a:effectLst/>
          </p:spPr>
          <p:txBody>
            <a:bodyPr wrap="none" anchor="ctr"/>
            <a:lstStyle/>
            <a:p>
              <a:pPr>
                <a:spcBef>
                  <a:spcPct val="20000"/>
                </a:spcBef>
                <a:buFont typeface="Wingdings" panose="05000000000000000000" pitchFamily="2" charset="2"/>
                <a:buNone/>
                <a:defRPr/>
              </a:pPr>
              <a:endParaRPr lang="zh-CN" altLang="zh-CN" sz="1800" b="1">
                <a:solidFill>
                  <a:schemeClr val="tx2"/>
                </a:solidFill>
                <a:latin typeface="宋体" panose="02010600030101010101" pitchFamily="2" charset="-122"/>
              </a:endParaRPr>
            </a:p>
          </p:txBody>
        </p:sp>
        <p:sp>
          <p:nvSpPr>
            <p:cNvPr id="10268" name="AutoShape 6"/>
            <p:cNvSpPr>
              <a:spLocks noChangeArrowheads="1"/>
            </p:cNvSpPr>
            <p:nvPr/>
          </p:nvSpPr>
          <p:spPr bwMode="auto">
            <a:xfrm>
              <a:off x="1296" y="1824"/>
              <a:ext cx="432" cy="432"/>
            </a:xfrm>
            <a:prstGeom prst="diamond">
              <a:avLst/>
            </a:prstGeom>
            <a:solidFill>
              <a:schemeClr val="accent2"/>
            </a:solidFill>
            <a:ln w="25400">
              <a:solidFill>
                <a:schemeClr val="bg1"/>
              </a:solidFill>
              <a:miter lim="800000"/>
            </a:ln>
          </p:spPr>
          <p:txBody>
            <a:bodyPr wrap="none" anchor="ctr"/>
            <a:lstStyle/>
            <a:p>
              <a:pPr>
                <a:spcBef>
                  <a:spcPct val="20000"/>
                </a:spcBef>
                <a:buFont typeface="Wingdings" panose="05000000000000000000" pitchFamily="2" charset="2"/>
                <a:buNone/>
              </a:pPr>
              <a:endParaRPr lang="zh-CN" altLang="zh-CN" sz="1800" b="1">
                <a:solidFill>
                  <a:schemeClr val="tx2"/>
                </a:solidFill>
                <a:latin typeface="宋体" panose="02010600030101010101" pitchFamily="2" charset="-122"/>
              </a:endParaRPr>
            </a:p>
          </p:txBody>
        </p:sp>
        <p:sp>
          <p:nvSpPr>
            <p:cNvPr id="10269" name="Text Box 7"/>
            <p:cNvSpPr txBox="1">
              <a:spLocks noChangeArrowheads="1"/>
            </p:cNvSpPr>
            <p:nvPr/>
          </p:nvSpPr>
          <p:spPr bwMode="auto">
            <a:xfrm>
              <a:off x="1680" y="1934"/>
              <a:ext cx="2379" cy="256"/>
            </a:xfrm>
            <a:prstGeom prst="rect">
              <a:avLst/>
            </a:prstGeom>
            <a:noFill/>
            <a:ln w="9525">
              <a:noFill/>
              <a:miter lim="800000"/>
            </a:ln>
          </p:spPr>
          <p:txBody>
            <a:bodyPr>
              <a:spAutoFit/>
            </a:bodyPr>
            <a:lstStyle/>
            <a:p>
              <a:pPr eaLnBrk="0" hangingPunct="0">
                <a:spcBef>
                  <a:spcPct val="20000"/>
                </a:spcBef>
                <a:buFont typeface="Wingdings" panose="05000000000000000000" pitchFamily="2" charset="2"/>
                <a:buNone/>
              </a:pPr>
              <a:r>
                <a:rPr lang="zh-CN" altLang="en-US" sz="1800" b="1">
                  <a:solidFill>
                    <a:schemeClr val="tx2"/>
                  </a:solidFill>
                  <a:latin typeface="宋体" panose="02010600030101010101" pitchFamily="2" charset="-122"/>
                </a:rPr>
                <a:t> </a:t>
              </a:r>
              <a:r>
                <a:rPr lang="en-US" altLang="zh-CN" sz="1800" b="1">
                  <a:solidFill>
                    <a:srgbClr val="FF0000"/>
                  </a:solidFill>
                  <a:latin typeface="宋体" panose="02010600030101010101" pitchFamily="2" charset="-122"/>
                  <a:sym typeface="+mn-ea"/>
                </a:rPr>
                <a:t>*</a:t>
              </a:r>
              <a:r>
                <a:rPr lang="zh-CN" altLang="en-US" sz="1800" b="1">
                  <a:solidFill>
                    <a:schemeClr val="tx2"/>
                  </a:solidFill>
                  <a:latin typeface="宋体" panose="02010600030101010101" pitchFamily="2" charset="-122"/>
                </a:rPr>
                <a:t>第</a:t>
              </a:r>
              <a:r>
                <a:rPr lang="en-US" altLang="zh-CN" sz="1800" b="1">
                  <a:solidFill>
                    <a:schemeClr val="tx2"/>
                  </a:solidFill>
                  <a:latin typeface="宋体" panose="02010600030101010101" pitchFamily="2" charset="-122"/>
                </a:rPr>
                <a:t>5</a:t>
              </a:r>
              <a:r>
                <a:rPr lang="zh-CN" altLang="en-US" sz="1800" b="1">
                  <a:solidFill>
                    <a:schemeClr val="tx2"/>
                  </a:solidFill>
                  <a:latin typeface="宋体" panose="02010600030101010101" pitchFamily="2" charset="-122"/>
                </a:rPr>
                <a:t>章 密码及加密技术 </a:t>
              </a:r>
              <a:endParaRPr lang="zh-CN" altLang="en-US" sz="1800" b="1">
                <a:solidFill>
                  <a:schemeClr val="tx2"/>
                </a:solidFill>
                <a:latin typeface="宋体" panose="02010600030101010101" pitchFamily="2" charset="-122"/>
              </a:endParaRPr>
            </a:p>
          </p:txBody>
        </p:sp>
        <p:sp>
          <p:nvSpPr>
            <p:cNvPr id="10270" name="Text Box 8"/>
            <p:cNvSpPr txBox="1">
              <a:spLocks noChangeArrowheads="1"/>
            </p:cNvSpPr>
            <p:nvPr/>
          </p:nvSpPr>
          <p:spPr bwMode="auto">
            <a:xfrm>
              <a:off x="1404" y="1886"/>
              <a:ext cx="190" cy="257"/>
            </a:xfrm>
            <a:prstGeom prst="rect">
              <a:avLst/>
            </a:prstGeom>
            <a:noFill/>
            <a:ln w="9525">
              <a:noFill/>
              <a:miter lim="800000"/>
            </a:ln>
          </p:spPr>
          <p:txBody>
            <a:bodyPr wrap="none">
              <a:spAutoFit/>
            </a:bodyPr>
            <a:lstStyle/>
            <a:p>
              <a:pPr eaLnBrk="0" hangingPunct="0">
                <a:spcBef>
                  <a:spcPct val="20000"/>
                </a:spcBef>
                <a:buFont typeface="Wingdings" panose="05000000000000000000" pitchFamily="2" charset="2"/>
                <a:buNone/>
              </a:pPr>
              <a:r>
                <a:rPr lang="en-US" altLang="zh-CN" sz="1800" b="1">
                  <a:solidFill>
                    <a:schemeClr val="tx2"/>
                  </a:solidFill>
                  <a:latin typeface="宋体" panose="02010600030101010101" pitchFamily="2" charset="-122"/>
                </a:rPr>
                <a:t>5</a:t>
              </a:r>
              <a:endParaRPr lang="en-US" altLang="zh-CN" sz="1800" b="1">
                <a:solidFill>
                  <a:schemeClr val="tx2"/>
                </a:solidFill>
                <a:latin typeface="宋体" panose="02010600030101010101" pitchFamily="2" charset="-122"/>
              </a:endParaRPr>
            </a:p>
          </p:txBody>
        </p:sp>
      </p:grpSp>
      <p:grpSp>
        <p:nvGrpSpPr>
          <p:cNvPr id="10271" name="Group 9"/>
          <p:cNvGrpSpPr/>
          <p:nvPr/>
        </p:nvGrpSpPr>
        <p:grpSpPr bwMode="auto">
          <a:xfrm>
            <a:off x="2800985" y="3252470"/>
            <a:ext cx="4724400" cy="647700"/>
            <a:chOff x="1296" y="1824"/>
            <a:chExt cx="2976" cy="432"/>
          </a:xfrm>
        </p:grpSpPr>
        <p:sp>
          <p:nvSpPr>
            <p:cNvPr id="86" name="AutoShape 10"/>
            <p:cNvSpPr>
              <a:spLocks noChangeArrowheads="1"/>
            </p:cNvSpPr>
            <p:nvPr/>
          </p:nvSpPr>
          <p:spPr bwMode="gray">
            <a:xfrm>
              <a:off x="1536" y="1899"/>
              <a:ext cx="2736" cy="288"/>
            </a:xfrm>
            <a:prstGeom prst="roundRect">
              <a:avLst>
                <a:gd name="adj" fmla="val 16667"/>
              </a:avLst>
            </a:prstGeom>
            <a:gradFill rotWithShape="1">
              <a:gsLst>
                <a:gs pos="0">
                  <a:schemeClr val="accent1"/>
                </a:gs>
                <a:gs pos="50000">
                  <a:schemeClr val="accent1">
                    <a:gamma/>
                    <a:tint val="21176"/>
                    <a:invGamma/>
                  </a:schemeClr>
                </a:gs>
                <a:gs pos="100000">
                  <a:schemeClr val="accent1"/>
                </a:gs>
              </a:gsLst>
              <a:lin ang="5400000" scaled="1"/>
            </a:gradFill>
            <a:ln w="12700" algn="ctr">
              <a:solidFill>
                <a:schemeClr val="bg1"/>
              </a:solidFill>
              <a:round/>
            </a:ln>
            <a:effectLst/>
          </p:spPr>
          <p:txBody>
            <a:bodyPr wrap="none" anchor="ctr"/>
            <a:lstStyle/>
            <a:p>
              <a:pPr>
                <a:spcBef>
                  <a:spcPct val="20000"/>
                </a:spcBef>
                <a:buFont typeface="Wingdings" panose="05000000000000000000" pitchFamily="2" charset="2"/>
                <a:buNone/>
                <a:defRPr/>
              </a:pPr>
              <a:endParaRPr lang="zh-CN" altLang="zh-CN" sz="1800" b="1">
                <a:solidFill>
                  <a:schemeClr val="tx2"/>
                </a:solidFill>
                <a:latin typeface="宋体" panose="02010600030101010101" pitchFamily="2" charset="-122"/>
              </a:endParaRPr>
            </a:p>
          </p:txBody>
        </p:sp>
        <p:sp>
          <p:nvSpPr>
            <p:cNvPr id="10273" name="AutoShape 11"/>
            <p:cNvSpPr>
              <a:spLocks noChangeArrowheads="1"/>
            </p:cNvSpPr>
            <p:nvPr/>
          </p:nvSpPr>
          <p:spPr bwMode="auto">
            <a:xfrm>
              <a:off x="1296" y="1824"/>
              <a:ext cx="432" cy="432"/>
            </a:xfrm>
            <a:prstGeom prst="diamond">
              <a:avLst/>
            </a:prstGeom>
            <a:solidFill>
              <a:schemeClr val="accent1"/>
            </a:solidFill>
            <a:ln w="25400">
              <a:solidFill>
                <a:schemeClr val="bg1"/>
              </a:solidFill>
              <a:miter lim="800000"/>
            </a:ln>
          </p:spPr>
          <p:txBody>
            <a:bodyPr wrap="none" anchor="ctr"/>
            <a:lstStyle/>
            <a:p>
              <a:pPr>
                <a:spcBef>
                  <a:spcPct val="20000"/>
                </a:spcBef>
                <a:buFont typeface="Wingdings" panose="05000000000000000000" pitchFamily="2" charset="2"/>
                <a:buNone/>
              </a:pPr>
              <a:endParaRPr lang="zh-CN" altLang="zh-CN" sz="1800" b="1">
                <a:solidFill>
                  <a:schemeClr val="tx2"/>
                </a:solidFill>
                <a:latin typeface="宋体" panose="02010600030101010101" pitchFamily="2" charset="-122"/>
              </a:endParaRPr>
            </a:p>
          </p:txBody>
        </p:sp>
        <p:sp>
          <p:nvSpPr>
            <p:cNvPr id="10274" name="Text Box 12"/>
            <p:cNvSpPr txBox="1">
              <a:spLocks noChangeArrowheads="1"/>
            </p:cNvSpPr>
            <p:nvPr/>
          </p:nvSpPr>
          <p:spPr bwMode="auto">
            <a:xfrm>
              <a:off x="1680" y="1934"/>
              <a:ext cx="2466" cy="246"/>
            </a:xfrm>
            <a:prstGeom prst="rect">
              <a:avLst/>
            </a:prstGeom>
            <a:noFill/>
            <a:ln w="9525">
              <a:noFill/>
              <a:miter lim="800000"/>
            </a:ln>
          </p:spPr>
          <p:txBody>
            <a:bodyPr>
              <a:spAutoFit/>
            </a:bodyPr>
            <a:lstStyle/>
            <a:p>
              <a:pPr>
                <a:spcBef>
                  <a:spcPct val="20000"/>
                </a:spcBef>
                <a:buFont typeface="Wingdings" panose="05000000000000000000" pitchFamily="2" charset="2"/>
                <a:buNone/>
              </a:pPr>
              <a:r>
                <a:rPr lang="zh-CN" altLang="en-US" sz="1800" b="1">
                  <a:solidFill>
                    <a:schemeClr val="tx2"/>
                  </a:solidFill>
                  <a:latin typeface="宋体" panose="02010600030101010101" pitchFamily="2" charset="-122"/>
                </a:rPr>
                <a:t> 第</a:t>
              </a:r>
              <a:r>
                <a:rPr lang="en-US" altLang="zh-CN" sz="1800" b="1">
                  <a:solidFill>
                    <a:schemeClr val="tx2"/>
                  </a:solidFill>
                  <a:latin typeface="宋体" panose="02010600030101010101" pitchFamily="2" charset="-122"/>
                </a:rPr>
                <a:t>6</a:t>
              </a:r>
              <a:r>
                <a:rPr lang="zh-CN" altLang="en-US" sz="1800" b="1">
                  <a:solidFill>
                    <a:schemeClr val="tx2"/>
                  </a:solidFill>
                  <a:latin typeface="宋体" panose="02010600030101010101" pitchFamily="2" charset="-122"/>
                </a:rPr>
                <a:t>章 身份认证与访问控制</a:t>
              </a:r>
              <a:endParaRPr lang="zh-CN" altLang="en-US" sz="1800" b="1">
                <a:solidFill>
                  <a:schemeClr val="tx2"/>
                </a:solidFill>
              </a:endParaRPr>
            </a:p>
          </p:txBody>
        </p:sp>
        <p:sp>
          <p:nvSpPr>
            <p:cNvPr id="10275" name="Text Box 13"/>
            <p:cNvSpPr txBox="1">
              <a:spLocks noChangeArrowheads="1"/>
            </p:cNvSpPr>
            <p:nvPr/>
          </p:nvSpPr>
          <p:spPr bwMode="auto">
            <a:xfrm>
              <a:off x="1393" y="1886"/>
              <a:ext cx="223" cy="246"/>
            </a:xfrm>
            <a:prstGeom prst="rect">
              <a:avLst/>
            </a:prstGeom>
            <a:noFill/>
            <a:ln w="9525">
              <a:noFill/>
              <a:miter lim="800000"/>
            </a:ln>
          </p:spPr>
          <p:txBody>
            <a:bodyPr>
              <a:spAutoFit/>
            </a:bodyPr>
            <a:lstStyle/>
            <a:p>
              <a:pPr eaLnBrk="0" hangingPunct="0">
                <a:spcBef>
                  <a:spcPct val="20000"/>
                </a:spcBef>
                <a:buFont typeface="Wingdings" panose="05000000000000000000" pitchFamily="2" charset="2"/>
                <a:buNone/>
              </a:pPr>
              <a:r>
                <a:rPr lang="en-US" altLang="zh-CN" sz="1800" b="1">
                  <a:solidFill>
                    <a:schemeClr val="tx2"/>
                  </a:solidFill>
                  <a:latin typeface="宋体" panose="02010600030101010101" pitchFamily="2" charset="-122"/>
                </a:rPr>
                <a:t>6</a:t>
              </a:r>
              <a:endParaRPr lang="en-US" altLang="zh-CN" sz="1800" b="1">
                <a:solidFill>
                  <a:schemeClr val="tx2"/>
                </a:solidFill>
                <a:latin typeface="宋体" panose="02010600030101010101" pitchFamily="2" charset="-122"/>
              </a:endParaRPr>
            </a:p>
          </p:txBody>
        </p:sp>
      </p:grpSp>
      <p:sp>
        <p:nvSpPr>
          <p:cNvPr id="10276" name="Rectangle 182"/>
          <p:cNvSpPr>
            <a:spLocks noChangeArrowheads="1"/>
          </p:cNvSpPr>
          <p:nvPr/>
        </p:nvSpPr>
        <p:spPr bwMode="auto">
          <a:xfrm>
            <a:off x="5252085" y="2690495"/>
            <a:ext cx="184150" cy="369888"/>
          </a:xfrm>
          <a:prstGeom prst="rect">
            <a:avLst/>
          </a:prstGeom>
          <a:noFill/>
          <a:ln w="9525">
            <a:noFill/>
            <a:miter lim="800000"/>
          </a:ln>
        </p:spPr>
        <p:txBody>
          <a:bodyPr wrap="none">
            <a:spAutoFit/>
          </a:bodyPr>
          <a:lstStyle/>
          <a:p>
            <a:pPr eaLnBrk="0" hangingPunct="0">
              <a:spcBef>
                <a:spcPct val="20000"/>
              </a:spcBef>
              <a:buFont typeface="Wingdings" panose="05000000000000000000" pitchFamily="2" charset="2"/>
              <a:buNone/>
            </a:pPr>
            <a:endParaRPr lang="zh-CN" altLang="zh-CN" sz="1800" b="1">
              <a:solidFill>
                <a:schemeClr val="tx2"/>
              </a:solidFill>
              <a:latin typeface="宋体" panose="02010600030101010101" pitchFamily="2" charset="-122"/>
            </a:endParaRPr>
          </a:p>
        </p:txBody>
      </p:sp>
      <p:grpSp>
        <p:nvGrpSpPr>
          <p:cNvPr id="10277" name="Group 14"/>
          <p:cNvGrpSpPr/>
          <p:nvPr/>
        </p:nvGrpSpPr>
        <p:grpSpPr bwMode="auto">
          <a:xfrm>
            <a:off x="2800985" y="3709670"/>
            <a:ext cx="4724400" cy="608013"/>
            <a:chOff x="1296" y="1824"/>
            <a:chExt cx="2976" cy="432"/>
          </a:xfrm>
        </p:grpSpPr>
        <p:sp>
          <p:nvSpPr>
            <p:cNvPr id="92" name="AutoShape 15"/>
            <p:cNvSpPr>
              <a:spLocks noChangeArrowheads="1"/>
            </p:cNvSpPr>
            <p:nvPr/>
          </p:nvSpPr>
          <p:spPr bwMode="gray">
            <a:xfrm>
              <a:off x="1536" y="1898"/>
              <a:ext cx="2736" cy="289"/>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ln>
            <a:effectLst/>
          </p:spPr>
          <p:txBody>
            <a:bodyPr wrap="none" anchor="ctr"/>
            <a:lstStyle/>
            <a:p>
              <a:pPr>
                <a:spcBef>
                  <a:spcPct val="20000"/>
                </a:spcBef>
                <a:buFont typeface="Wingdings" panose="05000000000000000000" pitchFamily="2" charset="2"/>
                <a:buNone/>
                <a:defRPr/>
              </a:pPr>
              <a:endParaRPr lang="zh-CN" altLang="zh-CN" sz="1800" b="1">
                <a:solidFill>
                  <a:schemeClr val="tx2"/>
                </a:solidFill>
                <a:latin typeface="宋体" panose="02010600030101010101" pitchFamily="2" charset="-122"/>
              </a:endParaRPr>
            </a:p>
          </p:txBody>
        </p:sp>
        <p:sp>
          <p:nvSpPr>
            <p:cNvPr id="10279" name="AutoShape 16"/>
            <p:cNvSpPr>
              <a:spLocks noChangeArrowheads="1"/>
            </p:cNvSpPr>
            <p:nvPr/>
          </p:nvSpPr>
          <p:spPr bwMode="auto">
            <a:xfrm>
              <a:off x="1296" y="1824"/>
              <a:ext cx="432" cy="432"/>
            </a:xfrm>
            <a:prstGeom prst="diamond">
              <a:avLst/>
            </a:prstGeom>
            <a:solidFill>
              <a:schemeClr val="hlink"/>
            </a:solidFill>
            <a:ln w="25400">
              <a:solidFill>
                <a:schemeClr val="bg1"/>
              </a:solidFill>
              <a:miter lim="800000"/>
            </a:ln>
          </p:spPr>
          <p:txBody>
            <a:bodyPr wrap="none" anchor="ctr"/>
            <a:lstStyle/>
            <a:p>
              <a:pPr>
                <a:spcBef>
                  <a:spcPct val="20000"/>
                </a:spcBef>
                <a:buFont typeface="Wingdings" panose="05000000000000000000" pitchFamily="2" charset="2"/>
                <a:buNone/>
              </a:pPr>
              <a:endParaRPr lang="zh-CN" altLang="zh-CN" sz="1800" b="1">
                <a:solidFill>
                  <a:schemeClr val="tx2"/>
                </a:solidFill>
                <a:latin typeface="宋体" panose="02010600030101010101" pitchFamily="2" charset="-122"/>
              </a:endParaRPr>
            </a:p>
          </p:txBody>
        </p:sp>
        <p:sp>
          <p:nvSpPr>
            <p:cNvPr id="10280" name="Text Box 17"/>
            <p:cNvSpPr txBox="1">
              <a:spLocks noChangeArrowheads="1"/>
            </p:cNvSpPr>
            <p:nvPr/>
          </p:nvSpPr>
          <p:spPr bwMode="auto">
            <a:xfrm>
              <a:off x="1671" y="1936"/>
              <a:ext cx="2532" cy="262"/>
            </a:xfrm>
            <a:prstGeom prst="rect">
              <a:avLst/>
            </a:prstGeom>
            <a:noFill/>
            <a:ln w="9525">
              <a:noFill/>
              <a:miter lim="800000"/>
            </a:ln>
          </p:spPr>
          <p:txBody>
            <a:bodyPr>
              <a:spAutoFit/>
            </a:bodyPr>
            <a:lstStyle/>
            <a:p>
              <a:pPr eaLnBrk="0" hangingPunct="0">
                <a:spcBef>
                  <a:spcPct val="20000"/>
                </a:spcBef>
                <a:buFont typeface="Wingdings" panose="05000000000000000000" pitchFamily="2" charset="2"/>
                <a:buNone/>
              </a:pPr>
              <a:r>
                <a:rPr lang="zh-CN" altLang="en-US" sz="1800" b="1">
                  <a:solidFill>
                    <a:schemeClr val="tx2"/>
                  </a:solidFill>
                  <a:latin typeface="宋体" panose="02010600030101010101" pitchFamily="2" charset="-122"/>
                </a:rPr>
                <a:t> </a:t>
              </a:r>
              <a:r>
                <a:rPr lang="en-US" altLang="zh-CN" sz="1800" b="1">
                  <a:solidFill>
                    <a:srgbClr val="FF0000"/>
                  </a:solidFill>
                  <a:latin typeface="宋体" panose="02010600030101010101" pitchFamily="2" charset="-122"/>
                  <a:sym typeface="+mn-ea"/>
                </a:rPr>
                <a:t>*</a:t>
              </a:r>
              <a:r>
                <a:rPr lang="zh-CN" altLang="en-US" sz="1800" b="1">
                  <a:solidFill>
                    <a:schemeClr val="tx2"/>
                  </a:solidFill>
                  <a:latin typeface="宋体" panose="02010600030101010101" pitchFamily="2" charset="-122"/>
                </a:rPr>
                <a:t>第</a:t>
              </a:r>
              <a:r>
                <a:rPr lang="en-US" altLang="zh-CN" sz="1800" b="1">
                  <a:solidFill>
                    <a:schemeClr val="tx2"/>
                  </a:solidFill>
                  <a:latin typeface="宋体" panose="02010600030101010101" pitchFamily="2" charset="-122"/>
                </a:rPr>
                <a:t>7</a:t>
              </a:r>
              <a:r>
                <a:rPr lang="zh-CN" altLang="en-US" sz="1800" b="1">
                  <a:solidFill>
                    <a:schemeClr val="tx2"/>
                  </a:solidFill>
                  <a:latin typeface="宋体" panose="02010600030101010101" pitchFamily="2" charset="-122"/>
                </a:rPr>
                <a:t>章 计算机及手机病毒防范</a:t>
              </a:r>
              <a:endParaRPr lang="zh-CN" altLang="en-US" sz="1800" b="1">
                <a:solidFill>
                  <a:schemeClr val="tx2"/>
                </a:solidFill>
              </a:endParaRPr>
            </a:p>
          </p:txBody>
        </p:sp>
        <p:sp>
          <p:nvSpPr>
            <p:cNvPr id="10281" name="Text Box 18"/>
            <p:cNvSpPr txBox="1">
              <a:spLocks noChangeArrowheads="1"/>
            </p:cNvSpPr>
            <p:nvPr/>
          </p:nvSpPr>
          <p:spPr bwMode="auto">
            <a:xfrm>
              <a:off x="1405" y="1885"/>
              <a:ext cx="190" cy="262"/>
            </a:xfrm>
            <a:prstGeom prst="rect">
              <a:avLst/>
            </a:prstGeom>
            <a:noFill/>
            <a:ln w="9525">
              <a:noFill/>
              <a:miter lim="800000"/>
            </a:ln>
          </p:spPr>
          <p:txBody>
            <a:bodyPr wrap="none">
              <a:spAutoFit/>
            </a:bodyPr>
            <a:lstStyle/>
            <a:p>
              <a:pPr eaLnBrk="0" hangingPunct="0">
                <a:spcBef>
                  <a:spcPct val="20000"/>
                </a:spcBef>
                <a:buFont typeface="Wingdings" panose="05000000000000000000" pitchFamily="2" charset="2"/>
                <a:buNone/>
              </a:pPr>
              <a:r>
                <a:rPr lang="en-US" altLang="zh-CN" sz="1800" b="1">
                  <a:solidFill>
                    <a:schemeClr val="tx2"/>
                  </a:solidFill>
                  <a:latin typeface="宋体" panose="02010600030101010101" pitchFamily="2" charset="-122"/>
                </a:rPr>
                <a:t>7</a:t>
              </a:r>
              <a:endParaRPr lang="en-US" altLang="zh-CN" sz="1800" b="1">
                <a:solidFill>
                  <a:schemeClr val="tx2"/>
                </a:solidFill>
                <a:latin typeface="宋体" panose="02010600030101010101" pitchFamily="2" charset="-122"/>
              </a:endParaRPr>
            </a:p>
          </p:txBody>
        </p:sp>
      </p:grpSp>
      <p:grpSp>
        <p:nvGrpSpPr>
          <p:cNvPr id="10282" name="Group 19"/>
          <p:cNvGrpSpPr/>
          <p:nvPr/>
        </p:nvGrpSpPr>
        <p:grpSpPr bwMode="auto">
          <a:xfrm>
            <a:off x="2800985" y="4043045"/>
            <a:ext cx="4714875" cy="647700"/>
            <a:chOff x="1296" y="1824"/>
            <a:chExt cx="2976" cy="432"/>
          </a:xfrm>
        </p:grpSpPr>
        <p:sp>
          <p:nvSpPr>
            <p:cNvPr id="97" name="AutoShape 20"/>
            <p:cNvSpPr>
              <a:spLocks noChangeArrowheads="1"/>
            </p:cNvSpPr>
            <p:nvPr/>
          </p:nvSpPr>
          <p:spPr bwMode="gray">
            <a:xfrm>
              <a:off x="1536" y="1899"/>
              <a:ext cx="2736" cy="288"/>
            </a:xfrm>
            <a:prstGeom prst="roundRect">
              <a:avLst>
                <a:gd name="adj" fmla="val 16667"/>
              </a:avLst>
            </a:prstGeom>
            <a:gradFill rotWithShape="1">
              <a:gsLst>
                <a:gs pos="0">
                  <a:schemeClr val="folHlink"/>
                </a:gs>
                <a:gs pos="50000">
                  <a:srgbClr val="E5ECEC"/>
                </a:gs>
                <a:gs pos="100000">
                  <a:schemeClr val="folHlink"/>
                </a:gs>
              </a:gsLst>
              <a:lin ang="5400000" scaled="1"/>
            </a:gradFill>
            <a:ln w="12700" algn="ctr">
              <a:solidFill>
                <a:schemeClr val="bg1"/>
              </a:solidFill>
              <a:round/>
            </a:ln>
          </p:spPr>
          <p:txBody>
            <a:bodyPr wrap="none" anchor="ctr"/>
            <a:lstStyle/>
            <a:p>
              <a:pPr>
                <a:spcBef>
                  <a:spcPct val="20000"/>
                </a:spcBef>
                <a:buFont typeface="Wingdings" panose="05000000000000000000" pitchFamily="2" charset="2"/>
                <a:buNone/>
                <a:defRPr/>
              </a:pPr>
              <a:endParaRPr lang="zh-CN" altLang="zh-CN" sz="1800" b="1">
                <a:solidFill>
                  <a:schemeClr val="tx2"/>
                </a:solidFill>
                <a:latin typeface="宋体" panose="02010600030101010101" pitchFamily="2" charset="-122"/>
              </a:endParaRPr>
            </a:p>
          </p:txBody>
        </p:sp>
        <p:sp>
          <p:nvSpPr>
            <p:cNvPr id="10284" name="AutoShape 21"/>
            <p:cNvSpPr>
              <a:spLocks noChangeArrowheads="1"/>
            </p:cNvSpPr>
            <p:nvPr/>
          </p:nvSpPr>
          <p:spPr bwMode="auto">
            <a:xfrm>
              <a:off x="1296" y="1824"/>
              <a:ext cx="432" cy="432"/>
            </a:xfrm>
            <a:prstGeom prst="diamond">
              <a:avLst/>
            </a:prstGeom>
            <a:solidFill>
              <a:schemeClr val="folHlink"/>
            </a:solidFill>
            <a:ln w="25400">
              <a:solidFill>
                <a:schemeClr val="bg1"/>
              </a:solidFill>
              <a:miter lim="800000"/>
            </a:ln>
          </p:spPr>
          <p:txBody>
            <a:bodyPr wrap="none" anchor="ctr"/>
            <a:lstStyle/>
            <a:p>
              <a:pPr>
                <a:spcBef>
                  <a:spcPct val="20000"/>
                </a:spcBef>
                <a:buFont typeface="Wingdings" panose="05000000000000000000" pitchFamily="2" charset="2"/>
                <a:buNone/>
              </a:pPr>
              <a:endParaRPr lang="zh-CN" altLang="zh-CN" sz="1800" b="1">
                <a:solidFill>
                  <a:schemeClr val="tx2"/>
                </a:solidFill>
                <a:latin typeface="宋体" panose="02010600030101010101" pitchFamily="2" charset="-122"/>
              </a:endParaRPr>
            </a:p>
          </p:txBody>
        </p:sp>
        <p:sp>
          <p:nvSpPr>
            <p:cNvPr id="10285" name="Text Box 22"/>
            <p:cNvSpPr txBox="1">
              <a:spLocks noChangeArrowheads="1"/>
            </p:cNvSpPr>
            <p:nvPr/>
          </p:nvSpPr>
          <p:spPr bwMode="auto">
            <a:xfrm>
              <a:off x="1742" y="1934"/>
              <a:ext cx="2440" cy="246"/>
            </a:xfrm>
            <a:prstGeom prst="rect">
              <a:avLst/>
            </a:prstGeom>
            <a:noFill/>
            <a:ln w="9525">
              <a:noFill/>
              <a:miter lim="800000"/>
            </a:ln>
          </p:spPr>
          <p:txBody>
            <a:bodyPr>
              <a:spAutoFit/>
            </a:bodyPr>
            <a:lstStyle/>
            <a:p>
              <a:pPr eaLnBrk="0" hangingPunct="0">
                <a:spcBef>
                  <a:spcPct val="20000"/>
                </a:spcBef>
                <a:buFont typeface="Wingdings" panose="05000000000000000000" pitchFamily="2" charset="2"/>
                <a:buNone/>
              </a:pPr>
              <a:r>
                <a:rPr lang="zh-CN" altLang="en-US" sz="1800" b="1">
                  <a:solidFill>
                    <a:schemeClr val="tx2"/>
                  </a:solidFill>
                  <a:latin typeface="宋体" panose="02010600030101010101" pitchFamily="2" charset="-122"/>
                </a:rPr>
                <a:t>第</a:t>
              </a:r>
              <a:r>
                <a:rPr lang="en-US" altLang="zh-CN" sz="1800" b="1">
                  <a:solidFill>
                    <a:schemeClr val="tx2"/>
                  </a:solidFill>
                  <a:latin typeface="宋体" panose="02010600030101010101" pitchFamily="2" charset="-122"/>
                </a:rPr>
                <a:t>8</a:t>
              </a:r>
              <a:r>
                <a:rPr lang="zh-CN" altLang="en-US" sz="1800" b="1">
                  <a:solidFill>
                    <a:schemeClr val="tx2"/>
                  </a:solidFill>
                  <a:latin typeface="宋体" panose="02010600030101010101" pitchFamily="2" charset="-122"/>
                </a:rPr>
                <a:t>章 防火墙常用技术</a:t>
              </a:r>
              <a:endParaRPr lang="zh-CN" altLang="en-US" sz="1800" b="1">
                <a:solidFill>
                  <a:schemeClr val="tx2"/>
                </a:solidFill>
                <a:latin typeface="宋体" panose="02010600030101010101" pitchFamily="2" charset="-122"/>
              </a:endParaRPr>
            </a:p>
          </p:txBody>
        </p:sp>
        <p:sp>
          <p:nvSpPr>
            <p:cNvPr id="10286" name="Text Box 23"/>
            <p:cNvSpPr txBox="1">
              <a:spLocks noChangeArrowheads="1"/>
            </p:cNvSpPr>
            <p:nvPr/>
          </p:nvSpPr>
          <p:spPr bwMode="auto">
            <a:xfrm>
              <a:off x="1393" y="1886"/>
              <a:ext cx="223" cy="246"/>
            </a:xfrm>
            <a:prstGeom prst="rect">
              <a:avLst/>
            </a:prstGeom>
            <a:noFill/>
            <a:ln w="9525">
              <a:noFill/>
              <a:miter lim="800000"/>
            </a:ln>
          </p:spPr>
          <p:txBody>
            <a:bodyPr>
              <a:spAutoFit/>
            </a:bodyPr>
            <a:lstStyle/>
            <a:p>
              <a:pPr eaLnBrk="0" hangingPunct="0">
                <a:spcBef>
                  <a:spcPct val="20000"/>
                </a:spcBef>
                <a:buFont typeface="Wingdings" panose="05000000000000000000" pitchFamily="2" charset="2"/>
                <a:buNone/>
              </a:pPr>
              <a:r>
                <a:rPr lang="en-US" altLang="zh-CN" sz="1800" b="1">
                  <a:solidFill>
                    <a:schemeClr val="tx2"/>
                  </a:solidFill>
                  <a:latin typeface="宋体" panose="02010600030101010101" pitchFamily="2" charset="-122"/>
                </a:rPr>
                <a:t>8</a:t>
              </a:r>
              <a:endParaRPr lang="en-US" altLang="zh-CN" sz="1800" b="1">
                <a:solidFill>
                  <a:schemeClr val="tx2"/>
                </a:solidFill>
                <a:latin typeface="宋体" panose="02010600030101010101" pitchFamily="2" charset="-122"/>
              </a:endParaRPr>
            </a:p>
          </p:txBody>
        </p:sp>
      </p:grpSp>
      <p:sp>
        <p:nvSpPr>
          <p:cNvPr id="10287" name="Rectangle 51"/>
          <p:cNvSpPr>
            <a:spLocks noChangeArrowheads="1"/>
          </p:cNvSpPr>
          <p:nvPr/>
        </p:nvSpPr>
        <p:spPr bwMode="auto">
          <a:xfrm>
            <a:off x="3189923" y="5744845"/>
            <a:ext cx="4419600" cy="369888"/>
          </a:xfrm>
          <a:prstGeom prst="rect">
            <a:avLst/>
          </a:prstGeom>
          <a:noFill/>
          <a:ln w="9525">
            <a:noFill/>
            <a:miter lim="800000"/>
          </a:ln>
        </p:spPr>
        <p:txBody>
          <a:bodyPr>
            <a:spAutoFit/>
          </a:bodyPr>
          <a:lstStyle/>
          <a:p>
            <a:pPr>
              <a:spcBef>
                <a:spcPct val="20000"/>
              </a:spcBef>
              <a:buFont typeface="Wingdings" panose="05000000000000000000" pitchFamily="2" charset="2"/>
              <a:buNone/>
            </a:pPr>
            <a:r>
              <a:rPr lang="en-US" altLang="zh-CN" sz="1800" b="1">
                <a:solidFill>
                  <a:schemeClr val="tx2"/>
                </a:solidFill>
                <a:latin typeface="宋体" panose="02010600030101010101" pitchFamily="2" charset="-122"/>
              </a:rPr>
              <a:t> </a:t>
            </a:r>
            <a:endParaRPr lang="en-US" altLang="zh-CN" sz="1800" b="1">
              <a:solidFill>
                <a:schemeClr val="tx2"/>
              </a:solidFill>
              <a:latin typeface="宋体" panose="02010600030101010101" pitchFamily="2" charset="-122"/>
            </a:endParaRPr>
          </a:p>
        </p:txBody>
      </p:sp>
      <p:sp>
        <p:nvSpPr>
          <p:cNvPr id="10288" name="Rectangle 123"/>
          <p:cNvSpPr>
            <a:spLocks noChangeArrowheads="1"/>
          </p:cNvSpPr>
          <p:nvPr/>
        </p:nvSpPr>
        <p:spPr bwMode="auto">
          <a:xfrm>
            <a:off x="2658110" y="5613083"/>
            <a:ext cx="5068888" cy="369887"/>
          </a:xfrm>
          <a:prstGeom prst="rect">
            <a:avLst/>
          </a:prstGeom>
          <a:noFill/>
          <a:ln w="9525">
            <a:noFill/>
            <a:miter lim="800000"/>
          </a:ln>
        </p:spPr>
        <p:txBody>
          <a:bodyPr>
            <a:spAutoFit/>
          </a:bodyPr>
          <a:lstStyle/>
          <a:p>
            <a:pPr>
              <a:spcBef>
                <a:spcPct val="20000"/>
              </a:spcBef>
              <a:buFont typeface="Wingdings" panose="05000000000000000000" pitchFamily="2" charset="2"/>
              <a:buNone/>
            </a:pPr>
            <a:r>
              <a:rPr lang="en-US" altLang="zh-CN" sz="1800" b="1">
                <a:solidFill>
                  <a:schemeClr val="tx2"/>
                </a:solidFill>
                <a:latin typeface="宋体" panose="02010600030101010101" pitchFamily="2" charset="-122"/>
              </a:rPr>
              <a:t>    </a:t>
            </a:r>
            <a:endParaRPr lang="en-US" altLang="zh-CN" sz="1800" b="1">
              <a:solidFill>
                <a:schemeClr val="tx2"/>
              </a:solidFill>
              <a:latin typeface="宋体" panose="02010600030101010101" pitchFamily="2" charset="-122"/>
            </a:endParaRPr>
          </a:p>
        </p:txBody>
      </p:sp>
      <p:grpSp>
        <p:nvGrpSpPr>
          <p:cNvPr id="10289" name="Group 4"/>
          <p:cNvGrpSpPr/>
          <p:nvPr/>
        </p:nvGrpSpPr>
        <p:grpSpPr bwMode="auto">
          <a:xfrm>
            <a:off x="2800985" y="4500245"/>
            <a:ext cx="4714875" cy="657225"/>
            <a:chOff x="1296" y="1824"/>
            <a:chExt cx="2976" cy="432"/>
          </a:xfrm>
        </p:grpSpPr>
        <p:sp>
          <p:nvSpPr>
            <p:cNvPr id="104" name="AutoShape 5"/>
            <p:cNvSpPr>
              <a:spLocks noChangeArrowheads="1"/>
            </p:cNvSpPr>
            <p:nvPr/>
          </p:nvSpPr>
          <p:spPr bwMode="gray">
            <a:xfrm>
              <a:off x="1536" y="1899"/>
              <a:ext cx="2736" cy="288"/>
            </a:xfrm>
            <a:prstGeom prst="roundRect">
              <a:avLst>
                <a:gd name="adj" fmla="val 16667"/>
              </a:avLst>
            </a:prstGeom>
            <a:gradFill rotWithShape="1">
              <a:gsLst>
                <a:gs pos="0">
                  <a:schemeClr val="accent2"/>
                </a:gs>
                <a:gs pos="50000">
                  <a:schemeClr val="accent2">
                    <a:gamma/>
                    <a:tint val="21176"/>
                    <a:invGamma/>
                  </a:schemeClr>
                </a:gs>
                <a:gs pos="100000">
                  <a:schemeClr val="accent2"/>
                </a:gs>
              </a:gsLst>
              <a:lin ang="5400000" scaled="1"/>
            </a:gradFill>
            <a:ln w="12700" algn="ctr">
              <a:solidFill>
                <a:schemeClr val="bg1"/>
              </a:solidFill>
              <a:round/>
            </a:ln>
            <a:effectLst/>
          </p:spPr>
          <p:txBody>
            <a:bodyPr wrap="none" anchor="ctr"/>
            <a:lstStyle/>
            <a:p>
              <a:pPr>
                <a:spcBef>
                  <a:spcPct val="20000"/>
                </a:spcBef>
                <a:buFont typeface="Wingdings" panose="05000000000000000000" pitchFamily="2" charset="2"/>
                <a:buNone/>
                <a:defRPr/>
              </a:pPr>
              <a:endParaRPr lang="zh-CN" altLang="zh-CN" sz="1800" b="1">
                <a:solidFill>
                  <a:schemeClr val="tx2"/>
                </a:solidFill>
                <a:latin typeface="宋体" panose="02010600030101010101" pitchFamily="2" charset="-122"/>
              </a:endParaRPr>
            </a:p>
          </p:txBody>
        </p:sp>
        <p:sp>
          <p:nvSpPr>
            <p:cNvPr id="10291" name="AutoShape 6"/>
            <p:cNvSpPr>
              <a:spLocks noChangeArrowheads="1"/>
            </p:cNvSpPr>
            <p:nvPr/>
          </p:nvSpPr>
          <p:spPr bwMode="auto">
            <a:xfrm>
              <a:off x="1296" y="1824"/>
              <a:ext cx="432" cy="432"/>
            </a:xfrm>
            <a:prstGeom prst="diamond">
              <a:avLst/>
            </a:prstGeom>
            <a:solidFill>
              <a:schemeClr val="accent2"/>
            </a:solidFill>
            <a:ln w="25400">
              <a:solidFill>
                <a:schemeClr val="bg1"/>
              </a:solidFill>
              <a:miter lim="800000"/>
            </a:ln>
          </p:spPr>
          <p:txBody>
            <a:bodyPr wrap="none" anchor="ctr"/>
            <a:lstStyle/>
            <a:p>
              <a:pPr>
                <a:spcBef>
                  <a:spcPct val="20000"/>
                </a:spcBef>
                <a:buFont typeface="Wingdings" panose="05000000000000000000" pitchFamily="2" charset="2"/>
                <a:buNone/>
              </a:pPr>
              <a:endParaRPr lang="zh-CN" altLang="zh-CN" sz="1800" b="1">
                <a:solidFill>
                  <a:schemeClr val="tx2"/>
                </a:solidFill>
                <a:latin typeface="宋体" panose="02010600030101010101" pitchFamily="2" charset="-122"/>
              </a:endParaRPr>
            </a:p>
          </p:txBody>
        </p:sp>
        <p:sp>
          <p:nvSpPr>
            <p:cNvPr id="10292" name="Text Box 7"/>
            <p:cNvSpPr txBox="1">
              <a:spLocks noChangeArrowheads="1"/>
            </p:cNvSpPr>
            <p:nvPr/>
          </p:nvSpPr>
          <p:spPr bwMode="auto">
            <a:xfrm>
              <a:off x="1680" y="1934"/>
              <a:ext cx="2379" cy="242"/>
            </a:xfrm>
            <a:prstGeom prst="rect">
              <a:avLst/>
            </a:prstGeom>
            <a:noFill/>
            <a:ln w="9525">
              <a:noFill/>
              <a:miter lim="800000"/>
            </a:ln>
          </p:spPr>
          <p:txBody>
            <a:bodyPr>
              <a:spAutoFit/>
            </a:bodyPr>
            <a:lstStyle/>
            <a:p>
              <a:pPr eaLnBrk="0" hangingPunct="0">
                <a:spcBef>
                  <a:spcPct val="20000"/>
                </a:spcBef>
                <a:buFont typeface="Wingdings" panose="05000000000000000000" pitchFamily="2" charset="2"/>
                <a:buNone/>
              </a:pPr>
              <a:r>
                <a:rPr lang="zh-CN" altLang="en-US" sz="1800" b="1">
                  <a:solidFill>
                    <a:schemeClr val="tx2"/>
                  </a:solidFill>
                  <a:latin typeface="宋体" panose="02010600030101010101" pitchFamily="2" charset="-122"/>
                </a:rPr>
                <a:t> 第</a:t>
              </a:r>
              <a:r>
                <a:rPr lang="en-US" altLang="zh-CN" sz="1800" b="1">
                  <a:solidFill>
                    <a:schemeClr val="tx2"/>
                  </a:solidFill>
                  <a:latin typeface="宋体" panose="02010600030101010101" pitchFamily="2" charset="-122"/>
                </a:rPr>
                <a:t>9</a:t>
              </a:r>
              <a:r>
                <a:rPr lang="zh-CN" altLang="en-US" sz="1800" b="1">
                  <a:solidFill>
                    <a:schemeClr val="tx2"/>
                  </a:solidFill>
                  <a:latin typeface="宋体" panose="02010600030101010101" pitchFamily="2" charset="-122"/>
                </a:rPr>
                <a:t>章 操作系统安全 </a:t>
              </a:r>
              <a:endParaRPr lang="zh-CN" altLang="en-US" sz="1800" b="1">
                <a:solidFill>
                  <a:schemeClr val="tx2"/>
                </a:solidFill>
                <a:latin typeface="宋体" panose="02010600030101010101" pitchFamily="2" charset="-122"/>
              </a:endParaRPr>
            </a:p>
          </p:txBody>
        </p:sp>
        <p:sp>
          <p:nvSpPr>
            <p:cNvPr id="10293" name="Text Box 8"/>
            <p:cNvSpPr txBox="1">
              <a:spLocks noChangeArrowheads="1"/>
            </p:cNvSpPr>
            <p:nvPr/>
          </p:nvSpPr>
          <p:spPr bwMode="auto">
            <a:xfrm>
              <a:off x="1404" y="1886"/>
              <a:ext cx="190" cy="243"/>
            </a:xfrm>
            <a:prstGeom prst="rect">
              <a:avLst/>
            </a:prstGeom>
            <a:noFill/>
            <a:ln w="9525">
              <a:noFill/>
              <a:miter lim="800000"/>
            </a:ln>
          </p:spPr>
          <p:txBody>
            <a:bodyPr wrap="none">
              <a:spAutoFit/>
            </a:bodyPr>
            <a:lstStyle/>
            <a:p>
              <a:pPr eaLnBrk="0" hangingPunct="0">
                <a:spcBef>
                  <a:spcPct val="20000"/>
                </a:spcBef>
                <a:buFont typeface="Wingdings" panose="05000000000000000000" pitchFamily="2" charset="2"/>
                <a:buNone/>
              </a:pPr>
              <a:r>
                <a:rPr lang="en-US" altLang="zh-CN" sz="1800" b="1">
                  <a:solidFill>
                    <a:schemeClr val="tx2"/>
                  </a:solidFill>
                  <a:latin typeface="宋体" panose="02010600030101010101" pitchFamily="2" charset="-122"/>
                </a:rPr>
                <a:t>9</a:t>
              </a:r>
              <a:endParaRPr lang="en-US" altLang="zh-CN" sz="1800" b="1">
                <a:solidFill>
                  <a:schemeClr val="tx2"/>
                </a:solidFill>
                <a:latin typeface="宋体" panose="02010600030101010101" pitchFamily="2" charset="-122"/>
              </a:endParaRPr>
            </a:p>
          </p:txBody>
        </p:sp>
      </p:grpSp>
      <p:grpSp>
        <p:nvGrpSpPr>
          <p:cNvPr id="10294" name="Group 9"/>
          <p:cNvGrpSpPr/>
          <p:nvPr/>
        </p:nvGrpSpPr>
        <p:grpSpPr bwMode="auto">
          <a:xfrm>
            <a:off x="2800985" y="4957445"/>
            <a:ext cx="4724400" cy="685800"/>
            <a:chOff x="1296" y="1824"/>
            <a:chExt cx="2976" cy="432"/>
          </a:xfrm>
        </p:grpSpPr>
        <p:sp>
          <p:nvSpPr>
            <p:cNvPr id="109" name="AutoShape 10"/>
            <p:cNvSpPr>
              <a:spLocks noChangeArrowheads="1"/>
            </p:cNvSpPr>
            <p:nvPr/>
          </p:nvSpPr>
          <p:spPr bwMode="gray">
            <a:xfrm>
              <a:off x="1536" y="1899"/>
              <a:ext cx="2736" cy="288"/>
            </a:xfrm>
            <a:prstGeom prst="roundRect">
              <a:avLst>
                <a:gd name="adj" fmla="val 16667"/>
              </a:avLst>
            </a:prstGeom>
            <a:gradFill rotWithShape="1">
              <a:gsLst>
                <a:gs pos="0">
                  <a:schemeClr val="accent1"/>
                </a:gs>
                <a:gs pos="50000">
                  <a:schemeClr val="accent1">
                    <a:gamma/>
                    <a:tint val="21176"/>
                    <a:invGamma/>
                  </a:schemeClr>
                </a:gs>
                <a:gs pos="100000">
                  <a:schemeClr val="accent1"/>
                </a:gs>
              </a:gsLst>
              <a:lin ang="5400000" scaled="1"/>
            </a:gradFill>
            <a:ln w="12700" algn="ctr">
              <a:solidFill>
                <a:schemeClr val="bg1"/>
              </a:solidFill>
              <a:round/>
            </a:ln>
            <a:effectLst/>
          </p:spPr>
          <p:txBody>
            <a:bodyPr wrap="none" anchor="ctr"/>
            <a:lstStyle/>
            <a:p>
              <a:pPr fontAlgn="auto">
                <a:spcBef>
                  <a:spcPct val="20000"/>
                </a:spcBef>
                <a:spcAft>
                  <a:spcPts val="0"/>
                </a:spcAft>
                <a:buFont typeface="Wingdings" panose="05000000000000000000" pitchFamily="2" charset="2"/>
                <a:buNone/>
                <a:defRPr/>
              </a:pPr>
              <a:endParaRPr lang="zh-CN" altLang="zh-CN" sz="1800" b="1">
                <a:solidFill>
                  <a:schemeClr val="tx2"/>
                </a:solidFill>
                <a:latin typeface="+mn-lt"/>
                <a:ea typeface="+mn-ea"/>
              </a:endParaRPr>
            </a:p>
          </p:txBody>
        </p:sp>
        <p:sp>
          <p:nvSpPr>
            <p:cNvPr id="10296" name="AutoShape 11"/>
            <p:cNvSpPr>
              <a:spLocks noChangeArrowheads="1"/>
            </p:cNvSpPr>
            <p:nvPr/>
          </p:nvSpPr>
          <p:spPr bwMode="auto">
            <a:xfrm>
              <a:off x="1296" y="1824"/>
              <a:ext cx="432" cy="432"/>
            </a:xfrm>
            <a:prstGeom prst="diamond">
              <a:avLst/>
            </a:prstGeom>
            <a:solidFill>
              <a:schemeClr val="accent1"/>
            </a:solidFill>
            <a:ln w="25400">
              <a:solidFill>
                <a:schemeClr val="bg1"/>
              </a:solidFill>
              <a:miter lim="800000"/>
            </a:ln>
          </p:spPr>
          <p:txBody>
            <a:bodyPr wrap="none" anchor="ctr"/>
            <a:lstStyle/>
            <a:p>
              <a:pPr>
                <a:spcBef>
                  <a:spcPct val="20000"/>
                </a:spcBef>
                <a:buFont typeface="Wingdings" panose="05000000000000000000" pitchFamily="2" charset="2"/>
                <a:buNone/>
              </a:pPr>
              <a:endParaRPr lang="zh-CN" altLang="zh-CN" sz="1800" b="1">
                <a:solidFill>
                  <a:schemeClr val="tx2"/>
                </a:solidFill>
                <a:latin typeface="宋体" panose="02010600030101010101" pitchFamily="2" charset="-122"/>
              </a:endParaRPr>
            </a:p>
          </p:txBody>
        </p:sp>
        <p:sp>
          <p:nvSpPr>
            <p:cNvPr id="10297" name="Text Box 12"/>
            <p:cNvSpPr txBox="1">
              <a:spLocks noChangeArrowheads="1"/>
            </p:cNvSpPr>
            <p:nvPr/>
          </p:nvSpPr>
          <p:spPr bwMode="auto">
            <a:xfrm>
              <a:off x="1680" y="1934"/>
              <a:ext cx="2466" cy="232"/>
            </a:xfrm>
            <a:prstGeom prst="rect">
              <a:avLst/>
            </a:prstGeom>
            <a:noFill/>
            <a:ln w="9525">
              <a:noFill/>
              <a:miter lim="800000"/>
            </a:ln>
          </p:spPr>
          <p:txBody>
            <a:bodyPr>
              <a:spAutoFit/>
            </a:bodyPr>
            <a:lstStyle/>
            <a:p>
              <a:pPr>
                <a:spcBef>
                  <a:spcPct val="20000"/>
                </a:spcBef>
                <a:buFont typeface="Wingdings" panose="05000000000000000000" pitchFamily="2" charset="2"/>
                <a:buNone/>
              </a:pPr>
              <a:r>
                <a:rPr lang="zh-CN" altLang="en-US" sz="1800" b="1">
                  <a:solidFill>
                    <a:schemeClr val="tx2"/>
                  </a:solidFill>
                  <a:latin typeface="宋体" panose="02010600030101010101" pitchFamily="2" charset="-122"/>
                </a:rPr>
                <a:t> </a:t>
              </a:r>
              <a:r>
                <a:rPr lang="en-US" altLang="zh-CN" sz="1800" b="1">
                  <a:solidFill>
                    <a:srgbClr val="FF0000"/>
                  </a:solidFill>
                  <a:latin typeface="宋体" panose="02010600030101010101" pitchFamily="2" charset="-122"/>
                  <a:sym typeface="+mn-ea"/>
                </a:rPr>
                <a:t>*</a:t>
              </a:r>
              <a:r>
                <a:rPr lang="zh-CN" altLang="en-US" sz="1800" b="1">
                  <a:solidFill>
                    <a:schemeClr val="tx2"/>
                  </a:solidFill>
                  <a:latin typeface="宋体" panose="02010600030101010101" pitchFamily="2" charset="-122"/>
                </a:rPr>
                <a:t>第</a:t>
              </a:r>
              <a:r>
                <a:rPr lang="en-US" altLang="zh-CN" sz="1800" b="1">
                  <a:solidFill>
                    <a:schemeClr val="tx2"/>
                  </a:solidFill>
                  <a:latin typeface="宋体" panose="02010600030101010101" pitchFamily="2" charset="-122"/>
                </a:rPr>
                <a:t>10</a:t>
              </a:r>
              <a:r>
                <a:rPr lang="zh-CN" altLang="en-US" sz="1800" b="1">
                  <a:solidFill>
                    <a:schemeClr val="tx2"/>
                  </a:solidFill>
                  <a:latin typeface="宋体" panose="02010600030101010101" pitchFamily="2" charset="-122"/>
                </a:rPr>
                <a:t>章 数据库及数据安全</a:t>
              </a:r>
              <a:endParaRPr lang="zh-CN" altLang="en-US" sz="1800" b="1">
                <a:solidFill>
                  <a:schemeClr val="tx2"/>
                </a:solidFill>
              </a:endParaRPr>
            </a:p>
          </p:txBody>
        </p:sp>
        <p:sp>
          <p:nvSpPr>
            <p:cNvPr id="10298" name="Text Box 13"/>
            <p:cNvSpPr txBox="1">
              <a:spLocks noChangeArrowheads="1"/>
            </p:cNvSpPr>
            <p:nvPr/>
          </p:nvSpPr>
          <p:spPr bwMode="auto">
            <a:xfrm>
              <a:off x="1344" y="1886"/>
              <a:ext cx="272" cy="233"/>
            </a:xfrm>
            <a:prstGeom prst="rect">
              <a:avLst/>
            </a:prstGeom>
            <a:noFill/>
            <a:ln w="9525">
              <a:noFill/>
              <a:miter lim="800000"/>
            </a:ln>
          </p:spPr>
          <p:txBody>
            <a:bodyPr>
              <a:spAutoFit/>
            </a:bodyPr>
            <a:lstStyle/>
            <a:p>
              <a:pPr eaLnBrk="0" hangingPunct="0">
                <a:spcBef>
                  <a:spcPct val="20000"/>
                </a:spcBef>
                <a:buFont typeface="Wingdings" panose="05000000000000000000" pitchFamily="2" charset="2"/>
                <a:buNone/>
              </a:pPr>
              <a:r>
                <a:rPr lang="en-US" altLang="zh-CN" sz="1800" b="1">
                  <a:solidFill>
                    <a:schemeClr val="tx2"/>
                  </a:solidFill>
                  <a:latin typeface="宋体" panose="02010600030101010101" pitchFamily="2" charset="-122"/>
                </a:rPr>
                <a:t>10</a:t>
              </a:r>
              <a:endParaRPr lang="en-US" altLang="zh-CN" sz="1800" b="1">
                <a:solidFill>
                  <a:schemeClr val="tx2"/>
                </a:solidFill>
                <a:latin typeface="宋体" panose="02010600030101010101" pitchFamily="2" charset="-122"/>
              </a:endParaRPr>
            </a:p>
          </p:txBody>
        </p:sp>
      </p:grpSp>
      <p:grpSp>
        <p:nvGrpSpPr>
          <p:cNvPr id="10299" name="Group 14"/>
          <p:cNvGrpSpPr/>
          <p:nvPr/>
        </p:nvGrpSpPr>
        <p:grpSpPr bwMode="auto">
          <a:xfrm>
            <a:off x="2800985" y="5414645"/>
            <a:ext cx="4724400" cy="642938"/>
            <a:chOff x="1296" y="1824"/>
            <a:chExt cx="2976" cy="432"/>
          </a:xfrm>
        </p:grpSpPr>
        <p:sp>
          <p:nvSpPr>
            <p:cNvPr id="114" name="AutoShape 15"/>
            <p:cNvSpPr>
              <a:spLocks noChangeArrowheads="1"/>
            </p:cNvSpPr>
            <p:nvPr/>
          </p:nvSpPr>
          <p:spPr bwMode="gray">
            <a:xfrm>
              <a:off x="1536" y="1899"/>
              <a:ext cx="2736" cy="288"/>
            </a:xfrm>
            <a:prstGeom prst="roundRect">
              <a:avLst>
                <a:gd name="adj" fmla="val 16667"/>
              </a:avLst>
            </a:prstGeom>
            <a:gradFill rotWithShape="1">
              <a:gsLst>
                <a:gs pos="0">
                  <a:schemeClr val="hlink"/>
                </a:gs>
                <a:gs pos="50000">
                  <a:srgbClr val="DFE9C9"/>
                </a:gs>
                <a:gs pos="100000">
                  <a:schemeClr val="hlink"/>
                </a:gs>
              </a:gsLst>
              <a:lin ang="5400000" scaled="1"/>
            </a:gradFill>
            <a:ln w="12700" algn="ctr">
              <a:solidFill>
                <a:schemeClr val="bg1"/>
              </a:solidFill>
              <a:round/>
            </a:ln>
          </p:spPr>
          <p:txBody>
            <a:bodyPr wrap="none" anchor="ctr"/>
            <a:lstStyle/>
            <a:p>
              <a:pPr>
                <a:spcBef>
                  <a:spcPct val="20000"/>
                </a:spcBef>
                <a:buFont typeface="Wingdings" panose="05000000000000000000" pitchFamily="2" charset="2"/>
                <a:buNone/>
                <a:defRPr/>
              </a:pPr>
              <a:endParaRPr lang="zh-CN" altLang="zh-CN" sz="1800" b="1">
                <a:solidFill>
                  <a:schemeClr val="tx2"/>
                </a:solidFill>
                <a:latin typeface="宋体" panose="02010600030101010101" pitchFamily="2" charset="-122"/>
              </a:endParaRPr>
            </a:p>
          </p:txBody>
        </p:sp>
        <p:sp>
          <p:nvSpPr>
            <p:cNvPr id="10301" name="AutoShape 16"/>
            <p:cNvSpPr>
              <a:spLocks noChangeArrowheads="1"/>
            </p:cNvSpPr>
            <p:nvPr/>
          </p:nvSpPr>
          <p:spPr bwMode="auto">
            <a:xfrm>
              <a:off x="1296" y="1824"/>
              <a:ext cx="432" cy="432"/>
            </a:xfrm>
            <a:prstGeom prst="diamond">
              <a:avLst/>
            </a:prstGeom>
            <a:solidFill>
              <a:schemeClr val="hlink"/>
            </a:solidFill>
            <a:ln w="25400">
              <a:solidFill>
                <a:schemeClr val="bg1"/>
              </a:solidFill>
              <a:miter lim="800000"/>
            </a:ln>
          </p:spPr>
          <p:txBody>
            <a:bodyPr wrap="none" anchor="ctr"/>
            <a:lstStyle/>
            <a:p>
              <a:pPr>
                <a:spcBef>
                  <a:spcPct val="20000"/>
                </a:spcBef>
                <a:buFont typeface="Wingdings" panose="05000000000000000000" pitchFamily="2" charset="2"/>
                <a:buNone/>
              </a:pPr>
              <a:endParaRPr lang="zh-CN" altLang="zh-CN" sz="1800" b="1">
                <a:solidFill>
                  <a:schemeClr val="tx2"/>
                </a:solidFill>
                <a:latin typeface="宋体" panose="02010600030101010101" pitchFamily="2" charset="-122"/>
              </a:endParaRPr>
            </a:p>
          </p:txBody>
        </p:sp>
        <p:sp>
          <p:nvSpPr>
            <p:cNvPr id="10302" name="Text Box 17"/>
            <p:cNvSpPr txBox="1">
              <a:spLocks noChangeArrowheads="1"/>
            </p:cNvSpPr>
            <p:nvPr/>
          </p:nvSpPr>
          <p:spPr bwMode="auto">
            <a:xfrm>
              <a:off x="1671" y="1936"/>
              <a:ext cx="2532" cy="247"/>
            </a:xfrm>
            <a:prstGeom prst="rect">
              <a:avLst/>
            </a:prstGeom>
            <a:noFill/>
            <a:ln w="9525">
              <a:noFill/>
              <a:miter lim="800000"/>
            </a:ln>
          </p:spPr>
          <p:txBody>
            <a:bodyPr>
              <a:spAutoFit/>
            </a:bodyPr>
            <a:lstStyle/>
            <a:p>
              <a:pPr eaLnBrk="0" hangingPunct="0">
                <a:spcBef>
                  <a:spcPct val="20000"/>
                </a:spcBef>
                <a:buFont typeface="Wingdings" panose="05000000000000000000" pitchFamily="2" charset="2"/>
                <a:buNone/>
              </a:pPr>
              <a:r>
                <a:rPr lang="en-US" altLang="zh-CN" sz="1800" b="1">
                  <a:solidFill>
                    <a:srgbClr val="FF0000"/>
                  </a:solidFill>
                  <a:latin typeface="宋体" panose="02010600030101010101" pitchFamily="2" charset="-122"/>
                </a:rPr>
                <a:t>*</a:t>
              </a:r>
              <a:r>
                <a:rPr lang="zh-CN" altLang="en-US" sz="1800" b="1">
                  <a:solidFill>
                    <a:schemeClr val="tx2"/>
                  </a:solidFill>
                  <a:latin typeface="宋体" panose="02010600030101010101" pitchFamily="2" charset="-122"/>
                </a:rPr>
                <a:t>第</a:t>
              </a:r>
              <a:r>
                <a:rPr lang="en-US" altLang="zh-CN" sz="1800" b="1">
                  <a:solidFill>
                    <a:schemeClr val="tx2"/>
                  </a:solidFill>
                  <a:latin typeface="宋体" panose="02010600030101010101" pitchFamily="2" charset="-122"/>
                </a:rPr>
                <a:t>11</a:t>
              </a:r>
              <a:r>
                <a:rPr lang="zh-CN" altLang="en-US" sz="1800" b="1">
                  <a:solidFill>
                    <a:schemeClr val="tx2"/>
                  </a:solidFill>
                  <a:latin typeface="宋体" panose="02010600030101010101" pitchFamily="2" charset="-122"/>
                </a:rPr>
                <a:t>章 电子商务安全</a:t>
              </a:r>
              <a:endParaRPr lang="zh-CN" altLang="en-US" sz="1800" b="1">
                <a:solidFill>
                  <a:schemeClr val="tx2"/>
                </a:solidFill>
              </a:endParaRPr>
            </a:p>
          </p:txBody>
        </p:sp>
        <p:sp>
          <p:nvSpPr>
            <p:cNvPr id="10303" name="Text Box 18"/>
            <p:cNvSpPr txBox="1">
              <a:spLocks noChangeArrowheads="1"/>
            </p:cNvSpPr>
            <p:nvPr/>
          </p:nvSpPr>
          <p:spPr bwMode="auto">
            <a:xfrm>
              <a:off x="1364" y="1885"/>
              <a:ext cx="264" cy="248"/>
            </a:xfrm>
            <a:prstGeom prst="rect">
              <a:avLst/>
            </a:prstGeom>
            <a:noFill/>
            <a:ln w="9525">
              <a:noFill/>
              <a:miter lim="800000"/>
            </a:ln>
          </p:spPr>
          <p:txBody>
            <a:bodyPr wrap="none">
              <a:spAutoFit/>
            </a:bodyPr>
            <a:lstStyle/>
            <a:p>
              <a:pPr eaLnBrk="0" hangingPunct="0">
                <a:spcBef>
                  <a:spcPct val="20000"/>
                </a:spcBef>
                <a:buFont typeface="Wingdings" panose="05000000000000000000" pitchFamily="2" charset="2"/>
                <a:buNone/>
              </a:pPr>
              <a:r>
                <a:rPr lang="en-US" altLang="zh-CN" sz="1800" b="1">
                  <a:solidFill>
                    <a:schemeClr val="tx2"/>
                  </a:solidFill>
                  <a:latin typeface="宋体" panose="02010600030101010101" pitchFamily="2" charset="-122"/>
                </a:rPr>
                <a:t>11</a:t>
              </a:r>
              <a:endParaRPr lang="en-US" altLang="zh-CN" sz="1800" b="1">
                <a:solidFill>
                  <a:schemeClr val="tx2"/>
                </a:solidFill>
                <a:latin typeface="宋体" panose="02010600030101010101" pitchFamily="2" charset="-122"/>
              </a:endParaRPr>
            </a:p>
          </p:txBody>
        </p:sp>
      </p:grpSp>
      <p:grpSp>
        <p:nvGrpSpPr>
          <p:cNvPr id="10304" name="Group 19"/>
          <p:cNvGrpSpPr/>
          <p:nvPr/>
        </p:nvGrpSpPr>
        <p:grpSpPr bwMode="auto">
          <a:xfrm>
            <a:off x="2800985" y="5871845"/>
            <a:ext cx="4753069" cy="647700"/>
            <a:chOff x="1296" y="1824"/>
            <a:chExt cx="3000" cy="432"/>
          </a:xfrm>
        </p:grpSpPr>
        <p:sp>
          <p:nvSpPr>
            <p:cNvPr id="119" name="AutoShape 20"/>
            <p:cNvSpPr>
              <a:spLocks noChangeArrowheads="1"/>
            </p:cNvSpPr>
            <p:nvPr/>
          </p:nvSpPr>
          <p:spPr bwMode="gray">
            <a:xfrm>
              <a:off x="1536" y="1899"/>
              <a:ext cx="2727" cy="288"/>
            </a:xfrm>
            <a:prstGeom prst="roundRect">
              <a:avLst>
                <a:gd name="adj" fmla="val 16667"/>
              </a:avLst>
            </a:prstGeom>
            <a:gradFill rotWithShape="1">
              <a:gsLst>
                <a:gs pos="0">
                  <a:schemeClr val="folHlink"/>
                </a:gs>
                <a:gs pos="50000">
                  <a:srgbClr val="E5ECEC"/>
                </a:gs>
                <a:gs pos="100000">
                  <a:schemeClr val="folHlink"/>
                </a:gs>
              </a:gsLst>
              <a:lin ang="5400000" scaled="1"/>
            </a:gradFill>
            <a:ln w="12700" algn="ctr">
              <a:solidFill>
                <a:schemeClr val="bg1"/>
              </a:solidFill>
              <a:round/>
            </a:ln>
          </p:spPr>
          <p:txBody>
            <a:bodyPr wrap="none" anchor="ctr"/>
            <a:lstStyle/>
            <a:p>
              <a:pPr>
                <a:spcBef>
                  <a:spcPct val="20000"/>
                </a:spcBef>
                <a:buFont typeface="Wingdings" panose="05000000000000000000" pitchFamily="2" charset="2"/>
                <a:buNone/>
                <a:defRPr/>
              </a:pPr>
              <a:endParaRPr lang="zh-CN" altLang="zh-CN" sz="1800" b="1">
                <a:solidFill>
                  <a:schemeClr val="tx2"/>
                </a:solidFill>
                <a:latin typeface="宋体" panose="02010600030101010101" pitchFamily="2" charset="-122"/>
              </a:endParaRPr>
            </a:p>
          </p:txBody>
        </p:sp>
        <p:sp>
          <p:nvSpPr>
            <p:cNvPr id="10306" name="AutoShape 21"/>
            <p:cNvSpPr>
              <a:spLocks noChangeArrowheads="1"/>
            </p:cNvSpPr>
            <p:nvPr/>
          </p:nvSpPr>
          <p:spPr bwMode="auto">
            <a:xfrm>
              <a:off x="1296" y="1824"/>
              <a:ext cx="432" cy="432"/>
            </a:xfrm>
            <a:prstGeom prst="diamond">
              <a:avLst/>
            </a:prstGeom>
            <a:solidFill>
              <a:schemeClr val="folHlink"/>
            </a:solidFill>
            <a:ln w="25400">
              <a:solidFill>
                <a:schemeClr val="bg1"/>
              </a:solidFill>
              <a:miter lim="800000"/>
            </a:ln>
          </p:spPr>
          <p:txBody>
            <a:bodyPr wrap="none" anchor="ctr"/>
            <a:lstStyle/>
            <a:p>
              <a:pPr>
                <a:spcBef>
                  <a:spcPct val="20000"/>
                </a:spcBef>
                <a:buFont typeface="Wingdings" panose="05000000000000000000" pitchFamily="2" charset="2"/>
                <a:buNone/>
              </a:pPr>
              <a:endParaRPr lang="zh-CN" altLang="zh-CN" sz="1800" b="1">
                <a:solidFill>
                  <a:schemeClr val="tx2"/>
                </a:solidFill>
                <a:latin typeface="宋体" panose="02010600030101010101" pitchFamily="2" charset="-122"/>
              </a:endParaRPr>
            </a:p>
          </p:txBody>
        </p:sp>
        <p:sp>
          <p:nvSpPr>
            <p:cNvPr id="10307" name="Text Box 22"/>
            <p:cNvSpPr txBox="1">
              <a:spLocks noChangeArrowheads="1"/>
            </p:cNvSpPr>
            <p:nvPr/>
          </p:nvSpPr>
          <p:spPr bwMode="auto">
            <a:xfrm>
              <a:off x="1681" y="1941"/>
              <a:ext cx="2615" cy="246"/>
            </a:xfrm>
            <a:prstGeom prst="rect">
              <a:avLst/>
            </a:prstGeom>
            <a:noFill/>
            <a:ln w="9525">
              <a:noFill/>
              <a:miter lim="800000"/>
            </a:ln>
          </p:spPr>
          <p:txBody>
            <a:bodyPr wrap="square">
              <a:spAutoFit/>
            </a:bodyPr>
            <a:lstStyle/>
            <a:p>
              <a:pPr eaLnBrk="0" hangingPunct="0">
                <a:spcBef>
                  <a:spcPct val="20000"/>
                </a:spcBef>
                <a:buFont typeface="Wingdings" panose="05000000000000000000" pitchFamily="2" charset="2"/>
                <a:buNone/>
              </a:pPr>
              <a:r>
                <a:rPr lang="en-US" altLang="zh-CN" sz="1800" b="1">
                  <a:solidFill>
                    <a:srgbClr val="FF0000"/>
                  </a:solidFill>
                  <a:latin typeface="宋体" panose="02010600030101010101" pitchFamily="2" charset="-122"/>
                  <a:sym typeface="+mn-ea"/>
                </a:rPr>
                <a:t>*</a:t>
              </a:r>
              <a:r>
                <a:rPr lang="zh-CN" altLang="en-US" sz="1800" b="1">
                  <a:solidFill>
                    <a:schemeClr val="tx2"/>
                  </a:solidFill>
                  <a:latin typeface="宋体" panose="02010600030101010101" pitchFamily="2" charset="-122"/>
                </a:rPr>
                <a:t>第</a:t>
              </a:r>
              <a:r>
                <a:rPr lang="en-US" altLang="zh-CN" sz="1800" b="1">
                  <a:solidFill>
                    <a:schemeClr val="tx2"/>
                  </a:solidFill>
                  <a:latin typeface="宋体" panose="02010600030101010101" pitchFamily="2" charset="-122"/>
                </a:rPr>
                <a:t>12</a:t>
              </a:r>
              <a:r>
                <a:rPr lang="zh-CN" altLang="en-US" sz="1800" b="1">
                  <a:solidFill>
                    <a:schemeClr val="tx2"/>
                  </a:solidFill>
                  <a:latin typeface="宋体" panose="02010600030101010101" pitchFamily="2" charset="-122"/>
                </a:rPr>
                <a:t>章网络安全新技术与解决方案</a:t>
              </a:r>
              <a:endParaRPr lang="zh-CN" altLang="en-US" sz="1800" b="1">
                <a:solidFill>
                  <a:schemeClr val="tx2"/>
                </a:solidFill>
                <a:latin typeface="宋体" panose="02010600030101010101" pitchFamily="2" charset="-122"/>
              </a:endParaRPr>
            </a:p>
          </p:txBody>
        </p:sp>
        <p:sp>
          <p:nvSpPr>
            <p:cNvPr id="10308" name="Text Box 23"/>
            <p:cNvSpPr txBox="1">
              <a:spLocks noChangeArrowheads="1"/>
            </p:cNvSpPr>
            <p:nvPr/>
          </p:nvSpPr>
          <p:spPr bwMode="auto">
            <a:xfrm>
              <a:off x="1344" y="1886"/>
              <a:ext cx="289" cy="246"/>
            </a:xfrm>
            <a:prstGeom prst="rect">
              <a:avLst/>
            </a:prstGeom>
            <a:noFill/>
            <a:ln w="9525">
              <a:noFill/>
              <a:miter lim="800000"/>
            </a:ln>
          </p:spPr>
          <p:txBody>
            <a:bodyPr>
              <a:spAutoFit/>
            </a:bodyPr>
            <a:lstStyle/>
            <a:p>
              <a:pPr eaLnBrk="0" hangingPunct="0">
                <a:spcBef>
                  <a:spcPct val="20000"/>
                </a:spcBef>
                <a:buFont typeface="Wingdings" panose="05000000000000000000" pitchFamily="2" charset="2"/>
                <a:buNone/>
              </a:pPr>
              <a:r>
                <a:rPr lang="en-US" altLang="zh-CN" sz="1800" b="1">
                  <a:solidFill>
                    <a:schemeClr val="tx2"/>
                  </a:solidFill>
                  <a:latin typeface="宋体" panose="02010600030101010101" pitchFamily="2" charset="-122"/>
                </a:rPr>
                <a:t>12</a:t>
              </a:r>
              <a:endParaRPr lang="en-US" altLang="zh-CN" sz="1800" b="1">
                <a:solidFill>
                  <a:schemeClr val="tx2"/>
                </a:solidFill>
                <a:latin typeface="宋体" panose="02010600030101010101" pitchFamily="2" charset="-122"/>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内容占位符 13"/>
          <p:cNvSpPr>
            <a:spLocks noGrp="1" noChangeArrowheads="1"/>
          </p:cNvSpPr>
          <p:nvPr>
            <p:ph idx="4294967295"/>
          </p:nvPr>
        </p:nvSpPr>
        <p:spPr>
          <a:xfrm>
            <a:off x="431800" y="1196975"/>
            <a:ext cx="8040688" cy="947738"/>
          </a:xfrm>
        </p:spPr>
        <p:txBody>
          <a:bodyPr/>
          <a:lstStyle/>
          <a:p>
            <a:pPr algn="r" eaLnBrk="1" hangingPunct="1">
              <a:spcAft>
                <a:spcPts val="600"/>
              </a:spcAft>
              <a:buFont typeface="Wingdings" panose="05000000000000000000" pitchFamily="2" charset="2"/>
              <a:buNone/>
            </a:pPr>
            <a:endParaRPr lang="en-US" altLang="zh-CN" sz="2400" b="0" smtClean="0">
              <a:solidFill>
                <a:srgbClr val="FF0000"/>
              </a:solidFill>
              <a:latin typeface="Calibri" panose="020F0502020204030204" pitchFamily="34" charset="0"/>
              <a:ea typeface="黑体" panose="02010609060101010101" pitchFamily="49" charset="-122"/>
            </a:endParaRPr>
          </a:p>
          <a:p>
            <a:pPr algn="r" eaLnBrk="1" hangingPunct="1">
              <a:buFont typeface="Wingdings" panose="05000000000000000000" pitchFamily="2" charset="2"/>
              <a:buNone/>
            </a:pPr>
            <a:r>
              <a:rPr lang="zh-CN" altLang="en-US" sz="1800" smtClean="0">
                <a:solidFill>
                  <a:srgbClr val="FF0000"/>
                </a:solidFill>
                <a:ea typeface="黑体" panose="02010609060101010101" pitchFamily="49" charset="-122"/>
              </a:rPr>
              <a:t> </a:t>
            </a:r>
            <a:endParaRPr lang="en-US" altLang="zh-CN" sz="1800" smtClean="0">
              <a:ea typeface="黑体" panose="02010609060101010101" pitchFamily="49" charset="-122"/>
            </a:endParaRPr>
          </a:p>
          <a:p>
            <a:pPr algn="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a typeface="黑体" panose="02010609060101010101" pitchFamily="49" charset="-122"/>
            </a:endParaRPr>
          </a:p>
          <a:p>
            <a:pPr algn="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a typeface="黑体" panose="02010609060101010101" pitchFamily="49" charset="-122"/>
            </a:endParaRPr>
          </a:p>
          <a:p>
            <a:pPr algn="r" eaLnBrk="1" hangingPunct="1">
              <a:buFont typeface="Wingdings" panose="05000000000000000000" pitchFamily="2" charset="2"/>
              <a:buNone/>
            </a:pPr>
            <a:r>
              <a:rPr lang="zh-CN" altLang="en-US" sz="1800" smtClean="0">
                <a:solidFill>
                  <a:srgbClr val="0000CC"/>
                </a:solidFill>
                <a:latin typeface="Times New Roman" panose="02020603050405020304" pitchFamily="18" charset="0"/>
                <a:ea typeface="黑体" panose="02010609060101010101" pitchFamily="49" charset="-122"/>
              </a:rPr>
              <a:t>  </a:t>
            </a:r>
            <a:endParaRPr lang="en-US" altLang="zh-CN" sz="1800" b="0" smtClean="0">
              <a:solidFill>
                <a:schemeClr val="tx1"/>
              </a:solidFill>
              <a:latin typeface="Times New Roman" panose="02020603050405020304" pitchFamily="18" charset="0"/>
              <a:ea typeface="黑体" panose="02010609060101010101" pitchFamily="49" charset="-122"/>
            </a:endParaRPr>
          </a:p>
          <a:p>
            <a:pPr algn="r" eaLnBrk="1" hangingPunct="1">
              <a:buFont typeface="Wingdings" panose="05000000000000000000" pitchFamily="2" charset="2"/>
              <a:buNone/>
            </a:pPr>
            <a:endParaRPr lang="en-US" altLang="zh-CN" sz="1800" smtClean="0">
              <a:ea typeface="黑体" panose="02010609060101010101" pitchFamily="49" charset="-122"/>
            </a:endParaRPr>
          </a:p>
        </p:txBody>
      </p:sp>
      <p:sp>
        <p:nvSpPr>
          <p:cNvPr id="15362" name="副标题 2"/>
          <p:cNvSpPr txBox="1">
            <a:spLocks noChangeArrowheads="1"/>
          </p:cNvSpPr>
          <p:nvPr/>
        </p:nvSpPr>
        <p:spPr bwMode="auto">
          <a:xfrm>
            <a:off x="304800" y="1066800"/>
            <a:ext cx="6400800" cy="528638"/>
          </a:xfrm>
          <a:prstGeom prst="rect">
            <a:avLst/>
          </a:prstGeom>
          <a:noFill/>
          <a:ln w="9525">
            <a:noFill/>
            <a:miter lim="800000"/>
          </a:ln>
        </p:spPr>
        <p:txBody>
          <a:bodyPr/>
          <a:lstStyle/>
          <a:p>
            <a:pPr marL="342900" indent="-342900" eaLnBrk="0" hangingPunct="0">
              <a:spcBef>
                <a:spcPct val="20000"/>
              </a:spcBef>
              <a:buClr>
                <a:schemeClr val="hlink"/>
              </a:buClr>
              <a:buFont typeface="Wingdings" panose="05000000000000000000" pitchFamily="2" charset="2"/>
              <a:buChar char="n"/>
            </a:pPr>
            <a:endParaRPr lang="zh-CN" altLang="en-US" sz="2200" b="1">
              <a:solidFill>
                <a:schemeClr val="tx2"/>
              </a:solidFill>
              <a:latin typeface="宋体" panose="02010600030101010101" pitchFamily="2" charset="-122"/>
            </a:endParaRPr>
          </a:p>
        </p:txBody>
      </p:sp>
      <p:sp>
        <p:nvSpPr>
          <p:cNvPr id="9" name=" 167"/>
          <p:cNvSpPr/>
          <p:nvPr/>
        </p:nvSpPr>
        <p:spPr>
          <a:xfrm>
            <a:off x="524510" y="1066800"/>
            <a:ext cx="8456930" cy="5649595"/>
          </a:xfrm>
          <a:prstGeom prst="roundRect">
            <a:avLst>
              <a:gd name="adj" fmla="val 22731"/>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eaLnBrk="1" hangingPunct="1"/>
            <a:r>
              <a:rPr lang="en-US" altLang="zh-CN" b="1" dirty="0" smtClean="0">
                <a:solidFill>
                  <a:schemeClr val="tx1"/>
                </a:solidFill>
                <a:sym typeface="+mn-ea"/>
              </a:rPr>
              <a:t>	</a:t>
            </a:r>
            <a:endParaRPr lang="en-US" altLang="zh-CN" b="1" dirty="0" smtClean="0">
              <a:solidFill>
                <a:schemeClr val="tx1"/>
              </a:solidFill>
              <a:sym typeface="+mn-ea"/>
            </a:endParaRPr>
          </a:p>
          <a:p>
            <a:pPr eaLnBrk="1" hangingPunct="1"/>
            <a:r>
              <a:rPr lang="en-US" altLang="zh-CN" b="1" dirty="0" smtClean="0">
                <a:solidFill>
                  <a:schemeClr val="tx1"/>
                </a:solidFill>
                <a:sym typeface="+mn-ea"/>
              </a:rPr>
              <a:t>	</a:t>
            </a:r>
            <a:r>
              <a:rPr lang="zh-CN" altLang="en-US" b="1">
                <a:solidFill>
                  <a:srgbClr val="FF0000"/>
                </a:solidFill>
                <a:effectLst/>
                <a:latin typeface="Times New Roman" panose="02020603050405020304" pitchFamily="18" charset="0"/>
                <a:ea typeface="黑体" panose="02010609060101010101" pitchFamily="49" charset="-122"/>
                <a:sym typeface="+mn-ea"/>
              </a:rPr>
              <a:t>课程性质</a:t>
            </a:r>
            <a:r>
              <a:rPr lang="en-US" altLang="zh-CN" b="1">
                <a:solidFill>
                  <a:schemeClr val="tx2"/>
                </a:solidFill>
                <a:effectLst/>
                <a:latin typeface="Times New Roman" panose="02020603050405020304" pitchFamily="18" charset="0"/>
                <a:sym typeface="+mn-ea"/>
              </a:rPr>
              <a:t>:</a:t>
            </a:r>
            <a:r>
              <a:rPr lang="zh-CN" altLang="en-US" b="1">
                <a:solidFill>
                  <a:srgbClr val="3333FF"/>
                </a:solidFill>
                <a:effectLst/>
                <a:latin typeface="Times New Roman" panose="02020603050405020304" pitchFamily="18" charset="0"/>
                <a:sym typeface="+mn-ea"/>
              </a:rPr>
              <a:t>专业必修课。</a:t>
            </a:r>
            <a:r>
              <a:rPr lang="zh-CN" altLang="en-US" b="1">
                <a:effectLst/>
                <a:latin typeface="Times New Roman" panose="02020603050405020304" pitchFamily="18" charset="0"/>
                <a:sym typeface="+mn-ea"/>
              </a:rPr>
              <a:t> </a:t>
            </a:r>
            <a:r>
              <a:rPr lang="zh-CN" altLang="en-US" b="1">
                <a:solidFill>
                  <a:schemeClr val="accent1"/>
                </a:solidFill>
                <a:effectLst/>
                <a:latin typeface="Times New Roman" panose="02020603050405020304" pitchFamily="18" charset="0"/>
                <a:sym typeface="+mn-ea"/>
              </a:rPr>
              <a:t>《计算机网络安全》是计算机类、电子信息类等专业开设的一门重要专业基础课程。 </a:t>
            </a:r>
            <a:r>
              <a:rPr lang="zh-CN" altLang="en-US" b="1">
                <a:effectLst/>
                <a:latin typeface="Times New Roman" panose="02020603050405020304" pitchFamily="18" charset="0"/>
                <a:sym typeface="+mn-ea"/>
              </a:rPr>
              <a:t> </a:t>
            </a:r>
            <a:endParaRPr lang="zh-CN" altLang="en-US" b="1">
              <a:effectLst/>
              <a:latin typeface="Times New Roman" panose="02020603050405020304" pitchFamily="18" charset="0"/>
              <a:sym typeface="+mn-ea"/>
            </a:endParaRPr>
          </a:p>
          <a:p>
            <a:pPr>
              <a:lnSpc>
                <a:spcPct val="105000"/>
              </a:lnSpc>
              <a:spcBef>
                <a:spcPct val="20000"/>
              </a:spcBef>
            </a:pPr>
            <a:r>
              <a:rPr lang="en-US" altLang="zh-CN" b="1">
                <a:solidFill>
                  <a:srgbClr val="FF0000"/>
                </a:solidFill>
                <a:effectLst/>
                <a:latin typeface="Times New Roman" panose="02020603050405020304" pitchFamily="18" charset="0"/>
                <a:ea typeface="黑体" panose="02010609060101010101" pitchFamily="49" charset="-122"/>
                <a:sym typeface="+mn-ea"/>
              </a:rPr>
              <a:t>	</a:t>
            </a:r>
            <a:r>
              <a:rPr lang="zh-CN" altLang="en-US" b="1">
                <a:solidFill>
                  <a:srgbClr val="FF0000"/>
                </a:solidFill>
                <a:effectLst/>
                <a:latin typeface="Times New Roman" panose="02020603050405020304" pitchFamily="18" charset="0"/>
                <a:ea typeface="黑体" panose="02010609060101010101" pitchFamily="49" charset="-122"/>
                <a:sym typeface="+mn-ea"/>
              </a:rPr>
              <a:t>教学目标</a:t>
            </a:r>
            <a:r>
              <a:rPr lang="en-US" altLang="zh-CN" b="1">
                <a:solidFill>
                  <a:schemeClr val="tx2"/>
                </a:solidFill>
                <a:effectLst/>
                <a:latin typeface="Times New Roman" panose="02020603050405020304" pitchFamily="18" charset="0"/>
                <a:sym typeface="+mn-ea"/>
              </a:rPr>
              <a:t>:</a:t>
            </a:r>
            <a:r>
              <a:rPr lang="zh-CN" altLang="en-US" b="1">
                <a:solidFill>
                  <a:srgbClr val="3333FF"/>
                </a:solidFill>
                <a:effectLst/>
                <a:latin typeface="Times New Roman" panose="02020603050405020304" pitchFamily="18" charset="0"/>
                <a:sym typeface="+mn-ea"/>
              </a:rPr>
              <a:t>通过本课程的学习，要了解网络安全的基本概念、特点、技术、发展现状及趋势，</a:t>
            </a:r>
            <a:r>
              <a:rPr lang="zh-CN" altLang="en-US" b="1">
                <a:solidFill>
                  <a:srgbClr val="3333FF"/>
                </a:solidFill>
                <a:effectLst/>
                <a:latin typeface="Times New Roman" panose="02020603050405020304" pitchFamily="18" charset="0"/>
                <a:sym typeface="+mn-ea"/>
              </a:rPr>
              <a:t>掌握网络安全常用的攻（攻击）、防（防范）、测（检测）、控（控制）、管（管理）、评（评估）等基本理论、技术和应用，为今后学习打下坚实的基础。</a:t>
            </a:r>
            <a:endParaRPr lang="zh-CN" altLang="en-US" b="1">
              <a:effectLst/>
              <a:latin typeface="Times New Roman" panose="02020603050405020304" pitchFamily="18" charset="0"/>
              <a:sym typeface="+mn-ea"/>
            </a:endParaRPr>
          </a:p>
          <a:p>
            <a:pPr>
              <a:lnSpc>
                <a:spcPct val="105000"/>
              </a:lnSpc>
              <a:spcBef>
                <a:spcPct val="20000"/>
              </a:spcBef>
            </a:pPr>
            <a:r>
              <a:rPr lang="en-US" altLang="zh-CN" b="1">
                <a:solidFill>
                  <a:srgbClr val="FF0000"/>
                </a:solidFill>
                <a:effectLst/>
                <a:latin typeface="Times New Roman" panose="02020603050405020304" pitchFamily="18" charset="0"/>
                <a:ea typeface="黑体" panose="02010609060101010101" pitchFamily="49" charset="-122"/>
                <a:sym typeface="+mn-ea"/>
              </a:rPr>
              <a:t>	</a:t>
            </a:r>
            <a:r>
              <a:rPr lang="zh-CN" altLang="en-US" b="1">
                <a:solidFill>
                  <a:srgbClr val="FF0000"/>
                </a:solidFill>
                <a:effectLst/>
                <a:latin typeface="Times New Roman" panose="02020603050405020304" pitchFamily="18" charset="0"/>
                <a:ea typeface="黑体" panose="02010609060101010101" pitchFamily="49" charset="-122"/>
                <a:sym typeface="+mn-ea"/>
              </a:rPr>
              <a:t>学时学分</a:t>
            </a:r>
            <a:r>
              <a:rPr lang="en-US" altLang="zh-CN" b="1">
                <a:solidFill>
                  <a:schemeClr val="tx2"/>
                </a:solidFill>
                <a:effectLst/>
                <a:latin typeface="Times New Roman" panose="02020603050405020304" pitchFamily="18" charset="0"/>
                <a:sym typeface="+mn-ea"/>
              </a:rPr>
              <a:t>:</a:t>
            </a:r>
            <a:r>
              <a:rPr lang="zh-CN" altLang="en-US" b="1">
                <a:solidFill>
                  <a:srgbClr val="3333FF"/>
                </a:solidFill>
                <a:effectLst/>
                <a:latin typeface="Times New Roman" panose="02020603050405020304" pitchFamily="18" charset="0"/>
                <a:sym typeface="+mn-ea"/>
              </a:rPr>
              <a:t>理论</a:t>
            </a:r>
            <a:r>
              <a:rPr lang="en-US" altLang="zh-CN" b="1">
                <a:solidFill>
                  <a:srgbClr val="3333FF"/>
                </a:solidFill>
                <a:effectLst/>
                <a:latin typeface="Times New Roman" panose="02020603050405020304" pitchFamily="18" charset="0"/>
                <a:sym typeface="+mn-ea"/>
              </a:rPr>
              <a:t>/</a:t>
            </a:r>
            <a:r>
              <a:rPr lang="zh-CN" altLang="en-US" b="1">
                <a:solidFill>
                  <a:srgbClr val="3333FF"/>
                </a:solidFill>
                <a:effectLst/>
                <a:latin typeface="Times New Roman" panose="02020603050405020304" pitchFamily="18" charset="0"/>
                <a:sym typeface="+mn-ea"/>
              </a:rPr>
              <a:t>实验</a:t>
            </a:r>
            <a:r>
              <a:rPr lang="zh-CN" altLang="en-US" b="1">
                <a:effectLst/>
                <a:latin typeface="Times New Roman" panose="02020603050405020304" pitchFamily="18" charset="0"/>
                <a:sym typeface="+mn-ea"/>
              </a:rPr>
              <a:t> </a:t>
            </a:r>
            <a:r>
              <a:rPr lang="en-US" altLang="zh-CN" b="1">
                <a:solidFill>
                  <a:schemeClr val="tx2"/>
                </a:solidFill>
                <a:effectLst/>
                <a:latin typeface="Times New Roman" panose="02020603050405020304" pitchFamily="18" charset="0"/>
                <a:sym typeface="+mn-ea"/>
              </a:rPr>
              <a:t>(32/24) </a:t>
            </a:r>
            <a:r>
              <a:rPr lang="zh-CN" altLang="en-US" b="1">
                <a:solidFill>
                  <a:srgbClr val="3333FF"/>
                </a:solidFill>
                <a:effectLst/>
                <a:latin typeface="Times New Roman" panose="02020603050405020304" pitchFamily="18" charset="0"/>
                <a:sym typeface="+mn-ea"/>
              </a:rPr>
              <a:t>共</a:t>
            </a:r>
            <a:r>
              <a:rPr lang="en-US" altLang="zh-CN" b="1">
                <a:solidFill>
                  <a:srgbClr val="3333FF"/>
                </a:solidFill>
                <a:effectLst/>
                <a:latin typeface="Times New Roman" panose="02020603050405020304" pitchFamily="18" charset="0"/>
                <a:sym typeface="+mn-ea"/>
              </a:rPr>
              <a:t>56</a:t>
            </a:r>
            <a:r>
              <a:rPr lang="zh-CN" altLang="en-US" b="1">
                <a:solidFill>
                  <a:srgbClr val="3333FF"/>
                </a:solidFill>
                <a:effectLst/>
                <a:latin typeface="Times New Roman" panose="02020603050405020304" pitchFamily="18" charset="0"/>
                <a:sym typeface="+mn-ea"/>
              </a:rPr>
              <a:t>学时，</a:t>
            </a:r>
            <a:r>
              <a:rPr lang="zh-CN" altLang="en-US" b="1">
                <a:solidFill>
                  <a:srgbClr val="C00000"/>
                </a:solidFill>
                <a:effectLst/>
                <a:latin typeface="Times New Roman" panose="02020603050405020304" pitchFamily="18" charset="0"/>
                <a:sym typeface="+mn-ea"/>
              </a:rPr>
              <a:t>3</a:t>
            </a:r>
            <a:r>
              <a:rPr lang="zh-CN" altLang="en-US" b="1">
                <a:solidFill>
                  <a:srgbClr val="C00000"/>
                </a:solidFill>
                <a:effectLst/>
                <a:latin typeface="Times New Roman" panose="02020603050405020304" pitchFamily="18" charset="0"/>
                <a:sym typeface="+mn-ea"/>
              </a:rPr>
              <a:t>学分</a:t>
            </a:r>
            <a:endParaRPr lang="zh-CN" altLang="en-US" b="1">
              <a:solidFill>
                <a:srgbClr val="C00000"/>
              </a:solidFill>
              <a:effectLst/>
              <a:latin typeface="Times New Roman" panose="02020603050405020304" pitchFamily="18" charset="0"/>
              <a:sym typeface="+mn-ea"/>
            </a:endParaRPr>
          </a:p>
          <a:p>
            <a:pPr>
              <a:lnSpc>
                <a:spcPct val="95000"/>
              </a:lnSpc>
              <a:spcBef>
                <a:spcPct val="5000"/>
              </a:spcBef>
            </a:pPr>
            <a:r>
              <a:rPr lang="en-US" altLang="zh-CN" b="1">
                <a:solidFill>
                  <a:srgbClr val="FF0000"/>
                </a:solidFill>
                <a:effectLst/>
                <a:latin typeface="Times New Roman" panose="02020603050405020304" pitchFamily="18" charset="0"/>
                <a:ea typeface="黑体" panose="02010609060101010101" pitchFamily="49" charset="-122"/>
                <a:sym typeface="+mn-ea"/>
              </a:rPr>
              <a:t>	</a:t>
            </a:r>
            <a:r>
              <a:rPr lang="zh-CN" altLang="en-US" b="1">
                <a:solidFill>
                  <a:srgbClr val="FF0000"/>
                </a:solidFill>
                <a:effectLst/>
                <a:latin typeface="Times New Roman" panose="02020603050405020304" pitchFamily="18" charset="0"/>
                <a:ea typeface="黑体" panose="02010609060101010101" pitchFamily="49" charset="-122"/>
                <a:sym typeface="+mn-ea"/>
              </a:rPr>
              <a:t>考核办法</a:t>
            </a:r>
            <a:r>
              <a:rPr lang="zh-CN" altLang="en-US" b="1">
                <a:solidFill>
                  <a:schemeClr val="tx2"/>
                </a:solidFill>
                <a:effectLst/>
                <a:latin typeface="Times New Roman" panose="02020603050405020304" pitchFamily="18" charset="0"/>
                <a:sym typeface="+mn-ea"/>
              </a:rPr>
              <a:t>：</a:t>
            </a:r>
            <a:r>
              <a:rPr lang="zh-CN" altLang="en-US" b="1">
                <a:solidFill>
                  <a:schemeClr val="tx2"/>
                </a:solidFill>
                <a:effectLst/>
                <a:latin typeface="Times New Roman" panose="02020603050405020304" pitchFamily="18" charset="0"/>
                <a:ea typeface="楷体_GB2312" pitchFamily="49" charset="-122"/>
                <a:sym typeface="+mn-ea"/>
              </a:rPr>
              <a:t>理论与实践</a:t>
            </a:r>
            <a:r>
              <a:rPr lang="zh-CN" altLang="en-US" b="1">
                <a:solidFill>
                  <a:srgbClr val="3333FF"/>
                </a:solidFill>
                <a:effectLst/>
                <a:latin typeface="Times New Roman" panose="02020603050405020304" pitchFamily="18" charset="0"/>
                <a:ea typeface="楷体_GB2312" pitchFamily="49" charset="-122"/>
                <a:sym typeface="+mn-ea"/>
              </a:rPr>
              <a:t>相结合</a:t>
            </a:r>
            <a:r>
              <a:rPr lang="zh-CN" altLang="en-US" b="1">
                <a:effectLst/>
                <a:latin typeface="Times New Roman" panose="02020603050405020304" pitchFamily="18" charset="0"/>
                <a:ea typeface="楷体_GB2312" pitchFamily="49" charset="-122"/>
                <a:sym typeface="+mn-ea"/>
              </a:rPr>
              <a:t>、</a:t>
            </a:r>
            <a:r>
              <a:rPr lang="zh-CN" altLang="en-US" b="1">
                <a:solidFill>
                  <a:schemeClr val="tx2"/>
                </a:solidFill>
                <a:effectLst/>
                <a:latin typeface="Times New Roman" panose="02020603050405020304" pitchFamily="18" charset="0"/>
                <a:ea typeface="楷体_GB2312" pitchFamily="49" charset="-122"/>
                <a:sym typeface="+mn-ea"/>
              </a:rPr>
              <a:t>课内与课外</a:t>
            </a:r>
            <a:r>
              <a:rPr lang="zh-CN" altLang="en-US" b="1">
                <a:solidFill>
                  <a:srgbClr val="3333FF"/>
                </a:solidFill>
                <a:effectLst/>
                <a:latin typeface="Times New Roman" panose="02020603050405020304" pitchFamily="18" charset="0"/>
                <a:ea typeface="楷体_GB2312" pitchFamily="49" charset="-122"/>
                <a:sym typeface="+mn-ea"/>
              </a:rPr>
              <a:t>相结合</a:t>
            </a:r>
            <a:r>
              <a:rPr lang="zh-CN" altLang="en-US" b="1">
                <a:effectLst/>
                <a:latin typeface="Times New Roman" panose="02020603050405020304" pitchFamily="18" charset="0"/>
                <a:ea typeface="楷体_GB2312" pitchFamily="49" charset="-122"/>
                <a:sym typeface="+mn-ea"/>
              </a:rPr>
              <a:t>、</a:t>
            </a:r>
            <a:r>
              <a:rPr lang="zh-CN" altLang="en-US" b="1">
                <a:solidFill>
                  <a:schemeClr val="tx2"/>
                </a:solidFill>
                <a:effectLst/>
                <a:latin typeface="Times New Roman" panose="02020603050405020304" pitchFamily="18" charset="0"/>
                <a:ea typeface="楷体_GB2312" pitchFamily="49" charset="-122"/>
                <a:sym typeface="+mn-ea"/>
              </a:rPr>
              <a:t>知识素质和能力考核</a:t>
            </a:r>
            <a:r>
              <a:rPr lang="zh-CN" altLang="en-US" b="1">
                <a:solidFill>
                  <a:srgbClr val="3333FF"/>
                </a:solidFill>
                <a:effectLst/>
                <a:latin typeface="Times New Roman" panose="02020603050405020304" pitchFamily="18" charset="0"/>
                <a:ea typeface="楷体_GB2312" pitchFamily="49" charset="-122"/>
                <a:sym typeface="+mn-ea"/>
              </a:rPr>
              <a:t>相结合    </a:t>
            </a:r>
            <a:r>
              <a:rPr lang="zh-CN" altLang="en-US" b="1">
                <a:solidFill>
                  <a:schemeClr val="tx2"/>
                </a:solidFill>
                <a:effectLst/>
                <a:latin typeface="Times New Roman" panose="02020603050405020304" pitchFamily="18" charset="0"/>
                <a:ea typeface="楷体_GB2312" pitchFamily="49" charset="-122"/>
                <a:sym typeface="+mn-ea"/>
              </a:rPr>
              <a:t>上机实践与卷面考核</a:t>
            </a:r>
            <a:r>
              <a:rPr lang="zh-CN" altLang="en-US" b="1">
                <a:solidFill>
                  <a:srgbClr val="3333FF"/>
                </a:solidFill>
                <a:effectLst/>
                <a:latin typeface="Times New Roman" panose="02020603050405020304" pitchFamily="18" charset="0"/>
                <a:ea typeface="楷体_GB2312" pitchFamily="49" charset="-122"/>
                <a:sym typeface="+mn-ea"/>
              </a:rPr>
              <a:t>相结合</a:t>
            </a:r>
            <a:r>
              <a:rPr lang="zh-CN" altLang="en-US" b="1">
                <a:effectLst/>
                <a:latin typeface="Times New Roman" panose="02020603050405020304" pitchFamily="18" charset="0"/>
                <a:ea typeface="楷体_GB2312" pitchFamily="49" charset="-122"/>
                <a:sym typeface="+mn-ea"/>
              </a:rPr>
              <a:t>。 </a:t>
            </a:r>
            <a:br>
              <a:rPr lang="zh-CN" altLang="en-US" b="1">
                <a:effectLst/>
                <a:latin typeface="Times New Roman" panose="02020603050405020304" pitchFamily="18" charset="0"/>
                <a:ea typeface="楷体_GB2312" pitchFamily="49" charset="-122"/>
                <a:sym typeface="+mn-ea"/>
              </a:rPr>
            </a:br>
            <a:r>
              <a:rPr lang="zh-CN" altLang="en-US" b="1">
                <a:effectLst/>
                <a:latin typeface="Times New Roman" panose="02020603050405020304" pitchFamily="18" charset="0"/>
                <a:ea typeface="楷体_GB2312" pitchFamily="49" charset="-122"/>
                <a:sym typeface="+mn-ea"/>
              </a:rPr>
              <a:t>        </a:t>
            </a:r>
            <a:r>
              <a:rPr lang="zh-CN" altLang="en-US" b="1">
                <a:solidFill>
                  <a:srgbClr val="3333FF"/>
                </a:solidFill>
                <a:effectLst/>
                <a:latin typeface="Times New Roman" panose="02020603050405020304" pitchFamily="18" charset="0"/>
                <a:ea typeface="楷体_GB2312" pitchFamily="49" charset="-122"/>
                <a:sym typeface="+mn-ea"/>
              </a:rPr>
              <a:t>期末考试</a:t>
            </a:r>
            <a:r>
              <a:rPr lang="zh-CN" altLang="en-US" b="1">
                <a:solidFill>
                  <a:schemeClr val="tx2"/>
                </a:solidFill>
                <a:effectLst/>
                <a:latin typeface="Times New Roman" panose="02020603050405020304" pitchFamily="18" charset="0"/>
                <a:ea typeface="楷体_GB2312" pitchFamily="49" charset="-122"/>
                <a:sym typeface="+mn-ea"/>
              </a:rPr>
              <a:t>成绩占比约</a:t>
            </a:r>
            <a:r>
              <a:rPr lang="en-US" altLang="zh-CN" b="1">
                <a:solidFill>
                  <a:schemeClr val="tx2"/>
                </a:solidFill>
                <a:effectLst/>
                <a:latin typeface="Times New Roman" panose="02020603050405020304" pitchFamily="18" charset="0"/>
                <a:ea typeface="楷体_GB2312" pitchFamily="49" charset="-122"/>
                <a:sym typeface="+mn-ea"/>
              </a:rPr>
              <a:t>50%, </a:t>
            </a:r>
            <a:r>
              <a:rPr lang="zh-CN" altLang="en-US" b="1">
                <a:solidFill>
                  <a:srgbClr val="3333FF"/>
                </a:solidFill>
                <a:effectLst/>
                <a:latin typeface="Times New Roman" panose="02020603050405020304" pitchFamily="18" charset="0"/>
                <a:ea typeface="楷体_GB2312" pitchFamily="49" charset="-122"/>
                <a:sym typeface="+mn-ea"/>
              </a:rPr>
              <a:t>平时成绩（厚山学堂</a:t>
            </a:r>
            <a:r>
              <a:rPr lang="en-US" altLang="zh-CN" b="1">
                <a:solidFill>
                  <a:srgbClr val="3333FF"/>
                </a:solidFill>
                <a:effectLst/>
                <a:latin typeface="Times New Roman" panose="02020603050405020304" pitchFamily="18" charset="0"/>
                <a:ea typeface="楷体_GB2312" pitchFamily="49" charset="-122"/>
                <a:sym typeface="+mn-ea"/>
              </a:rPr>
              <a:t>mooc</a:t>
            </a:r>
            <a:r>
              <a:rPr lang="zh-CN" altLang="en-US" b="1">
                <a:solidFill>
                  <a:srgbClr val="3333FF"/>
                </a:solidFill>
                <a:effectLst/>
                <a:latin typeface="Times New Roman" panose="02020603050405020304" pitchFamily="18" charset="0"/>
                <a:ea typeface="楷体_GB2312" pitchFamily="49" charset="-122"/>
                <a:sym typeface="+mn-ea"/>
              </a:rPr>
              <a:t>和实验）</a:t>
            </a:r>
            <a:r>
              <a:rPr lang="zh-CN" altLang="en-US" b="1">
                <a:solidFill>
                  <a:schemeClr val="tx2"/>
                </a:solidFill>
                <a:effectLst/>
                <a:latin typeface="Times New Roman" panose="02020603050405020304" pitchFamily="18" charset="0"/>
                <a:ea typeface="楷体_GB2312" pitchFamily="49" charset="-122"/>
                <a:sym typeface="+mn-ea"/>
              </a:rPr>
              <a:t>占比约</a:t>
            </a:r>
            <a:r>
              <a:rPr lang="en-US" altLang="zh-CN" b="1">
                <a:solidFill>
                  <a:schemeClr val="tx2"/>
                </a:solidFill>
                <a:effectLst/>
                <a:latin typeface="Times New Roman" panose="02020603050405020304" pitchFamily="18" charset="0"/>
                <a:ea typeface="楷体_GB2312" pitchFamily="49" charset="-122"/>
                <a:sym typeface="+mn-ea"/>
              </a:rPr>
              <a:t>5</a:t>
            </a:r>
            <a:r>
              <a:rPr lang="en-US" altLang="zh-CN" b="1">
                <a:solidFill>
                  <a:schemeClr val="tx2"/>
                </a:solidFill>
                <a:effectLst/>
                <a:latin typeface="Times New Roman" panose="02020603050405020304" pitchFamily="18" charset="0"/>
                <a:ea typeface="楷体_GB2312" pitchFamily="49" charset="-122"/>
                <a:sym typeface="+mn-ea"/>
              </a:rPr>
              <a:t>0%</a:t>
            </a:r>
            <a:r>
              <a:rPr lang="zh-CN" altLang="en-US" b="1">
                <a:solidFill>
                  <a:schemeClr val="tx2"/>
                </a:solidFill>
                <a:effectLst/>
                <a:latin typeface="Times New Roman" panose="02020603050405020304" pitchFamily="18" charset="0"/>
                <a:ea typeface="楷体_GB2312" pitchFamily="49" charset="-122"/>
                <a:sym typeface="+mn-ea"/>
              </a:rPr>
              <a:t>，以期末考前最终公布为准。</a:t>
            </a:r>
            <a:r>
              <a:rPr lang="en-US" altLang="zh-CN" b="1">
                <a:effectLst/>
                <a:latin typeface="Times New Roman" panose="02020603050405020304" pitchFamily="18" charset="0"/>
                <a:ea typeface="楷体_GB2312" pitchFamily="49" charset="-122"/>
                <a:sym typeface="+mn-ea"/>
              </a:rPr>
              <a:t> </a:t>
            </a:r>
            <a:endParaRPr lang="zh-CN" altLang="en-US" b="1">
              <a:effectLst/>
              <a:latin typeface="Times New Roman" panose="02020603050405020304" pitchFamily="18" charset="0"/>
            </a:endParaRPr>
          </a:p>
          <a:p>
            <a:pPr>
              <a:spcBef>
                <a:spcPct val="20000"/>
              </a:spcBef>
            </a:pPr>
            <a:r>
              <a:rPr lang="zh-CN" altLang="en-US" b="1">
                <a:solidFill>
                  <a:srgbClr val="0000FF"/>
                </a:solidFill>
                <a:effectLst>
                  <a:outerShdw blurRad="38100" dist="38100" dir="2700000" algn="tl">
                    <a:srgbClr val="000000"/>
                  </a:outerShdw>
                </a:effectLst>
                <a:latin typeface="Times New Roman" panose="02020603050405020304" pitchFamily="18" charset="0"/>
                <a:sym typeface="+mn-ea"/>
              </a:rPr>
              <a:t>                  </a:t>
            </a:r>
            <a:r>
              <a:rPr lang="en-US" altLang="zh-CN" b="1" dirty="0" smtClean="0">
                <a:solidFill>
                  <a:schemeClr val="tx1"/>
                </a:solidFill>
                <a:sym typeface="+mn-ea"/>
              </a:rPr>
              <a:t>	</a:t>
            </a:r>
            <a:endParaRPr lang="en-US" altLang="zh-CN" b="1" dirty="0" smtClean="0">
              <a:solidFill>
                <a:schemeClr val="tx1"/>
              </a:solidFill>
              <a:sym typeface="+mn-ea"/>
            </a:endParaRPr>
          </a:p>
        </p:txBody>
      </p:sp>
      <p:sp>
        <p:nvSpPr>
          <p:cNvPr id="7" name="Rectangle 2"/>
          <p:cNvSpPr txBox="1">
            <a:spLocks noChangeArrowheads="1"/>
          </p:cNvSpPr>
          <p:nvPr/>
        </p:nvSpPr>
        <p:spPr bwMode="white">
          <a:xfrm>
            <a:off x="838200" y="152400"/>
            <a:ext cx="7327900" cy="563563"/>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zh-CN" sz="3200" dirty="0" smtClean="0">
                <a:solidFill>
                  <a:schemeClr val="bg1"/>
                </a:solidFill>
                <a:latin typeface="Verdana" panose="020B0604030504040204" pitchFamily="34" charset="0"/>
              </a:rPr>
              <a:t>课程性质、目标、安排</a:t>
            </a:r>
            <a:endParaRPr lang="zh-CN" sz="3200" dirty="0" smtClean="0">
              <a:solidFill>
                <a:schemeClr val="bg1"/>
              </a:solidFill>
              <a:effectLst>
                <a:outerShdw blurRad="38100" dist="38100" dir="2700000" algn="tl">
                  <a:srgbClr val="C0C0C0"/>
                </a:outerShdw>
              </a:effectLs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内容占位符 13"/>
          <p:cNvSpPr>
            <a:spLocks noGrp="1" noChangeArrowheads="1"/>
          </p:cNvSpPr>
          <p:nvPr>
            <p:ph idx="4294967295"/>
          </p:nvPr>
        </p:nvSpPr>
        <p:spPr>
          <a:xfrm>
            <a:off x="431800" y="1196975"/>
            <a:ext cx="8040688" cy="947738"/>
          </a:xfrm>
        </p:spPr>
        <p:txBody>
          <a:bodyPr/>
          <a:lstStyle/>
          <a:p>
            <a:pPr algn="r" eaLnBrk="1" hangingPunct="1">
              <a:spcAft>
                <a:spcPts val="600"/>
              </a:spcAft>
              <a:buFont typeface="Wingdings" panose="05000000000000000000" pitchFamily="2" charset="2"/>
              <a:buNone/>
            </a:pPr>
            <a:endParaRPr lang="en-US" altLang="zh-CN" sz="2400" b="0" smtClean="0">
              <a:solidFill>
                <a:srgbClr val="FF0000"/>
              </a:solidFill>
              <a:latin typeface="Calibri" panose="020F0502020204030204" pitchFamily="34" charset="0"/>
              <a:ea typeface="黑体" panose="02010609060101010101" pitchFamily="49" charset="-122"/>
            </a:endParaRPr>
          </a:p>
          <a:p>
            <a:pPr algn="r" eaLnBrk="1" hangingPunct="1">
              <a:buFont typeface="Wingdings" panose="05000000000000000000" pitchFamily="2" charset="2"/>
              <a:buNone/>
            </a:pPr>
            <a:r>
              <a:rPr lang="zh-CN" altLang="en-US" sz="1800" smtClean="0">
                <a:solidFill>
                  <a:srgbClr val="FF0000"/>
                </a:solidFill>
                <a:ea typeface="黑体" panose="02010609060101010101" pitchFamily="49" charset="-122"/>
              </a:rPr>
              <a:t> </a:t>
            </a:r>
            <a:endParaRPr lang="en-US" altLang="zh-CN" sz="1800" smtClean="0">
              <a:ea typeface="黑体" panose="02010609060101010101" pitchFamily="49" charset="-122"/>
            </a:endParaRPr>
          </a:p>
          <a:p>
            <a:pPr algn="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a typeface="黑体" panose="02010609060101010101" pitchFamily="49" charset="-122"/>
            </a:endParaRPr>
          </a:p>
          <a:p>
            <a:pPr algn="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a typeface="黑体" panose="02010609060101010101" pitchFamily="49" charset="-122"/>
            </a:endParaRPr>
          </a:p>
          <a:p>
            <a:pPr algn="r" eaLnBrk="1" hangingPunct="1">
              <a:buFont typeface="Wingdings" panose="05000000000000000000" pitchFamily="2" charset="2"/>
              <a:buNone/>
            </a:pPr>
            <a:r>
              <a:rPr lang="zh-CN" altLang="en-US" sz="1800" smtClean="0">
                <a:solidFill>
                  <a:srgbClr val="0000CC"/>
                </a:solidFill>
                <a:latin typeface="Times New Roman" panose="02020603050405020304" pitchFamily="18" charset="0"/>
                <a:ea typeface="黑体" panose="02010609060101010101" pitchFamily="49" charset="-122"/>
              </a:rPr>
              <a:t>  </a:t>
            </a:r>
            <a:endParaRPr lang="en-US" altLang="zh-CN" sz="1800" b="0" smtClean="0">
              <a:solidFill>
                <a:schemeClr val="tx1"/>
              </a:solidFill>
              <a:latin typeface="Times New Roman" panose="02020603050405020304" pitchFamily="18" charset="0"/>
              <a:ea typeface="黑体" panose="02010609060101010101" pitchFamily="49" charset="-122"/>
            </a:endParaRPr>
          </a:p>
          <a:p>
            <a:pPr algn="r" eaLnBrk="1" hangingPunct="1">
              <a:buFont typeface="Wingdings" panose="05000000000000000000" pitchFamily="2" charset="2"/>
              <a:buNone/>
            </a:pPr>
            <a:endParaRPr lang="en-US" altLang="zh-CN" sz="1800" smtClean="0">
              <a:ea typeface="黑体" panose="02010609060101010101" pitchFamily="49" charset="-122"/>
            </a:endParaRPr>
          </a:p>
        </p:txBody>
      </p:sp>
      <p:sp>
        <p:nvSpPr>
          <p:cNvPr id="15362" name="副标题 2"/>
          <p:cNvSpPr txBox="1">
            <a:spLocks noChangeArrowheads="1"/>
          </p:cNvSpPr>
          <p:nvPr/>
        </p:nvSpPr>
        <p:spPr bwMode="auto">
          <a:xfrm>
            <a:off x="304800" y="1066800"/>
            <a:ext cx="6400800" cy="528638"/>
          </a:xfrm>
          <a:prstGeom prst="rect">
            <a:avLst/>
          </a:prstGeom>
          <a:noFill/>
          <a:ln w="9525">
            <a:noFill/>
            <a:miter lim="800000"/>
          </a:ln>
        </p:spPr>
        <p:txBody>
          <a:bodyPr/>
          <a:lstStyle/>
          <a:p>
            <a:pPr marL="342900" indent="-342900" eaLnBrk="0" hangingPunct="0">
              <a:spcBef>
                <a:spcPct val="20000"/>
              </a:spcBef>
              <a:buClr>
                <a:schemeClr val="hlink"/>
              </a:buClr>
              <a:buFont typeface="Wingdings" panose="05000000000000000000" pitchFamily="2" charset="2"/>
              <a:buChar char="n"/>
            </a:pPr>
            <a:endParaRPr lang="zh-CN" altLang="en-US" sz="2200" b="1">
              <a:solidFill>
                <a:schemeClr val="tx2"/>
              </a:solidFill>
              <a:latin typeface="宋体" panose="02010600030101010101" pitchFamily="2" charset="-122"/>
            </a:endParaRPr>
          </a:p>
        </p:txBody>
      </p:sp>
      <p:sp>
        <p:nvSpPr>
          <p:cNvPr id="9" name=" 167"/>
          <p:cNvSpPr/>
          <p:nvPr/>
        </p:nvSpPr>
        <p:spPr>
          <a:xfrm>
            <a:off x="524510" y="1066800"/>
            <a:ext cx="8456930" cy="5649595"/>
          </a:xfrm>
          <a:prstGeom prst="roundRect">
            <a:avLst>
              <a:gd name="adj" fmla="val 22731"/>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eaLnBrk="1" hangingPunct="1"/>
            <a:r>
              <a:rPr lang="en-US" altLang="zh-CN" b="1" dirty="0" smtClean="0">
                <a:solidFill>
                  <a:schemeClr val="tx1"/>
                </a:solidFill>
                <a:sym typeface="+mn-ea"/>
              </a:rPr>
              <a:t>	</a:t>
            </a:r>
            <a:endParaRPr lang="en-US" altLang="zh-CN" b="1" dirty="0" smtClean="0">
              <a:solidFill>
                <a:schemeClr val="tx1"/>
              </a:solidFill>
              <a:sym typeface="+mn-ea"/>
            </a:endParaRPr>
          </a:p>
          <a:p>
            <a:pPr eaLnBrk="1" hangingPunct="1"/>
            <a:r>
              <a:rPr lang="en-US" altLang="zh-CN" b="1" dirty="0" smtClean="0">
                <a:solidFill>
                  <a:schemeClr val="tx1"/>
                </a:solidFill>
                <a:sym typeface="+mn-ea"/>
              </a:rPr>
              <a:t>	</a:t>
            </a:r>
            <a:r>
              <a:rPr lang="zh-CN" altLang="en-US" b="1">
                <a:solidFill>
                  <a:srgbClr val="FF0000"/>
                </a:solidFill>
                <a:effectLst/>
                <a:latin typeface="Times New Roman" panose="02020603050405020304" pitchFamily="18" charset="0"/>
                <a:ea typeface="黑体" panose="02010609060101010101" pitchFamily="49" charset="-122"/>
                <a:sym typeface="+mn-ea"/>
              </a:rPr>
              <a:t>课程特点</a:t>
            </a:r>
            <a:r>
              <a:rPr lang="en-US" altLang="zh-CN" b="1">
                <a:solidFill>
                  <a:schemeClr val="tx2"/>
                </a:solidFill>
                <a:effectLst/>
                <a:latin typeface="Times New Roman" panose="02020603050405020304" pitchFamily="18" charset="0"/>
                <a:sym typeface="+mn-ea"/>
              </a:rPr>
              <a:t>:</a:t>
            </a:r>
            <a:endParaRPr lang="en-US" altLang="zh-CN" b="1">
              <a:solidFill>
                <a:schemeClr val="tx2"/>
              </a:solidFill>
              <a:effectLst/>
              <a:latin typeface="Times New Roman" panose="02020603050405020304" pitchFamily="18" charset="0"/>
              <a:sym typeface="+mn-ea"/>
            </a:endParaRPr>
          </a:p>
          <a:p>
            <a:pPr eaLnBrk="1" hangingPunct="1"/>
            <a:r>
              <a:rPr lang="en-US" altLang="zh-CN" b="1">
                <a:solidFill>
                  <a:schemeClr val="tx2"/>
                </a:solidFill>
                <a:effectLst/>
                <a:latin typeface="Times New Roman" panose="02020603050405020304" pitchFamily="18" charset="0"/>
                <a:sym typeface="+mn-ea"/>
              </a:rPr>
              <a:t>	</a:t>
            </a:r>
            <a:r>
              <a:rPr lang="zh-CN" altLang="en-US" b="1">
                <a:solidFill>
                  <a:schemeClr val="tx2"/>
                </a:solidFill>
                <a:effectLst/>
                <a:latin typeface="Times New Roman" panose="02020603050405020304" pitchFamily="18" charset="0"/>
                <a:sym typeface="+mn-ea"/>
              </a:rPr>
              <a:t>知识面宽、涉及领域广、知识点多、术语多、工具多</a:t>
            </a:r>
            <a:endParaRPr lang="zh-CN" altLang="en-US" b="1">
              <a:solidFill>
                <a:schemeClr val="tx2"/>
              </a:solidFill>
              <a:effectLst/>
              <a:latin typeface="Times New Roman" panose="02020603050405020304" pitchFamily="18" charset="0"/>
              <a:sym typeface="+mn-ea"/>
            </a:endParaRPr>
          </a:p>
          <a:p>
            <a:pPr eaLnBrk="1" hangingPunct="1"/>
            <a:r>
              <a:rPr lang="en-US" altLang="zh-CN" b="1">
                <a:solidFill>
                  <a:schemeClr val="tx2"/>
                </a:solidFill>
                <a:effectLst/>
                <a:latin typeface="Times New Roman" panose="02020603050405020304" pitchFamily="18" charset="0"/>
                <a:sym typeface="+mn-ea"/>
              </a:rPr>
              <a:t>	</a:t>
            </a:r>
            <a:r>
              <a:rPr lang="zh-CN" altLang="en-US" b="1">
                <a:solidFill>
                  <a:schemeClr val="tx2"/>
                </a:solidFill>
                <a:effectLst/>
                <a:latin typeface="Times New Roman" panose="02020603050405020304" pitchFamily="18" charset="0"/>
                <a:sym typeface="+mn-ea"/>
              </a:rPr>
              <a:t>理论与实践相结合</a:t>
            </a:r>
            <a:endParaRPr lang="zh-CN" altLang="en-US" b="1">
              <a:solidFill>
                <a:schemeClr val="tx2"/>
              </a:solidFill>
              <a:effectLst/>
              <a:latin typeface="Times New Roman" panose="02020603050405020304" pitchFamily="18" charset="0"/>
              <a:sym typeface="+mn-ea"/>
            </a:endParaRPr>
          </a:p>
          <a:p>
            <a:pPr eaLnBrk="1" hangingPunct="1"/>
            <a:r>
              <a:rPr lang="en-US" altLang="zh-CN" b="1">
                <a:solidFill>
                  <a:schemeClr val="tx2"/>
                </a:solidFill>
                <a:effectLst/>
                <a:latin typeface="Times New Roman" panose="02020603050405020304" pitchFamily="18" charset="0"/>
                <a:sym typeface="+mn-ea"/>
              </a:rPr>
              <a:t>	</a:t>
            </a:r>
            <a:r>
              <a:rPr lang="zh-CN" altLang="en-US" b="1">
                <a:solidFill>
                  <a:schemeClr val="tx2"/>
                </a:solidFill>
                <a:effectLst/>
                <a:latin typeface="Times New Roman" panose="02020603050405020304" pitchFamily="18" charset="0"/>
                <a:sym typeface="+mn-ea"/>
              </a:rPr>
              <a:t>发展变化快</a:t>
            </a:r>
            <a:endParaRPr lang="zh-CN" altLang="en-US" b="1">
              <a:solidFill>
                <a:schemeClr val="tx2"/>
              </a:solidFill>
              <a:effectLst/>
              <a:latin typeface="Times New Roman" panose="02020603050405020304" pitchFamily="18" charset="0"/>
              <a:sym typeface="+mn-ea"/>
            </a:endParaRPr>
          </a:p>
          <a:p>
            <a:pPr eaLnBrk="1" hangingPunct="1"/>
            <a:endParaRPr lang="zh-CN" altLang="en-US" b="1">
              <a:solidFill>
                <a:schemeClr val="tx2"/>
              </a:solidFill>
              <a:effectLst/>
              <a:latin typeface="Times New Roman" panose="02020603050405020304" pitchFamily="18" charset="0"/>
              <a:ea typeface="黑体" panose="02010609060101010101" pitchFamily="49" charset="-122"/>
              <a:sym typeface="+mn-ea"/>
            </a:endParaRPr>
          </a:p>
          <a:p>
            <a:pPr eaLnBrk="1" hangingPunct="1"/>
            <a:r>
              <a:rPr lang="en-US" altLang="zh-CN" b="1">
                <a:solidFill>
                  <a:srgbClr val="FF0000"/>
                </a:solidFill>
                <a:effectLst/>
                <a:latin typeface="Times New Roman" panose="02020603050405020304" pitchFamily="18" charset="0"/>
                <a:ea typeface="黑体" panose="02010609060101010101" pitchFamily="49" charset="-122"/>
                <a:sym typeface="+mn-ea"/>
              </a:rPr>
              <a:t>	</a:t>
            </a:r>
            <a:r>
              <a:rPr lang="zh-CN" altLang="en-US" b="1">
                <a:solidFill>
                  <a:srgbClr val="FF0000"/>
                </a:solidFill>
                <a:effectLst/>
                <a:latin typeface="Times New Roman" panose="02020603050405020304" pitchFamily="18" charset="0"/>
                <a:ea typeface="黑体" panose="02010609060101010101" pitchFamily="49" charset="-122"/>
                <a:sym typeface="+mn-ea"/>
              </a:rPr>
              <a:t>学习方法：</a:t>
            </a:r>
            <a:endParaRPr lang="zh-CN" altLang="en-US" b="1">
              <a:solidFill>
                <a:srgbClr val="FF0000"/>
              </a:solidFill>
              <a:effectLst/>
              <a:latin typeface="Times New Roman" panose="02020603050405020304" pitchFamily="18" charset="0"/>
              <a:ea typeface="黑体" panose="02010609060101010101" pitchFamily="49" charset="-122"/>
              <a:sym typeface="+mn-ea"/>
            </a:endParaRPr>
          </a:p>
          <a:p>
            <a:pPr eaLnBrk="1" hangingPunct="1"/>
            <a:r>
              <a:rPr lang="en-US" altLang="zh-CN" b="1">
                <a:solidFill>
                  <a:srgbClr val="FF0000"/>
                </a:solidFill>
                <a:effectLst/>
                <a:latin typeface="Times New Roman" panose="02020603050405020304" pitchFamily="18" charset="0"/>
                <a:ea typeface="黑体" panose="02010609060101010101" pitchFamily="49" charset="-122"/>
                <a:sym typeface="+mn-ea"/>
              </a:rPr>
              <a:t>	</a:t>
            </a:r>
            <a:r>
              <a:rPr lang="zh-CN" altLang="en-US" b="1">
                <a:solidFill>
                  <a:schemeClr val="tx2"/>
                </a:solidFill>
                <a:effectLst/>
                <a:latin typeface="宋体" panose="02010600030101010101" pitchFamily="2" charset="-122"/>
                <a:ea typeface="宋体" panose="02010600030101010101" pitchFamily="2" charset="-122"/>
                <a:sym typeface="+mn-ea"/>
              </a:rPr>
              <a:t>充分利用互联网资源，课下多自学、多探究</a:t>
            </a:r>
            <a:endParaRPr lang="zh-CN" altLang="en-US" b="1">
              <a:solidFill>
                <a:srgbClr val="FF0000"/>
              </a:solidFill>
              <a:effectLst/>
              <a:latin typeface="Times New Roman" panose="02020603050405020304" pitchFamily="18" charset="0"/>
              <a:ea typeface="黑体" panose="02010609060101010101" pitchFamily="49" charset="-122"/>
              <a:sym typeface="+mn-ea"/>
            </a:endParaRPr>
          </a:p>
          <a:p>
            <a:pPr eaLnBrk="1" hangingPunct="1"/>
            <a:r>
              <a:rPr lang="en-US" altLang="zh-CN" b="1">
                <a:solidFill>
                  <a:srgbClr val="FF0000"/>
                </a:solidFill>
                <a:effectLst/>
                <a:latin typeface="Times New Roman" panose="02020603050405020304" pitchFamily="18" charset="0"/>
                <a:ea typeface="黑体" panose="02010609060101010101" pitchFamily="49" charset="-122"/>
                <a:sym typeface="+mn-ea"/>
              </a:rPr>
              <a:t>	</a:t>
            </a:r>
            <a:r>
              <a:rPr lang="zh-CN" altLang="en-US" b="1">
                <a:solidFill>
                  <a:schemeClr val="tx2"/>
                </a:solidFill>
                <a:effectLst/>
                <a:latin typeface="宋体" panose="02010600030101010101" pitchFamily="2" charset="-122"/>
                <a:ea typeface="宋体" panose="02010600030101010101" pitchFamily="2" charset="-122"/>
                <a:sym typeface="+mn-ea"/>
              </a:rPr>
              <a:t>关注国家宏观政策法律体系，关注网络安全形势和动向变化，关注安全头部企业和行业相关报告</a:t>
            </a:r>
            <a:r>
              <a:rPr lang="en-US" altLang="zh-CN">
                <a:effectLst/>
                <a:latin typeface="Times New Roman" panose="02020603050405020304" pitchFamily="18" charset="0"/>
                <a:ea typeface="楷体_GB2312" pitchFamily="49" charset="-122"/>
                <a:sym typeface="+mn-ea"/>
              </a:rPr>
              <a:t> </a:t>
            </a:r>
            <a:endParaRPr lang="en-US" altLang="zh-CN">
              <a:effectLst/>
              <a:latin typeface="Times New Roman" panose="02020603050405020304" pitchFamily="18" charset="0"/>
              <a:ea typeface="楷体_GB2312" pitchFamily="49" charset="-122"/>
              <a:sym typeface="+mn-ea"/>
            </a:endParaRPr>
          </a:p>
          <a:p>
            <a:pPr eaLnBrk="1" hangingPunct="1"/>
            <a:r>
              <a:rPr lang="en-US" altLang="zh-CN" b="1">
                <a:solidFill>
                  <a:schemeClr val="tx2"/>
                </a:solidFill>
                <a:effectLst/>
                <a:latin typeface="宋体" panose="02010600030101010101" pitchFamily="2" charset="-122"/>
                <a:ea typeface="宋体" panose="02010600030101010101" pitchFamily="2" charset="-122"/>
                <a:sym typeface="+mn-ea"/>
              </a:rPr>
              <a:t>	</a:t>
            </a:r>
            <a:r>
              <a:rPr lang="zh-CN" altLang="en-US" b="1">
                <a:solidFill>
                  <a:schemeClr val="tx2"/>
                </a:solidFill>
                <a:effectLst/>
                <a:latin typeface="宋体" panose="02010600030101010101" pitchFamily="2" charset="-122"/>
                <a:ea typeface="宋体" panose="02010600030101010101" pitchFamily="2" charset="-122"/>
                <a:sym typeface="+mn-ea"/>
              </a:rPr>
              <a:t>厚基础，宽口径，根据个人特点和志向找准方向</a:t>
            </a:r>
            <a:endParaRPr lang="zh-CN" altLang="en-US" b="1">
              <a:solidFill>
                <a:schemeClr val="tx2"/>
              </a:solidFill>
              <a:effectLst/>
              <a:latin typeface="宋体" panose="02010600030101010101" pitchFamily="2" charset="-122"/>
              <a:ea typeface="宋体" panose="02010600030101010101" pitchFamily="2" charset="-122"/>
              <a:sym typeface="+mn-ea"/>
            </a:endParaRPr>
          </a:p>
          <a:p>
            <a:pPr eaLnBrk="1" hangingPunct="1"/>
            <a:endParaRPr lang="zh-CN" altLang="en-US" b="1">
              <a:effectLst/>
              <a:latin typeface="Times New Roman" panose="02020603050405020304" pitchFamily="18" charset="0"/>
            </a:endParaRPr>
          </a:p>
          <a:p>
            <a:pPr>
              <a:spcBef>
                <a:spcPct val="20000"/>
              </a:spcBef>
            </a:pPr>
            <a:r>
              <a:rPr lang="zh-CN" altLang="en-US" b="1">
                <a:solidFill>
                  <a:srgbClr val="0000FF"/>
                </a:solidFill>
                <a:effectLst>
                  <a:outerShdw blurRad="38100" dist="38100" dir="2700000" algn="tl">
                    <a:srgbClr val="000000"/>
                  </a:outerShdw>
                </a:effectLst>
                <a:latin typeface="Times New Roman" panose="02020603050405020304" pitchFamily="18" charset="0"/>
                <a:sym typeface="+mn-ea"/>
              </a:rPr>
              <a:t>                  </a:t>
            </a:r>
            <a:r>
              <a:rPr lang="en-US" altLang="zh-CN" b="1" dirty="0" smtClean="0">
                <a:solidFill>
                  <a:schemeClr val="tx1"/>
                </a:solidFill>
                <a:sym typeface="+mn-ea"/>
              </a:rPr>
              <a:t>	</a:t>
            </a:r>
            <a:endParaRPr lang="en-US" altLang="zh-CN" b="1" dirty="0" smtClean="0">
              <a:solidFill>
                <a:schemeClr val="tx1"/>
              </a:solidFill>
              <a:sym typeface="+mn-ea"/>
            </a:endParaRPr>
          </a:p>
        </p:txBody>
      </p:sp>
      <p:sp>
        <p:nvSpPr>
          <p:cNvPr id="7" name="Rectangle 2"/>
          <p:cNvSpPr txBox="1">
            <a:spLocks noChangeArrowheads="1"/>
          </p:cNvSpPr>
          <p:nvPr/>
        </p:nvSpPr>
        <p:spPr bwMode="white">
          <a:xfrm>
            <a:off x="838200" y="152400"/>
            <a:ext cx="7327900" cy="563563"/>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zh-CN" sz="3200" dirty="0" smtClean="0">
                <a:solidFill>
                  <a:schemeClr val="bg1"/>
                </a:solidFill>
                <a:latin typeface="Verdana" panose="020B0604030504040204" pitchFamily="34" charset="0"/>
              </a:rPr>
              <a:t>课程特点和学习方法</a:t>
            </a:r>
            <a:endParaRPr lang="zh-CN" sz="3200" dirty="0" smtClean="0">
              <a:solidFill>
                <a:schemeClr val="bg1"/>
              </a:solidFill>
              <a:effectLst>
                <a:outerShdw blurRad="38100" dist="38100" dir="2700000" algn="tl">
                  <a:srgbClr val="C0C0C0"/>
                </a:outerShdw>
              </a:effectLs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idx="4294967295"/>
          </p:nvPr>
        </p:nvSpPr>
        <p:spPr>
          <a:xfrm>
            <a:off x="1311275" y="263525"/>
            <a:ext cx="4248150" cy="533400"/>
          </a:xfrm>
        </p:spPr>
        <p:txBody>
          <a:bodyPr/>
          <a:lstStyle/>
          <a:p>
            <a:pPr eaLnBrk="1" hangingPunct="1">
              <a:defRPr/>
            </a:pPr>
            <a:r>
              <a:rPr lang="zh-CN" altLang="en-US" dirty="0" smtClean="0">
                <a:effectLst>
                  <a:outerShdw blurRad="38100" dist="38100" dir="2700000" algn="tl">
                    <a:srgbClr val="C0C0C0"/>
                  </a:outerShdw>
                </a:effectLst>
                <a:ea typeface="宋体" panose="02010600030101010101" pitchFamily="2" charset="-122"/>
              </a:rPr>
              <a:t>第</a:t>
            </a:r>
            <a:r>
              <a:rPr lang="en-US" altLang="zh-CN" dirty="0" smtClean="0">
                <a:effectLst>
                  <a:outerShdw blurRad="38100" dist="38100" dir="2700000" algn="tl">
                    <a:srgbClr val="C0C0C0"/>
                  </a:outerShdw>
                </a:effectLst>
                <a:ea typeface="宋体" panose="02010600030101010101" pitchFamily="2" charset="-122"/>
              </a:rPr>
              <a:t>1</a:t>
            </a:r>
            <a:r>
              <a:rPr lang="zh-CN" altLang="en-US" dirty="0" smtClean="0">
                <a:effectLst>
                  <a:outerShdw blurRad="38100" dist="38100" dir="2700000" algn="tl">
                    <a:srgbClr val="C0C0C0"/>
                  </a:outerShdw>
                </a:effectLst>
                <a:ea typeface="宋体" panose="02010600030101010101" pitchFamily="2" charset="-122"/>
              </a:rPr>
              <a:t>章 网络安全基础</a:t>
            </a:r>
            <a:endParaRPr lang="zh-CN" altLang="en-US" dirty="0" smtClean="0">
              <a:effectLst>
                <a:outerShdw blurRad="38100" dist="38100" dir="2700000" algn="tl">
                  <a:srgbClr val="C0C0C0"/>
                </a:outerShdw>
              </a:effectLst>
              <a:ea typeface="宋体" panose="02010600030101010101" pitchFamily="2" charset="-122"/>
            </a:endParaRPr>
          </a:p>
        </p:txBody>
      </p:sp>
      <p:sp>
        <p:nvSpPr>
          <p:cNvPr id="2" name="Text Box 3"/>
          <p:cNvSpPr txBox="1">
            <a:spLocks noChangeArrowheads="1"/>
          </p:cNvSpPr>
          <p:nvPr/>
        </p:nvSpPr>
        <p:spPr bwMode="auto">
          <a:xfrm>
            <a:off x="1660525" y="722313"/>
            <a:ext cx="184150" cy="366712"/>
          </a:xfrm>
          <a:prstGeom prst="rect">
            <a:avLst/>
          </a:prstGeom>
          <a:noFill/>
          <a:ln w="9525">
            <a:noFill/>
            <a:miter lim="800000"/>
          </a:ln>
        </p:spPr>
        <p:txBody>
          <a:bodyPr wrap="none">
            <a:spAutoFit/>
          </a:bodyPr>
          <a:lstStyle/>
          <a:p>
            <a:pPr algn="dist">
              <a:spcBef>
                <a:spcPct val="20000"/>
              </a:spcBef>
              <a:buFont typeface="Wingdings" panose="05000000000000000000" pitchFamily="2" charset="2"/>
              <a:buNone/>
            </a:pPr>
            <a:endParaRPr lang="zh-CN" altLang="zh-CN">
              <a:latin typeface="宋体" panose="02010600030101010101" pitchFamily="2" charset="-122"/>
            </a:endParaRPr>
          </a:p>
        </p:txBody>
      </p:sp>
      <p:grpSp>
        <p:nvGrpSpPr>
          <p:cNvPr id="11267" name="Group 9"/>
          <p:cNvGrpSpPr/>
          <p:nvPr/>
        </p:nvGrpSpPr>
        <p:grpSpPr bwMode="auto">
          <a:xfrm>
            <a:off x="1600200" y="2286000"/>
            <a:ext cx="5648325" cy="619125"/>
            <a:chOff x="1296" y="1824"/>
            <a:chExt cx="3189" cy="432"/>
          </a:xfrm>
        </p:grpSpPr>
        <p:sp>
          <p:nvSpPr>
            <p:cNvPr id="3" name="AutoShape 10"/>
            <p:cNvSpPr>
              <a:spLocks noChangeArrowheads="1"/>
            </p:cNvSpPr>
            <p:nvPr/>
          </p:nvSpPr>
          <p:spPr bwMode="gray">
            <a:xfrm>
              <a:off x="1536" y="1899"/>
              <a:ext cx="2735" cy="288"/>
            </a:xfrm>
            <a:prstGeom prst="roundRect">
              <a:avLst>
                <a:gd name="adj" fmla="val 16667"/>
              </a:avLst>
            </a:prstGeom>
            <a:gradFill rotWithShape="1">
              <a:gsLst>
                <a:gs pos="0">
                  <a:schemeClr val="accent1"/>
                </a:gs>
                <a:gs pos="50000">
                  <a:schemeClr val="accent1">
                    <a:gamma/>
                    <a:tint val="21176"/>
                    <a:invGamma/>
                  </a:schemeClr>
                </a:gs>
                <a:gs pos="100000">
                  <a:schemeClr val="accent1"/>
                </a:gs>
              </a:gsLst>
              <a:lin ang="5400000" scaled="1"/>
            </a:gradFill>
            <a:ln w="12700" algn="ctr">
              <a:solidFill>
                <a:schemeClr val="bg1"/>
              </a:solidFill>
              <a:round/>
            </a:ln>
            <a:effectLst/>
          </p:spPr>
          <p:txBody>
            <a:bodyPr wrap="none" anchor="ctr"/>
            <a:lstStyle/>
            <a:p>
              <a:pPr fontAlgn="auto">
                <a:spcBef>
                  <a:spcPct val="20000"/>
                </a:spcBef>
                <a:spcAft>
                  <a:spcPts val="0"/>
                </a:spcAft>
                <a:buFont typeface="Wingdings" panose="05000000000000000000" pitchFamily="2" charset="2"/>
                <a:buNone/>
                <a:defRPr/>
              </a:pPr>
              <a:endParaRPr lang="zh-CN" altLang="zh-CN" sz="2000" b="1">
                <a:solidFill>
                  <a:schemeClr val="tx2"/>
                </a:solidFill>
                <a:latin typeface="+mn-lt"/>
                <a:ea typeface="+mn-ea"/>
              </a:endParaRPr>
            </a:p>
          </p:txBody>
        </p:sp>
        <p:sp>
          <p:nvSpPr>
            <p:cNvPr id="11269" name="AutoShape 11"/>
            <p:cNvSpPr>
              <a:spLocks noChangeArrowheads="1"/>
            </p:cNvSpPr>
            <p:nvPr/>
          </p:nvSpPr>
          <p:spPr bwMode="auto">
            <a:xfrm>
              <a:off x="1296" y="1824"/>
              <a:ext cx="432" cy="432"/>
            </a:xfrm>
            <a:prstGeom prst="diamond">
              <a:avLst/>
            </a:prstGeom>
            <a:solidFill>
              <a:schemeClr val="accent1"/>
            </a:solidFill>
            <a:ln w="25400">
              <a:solidFill>
                <a:schemeClr val="bg1"/>
              </a:solidFill>
              <a:miter lim="800000"/>
            </a:ln>
          </p:spPr>
          <p:txBody>
            <a:bodyPr wrap="none" anchor="ctr"/>
            <a:lstStyle/>
            <a:p>
              <a:pPr>
                <a:spcBef>
                  <a:spcPct val="20000"/>
                </a:spcBef>
                <a:buFont typeface="Wingdings" panose="05000000000000000000" pitchFamily="2" charset="2"/>
                <a:buNone/>
              </a:pPr>
              <a:endParaRPr lang="zh-CN" altLang="zh-CN" sz="2000" b="1">
                <a:solidFill>
                  <a:schemeClr val="tx2"/>
                </a:solidFill>
                <a:latin typeface="宋体" panose="02010600030101010101" pitchFamily="2" charset="-122"/>
              </a:endParaRPr>
            </a:p>
          </p:txBody>
        </p:sp>
        <p:sp>
          <p:nvSpPr>
            <p:cNvPr id="11270" name="Text Box 12"/>
            <p:cNvSpPr txBox="1">
              <a:spLocks noChangeArrowheads="1"/>
            </p:cNvSpPr>
            <p:nvPr/>
          </p:nvSpPr>
          <p:spPr bwMode="auto">
            <a:xfrm>
              <a:off x="1680" y="1934"/>
              <a:ext cx="2805" cy="278"/>
            </a:xfrm>
            <a:prstGeom prst="rect">
              <a:avLst/>
            </a:prstGeom>
            <a:noFill/>
            <a:ln w="9525">
              <a:noFill/>
              <a:miter lim="800000"/>
            </a:ln>
          </p:spPr>
          <p:txBody>
            <a:bodyPr>
              <a:spAutoFit/>
            </a:bodyPr>
            <a:lstStyle/>
            <a:p>
              <a:pPr>
                <a:spcBef>
                  <a:spcPct val="20000"/>
                </a:spcBef>
                <a:buFont typeface="Wingdings" panose="05000000000000000000" pitchFamily="2" charset="2"/>
                <a:buNone/>
              </a:pPr>
              <a:r>
                <a:rPr lang="en-US" altLang="zh-CN" sz="2000" b="1">
                  <a:solidFill>
                    <a:schemeClr val="tx2"/>
                  </a:solidFill>
                  <a:latin typeface="宋体" panose="02010600030101010101" pitchFamily="2" charset="-122"/>
                </a:rPr>
                <a:t> 1.2 </a:t>
              </a:r>
              <a:r>
                <a:rPr lang="zh-CN" altLang="zh-CN" sz="1800" b="1">
                  <a:solidFill>
                    <a:schemeClr val="tx2"/>
                  </a:solidFill>
                </a:rPr>
                <a:t>网络安全的概念、特点和内容</a:t>
              </a:r>
              <a:endParaRPr lang="zh-CN" altLang="zh-CN" sz="1800" b="1">
                <a:solidFill>
                  <a:schemeClr val="tx2"/>
                </a:solidFill>
              </a:endParaRPr>
            </a:p>
          </p:txBody>
        </p:sp>
        <p:sp>
          <p:nvSpPr>
            <p:cNvPr id="11271" name="Text Box 13"/>
            <p:cNvSpPr txBox="1">
              <a:spLocks noChangeArrowheads="1"/>
            </p:cNvSpPr>
            <p:nvPr/>
          </p:nvSpPr>
          <p:spPr bwMode="auto">
            <a:xfrm>
              <a:off x="1393" y="1886"/>
              <a:ext cx="223" cy="278"/>
            </a:xfrm>
            <a:prstGeom prst="rect">
              <a:avLst/>
            </a:prstGeom>
            <a:noFill/>
            <a:ln w="9525">
              <a:noFill/>
              <a:miter lim="800000"/>
            </a:ln>
          </p:spPr>
          <p:txBody>
            <a:bodyPr>
              <a:spAutoFit/>
            </a:bodyPr>
            <a:lstStyle/>
            <a:p>
              <a:pPr eaLnBrk="0" hangingPunct="0">
                <a:spcBef>
                  <a:spcPct val="20000"/>
                </a:spcBef>
                <a:buFont typeface="Wingdings" panose="05000000000000000000" pitchFamily="2" charset="2"/>
                <a:buNone/>
              </a:pPr>
              <a:r>
                <a:rPr lang="en-US" altLang="zh-CN" sz="2000" b="1">
                  <a:solidFill>
                    <a:schemeClr val="tx2"/>
                  </a:solidFill>
                  <a:latin typeface="宋体" panose="02010600030101010101" pitchFamily="2" charset="-122"/>
                </a:rPr>
                <a:t>2</a:t>
              </a:r>
              <a:endParaRPr lang="en-US" altLang="zh-CN" sz="2000" b="1">
                <a:solidFill>
                  <a:schemeClr val="tx2"/>
                </a:solidFill>
                <a:latin typeface="宋体" panose="02010600030101010101" pitchFamily="2" charset="-122"/>
              </a:endParaRPr>
            </a:p>
          </p:txBody>
        </p:sp>
      </p:grpSp>
      <p:grpSp>
        <p:nvGrpSpPr>
          <p:cNvPr id="11272" name="Group 14"/>
          <p:cNvGrpSpPr/>
          <p:nvPr/>
        </p:nvGrpSpPr>
        <p:grpSpPr bwMode="auto">
          <a:xfrm>
            <a:off x="1595438" y="2894013"/>
            <a:ext cx="5494337" cy="668337"/>
            <a:chOff x="1296" y="1824"/>
            <a:chExt cx="3078" cy="432"/>
          </a:xfrm>
        </p:grpSpPr>
        <p:sp>
          <p:nvSpPr>
            <p:cNvPr id="4" name="AutoShape 15"/>
            <p:cNvSpPr>
              <a:spLocks noChangeArrowheads="1"/>
            </p:cNvSpPr>
            <p:nvPr/>
          </p:nvSpPr>
          <p:spPr bwMode="gray">
            <a:xfrm>
              <a:off x="1536" y="1899"/>
              <a:ext cx="2736" cy="289"/>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ln>
            <a:effectLst/>
          </p:spPr>
          <p:txBody>
            <a:bodyPr wrap="none" anchor="ctr"/>
            <a:lstStyle/>
            <a:p>
              <a:pPr fontAlgn="auto">
                <a:spcBef>
                  <a:spcPct val="20000"/>
                </a:spcBef>
                <a:spcAft>
                  <a:spcPts val="0"/>
                </a:spcAft>
                <a:buFont typeface="Wingdings" panose="05000000000000000000" pitchFamily="2" charset="2"/>
                <a:buNone/>
                <a:defRPr/>
              </a:pPr>
              <a:endParaRPr lang="zh-CN" altLang="zh-CN" sz="2000" b="1">
                <a:solidFill>
                  <a:schemeClr val="tx2"/>
                </a:solidFill>
                <a:latin typeface="+mn-lt"/>
                <a:ea typeface="+mn-ea"/>
              </a:endParaRPr>
            </a:p>
          </p:txBody>
        </p:sp>
        <p:sp>
          <p:nvSpPr>
            <p:cNvPr id="11274" name="AutoShape 16"/>
            <p:cNvSpPr>
              <a:spLocks noChangeArrowheads="1"/>
            </p:cNvSpPr>
            <p:nvPr/>
          </p:nvSpPr>
          <p:spPr bwMode="auto">
            <a:xfrm>
              <a:off x="1296" y="1824"/>
              <a:ext cx="432" cy="432"/>
            </a:xfrm>
            <a:prstGeom prst="diamond">
              <a:avLst/>
            </a:prstGeom>
            <a:solidFill>
              <a:schemeClr val="hlink"/>
            </a:solidFill>
            <a:ln w="25400">
              <a:solidFill>
                <a:schemeClr val="bg1"/>
              </a:solidFill>
              <a:miter lim="800000"/>
            </a:ln>
          </p:spPr>
          <p:txBody>
            <a:bodyPr wrap="none" anchor="ctr"/>
            <a:lstStyle/>
            <a:p>
              <a:pPr>
                <a:spcBef>
                  <a:spcPct val="20000"/>
                </a:spcBef>
                <a:buFont typeface="Wingdings" panose="05000000000000000000" pitchFamily="2" charset="2"/>
                <a:buNone/>
              </a:pPr>
              <a:endParaRPr lang="zh-CN" altLang="zh-CN" sz="2000" b="1">
                <a:solidFill>
                  <a:schemeClr val="tx2"/>
                </a:solidFill>
                <a:latin typeface="宋体" panose="02010600030101010101" pitchFamily="2" charset="-122"/>
              </a:endParaRPr>
            </a:p>
          </p:txBody>
        </p:sp>
        <p:sp>
          <p:nvSpPr>
            <p:cNvPr id="11275" name="Text Box 17"/>
            <p:cNvSpPr txBox="1">
              <a:spLocks noChangeArrowheads="1"/>
            </p:cNvSpPr>
            <p:nvPr/>
          </p:nvSpPr>
          <p:spPr bwMode="auto">
            <a:xfrm>
              <a:off x="1743" y="1936"/>
              <a:ext cx="2631" cy="258"/>
            </a:xfrm>
            <a:prstGeom prst="rect">
              <a:avLst/>
            </a:prstGeom>
            <a:noFill/>
            <a:ln w="9525">
              <a:noFill/>
              <a:miter lim="800000"/>
            </a:ln>
          </p:spPr>
          <p:txBody>
            <a:bodyPr>
              <a:spAutoFit/>
            </a:bodyPr>
            <a:lstStyle/>
            <a:p>
              <a:pPr eaLnBrk="0" hangingPunct="0">
                <a:spcBef>
                  <a:spcPct val="20000"/>
                </a:spcBef>
                <a:buFont typeface="Wingdings" panose="05000000000000000000" pitchFamily="2" charset="2"/>
                <a:buNone/>
              </a:pPr>
              <a:r>
                <a:rPr lang="en-US" altLang="zh-CN" sz="2000" b="1">
                  <a:solidFill>
                    <a:schemeClr val="tx2"/>
                  </a:solidFill>
                  <a:latin typeface="宋体" panose="02010600030101010101" pitchFamily="2" charset="-122"/>
                </a:rPr>
                <a:t>1.3 </a:t>
              </a:r>
              <a:r>
                <a:rPr lang="zh-CN" altLang="en-US" sz="2000" b="1">
                  <a:solidFill>
                    <a:schemeClr val="tx2"/>
                  </a:solidFill>
                </a:rPr>
                <a:t>网络安全主要常用技术</a:t>
              </a:r>
              <a:endParaRPr lang="zh-CN" altLang="en-US" sz="2000" b="1">
                <a:solidFill>
                  <a:schemeClr val="tx2"/>
                </a:solidFill>
              </a:endParaRPr>
            </a:p>
          </p:txBody>
        </p:sp>
        <p:sp>
          <p:nvSpPr>
            <p:cNvPr id="11276" name="Text Box 18"/>
            <p:cNvSpPr txBox="1">
              <a:spLocks noChangeArrowheads="1"/>
            </p:cNvSpPr>
            <p:nvPr/>
          </p:nvSpPr>
          <p:spPr bwMode="auto">
            <a:xfrm>
              <a:off x="1398" y="1885"/>
              <a:ext cx="197" cy="259"/>
            </a:xfrm>
            <a:prstGeom prst="rect">
              <a:avLst/>
            </a:prstGeom>
            <a:noFill/>
            <a:ln w="9525">
              <a:noFill/>
              <a:miter lim="800000"/>
            </a:ln>
          </p:spPr>
          <p:txBody>
            <a:bodyPr wrap="none">
              <a:spAutoFit/>
            </a:bodyPr>
            <a:lstStyle/>
            <a:p>
              <a:pPr eaLnBrk="0" hangingPunct="0">
                <a:spcBef>
                  <a:spcPct val="20000"/>
                </a:spcBef>
                <a:buFont typeface="Wingdings" panose="05000000000000000000" pitchFamily="2" charset="2"/>
                <a:buNone/>
              </a:pPr>
              <a:r>
                <a:rPr lang="en-US" altLang="zh-CN" sz="2000" b="1">
                  <a:solidFill>
                    <a:schemeClr val="tx2"/>
                  </a:solidFill>
                  <a:latin typeface="宋体" panose="02010600030101010101" pitchFamily="2" charset="-122"/>
                </a:rPr>
                <a:t>3</a:t>
              </a:r>
              <a:endParaRPr lang="en-US" altLang="zh-CN" sz="2000" b="1">
                <a:solidFill>
                  <a:schemeClr val="tx2"/>
                </a:solidFill>
                <a:latin typeface="宋体" panose="02010600030101010101" pitchFamily="2" charset="-122"/>
              </a:endParaRPr>
            </a:p>
          </p:txBody>
        </p:sp>
      </p:grpSp>
      <p:grpSp>
        <p:nvGrpSpPr>
          <p:cNvPr id="11277" name="Group 19"/>
          <p:cNvGrpSpPr/>
          <p:nvPr/>
        </p:nvGrpSpPr>
        <p:grpSpPr bwMode="auto">
          <a:xfrm>
            <a:off x="1595438" y="3548063"/>
            <a:ext cx="5341937" cy="685800"/>
            <a:chOff x="1296" y="1824"/>
            <a:chExt cx="2976" cy="432"/>
          </a:xfrm>
        </p:grpSpPr>
        <p:sp>
          <p:nvSpPr>
            <p:cNvPr id="64532" name="AutoShape 20"/>
            <p:cNvSpPr>
              <a:spLocks noChangeArrowheads="1"/>
            </p:cNvSpPr>
            <p:nvPr/>
          </p:nvSpPr>
          <p:spPr bwMode="gray">
            <a:xfrm>
              <a:off x="1536" y="1899"/>
              <a:ext cx="2736" cy="288"/>
            </a:xfrm>
            <a:prstGeom prst="roundRect">
              <a:avLst>
                <a:gd name="adj" fmla="val 16667"/>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ln>
            <a:effectLst/>
          </p:spPr>
          <p:txBody>
            <a:bodyPr wrap="none" anchor="ctr"/>
            <a:lstStyle/>
            <a:p>
              <a:pPr fontAlgn="auto">
                <a:spcBef>
                  <a:spcPct val="20000"/>
                </a:spcBef>
                <a:spcAft>
                  <a:spcPts val="0"/>
                </a:spcAft>
                <a:buFont typeface="Wingdings" panose="05000000000000000000" pitchFamily="2" charset="2"/>
                <a:buNone/>
                <a:defRPr/>
              </a:pPr>
              <a:endParaRPr lang="zh-CN" altLang="zh-CN" sz="2000" b="1">
                <a:solidFill>
                  <a:schemeClr val="tx2"/>
                </a:solidFill>
                <a:latin typeface="+mn-lt"/>
                <a:ea typeface="+mn-ea"/>
              </a:endParaRPr>
            </a:p>
          </p:txBody>
        </p:sp>
        <p:sp>
          <p:nvSpPr>
            <p:cNvPr id="11279" name="AutoShape 21"/>
            <p:cNvSpPr>
              <a:spLocks noChangeArrowheads="1"/>
            </p:cNvSpPr>
            <p:nvPr/>
          </p:nvSpPr>
          <p:spPr bwMode="auto">
            <a:xfrm>
              <a:off x="1296" y="1824"/>
              <a:ext cx="432" cy="432"/>
            </a:xfrm>
            <a:prstGeom prst="diamond">
              <a:avLst/>
            </a:prstGeom>
            <a:solidFill>
              <a:schemeClr val="folHlink"/>
            </a:solidFill>
            <a:ln w="25400">
              <a:solidFill>
                <a:schemeClr val="bg1"/>
              </a:solidFill>
              <a:miter lim="800000"/>
            </a:ln>
          </p:spPr>
          <p:txBody>
            <a:bodyPr wrap="none" anchor="ctr"/>
            <a:lstStyle/>
            <a:p>
              <a:pPr>
                <a:spcBef>
                  <a:spcPct val="20000"/>
                </a:spcBef>
                <a:buFont typeface="Wingdings" panose="05000000000000000000" pitchFamily="2" charset="2"/>
                <a:buNone/>
              </a:pPr>
              <a:endParaRPr lang="zh-CN" altLang="zh-CN" sz="2000" b="1">
                <a:solidFill>
                  <a:schemeClr val="tx2"/>
                </a:solidFill>
                <a:latin typeface="宋体" panose="02010600030101010101" pitchFamily="2" charset="-122"/>
              </a:endParaRPr>
            </a:p>
          </p:txBody>
        </p:sp>
        <p:sp>
          <p:nvSpPr>
            <p:cNvPr id="11280" name="Text Box 22"/>
            <p:cNvSpPr txBox="1">
              <a:spLocks noChangeArrowheads="1"/>
            </p:cNvSpPr>
            <p:nvPr/>
          </p:nvSpPr>
          <p:spPr bwMode="auto">
            <a:xfrm>
              <a:off x="1742" y="1934"/>
              <a:ext cx="2440" cy="251"/>
            </a:xfrm>
            <a:prstGeom prst="rect">
              <a:avLst/>
            </a:prstGeom>
            <a:noFill/>
            <a:ln w="9525">
              <a:noFill/>
              <a:miter lim="800000"/>
            </a:ln>
          </p:spPr>
          <p:txBody>
            <a:bodyPr>
              <a:spAutoFit/>
            </a:bodyPr>
            <a:lstStyle/>
            <a:p>
              <a:pPr eaLnBrk="0" hangingPunct="0">
                <a:spcBef>
                  <a:spcPct val="20000"/>
                </a:spcBef>
                <a:buFont typeface="Wingdings" panose="05000000000000000000" pitchFamily="2" charset="2"/>
                <a:buNone/>
              </a:pPr>
              <a:r>
                <a:rPr lang="en-US" altLang="zh-CN" sz="2000" b="1">
                  <a:solidFill>
                    <a:schemeClr val="tx2"/>
                  </a:solidFill>
                  <a:latin typeface="宋体" panose="02010600030101010101" pitchFamily="2" charset="-122"/>
                </a:rPr>
                <a:t>1.4 </a:t>
              </a:r>
              <a:r>
                <a:rPr lang="zh-CN" altLang="en-US" sz="2000" b="1">
                  <a:solidFill>
                    <a:schemeClr val="tx2"/>
                  </a:solidFill>
                  <a:latin typeface="宋体" panose="02010600030101010101" pitchFamily="2" charset="-122"/>
                </a:rPr>
                <a:t>网络安全建设发展状况及趋势</a:t>
              </a:r>
              <a:endParaRPr lang="zh-CN" altLang="en-US" sz="2000" b="1">
                <a:solidFill>
                  <a:schemeClr val="tx2"/>
                </a:solidFill>
                <a:latin typeface="宋体" panose="02010600030101010101" pitchFamily="2" charset="-122"/>
              </a:endParaRPr>
            </a:p>
          </p:txBody>
        </p:sp>
        <p:sp>
          <p:nvSpPr>
            <p:cNvPr id="11281" name="Text Box 23"/>
            <p:cNvSpPr txBox="1">
              <a:spLocks noChangeArrowheads="1"/>
            </p:cNvSpPr>
            <p:nvPr/>
          </p:nvSpPr>
          <p:spPr bwMode="auto">
            <a:xfrm>
              <a:off x="1393" y="1886"/>
              <a:ext cx="223" cy="252"/>
            </a:xfrm>
            <a:prstGeom prst="rect">
              <a:avLst/>
            </a:prstGeom>
            <a:noFill/>
            <a:ln w="9525">
              <a:noFill/>
              <a:miter lim="800000"/>
            </a:ln>
          </p:spPr>
          <p:txBody>
            <a:bodyPr>
              <a:spAutoFit/>
            </a:bodyPr>
            <a:lstStyle/>
            <a:p>
              <a:pPr eaLnBrk="0" hangingPunct="0">
                <a:spcBef>
                  <a:spcPct val="20000"/>
                </a:spcBef>
                <a:buFont typeface="Wingdings" panose="05000000000000000000" pitchFamily="2" charset="2"/>
                <a:buNone/>
              </a:pPr>
              <a:r>
                <a:rPr lang="en-US" altLang="zh-CN" sz="2000" b="1">
                  <a:solidFill>
                    <a:schemeClr val="tx2"/>
                  </a:solidFill>
                  <a:latin typeface="宋体" panose="02010600030101010101" pitchFamily="2" charset="-122"/>
                </a:rPr>
                <a:t>4</a:t>
              </a:r>
              <a:endParaRPr lang="en-US" altLang="zh-CN" sz="2000" b="1">
                <a:solidFill>
                  <a:schemeClr val="tx2"/>
                </a:solidFill>
                <a:latin typeface="宋体" panose="02010600030101010101" pitchFamily="2" charset="-122"/>
              </a:endParaRPr>
            </a:p>
          </p:txBody>
        </p:sp>
      </p:grpSp>
      <p:sp>
        <p:nvSpPr>
          <p:cNvPr id="11282" name="Rectangle 51"/>
          <p:cNvSpPr>
            <a:spLocks noChangeArrowheads="1"/>
          </p:cNvSpPr>
          <p:nvPr/>
        </p:nvSpPr>
        <p:spPr bwMode="auto">
          <a:xfrm>
            <a:off x="1957388" y="5253038"/>
            <a:ext cx="5006975" cy="400050"/>
          </a:xfrm>
          <a:prstGeom prst="rect">
            <a:avLst/>
          </a:prstGeom>
          <a:noFill/>
          <a:ln w="9525">
            <a:noFill/>
            <a:miter lim="800000"/>
          </a:ln>
        </p:spPr>
        <p:txBody>
          <a:bodyPr>
            <a:spAutoFit/>
          </a:bodyPr>
          <a:lstStyle/>
          <a:p>
            <a:pPr>
              <a:spcBef>
                <a:spcPct val="20000"/>
              </a:spcBef>
              <a:buFont typeface="Wingdings" panose="05000000000000000000" pitchFamily="2" charset="2"/>
              <a:buNone/>
            </a:pPr>
            <a:r>
              <a:rPr lang="en-US" altLang="zh-CN" sz="2000" b="1">
                <a:solidFill>
                  <a:schemeClr val="tx2"/>
                </a:solidFill>
                <a:latin typeface="宋体" panose="02010600030101010101" pitchFamily="2" charset="-122"/>
              </a:rPr>
              <a:t> </a:t>
            </a:r>
            <a:endParaRPr lang="en-US" altLang="zh-CN" sz="2000" b="1">
              <a:solidFill>
                <a:schemeClr val="tx2"/>
              </a:solidFill>
              <a:latin typeface="宋体" panose="02010600030101010101" pitchFamily="2" charset="-122"/>
            </a:endParaRPr>
          </a:p>
        </p:txBody>
      </p:sp>
      <p:sp>
        <p:nvSpPr>
          <p:cNvPr id="11283" name="Rectangle 52"/>
          <p:cNvSpPr>
            <a:spLocks noChangeArrowheads="1"/>
          </p:cNvSpPr>
          <p:nvPr/>
        </p:nvSpPr>
        <p:spPr bwMode="auto">
          <a:xfrm>
            <a:off x="4033838" y="3576638"/>
            <a:ext cx="354012" cy="400050"/>
          </a:xfrm>
          <a:prstGeom prst="rect">
            <a:avLst/>
          </a:prstGeom>
          <a:noFill/>
          <a:ln w="9525">
            <a:noFill/>
            <a:miter lim="800000"/>
          </a:ln>
        </p:spPr>
        <p:txBody>
          <a:bodyPr>
            <a:spAutoFit/>
          </a:bodyPr>
          <a:lstStyle/>
          <a:p>
            <a:pPr>
              <a:spcBef>
                <a:spcPct val="20000"/>
              </a:spcBef>
              <a:buFont typeface="Wingdings" panose="05000000000000000000" pitchFamily="2" charset="2"/>
              <a:buNone/>
            </a:pPr>
            <a:r>
              <a:rPr lang="en-US" altLang="zh-CN" sz="2000" b="1">
                <a:solidFill>
                  <a:schemeClr val="tx2"/>
                </a:solidFill>
                <a:latin typeface="宋体" panose="02010600030101010101" pitchFamily="2" charset="-122"/>
              </a:rPr>
              <a:t> </a:t>
            </a:r>
            <a:endParaRPr lang="en-US" altLang="zh-CN" sz="2000" b="1">
              <a:solidFill>
                <a:schemeClr val="tx2"/>
              </a:solidFill>
              <a:latin typeface="宋体" panose="02010600030101010101" pitchFamily="2" charset="-122"/>
            </a:endParaRPr>
          </a:p>
        </p:txBody>
      </p:sp>
      <p:grpSp>
        <p:nvGrpSpPr>
          <p:cNvPr id="11284" name="Group 4"/>
          <p:cNvGrpSpPr/>
          <p:nvPr/>
        </p:nvGrpSpPr>
        <p:grpSpPr bwMode="auto">
          <a:xfrm>
            <a:off x="1609725" y="1644650"/>
            <a:ext cx="5251450" cy="642938"/>
            <a:chOff x="1296" y="1824"/>
            <a:chExt cx="2970" cy="432"/>
          </a:xfrm>
        </p:grpSpPr>
        <p:sp>
          <p:nvSpPr>
            <p:cNvPr id="5" name="AutoShape 5"/>
            <p:cNvSpPr>
              <a:spLocks noChangeArrowheads="1"/>
            </p:cNvSpPr>
            <p:nvPr/>
          </p:nvSpPr>
          <p:spPr bwMode="gray">
            <a:xfrm>
              <a:off x="1530" y="1899"/>
              <a:ext cx="2736" cy="288"/>
            </a:xfrm>
            <a:prstGeom prst="roundRect">
              <a:avLst>
                <a:gd name="adj" fmla="val 16667"/>
              </a:avLst>
            </a:prstGeom>
            <a:gradFill rotWithShape="1">
              <a:gsLst>
                <a:gs pos="0">
                  <a:schemeClr val="accent2"/>
                </a:gs>
                <a:gs pos="50000">
                  <a:schemeClr val="accent2">
                    <a:gamma/>
                    <a:tint val="21176"/>
                    <a:invGamma/>
                  </a:schemeClr>
                </a:gs>
                <a:gs pos="100000">
                  <a:schemeClr val="accent2"/>
                </a:gs>
              </a:gsLst>
              <a:lin ang="5400000" scaled="1"/>
            </a:gradFill>
            <a:ln w="12700" algn="ctr">
              <a:solidFill>
                <a:schemeClr val="bg1"/>
              </a:solidFill>
              <a:round/>
            </a:ln>
            <a:effectLst/>
          </p:spPr>
          <p:txBody>
            <a:bodyPr wrap="none" anchor="ctr"/>
            <a:lstStyle/>
            <a:p>
              <a:pPr fontAlgn="auto">
                <a:spcBef>
                  <a:spcPct val="20000"/>
                </a:spcBef>
                <a:spcAft>
                  <a:spcPts val="0"/>
                </a:spcAft>
                <a:buFont typeface="Wingdings" panose="05000000000000000000" pitchFamily="2" charset="2"/>
                <a:buNone/>
                <a:defRPr/>
              </a:pPr>
              <a:endParaRPr lang="zh-CN" altLang="zh-CN" sz="2000" b="1">
                <a:solidFill>
                  <a:schemeClr val="tx2"/>
                </a:solidFill>
                <a:latin typeface="+mn-lt"/>
                <a:ea typeface="+mn-ea"/>
              </a:endParaRPr>
            </a:p>
          </p:txBody>
        </p:sp>
        <p:sp>
          <p:nvSpPr>
            <p:cNvPr id="11286" name="AutoShape 6"/>
            <p:cNvSpPr>
              <a:spLocks noChangeArrowheads="1"/>
            </p:cNvSpPr>
            <p:nvPr/>
          </p:nvSpPr>
          <p:spPr bwMode="auto">
            <a:xfrm>
              <a:off x="1296" y="1824"/>
              <a:ext cx="432" cy="432"/>
            </a:xfrm>
            <a:prstGeom prst="diamond">
              <a:avLst/>
            </a:prstGeom>
            <a:solidFill>
              <a:schemeClr val="accent2"/>
            </a:solidFill>
            <a:ln w="25400">
              <a:solidFill>
                <a:schemeClr val="bg1"/>
              </a:solidFill>
              <a:miter lim="800000"/>
            </a:ln>
          </p:spPr>
          <p:txBody>
            <a:bodyPr wrap="none" anchor="ctr"/>
            <a:lstStyle/>
            <a:p>
              <a:pPr>
                <a:spcBef>
                  <a:spcPct val="20000"/>
                </a:spcBef>
                <a:buFont typeface="Wingdings" panose="05000000000000000000" pitchFamily="2" charset="2"/>
                <a:buNone/>
              </a:pPr>
              <a:endParaRPr lang="zh-CN" altLang="zh-CN" sz="2000" b="1">
                <a:solidFill>
                  <a:schemeClr val="tx2"/>
                </a:solidFill>
                <a:latin typeface="宋体" panose="02010600030101010101" pitchFamily="2" charset="-122"/>
              </a:endParaRPr>
            </a:p>
          </p:txBody>
        </p:sp>
        <p:sp>
          <p:nvSpPr>
            <p:cNvPr id="11287" name="Text Box 7"/>
            <p:cNvSpPr txBox="1">
              <a:spLocks noChangeArrowheads="1"/>
            </p:cNvSpPr>
            <p:nvPr/>
          </p:nvSpPr>
          <p:spPr bwMode="auto">
            <a:xfrm>
              <a:off x="1716" y="1934"/>
              <a:ext cx="2190" cy="268"/>
            </a:xfrm>
            <a:prstGeom prst="rect">
              <a:avLst/>
            </a:prstGeom>
            <a:noFill/>
            <a:ln w="9525">
              <a:noFill/>
              <a:miter lim="800000"/>
            </a:ln>
          </p:spPr>
          <p:txBody>
            <a:bodyPr>
              <a:spAutoFit/>
            </a:bodyPr>
            <a:lstStyle/>
            <a:p>
              <a:pPr eaLnBrk="0" hangingPunct="0">
                <a:spcBef>
                  <a:spcPct val="20000"/>
                </a:spcBef>
                <a:buFont typeface="Wingdings" panose="05000000000000000000" pitchFamily="2" charset="2"/>
                <a:buNone/>
              </a:pPr>
              <a:r>
                <a:rPr lang="en-US" altLang="zh-CN" sz="2000" b="1">
                  <a:solidFill>
                    <a:schemeClr val="tx2"/>
                  </a:solidFill>
                  <a:latin typeface="宋体" panose="02010600030101010101" pitchFamily="2" charset="-122"/>
                </a:rPr>
                <a:t>1.1 </a:t>
              </a:r>
              <a:r>
                <a:rPr lang="zh-CN" altLang="en-US" sz="2000" b="1">
                  <a:solidFill>
                    <a:schemeClr val="tx2"/>
                  </a:solidFill>
                  <a:latin typeface="宋体" panose="02010600030101010101" pitchFamily="2" charset="-122"/>
                </a:rPr>
                <a:t>网络空间安全威胁及态势</a:t>
              </a:r>
              <a:endParaRPr lang="zh-CN" altLang="en-US" sz="2000" b="1">
                <a:solidFill>
                  <a:schemeClr val="tx2"/>
                </a:solidFill>
                <a:latin typeface="宋体" panose="02010600030101010101" pitchFamily="2" charset="-122"/>
              </a:endParaRPr>
            </a:p>
          </p:txBody>
        </p:sp>
        <p:sp>
          <p:nvSpPr>
            <p:cNvPr id="11288" name="Text Box 8"/>
            <p:cNvSpPr txBox="1">
              <a:spLocks noChangeArrowheads="1"/>
            </p:cNvSpPr>
            <p:nvPr/>
          </p:nvSpPr>
          <p:spPr bwMode="auto">
            <a:xfrm>
              <a:off x="1398" y="1886"/>
              <a:ext cx="197" cy="269"/>
            </a:xfrm>
            <a:prstGeom prst="rect">
              <a:avLst/>
            </a:prstGeom>
            <a:noFill/>
            <a:ln w="9525">
              <a:noFill/>
              <a:miter lim="800000"/>
            </a:ln>
          </p:spPr>
          <p:txBody>
            <a:bodyPr wrap="none">
              <a:spAutoFit/>
            </a:bodyPr>
            <a:lstStyle/>
            <a:p>
              <a:pPr eaLnBrk="0" hangingPunct="0">
                <a:spcBef>
                  <a:spcPct val="20000"/>
                </a:spcBef>
                <a:buFont typeface="Wingdings" panose="05000000000000000000" pitchFamily="2" charset="2"/>
                <a:buNone/>
              </a:pPr>
              <a:r>
                <a:rPr lang="en-US" altLang="zh-CN" sz="2000" b="1">
                  <a:solidFill>
                    <a:schemeClr val="tx2"/>
                  </a:solidFill>
                  <a:latin typeface="宋体" panose="02010600030101010101" pitchFamily="2" charset="-122"/>
                </a:rPr>
                <a:t>1</a:t>
              </a:r>
              <a:endParaRPr lang="en-US" altLang="zh-CN" sz="2000" b="1">
                <a:solidFill>
                  <a:schemeClr val="tx2"/>
                </a:solidFill>
                <a:latin typeface="宋体" panose="02010600030101010101" pitchFamily="2" charset="-122"/>
              </a:endParaRPr>
            </a:p>
          </p:txBody>
        </p:sp>
      </p:grpSp>
      <p:sp>
        <p:nvSpPr>
          <p:cNvPr id="11289" name="Rectangle 123"/>
          <p:cNvSpPr>
            <a:spLocks noChangeArrowheads="1"/>
          </p:cNvSpPr>
          <p:nvPr/>
        </p:nvSpPr>
        <p:spPr bwMode="auto">
          <a:xfrm>
            <a:off x="1423988" y="5024438"/>
            <a:ext cx="5743575" cy="400050"/>
          </a:xfrm>
          <a:prstGeom prst="rect">
            <a:avLst/>
          </a:prstGeom>
          <a:noFill/>
          <a:ln w="9525">
            <a:noFill/>
            <a:miter lim="800000"/>
          </a:ln>
        </p:spPr>
        <p:txBody>
          <a:bodyPr>
            <a:spAutoFit/>
          </a:bodyPr>
          <a:lstStyle/>
          <a:p>
            <a:pPr>
              <a:spcBef>
                <a:spcPct val="20000"/>
              </a:spcBef>
              <a:buFont typeface="Wingdings" panose="05000000000000000000" pitchFamily="2" charset="2"/>
              <a:buNone/>
            </a:pPr>
            <a:r>
              <a:rPr lang="en-US" altLang="zh-CN" sz="2000" b="1">
                <a:solidFill>
                  <a:schemeClr val="tx2"/>
                </a:solidFill>
                <a:latin typeface="宋体" panose="02010600030101010101" pitchFamily="2" charset="-122"/>
              </a:rPr>
              <a:t>    </a:t>
            </a:r>
            <a:endParaRPr lang="en-US" altLang="zh-CN" sz="2000" b="1">
              <a:solidFill>
                <a:schemeClr val="tx2"/>
              </a:solidFill>
              <a:latin typeface="宋体" panose="02010600030101010101" pitchFamily="2" charset="-122"/>
            </a:endParaRPr>
          </a:p>
        </p:txBody>
      </p:sp>
      <p:grpSp>
        <p:nvGrpSpPr>
          <p:cNvPr id="11290" name="Group 4"/>
          <p:cNvGrpSpPr/>
          <p:nvPr/>
        </p:nvGrpSpPr>
        <p:grpSpPr bwMode="auto">
          <a:xfrm>
            <a:off x="1595438" y="4205288"/>
            <a:ext cx="5341937" cy="935037"/>
            <a:chOff x="1296" y="1824"/>
            <a:chExt cx="2976" cy="615"/>
          </a:xfrm>
        </p:grpSpPr>
        <p:sp>
          <p:nvSpPr>
            <p:cNvPr id="64517" name="AutoShape 5"/>
            <p:cNvSpPr>
              <a:spLocks noChangeArrowheads="1"/>
            </p:cNvSpPr>
            <p:nvPr/>
          </p:nvSpPr>
          <p:spPr bwMode="gray">
            <a:xfrm>
              <a:off x="1536" y="1899"/>
              <a:ext cx="2736" cy="288"/>
            </a:xfrm>
            <a:prstGeom prst="roundRect">
              <a:avLst>
                <a:gd name="adj" fmla="val 16667"/>
              </a:avLst>
            </a:prstGeom>
            <a:gradFill rotWithShape="1">
              <a:gsLst>
                <a:gs pos="0">
                  <a:schemeClr val="accent2"/>
                </a:gs>
                <a:gs pos="50000">
                  <a:schemeClr val="accent2">
                    <a:gamma/>
                    <a:tint val="21176"/>
                    <a:invGamma/>
                  </a:schemeClr>
                </a:gs>
                <a:gs pos="100000">
                  <a:schemeClr val="accent2"/>
                </a:gs>
              </a:gsLst>
              <a:lin ang="5400000" scaled="1"/>
            </a:gradFill>
            <a:ln w="12700" algn="ctr">
              <a:solidFill>
                <a:schemeClr val="bg1"/>
              </a:solidFill>
              <a:round/>
            </a:ln>
            <a:effectLst/>
          </p:spPr>
          <p:txBody>
            <a:bodyPr wrap="none" anchor="ctr"/>
            <a:lstStyle/>
            <a:p>
              <a:pPr fontAlgn="auto">
                <a:spcBef>
                  <a:spcPct val="20000"/>
                </a:spcBef>
                <a:spcAft>
                  <a:spcPts val="0"/>
                </a:spcAft>
                <a:buFont typeface="Wingdings" panose="05000000000000000000" pitchFamily="2" charset="2"/>
                <a:buNone/>
                <a:defRPr/>
              </a:pPr>
              <a:endParaRPr lang="zh-CN" altLang="zh-CN" sz="2000" b="1">
                <a:solidFill>
                  <a:schemeClr val="tx2"/>
                </a:solidFill>
                <a:latin typeface="+mn-lt"/>
                <a:ea typeface="+mn-ea"/>
              </a:endParaRPr>
            </a:p>
          </p:txBody>
        </p:sp>
        <p:sp>
          <p:nvSpPr>
            <p:cNvPr id="11292" name="AutoShape 6"/>
            <p:cNvSpPr>
              <a:spLocks noChangeArrowheads="1"/>
            </p:cNvSpPr>
            <p:nvPr/>
          </p:nvSpPr>
          <p:spPr bwMode="auto">
            <a:xfrm>
              <a:off x="1296" y="1824"/>
              <a:ext cx="432" cy="432"/>
            </a:xfrm>
            <a:prstGeom prst="diamond">
              <a:avLst/>
            </a:prstGeom>
            <a:solidFill>
              <a:schemeClr val="accent2"/>
            </a:solidFill>
            <a:ln w="25400">
              <a:solidFill>
                <a:schemeClr val="bg1"/>
              </a:solidFill>
              <a:miter lim="800000"/>
            </a:ln>
          </p:spPr>
          <p:txBody>
            <a:bodyPr wrap="none" anchor="ctr"/>
            <a:lstStyle/>
            <a:p>
              <a:pPr>
                <a:spcBef>
                  <a:spcPct val="20000"/>
                </a:spcBef>
                <a:buFont typeface="Wingdings" panose="05000000000000000000" pitchFamily="2" charset="2"/>
                <a:buNone/>
              </a:pPr>
              <a:endParaRPr lang="zh-CN" altLang="zh-CN" sz="2000" b="1">
                <a:solidFill>
                  <a:schemeClr val="tx2"/>
                </a:solidFill>
                <a:latin typeface="宋体" panose="02010600030101010101" pitchFamily="2" charset="-122"/>
              </a:endParaRPr>
            </a:p>
          </p:txBody>
        </p:sp>
        <p:sp>
          <p:nvSpPr>
            <p:cNvPr id="11293" name="Text Box 7"/>
            <p:cNvSpPr txBox="1">
              <a:spLocks noChangeArrowheads="1"/>
            </p:cNvSpPr>
            <p:nvPr/>
          </p:nvSpPr>
          <p:spPr bwMode="auto">
            <a:xfrm>
              <a:off x="1680" y="1934"/>
              <a:ext cx="2379" cy="505"/>
            </a:xfrm>
            <a:prstGeom prst="rect">
              <a:avLst/>
            </a:prstGeom>
            <a:noFill/>
            <a:ln w="9525">
              <a:noFill/>
              <a:miter lim="800000"/>
            </a:ln>
          </p:spPr>
          <p:txBody>
            <a:bodyPr>
              <a:spAutoFit/>
            </a:bodyPr>
            <a:lstStyle/>
            <a:p>
              <a:pPr eaLnBrk="0" hangingPunct="0">
                <a:spcBef>
                  <a:spcPct val="20000"/>
                </a:spcBef>
                <a:buFont typeface="Wingdings" panose="05000000000000000000" pitchFamily="2" charset="2"/>
                <a:buNone/>
              </a:pPr>
              <a:r>
                <a:rPr lang="en-US" altLang="zh-CN" sz="2000" b="1">
                  <a:solidFill>
                    <a:srgbClr val="FF0000"/>
                  </a:solidFill>
                  <a:latin typeface="宋体" panose="02010600030101010101" pitchFamily="2" charset="-122"/>
                </a:rPr>
                <a:t>*</a:t>
              </a:r>
              <a:r>
                <a:rPr lang="en-US" altLang="zh-CN" sz="2000" b="1">
                  <a:solidFill>
                    <a:schemeClr val="tx2"/>
                  </a:solidFill>
                  <a:latin typeface="宋体" panose="02010600030101010101" pitchFamily="2" charset="-122"/>
                </a:rPr>
                <a:t>1.5 </a:t>
              </a:r>
              <a:r>
                <a:rPr lang="zh-CN" altLang="zh-CN" sz="2000" b="1">
                  <a:solidFill>
                    <a:schemeClr val="tx2"/>
                  </a:solidFill>
                </a:rPr>
                <a:t>实体安全与隔离技术</a:t>
              </a:r>
              <a:endParaRPr lang="zh-CN" altLang="zh-CN" sz="2000" b="1">
                <a:solidFill>
                  <a:schemeClr val="tx2"/>
                </a:solidFill>
              </a:endParaRPr>
            </a:p>
            <a:p>
              <a:pPr eaLnBrk="0" hangingPunct="0">
                <a:spcBef>
                  <a:spcPct val="20000"/>
                </a:spcBef>
                <a:buFont typeface="Wingdings" panose="05000000000000000000" pitchFamily="2" charset="2"/>
                <a:buNone/>
              </a:pPr>
              <a:r>
                <a:rPr lang="zh-CN" altLang="en-US" sz="2000" b="1">
                  <a:solidFill>
                    <a:schemeClr val="tx2"/>
                  </a:solidFill>
                  <a:latin typeface="宋体" panose="02010600030101010101" pitchFamily="2" charset="-122"/>
                </a:rPr>
                <a:t> </a:t>
              </a:r>
              <a:endParaRPr lang="zh-CN" altLang="en-US" sz="2000" b="1">
                <a:solidFill>
                  <a:schemeClr val="tx2"/>
                </a:solidFill>
                <a:latin typeface="宋体" panose="02010600030101010101" pitchFamily="2" charset="-122"/>
              </a:endParaRPr>
            </a:p>
          </p:txBody>
        </p:sp>
        <p:sp>
          <p:nvSpPr>
            <p:cNvPr id="11294" name="Text Box 8"/>
            <p:cNvSpPr txBox="1">
              <a:spLocks noChangeArrowheads="1"/>
            </p:cNvSpPr>
            <p:nvPr/>
          </p:nvSpPr>
          <p:spPr bwMode="auto">
            <a:xfrm>
              <a:off x="1397" y="1886"/>
              <a:ext cx="198" cy="263"/>
            </a:xfrm>
            <a:prstGeom prst="rect">
              <a:avLst/>
            </a:prstGeom>
            <a:noFill/>
            <a:ln w="9525">
              <a:noFill/>
              <a:miter lim="800000"/>
            </a:ln>
          </p:spPr>
          <p:txBody>
            <a:bodyPr wrap="none">
              <a:spAutoFit/>
            </a:bodyPr>
            <a:lstStyle/>
            <a:p>
              <a:pPr eaLnBrk="0" hangingPunct="0">
                <a:spcBef>
                  <a:spcPct val="20000"/>
                </a:spcBef>
                <a:buFont typeface="Wingdings" panose="05000000000000000000" pitchFamily="2" charset="2"/>
                <a:buNone/>
              </a:pPr>
              <a:r>
                <a:rPr lang="en-US" altLang="zh-CN" sz="2000" b="1">
                  <a:solidFill>
                    <a:schemeClr val="tx2"/>
                  </a:solidFill>
                  <a:latin typeface="宋体" panose="02010600030101010101" pitchFamily="2" charset="-122"/>
                </a:rPr>
                <a:t>5</a:t>
              </a:r>
              <a:endParaRPr lang="en-US" altLang="zh-CN" sz="2000" b="1">
                <a:solidFill>
                  <a:schemeClr val="tx2"/>
                </a:solidFill>
                <a:latin typeface="宋体" panose="02010600030101010101" pitchFamily="2" charset="-122"/>
              </a:endParaRPr>
            </a:p>
          </p:txBody>
        </p:sp>
      </p:grpSp>
      <p:grpSp>
        <p:nvGrpSpPr>
          <p:cNvPr id="11295" name="Group 9"/>
          <p:cNvGrpSpPr/>
          <p:nvPr/>
        </p:nvGrpSpPr>
        <p:grpSpPr bwMode="auto">
          <a:xfrm>
            <a:off x="1595438" y="4757738"/>
            <a:ext cx="5353050" cy="685800"/>
            <a:chOff x="1296" y="1824"/>
            <a:chExt cx="2976" cy="432"/>
          </a:xfrm>
        </p:grpSpPr>
        <p:sp>
          <p:nvSpPr>
            <p:cNvPr id="64522" name="AutoShape 10"/>
            <p:cNvSpPr>
              <a:spLocks noChangeArrowheads="1"/>
            </p:cNvSpPr>
            <p:nvPr/>
          </p:nvSpPr>
          <p:spPr bwMode="gray">
            <a:xfrm>
              <a:off x="1536" y="1899"/>
              <a:ext cx="2736" cy="288"/>
            </a:xfrm>
            <a:prstGeom prst="roundRect">
              <a:avLst>
                <a:gd name="adj" fmla="val 16667"/>
              </a:avLst>
            </a:prstGeom>
            <a:gradFill rotWithShape="1">
              <a:gsLst>
                <a:gs pos="0">
                  <a:schemeClr val="accent1"/>
                </a:gs>
                <a:gs pos="50000">
                  <a:schemeClr val="accent1">
                    <a:gamma/>
                    <a:tint val="21176"/>
                    <a:invGamma/>
                  </a:schemeClr>
                </a:gs>
                <a:gs pos="100000">
                  <a:schemeClr val="accent1"/>
                </a:gs>
              </a:gsLst>
              <a:lin ang="5400000" scaled="1"/>
            </a:gradFill>
            <a:ln w="12700" algn="ctr">
              <a:solidFill>
                <a:schemeClr val="bg1"/>
              </a:solidFill>
              <a:round/>
            </a:ln>
            <a:effectLst/>
          </p:spPr>
          <p:txBody>
            <a:bodyPr wrap="none" anchor="ctr"/>
            <a:lstStyle/>
            <a:p>
              <a:pPr fontAlgn="auto">
                <a:spcBef>
                  <a:spcPct val="20000"/>
                </a:spcBef>
                <a:spcAft>
                  <a:spcPts val="0"/>
                </a:spcAft>
                <a:buFont typeface="Wingdings" panose="05000000000000000000" pitchFamily="2" charset="2"/>
                <a:buNone/>
                <a:defRPr/>
              </a:pPr>
              <a:endParaRPr lang="zh-CN" altLang="zh-CN" sz="2000" b="1">
                <a:solidFill>
                  <a:schemeClr val="tx2"/>
                </a:solidFill>
                <a:latin typeface="+mn-lt"/>
                <a:ea typeface="+mn-ea"/>
              </a:endParaRPr>
            </a:p>
          </p:txBody>
        </p:sp>
        <p:sp>
          <p:nvSpPr>
            <p:cNvPr id="11297" name="AutoShape 11"/>
            <p:cNvSpPr>
              <a:spLocks noChangeArrowheads="1"/>
            </p:cNvSpPr>
            <p:nvPr/>
          </p:nvSpPr>
          <p:spPr bwMode="auto">
            <a:xfrm>
              <a:off x="1296" y="1824"/>
              <a:ext cx="432" cy="432"/>
            </a:xfrm>
            <a:prstGeom prst="diamond">
              <a:avLst/>
            </a:prstGeom>
            <a:solidFill>
              <a:schemeClr val="accent1"/>
            </a:solidFill>
            <a:ln w="25400">
              <a:solidFill>
                <a:schemeClr val="bg1"/>
              </a:solidFill>
              <a:miter lim="800000"/>
            </a:ln>
          </p:spPr>
          <p:txBody>
            <a:bodyPr wrap="none" anchor="ctr"/>
            <a:lstStyle/>
            <a:p>
              <a:pPr>
                <a:spcBef>
                  <a:spcPct val="20000"/>
                </a:spcBef>
                <a:buFont typeface="Wingdings" panose="05000000000000000000" pitchFamily="2" charset="2"/>
                <a:buNone/>
              </a:pPr>
              <a:endParaRPr lang="zh-CN" altLang="zh-CN" sz="2000" b="1">
                <a:solidFill>
                  <a:schemeClr val="tx2"/>
                </a:solidFill>
                <a:latin typeface="宋体" panose="02010600030101010101" pitchFamily="2" charset="-122"/>
              </a:endParaRPr>
            </a:p>
          </p:txBody>
        </p:sp>
        <p:sp>
          <p:nvSpPr>
            <p:cNvPr id="11298" name="Text Box 12"/>
            <p:cNvSpPr txBox="1">
              <a:spLocks noChangeArrowheads="1"/>
            </p:cNvSpPr>
            <p:nvPr/>
          </p:nvSpPr>
          <p:spPr bwMode="auto">
            <a:xfrm>
              <a:off x="1680" y="1934"/>
              <a:ext cx="2466" cy="251"/>
            </a:xfrm>
            <a:prstGeom prst="rect">
              <a:avLst/>
            </a:prstGeom>
            <a:noFill/>
            <a:ln w="9525">
              <a:noFill/>
              <a:miter lim="800000"/>
            </a:ln>
          </p:spPr>
          <p:txBody>
            <a:bodyPr>
              <a:spAutoFit/>
            </a:bodyPr>
            <a:lstStyle/>
            <a:p>
              <a:pPr>
                <a:spcBef>
                  <a:spcPct val="20000"/>
                </a:spcBef>
                <a:buFont typeface="Wingdings" panose="05000000000000000000" pitchFamily="2" charset="2"/>
                <a:buNone/>
              </a:pPr>
              <a:r>
                <a:rPr lang="en-US" altLang="zh-CN" sz="2000" b="1">
                  <a:solidFill>
                    <a:srgbClr val="FF0000"/>
                  </a:solidFill>
                  <a:latin typeface="宋体" panose="02010600030101010101" pitchFamily="2" charset="-122"/>
                </a:rPr>
                <a:t>*</a:t>
              </a:r>
              <a:r>
                <a:rPr lang="en-US" altLang="zh-CN" sz="2000" b="1">
                  <a:solidFill>
                    <a:schemeClr val="tx2"/>
                  </a:solidFill>
                  <a:latin typeface="宋体" panose="02010600030101010101" pitchFamily="2" charset="-122"/>
                </a:rPr>
                <a:t>1.6 </a:t>
              </a:r>
              <a:r>
                <a:rPr lang="zh-CN" altLang="zh-CN" sz="1800" b="1">
                  <a:solidFill>
                    <a:schemeClr val="tx2"/>
                  </a:solidFill>
                </a:rPr>
                <a:t>实验1 构建虚拟局域网VLAN</a:t>
              </a:r>
              <a:endParaRPr lang="zh-CN" altLang="zh-CN" sz="1800" b="1">
                <a:solidFill>
                  <a:schemeClr val="tx2"/>
                </a:solidFill>
              </a:endParaRPr>
            </a:p>
          </p:txBody>
        </p:sp>
        <p:sp>
          <p:nvSpPr>
            <p:cNvPr id="11299" name="Text Box 13"/>
            <p:cNvSpPr txBox="1">
              <a:spLocks noChangeArrowheads="1"/>
            </p:cNvSpPr>
            <p:nvPr/>
          </p:nvSpPr>
          <p:spPr bwMode="auto">
            <a:xfrm>
              <a:off x="1393" y="1886"/>
              <a:ext cx="223" cy="252"/>
            </a:xfrm>
            <a:prstGeom prst="rect">
              <a:avLst/>
            </a:prstGeom>
            <a:noFill/>
            <a:ln w="9525">
              <a:noFill/>
              <a:miter lim="800000"/>
            </a:ln>
          </p:spPr>
          <p:txBody>
            <a:bodyPr>
              <a:spAutoFit/>
            </a:bodyPr>
            <a:lstStyle/>
            <a:p>
              <a:pPr eaLnBrk="0" hangingPunct="0">
                <a:spcBef>
                  <a:spcPct val="20000"/>
                </a:spcBef>
                <a:buFont typeface="Wingdings" panose="05000000000000000000" pitchFamily="2" charset="2"/>
                <a:buNone/>
              </a:pPr>
              <a:r>
                <a:rPr lang="en-US" altLang="zh-CN" sz="2000" b="1">
                  <a:solidFill>
                    <a:schemeClr val="tx2"/>
                  </a:solidFill>
                  <a:latin typeface="宋体" panose="02010600030101010101" pitchFamily="2" charset="-122"/>
                </a:rPr>
                <a:t>6</a:t>
              </a:r>
              <a:endParaRPr lang="en-US" altLang="zh-CN" sz="2000" b="1">
                <a:solidFill>
                  <a:schemeClr val="tx2"/>
                </a:solidFill>
                <a:latin typeface="宋体" panose="02010600030101010101" pitchFamily="2" charset="-122"/>
              </a:endParaRPr>
            </a:p>
          </p:txBody>
        </p:sp>
      </p:grpSp>
      <p:sp>
        <p:nvSpPr>
          <p:cNvPr id="11300" name="Rectangle 182"/>
          <p:cNvSpPr>
            <a:spLocks noChangeArrowheads="1"/>
          </p:cNvSpPr>
          <p:nvPr/>
        </p:nvSpPr>
        <p:spPr bwMode="auto">
          <a:xfrm>
            <a:off x="4075113" y="3576638"/>
            <a:ext cx="209550" cy="400050"/>
          </a:xfrm>
          <a:prstGeom prst="rect">
            <a:avLst/>
          </a:prstGeom>
          <a:noFill/>
          <a:ln w="9525">
            <a:noFill/>
            <a:miter lim="800000"/>
          </a:ln>
        </p:spPr>
        <p:txBody>
          <a:bodyPr>
            <a:spAutoFit/>
          </a:bodyPr>
          <a:lstStyle/>
          <a:p>
            <a:pPr eaLnBrk="0" hangingPunct="0">
              <a:spcBef>
                <a:spcPct val="20000"/>
              </a:spcBef>
              <a:buFont typeface="Wingdings" panose="05000000000000000000" pitchFamily="2" charset="2"/>
              <a:buNone/>
            </a:pPr>
            <a:endParaRPr lang="zh-CN" altLang="zh-CN" sz="2000" b="1">
              <a:solidFill>
                <a:schemeClr val="tx2"/>
              </a:solidFill>
              <a:latin typeface="宋体" panose="02010600030101010101" pitchFamily="2" charset="-122"/>
            </a:endParaRPr>
          </a:p>
        </p:txBody>
      </p:sp>
      <p:grpSp>
        <p:nvGrpSpPr>
          <p:cNvPr id="11301" name="Group 14"/>
          <p:cNvGrpSpPr/>
          <p:nvPr/>
        </p:nvGrpSpPr>
        <p:grpSpPr bwMode="auto">
          <a:xfrm>
            <a:off x="1574800" y="5389563"/>
            <a:ext cx="5353050" cy="642937"/>
            <a:chOff x="1296" y="1824"/>
            <a:chExt cx="2976" cy="432"/>
          </a:xfrm>
        </p:grpSpPr>
        <p:sp>
          <p:nvSpPr>
            <p:cNvPr id="6" name="AutoShape 15"/>
            <p:cNvSpPr>
              <a:spLocks noChangeArrowheads="1"/>
            </p:cNvSpPr>
            <p:nvPr/>
          </p:nvSpPr>
          <p:spPr bwMode="gray">
            <a:xfrm>
              <a:off x="1536" y="1899"/>
              <a:ext cx="2736" cy="288"/>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ln>
            <a:effectLst/>
          </p:spPr>
          <p:txBody>
            <a:bodyPr wrap="none" anchor="ctr"/>
            <a:lstStyle/>
            <a:p>
              <a:pPr fontAlgn="auto">
                <a:spcBef>
                  <a:spcPct val="20000"/>
                </a:spcBef>
                <a:spcAft>
                  <a:spcPts val="0"/>
                </a:spcAft>
                <a:buFont typeface="Wingdings" panose="05000000000000000000" pitchFamily="2" charset="2"/>
                <a:buNone/>
                <a:defRPr/>
              </a:pPr>
              <a:endParaRPr lang="zh-CN" altLang="zh-CN" sz="2000" b="1">
                <a:solidFill>
                  <a:schemeClr val="tx2"/>
                </a:solidFill>
                <a:latin typeface="+mn-lt"/>
                <a:ea typeface="+mn-ea"/>
              </a:endParaRPr>
            </a:p>
          </p:txBody>
        </p:sp>
        <p:sp>
          <p:nvSpPr>
            <p:cNvPr id="11303" name="AutoShape 16"/>
            <p:cNvSpPr>
              <a:spLocks noChangeArrowheads="1"/>
            </p:cNvSpPr>
            <p:nvPr/>
          </p:nvSpPr>
          <p:spPr bwMode="auto">
            <a:xfrm>
              <a:off x="1296" y="1824"/>
              <a:ext cx="432" cy="432"/>
            </a:xfrm>
            <a:prstGeom prst="diamond">
              <a:avLst/>
            </a:prstGeom>
            <a:solidFill>
              <a:schemeClr val="hlink"/>
            </a:solidFill>
            <a:ln w="25400">
              <a:solidFill>
                <a:schemeClr val="bg1"/>
              </a:solidFill>
              <a:miter lim="800000"/>
            </a:ln>
          </p:spPr>
          <p:txBody>
            <a:bodyPr wrap="none" anchor="ctr"/>
            <a:lstStyle/>
            <a:p>
              <a:pPr>
                <a:spcBef>
                  <a:spcPct val="20000"/>
                </a:spcBef>
                <a:buFont typeface="Wingdings" panose="05000000000000000000" pitchFamily="2" charset="2"/>
                <a:buNone/>
              </a:pPr>
              <a:endParaRPr lang="zh-CN" altLang="zh-CN" sz="2000" b="1">
                <a:solidFill>
                  <a:schemeClr val="tx2"/>
                </a:solidFill>
                <a:latin typeface="宋体" panose="02010600030101010101" pitchFamily="2" charset="-122"/>
              </a:endParaRPr>
            </a:p>
          </p:txBody>
        </p:sp>
        <p:sp>
          <p:nvSpPr>
            <p:cNvPr id="11304" name="Text Box 17"/>
            <p:cNvSpPr txBox="1">
              <a:spLocks noChangeArrowheads="1"/>
            </p:cNvSpPr>
            <p:nvPr/>
          </p:nvSpPr>
          <p:spPr bwMode="auto">
            <a:xfrm>
              <a:off x="1671" y="1936"/>
              <a:ext cx="2532" cy="268"/>
            </a:xfrm>
            <a:prstGeom prst="rect">
              <a:avLst/>
            </a:prstGeom>
            <a:noFill/>
            <a:ln w="9525">
              <a:noFill/>
              <a:miter lim="800000"/>
            </a:ln>
          </p:spPr>
          <p:txBody>
            <a:bodyPr>
              <a:spAutoFit/>
            </a:bodyPr>
            <a:lstStyle/>
            <a:p>
              <a:pPr eaLnBrk="0" hangingPunct="0">
                <a:spcBef>
                  <a:spcPct val="20000"/>
                </a:spcBef>
                <a:buFont typeface="Wingdings" panose="05000000000000000000" pitchFamily="2" charset="2"/>
                <a:buNone/>
              </a:pPr>
              <a:r>
                <a:rPr lang="en-US" altLang="zh-CN" sz="2000" b="1">
                  <a:solidFill>
                    <a:schemeClr val="tx2"/>
                  </a:solidFill>
                  <a:latin typeface="宋体" panose="02010600030101010101" pitchFamily="2" charset="-122"/>
                </a:rPr>
                <a:t> 1.7 </a:t>
              </a:r>
              <a:r>
                <a:rPr lang="zh-CN" altLang="en-US" sz="2000" b="1">
                  <a:solidFill>
                    <a:schemeClr val="tx2"/>
                  </a:solidFill>
                  <a:latin typeface="宋体" panose="02010600030101010101" pitchFamily="2" charset="-122"/>
                </a:rPr>
                <a:t>本章小结</a:t>
              </a:r>
              <a:endParaRPr lang="zh-CN" altLang="en-US" sz="2000" b="1">
                <a:solidFill>
                  <a:schemeClr val="tx2"/>
                </a:solidFill>
              </a:endParaRPr>
            </a:p>
          </p:txBody>
        </p:sp>
        <p:sp>
          <p:nvSpPr>
            <p:cNvPr id="11305" name="Text Box 18"/>
            <p:cNvSpPr txBox="1">
              <a:spLocks noChangeArrowheads="1"/>
            </p:cNvSpPr>
            <p:nvPr/>
          </p:nvSpPr>
          <p:spPr bwMode="auto">
            <a:xfrm>
              <a:off x="1398" y="1885"/>
              <a:ext cx="197" cy="269"/>
            </a:xfrm>
            <a:prstGeom prst="rect">
              <a:avLst/>
            </a:prstGeom>
            <a:noFill/>
            <a:ln w="9525">
              <a:noFill/>
              <a:miter lim="800000"/>
            </a:ln>
          </p:spPr>
          <p:txBody>
            <a:bodyPr wrap="none">
              <a:spAutoFit/>
            </a:bodyPr>
            <a:lstStyle/>
            <a:p>
              <a:pPr eaLnBrk="0" hangingPunct="0">
                <a:spcBef>
                  <a:spcPct val="20000"/>
                </a:spcBef>
                <a:buFont typeface="Wingdings" panose="05000000000000000000" pitchFamily="2" charset="2"/>
                <a:buNone/>
              </a:pPr>
              <a:r>
                <a:rPr lang="en-US" altLang="zh-CN" sz="2000" b="1">
                  <a:solidFill>
                    <a:schemeClr val="tx2"/>
                  </a:solidFill>
                  <a:latin typeface="宋体" panose="02010600030101010101" pitchFamily="2" charset="-122"/>
                </a:rPr>
                <a:t>7</a:t>
              </a:r>
              <a:endParaRPr lang="en-US" altLang="zh-CN" sz="2000" b="1">
                <a:solidFill>
                  <a:schemeClr val="tx2"/>
                </a:solidFill>
                <a:latin typeface="宋体" panose="02010600030101010101" pitchFamily="2" charset="-122"/>
              </a:endParaRPr>
            </a:p>
          </p:txBody>
        </p:sp>
      </p:grpSp>
      <p:sp>
        <p:nvSpPr>
          <p:cNvPr id="5166" name="Rectangle 2"/>
          <p:cNvSpPr>
            <a:spLocks noChangeArrowheads="1"/>
          </p:cNvSpPr>
          <p:nvPr/>
        </p:nvSpPr>
        <p:spPr bwMode="white">
          <a:xfrm>
            <a:off x="2549525" y="1150938"/>
            <a:ext cx="3125788" cy="533400"/>
          </a:xfrm>
          <a:prstGeom prst="rect">
            <a:avLst/>
          </a:prstGeom>
          <a:noFill/>
          <a:ln>
            <a:noFill/>
          </a:ln>
        </p:spPr>
        <p:txBody>
          <a:bodyPr anchor="ctr"/>
          <a:lstStyle/>
          <a:p>
            <a:pPr algn="ctr">
              <a:spcBef>
                <a:spcPct val="20000"/>
              </a:spcBef>
              <a:defRPr/>
            </a:pPr>
            <a:r>
              <a:rPr lang="zh-CN" altLang="en-US" sz="3200" b="1" dirty="0">
                <a:solidFill>
                  <a:srgbClr val="FF0000"/>
                </a:solidFill>
                <a:effectLst>
                  <a:outerShdw blurRad="38100" dist="38100" dir="2700000" algn="tl">
                    <a:srgbClr val="C0C0C0"/>
                  </a:outerShdw>
                </a:effectLst>
                <a:latin typeface="Verdana" panose="020B0604030504040204" pitchFamily="34" charset="0"/>
              </a:rPr>
              <a:t>第</a:t>
            </a:r>
            <a:r>
              <a:rPr lang="en-US" altLang="zh-CN" sz="3200" b="1" dirty="0">
                <a:solidFill>
                  <a:srgbClr val="FF0000"/>
                </a:solidFill>
                <a:effectLst>
                  <a:outerShdw blurRad="38100" dist="38100" dir="2700000" algn="tl">
                    <a:srgbClr val="C0C0C0"/>
                  </a:outerShdw>
                </a:effectLst>
                <a:latin typeface="Verdana" panose="020B0604030504040204" pitchFamily="34" charset="0"/>
              </a:rPr>
              <a:t>1</a:t>
            </a:r>
            <a:r>
              <a:rPr lang="zh-CN" altLang="en-US" sz="3200" b="1" dirty="0">
                <a:solidFill>
                  <a:srgbClr val="FF0000"/>
                </a:solidFill>
                <a:effectLst>
                  <a:outerShdw blurRad="38100" dist="38100" dir="2700000" algn="tl">
                    <a:srgbClr val="C0C0C0"/>
                  </a:outerShdw>
                </a:effectLst>
                <a:latin typeface="Verdana" panose="020B0604030504040204" pitchFamily="34" charset="0"/>
              </a:rPr>
              <a:t>章 目录</a:t>
            </a:r>
            <a:endParaRPr lang="zh-CN" altLang="en-US" sz="3200" b="1" dirty="0">
              <a:solidFill>
                <a:srgbClr val="FF0000"/>
              </a:solidFill>
              <a:effectLst>
                <a:outerShdw blurRad="38100" dist="38100" dir="2700000" algn="tl">
                  <a:srgbClr val="C0C0C0"/>
                </a:outerShdw>
              </a:effectLst>
              <a:latin typeface="Verdana" panose="020B0604030504040204" pitchFamily="34" charset="0"/>
            </a:endParaRPr>
          </a:p>
        </p:txBody>
      </p:sp>
      <p:pic>
        <p:nvPicPr>
          <p:cNvPr id="11307" name="Picture 5" descr="j0285750"/>
          <p:cNvPicPr>
            <a:picLocks noChangeAspect="1" noChangeArrowheads="1"/>
          </p:cNvPicPr>
          <p:nvPr/>
        </p:nvPicPr>
        <p:blipFill>
          <a:blip r:embed="rId1" cstate="print"/>
          <a:srcRect/>
          <a:stretch>
            <a:fillRect/>
          </a:stretch>
        </p:blipFill>
        <p:spPr bwMode="auto">
          <a:xfrm>
            <a:off x="5421313" y="5556250"/>
            <a:ext cx="1133475" cy="641350"/>
          </a:xfrm>
          <a:prstGeom prst="rect">
            <a:avLst/>
          </a:prstGeom>
          <a:noFill/>
          <a:ln w="9525">
            <a:noFill/>
            <a:miter lim="800000"/>
            <a:headEnd/>
            <a:tailEnd/>
          </a:ln>
        </p:spPr>
      </p:pic>
      <p:sp>
        <p:nvSpPr>
          <p:cNvPr id="6162" name="矩形 45"/>
          <p:cNvSpPr>
            <a:spLocks noChangeArrowheads="1"/>
          </p:cNvSpPr>
          <p:nvPr/>
        </p:nvSpPr>
        <p:spPr bwMode="auto">
          <a:xfrm>
            <a:off x="5875338" y="4732338"/>
            <a:ext cx="3241675" cy="823912"/>
          </a:xfrm>
          <a:prstGeom prst="rect">
            <a:avLst/>
          </a:prstGeom>
          <a:noFill/>
          <a:ln w="9525">
            <a:noFill/>
            <a:miter lim="800000"/>
          </a:ln>
        </p:spPr>
        <p:txBody>
          <a:bodyPr wrap="none">
            <a:spAutoFit/>
          </a:bodyPr>
          <a:lstStyle/>
          <a:p>
            <a:pPr algn="dist">
              <a:spcBef>
                <a:spcPct val="20000"/>
              </a:spcBef>
              <a:buFont typeface="Wingdings" panose="05000000000000000000" pitchFamily="2" charset="2"/>
              <a:buNone/>
              <a:defRPr/>
            </a:pPr>
            <a:r>
              <a:rPr lang="zh-CN" altLang="en-US" sz="1400" b="1" dirty="0">
                <a:solidFill>
                  <a:srgbClr val="FF0000"/>
                </a:solidFill>
                <a:effectLst>
                  <a:outerShdw blurRad="38100" dist="38100" dir="2700000" algn="tl">
                    <a:srgbClr val="000000">
                      <a:alpha val="43137"/>
                    </a:srgbClr>
                  </a:outerShdw>
                </a:effectLst>
              </a:rPr>
              <a:t>1.</a:t>
            </a:r>
            <a:r>
              <a:rPr lang="en-US" altLang="zh-CN" sz="1400" b="1" dirty="0">
                <a:solidFill>
                  <a:srgbClr val="FF0000"/>
                </a:solidFill>
                <a:effectLst>
                  <a:outerShdw blurRad="38100" dist="38100" dir="2700000" algn="tl">
                    <a:srgbClr val="000000">
                      <a:alpha val="43137"/>
                    </a:srgbClr>
                  </a:outerShdw>
                </a:effectLst>
              </a:rPr>
              <a:t>6</a:t>
            </a:r>
            <a:r>
              <a:rPr lang="zh-CN" altLang="en-US" sz="1400" b="1" dirty="0">
                <a:solidFill>
                  <a:srgbClr val="FF0000"/>
                </a:solidFill>
                <a:effectLst>
                  <a:outerShdw blurRad="38100" dist="38100" dir="2700000" algn="tl">
                    <a:srgbClr val="000000">
                      <a:alpha val="43137"/>
                    </a:srgbClr>
                  </a:outerShdw>
                </a:effectLst>
              </a:rPr>
              <a:t>.1选做1 VMware虚拟局域网的构建</a:t>
            </a:r>
            <a:endParaRPr lang="zh-CN" altLang="en-US" sz="1400" b="1" dirty="0">
              <a:solidFill>
                <a:srgbClr val="FF0000"/>
              </a:solidFill>
              <a:effectLst>
                <a:outerShdw blurRad="38100" dist="38100" dir="2700000" algn="tl">
                  <a:srgbClr val="000000">
                    <a:alpha val="43137"/>
                  </a:srgbClr>
                </a:outerShdw>
              </a:effectLst>
            </a:endParaRPr>
          </a:p>
          <a:p>
            <a:pPr algn="dist">
              <a:spcBef>
                <a:spcPct val="20000"/>
              </a:spcBef>
              <a:buFont typeface="Wingdings" panose="05000000000000000000" pitchFamily="2" charset="2"/>
              <a:buNone/>
              <a:defRPr/>
            </a:pPr>
            <a:r>
              <a:rPr lang="zh-CN" altLang="en-US" sz="1400" b="1" dirty="0">
                <a:solidFill>
                  <a:srgbClr val="FF0000"/>
                </a:solidFill>
                <a:effectLst>
                  <a:outerShdw blurRad="38100" dist="38100" dir="2700000" algn="tl">
                    <a:srgbClr val="000000">
                      <a:alpha val="43137"/>
                    </a:srgbClr>
                  </a:outerShdw>
                </a:effectLst>
              </a:rPr>
              <a:t>1.</a:t>
            </a:r>
            <a:r>
              <a:rPr lang="en-US" altLang="zh-CN" sz="1400" b="1" dirty="0">
                <a:solidFill>
                  <a:srgbClr val="FF0000"/>
                </a:solidFill>
                <a:effectLst>
                  <a:outerShdw blurRad="38100" dist="38100" dir="2700000" algn="tl">
                    <a:srgbClr val="000000">
                      <a:alpha val="43137"/>
                    </a:srgbClr>
                  </a:outerShdw>
                </a:effectLst>
              </a:rPr>
              <a:t>6</a:t>
            </a:r>
            <a:r>
              <a:rPr lang="zh-CN" altLang="en-US" sz="1400" b="1" dirty="0">
                <a:solidFill>
                  <a:srgbClr val="FF0000"/>
                </a:solidFill>
                <a:effectLst>
                  <a:outerShdw blurRad="38100" dist="38100" dir="2700000" algn="tl">
                    <a:srgbClr val="000000">
                      <a:alpha val="43137"/>
                    </a:srgbClr>
                  </a:outerShdw>
                </a:effectLst>
              </a:rPr>
              <a:t>.2选做2 虚拟局域网VPN设置和应用</a:t>
            </a:r>
            <a:endParaRPr lang="zh-CN" altLang="en-US" sz="1400" b="1" dirty="0">
              <a:solidFill>
                <a:srgbClr val="FF0000"/>
              </a:solidFill>
              <a:effectLst>
                <a:outerShdw blurRad="38100" dist="38100" dir="2700000" algn="tl">
                  <a:srgbClr val="000000">
                    <a:alpha val="43137"/>
                  </a:srgbClr>
                </a:outerShdw>
              </a:effectLst>
            </a:endParaRPr>
          </a:p>
          <a:p>
            <a:pPr algn="dist">
              <a:spcBef>
                <a:spcPct val="20000"/>
              </a:spcBef>
              <a:buFont typeface="Wingdings" panose="05000000000000000000" pitchFamily="2" charset="2"/>
              <a:buNone/>
              <a:defRPr/>
            </a:pPr>
            <a:r>
              <a:rPr lang="zh-CN" altLang="en-US" sz="1400" b="1" dirty="0">
                <a:solidFill>
                  <a:srgbClr val="FF0000"/>
                </a:solidFill>
                <a:effectLst>
                  <a:outerShdw blurRad="38100" dist="38100" dir="2700000" algn="tl">
                    <a:srgbClr val="000000">
                      <a:alpha val="43137"/>
                    </a:srgbClr>
                  </a:outerShdw>
                </a:effectLst>
              </a:rPr>
              <a:t>补选做</a:t>
            </a:r>
            <a:r>
              <a:rPr lang="zh-CN" altLang="en-US" sz="1400" b="1" dirty="0">
                <a:solidFill>
                  <a:srgbClr val="C00000"/>
                </a:solidFill>
                <a:effectLst>
                  <a:outerShdw blurRad="38100" dist="38100" dir="2700000" algn="tl">
                    <a:srgbClr val="000000">
                      <a:alpha val="43137"/>
                    </a:srgbClr>
                  </a:outerShdw>
                </a:effectLst>
              </a:rPr>
              <a:t> </a:t>
            </a:r>
            <a:r>
              <a:rPr lang="zh-CN" altLang="en-US" sz="1400" b="1" dirty="0">
                <a:solidFill>
                  <a:srgbClr val="C00000"/>
                </a:solidFill>
              </a:rPr>
              <a:t>漏洞扫描（根据专业可调整）</a:t>
            </a:r>
            <a:endParaRPr lang="zh-CN" altLang="en-US" sz="1400" b="1" dirty="0">
              <a:solidFill>
                <a:srgbClr val="C0000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nvSpPr>
        <p:spPr bwMode="gray">
          <a:xfrm>
            <a:off x="1069975" y="1292225"/>
            <a:ext cx="2401888" cy="655638"/>
          </a:xfrm>
          <a:prstGeom prst="roundRect">
            <a:avLst/>
          </a:prstGeom>
        </p:spPr>
        <p:style>
          <a:lnRef idx="2">
            <a:schemeClr val="accent1"/>
          </a:lnRef>
          <a:fillRef idx="1">
            <a:schemeClr val="lt1"/>
          </a:fillRef>
          <a:effectRef idx="0">
            <a:schemeClr val="accent1"/>
          </a:effectRef>
          <a:fontRef idx="minor">
            <a:schemeClr val="dk1"/>
          </a:fontRef>
        </p:style>
        <p:txBody>
          <a:bodyPr anchor="ctr"/>
          <a:lstStyle/>
          <a:p>
            <a:pPr>
              <a:spcBef>
                <a:spcPct val="20000"/>
              </a:spcBef>
              <a:buFont typeface="Wingdings" panose="05000000000000000000" pitchFamily="2" charset="2"/>
              <a:buNone/>
              <a:defRPr/>
            </a:pPr>
            <a:r>
              <a:rPr lang="en-US" altLang="zh-CN" sz="3200" b="1"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sym typeface="Wingdings" panose="05000000000000000000" pitchFamily="2" charset="2"/>
              </a:rPr>
              <a:t></a:t>
            </a:r>
            <a:r>
              <a:rPr lang="zh-CN" altLang="en-US" sz="3200" b="1"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教学目标</a:t>
            </a:r>
            <a:endParaRPr lang="zh-CN" altLang="en-US" sz="3200" b="1" dirty="0">
              <a:solidFill>
                <a:schemeClr val="tx1"/>
              </a:solidFill>
              <a:latin typeface="Arial" panose="020B0604020202020204" pitchFamily="34" charset="0"/>
            </a:endParaRPr>
          </a:p>
        </p:txBody>
      </p:sp>
      <p:pic>
        <p:nvPicPr>
          <p:cNvPr id="12290" name="Picture 25" descr="C:\Users\user\AppData\Local\Microsoft\Windows\Temporary Internet Files\Content.IE5\BRFJ06TV\MCj04114760000[1].wmf"/>
          <p:cNvPicPr>
            <a:picLocks noChangeAspect="1" noChangeArrowheads="1"/>
          </p:cNvPicPr>
          <p:nvPr/>
        </p:nvPicPr>
        <p:blipFill>
          <a:blip r:embed="rId1" cstate="print"/>
          <a:srcRect/>
          <a:stretch>
            <a:fillRect/>
          </a:stretch>
        </p:blipFill>
        <p:spPr bwMode="auto">
          <a:xfrm flipH="1">
            <a:off x="5399088" y="5021263"/>
            <a:ext cx="1600200" cy="1300162"/>
          </a:xfrm>
          <a:prstGeom prst="rect">
            <a:avLst/>
          </a:prstGeom>
          <a:noFill/>
          <a:ln w="9525">
            <a:noFill/>
            <a:miter lim="800000"/>
            <a:headEnd/>
            <a:tailEnd/>
          </a:ln>
        </p:spPr>
      </p:pic>
      <p:sp>
        <p:nvSpPr>
          <p:cNvPr id="5" name="Rectangle 2"/>
          <p:cNvSpPr txBox="1">
            <a:spLocks noChangeArrowheads="1"/>
          </p:cNvSpPr>
          <p:nvPr/>
        </p:nvSpPr>
        <p:spPr bwMode="white">
          <a:xfrm>
            <a:off x="1450975" y="263525"/>
            <a:ext cx="4248150" cy="533400"/>
          </a:xfrm>
          <a:prstGeom prst="rect">
            <a:avLst/>
          </a:prstGeom>
          <a:noFill/>
          <a:ln w="9525">
            <a:noFill/>
            <a:miter lim="800000"/>
          </a:ln>
        </p:spPr>
        <p:txBody>
          <a:bodyPr anchor="ctr"/>
          <a:lstStyle/>
          <a:p>
            <a:pPr algn="ctr">
              <a:defRPr/>
            </a:pPr>
            <a:r>
              <a:rPr lang="zh-CN" altLang="en-US" sz="3200" b="1" kern="0" dirty="0">
                <a:solidFill>
                  <a:schemeClr val="bg1"/>
                </a:solidFill>
                <a:effectLst>
                  <a:outerShdw blurRad="38100" dist="38100" dir="2700000" algn="tl">
                    <a:srgbClr val="C0C0C0"/>
                  </a:outerShdw>
                </a:effectLst>
                <a:latin typeface="+mj-lt"/>
                <a:cs typeface="+mj-cs"/>
              </a:rPr>
              <a:t>第</a:t>
            </a:r>
            <a:r>
              <a:rPr lang="en-US" altLang="zh-CN" sz="3200" b="1" kern="0" dirty="0">
                <a:solidFill>
                  <a:schemeClr val="bg1"/>
                </a:solidFill>
                <a:effectLst>
                  <a:outerShdw blurRad="38100" dist="38100" dir="2700000" algn="tl">
                    <a:srgbClr val="C0C0C0"/>
                  </a:outerShdw>
                </a:effectLst>
                <a:latin typeface="+mj-lt"/>
                <a:cs typeface="+mj-cs"/>
              </a:rPr>
              <a:t>1</a:t>
            </a:r>
            <a:r>
              <a:rPr lang="zh-CN" altLang="en-US" sz="3200" b="1" kern="0" dirty="0">
                <a:solidFill>
                  <a:schemeClr val="bg1"/>
                </a:solidFill>
                <a:effectLst>
                  <a:outerShdw blurRad="38100" dist="38100" dir="2700000" algn="tl">
                    <a:srgbClr val="C0C0C0"/>
                  </a:outerShdw>
                </a:effectLst>
                <a:latin typeface="+mj-lt"/>
                <a:cs typeface="+mj-cs"/>
              </a:rPr>
              <a:t>章 网络安全基础</a:t>
            </a:r>
            <a:endParaRPr lang="zh-CN" altLang="en-US" sz="3200" b="1" kern="0" dirty="0">
              <a:solidFill>
                <a:schemeClr val="bg1"/>
              </a:solidFill>
              <a:effectLst>
                <a:outerShdw blurRad="38100" dist="38100" dir="2700000" algn="tl">
                  <a:srgbClr val="C0C0C0"/>
                </a:outerShdw>
              </a:effectLst>
              <a:latin typeface="+mj-lt"/>
              <a:cs typeface="+mj-cs"/>
            </a:endParaRPr>
          </a:p>
        </p:txBody>
      </p:sp>
      <p:sp>
        <p:nvSpPr>
          <p:cNvPr id="12293" name="AutoShape 5"/>
          <p:cNvSpPr>
            <a:spLocks noChangeArrowheads="1"/>
          </p:cNvSpPr>
          <p:nvPr/>
        </p:nvSpPr>
        <p:spPr bwMode="auto">
          <a:xfrm>
            <a:off x="4467225" y="2463800"/>
            <a:ext cx="931863" cy="336550"/>
          </a:xfrm>
          <a:prstGeom prst="wedgeRoundRectCallout">
            <a:avLst>
              <a:gd name="adj1" fmla="val -64146"/>
              <a:gd name="adj2" fmla="val 19311"/>
              <a:gd name="adj3" fmla="val 16667"/>
            </a:avLst>
          </a:prstGeom>
          <a:solidFill>
            <a:srgbClr val="FFFF00"/>
          </a:solidFill>
          <a:ln w="9525" algn="ctr">
            <a:solidFill>
              <a:schemeClr val="tx2"/>
            </a:solidFill>
            <a:miter lim="800000"/>
          </a:ln>
        </p:spPr>
        <p:txBody>
          <a:bodyPr/>
          <a:lstStyle/>
          <a:p>
            <a:pPr algn="ctr">
              <a:spcBef>
                <a:spcPct val="20000"/>
              </a:spcBef>
              <a:buFont typeface="Wingdings" panose="05000000000000000000" pitchFamily="2" charset="2"/>
              <a:buNone/>
              <a:defRPr/>
            </a:pPr>
            <a:r>
              <a:rPr lang="zh-CN" altLang="en-US" sz="1600" b="1">
                <a:solidFill>
                  <a:srgbClr val="FF0000"/>
                </a:solidFill>
                <a:effectLst>
                  <a:outerShdw blurRad="38100" dist="38100" dir="2700000" algn="tl">
                    <a:srgbClr val="000000"/>
                  </a:outerShdw>
                </a:effectLst>
                <a:latin typeface="Arial Black" panose="020B0A04020102020204" pitchFamily="34" charset="0"/>
                <a:sym typeface="+mn-ea"/>
              </a:rPr>
              <a:t>重点</a:t>
            </a:r>
            <a:endParaRPr lang="zh-CN" altLang="en-US" sz="1600" b="1">
              <a:solidFill>
                <a:srgbClr val="FF0000"/>
              </a:solidFill>
              <a:effectLst>
                <a:outerShdw blurRad="38100" dist="38100" dir="2700000" algn="tl">
                  <a:srgbClr val="000000"/>
                </a:outerShdw>
              </a:effectLst>
              <a:latin typeface="Arial Black" panose="020B0A04020102020204" pitchFamily="34" charset="0"/>
              <a:sym typeface="+mn-ea"/>
            </a:endParaRPr>
          </a:p>
        </p:txBody>
      </p:sp>
      <p:sp>
        <p:nvSpPr>
          <p:cNvPr id="2" name="AutoShape 5"/>
          <p:cNvSpPr>
            <a:spLocks noChangeArrowheads="1"/>
          </p:cNvSpPr>
          <p:nvPr/>
        </p:nvSpPr>
        <p:spPr bwMode="auto">
          <a:xfrm>
            <a:off x="4389438" y="3679825"/>
            <a:ext cx="931862" cy="344488"/>
          </a:xfrm>
          <a:prstGeom prst="wedgeRoundRectCallout">
            <a:avLst>
              <a:gd name="adj1" fmla="val -64146"/>
              <a:gd name="adj2" fmla="val 19311"/>
              <a:gd name="adj3" fmla="val 16667"/>
            </a:avLst>
          </a:prstGeom>
          <a:solidFill>
            <a:srgbClr val="FFFF00"/>
          </a:solidFill>
          <a:ln w="9525" algn="ctr">
            <a:solidFill>
              <a:schemeClr val="tx2"/>
            </a:solidFill>
            <a:miter lim="800000"/>
          </a:ln>
        </p:spPr>
        <p:txBody>
          <a:bodyPr/>
          <a:lstStyle/>
          <a:p>
            <a:pPr algn="ctr">
              <a:spcBef>
                <a:spcPct val="20000"/>
              </a:spcBef>
              <a:buFont typeface="Wingdings" panose="05000000000000000000" pitchFamily="2" charset="2"/>
              <a:buNone/>
              <a:defRPr/>
            </a:pPr>
            <a:r>
              <a:rPr lang="zh-CN" altLang="en-US" sz="1600" b="1">
                <a:solidFill>
                  <a:srgbClr val="FF0000"/>
                </a:solidFill>
                <a:effectLst>
                  <a:outerShdw blurRad="38100" dist="38100" dir="2700000" algn="tl">
                    <a:srgbClr val="000000"/>
                  </a:outerShdw>
                </a:effectLst>
                <a:latin typeface="Arial Black" panose="020B0A04020102020204" pitchFamily="34" charset="0"/>
                <a:sym typeface="+mn-ea"/>
              </a:rPr>
              <a:t>关键</a:t>
            </a:r>
            <a:endParaRPr lang="zh-CN" altLang="en-US" sz="1600" b="1">
              <a:solidFill>
                <a:srgbClr val="FF0000"/>
              </a:solidFill>
              <a:effectLst>
                <a:outerShdw blurRad="38100" dist="38100" dir="2700000" algn="tl">
                  <a:srgbClr val="000000"/>
                </a:outerShdw>
              </a:effectLst>
              <a:latin typeface="Arial Black" panose="020B0A04020102020204" pitchFamily="34" charset="0"/>
              <a:sym typeface="+mn-ea"/>
            </a:endParaRPr>
          </a:p>
        </p:txBody>
      </p:sp>
      <p:graphicFrame>
        <p:nvGraphicFramePr>
          <p:cNvPr id="3" name="表格 2"/>
          <p:cNvGraphicFramePr/>
          <p:nvPr/>
        </p:nvGraphicFramePr>
        <p:xfrm>
          <a:off x="1012825" y="2206625"/>
          <a:ext cx="6770370" cy="3048000"/>
        </p:xfrm>
        <a:graphic>
          <a:graphicData uri="http://schemas.openxmlformats.org/drawingml/2006/table">
            <a:tbl>
              <a:tblPr firstRow="1" bandRow="1">
                <a:tableStyleId>{5940675A-B579-460E-94D1-54222C63F5DA}</a:tableStyleId>
              </a:tblPr>
              <a:tblGrid>
                <a:gridCol w="6770370"/>
              </a:tblGrid>
              <a:tr h="609600">
                <a:tc>
                  <a:txBody>
                    <a:bodyPr/>
                    <a:lstStyle/>
                    <a:p>
                      <a:pPr indent="0">
                        <a:buNone/>
                      </a:pPr>
                      <a:r>
                        <a:rPr lang="en-US" sz="2000" b="1">
                          <a:solidFill>
                            <a:srgbClr val="FF0000"/>
                          </a:solidFill>
                          <a:latin typeface="黑体" panose="02010609060101010101" pitchFamily="49" charset="-122"/>
                          <a:ea typeface="黑体" panose="02010609060101010101" pitchFamily="49" charset="-122"/>
                          <a:cs typeface="黑体" panose="02010609060101010101" pitchFamily="49" charset="-122"/>
                        </a:rPr>
                        <a:t>    </a:t>
                      </a:r>
                      <a:r>
                        <a:rPr lang="zh-CN" altLang="en-US" sz="2000" b="1">
                          <a:solidFill>
                            <a:srgbClr val="FF0000"/>
                          </a:solidFill>
                          <a:latin typeface="黑体" panose="02010609060101010101" pitchFamily="49" charset="-122"/>
                          <a:ea typeface="黑体" panose="02010609060101010101" pitchFamily="49" charset="-122"/>
                          <a:cs typeface="黑体" panose="02010609060101010101" pitchFamily="49" charset="-122"/>
                        </a:rPr>
                        <a:t>教学</a:t>
                      </a:r>
                      <a:r>
                        <a:rPr lang="en-US" sz="2000" b="1">
                          <a:solidFill>
                            <a:srgbClr val="FF0000"/>
                          </a:solidFill>
                          <a:latin typeface="黑体" panose="02010609060101010101" pitchFamily="49" charset="-122"/>
                          <a:ea typeface="黑体" panose="02010609060101010101" pitchFamily="49" charset="-122"/>
                          <a:cs typeface="黑体" panose="02010609060101010101" pitchFamily="49" charset="-122"/>
                        </a:rPr>
                        <a:t>重点</a:t>
                      </a:r>
                      <a:r>
                        <a:rPr lang="en-US" sz="2000" b="1">
                          <a:latin typeface="宋体" panose="02010600030101010101" pitchFamily="2" charset="-122"/>
                          <a:ea typeface="宋体" panose="02010600030101010101" pitchFamily="2" charset="-122"/>
                          <a:cs typeface="宋体" panose="02010600030101010101" pitchFamily="2" charset="-122"/>
                        </a:rPr>
                        <a:t>：</a:t>
                      </a:r>
                      <a:r>
                        <a:rPr lang="en-US" sz="2000" b="1">
                          <a:latin typeface="楷体" panose="02010609060101010101" charset="-122"/>
                          <a:ea typeface="楷体" panose="02010609060101010101" charset="-122"/>
                          <a:cs typeface="楷体" panose="02010609060101010101" charset="-122"/>
                        </a:rPr>
                        <a:t>网络安全的概念、特点、目标、内容、模型和常用技术种类</a:t>
                      </a:r>
                      <a:endParaRPr lang="en-US" altLang="en-US" sz="2000" b="1">
                        <a:solidFill>
                          <a:srgbClr val="FF0000"/>
                        </a:solidFill>
                        <a:latin typeface="黑体" panose="02010609060101010101" pitchFamily="49" charset="-122"/>
                        <a:ea typeface="黑体" panose="02010609060101010101" pitchFamily="49" charset="-122"/>
                        <a:cs typeface="黑体" panose="02010609060101010101" pitchFamily="49"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09600">
                <a:tc>
                  <a:txBody>
                    <a:bodyPr/>
                    <a:lstStyle/>
                    <a:p>
                      <a:pPr indent="0">
                        <a:buNone/>
                      </a:pPr>
                      <a:r>
                        <a:rPr lang="en-US" sz="2000" b="1">
                          <a:solidFill>
                            <a:srgbClr val="FF0000"/>
                          </a:solidFill>
                          <a:latin typeface="黑体" panose="02010609060101010101" pitchFamily="49" charset="-122"/>
                          <a:ea typeface="黑体" panose="02010609060101010101" pitchFamily="49" charset="-122"/>
                          <a:cs typeface="黑体" panose="02010609060101010101" pitchFamily="49" charset="-122"/>
                        </a:rPr>
                        <a:t>    </a:t>
                      </a:r>
                      <a:r>
                        <a:rPr lang="zh-CN" altLang="en-US" sz="2000" b="1">
                          <a:solidFill>
                            <a:srgbClr val="FF0000"/>
                          </a:solidFill>
                          <a:latin typeface="黑体" panose="02010609060101010101" pitchFamily="49" charset="-122"/>
                          <a:ea typeface="黑体" panose="02010609060101010101" pitchFamily="49" charset="-122"/>
                          <a:cs typeface="黑体" panose="02010609060101010101" pitchFamily="49" charset="-122"/>
                        </a:rPr>
                        <a:t>教学</a:t>
                      </a:r>
                      <a:r>
                        <a:rPr lang="en-US" sz="2000" b="1">
                          <a:solidFill>
                            <a:srgbClr val="FF0000"/>
                          </a:solidFill>
                          <a:latin typeface="黑体" panose="02010609060101010101" pitchFamily="49" charset="-122"/>
                          <a:ea typeface="黑体" panose="02010609060101010101" pitchFamily="49" charset="-122"/>
                          <a:cs typeface="黑体" panose="02010609060101010101" pitchFamily="49" charset="-122"/>
                        </a:rPr>
                        <a:t>难点</a:t>
                      </a:r>
                      <a:r>
                        <a:rPr lang="en-US" sz="2000" b="1">
                          <a:latin typeface="宋体" panose="02010600030101010101" pitchFamily="2" charset="-122"/>
                          <a:ea typeface="宋体" panose="02010600030101010101" pitchFamily="2" charset="-122"/>
                          <a:cs typeface="宋体" panose="02010600030101010101" pitchFamily="2" charset="-122"/>
                        </a:rPr>
                        <a:t>：</a:t>
                      </a:r>
                      <a:r>
                        <a:rPr lang="en-US" sz="2000" b="1">
                          <a:latin typeface="楷体" panose="02010609060101010101" charset="-122"/>
                          <a:ea typeface="楷体" panose="02010609060101010101" charset="-122"/>
                          <a:cs typeface="楷体" panose="02010609060101010101" charset="-122"/>
                        </a:rPr>
                        <a:t>网络安全的特点、因素分析，网络安全模型，构建虚拟局域网</a:t>
                      </a:r>
                      <a:endParaRPr lang="en-US" altLang="en-US" sz="2000" b="1">
                        <a:solidFill>
                          <a:srgbClr val="FF0000"/>
                        </a:solidFill>
                        <a:latin typeface="黑体" panose="02010609060101010101" pitchFamily="49" charset="-122"/>
                        <a:ea typeface="黑体" panose="02010609060101010101" pitchFamily="49" charset="-122"/>
                        <a:cs typeface="黑体" panose="02010609060101010101" pitchFamily="49"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04800">
                <a:tc>
                  <a:txBody>
                    <a:bodyPr/>
                    <a:lstStyle/>
                    <a:p>
                      <a:pPr indent="0">
                        <a:buNone/>
                      </a:pPr>
                      <a:r>
                        <a:rPr lang="en-US" sz="2000" b="1">
                          <a:solidFill>
                            <a:srgbClr val="FF0000"/>
                          </a:solidFill>
                          <a:latin typeface="黑体" panose="02010609060101010101" pitchFamily="49" charset="-122"/>
                          <a:ea typeface="黑体" panose="02010609060101010101" pitchFamily="49" charset="-122"/>
                          <a:cs typeface="黑体" panose="02010609060101010101" pitchFamily="49" charset="-122"/>
                        </a:rPr>
                        <a:t>    </a:t>
                      </a:r>
                      <a:r>
                        <a:rPr lang="zh-CN" altLang="en-US" sz="2000" b="1">
                          <a:solidFill>
                            <a:srgbClr val="FF0000"/>
                          </a:solidFill>
                          <a:latin typeface="黑体" panose="02010609060101010101" pitchFamily="49" charset="-122"/>
                          <a:ea typeface="黑体" panose="02010609060101010101" pitchFamily="49" charset="-122"/>
                          <a:cs typeface="黑体" panose="02010609060101010101" pitchFamily="49" charset="-122"/>
                        </a:rPr>
                        <a:t>教学</a:t>
                      </a:r>
                      <a:r>
                        <a:rPr lang="en-US" sz="2000" b="1">
                          <a:solidFill>
                            <a:srgbClr val="FF0000"/>
                          </a:solidFill>
                          <a:latin typeface="黑体" panose="02010609060101010101" pitchFamily="49" charset="-122"/>
                          <a:ea typeface="黑体" panose="02010609060101010101" pitchFamily="49" charset="-122"/>
                          <a:cs typeface="黑体" panose="02010609060101010101" pitchFamily="49" charset="-122"/>
                        </a:rPr>
                        <a:t>关键</a:t>
                      </a:r>
                      <a:r>
                        <a:rPr lang="en-US" sz="2000" b="1">
                          <a:latin typeface="宋体" panose="02010600030101010101" pitchFamily="2" charset="-122"/>
                          <a:ea typeface="宋体" panose="02010600030101010101" pitchFamily="2" charset="-122"/>
                          <a:cs typeface="宋体" panose="02010600030101010101" pitchFamily="2" charset="-122"/>
                        </a:rPr>
                        <a:t>：</a:t>
                      </a:r>
                      <a:r>
                        <a:rPr lang="en-US" sz="2000" b="1">
                          <a:latin typeface="楷体" panose="02010609060101010101" charset="-122"/>
                          <a:ea typeface="楷体" panose="02010609060101010101" charset="-122"/>
                          <a:cs typeface="楷体" panose="02010609060101010101" charset="-122"/>
                        </a:rPr>
                        <a:t>网络安全的概念、特点、目标、内容和常用技术种类</a:t>
                      </a:r>
                      <a:endParaRPr lang="en-US" altLang="en-US" sz="2000" b="1">
                        <a:solidFill>
                          <a:srgbClr val="FF0000"/>
                        </a:solidFill>
                        <a:latin typeface="黑体" panose="02010609060101010101" pitchFamily="49" charset="-122"/>
                        <a:ea typeface="黑体" panose="02010609060101010101" pitchFamily="49" charset="-122"/>
                        <a:cs typeface="黑体" panose="02010609060101010101" pitchFamily="49"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043305">
                <a:tc>
                  <a:txBody>
                    <a:bodyPr/>
                    <a:lstStyle/>
                    <a:p>
                      <a:pPr indent="0">
                        <a:buNone/>
                      </a:pPr>
                      <a:r>
                        <a:rPr lang="en-US" sz="2000" b="1">
                          <a:solidFill>
                            <a:srgbClr val="FF0000"/>
                          </a:solidFill>
                          <a:latin typeface="黑体" panose="02010609060101010101" pitchFamily="49" charset="-122"/>
                          <a:ea typeface="黑体" panose="02010609060101010101" pitchFamily="49" charset="-122"/>
                          <a:cs typeface="黑体" panose="02010609060101010101" pitchFamily="49" charset="-122"/>
                        </a:rPr>
                        <a:t>    </a:t>
                      </a:r>
                      <a:r>
                        <a:rPr lang="zh-CN" altLang="en-US" sz="2000" b="1">
                          <a:solidFill>
                            <a:srgbClr val="FF0000"/>
                          </a:solidFill>
                          <a:latin typeface="黑体" panose="02010609060101010101" pitchFamily="49" charset="-122"/>
                          <a:ea typeface="黑体" panose="02010609060101010101" pitchFamily="49" charset="-122"/>
                          <a:cs typeface="黑体" panose="02010609060101010101" pitchFamily="49" charset="-122"/>
                        </a:rPr>
                        <a:t>教学</a:t>
                      </a:r>
                      <a:r>
                        <a:rPr lang="en-US" sz="2000" b="1">
                          <a:solidFill>
                            <a:srgbClr val="FF0000"/>
                          </a:solidFill>
                          <a:latin typeface="黑体" panose="02010609060101010101" pitchFamily="49" charset="-122"/>
                          <a:ea typeface="黑体" panose="02010609060101010101" pitchFamily="49" charset="-122"/>
                          <a:cs typeface="黑体" panose="02010609060101010101" pitchFamily="49" charset="-122"/>
                        </a:rPr>
                        <a:t>目标</a:t>
                      </a:r>
                      <a:r>
                        <a:rPr lang="en-US" sz="2000" b="1">
                          <a:latin typeface="宋体" panose="02010600030101010101" pitchFamily="2" charset="-122"/>
                          <a:ea typeface="宋体" panose="02010600030101010101" pitchFamily="2" charset="-122"/>
                          <a:cs typeface="宋体" panose="02010600030101010101" pitchFamily="2" charset="-122"/>
                        </a:rPr>
                        <a:t>：</a:t>
                      </a:r>
                      <a:r>
                        <a:rPr lang="en-US" sz="2000" b="1">
                          <a:latin typeface="楷体" panose="02010609060101010101" charset="-122"/>
                          <a:ea typeface="楷体" panose="02010609060101010101" charset="-122"/>
                          <a:cs typeface="楷体" panose="02010609060101010101" charset="-122"/>
                        </a:rPr>
                        <a:t>掌握网络安全的概念、特点、目标及内容，了解网络安全面临的威胁及因素分析，掌握网络安全模型和常用技术种类，理解构建和设置虚拟局域网的操作方法。</a:t>
                      </a:r>
                      <a:endParaRPr lang="en-US" altLang="en-US" sz="2000" b="1">
                        <a:solidFill>
                          <a:srgbClr val="FF0000"/>
                        </a:solidFill>
                        <a:latin typeface="黑体" panose="02010609060101010101" pitchFamily="49" charset="-122"/>
                        <a:ea typeface="黑体" panose="02010609060101010101" pitchFamily="49" charset="-122"/>
                        <a:cs typeface="黑体" panose="02010609060101010101" pitchFamily="49"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52400"/>
            <a:ext cx="8305800" cy="681038"/>
          </a:xfrm>
        </p:spPr>
        <p:txBody>
          <a:bodyPr/>
          <a:lstStyle/>
          <a:p>
            <a:pPr algn="l"/>
            <a:br>
              <a:rPr lang="zh-CN" altLang="en-US" smtClean="0">
                <a:effectLst>
                  <a:outerShdw blurRad="38100" dist="38100" dir="2700000" algn="tl">
                    <a:srgbClr val="C0C0C0"/>
                  </a:outerShdw>
                </a:effectLst>
                <a:latin typeface="Arial" panose="020B0604020202020204" pitchFamily="34" charset="0"/>
                <a:ea typeface="宋体" panose="02010600030101010101" pitchFamily="2" charset="-122"/>
              </a:rPr>
            </a:br>
            <a:endParaRPr lang="en-US" altLang="en-US" smtClean="0"/>
          </a:p>
        </p:txBody>
      </p:sp>
      <p:sp>
        <p:nvSpPr>
          <p:cNvPr id="167" name=" 167"/>
          <p:cNvSpPr/>
          <p:nvPr/>
        </p:nvSpPr>
        <p:spPr>
          <a:xfrm>
            <a:off x="714375" y="4176394"/>
            <a:ext cx="7957185" cy="2251710"/>
          </a:xfrm>
          <a:prstGeom prst="roundRect">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hangingPunct="1">
              <a:defRPr/>
            </a:pPr>
            <a:r>
              <a:rPr lang="zh-CN" altLang="en-US" sz="2000" b="1" dirty="0">
                <a:solidFill>
                  <a:srgbClr val="CC0000"/>
                </a:solidFill>
                <a:latin typeface="Arial" panose="020B0604020202020204" pitchFamily="34" charset="0"/>
                <a:sym typeface="+mn-ea"/>
              </a:rPr>
              <a:t>网络空间</a:t>
            </a:r>
            <a:r>
              <a:rPr lang="zh-CN" altLang="en-US" sz="2000" b="1" dirty="0">
                <a:solidFill>
                  <a:schemeClr val="tx1"/>
                </a:solidFill>
                <a:latin typeface="Arial" panose="020B0604020202020204" pitchFamily="34" charset="0"/>
                <a:sym typeface="+mn-ea"/>
              </a:rPr>
              <a:t>已逐步发展成继陆、海、空、天之后</a:t>
            </a:r>
            <a:r>
              <a:rPr lang="zh-CN" altLang="en-US" sz="2000" b="1" dirty="0">
                <a:solidFill>
                  <a:srgbClr val="990033"/>
                </a:solidFill>
                <a:latin typeface="Arial" panose="020B0604020202020204" pitchFamily="34" charset="0"/>
                <a:sym typeface="+mn-ea"/>
              </a:rPr>
              <a:t>第五大战略空间</a:t>
            </a:r>
            <a:r>
              <a:rPr lang="en-US" altLang="zh-CN" sz="2000" b="1" dirty="0">
                <a:solidFill>
                  <a:schemeClr val="tx1"/>
                </a:solidFill>
                <a:latin typeface="Arial" panose="020B0604020202020204" pitchFamily="34" charset="0"/>
                <a:sym typeface="+mn-ea"/>
              </a:rPr>
              <a:t>,</a:t>
            </a:r>
            <a:r>
              <a:rPr lang="zh-CN" altLang="en-US" sz="2000" b="1" dirty="0">
                <a:solidFill>
                  <a:schemeClr val="tx1"/>
                </a:solidFill>
                <a:latin typeface="Arial" panose="020B0604020202020204" pitchFamily="34" charset="0"/>
                <a:sym typeface="+mn-ea"/>
              </a:rPr>
              <a:t>是影响国家安全、社会稳定、经济发展和文化生活的</a:t>
            </a:r>
            <a:r>
              <a:rPr lang="zh-CN" altLang="en-US" sz="2000" b="1" dirty="0">
                <a:solidFill>
                  <a:srgbClr val="CC0000"/>
                </a:solidFill>
                <a:latin typeface="Arial" panose="020B0604020202020204" pitchFamily="34" charset="0"/>
                <a:sym typeface="+mn-ea"/>
              </a:rPr>
              <a:t>核心 、关键和基础</a:t>
            </a:r>
            <a:r>
              <a:rPr lang="en-US" altLang="zh-CN" sz="2000" b="1" dirty="0">
                <a:solidFill>
                  <a:schemeClr val="tx1"/>
                </a:solidFill>
                <a:latin typeface="Arial" panose="020B0604020202020204" pitchFamily="34" charset="0"/>
                <a:sym typeface="+mn-ea"/>
              </a:rPr>
              <a:t>,</a:t>
            </a:r>
            <a:r>
              <a:rPr lang="zh-CN" altLang="en-US" sz="2000" b="1" dirty="0">
                <a:solidFill>
                  <a:schemeClr val="tx1"/>
                </a:solidFill>
                <a:latin typeface="Arial" panose="020B0604020202020204" pitchFamily="34" charset="0"/>
                <a:sym typeface="+mn-ea"/>
              </a:rPr>
              <a:t>其</a:t>
            </a:r>
            <a:r>
              <a:rPr lang="zh-CN" altLang="en-US" sz="2000" b="1" dirty="0">
                <a:solidFill>
                  <a:srgbClr val="990033"/>
                </a:solidFill>
                <a:latin typeface="Arial" panose="020B0604020202020204" pitchFamily="34" charset="0"/>
                <a:sym typeface="+mn-ea"/>
              </a:rPr>
              <a:t>安全性至关重要</a:t>
            </a:r>
            <a:r>
              <a:rPr lang="en-US" altLang="zh-CN" sz="2000" b="1" dirty="0">
                <a:solidFill>
                  <a:schemeClr val="tx1"/>
                </a:solidFill>
                <a:latin typeface="Arial" panose="020B0604020202020204" pitchFamily="34" charset="0"/>
                <a:sym typeface="+mn-ea"/>
              </a:rPr>
              <a:t>,</a:t>
            </a:r>
            <a:r>
              <a:rPr lang="zh-CN" altLang="en-US" sz="2000" b="1" dirty="0">
                <a:solidFill>
                  <a:schemeClr val="tx1"/>
                </a:solidFill>
                <a:latin typeface="Arial" panose="020B0604020202020204" pitchFamily="34" charset="0"/>
                <a:sym typeface="+mn-ea"/>
              </a:rPr>
              <a:t>存在一些</a:t>
            </a:r>
            <a:r>
              <a:rPr lang="zh-CN" altLang="en-US" sz="2000" b="1" dirty="0">
                <a:solidFill>
                  <a:srgbClr val="990033"/>
                </a:solidFill>
                <a:latin typeface="Arial" panose="020B0604020202020204" pitchFamily="34" charset="0"/>
                <a:sym typeface="+mn-ea"/>
              </a:rPr>
              <a:t>急需解决的重大问题</a:t>
            </a:r>
            <a:r>
              <a:rPr lang="zh-CN" altLang="en-US" sz="2000" b="1" dirty="0">
                <a:solidFill>
                  <a:schemeClr val="tx1"/>
                </a:solidFill>
                <a:latin typeface="Arial" panose="020B0604020202020204" pitchFamily="34" charset="0"/>
                <a:sym typeface="+mn-ea"/>
              </a:rPr>
              <a:t>。</a:t>
            </a:r>
            <a:endParaRPr lang="zh-CN" altLang="en-US" sz="2000" b="1" dirty="0">
              <a:solidFill>
                <a:schemeClr val="tx1"/>
              </a:solidFill>
              <a:latin typeface="Arial" panose="020B0604020202020204" pitchFamily="34" charset="0"/>
            </a:endParaRPr>
          </a:p>
          <a:p>
            <a:pPr indent="457200" eaLnBrk="1" hangingPunct="1">
              <a:defRPr/>
            </a:pPr>
            <a:endParaRPr lang="zh-CN" altLang="en-US" sz="2000" b="1" noProof="1">
              <a:solidFill>
                <a:srgbClr val="FFFFFF"/>
              </a:solidFill>
            </a:endParaRPr>
          </a:p>
        </p:txBody>
      </p:sp>
      <p:sp>
        <p:nvSpPr>
          <p:cNvPr id="14339" name="文本框 3"/>
          <p:cNvSpPr txBox="1">
            <a:spLocks noChangeArrowheads="1"/>
          </p:cNvSpPr>
          <p:nvPr/>
        </p:nvSpPr>
        <p:spPr bwMode="auto">
          <a:xfrm>
            <a:off x="349250" y="1049338"/>
            <a:ext cx="8074025" cy="522287"/>
          </a:xfrm>
          <a:prstGeom prst="rect">
            <a:avLst/>
          </a:prstGeom>
          <a:noFill/>
          <a:ln w="9525">
            <a:noFill/>
            <a:miter lim="800000"/>
          </a:ln>
        </p:spPr>
        <p:txBody>
          <a:bodyPr>
            <a:spAutoFit/>
          </a:bodyPr>
          <a:lstStyle/>
          <a:p>
            <a:pPr marL="342900" indent="-342900">
              <a:spcBef>
                <a:spcPct val="20000"/>
              </a:spcBef>
              <a:spcAft>
                <a:spcPts val="600"/>
              </a:spcAft>
              <a:buClr>
                <a:schemeClr val="hlink"/>
              </a:buClr>
              <a:buFont typeface="Wingdings" panose="05000000000000000000" pitchFamily="2" charset="2"/>
              <a:buNone/>
            </a:pPr>
            <a:r>
              <a:rPr lang="en-US" altLang="zh-CN" sz="2800" b="1">
                <a:solidFill>
                  <a:srgbClr val="FF0000"/>
                </a:solidFill>
                <a:latin typeface="黑体" panose="02010609060101010101" pitchFamily="49" charset="-122"/>
                <a:ea typeface="黑体" panose="02010609060101010101" pitchFamily="49" charset="-122"/>
              </a:rPr>
              <a:t>1.1.1 </a:t>
            </a:r>
            <a:r>
              <a:rPr lang="zh-CN" altLang="en-US" sz="2800" b="1">
                <a:solidFill>
                  <a:srgbClr val="FF0000"/>
                </a:solidFill>
                <a:latin typeface="黑体" panose="02010609060101010101" pitchFamily="49" charset="-122"/>
                <a:ea typeface="黑体" panose="02010609060101010101" pitchFamily="49" charset="-122"/>
              </a:rPr>
              <a:t>网络空间安全威胁及现状分析</a:t>
            </a:r>
            <a:endParaRPr lang="zh-CN" altLang="en-US" sz="2800" b="1"/>
          </a:p>
        </p:txBody>
      </p:sp>
      <p:sp>
        <p:nvSpPr>
          <p:cNvPr id="5" name=" 5"/>
          <p:cNvSpPr/>
          <p:nvPr/>
        </p:nvSpPr>
        <p:spPr>
          <a:xfrm>
            <a:off x="714375" y="1646551"/>
            <a:ext cx="7920990" cy="2381250"/>
          </a:xfrm>
          <a:prstGeom prst="roundRect">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285750">
              <a:buFont typeface="Wingdings" panose="05000000000000000000" pitchFamily="2" charset="2"/>
              <a:buNone/>
              <a:defRPr/>
            </a:pPr>
            <a:r>
              <a:rPr lang="en-US" altLang="zh-CN" sz="2000" b="1" noProof="1">
                <a:solidFill>
                  <a:schemeClr val="tx1"/>
                </a:solidFill>
              </a:rPr>
              <a:t>            </a:t>
            </a:r>
            <a:r>
              <a:rPr lang="en-US" altLang="zh-CN" sz="2000" b="1" noProof="1">
                <a:solidFill>
                  <a:srgbClr val="FF0000"/>
                </a:solidFill>
              </a:rPr>
              <a:t>国际竞争加剧，全球相继出现网络安全严重事件</a:t>
            </a:r>
            <a:r>
              <a:rPr lang="en-US" altLang="zh-CN" sz="2000" b="1" noProof="1">
                <a:solidFill>
                  <a:schemeClr val="tx1"/>
                </a:solidFill>
              </a:rPr>
              <a:t>:近几年，国家或地区的</a:t>
            </a:r>
            <a:r>
              <a:rPr lang="en-US" altLang="zh-CN" sz="2000" b="1" noProof="1">
                <a:solidFill>
                  <a:srgbClr val="3366FF"/>
                </a:solidFill>
              </a:rPr>
              <a:t>网络战</a:t>
            </a:r>
            <a:r>
              <a:rPr lang="en-US" altLang="zh-CN" sz="2000" b="1" noProof="1">
                <a:solidFill>
                  <a:schemeClr val="tx1"/>
                </a:solidFill>
              </a:rPr>
              <a:t>时有发生、</a:t>
            </a:r>
            <a:r>
              <a:rPr lang="en-US" altLang="zh-CN" sz="2000" b="1" noProof="1">
                <a:solidFill>
                  <a:srgbClr val="3366FF"/>
                </a:solidFill>
              </a:rPr>
              <a:t>黑客攻击</a:t>
            </a:r>
            <a:r>
              <a:rPr lang="en-US" altLang="zh-CN" sz="2000" b="1" noProof="1">
                <a:solidFill>
                  <a:schemeClr val="tx1"/>
                </a:solidFill>
              </a:rPr>
              <a:t>企事业机构网站、几十亿客户</a:t>
            </a:r>
            <a:r>
              <a:rPr lang="en-US" altLang="zh-CN" sz="2000" b="1" noProof="1">
                <a:solidFill>
                  <a:srgbClr val="3366FF"/>
                </a:solidFill>
              </a:rPr>
              <a:t>信息被泄露</a:t>
            </a:r>
            <a:r>
              <a:rPr lang="en-US" altLang="zh-CN" sz="2000" b="1" noProof="1">
                <a:solidFill>
                  <a:schemeClr val="tx1"/>
                </a:solidFill>
              </a:rPr>
              <a:t>、世界范围内的</a:t>
            </a:r>
            <a:r>
              <a:rPr lang="en-US" altLang="zh-CN" sz="2000" b="1" noProof="1">
                <a:solidFill>
                  <a:srgbClr val="3366FF"/>
                </a:solidFill>
              </a:rPr>
              <a:t>网络病毒泛滥</a:t>
            </a:r>
            <a:r>
              <a:rPr lang="en-US" altLang="zh-CN" sz="2000" b="1" noProof="1">
                <a:solidFill>
                  <a:schemeClr val="tx1"/>
                </a:solidFill>
              </a:rPr>
              <a:t>等，每年几乎所有网民用户都遭过电信网络诈骗电话、短信或邮件。网络攻击已经被认为是仅次于极端天气和自然灾害的</a:t>
            </a:r>
            <a:r>
              <a:rPr lang="en-US" altLang="zh-CN" sz="2000" b="1" noProof="1">
                <a:solidFill>
                  <a:srgbClr val="3366FF"/>
                </a:solidFill>
              </a:rPr>
              <a:t>全球第三大威胁</a:t>
            </a:r>
            <a:r>
              <a:rPr lang="en-US" altLang="zh-CN" sz="2000" b="1" noProof="1" smtClean="0">
                <a:solidFill>
                  <a:schemeClr val="tx1"/>
                </a:solidFill>
              </a:rPr>
              <a:t>，</a:t>
            </a:r>
            <a:r>
              <a:rPr lang="zh-CN" altLang="en-US" sz="2000" b="1" dirty="0">
                <a:solidFill>
                  <a:schemeClr val="tx1"/>
                </a:solidFill>
              </a:rPr>
              <a:t>专家称</a:t>
            </a:r>
            <a:r>
              <a:rPr lang="en-US" altLang="zh-CN" sz="2000" b="1" dirty="0">
                <a:solidFill>
                  <a:schemeClr val="tx1"/>
                </a:solidFill>
              </a:rPr>
              <a:t>2021</a:t>
            </a:r>
            <a:r>
              <a:rPr lang="zh-CN" altLang="en-US" sz="2000" b="1" dirty="0">
                <a:solidFill>
                  <a:schemeClr val="tx1"/>
                </a:solidFill>
              </a:rPr>
              <a:t>年网络安全对全球经济带来的</a:t>
            </a:r>
            <a:r>
              <a:rPr lang="zh-CN" altLang="en-US" sz="2000" b="1" dirty="0" smtClean="0">
                <a:solidFill>
                  <a:schemeClr val="tx1"/>
                </a:solidFill>
              </a:rPr>
              <a:t>损失高</a:t>
            </a:r>
            <a:r>
              <a:rPr lang="zh-CN" altLang="en-US" sz="2000" b="1" dirty="0">
                <a:solidFill>
                  <a:schemeClr val="tx1"/>
                </a:solidFill>
              </a:rPr>
              <a:t>达</a:t>
            </a:r>
            <a:r>
              <a:rPr lang="en-US" altLang="zh-CN" sz="2000" b="1" dirty="0">
                <a:solidFill>
                  <a:srgbClr val="3366FF"/>
                </a:solidFill>
              </a:rPr>
              <a:t>1</a:t>
            </a:r>
            <a:r>
              <a:rPr lang="zh-CN" altLang="en-US" sz="2000" b="1" dirty="0">
                <a:solidFill>
                  <a:srgbClr val="3366FF"/>
                </a:solidFill>
              </a:rPr>
              <a:t>万</a:t>
            </a:r>
            <a:r>
              <a:rPr lang="zh-CN" altLang="en-US" sz="2000" b="1" dirty="0">
                <a:solidFill>
                  <a:srgbClr val="3366FF"/>
                </a:solidFill>
              </a:rPr>
              <a:t>亿美元</a:t>
            </a:r>
            <a:r>
              <a:rPr lang="en-US" altLang="zh-CN" sz="2000" b="1" noProof="1" smtClean="0">
                <a:solidFill>
                  <a:schemeClr val="tx1"/>
                </a:solidFill>
              </a:rPr>
              <a:t>，</a:t>
            </a:r>
            <a:r>
              <a:rPr lang="en-US" altLang="zh-CN" sz="2000" b="1" noProof="1">
                <a:solidFill>
                  <a:schemeClr val="tx1"/>
                </a:solidFill>
              </a:rPr>
              <a:t>因此，</a:t>
            </a:r>
            <a:r>
              <a:rPr lang="en-US" altLang="zh-CN" sz="2000" b="1" noProof="1">
                <a:solidFill>
                  <a:srgbClr val="FF0000"/>
                </a:solidFill>
              </a:rPr>
              <a:t>网络用户迫切需要掌握相关网络安全防范知识、技术和方法</a:t>
            </a:r>
            <a:r>
              <a:rPr lang="en-US" altLang="zh-CN" sz="2000" b="1" noProof="1">
                <a:solidFill>
                  <a:schemeClr val="tx1"/>
                </a:solidFill>
              </a:rPr>
              <a:t>。 </a:t>
            </a:r>
            <a:endParaRPr lang="en-US" altLang="zh-CN" sz="2000" b="1" noProof="1">
              <a:solidFill>
                <a:schemeClr val="tx1"/>
              </a:solidFill>
            </a:endParaRPr>
          </a:p>
        </p:txBody>
      </p:sp>
      <p:sp>
        <p:nvSpPr>
          <p:cNvPr id="7" name="Rectangle 2"/>
          <p:cNvSpPr txBox="1">
            <a:spLocks noChangeArrowheads="1"/>
          </p:cNvSpPr>
          <p:nvPr/>
        </p:nvSpPr>
        <p:spPr bwMode="white">
          <a:xfrm>
            <a:off x="838200" y="152400"/>
            <a:ext cx="7327900" cy="563563"/>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en-US" altLang="zh-CN" sz="3200" dirty="0" smtClean="0">
                <a:solidFill>
                  <a:schemeClr val="bg1"/>
                </a:solidFill>
                <a:latin typeface="Verdana" panose="020B0604030504040204" pitchFamily="34" charset="0"/>
              </a:rPr>
              <a:t>1.1</a:t>
            </a:r>
            <a:r>
              <a:rPr lang="zh-CN" altLang="en-US" sz="3200" dirty="0" smtClean="0">
                <a:solidFill>
                  <a:schemeClr val="bg1"/>
                </a:solidFill>
                <a:latin typeface="Verdana" panose="020B0604030504040204" pitchFamily="34" charset="0"/>
              </a:rPr>
              <a:t> </a:t>
            </a:r>
            <a:r>
              <a:rPr lang="zh-CN" altLang="en-US" sz="3200" dirty="0" smtClean="0">
                <a:solidFill>
                  <a:schemeClr val="bg1"/>
                </a:solidFill>
                <a:effectLst>
                  <a:outerShdw blurRad="38100" dist="38100" dir="2700000" algn="tl">
                    <a:srgbClr val="C0C0C0"/>
                  </a:outerShdw>
                </a:effectLst>
                <a:latin typeface="Verdana" panose="020B0604030504040204" pitchFamily="34" charset="0"/>
              </a:rPr>
              <a:t>网络空间安全</a:t>
            </a:r>
            <a:r>
              <a:rPr lang="zh-CN" altLang="en-US" sz="3200" dirty="0" smtClean="0">
                <a:solidFill>
                  <a:schemeClr val="bg1"/>
                </a:solidFill>
                <a:effectLst>
                  <a:outerShdw blurRad="38100" dist="38100" dir="2700000" algn="tl">
                    <a:srgbClr val="C0C0C0"/>
                  </a:outerShdw>
                </a:effectLst>
              </a:rPr>
              <a:t>威胁及态势</a:t>
            </a:r>
            <a:endParaRPr lang="zh-CN" altLang="en-US" sz="3200" dirty="0" smtClean="0">
              <a:solidFill>
                <a:schemeClr val="bg1"/>
              </a:solidFill>
              <a:effectLst>
                <a:outerShdw blurRad="38100" dist="38100" dir="2700000" algn="tl">
                  <a:srgbClr val="C0C0C0"/>
                </a:outerShdw>
              </a:effectLst>
            </a:endParaRPr>
          </a:p>
        </p:txBody>
      </p:sp>
      <p:sp>
        <p:nvSpPr>
          <p:cNvPr id="13" name="圆角矩形 12"/>
          <p:cNvSpPr/>
          <p:nvPr/>
        </p:nvSpPr>
        <p:spPr bwMode="gray">
          <a:xfrm>
            <a:off x="1430338" y="1646238"/>
            <a:ext cx="1135062" cy="350837"/>
          </a:xfrm>
          <a:prstGeom prst="roundRect">
            <a:avLst/>
          </a:prstGeom>
        </p:spPr>
        <p:style>
          <a:lnRef idx="0">
            <a:schemeClr val="accent2"/>
          </a:lnRef>
          <a:fillRef idx="3">
            <a:schemeClr val="accent2"/>
          </a:fillRef>
          <a:effectRef idx="3">
            <a:schemeClr val="accent2"/>
          </a:effectRef>
          <a:fontRef idx="minor">
            <a:schemeClr val="lt1"/>
          </a:fontRef>
        </p:style>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Font typeface="Wingdings" panose="05000000000000000000" pitchFamily="2" charset="2"/>
              <a:buNone/>
              <a:defRPr/>
            </a:pPr>
            <a:r>
              <a:rPr lang="zh-CN" altLang="en-US" sz="1600" dirty="0" smtClean="0">
                <a:solidFill>
                  <a:srgbClr val="002060"/>
                </a:solidFill>
                <a:latin typeface="宋体" panose="02010600030101010101" pitchFamily="2" charset="-122"/>
              </a:rPr>
              <a:t>引导案例</a:t>
            </a:r>
            <a:endParaRPr lang="zh-CN" altLang="en-US" sz="1600" dirty="0" smtClean="0">
              <a:solidFill>
                <a:srgbClr val="002060"/>
              </a:solidFill>
              <a:latin typeface="宋体" panose="02010600030101010101"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内容占位符 13"/>
          <p:cNvSpPr>
            <a:spLocks noGrp="1" noChangeArrowheads="1"/>
          </p:cNvSpPr>
          <p:nvPr>
            <p:ph idx="4294967295"/>
          </p:nvPr>
        </p:nvSpPr>
        <p:spPr>
          <a:xfrm>
            <a:off x="431800" y="1196975"/>
            <a:ext cx="8040688" cy="947738"/>
          </a:xfrm>
        </p:spPr>
        <p:txBody>
          <a:bodyPr/>
          <a:lstStyle/>
          <a:p>
            <a:pPr algn="r" eaLnBrk="1" hangingPunct="1">
              <a:spcAft>
                <a:spcPts val="600"/>
              </a:spcAft>
              <a:buFont typeface="Wingdings" panose="05000000000000000000" pitchFamily="2" charset="2"/>
              <a:buNone/>
            </a:pPr>
            <a:endParaRPr lang="en-US" altLang="zh-CN" sz="2400" b="0" smtClean="0">
              <a:solidFill>
                <a:srgbClr val="FF0000"/>
              </a:solidFill>
              <a:latin typeface="Calibri" panose="020F0502020204030204" pitchFamily="34" charset="0"/>
              <a:ea typeface="黑体" panose="02010609060101010101" pitchFamily="49" charset="-122"/>
            </a:endParaRPr>
          </a:p>
          <a:p>
            <a:pPr algn="r" eaLnBrk="1" hangingPunct="1">
              <a:buFont typeface="Wingdings" panose="05000000000000000000" pitchFamily="2" charset="2"/>
              <a:buNone/>
            </a:pPr>
            <a:r>
              <a:rPr lang="zh-CN" altLang="en-US" sz="1800" smtClean="0">
                <a:solidFill>
                  <a:srgbClr val="FF0000"/>
                </a:solidFill>
                <a:ea typeface="黑体" panose="02010609060101010101" pitchFamily="49" charset="-122"/>
              </a:rPr>
              <a:t> </a:t>
            </a:r>
            <a:endParaRPr lang="en-US" altLang="zh-CN" sz="1800" smtClean="0">
              <a:ea typeface="黑体" panose="02010609060101010101" pitchFamily="49" charset="-122"/>
            </a:endParaRPr>
          </a:p>
          <a:p>
            <a:pPr algn="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a typeface="黑体" panose="02010609060101010101" pitchFamily="49" charset="-122"/>
            </a:endParaRPr>
          </a:p>
          <a:p>
            <a:pPr algn="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a typeface="黑体" panose="02010609060101010101" pitchFamily="49" charset="-122"/>
            </a:endParaRPr>
          </a:p>
          <a:p>
            <a:pPr algn="r" eaLnBrk="1" hangingPunct="1">
              <a:buFont typeface="Wingdings" panose="05000000000000000000" pitchFamily="2" charset="2"/>
              <a:buNone/>
            </a:pPr>
            <a:r>
              <a:rPr lang="zh-CN" altLang="en-US" sz="1800" smtClean="0">
                <a:solidFill>
                  <a:srgbClr val="0000CC"/>
                </a:solidFill>
                <a:latin typeface="Times New Roman" panose="02020603050405020304" pitchFamily="18" charset="0"/>
                <a:ea typeface="黑体" panose="02010609060101010101" pitchFamily="49" charset="-122"/>
              </a:rPr>
              <a:t>  </a:t>
            </a:r>
            <a:endParaRPr lang="en-US" altLang="zh-CN" sz="1800" b="0" smtClean="0">
              <a:solidFill>
                <a:schemeClr val="tx1"/>
              </a:solidFill>
              <a:latin typeface="Times New Roman" panose="02020603050405020304" pitchFamily="18" charset="0"/>
              <a:ea typeface="黑体" panose="02010609060101010101" pitchFamily="49" charset="-122"/>
            </a:endParaRPr>
          </a:p>
          <a:p>
            <a:pPr algn="r" eaLnBrk="1" hangingPunct="1">
              <a:buFont typeface="Wingdings" panose="05000000000000000000" pitchFamily="2" charset="2"/>
              <a:buNone/>
            </a:pPr>
            <a:endParaRPr lang="en-US" altLang="zh-CN" sz="1800" smtClean="0">
              <a:ea typeface="黑体" panose="02010609060101010101" pitchFamily="49" charset="-122"/>
            </a:endParaRPr>
          </a:p>
        </p:txBody>
      </p:sp>
      <p:sp>
        <p:nvSpPr>
          <p:cNvPr id="15362" name="副标题 2"/>
          <p:cNvSpPr txBox="1">
            <a:spLocks noChangeArrowheads="1"/>
          </p:cNvSpPr>
          <p:nvPr/>
        </p:nvSpPr>
        <p:spPr bwMode="auto">
          <a:xfrm>
            <a:off x="304800" y="1066800"/>
            <a:ext cx="6400800" cy="528638"/>
          </a:xfrm>
          <a:prstGeom prst="rect">
            <a:avLst/>
          </a:prstGeom>
          <a:noFill/>
          <a:ln w="9525">
            <a:noFill/>
            <a:miter lim="800000"/>
          </a:ln>
        </p:spPr>
        <p:txBody>
          <a:bodyPr/>
          <a:lstStyle/>
          <a:p>
            <a:pPr marL="342900" indent="-342900" eaLnBrk="0" hangingPunct="0">
              <a:spcBef>
                <a:spcPct val="20000"/>
              </a:spcBef>
              <a:buClr>
                <a:schemeClr val="hlink"/>
              </a:buClr>
              <a:buFont typeface="Wingdings" panose="05000000000000000000" pitchFamily="2" charset="2"/>
              <a:buChar char="n"/>
            </a:pPr>
            <a:r>
              <a:rPr lang="en-US" altLang="zh-CN" sz="2800" b="1">
                <a:solidFill>
                  <a:srgbClr val="FF0000"/>
                </a:solidFill>
                <a:latin typeface="黑体" panose="02010609060101010101" pitchFamily="49" charset="-122"/>
                <a:ea typeface="黑体" panose="02010609060101010101" pitchFamily="49" charset="-122"/>
                <a:sym typeface="宋体" panose="02010600030101010101" pitchFamily="2" charset="-122"/>
              </a:rPr>
              <a:t>1.1.1 </a:t>
            </a:r>
            <a:r>
              <a:rPr lang="zh-CN" altLang="en-US" sz="2800" b="1">
                <a:solidFill>
                  <a:srgbClr val="FF0000"/>
                </a:solidFill>
                <a:latin typeface="黑体" panose="02010609060101010101" pitchFamily="49" charset="-122"/>
                <a:ea typeface="黑体" panose="02010609060101010101" pitchFamily="49" charset="-122"/>
                <a:sym typeface="宋体" panose="02010600030101010101" pitchFamily="2" charset="-122"/>
              </a:rPr>
              <a:t>网络空间安全威胁及现状分析</a:t>
            </a:r>
            <a:endParaRPr lang="zh-CN" altLang="en-US" sz="2800" b="1">
              <a:solidFill>
                <a:srgbClr val="CC0000"/>
              </a:solidFill>
              <a:latin typeface="黑体" panose="02010609060101010101" pitchFamily="49" charset="-122"/>
              <a:ea typeface="黑体" panose="02010609060101010101" pitchFamily="49" charset="-122"/>
            </a:endParaRPr>
          </a:p>
          <a:p>
            <a:pPr marL="342900" indent="-342900" eaLnBrk="0" hangingPunct="0">
              <a:spcBef>
                <a:spcPct val="20000"/>
              </a:spcBef>
              <a:buClr>
                <a:schemeClr val="hlink"/>
              </a:buClr>
              <a:buFont typeface="Wingdings" panose="05000000000000000000" pitchFamily="2" charset="2"/>
              <a:buChar char="n"/>
            </a:pPr>
            <a:endParaRPr lang="zh-CN" altLang="en-US" sz="2200" b="1">
              <a:solidFill>
                <a:schemeClr val="tx2"/>
              </a:solidFill>
              <a:latin typeface="宋体" panose="02010600030101010101" pitchFamily="2" charset="-122"/>
            </a:endParaRPr>
          </a:p>
        </p:txBody>
      </p:sp>
      <p:sp>
        <p:nvSpPr>
          <p:cNvPr id="9" name=" 167"/>
          <p:cNvSpPr/>
          <p:nvPr/>
        </p:nvSpPr>
        <p:spPr>
          <a:xfrm>
            <a:off x="549275" y="1505585"/>
            <a:ext cx="8230870" cy="3756025"/>
          </a:xfrm>
          <a:prstGeom prst="roundRect">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hangingPunct="1">
              <a:defRPr/>
            </a:pPr>
            <a:r>
              <a:rPr lang="en-US" altLang="zh-CN" sz="2000" b="1" dirty="0" smtClean="0">
                <a:solidFill>
                  <a:schemeClr val="tx1"/>
                </a:solidFill>
                <a:latin typeface="Arial" panose="020B0604020202020204" pitchFamily="34" charset="0"/>
                <a:sym typeface="+mn-ea"/>
              </a:rPr>
              <a:t>1</a:t>
            </a:r>
            <a:r>
              <a:rPr lang="zh-CN" altLang="en-US" sz="2000" b="1" dirty="0">
                <a:solidFill>
                  <a:schemeClr val="tx1"/>
                </a:solidFill>
                <a:latin typeface="Arial" panose="020B0604020202020204" pitchFamily="34" charset="0"/>
                <a:sym typeface="+mn-ea"/>
              </a:rPr>
              <a:t>）法律法规、安全管理和意识欠</a:t>
            </a:r>
            <a:r>
              <a:rPr lang="zh-CN" altLang="en-US" sz="2000" b="1" dirty="0" smtClean="0">
                <a:solidFill>
                  <a:schemeClr val="tx1"/>
                </a:solidFill>
                <a:latin typeface="Arial" panose="020B0604020202020204" pitchFamily="34" charset="0"/>
                <a:sym typeface="+mn-ea"/>
              </a:rPr>
              <a:t>缺。世</a:t>
            </a:r>
            <a:r>
              <a:rPr lang="zh-CN" altLang="en-US" sz="2000" b="1" dirty="0">
                <a:solidFill>
                  <a:schemeClr val="tx1"/>
                </a:solidFill>
                <a:latin typeface="Arial" panose="020B0604020202020204" pitchFamily="34" charset="0"/>
                <a:sym typeface="+mn-ea"/>
              </a:rPr>
              <a:t>界各国在网络空间安全保护方面，制定的各种法律法规和管理政策等相对滞后、不重视。</a:t>
            </a:r>
            <a:endParaRPr lang="zh-CN" altLang="en-US" sz="2000" b="1" dirty="0">
              <a:solidFill>
                <a:schemeClr val="tx1"/>
              </a:solidFill>
              <a:latin typeface="Arial" panose="020B0604020202020204" pitchFamily="34" charset="0"/>
              <a:sym typeface="+mn-ea"/>
            </a:endParaRPr>
          </a:p>
          <a:p>
            <a:pPr indent="457200" eaLnBrk="1" hangingPunct="1">
              <a:defRPr/>
            </a:pPr>
            <a:r>
              <a:rPr lang="zh-CN" altLang="en-US" sz="1600" b="1" dirty="0">
                <a:solidFill>
                  <a:srgbClr val="FF0000"/>
                </a:solidFill>
                <a:latin typeface="Arial" panose="020B0604020202020204" pitchFamily="34" charset="0"/>
                <a:sym typeface="+mn-ea"/>
              </a:rPr>
              <a:t>《网络安全法》第三章第二十七条</a:t>
            </a:r>
            <a:r>
              <a:rPr lang="zh-CN" altLang="en-US" sz="1600" b="1" dirty="0">
                <a:solidFill>
                  <a:schemeClr val="tx1"/>
                </a:solidFill>
                <a:latin typeface="Arial" panose="020B0604020202020204" pitchFamily="34" charset="0"/>
                <a:sym typeface="+mn-ea"/>
              </a:rPr>
              <a:t> 任何个人和组织不得从事非法侵入他人网络、干扰他人网络正常功能、窃取网络数据等危害网络安全的活动；不得提供专门用于从事侵入网络、干扰网络正常功能及防护措施、窃取网络数据等危害网络安全活动的程序、工具；明知他人从事危害网络安全的活动的，不得为其提供技术支持、广告推广、支付结算等帮助。</a:t>
            </a:r>
            <a:endParaRPr lang="zh-CN" altLang="en-US" sz="1600" b="1" dirty="0">
              <a:solidFill>
                <a:schemeClr val="tx1"/>
              </a:solidFill>
              <a:latin typeface="Arial" panose="020B0604020202020204" pitchFamily="34" charset="0"/>
              <a:sym typeface="+mn-ea"/>
            </a:endParaRPr>
          </a:p>
          <a:p>
            <a:pPr indent="457200" eaLnBrk="1" hangingPunct="1">
              <a:defRPr/>
            </a:pPr>
            <a:r>
              <a:rPr lang="zh-CN" altLang="en-US" sz="1600" b="1" dirty="0">
                <a:solidFill>
                  <a:schemeClr val="tx1"/>
                </a:solidFill>
                <a:latin typeface="Arial" panose="020B0604020202020204" pitchFamily="34" charset="0"/>
                <a:sym typeface="+mn-ea"/>
              </a:rPr>
              <a:t>【</a:t>
            </a:r>
            <a:r>
              <a:rPr lang="zh-CN" altLang="en-US" sz="1600" b="1" dirty="0">
                <a:solidFill>
                  <a:srgbClr val="FF0000"/>
                </a:solidFill>
                <a:latin typeface="Arial" panose="020B0604020202020204" pitchFamily="34" charset="0"/>
                <a:sym typeface="+mn-ea"/>
              </a:rPr>
              <a:t>节选自第六十三条</a:t>
            </a:r>
            <a:r>
              <a:rPr lang="zh-CN" altLang="en-US" sz="1600" b="1" dirty="0">
                <a:solidFill>
                  <a:schemeClr val="tx1"/>
                </a:solidFill>
                <a:latin typeface="Arial" panose="020B0604020202020204" pitchFamily="34" charset="0"/>
                <a:sym typeface="+mn-ea"/>
              </a:rPr>
              <a:t>】尚不构成犯罪的，由公安机关没收违法所得，处五日以下拘留，可以并处五万元以上五十万元以下罚款；情节较重的，处五日以上十五日以下拘留，可以并处十万元以上一百万元以下罚款。单位有前款行为的，由公安机关没收违法所得，处十万元以上一百万元以下罚款，并对直接负责的主管人员和其他直接责任人员依照前款规定处罚。违反本法第二十七条规定，受到治安管理处罚的人员，五年内不得从事网络安全管理和网络运营关键岗位的工作；受到刑事处罚的人员，终身不得从事网络安全管理和网络运营关键岗位的工作。</a:t>
            </a:r>
            <a:endParaRPr lang="zh-CN" altLang="en-US" sz="1600" b="1" dirty="0">
              <a:solidFill>
                <a:schemeClr val="tx1"/>
              </a:solidFill>
              <a:latin typeface="Arial" panose="020B0604020202020204" pitchFamily="34" charset="0"/>
              <a:sym typeface="+mn-ea"/>
            </a:endParaRPr>
          </a:p>
          <a:p>
            <a:pPr indent="457200" eaLnBrk="1" hangingPunct="1">
              <a:defRPr/>
            </a:pPr>
            <a:endParaRPr lang="zh-CN" altLang="en-US" sz="1600" b="1" dirty="0">
              <a:solidFill>
                <a:schemeClr val="tx1"/>
              </a:solidFill>
              <a:latin typeface="Arial" panose="020B0604020202020204" pitchFamily="34" charset="0"/>
              <a:sym typeface="+mn-ea"/>
            </a:endParaRPr>
          </a:p>
        </p:txBody>
      </p:sp>
      <p:sp>
        <p:nvSpPr>
          <p:cNvPr id="10" name=" 8"/>
          <p:cNvSpPr/>
          <p:nvPr/>
        </p:nvSpPr>
        <p:spPr>
          <a:xfrm>
            <a:off x="549275" y="5502910"/>
            <a:ext cx="8299450" cy="1282065"/>
          </a:xfrm>
          <a:prstGeom prst="roundRect">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p>
            <a:pPr fontAlgn="auto">
              <a:spcBef>
                <a:spcPts val="0"/>
              </a:spcBef>
              <a:spcAft>
                <a:spcPts val="0"/>
              </a:spcAft>
              <a:buFont typeface="Wingdings" panose="05000000000000000000" pitchFamily="2" charset="2"/>
              <a:buNone/>
              <a:defRPr/>
            </a:pPr>
            <a:r>
              <a:rPr lang="en-US" altLang="zh-CN" b="1" dirty="0">
                <a:solidFill>
                  <a:schemeClr val="tx1"/>
                </a:solidFill>
                <a:latin typeface="Arial" panose="020B0604020202020204" pitchFamily="34" charset="0"/>
                <a:sym typeface="+mn-ea"/>
              </a:rPr>
              <a:t>    </a:t>
            </a:r>
            <a:r>
              <a:rPr lang="zh-CN" altLang="en-US" b="1" dirty="0">
                <a:solidFill>
                  <a:schemeClr val="tx1"/>
                </a:solidFill>
                <a:latin typeface="Arial" panose="020B0604020202020204" pitchFamily="34" charset="0"/>
                <a:sym typeface="+mn-ea"/>
              </a:rPr>
              <a:t>  </a:t>
            </a:r>
            <a:r>
              <a:rPr lang="en-US" altLang="zh-CN" b="1" smtClean="0">
                <a:solidFill>
                  <a:schemeClr val="tx1"/>
                </a:solidFill>
                <a:sym typeface="+mn-ea"/>
              </a:rPr>
              <a:t>2</a:t>
            </a:r>
            <a:r>
              <a:rPr lang="zh-CN" altLang="en-US" b="1">
                <a:solidFill>
                  <a:schemeClr val="tx1"/>
                </a:solidFill>
                <a:sym typeface="+mn-ea"/>
              </a:rPr>
              <a:t>）</a:t>
            </a:r>
            <a:r>
              <a:rPr lang="zh-CN" altLang="en-US" b="1" dirty="0">
                <a:solidFill>
                  <a:schemeClr val="tx1"/>
                </a:solidFill>
                <a:latin typeface="Arial" panose="020B0604020202020204" pitchFamily="34" charset="0"/>
                <a:sym typeface="+mn-ea"/>
              </a:rPr>
              <a:t>政府与企业的侧重点及要求不一</a:t>
            </a:r>
            <a:r>
              <a:rPr lang="zh-CN" altLang="en-US" b="1" dirty="0" smtClean="0">
                <a:solidFill>
                  <a:schemeClr val="tx1"/>
                </a:solidFill>
                <a:latin typeface="Arial" panose="020B0604020202020204" pitchFamily="34" charset="0"/>
                <a:sym typeface="+mn-ea"/>
              </a:rPr>
              <a:t>致。</a:t>
            </a:r>
            <a:r>
              <a:rPr lang="zh-CN" altLang="en-US" b="1" dirty="0" smtClean="0">
                <a:solidFill>
                  <a:srgbClr val="990033"/>
                </a:solidFill>
                <a:latin typeface="Arial" panose="020B0604020202020204" pitchFamily="34" charset="0"/>
                <a:sym typeface="+mn-ea"/>
              </a:rPr>
              <a:t>政</a:t>
            </a:r>
            <a:r>
              <a:rPr lang="zh-CN" altLang="en-US" b="1" dirty="0">
                <a:solidFill>
                  <a:srgbClr val="990033"/>
                </a:solidFill>
                <a:latin typeface="Arial" panose="020B0604020202020204" pitchFamily="34" charset="0"/>
                <a:sym typeface="+mn-ea"/>
              </a:rPr>
              <a:t>府注重</a:t>
            </a:r>
            <a:r>
              <a:rPr lang="zh-CN" altLang="en-US" b="1" dirty="0">
                <a:solidFill>
                  <a:schemeClr val="tx1"/>
                </a:solidFill>
                <a:latin typeface="Arial" panose="020B0604020202020204" pitchFamily="34" charset="0"/>
                <a:sym typeface="+mn-ea"/>
              </a:rPr>
              <a:t>信息资源及网络安全可管性和可控性，</a:t>
            </a:r>
            <a:r>
              <a:rPr lang="zh-CN" altLang="en-US" b="1" dirty="0">
                <a:solidFill>
                  <a:srgbClr val="990033"/>
                </a:solidFill>
                <a:latin typeface="Arial" panose="020B0604020202020204" pitchFamily="34" charset="0"/>
                <a:sym typeface="+mn-ea"/>
              </a:rPr>
              <a:t>企业注重</a:t>
            </a:r>
            <a:r>
              <a:rPr lang="zh-CN" altLang="en-US" b="1" dirty="0">
                <a:solidFill>
                  <a:schemeClr val="tx1"/>
                </a:solidFill>
                <a:latin typeface="Arial" panose="020B0604020202020204" pitchFamily="34" charset="0"/>
                <a:sym typeface="+mn-ea"/>
              </a:rPr>
              <a:t>其经济效益、可用性和可靠性。</a:t>
            </a:r>
            <a:r>
              <a:rPr lang="zh-CN" altLang="en-US" b="1" dirty="0" smtClean="0">
                <a:solidFill>
                  <a:schemeClr val="tx1"/>
                </a:solidFill>
                <a:latin typeface="Arial" panose="020B0604020202020204" pitchFamily="34" charset="0"/>
                <a:sym typeface="+mn-ea"/>
              </a:rPr>
              <a:t> </a:t>
            </a:r>
            <a:endParaRPr lang="zh-CN" altLang="en-US" b="1" noProof="1">
              <a:solidFill>
                <a:schemeClr val="tx1"/>
              </a:solidFill>
            </a:endParaRPr>
          </a:p>
        </p:txBody>
      </p:sp>
      <p:sp>
        <p:nvSpPr>
          <p:cNvPr id="7" name="Rectangle 2"/>
          <p:cNvSpPr txBox="1">
            <a:spLocks noChangeArrowheads="1"/>
          </p:cNvSpPr>
          <p:nvPr/>
        </p:nvSpPr>
        <p:spPr bwMode="white">
          <a:xfrm>
            <a:off x="838200" y="152400"/>
            <a:ext cx="7327900" cy="563563"/>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en-US" altLang="zh-CN" sz="3200" dirty="0" smtClean="0">
                <a:solidFill>
                  <a:schemeClr val="bg1"/>
                </a:solidFill>
                <a:latin typeface="Verdana" panose="020B0604030504040204" pitchFamily="34" charset="0"/>
              </a:rPr>
              <a:t>1.1</a:t>
            </a:r>
            <a:r>
              <a:rPr lang="zh-CN" altLang="en-US" sz="3200" dirty="0" smtClean="0">
                <a:solidFill>
                  <a:schemeClr val="bg1"/>
                </a:solidFill>
                <a:latin typeface="Verdana" panose="020B0604030504040204" pitchFamily="34" charset="0"/>
              </a:rPr>
              <a:t> </a:t>
            </a:r>
            <a:r>
              <a:rPr lang="zh-CN" altLang="en-US" sz="3200" dirty="0" smtClean="0">
                <a:solidFill>
                  <a:schemeClr val="bg1"/>
                </a:solidFill>
                <a:effectLst>
                  <a:outerShdw blurRad="38100" dist="38100" dir="2700000" algn="tl">
                    <a:srgbClr val="C0C0C0"/>
                  </a:outerShdw>
                </a:effectLst>
                <a:latin typeface="Verdana" panose="020B0604030504040204" pitchFamily="34" charset="0"/>
              </a:rPr>
              <a:t>网络空间安全</a:t>
            </a:r>
            <a:r>
              <a:rPr lang="zh-CN" altLang="en-US" sz="3200" dirty="0" smtClean="0">
                <a:solidFill>
                  <a:schemeClr val="bg1"/>
                </a:solidFill>
                <a:effectLst>
                  <a:outerShdw blurRad="38100" dist="38100" dir="2700000" algn="tl">
                    <a:srgbClr val="C0C0C0"/>
                  </a:outerShdw>
                </a:effectLst>
              </a:rPr>
              <a:t>威胁及态势</a:t>
            </a:r>
            <a:endParaRPr lang="zh-CN" altLang="en-US" sz="3200" dirty="0" smtClean="0">
              <a:solidFill>
                <a:schemeClr val="bg1"/>
              </a:solidFill>
              <a:effectLst>
                <a:outerShdw blurRad="38100" dist="38100" dir="2700000" algn="tl">
                  <a:srgbClr val="C0C0C0"/>
                </a:outerShdw>
              </a:effectLs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内容占位符 13"/>
          <p:cNvSpPr>
            <a:spLocks noGrp="1" noChangeArrowheads="1"/>
          </p:cNvSpPr>
          <p:nvPr>
            <p:ph idx="4294967295"/>
          </p:nvPr>
        </p:nvSpPr>
        <p:spPr>
          <a:xfrm>
            <a:off x="431800" y="1196975"/>
            <a:ext cx="8040688" cy="947738"/>
          </a:xfrm>
        </p:spPr>
        <p:txBody>
          <a:bodyPr/>
          <a:lstStyle/>
          <a:p>
            <a:pPr algn="r" eaLnBrk="1" hangingPunct="1">
              <a:spcAft>
                <a:spcPts val="600"/>
              </a:spcAft>
              <a:buFont typeface="Wingdings" panose="05000000000000000000" pitchFamily="2" charset="2"/>
              <a:buNone/>
            </a:pPr>
            <a:endParaRPr lang="en-US" altLang="zh-CN" sz="2400" b="0" smtClean="0">
              <a:solidFill>
                <a:srgbClr val="FF0000"/>
              </a:solidFill>
              <a:latin typeface="Calibri" panose="020F0502020204030204" pitchFamily="34" charset="0"/>
              <a:ea typeface="黑体" panose="02010609060101010101" pitchFamily="49" charset="-122"/>
            </a:endParaRPr>
          </a:p>
          <a:p>
            <a:pPr algn="r" eaLnBrk="1" hangingPunct="1">
              <a:buFont typeface="Wingdings" panose="05000000000000000000" pitchFamily="2" charset="2"/>
              <a:buNone/>
            </a:pPr>
            <a:r>
              <a:rPr lang="zh-CN" altLang="en-US" sz="1800" smtClean="0">
                <a:solidFill>
                  <a:srgbClr val="FF0000"/>
                </a:solidFill>
                <a:ea typeface="黑体" panose="02010609060101010101" pitchFamily="49" charset="-122"/>
              </a:rPr>
              <a:t> </a:t>
            </a:r>
            <a:endParaRPr lang="en-US" altLang="zh-CN" sz="1800" smtClean="0">
              <a:ea typeface="黑体" panose="02010609060101010101" pitchFamily="49" charset="-122"/>
            </a:endParaRPr>
          </a:p>
          <a:p>
            <a:pPr algn="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a typeface="黑体" panose="02010609060101010101" pitchFamily="49" charset="-122"/>
            </a:endParaRPr>
          </a:p>
          <a:p>
            <a:pPr algn="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a typeface="黑体" panose="02010609060101010101" pitchFamily="49" charset="-122"/>
            </a:endParaRPr>
          </a:p>
          <a:p>
            <a:pPr algn="r" eaLnBrk="1" hangingPunct="1">
              <a:buFont typeface="Wingdings" panose="05000000000000000000" pitchFamily="2" charset="2"/>
              <a:buNone/>
            </a:pPr>
            <a:r>
              <a:rPr lang="zh-CN" altLang="en-US" sz="1800" smtClean="0">
                <a:solidFill>
                  <a:srgbClr val="0000CC"/>
                </a:solidFill>
                <a:latin typeface="Times New Roman" panose="02020603050405020304" pitchFamily="18" charset="0"/>
                <a:ea typeface="黑体" panose="02010609060101010101" pitchFamily="49" charset="-122"/>
              </a:rPr>
              <a:t>  </a:t>
            </a:r>
            <a:endParaRPr lang="en-US" altLang="zh-CN" sz="1800" b="0" smtClean="0">
              <a:solidFill>
                <a:schemeClr val="tx1"/>
              </a:solidFill>
              <a:latin typeface="Times New Roman" panose="02020603050405020304" pitchFamily="18" charset="0"/>
              <a:ea typeface="黑体" panose="02010609060101010101" pitchFamily="49" charset="-122"/>
            </a:endParaRPr>
          </a:p>
          <a:p>
            <a:pPr algn="r" eaLnBrk="1" hangingPunct="1">
              <a:buFont typeface="Wingdings" panose="05000000000000000000" pitchFamily="2" charset="2"/>
              <a:buNone/>
            </a:pPr>
            <a:endParaRPr lang="en-US" altLang="zh-CN" sz="1800" smtClean="0">
              <a:ea typeface="黑体" panose="02010609060101010101" pitchFamily="49" charset="-122"/>
            </a:endParaRPr>
          </a:p>
        </p:txBody>
      </p:sp>
      <p:sp>
        <p:nvSpPr>
          <p:cNvPr id="15362" name="副标题 2"/>
          <p:cNvSpPr txBox="1">
            <a:spLocks noChangeArrowheads="1"/>
          </p:cNvSpPr>
          <p:nvPr/>
        </p:nvSpPr>
        <p:spPr bwMode="auto">
          <a:xfrm>
            <a:off x="304800" y="1066800"/>
            <a:ext cx="6400800" cy="528638"/>
          </a:xfrm>
          <a:prstGeom prst="rect">
            <a:avLst/>
          </a:prstGeom>
          <a:noFill/>
          <a:ln w="9525">
            <a:noFill/>
            <a:miter lim="800000"/>
          </a:ln>
        </p:spPr>
        <p:txBody>
          <a:bodyPr/>
          <a:lstStyle/>
          <a:p>
            <a:pPr marL="342900" indent="-342900" eaLnBrk="0" hangingPunct="0">
              <a:spcBef>
                <a:spcPct val="20000"/>
              </a:spcBef>
              <a:buClr>
                <a:schemeClr val="hlink"/>
              </a:buClr>
              <a:buFont typeface="Wingdings" panose="05000000000000000000" pitchFamily="2" charset="2"/>
              <a:buChar char="n"/>
            </a:pPr>
            <a:r>
              <a:rPr lang="en-US" altLang="zh-CN" sz="2800" b="1">
                <a:solidFill>
                  <a:srgbClr val="FF0000"/>
                </a:solidFill>
                <a:latin typeface="黑体" panose="02010609060101010101" pitchFamily="49" charset="-122"/>
                <a:ea typeface="黑体" panose="02010609060101010101" pitchFamily="49" charset="-122"/>
                <a:sym typeface="宋体" panose="02010600030101010101" pitchFamily="2" charset="-122"/>
              </a:rPr>
              <a:t>1.1.1 </a:t>
            </a:r>
            <a:r>
              <a:rPr lang="zh-CN" altLang="en-US" sz="2800" b="1">
                <a:solidFill>
                  <a:srgbClr val="FF0000"/>
                </a:solidFill>
                <a:latin typeface="黑体" panose="02010609060101010101" pitchFamily="49" charset="-122"/>
                <a:ea typeface="黑体" panose="02010609060101010101" pitchFamily="49" charset="-122"/>
                <a:sym typeface="宋体" panose="02010600030101010101" pitchFamily="2" charset="-122"/>
              </a:rPr>
              <a:t>网络空间安全威胁及现状分析</a:t>
            </a:r>
            <a:endParaRPr lang="zh-CN" altLang="en-US" sz="2800" b="1">
              <a:solidFill>
                <a:srgbClr val="CC0000"/>
              </a:solidFill>
              <a:latin typeface="黑体" panose="02010609060101010101" pitchFamily="49" charset="-122"/>
              <a:ea typeface="黑体" panose="02010609060101010101" pitchFamily="49" charset="-122"/>
            </a:endParaRPr>
          </a:p>
          <a:p>
            <a:pPr marL="342900" indent="-342900" eaLnBrk="0" hangingPunct="0">
              <a:spcBef>
                <a:spcPct val="20000"/>
              </a:spcBef>
              <a:buClr>
                <a:schemeClr val="hlink"/>
              </a:buClr>
              <a:buFont typeface="Wingdings" panose="05000000000000000000" pitchFamily="2" charset="2"/>
              <a:buChar char="n"/>
            </a:pPr>
            <a:endParaRPr lang="zh-CN" altLang="en-US" sz="2200" b="1">
              <a:solidFill>
                <a:schemeClr val="tx2"/>
              </a:solidFill>
              <a:latin typeface="宋体" panose="02010600030101010101" pitchFamily="2" charset="-122"/>
            </a:endParaRPr>
          </a:p>
        </p:txBody>
      </p:sp>
      <p:sp>
        <p:nvSpPr>
          <p:cNvPr id="9" name=" 167"/>
          <p:cNvSpPr/>
          <p:nvPr/>
        </p:nvSpPr>
        <p:spPr>
          <a:xfrm>
            <a:off x="549275" y="1674494"/>
            <a:ext cx="8230870" cy="1477010"/>
          </a:xfrm>
          <a:prstGeom prst="roundRect">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eaLnBrk="1" hangingPunct="1">
              <a:defRPr/>
            </a:pPr>
            <a:r>
              <a:rPr lang="zh-CN" altLang="en-US" sz="2000" b="1" dirty="0">
                <a:solidFill>
                  <a:schemeClr val="tx1"/>
                </a:solidFill>
                <a:latin typeface="Arial" panose="020B0604020202020204" pitchFamily="34" charset="0"/>
                <a:sym typeface="+mn-ea"/>
              </a:rPr>
              <a:t>   </a:t>
            </a:r>
            <a:r>
              <a:rPr lang="zh-CN" altLang="en-US" sz="2000" b="1" dirty="0" smtClean="0">
                <a:solidFill>
                  <a:schemeClr val="tx1"/>
                </a:solidFill>
                <a:latin typeface="Arial" panose="020B0604020202020204" pitchFamily="34" charset="0"/>
                <a:sym typeface="+mn-ea"/>
              </a:rPr>
              <a:t>     </a:t>
            </a:r>
            <a:r>
              <a:rPr lang="en-US" altLang="zh-CN" b="1" dirty="0" smtClean="0">
                <a:solidFill>
                  <a:schemeClr val="tx1"/>
                </a:solidFill>
                <a:latin typeface="Arial" panose="020B0604020202020204" pitchFamily="34" charset="0"/>
                <a:sym typeface="+mn-ea"/>
              </a:rPr>
              <a:t>3</a:t>
            </a:r>
            <a:r>
              <a:rPr lang="zh-CN" altLang="en-US" b="1" dirty="0">
                <a:solidFill>
                  <a:schemeClr val="tx1"/>
                </a:solidFill>
                <a:latin typeface="Arial" panose="020B0604020202020204" pitchFamily="34" charset="0"/>
                <a:sym typeface="+mn-ea"/>
              </a:rPr>
              <a:t>）</a:t>
            </a:r>
            <a:r>
              <a:rPr lang="zh-CN" altLang="en-US" b="1" noProof="1">
                <a:solidFill>
                  <a:schemeClr val="tx1"/>
                </a:solidFill>
                <a:sym typeface="+mn-ea"/>
              </a:rPr>
              <a:t>网络安全规范和标准不统一 </a:t>
            </a:r>
            <a:r>
              <a:rPr lang="zh-CN" altLang="en-US" b="1" noProof="1" smtClean="0">
                <a:solidFill>
                  <a:schemeClr val="tx1"/>
                </a:solidFill>
                <a:sym typeface="+mn-ea"/>
              </a:rPr>
              <a:t>。</a:t>
            </a:r>
            <a:r>
              <a:rPr lang="zh-CN" altLang="en-US" b="1" noProof="1">
                <a:solidFill>
                  <a:schemeClr val="tx1"/>
                </a:solidFill>
                <a:sym typeface="+mn-ea"/>
              </a:rPr>
              <a:t>网络安全是一个系统工程，统一的规范和标准有利于安全的需求分析、设计、实现和测评等。</a:t>
            </a:r>
            <a:endParaRPr lang="zh-CN" altLang="en-US" b="1" dirty="0">
              <a:solidFill>
                <a:schemeClr val="tx1"/>
              </a:solidFill>
              <a:latin typeface="Arial" panose="020B0604020202020204" pitchFamily="34" charset="0"/>
              <a:sym typeface="+mn-ea"/>
            </a:endParaRPr>
          </a:p>
        </p:txBody>
      </p:sp>
      <p:sp>
        <p:nvSpPr>
          <p:cNvPr id="10" name=" 8"/>
          <p:cNvSpPr/>
          <p:nvPr/>
        </p:nvSpPr>
        <p:spPr>
          <a:xfrm>
            <a:off x="431800" y="3282312"/>
            <a:ext cx="8416925" cy="3025140"/>
          </a:xfrm>
          <a:prstGeom prst="roundRect">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p>
            <a:pPr fontAlgn="auto">
              <a:spcBef>
                <a:spcPts val="0"/>
              </a:spcBef>
              <a:spcAft>
                <a:spcPts val="0"/>
              </a:spcAft>
              <a:buFont typeface="Wingdings" panose="05000000000000000000" pitchFamily="2" charset="2"/>
              <a:buNone/>
              <a:defRPr/>
            </a:pPr>
            <a:r>
              <a:rPr lang="en-US" altLang="zh-CN" b="1" dirty="0">
                <a:solidFill>
                  <a:schemeClr val="tx1"/>
                </a:solidFill>
                <a:latin typeface="Arial" panose="020B0604020202020204" pitchFamily="34" charset="0"/>
                <a:sym typeface="+mn-ea"/>
              </a:rPr>
              <a:t>    </a:t>
            </a:r>
            <a:r>
              <a:rPr lang="zh-CN" altLang="en-US" b="1" dirty="0">
                <a:solidFill>
                  <a:schemeClr val="tx1"/>
                </a:solidFill>
                <a:latin typeface="Arial" panose="020B0604020202020204" pitchFamily="34" charset="0"/>
                <a:sym typeface="+mn-ea"/>
              </a:rPr>
              <a:t>  </a:t>
            </a:r>
            <a:r>
              <a:rPr lang="en-US" altLang="zh-CN" b="1" dirty="0">
                <a:solidFill>
                  <a:schemeClr val="tx1"/>
                </a:solidFill>
                <a:latin typeface="Arial" panose="020B0604020202020204" pitchFamily="34" charset="0"/>
                <a:sym typeface="+mn-ea"/>
              </a:rPr>
              <a:t>4</a:t>
            </a:r>
            <a:r>
              <a:rPr lang="zh-CN" altLang="en-US" b="1" dirty="0">
                <a:solidFill>
                  <a:schemeClr val="tx1"/>
                </a:solidFill>
                <a:latin typeface="Arial" panose="020B0604020202020204" pitchFamily="34" charset="0"/>
                <a:sym typeface="+mn-ea"/>
              </a:rPr>
              <a:t>）网络系统的安全威胁及隐患。</a:t>
            </a:r>
            <a:r>
              <a:rPr lang="zh-CN" altLang="en-US" b="1" noProof="1">
                <a:solidFill>
                  <a:schemeClr val="tx1"/>
                </a:solidFill>
              </a:rPr>
              <a:t>进入21世纪现代信息化社会，电子商务、电子政务、网络银行、办公自动化和其他各种业务的应用对网络的依赖程度更大，而且，计算机及手机</a:t>
            </a:r>
            <a:r>
              <a:rPr lang="zh-CN" altLang="en-US" b="1" dirty="0">
                <a:solidFill>
                  <a:srgbClr val="990033"/>
                </a:solidFill>
                <a:latin typeface="Arial" panose="020B0604020202020204" pitchFamily="34" charset="0"/>
              </a:rPr>
              <a:t>网络的开放性、交互共享和分散性等特点</a:t>
            </a:r>
            <a:r>
              <a:rPr lang="zh-CN" altLang="en-US" b="1" noProof="1">
                <a:solidFill>
                  <a:schemeClr val="tx1"/>
                </a:solidFill>
              </a:rPr>
              <a:t>，以及网络系统从设计到实现自身存在的</a:t>
            </a:r>
            <a:r>
              <a:rPr lang="zh-CN" altLang="en-US" b="1" dirty="0">
                <a:solidFill>
                  <a:srgbClr val="990033"/>
                </a:solidFill>
                <a:latin typeface="Arial" panose="020B0604020202020204" pitchFamily="34" charset="0"/>
              </a:rPr>
              <a:t>缺陷、安全漏洞和隐患</a:t>
            </a:r>
            <a:r>
              <a:rPr lang="zh-CN" altLang="en-US" b="1" noProof="1">
                <a:solidFill>
                  <a:schemeClr val="tx1"/>
                </a:solidFill>
              </a:rPr>
              <a:t>，致使网络存在着巨大的威胁和风险，时常受到侵扰和攻击。各种计算机病毒、垃圾邮件、广告和恶意软件等也影响了正常的网络应用和服务。</a:t>
            </a:r>
            <a:endParaRPr lang="zh-CN" altLang="en-US" b="1" noProof="1">
              <a:solidFill>
                <a:schemeClr val="tx1"/>
              </a:solidFill>
            </a:endParaRPr>
          </a:p>
        </p:txBody>
      </p:sp>
      <p:pic>
        <p:nvPicPr>
          <p:cNvPr id="15365" name="Picture 24" descr="C:\Program Files\Microsoft Office\MEDIA\CAGCAT10\j0300520.gif"/>
          <p:cNvPicPr>
            <a:picLocks noChangeAspect="1" noChangeArrowheads="1"/>
          </p:cNvPicPr>
          <p:nvPr/>
        </p:nvPicPr>
        <p:blipFill>
          <a:blip r:embed="rId1"/>
          <a:srcRect/>
          <a:stretch>
            <a:fillRect/>
          </a:stretch>
        </p:blipFill>
        <p:spPr bwMode="auto">
          <a:xfrm>
            <a:off x="5410200" y="6019800"/>
            <a:ext cx="838200" cy="722313"/>
          </a:xfrm>
          <a:prstGeom prst="rect">
            <a:avLst/>
          </a:prstGeom>
          <a:noFill/>
          <a:ln w="9525">
            <a:noFill/>
            <a:miter lim="800000"/>
            <a:headEnd/>
            <a:tailEnd/>
          </a:ln>
        </p:spPr>
      </p:pic>
      <p:sp>
        <p:nvSpPr>
          <p:cNvPr id="7" name="Rectangle 2"/>
          <p:cNvSpPr txBox="1">
            <a:spLocks noChangeArrowheads="1"/>
          </p:cNvSpPr>
          <p:nvPr/>
        </p:nvSpPr>
        <p:spPr bwMode="white">
          <a:xfrm>
            <a:off x="838200" y="152400"/>
            <a:ext cx="7327900" cy="563563"/>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en-US" altLang="zh-CN" sz="3200" dirty="0" smtClean="0">
                <a:solidFill>
                  <a:schemeClr val="bg1"/>
                </a:solidFill>
                <a:latin typeface="Verdana" panose="020B0604030504040204" pitchFamily="34" charset="0"/>
              </a:rPr>
              <a:t>1.1</a:t>
            </a:r>
            <a:r>
              <a:rPr lang="zh-CN" altLang="en-US" sz="3200" dirty="0" smtClean="0">
                <a:solidFill>
                  <a:schemeClr val="bg1"/>
                </a:solidFill>
                <a:latin typeface="Verdana" panose="020B0604030504040204" pitchFamily="34" charset="0"/>
              </a:rPr>
              <a:t> </a:t>
            </a:r>
            <a:r>
              <a:rPr lang="zh-CN" altLang="en-US" sz="3200" dirty="0" smtClean="0">
                <a:solidFill>
                  <a:schemeClr val="bg1"/>
                </a:solidFill>
                <a:effectLst>
                  <a:outerShdw blurRad="38100" dist="38100" dir="2700000" algn="tl">
                    <a:srgbClr val="C0C0C0"/>
                  </a:outerShdw>
                </a:effectLst>
                <a:latin typeface="Verdana" panose="020B0604030504040204" pitchFamily="34" charset="0"/>
              </a:rPr>
              <a:t>网络空间安全</a:t>
            </a:r>
            <a:r>
              <a:rPr lang="zh-CN" altLang="en-US" sz="3200" dirty="0" smtClean="0">
                <a:solidFill>
                  <a:schemeClr val="bg1"/>
                </a:solidFill>
                <a:effectLst>
                  <a:outerShdw blurRad="38100" dist="38100" dir="2700000" algn="tl">
                    <a:srgbClr val="C0C0C0"/>
                  </a:outerShdw>
                </a:effectLst>
              </a:rPr>
              <a:t>威胁及态势</a:t>
            </a:r>
            <a:endParaRPr lang="zh-CN" altLang="en-US" sz="3200" dirty="0" smtClean="0">
              <a:solidFill>
                <a:schemeClr val="bg1"/>
              </a:solidFill>
              <a:effectLst>
                <a:outerShdw blurRad="38100" dist="38100" dir="2700000" algn="tl">
                  <a:srgbClr val="C0C0C0"/>
                </a:outerShdw>
              </a:effectLs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内容占位符 13"/>
          <p:cNvSpPr>
            <a:spLocks noGrp="1" noChangeArrowheads="1"/>
          </p:cNvSpPr>
          <p:nvPr>
            <p:ph idx="4294967295"/>
          </p:nvPr>
        </p:nvSpPr>
        <p:spPr>
          <a:xfrm>
            <a:off x="431800" y="1196975"/>
            <a:ext cx="8040688" cy="947738"/>
          </a:xfrm>
        </p:spPr>
        <p:txBody>
          <a:bodyPr/>
          <a:lstStyle/>
          <a:p>
            <a:pPr algn="r" eaLnBrk="1" hangingPunct="1">
              <a:spcAft>
                <a:spcPts val="600"/>
              </a:spcAft>
              <a:buFont typeface="Wingdings" panose="05000000000000000000" pitchFamily="2" charset="2"/>
              <a:buNone/>
            </a:pPr>
            <a:endParaRPr lang="en-US" altLang="zh-CN" sz="2400" b="0" smtClean="0">
              <a:solidFill>
                <a:srgbClr val="FF0000"/>
              </a:solidFill>
              <a:latin typeface="Calibri" panose="020F0502020204030204" pitchFamily="34" charset="0"/>
              <a:ea typeface="黑体" panose="02010609060101010101" pitchFamily="49" charset="-122"/>
            </a:endParaRPr>
          </a:p>
          <a:p>
            <a:pPr algn="r" eaLnBrk="1" hangingPunct="1">
              <a:buFont typeface="Wingdings" panose="05000000000000000000" pitchFamily="2" charset="2"/>
              <a:buNone/>
            </a:pPr>
            <a:r>
              <a:rPr lang="zh-CN" altLang="en-US" sz="1800" smtClean="0">
                <a:solidFill>
                  <a:srgbClr val="FF0000"/>
                </a:solidFill>
                <a:ea typeface="黑体" panose="02010609060101010101" pitchFamily="49" charset="-122"/>
              </a:rPr>
              <a:t> </a:t>
            </a:r>
            <a:endParaRPr lang="en-US" altLang="zh-CN" sz="1800" smtClean="0">
              <a:ea typeface="黑体" panose="02010609060101010101" pitchFamily="49" charset="-122"/>
            </a:endParaRPr>
          </a:p>
          <a:p>
            <a:pPr algn="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a typeface="黑体" panose="02010609060101010101" pitchFamily="49" charset="-122"/>
            </a:endParaRPr>
          </a:p>
          <a:p>
            <a:pPr algn="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a typeface="黑体" panose="02010609060101010101" pitchFamily="49" charset="-122"/>
            </a:endParaRPr>
          </a:p>
          <a:p>
            <a:pPr algn="r" eaLnBrk="1" hangingPunct="1">
              <a:buFont typeface="Wingdings" panose="05000000000000000000" pitchFamily="2" charset="2"/>
              <a:buNone/>
            </a:pPr>
            <a:r>
              <a:rPr lang="zh-CN" altLang="en-US" sz="1800" smtClean="0">
                <a:solidFill>
                  <a:srgbClr val="0000CC"/>
                </a:solidFill>
                <a:latin typeface="Times New Roman" panose="02020603050405020304" pitchFamily="18" charset="0"/>
                <a:ea typeface="黑体" panose="02010609060101010101" pitchFamily="49" charset="-122"/>
              </a:rPr>
              <a:t>  </a:t>
            </a:r>
            <a:endParaRPr lang="en-US" altLang="zh-CN" sz="1800" b="0" smtClean="0">
              <a:solidFill>
                <a:schemeClr val="tx1"/>
              </a:solidFill>
              <a:latin typeface="Times New Roman" panose="02020603050405020304" pitchFamily="18" charset="0"/>
              <a:ea typeface="黑体" panose="02010609060101010101" pitchFamily="49" charset="-122"/>
            </a:endParaRPr>
          </a:p>
          <a:p>
            <a:pPr algn="r" eaLnBrk="1" hangingPunct="1">
              <a:buFont typeface="Wingdings" panose="05000000000000000000" pitchFamily="2" charset="2"/>
              <a:buNone/>
            </a:pPr>
            <a:endParaRPr lang="en-US" altLang="zh-CN" sz="1800" smtClean="0">
              <a:ea typeface="黑体" panose="02010609060101010101" pitchFamily="49" charset="-122"/>
            </a:endParaRPr>
          </a:p>
        </p:txBody>
      </p:sp>
      <p:sp>
        <p:nvSpPr>
          <p:cNvPr id="19" name="圆角矩形 18"/>
          <p:cNvSpPr/>
          <p:nvPr/>
        </p:nvSpPr>
        <p:spPr bwMode="gray">
          <a:xfrm>
            <a:off x="576580" y="1916430"/>
            <a:ext cx="8146415" cy="3719195"/>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spcBef>
                <a:spcPct val="20000"/>
              </a:spcBef>
              <a:buFont typeface="Wingdings" panose="05000000000000000000" pitchFamily="2" charset="2"/>
              <a:buNone/>
              <a:defRPr/>
            </a:pPr>
            <a:r>
              <a:rPr lang="zh-CN" altLang="en-US" sz="2200" dirty="0">
                <a:solidFill>
                  <a:schemeClr val="tx1"/>
                </a:solidFill>
                <a:latin typeface="Arial" panose="020B0604020202020204" pitchFamily="34" charset="0"/>
              </a:rPr>
              <a:t>                          </a:t>
            </a:r>
            <a:r>
              <a:rPr lang="zh-CN" altLang="en-US" b="1" dirty="0">
                <a:solidFill>
                  <a:srgbClr val="CC0000"/>
                </a:solidFill>
                <a:latin typeface="Times New Roman" panose="02020603050405020304" pitchFamily="18" charset="0"/>
                <a:cs typeface="Times New Roman" panose="02020603050405020304" pitchFamily="18" charset="0"/>
              </a:rPr>
              <a:t>我国网络遭受攻击近况。</a:t>
            </a:r>
            <a:r>
              <a:rPr lang="zh-CN" altLang="en-US" b="1" dirty="0">
                <a:solidFill>
                  <a:schemeClr val="tx1"/>
                </a:solidFill>
                <a:latin typeface="Times New Roman" panose="02020603050405020304" pitchFamily="18" charset="0"/>
                <a:ea typeface="楷体" panose="02010609060101010101" charset="-122"/>
                <a:cs typeface="Times New Roman" panose="02020603050405020304" pitchFamily="18" charset="0"/>
              </a:rPr>
              <a:t>2020年上半年，国家互联网应急中心CNCERT监测发现我国国内被篡改网站数量为147682个大幅增长。我国国内被篡改政府网站581个，较前一年同期增长57.0%。被植入后门的网站数量为40086个，较前一年同期增长32.7%，其中被植入后门的政府网站为127个。国家信息安全漏洞共享平台收集整理信息系统安全漏洞11073个，较前一年同期增长89.2%。其中，信息系统高危漏洞4280个，较前一年同期增长128.1%。</a:t>
            </a:r>
            <a:endParaRPr lang="zh-CN" altLang="en-US" b="1" dirty="0">
              <a:solidFill>
                <a:schemeClr val="tx1"/>
              </a:solidFill>
              <a:latin typeface="Times New Roman" panose="02020603050405020304" pitchFamily="18" charset="0"/>
              <a:ea typeface="楷体" panose="02010609060101010101" charset="-122"/>
              <a:cs typeface="Times New Roman" panose="02020603050405020304" pitchFamily="18" charset="0"/>
            </a:endParaRPr>
          </a:p>
        </p:txBody>
      </p:sp>
      <p:sp>
        <p:nvSpPr>
          <p:cNvPr id="16387" name="内容占位符 13"/>
          <p:cNvSpPr>
            <a:spLocks noChangeArrowheads="1"/>
          </p:cNvSpPr>
          <p:nvPr/>
        </p:nvSpPr>
        <p:spPr bwMode="auto">
          <a:xfrm>
            <a:off x="576263" y="1268413"/>
            <a:ext cx="6264275" cy="647700"/>
          </a:xfrm>
          <a:prstGeom prst="rect">
            <a:avLst/>
          </a:prstGeom>
          <a:noFill/>
          <a:ln w="9525">
            <a:noFill/>
            <a:miter lim="800000"/>
          </a:ln>
        </p:spPr>
        <p:txBody>
          <a:bodyPr/>
          <a:lstStyle/>
          <a:p>
            <a:pPr marL="342900" indent="-342900" algn="dist">
              <a:spcBef>
                <a:spcPct val="20000"/>
              </a:spcBef>
              <a:spcAft>
                <a:spcPts val="600"/>
              </a:spcAft>
              <a:buClr>
                <a:schemeClr val="hlink"/>
              </a:buClr>
              <a:buFont typeface="Wingdings" panose="05000000000000000000" pitchFamily="2" charset="2"/>
              <a:buNone/>
            </a:pPr>
            <a:r>
              <a:rPr lang="en-US" altLang="zh-CN" sz="2800" b="1">
                <a:solidFill>
                  <a:srgbClr val="FF0000"/>
                </a:solidFill>
                <a:latin typeface="宋体" panose="02010600030101010101" pitchFamily="2" charset="-122"/>
              </a:rPr>
              <a:t>1.1.1 </a:t>
            </a:r>
            <a:r>
              <a:rPr lang="zh-CN" altLang="en-US" sz="2800" b="1">
                <a:solidFill>
                  <a:srgbClr val="FF0000"/>
                </a:solidFill>
                <a:latin typeface="宋体" panose="02010600030101010101" pitchFamily="2" charset="-122"/>
              </a:rPr>
              <a:t>网络空间安全威胁及现状分析</a:t>
            </a:r>
            <a:endParaRPr lang="zh-CN" altLang="en-US" b="1">
              <a:solidFill>
                <a:srgbClr val="CC0000"/>
              </a:solidFill>
              <a:latin typeface="宋体" panose="02010600030101010101" pitchFamily="2" charset="-122"/>
            </a:endParaRPr>
          </a:p>
        </p:txBody>
      </p:sp>
      <p:sp>
        <p:nvSpPr>
          <p:cNvPr id="13" name="圆角矩形 12"/>
          <p:cNvSpPr/>
          <p:nvPr/>
        </p:nvSpPr>
        <p:spPr bwMode="gray">
          <a:xfrm>
            <a:off x="1368425" y="1916113"/>
            <a:ext cx="1276350" cy="455612"/>
          </a:xfrm>
          <a:prstGeom prst="roundRect">
            <a:avLst/>
          </a:prstGeom>
        </p:spPr>
        <p:style>
          <a:lnRef idx="0">
            <a:schemeClr val="accent2"/>
          </a:lnRef>
          <a:fillRef idx="3">
            <a:schemeClr val="accent2"/>
          </a:fillRef>
          <a:effectRef idx="3">
            <a:schemeClr val="accent2"/>
          </a:effectRef>
          <a:fontRef idx="minor">
            <a:schemeClr val="lt1"/>
          </a:fontRef>
        </p:style>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Font typeface="Wingdings" panose="05000000000000000000" pitchFamily="2" charset="2"/>
              <a:buNone/>
              <a:defRPr/>
            </a:pPr>
            <a:r>
              <a:rPr lang="zh-CN" altLang="en-US" sz="1800" dirty="0" smtClean="0">
                <a:solidFill>
                  <a:srgbClr val="002060"/>
                </a:solidFill>
                <a:latin typeface="宋体" panose="02010600030101010101" pitchFamily="2" charset="-122"/>
              </a:rPr>
              <a:t>案例</a:t>
            </a:r>
            <a:r>
              <a:rPr lang="en-US" altLang="zh-CN" sz="1800" dirty="0" smtClean="0">
                <a:solidFill>
                  <a:srgbClr val="002060"/>
                </a:solidFill>
                <a:latin typeface="宋体" panose="02010600030101010101" pitchFamily="2" charset="-122"/>
              </a:rPr>
              <a:t>1-1</a:t>
            </a:r>
            <a:endParaRPr lang="zh-CN" altLang="en-US" sz="1800" dirty="0" smtClean="0">
              <a:solidFill>
                <a:srgbClr val="002060"/>
              </a:solidFill>
              <a:latin typeface="宋体" panose="02010600030101010101" pitchFamily="2" charset="-122"/>
            </a:endParaRPr>
          </a:p>
        </p:txBody>
      </p:sp>
      <p:pic>
        <p:nvPicPr>
          <p:cNvPr id="16389" name="Picture 24" descr="C:\Program Files\Microsoft Office\MEDIA\CAGCAT10\j0300520.gif"/>
          <p:cNvPicPr>
            <a:picLocks noChangeAspect="1" noChangeArrowheads="1"/>
          </p:cNvPicPr>
          <p:nvPr/>
        </p:nvPicPr>
        <p:blipFill>
          <a:blip r:embed="rId1"/>
          <a:srcRect/>
          <a:stretch>
            <a:fillRect/>
          </a:stretch>
        </p:blipFill>
        <p:spPr bwMode="auto">
          <a:xfrm>
            <a:off x="6407150" y="5293678"/>
            <a:ext cx="1079500" cy="928687"/>
          </a:xfrm>
          <a:prstGeom prst="rect">
            <a:avLst/>
          </a:prstGeom>
          <a:noFill/>
          <a:ln w="9525">
            <a:noFill/>
            <a:miter lim="800000"/>
            <a:headEnd/>
            <a:tailEnd/>
          </a:ln>
        </p:spPr>
      </p:pic>
      <p:sp>
        <p:nvSpPr>
          <p:cNvPr id="7" name="Rectangle 2"/>
          <p:cNvSpPr txBox="1">
            <a:spLocks noChangeArrowheads="1"/>
          </p:cNvSpPr>
          <p:nvPr/>
        </p:nvSpPr>
        <p:spPr bwMode="white">
          <a:xfrm>
            <a:off x="838200" y="152400"/>
            <a:ext cx="7327900" cy="563563"/>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en-US" altLang="zh-CN" sz="3200" dirty="0" smtClean="0">
                <a:solidFill>
                  <a:schemeClr val="bg1"/>
                </a:solidFill>
                <a:latin typeface="Verdana" panose="020B0604030504040204" pitchFamily="34" charset="0"/>
              </a:rPr>
              <a:t>1.1</a:t>
            </a:r>
            <a:r>
              <a:rPr lang="zh-CN" altLang="en-US" sz="3200" dirty="0" smtClean="0">
                <a:solidFill>
                  <a:schemeClr val="bg1"/>
                </a:solidFill>
                <a:latin typeface="Verdana" panose="020B0604030504040204" pitchFamily="34" charset="0"/>
              </a:rPr>
              <a:t> </a:t>
            </a:r>
            <a:r>
              <a:rPr lang="zh-CN" altLang="en-US" sz="3200" dirty="0" smtClean="0">
                <a:solidFill>
                  <a:schemeClr val="bg1"/>
                </a:solidFill>
                <a:effectLst>
                  <a:outerShdw blurRad="38100" dist="38100" dir="2700000" algn="tl">
                    <a:srgbClr val="C0C0C0"/>
                  </a:outerShdw>
                </a:effectLst>
                <a:latin typeface="Verdana" panose="020B0604030504040204" pitchFamily="34" charset="0"/>
              </a:rPr>
              <a:t>网络空间安全</a:t>
            </a:r>
            <a:r>
              <a:rPr lang="zh-CN" altLang="en-US" sz="3200" dirty="0" smtClean="0">
                <a:solidFill>
                  <a:schemeClr val="bg1"/>
                </a:solidFill>
                <a:effectLst>
                  <a:outerShdw blurRad="38100" dist="38100" dir="2700000" algn="tl">
                    <a:srgbClr val="C0C0C0"/>
                  </a:outerShdw>
                </a:effectLst>
              </a:rPr>
              <a:t>威胁及态势</a:t>
            </a:r>
            <a:endParaRPr lang="zh-CN" altLang="en-US" sz="3200" dirty="0" smtClean="0">
              <a:solidFill>
                <a:schemeClr val="bg1"/>
              </a:solidFill>
              <a:effectLst>
                <a:outerShdw blurRad="38100" dist="38100" dir="2700000" algn="tl">
                  <a:srgbClr val="C0C0C0"/>
                </a:outerShdw>
              </a:effectLs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文本框 3"/>
          <p:cNvSpPr txBox="1">
            <a:spLocks noChangeArrowheads="1"/>
          </p:cNvSpPr>
          <p:nvPr/>
        </p:nvSpPr>
        <p:spPr bwMode="auto">
          <a:xfrm>
            <a:off x="620713" y="1012825"/>
            <a:ext cx="5908675" cy="522288"/>
          </a:xfrm>
          <a:prstGeom prst="rect">
            <a:avLst/>
          </a:prstGeom>
          <a:noFill/>
          <a:ln w="9525">
            <a:noFill/>
            <a:miter lim="800000"/>
          </a:ln>
        </p:spPr>
        <p:txBody>
          <a:bodyPr wrap="none">
            <a:spAutoFit/>
          </a:bodyPr>
          <a:lstStyle/>
          <a:p>
            <a:pPr>
              <a:spcBef>
                <a:spcPct val="20000"/>
              </a:spcBef>
              <a:buFont typeface="Wingdings" panose="05000000000000000000" pitchFamily="2" charset="2"/>
              <a:buNone/>
            </a:pPr>
            <a:r>
              <a:rPr lang="en-US" altLang="zh-CN" sz="2800" b="1">
                <a:solidFill>
                  <a:srgbClr val="FF0000"/>
                </a:solidFill>
                <a:latin typeface="宋体" panose="02010600030101010101" pitchFamily="2" charset="-122"/>
              </a:rPr>
              <a:t>1.1.1 </a:t>
            </a:r>
            <a:r>
              <a:rPr lang="zh-CN" altLang="en-US" sz="2800" b="1">
                <a:solidFill>
                  <a:srgbClr val="FF0000"/>
                </a:solidFill>
                <a:latin typeface="宋体" panose="02010600030101010101" pitchFamily="2" charset="-122"/>
              </a:rPr>
              <a:t>网络空间安全威胁及现状分析</a:t>
            </a:r>
            <a:endParaRPr lang="zh-CN" altLang="en-US" b="1"/>
          </a:p>
        </p:txBody>
      </p:sp>
      <p:sp>
        <p:nvSpPr>
          <p:cNvPr id="5" name=" 5"/>
          <p:cNvSpPr/>
          <p:nvPr/>
        </p:nvSpPr>
        <p:spPr>
          <a:xfrm>
            <a:off x="937260" y="1531620"/>
            <a:ext cx="7468870" cy="1821180"/>
          </a:xfrm>
          <a:prstGeom prst="roundRect">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eaLnBrk="1" fontAlgn="auto" hangingPunct="1">
              <a:spcBef>
                <a:spcPts val="0"/>
              </a:spcBef>
              <a:spcAft>
                <a:spcPts val="0"/>
              </a:spcAft>
              <a:buFont typeface="Wingdings" panose="05000000000000000000" pitchFamily="2" charset="2"/>
              <a:buNone/>
              <a:defRPr/>
            </a:pPr>
            <a:r>
              <a:rPr lang="en-US" altLang="zh-CN" sz="2000" b="1" noProof="1">
                <a:solidFill>
                  <a:schemeClr val="tx1"/>
                </a:solidFill>
              </a:rPr>
              <a:t>  </a:t>
            </a:r>
            <a:r>
              <a:rPr lang="zh-CN" altLang="en-US" b="1" noProof="1" smtClean="0">
                <a:solidFill>
                  <a:schemeClr val="tx1"/>
                </a:solidFill>
                <a:sym typeface="+mn-ea"/>
              </a:rPr>
              <a:t>  </a:t>
            </a:r>
            <a:r>
              <a:rPr lang="en-US" altLang="zh-CN" b="1" noProof="1" smtClean="0">
                <a:solidFill>
                  <a:schemeClr val="tx1"/>
                </a:solidFill>
                <a:sym typeface="+mn-ea"/>
              </a:rPr>
              <a:t>5</a:t>
            </a:r>
            <a:r>
              <a:rPr lang="zh-CN" altLang="en-US" b="1" noProof="1">
                <a:solidFill>
                  <a:schemeClr val="tx1"/>
                </a:solidFill>
                <a:sym typeface="+mn-ea"/>
              </a:rPr>
              <a:t>）</a:t>
            </a:r>
            <a:r>
              <a:rPr lang="zh-CN" altLang="en-US" b="1" noProof="1">
                <a:solidFill>
                  <a:schemeClr val="tx1"/>
                </a:solidFill>
              </a:rPr>
              <a:t>网</a:t>
            </a:r>
            <a:r>
              <a:rPr lang="zh-CN" altLang="en-US" b="1" noProof="1" smtClean="0">
                <a:solidFill>
                  <a:schemeClr val="tx1"/>
                </a:solidFill>
              </a:rPr>
              <a:t>络安全技</a:t>
            </a:r>
            <a:r>
              <a:rPr lang="zh-CN" altLang="en-US" b="1" noProof="1">
                <a:solidFill>
                  <a:schemeClr val="tx1"/>
                </a:solidFill>
              </a:rPr>
              <a:t>术和手段滞</a:t>
            </a:r>
            <a:r>
              <a:rPr lang="zh-CN" altLang="en-US" b="1" noProof="1" smtClean="0">
                <a:solidFill>
                  <a:schemeClr val="tx1"/>
                </a:solidFill>
              </a:rPr>
              <a:t>后。网</a:t>
            </a:r>
            <a:r>
              <a:rPr lang="zh-CN" altLang="en-US" b="1" noProof="1">
                <a:solidFill>
                  <a:schemeClr val="tx1"/>
                </a:solidFill>
              </a:rPr>
              <a:t>络安全技术手段研发及更新滞后于出现的需要解决的安全问题。网络技术不断快速发展，相应的网络安全技术手段相对滞后，更新时常不及时不完善。</a:t>
            </a:r>
            <a:endParaRPr lang="zh-CN" altLang="en-US" b="1" noProof="1">
              <a:solidFill>
                <a:schemeClr val="tx1"/>
              </a:solidFill>
            </a:endParaRPr>
          </a:p>
        </p:txBody>
      </p:sp>
      <p:sp>
        <p:nvSpPr>
          <p:cNvPr id="6" name=" 6"/>
          <p:cNvSpPr/>
          <p:nvPr/>
        </p:nvSpPr>
        <p:spPr>
          <a:xfrm>
            <a:off x="838200" y="3505200"/>
            <a:ext cx="7668260" cy="2447925"/>
          </a:xfrm>
          <a:prstGeom prst="roundRect">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p>
            <a:pPr fontAlgn="auto">
              <a:spcBef>
                <a:spcPts val="0"/>
              </a:spcBef>
              <a:spcAft>
                <a:spcPts val="0"/>
              </a:spcAft>
              <a:buFont typeface="Wingdings" panose="05000000000000000000" pitchFamily="2" charset="2"/>
              <a:buNone/>
              <a:defRPr/>
            </a:pPr>
            <a:r>
              <a:rPr lang="zh-CN" altLang="en-US" b="1" noProof="1">
                <a:solidFill>
                  <a:schemeClr val="tx1"/>
                </a:solidFill>
              </a:rPr>
              <a:t>   6）网络安全威胁新变化，黑客利益产业链惊人。</a:t>
            </a:r>
            <a:endParaRPr lang="zh-CN" altLang="en-US" b="1" noProof="1">
              <a:solidFill>
                <a:schemeClr val="tx1"/>
              </a:solidFill>
            </a:endParaRPr>
          </a:p>
          <a:p>
            <a:pPr fontAlgn="auto">
              <a:spcBef>
                <a:spcPts val="0"/>
              </a:spcBef>
              <a:spcAft>
                <a:spcPts val="0"/>
              </a:spcAft>
              <a:buFont typeface="Wingdings" panose="05000000000000000000" pitchFamily="2" charset="2"/>
              <a:buNone/>
              <a:defRPr/>
            </a:pPr>
            <a:r>
              <a:rPr lang="zh-CN" altLang="en-US" b="1" noProof="1">
                <a:solidFill>
                  <a:schemeClr val="tx1"/>
                </a:solidFill>
              </a:rPr>
              <a:t>   移动安全、大数据、云安全、社交网络、物联网等成为新的攻击点。</a:t>
            </a:r>
            <a:r>
              <a:rPr lang="zh-CN" altLang="en-US" b="1" noProof="1">
                <a:solidFill>
                  <a:srgbClr val="990033"/>
                </a:solidFill>
              </a:rPr>
              <a:t>黑客产业链和针对性攻击普遍，攻击力度和数量也将呈现上升趋势</a:t>
            </a:r>
            <a:r>
              <a:rPr lang="zh-CN" altLang="en-US" b="1" noProof="1">
                <a:solidFill>
                  <a:schemeClr val="tx1"/>
                </a:solidFill>
              </a:rPr>
              <a:t>，且</a:t>
            </a:r>
            <a:r>
              <a:rPr lang="zh-CN" altLang="en-US" b="1" noProof="1">
                <a:solidFill>
                  <a:srgbClr val="990033"/>
                </a:solidFill>
              </a:rPr>
              <a:t>被用于军事或利益集团</a:t>
            </a:r>
            <a:r>
              <a:rPr lang="zh-CN" altLang="en-US" b="1" noProof="1">
                <a:solidFill>
                  <a:schemeClr val="tx1"/>
                </a:solidFill>
              </a:rPr>
              <a:t>。云端数据保护压力增大，攻击目标向离线设备延伸，利用终端及网络在脱网状态下的远程控制等。</a:t>
            </a:r>
            <a:endParaRPr lang="zh-CN" altLang="en-US" b="1" noProof="1">
              <a:solidFill>
                <a:schemeClr val="tx1"/>
              </a:solidFill>
            </a:endParaRPr>
          </a:p>
        </p:txBody>
      </p:sp>
      <p:sp>
        <p:nvSpPr>
          <p:cNvPr id="2" name="Rectangle 2"/>
          <p:cNvSpPr txBox="1">
            <a:spLocks noChangeArrowheads="1"/>
          </p:cNvSpPr>
          <p:nvPr/>
        </p:nvSpPr>
        <p:spPr bwMode="white">
          <a:xfrm>
            <a:off x="838200" y="152400"/>
            <a:ext cx="7327900" cy="563563"/>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en-US" altLang="zh-CN" sz="3200" dirty="0" smtClean="0">
                <a:solidFill>
                  <a:schemeClr val="bg1"/>
                </a:solidFill>
                <a:latin typeface="Verdana" panose="020B0604030504040204" pitchFamily="34" charset="0"/>
              </a:rPr>
              <a:t>1.1</a:t>
            </a:r>
            <a:r>
              <a:rPr lang="zh-CN" altLang="en-US" sz="3200" dirty="0" smtClean="0">
                <a:solidFill>
                  <a:schemeClr val="bg1"/>
                </a:solidFill>
                <a:latin typeface="Verdana" panose="020B0604030504040204" pitchFamily="34" charset="0"/>
              </a:rPr>
              <a:t> </a:t>
            </a:r>
            <a:r>
              <a:rPr lang="zh-CN" altLang="en-US" sz="3200" dirty="0" smtClean="0">
                <a:solidFill>
                  <a:schemeClr val="bg1"/>
                </a:solidFill>
                <a:effectLst>
                  <a:outerShdw blurRad="38100" dist="38100" dir="2700000" algn="tl">
                    <a:srgbClr val="C0C0C0"/>
                  </a:outerShdw>
                </a:effectLst>
                <a:latin typeface="Verdana" panose="020B0604030504040204" pitchFamily="34" charset="0"/>
              </a:rPr>
              <a:t>网络空间安全</a:t>
            </a:r>
            <a:r>
              <a:rPr lang="zh-CN" altLang="en-US" sz="3200" dirty="0" smtClean="0">
                <a:solidFill>
                  <a:schemeClr val="bg1"/>
                </a:solidFill>
                <a:effectLst>
                  <a:outerShdw blurRad="38100" dist="38100" dir="2700000" algn="tl">
                    <a:srgbClr val="C0C0C0"/>
                  </a:outerShdw>
                </a:effectLst>
              </a:rPr>
              <a:t>威胁及态势</a:t>
            </a:r>
            <a:endParaRPr lang="zh-CN" altLang="en-US" sz="3200" dirty="0" smtClean="0">
              <a:solidFill>
                <a:schemeClr val="bg1"/>
              </a:solidFill>
              <a:effectLst>
                <a:outerShdw blurRad="38100" dist="38100" dir="2700000" algn="tl">
                  <a:srgbClr val="C0C0C0"/>
                </a:outerShdw>
              </a:effectLst>
            </a:endParaRPr>
          </a:p>
        </p:txBody>
      </p:sp>
      <p:pic>
        <p:nvPicPr>
          <p:cNvPr id="18437" name="Picture 5" descr="j0285750"/>
          <p:cNvPicPr>
            <a:picLocks noChangeAspect="1" noChangeArrowheads="1"/>
          </p:cNvPicPr>
          <p:nvPr/>
        </p:nvPicPr>
        <p:blipFill>
          <a:blip r:embed="rId1" cstate="print"/>
          <a:srcRect/>
          <a:stretch>
            <a:fillRect/>
          </a:stretch>
        </p:blipFill>
        <p:spPr bwMode="auto">
          <a:xfrm>
            <a:off x="6529705" y="5767388"/>
            <a:ext cx="1524000" cy="936625"/>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内容占位符 13"/>
          <p:cNvSpPr>
            <a:spLocks noGrp="1" noChangeArrowheads="1"/>
          </p:cNvSpPr>
          <p:nvPr>
            <p:ph idx="4294967295"/>
          </p:nvPr>
        </p:nvSpPr>
        <p:spPr>
          <a:xfrm>
            <a:off x="431800" y="1196975"/>
            <a:ext cx="8040688" cy="1025525"/>
          </a:xfrm>
        </p:spPr>
        <p:txBody>
          <a:bodyPr/>
          <a:lstStyle/>
          <a:p>
            <a:pPr eaLnBrk="1" hangingPunct="1">
              <a:spcAft>
                <a:spcPts val="600"/>
              </a:spcAft>
              <a:buFont typeface="Wingdings" panose="05000000000000000000" pitchFamily="2" charset="2"/>
              <a:buNone/>
            </a:pPr>
            <a:endParaRPr lang="en-US" altLang="zh-CN" sz="2400" smtClean="0">
              <a:solidFill>
                <a:srgbClr val="FF0000"/>
              </a:solidFill>
              <a:latin typeface="Calibri" panose="020F0502020204030204" pitchFamily="34" charset="0"/>
              <a:ea typeface="黑体" panose="02010609060101010101" pitchFamily="49" charset="-122"/>
            </a:endParaRPr>
          </a:p>
          <a:p>
            <a:pPr eaLnBrk="1" hangingPunct="1">
              <a:buFont typeface="Wingdings" panose="05000000000000000000" pitchFamily="2" charset="2"/>
              <a:buNone/>
            </a:pPr>
            <a:r>
              <a:rPr lang="zh-CN" altLang="en-US" sz="1800" smtClean="0">
                <a:solidFill>
                  <a:srgbClr val="FF0000"/>
                </a:solidFill>
                <a:ea typeface="黑体" panose="02010609060101010101" pitchFamily="49" charset="-122"/>
              </a:rPr>
              <a:t> </a:t>
            </a:r>
            <a:endParaRPr lang="en-US" altLang="zh-CN" sz="1800" smtClean="0">
              <a:ea typeface="黑体" panose="02010609060101010101" pitchFamily="49" charset="-122"/>
            </a:endParaRPr>
          </a:p>
          <a:p>
            <a:pP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a typeface="黑体" panose="02010609060101010101" pitchFamily="49" charset="-122"/>
            </a:endParaRPr>
          </a:p>
          <a:p>
            <a:pP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a typeface="黑体" panose="02010609060101010101" pitchFamily="49" charset="-122"/>
            </a:endParaRPr>
          </a:p>
          <a:p>
            <a:pPr eaLnBrk="1" hangingPunct="1">
              <a:buFont typeface="Wingdings" panose="05000000000000000000" pitchFamily="2" charset="2"/>
              <a:buNone/>
            </a:pPr>
            <a:r>
              <a:rPr lang="zh-CN" altLang="en-US" sz="1800" smtClean="0">
                <a:solidFill>
                  <a:srgbClr val="0000CC"/>
                </a:solidFill>
                <a:latin typeface="Times New Roman" panose="02020603050405020304" pitchFamily="18" charset="0"/>
                <a:ea typeface="黑体" panose="02010609060101010101" pitchFamily="49" charset="-122"/>
              </a:rPr>
              <a:t>  </a:t>
            </a:r>
            <a:endParaRPr lang="en-US" altLang="zh-CN" sz="1800" smtClean="0">
              <a:solidFill>
                <a:schemeClr val="tx1"/>
              </a:solidFill>
              <a:latin typeface="Times New Roman" panose="02020603050405020304" pitchFamily="18" charset="0"/>
              <a:ea typeface="黑体" panose="02010609060101010101" pitchFamily="49" charset="-122"/>
            </a:endParaRPr>
          </a:p>
          <a:p>
            <a:pPr eaLnBrk="1" hangingPunct="1">
              <a:buFont typeface="Wingdings" panose="05000000000000000000" pitchFamily="2" charset="2"/>
              <a:buNone/>
            </a:pPr>
            <a:endParaRPr lang="en-US" altLang="zh-CN" sz="1800" smtClean="0">
              <a:ea typeface="黑体" panose="02010609060101010101" pitchFamily="49" charset="-122"/>
            </a:endParaRPr>
          </a:p>
        </p:txBody>
      </p:sp>
      <p:sp>
        <p:nvSpPr>
          <p:cNvPr id="18434" name="内容占位符 13"/>
          <p:cNvSpPr>
            <a:spLocks noChangeArrowheads="1"/>
          </p:cNvSpPr>
          <p:nvPr/>
        </p:nvSpPr>
        <p:spPr bwMode="auto">
          <a:xfrm>
            <a:off x="576263" y="1089025"/>
            <a:ext cx="6264275" cy="701675"/>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None/>
            </a:pPr>
            <a:r>
              <a:rPr lang="en-US" altLang="zh-CN" sz="2800" b="1">
                <a:solidFill>
                  <a:srgbClr val="FF0000"/>
                </a:solidFill>
                <a:latin typeface="宋体" panose="02010600030101010101" pitchFamily="2" charset="-122"/>
              </a:rPr>
              <a:t>1.1.1 </a:t>
            </a:r>
            <a:r>
              <a:rPr lang="zh-CN" altLang="en-US" sz="2800" b="1">
                <a:solidFill>
                  <a:srgbClr val="FF0000"/>
                </a:solidFill>
                <a:latin typeface="宋体" panose="02010600030101010101" pitchFamily="2" charset="-122"/>
              </a:rPr>
              <a:t>网络空间安全威胁及现状分析</a:t>
            </a:r>
            <a:endParaRPr lang="zh-CN" altLang="en-US" b="1">
              <a:solidFill>
                <a:srgbClr val="CC0000"/>
              </a:solidFill>
              <a:latin typeface="宋体" panose="02010600030101010101" pitchFamily="2" charset="-122"/>
            </a:endParaRPr>
          </a:p>
        </p:txBody>
      </p:sp>
      <p:sp>
        <p:nvSpPr>
          <p:cNvPr id="18435" name="圆角矩形 4"/>
          <p:cNvSpPr>
            <a:spLocks noChangeArrowheads="1"/>
          </p:cNvSpPr>
          <p:nvPr/>
        </p:nvSpPr>
        <p:spPr bwMode="auto">
          <a:xfrm>
            <a:off x="593725" y="1790700"/>
            <a:ext cx="7956550" cy="3709670"/>
          </a:xfrm>
          <a:prstGeom prst="roundRect">
            <a:avLst>
              <a:gd name="adj" fmla="val 16667"/>
            </a:avLst>
          </a:prstGeom>
          <a:solidFill>
            <a:schemeClr val="bg1"/>
          </a:solidFill>
          <a:ln w="25400">
            <a:solidFill>
              <a:srgbClr val="1F38ED"/>
            </a:solidFill>
            <a:round/>
          </a:ln>
        </p:spPr>
        <p:txBody>
          <a:bodyPr anchor="ctr" anchorCtr="1"/>
          <a:lstStyle/>
          <a:p>
            <a:pPr>
              <a:lnSpc>
                <a:spcPct val="90000"/>
              </a:lnSpc>
              <a:spcBef>
                <a:spcPct val="20000"/>
              </a:spcBef>
              <a:buFont typeface="Wingdings" panose="05000000000000000000" pitchFamily="2" charset="2"/>
              <a:buNone/>
            </a:pPr>
            <a:r>
              <a:rPr lang="zh-CN" altLang="en-US" sz="800" b="1">
                <a:solidFill>
                  <a:srgbClr val="FF0000"/>
                </a:solidFill>
                <a:latin typeface="宋体" panose="02010600030101010101" pitchFamily="2" charset="-122"/>
              </a:rPr>
              <a:t> </a:t>
            </a:r>
            <a:endParaRPr lang="en-US" altLang="zh-CN" sz="800" b="1">
              <a:solidFill>
                <a:schemeClr val="tx2"/>
              </a:solidFill>
            </a:endParaRPr>
          </a:p>
          <a:p>
            <a:pPr eaLnBrk="1" latinLnBrk="0" hangingPunct="1">
              <a:lnSpc>
                <a:spcPct val="110000"/>
              </a:lnSpc>
              <a:spcBef>
                <a:spcPts val="0"/>
              </a:spcBef>
              <a:spcAft>
                <a:spcPts val="0"/>
              </a:spcAft>
              <a:buFont typeface="Wingdings" panose="05000000000000000000" pitchFamily="2" charset="2"/>
              <a:buNone/>
            </a:pPr>
            <a:r>
              <a:rPr lang="zh-CN" altLang="en-US" b="1"/>
              <a:t>                     </a:t>
            </a:r>
            <a:r>
              <a:rPr lang="zh-CN" altLang="en-US" b="1">
                <a:solidFill>
                  <a:srgbClr val="CC0000"/>
                </a:solidFill>
              </a:rPr>
              <a:t>中国黑客利益产业链严重</a:t>
            </a:r>
            <a:r>
              <a:rPr lang="en-US" altLang="zh-CN" b="1"/>
              <a:t>.</a:t>
            </a:r>
            <a:r>
              <a:rPr lang="zh-CN" altLang="en-US" b="1">
                <a:latin typeface="楷体" panose="02010609060101010101" charset="-122"/>
                <a:ea typeface="楷体" panose="02010609060101010101" charset="-122"/>
              </a:rPr>
              <a:t>根据</a:t>
            </a:r>
            <a:r>
              <a:rPr lang="en-US" altLang="zh-CN" b="1">
                <a:latin typeface="楷体" panose="02010609060101010101" charset="-122"/>
                <a:ea typeface="楷体" panose="02010609060101010101" charset="-122"/>
              </a:rPr>
              <a:t>2014</a:t>
            </a:r>
            <a:r>
              <a:rPr lang="zh-CN" altLang="en-US" b="1">
                <a:latin typeface="楷体" panose="02010609060101010101" charset="-122"/>
                <a:ea typeface="楷体" panose="02010609060101010101" charset="-122"/>
              </a:rPr>
              <a:t>年数据调查显示</a:t>
            </a:r>
            <a:r>
              <a:rPr lang="en-US" altLang="zh-CN" b="1">
                <a:latin typeface="楷体" panose="02010609060101010101" charset="-122"/>
                <a:ea typeface="楷体" panose="02010609060101010101" charset="-122"/>
              </a:rPr>
              <a:t>,</a:t>
            </a:r>
            <a:r>
              <a:rPr lang="zh-CN" altLang="en-US" b="1">
                <a:latin typeface="楷体" panose="02010609060101010101" charset="-122"/>
                <a:ea typeface="楷体" panose="02010609060101010101" charset="-122"/>
              </a:rPr>
              <a:t>中国的</a:t>
            </a:r>
            <a:r>
              <a:rPr lang="zh-CN" altLang="en-US" b="1">
                <a:solidFill>
                  <a:srgbClr val="990033"/>
                </a:solidFill>
                <a:latin typeface="楷体" panose="02010609060101010101" charset="-122"/>
                <a:ea typeface="楷体" panose="02010609060101010101" charset="-122"/>
              </a:rPr>
              <a:t>木马产业链一年的收入已达上百亿元</a:t>
            </a:r>
            <a:r>
              <a:rPr lang="zh-CN" altLang="en-US" b="1">
                <a:latin typeface="楷体" panose="02010609060101010101" charset="-122"/>
                <a:ea typeface="楷体" panose="02010609060101010101" charset="-122"/>
              </a:rPr>
              <a:t>。湖北麻城市警方就破获了一个制造传播木马的网络犯罪团伙。这也是国内破获的第一个上下游产业链完整的木马犯罪案件。犯罪嫌疑人杨某年仅</a:t>
            </a:r>
            <a:r>
              <a:rPr lang="en-US" altLang="zh-CN" b="1">
                <a:latin typeface="楷体" panose="02010609060101010101" charset="-122"/>
                <a:ea typeface="楷体" panose="02010609060101010101" charset="-122"/>
              </a:rPr>
              <a:t>20</a:t>
            </a:r>
            <a:r>
              <a:rPr lang="zh-CN" altLang="en-US" b="1">
                <a:latin typeface="楷体" panose="02010609060101010101" charset="-122"/>
                <a:ea typeface="楷体" panose="02010609060101010101" charset="-122"/>
              </a:rPr>
              <a:t>岁，编写贩卖木马程序。犯罪嫌疑人韩某年仅</a:t>
            </a:r>
            <a:r>
              <a:rPr lang="en-US" altLang="zh-CN" b="1">
                <a:latin typeface="楷体" panose="02010609060101010101" charset="-122"/>
                <a:ea typeface="楷体" panose="02010609060101010101" charset="-122"/>
              </a:rPr>
              <a:t>22</a:t>
            </a:r>
            <a:r>
              <a:rPr lang="zh-CN" altLang="en-US" b="1">
                <a:latin typeface="楷体" panose="02010609060101010101" charset="-122"/>
                <a:ea typeface="楷体" panose="02010609060101010101" charset="-122"/>
              </a:rPr>
              <a:t>岁，木马编写者的总代理。原本互不相识的几位犯罪嫌疑人，从</a:t>
            </a:r>
            <a:r>
              <a:rPr lang="en-US" altLang="zh-CN" b="1">
                <a:latin typeface="楷体" panose="02010609060101010101" charset="-122"/>
                <a:ea typeface="楷体" panose="02010609060101010101" charset="-122"/>
              </a:rPr>
              <a:t>2008</a:t>
            </a:r>
            <a:r>
              <a:rPr lang="zh-CN" altLang="en-US" b="1">
                <a:latin typeface="楷体" panose="02010609060101010101" charset="-122"/>
                <a:ea typeface="楷体" panose="02010609060101010101" charset="-122"/>
              </a:rPr>
              <a:t>年</a:t>
            </a:r>
            <a:r>
              <a:rPr lang="en-US" altLang="zh-CN" b="1">
                <a:latin typeface="楷体" panose="02010609060101010101" charset="-122"/>
                <a:ea typeface="楷体" panose="02010609060101010101" charset="-122"/>
              </a:rPr>
              <a:t>10</a:t>
            </a:r>
            <a:r>
              <a:rPr lang="zh-CN" altLang="en-US" b="1">
                <a:latin typeface="楷体" panose="02010609060101010101" charset="-122"/>
                <a:ea typeface="楷体" panose="02010609060101010101" charset="-122"/>
              </a:rPr>
              <a:t>月开始，在</a:t>
            </a:r>
            <a:r>
              <a:rPr lang="zh-CN" altLang="en-US" b="1">
                <a:solidFill>
                  <a:srgbClr val="990033"/>
                </a:solidFill>
                <a:latin typeface="楷体" panose="02010609060101010101" charset="-122"/>
                <a:ea typeface="楷体" panose="02010609060101010101" charset="-122"/>
              </a:rPr>
              <a:t>不到半年的时间就非法获利近</a:t>
            </a:r>
            <a:r>
              <a:rPr lang="en-US" altLang="zh-CN" b="1">
                <a:solidFill>
                  <a:srgbClr val="990033"/>
                </a:solidFill>
                <a:latin typeface="楷体" panose="02010609060101010101" charset="-122"/>
                <a:ea typeface="楷体" panose="02010609060101010101" charset="-122"/>
              </a:rPr>
              <a:t>200</a:t>
            </a:r>
            <a:r>
              <a:rPr lang="zh-CN" altLang="en-US" b="1">
                <a:solidFill>
                  <a:srgbClr val="990033"/>
                </a:solidFill>
                <a:latin typeface="楷体" panose="02010609060101010101" charset="-122"/>
                <a:ea typeface="楷体" panose="02010609060101010101" charset="-122"/>
              </a:rPr>
              <a:t>万元</a:t>
            </a:r>
            <a:r>
              <a:rPr lang="zh-CN" altLang="en-US" b="1">
                <a:latin typeface="楷体" panose="02010609060101010101" charset="-122"/>
                <a:ea typeface="楷体" panose="02010609060101010101" charset="-122"/>
              </a:rPr>
              <a:t>。 </a:t>
            </a:r>
            <a:endParaRPr lang="zh-CN" altLang="en-US" b="1">
              <a:latin typeface="楷体" panose="02010609060101010101" charset="-122"/>
              <a:ea typeface="楷体" panose="02010609060101010101" charset="-122"/>
            </a:endParaRPr>
          </a:p>
        </p:txBody>
      </p:sp>
      <p:sp>
        <p:nvSpPr>
          <p:cNvPr id="13" name="圆角矩形 12"/>
          <p:cNvSpPr/>
          <p:nvPr/>
        </p:nvSpPr>
        <p:spPr bwMode="gray">
          <a:xfrm>
            <a:off x="1177925" y="1957388"/>
            <a:ext cx="1336675" cy="523875"/>
          </a:xfrm>
          <a:prstGeom prst="roundRect">
            <a:avLst/>
          </a:prstGeom>
        </p:spPr>
        <p:style>
          <a:lnRef idx="0">
            <a:schemeClr val="accent2"/>
          </a:lnRef>
          <a:fillRef idx="3">
            <a:schemeClr val="accent2"/>
          </a:fillRef>
          <a:effectRef idx="3">
            <a:schemeClr val="accent2"/>
          </a:effectRef>
          <a:fontRef idx="minor">
            <a:schemeClr val="lt1"/>
          </a:fontRef>
        </p:style>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spcBef>
                <a:spcPct val="20000"/>
              </a:spcBef>
              <a:buFont typeface="Wingdings" panose="05000000000000000000" pitchFamily="2" charset="2"/>
              <a:buNone/>
              <a:defRPr/>
            </a:pPr>
            <a:r>
              <a:rPr lang="zh-CN" altLang="en-US" sz="2000" dirty="0" smtClean="0">
                <a:solidFill>
                  <a:srgbClr val="002060"/>
                </a:solidFill>
                <a:latin typeface="宋体" panose="02010600030101010101" pitchFamily="2" charset="-122"/>
              </a:rPr>
              <a:t>案例</a:t>
            </a:r>
            <a:r>
              <a:rPr lang="en-US" altLang="zh-CN" sz="2000" dirty="0" smtClean="0">
                <a:solidFill>
                  <a:srgbClr val="002060"/>
                </a:solidFill>
                <a:latin typeface="宋体" panose="02010600030101010101" pitchFamily="2" charset="-122"/>
              </a:rPr>
              <a:t>1-6</a:t>
            </a:r>
            <a:endParaRPr lang="zh-CN" altLang="en-US" sz="2000" dirty="0" smtClean="0">
              <a:solidFill>
                <a:srgbClr val="002060"/>
              </a:solidFill>
              <a:latin typeface="宋体" panose="02010600030101010101" pitchFamily="2" charset="-122"/>
            </a:endParaRPr>
          </a:p>
        </p:txBody>
      </p:sp>
      <p:sp>
        <p:nvSpPr>
          <p:cNvPr id="7" name="Rectangle 2"/>
          <p:cNvSpPr txBox="1">
            <a:spLocks noChangeArrowheads="1"/>
          </p:cNvSpPr>
          <p:nvPr/>
        </p:nvSpPr>
        <p:spPr bwMode="white">
          <a:xfrm>
            <a:off x="838200" y="152400"/>
            <a:ext cx="7327900" cy="563563"/>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en-US" altLang="zh-CN" sz="3200" dirty="0" smtClean="0">
                <a:solidFill>
                  <a:schemeClr val="bg1"/>
                </a:solidFill>
                <a:latin typeface="Verdana" panose="020B0604030504040204" pitchFamily="34" charset="0"/>
              </a:rPr>
              <a:t>1.1</a:t>
            </a:r>
            <a:r>
              <a:rPr lang="zh-CN" altLang="en-US" sz="3200" dirty="0" smtClean="0">
                <a:solidFill>
                  <a:schemeClr val="bg1"/>
                </a:solidFill>
                <a:latin typeface="Verdana" panose="020B0604030504040204" pitchFamily="34" charset="0"/>
              </a:rPr>
              <a:t> </a:t>
            </a:r>
            <a:r>
              <a:rPr lang="zh-CN" altLang="en-US" sz="3200" dirty="0" smtClean="0">
                <a:solidFill>
                  <a:schemeClr val="bg1"/>
                </a:solidFill>
                <a:effectLst>
                  <a:outerShdw blurRad="38100" dist="38100" dir="2700000" algn="tl">
                    <a:srgbClr val="C0C0C0"/>
                  </a:outerShdw>
                </a:effectLst>
                <a:latin typeface="Verdana" panose="020B0604030504040204" pitchFamily="34" charset="0"/>
              </a:rPr>
              <a:t>网络空间安全</a:t>
            </a:r>
            <a:r>
              <a:rPr lang="zh-CN" altLang="en-US" sz="3200" dirty="0" smtClean="0">
                <a:solidFill>
                  <a:schemeClr val="bg1"/>
                </a:solidFill>
                <a:effectLst>
                  <a:outerShdw blurRad="38100" dist="38100" dir="2700000" algn="tl">
                    <a:srgbClr val="C0C0C0"/>
                  </a:outerShdw>
                </a:effectLst>
              </a:rPr>
              <a:t>威胁及态势</a:t>
            </a:r>
            <a:endParaRPr lang="zh-CN" altLang="en-US" sz="3200" dirty="0" smtClean="0">
              <a:solidFill>
                <a:schemeClr val="bg1"/>
              </a:solidFill>
              <a:effectLst>
                <a:outerShdw blurRad="38100" dist="38100" dir="2700000" algn="tl">
                  <a:srgbClr val="C0C0C0"/>
                </a:outerShdw>
              </a:effectLst>
            </a:endParaRPr>
          </a:p>
        </p:txBody>
      </p:sp>
      <p:pic>
        <p:nvPicPr>
          <p:cNvPr id="10310" name="Picture 3" descr="MC900436992[1]"/>
          <p:cNvPicPr>
            <a:picLocks noChangeAspect="1" noChangeArrowheads="1"/>
          </p:cNvPicPr>
          <p:nvPr/>
        </p:nvPicPr>
        <p:blipFill>
          <a:blip r:embed="rId1" cstate="print"/>
          <a:srcRect/>
          <a:stretch>
            <a:fillRect/>
          </a:stretch>
        </p:blipFill>
        <p:spPr bwMode="auto">
          <a:xfrm>
            <a:off x="6461125" y="5311140"/>
            <a:ext cx="1930400" cy="1317625"/>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16"/>
          <p:cNvSpPr>
            <a:spLocks noChangeArrowheads="1"/>
          </p:cNvSpPr>
          <p:nvPr/>
        </p:nvSpPr>
        <p:spPr bwMode="auto">
          <a:xfrm>
            <a:off x="1079500" y="1628775"/>
            <a:ext cx="7416800" cy="457200"/>
          </a:xfrm>
          <a:prstGeom prst="rect">
            <a:avLst/>
          </a:prstGeom>
          <a:noFill/>
          <a:ln w="9525">
            <a:noFill/>
            <a:miter lim="800000"/>
          </a:ln>
        </p:spPr>
        <p:txBody>
          <a:bodyPr anchor="ctr">
            <a:spAutoFit/>
          </a:bodyPr>
          <a:lstStyle/>
          <a:p>
            <a:pPr>
              <a:spcBef>
                <a:spcPct val="20000"/>
              </a:spcBef>
              <a:buFont typeface="Wingdings" panose="05000000000000000000" pitchFamily="2" charset="2"/>
              <a:buNone/>
            </a:pPr>
            <a:r>
              <a:rPr lang="zh-CN" altLang="en-US" b="1">
                <a:solidFill>
                  <a:srgbClr val="CC0000"/>
                </a:solidFill>
              </a:rPr>
              <a:t>黑客木马程序灰鸽子产业链</a:t>
            </a:r>
            <a:r>
              <a:rPr lang="zh-CN" altLang="en-US" b="1">
                <a:solidFill>
                  <a:schemeClr val="tx2"/>
                </a:solidFill>
              </a:rPr>
              <a:t>，如图</a:t>
            </a:r>
            <a:r>
              <a:rPr lang="en-US" altLang="zh-CN" b="1">
                <a:solidFill>
                  <a:schemeClr val="tx2"/>
                </a:solidFill>
              </a:rPr>
              <a:t>1-9</a:t>
            </a:r>
            <a:r>
              <a:rPr lang="zh-CN" altLang="en-US" b="1">
                <a:solidFill>
                  <a:schemeClr val="tx2"/>
                </a:solidFill>
              </a:rPr>
              <a:t>所示。</a:t>
            </a:r>
            <a:endParaRPr lang="zh-CN" altLang="en-US" b="1">
              <a:solidFill>
                <a:schemeClr val="tx2"/>
              </a:solidFill>
              <a:latin typeface="宋体" panose="02010600030101010101" pitchFamily="2" charset="-122"/>
            </a:endParaRPr>
          </a:p>
        </p:txBody>
      </p:sp>
      <p:pic>
        <p:nvPicPr>
          <p:cNvPr id="19458" name="Picture 20"/>
          <p:cNvPicPr>
            <a:picLocks noChangeAspect="1" noChangeArrowheads="1"/>
          </p:cNvPicPr>
          <p:nvPr/>
        </p:nvPicPr>
        <p:blipFill>
          <a:blip r:embed="rId1" cstate="print"/>
          <a:srcRect/>
          <a:stretch>
            <a:fillRect/>
          </a:stretch>
        </p:blipFill>
        <p:spPr bwMode="auto">
          <a:xfrm>
            <a:off x="323850" y="2060575"/>
            <a:ext cx="8640763" cy="4533900"/>
          </a:xfrm>
          <a:prstGeom prst="rect">
            <a:avLst/>
          </a:prstGeom>
          <a:noFill/>
          <a:ln w="9525">
            <a:noFill/>
            <a:miter lim="800000"/>
            <a:headEnd/>
            <a:tailEnd/>
          </a:ln>
        </p:spPr>
      </p:pic>
      <p:sp>
        <p:nvSpPr>
          <p:cNvPr id="19459" name="Rectangle 21"/>
          <p:cNvSpPr>
            <a:spLocks noChangeArrowheads="1"/>
          </p:cNvSpPr>
          <p:nvPr/>
        </p:nvSpPr>
        <p:spPr bwMode="auto">
          <a:xfrm>
            <a:off x="3230563" y="6505575"/>
            <a:ext cx="3140075" cy="336550"/>
          </a:xfrm>
          <a:prstGeom prst="rect">
            <a:avLst/>
          </a:prstGeom>
          <a:noFill/>
          <a:ln w="9525">
            <a:noFill/>
            <a:miter lim="800000"/>
          </a:ln>
        </p:spPr>
        <p:txBody>
          <a:bodyPr wrap="none" anchor="ctr">
            <a:spAutoFit/>
          </a:bodyPr>
          <a:lstStyle/>
          <a:p>
            <a:pPr algn="ctr">
              <a:spcBef>
                <a:spcPct val="20000"/>
              </a:spcBef>
              <a:buFont typeface="Wingdings" panose="05000000000000000000" pitchFamily="2" charset="2"/>
              <a:buNone/>
            </a:pPr>
            <a:r>
              <a:rPr lang="zh-CN" altLang="en-US" sz="1600" b="1"/>
              <a:t>图</a:t>
            </a:r>
            <a:r>
              <a:rPr lang="en-US" altLang="zh-CN" sz="1600" b="1"/>
              <a:t>1-9</a:t>
            </a:r>
            <a:r>
              <a:rPr lang="zh-CN" altLang="en-US" sz="1600" b="1"/>
              <a:t>黑客木马程序灰鸽子产业链</a:t>
            </a:r>
            <a:endParaRPr lang="zh-CN" altLang="en-US" sz="1600" b="1"/>
          </a:p>
        </p:txBody>
      </p:sp>
      <p:sp>
        <p:nvSpPr>
          <p:cNvPr id="19460" name="内容占位符 13"/>
          <p:cNvSpPr>
            <a:spLocks noChangeArrowheads="1"/>
          </p:cNvSpPr>
          <p:nvPr/>
        </p:nvSpPr>
        <p:spPr bwMode="auto">
          <a:xfrm>
            <a:off x="838200" y="1066800"/>
            <a:ext cx="6264275" cy="647700"/>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None/>
            </a:pPr>
            <a:r>
              <a:rPr lang="en-US" altLang="zh-CN" sz="2800" b="1">
                <a:solidFill>
                  <a:srgbClr val="FF0000"/>
                </a:solidFill>
                <a:latin typeface="宋体" panose="02010600030101010101" pitchFamily="2" charset="-122"/>
              </a:rPr>
              <a:t>1.1.1 </a:t>
            </a:r>
            <a:r>
              <a:rPr lang="zh-CN" altLang="en-US" sz="2800" b="1">
                <a:solidFill>
                  <a:srgbClr val="FF0000"/>
                </a:solidFill>
                <a:latin typeface="宋体" panose="02010600030101010101" pitchFamily="2" charset="-122"/>
              </a:rPr>
              <a:t>网络空间安全威胁及现状分析</a:t>
            </a:r>
            <a:endParaRPr lang="zh-CN" altLang="en-US" b="1">
              <a:solidFill>
                <a:srgbClr val="CC0000"/>
              </a:solidFill>
              <a:latin typeface="宋体" panose="02010600030101010101" pitchFamily="2" charset="-122"/>
            </a:endParaRPr>
          </a:p>
        </p:txBody>
      </p:sp>
      <p:sp>
        <p:nvSpPr>
          <p:cNvPr id="2" name="Rectangle 2"/>
          <p:cNvSpPr txBox="1">
            <a:spLocks noChangeArrowheads="1"/>
          </p:cNvSpPr>
          <p:nvPr/>
        </p:nvSpPr>
        <p:spPr bwMode="white">
          <a:xfrm>
            <a:off x="838200" y="152400"/>
            <a:ext cx="7327900" cy="563563"/>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en-US" altLang="zh-CN" sz="3200" dirty="0" smtClean="0">
                <a:solidFill>
                  <a:schemeClr val="bg1"/>
                </a:solidFill>
                <a:latin typeface="Verdana" panose="020B0604030504040204" pitchFamily="34" charset="0"/>
              </a:rPr>
              <a:t>1.1</a:t>
            </a:r>
            <a:r>
              <a:rPr lang="zh-CN" altLang="en-US" sz="3200" dirty="0" smtClean="0">
                <a:solidFill>
                  <a:schemeClr val="bg1"/>
                </a:solidFill>
                <a:latin typeface="Verdana" panose="020B0604030504040204" pitchFamily="34" charset="0"/>
              </a:rPr>
              <a:t> </a:t>
            </a:r>
            <a:r>
              <a:rPr lang="zh-CN" altLang="en-US" sz="3200" dirty="0" smtClean="0">
                <a:solidFill>
                  <a:schemeClr val="bg1"/>
                </a:solidFill>
                <a:effectLst>
                  <a:outerShdw blurRad="38100" dist="38100" dir="2700000" algn="tl">
                    <a:srgbClr val="C0C0C0"/>
                  </a:outerShdw>
                </a:effectLst>
                <a:latin typeface="Verdana" panose="020B0604030504040204" pitchFamily="34" charset="0"/>
              </a:rPr>
              <a:t>网络空间安全</a:t>
            </a:r>
            <a:r>
              <a:rPr lang="zh-CN" altLang="en-US" sz="3200" dirty="0" smtClean="0">
                <a:solidFill>
                  <a:schemeClr val="bg1"/>
                </a:solidFill>
                <a:effectLst>
                  <a:outerShdw blurRad="38100" dist="38100" dir="2700000" algn="tl">
                    <a:srgbClr val="C0C0C0"/>
                  </a:outerShdw>
                </a:effectLst>
              </a:rPr>
              <a:t>威胁及态势</a:t>
            </a:r>
            <a:endParaRPr lang="zh-CN" altLang="en-US" sz="3200" dirty="0" smtClean="0">
              <a:solidFill>
                <a:schemeClr val="bg1"/>
              </a:solidFill>
              <a:effectLst>
                <a:outerShdw blurRad="38100" dist="38100" dir="2700000" algn="tl">
                  <a:srgbClr val="C0C0C0"/>
                </a:outerShdw>
              </a:effectLst>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内容占位符 13"/>
          <p:cNvSpPr>
            <a:spLocks noGrp="1" noChangeArrowheads="1"/>
          </p:cNvSpPr>
          <p:nvPr>
            <p:ph idx="4294967295"/>
          </p:nvPr>
        </p:nvSpPr>
        <p:spPr>
          <a:xfrm>
            <a:off x="419100" y="1185863"/>
            <a:ext cx="8040688" cy="442912"/>
          </a:xfrm>
        </p:spPr>
        <p:txBody>
          <a:bodyPr/>
          <a:lstStyle/>
          <a:p>
            <a:pPr eaLnBrk="1" hangingPunct="1">
              <a:spcAft>
                <a:spcPts val="600"/>
              </a:spcAft>
              <a:buFont typeface="Wingdings" panose="05000000000000000000" pitchFamily="2" charset="2"/>
              <a:buNone/>
            </a:pPr>
            <a:endParaRPr lang="en-US" altLang="zh-CN" sz="2400" smtClean="0">
              <a:solidFill>
                <a:srgbClr val="FF0000"/>
              </a:solidFill>
              <a:latin typeface="Calibri" panose="020F0502020204030204" pitchFamily="34" charset="0"/>
              <a:ea typeface="黑体" panose="02010609060101010101" pitchFamily="49" charset="-122"/>
            </a:endParaRPr>
          </a:p>
          <a:p>
            <a:pPr eaLnBrk="1" hangingPunct="1">
              <a:buFont typeface="Wingdings" panose="05000000000000000000" pitchFamily="2" charset="2"/>
              <a:buNone/>
            </a:pPr>
            <a:r>
              <a:rPr lang="zh-CN" altLang="en-US" sz="1800" smtClean="0">
                <a:solidFill>
                  <a:srgbClr val="FF0000"/>
                </a:solidFill>
                <a:ea typeface="黑体" panose="02010609060101010101" pitchFamily="49" charset="-122"/>
              </a:rPr>
              <a:t> </a:t>
            </a:r>
            <a:endParaRPr lang="en-US" altLang="zh-CN" sz="1800" smtClean="0">
              <a:ea typeface="黑体" panose="02010609060101010101" pitchFamily="49" charset="-122"/>
            </a:endParaRPr>
          </a:p>
          <a:p>
            <a:pP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a typeface="黑体" panose="02010609060101010101" pitchFamily="49" charset="-122"/>
            </a:endParaRPr>
          </a:p>
          <a:p>
            <a:pP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a typeface="黑体" panose="02010609060101010101" pitchFamily="49" charset="-122"/>
            </a:endParaRPr>
          </a:p>
          <a:p>
            <a:pPr eaLnBrk="1" hangingPunct="1">
              <a:buFont typeface="Wingdings" panose="05000000000000000000" pitchFamily="2" charset="2"/>
              <a:buNone/>
            </a:pPr>
            <a:r>
              <a:rPr lang="zh-CN" altLang="en-US" sz="1800" smtClean="0">
                <a:solidFill>
                  <a:srgbClr val="0000CC"/>
                </a:solidFill>
                <a:latin typeface="Times New Roman" panose="02020603050405020304" pitchFamily="18" charset="0"/>
                <a:ea typeface="黑体" panose="02010609060101010101" pitchFamily="49" charset="-122"/>
              </a:rPr>
              <a:t>  </a:t>
            </a:r>
            <a:endParaRPr lang="en-US" altLang="zh-CN" sz="1800" smtClean="0">
              <a:solidFill>
                <a:schemeClr val="tx1"/>
              </a:solidFill>
              <a:latin typeface="Times New Roman" panose="02020603050405020304" pitchFamily="18" charset="0"/>
              <a:ea typeface="黑体" panose="02010609060101010101" pitchFamily="49" charset="-122"/>
            </a:endParaRPr>
          </a:p>
          <a:p>
            <a:pPr eaLnBrk="1" hangingPunct="1">
              <a:buFont typeface="Wingdings" panose="05000000000000000000" pitchFamily="2" charset="2"/>
              <a:buNone/>
            </a:pPr>
            <a:endParaRPr lang="en-US" altLang="zh-CN" sz="1800" smtClean="0">
              <a:ea typeface="黑体" panose="02010609060101010101" pitchFamily="49" charset="-122"/>
            </a:endParaRPr>
          </a:p>
        </p:txBody>
      </p:sp>
      <p:sp>
        <p:nvSpPr>
          <p:cNvPr id="19" name="圆角矩形 18"/>
          <p:cNvSpPr/>
          <p:nvPr/>
        </p:nvSpPr>
        <p:spPr bwMode="gray">
          <a:xfrm>
            <a:off x="233680" y="4023360"/>
            <a:ext cx="8677275" cy="263779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lnSpc>
                <a:spcPct val="90000"/>
              </a:lnSpc>
              <a:spcBef>
                <a:spcPct val="20000"/>
              </a:spcBef>
              <a:buFont typeface="Wingdings" panose="05000000000000000000" pitchFamily="2" charset="2"/>
              <a:buNone/>
              <a:defRPr/>
            </a:pPr>
            <a:r>
              <a:rPr lang="zh-CN" altLang="en-US" sz="2000" b="1" dirty="0">
                <a:solidFill>
                  <a:srgbClr val="FF0000"/>
                </a:solidFill>
                <a:latin typeface="Arial" panose="020B0604020202020204" pitchFamily="34" charset="0"/>
              </a:rPr>
              <a:t>主动攻击</a:t>
            </a:r>
            <a:r>
              <a:rPr lang="zh-CN" altLang="en-US" sz="2000" b="1" dirty="0">
                <a:solidFill>
                  <a:schemeClr val="tx1"/>
                </a:solidFill>
                <a:latin typeface="Arial" panose="020B0604020202020204" pitchFamily="34" charset="0"/>
              </a:rPr>
              <a:t>按照攻击方法不同，可分为中断、篡改和伪造。中断是指截获由原站发送的数据，将有效数据中断，使目的站无法接收到原站发送的数据；篡改是指将原站发送的目的站的数据进行篡改，从而影响目的站所接收的信息；伪造是指在原站未发送数据的情况下，伪造数据发送的目的站，从而影响目的站。</a:t>
            </a:r>
            <a:endParaRPr lang="zh-CN" altLang="en-US" sz="2000" b="1" dirty="0">
              <a:solidFill>
                <a:schemeClr val="tx1"/>
              </a:solidFill>
              <a:latin typeface="Arial" panose="020B0604020202020204" pitchFamily="34" charset="0"/>
            </a:endParaRPr>
          </a:p>
          <a:p>
            <a:pPr>
              <a:lnSpc>
                <a:spcPct val="90000"/>
              </a:lnSpc>
              <a:spcBef>
                <a:spcPct val="20000"/>
              </a:spcBef>
              <a:buFont typeface="Wingdings" panose="05000000000000000000" pitchFamily="2" charset="2"/>
              <a:buNone/>
              <a:defRPr/>
            </a:pPr>
            <a:r>
              <a:rPr lang="zh-CN" altLang="en-US" sz="2000" b="1" dirty="0">
                <a:solidFill>
                  <a:srgbClr val="FF0000"/>
                </a:solidFill>
                <a:latin typeface="Arial" panose="020B0604020202020204" pitchFamily="34" charset="0"/>
              </a:rPr>
              <a:t>被动攻击</a:t>
            </a:r>
            <a:r>
              <a:rPr lang="zh-CN" altLang="en-US" sz="2000" b="1" dirty="0">
                <a:solidFill>
                  <a:schemeClr val="tx1"/>
                </a:solidFill>
                <a:latin typeface="Arial" panose="020B0604020202020204" pitchFamily="34" charset="0"/>
              </a:rPr>
              <a:t>是攻击者不对数据信息做任何修改,截取/窃听是指在未经用户同意和认可的情况下攻击者获得了信息或相关数据的网络攻击。通常包括窃听、流量分析、破解弱加密的数据流等攻击方式，被动攻击，不会对其传输造成直接的影响，不易监测。</a:t>
            </a:r>
            <a:endParaRPr lang="zh-CN" altLang="en-US" sz="2000" b="1" dirty="0">
              <a:solidFill>
                <a:schemeClr val="tx1"/>
              </a:solidFill>
              <a:latin typeface="Arial" panose="020B0604020202020204" pitchFamily="34" charset="0"/>
            </a:endParaRPr>
          </a:p>
        </p:txBody>
      </p:sp>
      <p:sp>
        <p:nvSpPr>
          <p:cNvPr id="20483" name="内容占位符 13"/>
          <p:cNvSpPr>
            <a:spLocks noChangeArrowheads="1"/>
          </p:cNvSpPr>
          <p:nvPr/>
        </p:nvSpPr>
        <p:spPr bwMode="auto">
          <a:xfrm>
            <a:off x="576263" y="1089025"/>
            <a:ext cx="5867400" cy="503238"/>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None/>
            </a:pPr>
            <a:r>
              <a:rPr lang="en-US" altLang="zh-CN" sz="2800" b="1">
                <a:solidFill>
                  <a:srgbClr val="FF0000"/>
                </a:solidFill>
                <a:latin typeface="宋体" panose="02010600030101010101" pitchFamily="2" charset="-122"/>
              </a:rPr>
              <a:t>1.1.2 </a:t>
            </a:r>
            <a:r>
              <a:rPr lang="zh-CN" altLang="en-US" sz="2800" b="1">
                <a:solidFill>
                  <a:srgbClr val="FF0000"/>
                </a:solidFill>
                <a:latin typeface="宋体" panose="02010600030101010101" pitchFamily="2" charset="-122"/>
              </a:rPr>
              <a:t>网络安全威胁的种类及途径</a:t>
            </a:r>
            <a:endParaRPr lang="en-US" altLang="zh-CN" b="1">
              <a:solidFill>
                <a:srgbClr val="FF0000"/>
              </a:solidFill>
              <a:latin typeface="宋体" panose="02010600030101010101" pitchFamily="2" charset="-122"/>
            </a:endParaRPr>
          </a:p>
        </p:txBody>
      </p:sp>
      <p:sp>
        <p:nvSpPr>
          <p:cNvPr id="2" name="圆角矩形 18"/>
          <p:cNvSpPr/>
          <p:nvPr/>
        </p:nvSpPr>
        <p:spPr bwMode="gray">
          <a:xfrm>
            <a:off x="306070" y="1592263"/>
            <a:ext cx="8532813" cy="2339975"/>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spcBef>
                <a:spcPct val="20000"/>
              </a:spcBef>
              <a:defRPr/>
            </a:pPr>
            <a:r>
              <a:rPr lang="en-US" altLang="zh-CN" sz="2300" b="1">
                <a:solidFill>
                  <a:srgbClr val="CC0000"/>
                </a:solidFill>
                <a:latin typeface="Arial" panose="020B0604020202020204" pitchFamily="34" charset="0"/>
              </a:rPr>
              <a:t>     1. </a:t>
            </a:r>
            <a:r>
              <a:rPr lang="zh-CN" altLang="en-US" sz="2300" b="1">
                <a:solidFill>
                  <a:srgbClr val="CC0000"/>
                </a:solidFill>
                <a:latin typeface="Arial" panose="020B0604020202020204" pitchFamily="34" charset="0"/>
              </a:rPr>
              <a:t>网络安全主要威胁的种类</a:t>
            </a:r>
            <a:endParaRPr lang="zh-CN" altLang="en-US" sz="2300" b="1">
              <a:solidFill>
                <a:srgbClr val="CC0000"/>
              </a:solidFill>
              <a:latin typeface="Arial" panose="020B0604020202020204" pitchFamily="34" charset="0"/>
            </a:endParaRPr>
          </a:p>
          <a:p>
            <a:pPr>
              <a:spcBef>
                <a:spcPct val="20000"/>
              </a:spcBef>
              <a:defRPr/>
            </a:pPr>
            <a:r>
              <a:rPr lang="zh-CN" altLang="en-US" sz="2300" b="1">
                <a:solidFill>
                  <a:schemeClr val="tx1"/>
                </a:solidFill>
                <a:latin typeface="Arial" panose="020B0604020202020204" pitchFamily="34" charset="0"/>
              </a:rPr>
              <a:t>      </a:t>
            </a:r>
            <a:r>
              <a:rPr lang="zh-CN" altLang="en-US" sz="2300" b="1">
                <a:solidFill>
                  <a:srgbClr val="990033"/>
                </a:solidFill>
                <a:latin typeface="Arial" panose="020B0604020202020204" pitchFamily="34" charset="0"/>
              </a:rPr>
              <a:t>网络安全面临</a:t>
            </a:r>
            <a:r>
              <a:rPr lang="zh-CN" altLang="en-US" sz="2300" b="1">
                <a:solidFill>
                  <a:schemeClr val="tx1"/>
                </a:solidFill>
                <a:latin typeface="Arial" panose="020B0604020202020204" pitchFamily="34" charset="0"/>
              </a:rPr>
              <a:t>的</a:t>
            </a:r>
            <a:r>
              <a:rPr lang="zh-CN" altLang="en-US" sz="2300" b="1">
                <a:solidFill>
                  <a:srgbClr val="990033"/>
                </a:solidFill>
                <a:latin typeface="Arial" panose="020B0604020202020204" pitchFamily="34" charset="0"/>
              </a:rPr>
              <a:t>主要威胁受</a:t>
            </a:r>
            <a:r>
              <a:rPr lang="zh-CN" altLang="en-US" sz="2300" b="1">
                <a:solidFill>
                  <a:schemeClr val="tx1"/>
                </a:solidFill>
                <a:latin typeface="Arial" panose="020B0604020202020204" pitchFamily="34" charset="0"/>
              </a:rPr>
              <a:t>人为因素、网络系统（含软硬件及数据资源）和运行环境等影响。</a:t>
            </a:r>
            <a:r>
              <a:rPr lang="zh-CN" altLang="en-US" sz="2300" b="1">
                <a:solidFill>
                  <a:srgbClr val="CC0000"/>
                </a:solidFill>
                <a:latin typeface="Arial" panose="020B0604020202020204" pitchFamily="34" charset="0"/>
              </a:rPr>
              <a:t>网络安全威胁主要表现</a:t>
            </a:r>
            <a:r>
              <a:rPr lang="zh-CN" altLang="en-US" sz="2300" b="1">
                <a:solidFill>
                  <a:schemeClr val="tx1"/>
                </a:solidFill>
                <a:latin typeface="Arial" panose="020B0604020202020204" pitchFamily="34" charset="0"/>
              </a:rPr>
              <a:t>为：非法授权访问、窃听、黑客入侵、假冒合法用户、病毒破坏、干扰系统正常运行、篡改或破坏数据等。</a:t>
            </a:r>
            <a:r>
              <a:rPr lang="zh-CN" altLang="en-US" sz="2300" b="1">
                <a:solidFill>
                  <a:srgbClr val="CC0000"/>
                </a:solidFill>
                <a:latin typeface="Arial" panose="020B0604020202020204" pitchFamily="34" charset="0"/>
              </a:rPr>
              <a:t>威胁性攻击</a:t>
            </a:r>
            <a:r>
              <a:rPr lang="zh-CN" altLang="en-US" sz="2300" b="1">
                <a:solidFill>
                  <a:schemeClr val="tx1"/>
                </a:solidFill>
                <a:latin typeface="Arial" panose="020B0604020202020204" pitchFamily="34" charset="0"/>
              </a:rPr>
              <a:t>大致</a:t>
            </a:r>
            <a:r>
              <a:rPr lang="zh-CN" altLang="en-US" sz="2300" b="1" u="sng">
                <a:solidFill>
                  <a:srgbClr val="3333FF"/>
                </a:solidFill>
                <a:latin typeface="Arial" panose="020B0604020202020204" pitchFamily="34" charset="0"/>
              </a:rPr>
              <a:t>可分为</a:t>
            </a:r>
            <a:r>
              <a:rPr lang="zh-CN" altLang="en-US" sz="2300" b="1">
                <a:solidFill>
                  <a:schemeClr val="tx1"/>
                </a:solidFill>
                <a:latin typeface="Arial" panose="020B0604020202020204" pitchFamily="34" charset="0"/>
              </a:rPr>
              <a:t>主动攻击和被动攻击</a:t>
            </a:r>
            <a:r>
              <a:rPr lang="zh-CN" altLang="en-US" sz="2300" b="1">
                <a:solidFill>
                  <a:schemeClr val="tx2"/>
                </a:solidFill>
                <a:latin typeface="Arial" panose="020B0604020202020204" pitchFamily="34" charset="0"/>
              </a:rPr>
              <a:t>两大类</a:t>
            </a:r>
            <a:r>
              <a:rPr lang="zh-CN" altLang="en-US" sz="2300" b="1">
                <a:solidFill>
                  <a:schemeClr val="tx1"/>
                </a:solidFill>
                <a:latin typeface="Arial" panose="020B0604020202020204" pitchFamily="34" charset="0"/>
              </a:rPr>
              <a:t>。</a:t>
            </a:r>
            <a:endParaRPr lang="zh-CN" altLang="en-US" sz="2300" b="1">
              <a:solidFill>
                <a:schemeClr val="tx1"/>
              </a:solidFill>
              <a:latin typeface="Arial" panose="020B0604020202020204" pitchFamily="34" charset="0"/>
            </a:endParaRPr>
          </a:p>
        </p:txBody>
      </p:sp>
      <p:sp>
        <p:nvSpPr>
          <p:cNvPr id="7" name="Rectangle 2"/>
          <p:cNvSpPr txBox="1">
            <a:spLocks noChangeArrowheads="1"/>
          </p:cNvSpPr>
          <p:nvPr/>
        </p:nvSpPr>
        <p:spPr bwMode="white">
          <a:xfrm>
            <a:off x="838200" y="152400"/>
            <a:ext cx="7327900" cy="563563"/>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en-US" altLang="zh-CN" sz="3200" dirty="0" smtClean="0">
                <a:solidFill>
                  <a:schemeClr val="bg1"/>
                </a:solidFill>
                <a:latin typeface="Verdana" panose="020B0604030504040204" pitchFamily="34" charset="0"/>
              </a:rPr>
              <a:t>1.1</a:t>
            </a:r>
            <a:r>
              <a:rPr lang="zh-CN" altLang="en-US" sz="3200" dirty="0" smtClean="0">
                <a:solidFill>
                  <a:schemeClr val="bg1"/>
                </a:solidFill>
                <a:latin typeface="Verdana" panose="020B0604030504040204" pitchFamily="34" charset="0"/>
              </a:rPr>
              <a:t> </a:t>
            </a:r>
            <a:r>
              <a:rPr lang="zh-CN" altLang="en-US" sz="3200" dirty="0" smtClean="0">
                <a:solidFill>
                  <a:schemeClr val="bg1"/>
                </a:solidFill>
                <a:effectLst>
                  <a:outerShdw blurRad="38100" dist="38100" dir="2700000" algn="tl">
                    <a:srgbClr val="C0C0C0"/>
                  </a:outerShdw>
                </a:effectLst>
                <a:latin typeface="Verdana" panose="020B0604030504040204" pitchFamily="34" charset="0"/>
              </a:rPr>
              <a:t>网络空间安全</a:t>
            </a:r>
            <a:r>
              <a:rPr lang="zh-CN" altLang="en-US" sz="3200" dirty="0" smtClean="0">
                <a:solidFill>
                  <a:schemeClr val="bg1"/>
                </a:solidFill>
                <a:effectLst>
                  <a:outerShdw blurRad="38100" dist="38100" dir="2700000" algn="tl">
                    <a:srgbClr val="C0C0C0"/>
                  </a:outerShdw>
                </a:effectLst>
              </a:rPr>
              <a:t>威胁及态势</a:t>
            </a:r>
            <a:endParaRPr lang="zh-CN" altLang="en-US" sz="3200" dirty="0" smtClean="0">
              <a:solidFill>
                <a:schemeClr val="bg1"/>
              </a:solidFill>
              <a:effectLst>
                <a:outerShdw blurRad="38100" dist="38100" dir="2700000" algn="tl">
                  <a:srgbClr val="C0C0C0"/>
                </a:outerShdw>
              </a:effectLs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内容占位符 2"/>
          <p:cNvSpPr>
            <a:spLocks noGrp="1" noChangeArrowheads="1"/>
          </p:cNvSpPr>
          <p:nvPr>
            <p:ph idx="4294967295"/>
          </p:nvPr>
        </p:nvSpPr>
        <p:spPr>
          <a:xfrm>
            <a:off x="611188" y="1052513"/>
            <a:ext cx="8153400" cy="701675"/>
          </a:xfrm>
        </p:spPr>
        <p:txBody>
          <a:bodyPr/>
          <a:lstStyle/>
          <a:p>
            <a:pPr eaLnBrk="1" hangingPunct="1">
              <a:buFont typeface="Wingdings" panose="05000000000000000000" pitchFamily="2" charset="2"/>
              <a:buNone/>
            </a:pPr>
            <a:r>
              <a:rPr lang="zh-CN" altLang="en-US" sz="2400" b="0" smtClean="0">
                <a:solidFill>
                  <a:srgbClr val="FF0000"/>
                </a:solidFill>
              </a:rPr>
              <a:t> </a:t>
            </a:r>
            <a:r>
              <a:rPr lang="zh-CN" altLang="en-US" sz="2400" smtClean="0">
                <a:solidFill>
                  <a:srgbClr val="990033"/>
                </a:solidFill>
              </a:rPr>
              <a:t>网络安全</a:t>
            </a:r>
            <a:r>
              <a:rPr lang="zh-CN" altLang="en-US" sz="2400" smtClean="0">
                <a:solidFill>
                  <a:srgbClr val="FF0000"/>
                </a:solidFill>
              </a:rPr>
              <a:t>面临主要威胁的种类</a:t>
            </a:r>
            <a:r>
              <a:rPr lang="zh-CN" altLang="en-US" sz="2400" smtClean="0">
                <a:solidFill>
                  <a:schemeClr val="tx1"/>
                </a:solidFill>
              </a:rPr>
              <a:t>，如表</a:t>
            </a:r>
            <a:r>
              <a:rPr lang="en-US" altLang="zh-CN" sz="2400" smtClean="0">
                <a:solidFill>
                  <a:schemeClr val="tx1"/>
                </a:solidFill>
              </a:rPr>
              <a:t>1-1</a:t>
            </a:r>
            <a:r>
              <a:rPr lang="zh-CN" altLang="en-US" sz="2400" smtClean="0">
                <a:solidFill>
                  <a:schemeClr val="tx1"/>
                </a:solidFill>
              </a:rPr>
              <a:t>所示。</a:t>
            </a:r>
            <a:endParaRPr lang="zh-CN" altLang="en-US" sz="2400" smtClean="0">
              <a:solidFill>
                <a:schemeClr val="tx1"/>
              </a:solidFill>
            </a:endParaRPr>
          </a:p>
          <a:p>
            <a:pPr eaLnBrk="1" hangingPunct="1">
              <a:buFont typeface="Wingdings" panose="05000000000000000000" pitchFamily="2" charset="2"/>
              <a:buNone/>
            </a:pPr>
            <a:r>
              <a:rPr lang="zh-CN" altLang="en-US" sz="2000" b="0" smtClean="0"/>
              <a:t>                  </a:t>
            </a:r>
            <a:r>
              <a:rPr lang="zh-CN" altLang="en-US" sz="2000" smtClean="0">
                <a:solidFill>
                  <a:srgbClr val="CC0000"/>
                </a:solidFill>
              </a:rPr>
              <a:t>表</a:t>
            </a:r>
            <a:r>
              <a:rPr lang="en-US" altLang="zh-CN" sz="2000" smtClean="0">
                <a:solidFill>
                  <a:srgbClr val="CC0000"/>
                </a:solidFill>
              </a:rPr>
              <a:t>1-1 </a:t>
            </a:r>
            <a:r>
              <a:rPr lang="zh-CN" altLang="en-US" sz="2000" smtClean="0">
                <a:solidFill>
                  <a:srgbClr val="CC0000"/>
                </a:solidFill>
              </a:rPr>
              <a:t>网络安全的主要威胁种类</a:t>
            </a:r>
            <a:r>
              <a:rPr lang="zh-CN" altLang="en-US" sz="1400" smtClean="0">
                <a:solidFill>
                  <a:schemeClr val="tx1"/>
                </a:solidFill>
              </a:rPr>
              <a:t>  </a:t>
            </a:r>
            <a:endParaRPr lang="zh-CN" altLang="en-US" sz="1400" smtClean="0">
              <a:solidFill>
                <a:schemeClr val="tx1"/>
              </a:solidFill>
            </a:endParaRPr>
          </a:p>
        </p:txBody>
      </p:sp>
      <p:pic>
        <p:nvPicPr>
          <p:cNvPr id="21506" name="Picture 79"/>
          <p:cNvPicPr>
            <a:picLocks noChangeAspect="1" noChangeArrowheads="1"/>
          </p:cNvPicPr>
          <p:nvPr/>
        </p:nvPicPr>
        <p:blipFill>
          <a:blip r:embed="rId1" cstate="print"/>
          <a:srcRect/>
          <a:stretch>
            <a:fillRect/>
          </a:stretch>
        </p:blipFill>
        <p:spPr bwMode="auto">
          <a:xfrm>
            <a:off x="2411413" y="1808163"/>
            <a:ext cx="4619625" cy="5049837"/>
          </a:xfrm>
          <a:prstGeom prst="rect">
            <a:avLst/>
          </a:prstGeom>
          <a:noFill/>
          <a:ln w="9525">
            <a:noFill/>
            <a:miter lim="800000"/>
            <a:headEnd/>
            <a:tailEnd/>
          </a:ln>
        </p:spPr>
      </p:pic>
      <p:sp>
        <p:nvSpPr>
          <p:cNvPr id="7" name="Rectangle 2"/>
          <p:cNvSpPr txBox="1">
            <a:spLocks noChangeArrowheads="1"/>
          </p:cNvSpPr>
          <p:nvPr/>
        </p:nvSpPr>
        <p:spPr bwMode="white">
          <a:xfrm>
            <a:off x="838200" y="152400"/>
            <a:ext cx="7327900" cy="563563"/>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en-US" altLang="zh-CN" sz="3200" dirty="0" smtClean="0">
                <a:solidFill>
                  <a:schemeClr val="bg1"/>
                </a:solidFill>
                <a:latin typeface="Verdana" panose="020B0604030504040204" pitchFamily="34" charset="0"/>
              </a:rPr>
              <a:t>1.1</a:t>
            </a:r>
            <a:r>
              <a:rPr lang="zh-CN" altLang="en-US" sz="3200" dirty="0" smtClean="0">
                <a:solidFill>
                  <a:schemeClr val="bg1"/>
                </a:solidFill>
                <a:latin typeface="Verdana" panose="020B0604030504040204" pitchFamily="34" charset="0"/>
              </a:rPr>
              <a:t> </a:t>
            </a:r>
            <a:r>
              <a:rPr lang="zh-CN" altLang="en-US" sz="3200" dirty="0" smtClean="0">
                <a:solidFill>
                  <a:schemeClr val="bg1"/>
                </a:solidFill>
                <a:effectLst>
                  <a:outerShdw blurRad="38100" dist="38100" dir="2700000" algn="tl">
                    <a:srgbClr val="C0C0C0"/>
                  </a:outerShdw>
                </a:effectLst>
                <a:latin typeface="Verdana" panose="020B0604030504040204" pitchFamily="34" charset="0"/>
              </a:rPr>
              <a:t>网络空间安全</a:t>
            </a:r>
            <a:r>
              <a:rPr lang="zh-CN" altLang="en-US" sz="3200" dirty="0" smtClean="0">
                <a:solidFill>
                  <a:schemeClr val="bg1"/>
                </a:solidFill>
                <a:effectLst>
                  <a:outerShdw blurRad="38100" dist="38100" dir="2700000" algn="tl">
                    <a:srgbClr val="C0C0C0"/>
                  </a:outerShdw>
                </a:effectLst>
              </a:rPr>
              <a:t>威胁及态势</a:t>
            </a:r>
            <a:endParaRPr lang="zh-CN" altLang="en-US" sz="3200" dirty="0" smtClean="0">
              <a:solidFill>
                <a:schemeClr val="bg1"/>
              </a:solidFill>
              <a:effectLst>
                <a:outerShdw blurRad="38100" dist="38100" dir="2700000" algn="tl">
                  <a:srgbClr val="C0C0C0"/>
                </a:outerShdw>
              </a:effectLst>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内容占位符 13"/>
          <p:cNvSpPr>
            <a:spLocks noChangeArrowheads="1"/>
          </p:cNvSpPr>
          <p:nvPr/>
        </p:nvSpPr>
        <p:spPr bwMode="auto">
          <a:xfrm>
            <a:off x="863600" y="1125538"/>
            <a:ext cx="4643438" cy="503237"/>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None/>
            </a:pPr>
            <a:r>
              <a:rPr lang="en-US" altLang="zh-CN" sz="2800" b="1">
                <a:solidFill>
                  <a:srgbClr val="CC0000"/>
                </a:solidFill>
                <a:latin typeface="宋体" panose="02010600030101010101" pitchFamily="2" charset="-122"/>
              </a:rPr>
              <a:t>2.</a:t>
            </a:r>
            <a:r>
              <a:rPr lang="zh-CN" altLang="en-US" sz="2800" b="1">
                <a:solidFill>
                  <a:srgbClr val="CC0000"/>
                </a:solidFill>
                <a:latin typeface="宋体" panose="02010600030101010101" pitchFamily="2" charset="-122"/>
              </a:rPr>
              <a:t>网络安全威胁的主要途径</a:t>
            </a:r>
            <a:endParaRPr lang="en-US" altLang="zh-CN" b="1">
              <a:solidFill>
                <a:srgbClr val="CC0000"/>
              </a:solidFill>
              <a:latin typeface="宋体" panose="02010600030101010101" pitchFamily="2" charset="-122"/>
            </a:endParaRPr>
          </a:p>
        </p:txBody>
      </p:sp>
      <p:sp>
        <p:nvSpPr>
          <p:cNvPr id="22530" name="Rectangle 10"/>
          <p:cNvSpPr>
            <a:spLocks noChangeArrowheads="1"/>
          </p:cNvSpPr>
          <p:nvPr/>
        </p:nvSpPr>
        <p:spPr bwMode="auto">
          <a:xfrm>
            <a:off x="4479925" y="4119563"/>
            <a:ext cx="541338" cy="334962"/>
          </a:xfrm>
          <a:prstGeom prst="rect">
            <a:avLst/>
          </a:prstGeom>
          <a:noFill/>
          <a:ln w="9525">
            <a:noFill/>
            <a:miter lim="800000"/>
          </a:ln>
        </p:spPr>
        <p:txBody>
          <a:bodyPr lIns="74295" tIns="8890" rIns="74295" bIns="8890"/>
          <a:lstStyle/>
          <a:p>
            <a:pPr>
              <a:spcBef>
                <a:spcPct val="20000"/>
              </a:spcBef>
              <a:buFont typeface="Wingdings" panose="05000000000000000000" pitchFamily="2" charset="2"/>
              <a:buNone/>
            </a:pPr>
            <a:endParaRPr lang="zh-CN" altLang="en-US" b="1"/>
          </a:p>
        </p:txBody>
      </p:sp>
      <p:sp>
        <p:nvSpPr>
          <p:cNvPr id="22531" name="Rectangle 12"/>
          <p:cNvSpPr>
            <a:spLocks noChangeArrowheads="1"/>
          </p:cNvSpPr>
          <p:nvPr/>
        </p:nvSpPr>
        <p:spPr bwMode="auto">
          <a:xfrm>
            <a:off x="0" y="2405063"/>
            <a:ext cx="9144000" cy="0"/>
          </a:xfrm>
          <a:prstGeom prst="rect">
            <a:avLst/>
          </a:prstGeom>
          <a:noFill/>
          <a:ln w="9525">
            <a:noFill/>
            <a:miter lim="800000"/>
          </a:ln>
        </p:spPr>
        <p:txBody>
          <a:bodyPr wrap="none" anchor="ctr">
            <a:spAutoFit/>
          </a:bodyPr>
          <a:lstStyle/>
          <a:p>
            <a:pPr algn="dist">
              <a:spcBef>
                <a:spcPct val="20000"/>
              </a:spcBef>
              <a:buFont typeface="Wingdings" panose="05000000000000000000" pitchFamily="2" charset="2"/>
              <a:buNone/>
            </a:pPr>
            <a:endParaRPr lang="zh-CN" altLang="en-US"/>
          </a:p>
        </p:txBody>
      </p:sp>
      <p:sp>
        <p:nvSpPr>
          <p:cNvPr id="22532" name="Rectangle 13"/>
          <p:cNvSpPr>
            <a:spLocks noChangeArrowheads="1"/>
          </p:cNvSpPr>
          <p:nvPr/>
        </p:nvSpPr>
        <p:spPr bwMode="auto">
          <a:xfrm>
            <a:off x="0" y="4119563"/>
            <a:ext cx="9144000" cy="0"/>
          </a:xfrm>
          <a:prstGeom prst="rect">
            <a:avLst/>
          </a:prstGeom>
          <a:noFill/>
          <a:ln w="9525">
            <a:noFill/>
            <a:miter lim="800000"/>
          </a:ln>
        </p:spPr>
        <p:txBody>
          <a:bodyPr wrap="none" anchor="ctr">
            <a:spAutoFit/>
          </a:bodyPr>
          <a:lstStyle/>
          <a:p>
            <a:pPr algn="dist">
              <a:spcBef>
                <a:spcPct val="20000"/>
              </a:spcBef>
              <a:buFont typeface="Wingdings" panose="05000000000000000000" pitchFamily="2" charset="2"/>
              <a:buNone/>
            </a:pPr>
            <a:endParaRPr lang="zh-CN" altLang="en-US"/>
          </a:p>
        </p:txBody>
      </p:sp>
      <p:sp>
        <p:nvSpPr>
          <p:cNvPr id="19" name="圆角矩形 18"/>
          <p:cNvSpPr/>
          <p:nvPr/>
        </p:nvSpPr>
        <p:spPr bwMode="gray">
          <a:xfrm>
            <a:off x="539750" y="1665288"/>
            <a:ext cx="8208963" cy="2124075"/>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spcBef>
                <a:spcPct val="20000"/>
              </a:spcBef>
              <a:defRPr/>
            </a:pPr>
            <a:r>
              <a:rPr lang="zh-CN" altLang="en-US" b="1" dirty="0">
                <a:solidFill>
                  <a:schemeClr val="tx1"/>
                </a:solidFill>
                <a:latin typeface="Arial" panose="020B0604020202020204" pitchFamily="34" charset="0"/>
              </a:rPr>
              <a:t>       世界各种网络被入侵攻击的事件频发，其</a:t>
            </a:r>
            <a:r>
              <a:rPr lang="zh-CN" altLang="en-US" b="1" dirty="0">
                <a:solidFill>
                  <a:srgbClr val="CC0000"/>
                </a:solidFill>
                <a:latin typeface="Arial" panose="020B0604020202020204" pitchFamily="34" charset="0"/>
              </a:rPr>
              <a:t>途径种类各异且变化多端</a:t>
            </a:r>
            <a:r>
              <a:rPr lang="zh-CN" altLang="en-US" b="1" dirty="0">
                <a:solidFill>
                  <a:schemeClr val="tx1"/>
                </a:solidFill>
                <a:latin typeface="Arial" panose="020B0604020202020204" pitchFamily="34" charset="0"/>
              </a:rPr>
              <a:t>。目前，大量网络系统的功能、网络资源和应用服务等已经成为</a:t>
            </a:r>
            <a:r>
              <a:rPr lang="zh-CN" altLang="en-US" b="1" dirty="0">
                <a:solidFill>
                  <a:srgbClr val="990033"/>
                </a:solidFill>
                <a:latin typeface="Arial" panose="020B0604020202020204" pitchFamily="34" charset="0"/>
              </a:rPr>
              <a:t>黑客</a:t>
            </a:r>
            <a:r>
              <a:rPr lang="zh-CN" altLang="en-US" b="1" u="sng" dirty="0">
                <a:solidFill>
                  <a:srgbClr val="CC0000"/>
                </a:solidFill>
                <a:latin typeface="Arial" panose="020B0604020202020204" pitchFamily="34" charset="0"/>
              </a:rPr>
              <a:t>攻击的主要目标</a:t>
            </a:r>
            <a:r>
              <a:rPr lang="zh-CN" altLang="en-US" b="1" dirty="0">
                <a:solidFill>
                  <a:schemeClr val="tx1"/>
                </a:solidFill>
                <a:latin typeface="Arial" panose="020B0604020202020204" pitchFamily="34" charset="0"/>
              </a:rPr>
              <a:t>。</a:t>
            </a:r>
            <a:r>
              <a:rPr lang="zh-CN" altLang="en-US" b="1" dirty="0">
                <a:solidFill>
                  <a:srgbClr val="CC0000"/>
                </a:solidFill>
                <a:latin typeface="Arial" panose="020B0604020202020204" pitchFamily="34" charset="0"/>
              </a:rPr>
              <a:t>网络的主要应用</a:t>
            </a:r>
            <a:r>
              <a:rPr lang="zh-CN" altLang="en-US" b="1" dirty="0">
                <a:solidFill>
                  <a:schemeClr val="tx1"/>
                </a:solidFill>
                <a:latin typeface="Arial" panose="020B0604020202020204" pitchFamily="34" charset="0"/>
              </a:rPr>
              <a:t>包括：电子商务、网上银行、股票、证券、即时通信、邮件、网游、下载文件等</a:t>
            </a:r>
            <a:r>
              <a:rPr lang="zh-CN" altLang="en-US" b="1" dirty="0">
                <a:solidFill>
                  <a:srgbClr val="990033"/>
                </a:solidFill>
                <a:latin typeface="Arial" panose="020B0604020202020204" pitchFamily="34" charset="0"/>
              </a:rPr>
              <a:t>都存在大量安全隐患</a:t>
            </a:r>
            <a:r>
              <a:rPr lang="zh-CN" altLang="en-US" b="1" dirty="0">
                <a:solidFill>
                  <a:schemeClr val="tx1"/>
                </a:solidFill>
                <a:latin typeface="Arial" panose="020B0604020202020204" pitchFamily="34" charset="0"/>
              </a:rPr>
              <a:t>。</a:t>
            </a:r>
            <a:endParaRPr lang="zh-CN" altLang="en-US" b="1" dirty="0">
              <a:solidFill>
                <a:schemeClr val="tx1"/>
              </a:solidFill>
              <a:latin typeface="Arial" panose="020B0604020202020204" pitchFamily="34" charset="0"/>
            </a:endParaRPr>
          </a:p>
        </p:txBody>
      </p:sp>
      <p:sp>
        <p:nvSpPr>
          <p:cNvPr id="22534" name="自选图形 844"/>
          <p:cNvSpPr>
            <a:spLocks noChangeArrowheads="1"/>
          </p:cNvSpPr>
          <p:nvPr/>
        </p:nvSpPr>
        <p:spPr bwMode="auto">
          <a:xfrm>
            <a:off x="503238" y="3968750"/>
            <a:ext cx="8208962" cy="2627313"/>
          </a:xfrm>
          <a:prstGeom prst="flowChartAlternateProcess">
            <a:avLst/>
          </a:prstGeom>
          <a:noFill/>
          <a:ln w="31750">
            <a:solidFill>
              <a:schemeClr val="tx1"/>
            </a:solidFill>
            <a:prstDash val="lgDashDot"/>
            <a:miter lim="800000"/>
          </a:ln>
        </p:spPr>
        <p:txBody>
          <a:bodyPr lIns="74295" tIns="8890" rIns="74295" bIns="8890"/>
          <a:lstStyle/>
          <a:p>
            <a:pPr>
              <a:lnSpc>
                <a:spcPct val="90000"/>
              </a:lnSpc>
              <a:spcBef>
                <a:spcPct val="20000"/>
              </a:spcBef>
              <a:buFont typeface="Wingdings" panose="05000000000000000000" pitchFamily="2" charset="2"/>
              <a:buNone/>
            </a:pPr>
            <a:r>
              <a:rPr lang="zh-CN" altLang="en-US" sz="2200" b="1">
                <a:latin typeface="Times New Roman" panose="02020603050405020304" pitchFamily="18" charset="0"/>
                <a:ea typeface="楷体_GB2312" pitchFamily="49" charset="-122"/>
              </a:rPr>
              <a:t>                           </a:t>
            </a:r>
            <a:r>
              <a:rPr lang="zh-CN" altLang="en-US" sz="2200" b="1">
                <a:solidFill>
                  <a:srgbClr val="CC0000"/>
                </a:solidFill>
                <a:latin typeface="楷体" panose="02010609060101010101" charset="-122"/>
                <a:ea typeface="楷体" panose="02010609060101010101" charset="-122"/>
              </a:rPr>
              <a:t>中国已成为被监控重要目标</a:t>
            </a:r>
            <a:r>
              <a:rPr lang="en-US" altLang="zh-CN" sz="2200" b="1">
                <a:solidFill>
                  <a:srgbClr val="CC0000"/>
                </a:solidFill>
                <a:latin typeface="楷体" panose="02010609060101010101" charset="-122"/>
                <a:ea typeface="楷体" panose="02010609060101010101" charset="-122"/>
              </a:rPr>
              <a:t>,</a:t>
            </a:r>
            <a:r>
              <a:rPr lang="zh-CN" altLang="en-US" sz="2200" b="1">
                <a:solidFill>
                  <a:srgbClr val="CC0000"/>
                </a:solidFill>
                <a:latin typeface="楷体" panose="02010609060101010101" charset="-122"/>
                <a:ea typeface="楷体" panose="02010609060101010101" charset="-122"/>
              </a:rPr>
              <a:t>脱网也会被攻击</a:t>
            </a:r>
            <a:r>
              <a:rPr lang="en-US" altLang="zh-CN" sz="2200" b="1">
                <a:latin typeface="楷体" panose="02010609060101010101" charset="-122"/>
                <a:ea typeface="楷体" panose="02010609060101010101" charset="-122"/>
              </a:rPr>
              <a:t>.</a:t>
            </a:r>
            <a:r>
              <a:rPr lang="zh-CN" altLang="en-US" sz="2200" b="1">
                <a:latin typeface="楷体" panose="02010609060101010101" charset="-122"/>
                <a:ea typeface="楷体" panose="02010609060101010101" charset="-122"/>
              </a:rPr>
              <a:t> </a:t>
            </a:r>
            <a:r>
              <a:rPr lang="en-US" altLang="zh-CN" sz="2200" b="1">
                <a:latin typeface="楷体" panose="02010609060101010101" charset="-122"/>
                <a:ea typeface="楷体" panose="02010609060101010101" charset="-122"/>
              </a:rPr>
              <a:t>《</a:t>
            </a:r>
            <a:r>
              <a:rPr lang="zh-CN" altLang="en-US" sz="2200" b="1">
                <a:latin typeface="楷体" panose="02010609060101010101" charset="-122"/>
                <a:ea typeface="楷体" panose="02010609060101010101" charset="-122"/>
              </a:rPr>
              <a:t>纽约时报</a:t>
            </a:r>
            <a:r>
              <a:rPr lang="en-US" altLang="zh-CN" sz="2200" b="1">
                <a:latin typeface="楷体" panose="02010609060101010101" charset="-122"/>
                <a:ea typeface="楷体" panose="02010609060101010101" charset="-122"/>
              </a:rPr>
              <a:t>》2014</a:t>
            </a:r>
            <a:r>
              <a:rPr lang="zh-CN" altLang="en-US" sz="2200" b="1">
                <a:latin typeface="楷体" panose="02010609060101010101" charset="-122"/>
                <a:ea typeface="楷体" panose="02010609060101010101" charset="-122"/>
              </a:rPr>
              <a:t>年</a:t>
            </a:r>
            <a:r>
              <a:rPr lang="en-US" altLang="zh-CN" sz="2200" b="1">
                <a:latin typeface="楷体" panose="02010609060101010101" charset="-122"/>
                <a:ea typeface="楷体" panose="02010609060101010101" charset="-122"/>
              </a:rPr>
              <a:t>1</a:t>
            </a:r>
            <a:r>
              <a:rPr lang="zh-CN" altLang="en-US" sz="2200" b="1">
                <a:latin typeface="楷体" panose="02010609060101010101" charset="-122"/>
                <a:ea typeface="楷体" panose="02010609060101010101" charset="-122"/>
              </a:rPr>
              <a:t>月曝光了</a:t>
            </a:r>
            <a:r>
              <a:rPr lang="zh-CN" altLang="en-US" sz="2200" b="1">
                <a:solidFill>
                  <a:srgbClr val="CC0000"/>
                </a:solidFill>
                <a:latin typeface="楷体" panose="02010609060101010101" charset="-122"/>
                <a:ea typeface="楷体" panose="02010609060101010101" charset="-122"/>
              </a:rPr>
              <a:t>美国国家安全局</a:t>
            </a:r>
            <a:r>
              <a:rPr lang="en-US" altLang="zh-CN" sz="2200" b="1">
                <a:latin typeface="楷体" panose="02010609060101010101" charset="-122"/>
                <a:ea typeface="楷体" panose="02010609060101010101" charset="-122"/>
              </a:rPr>
              <a:t>NSA</a:t>
            </a:r>
            <a:r>
              <a:rPr lang="zh-CN" altLang="en-US" sz="2200" b="1" u="sng">
                <a:solidFill>
                  <a:srgbClr val="3333FF"/>
                </a:solidFill>
                <a:latin typeface="楷体" panose="02010609060101010101" charset="-122"/>
                <a:ea typeface="楷体" panose="02010609060101010101" charset="-122"/>
              </a:rPr>
              <a:t>“量子”项目</a:t>
            </a:r>
            <a:r>
              <a:rPr lang="en-US" altLang="zh-CN" sz="2200" b="1">
                <a:latin typeface="楷体" panose="02010609060101010101" charset="-122"/>
                <a:ea typeface="楷体" panose="02010609060101010101" charset="-122"/>
              </a:rPr>
              <a:t>,</a:t>
            </a:r>
            <a:r>
              <a:rPr lang="zh-CN" altLang="en-US" sz="2200" b="1">
                <a:solidFill>
                  <a:srgbClr val="CC0000"/>
                </a:solidFill>
                <a:latin typeface="楷体" panose="02010609060101010101" charset="-122"/>
                <a:ea typeface="楷体" panose="02010609060101010101" charset="-122"/>
              </a:rPr>
              <a:t> </a:t>
            </a:r>
            <a:r>
              <a:rPr lang="zh-CN" altLang="en-US" sz="2200" b="1">
                <a:latin typeface="楷体" panose="02010609060101010101" charset="-122"/>
                <a:ea typeface="楷体" panose="02010609060101010101" charset="-122"/>
              </a:rPr>
              <a:t>将一种秘密技术植入脱网的电脑</a:t>
            </a:r>
            <a:r>
              <a:rPr lang="en-US" altLang="zh-CN" sz="2200" b="1">
                <a:latin typeface="楷体" panose="02010609060101010101" charset="-122"/>
                <a:ea typeface="楷体" panose="02010609060101010101" charset="-122"/>
              </a:rPr>
              <a:t>,</a:t>
            </a:r>
            <a:r>
              <a:rPr lang="zh-CN" altLang="en-US" sz="2200" b="1">
                <a:latin typeface="楷体" panose="02010609060101010101" charset="-122"/>
                <a:ea typeface="楷体" panose="02010609060101010101" charset="-122"/>
              </a:rPr>
              <a:t>并对其数据进行更改。</a:t>
            </a:r>
            <a:r>
              <a:rPr lang="en-US" altLang="zh-CN" sz="2200" b="1">
                <a:latin typeface="楷体" panose="02010609060101010101" charset="-122"/>
                <a:ea typeface="楷体" panose="02010609060101010101" charset="-122"/>
              </a:rPr>
              <a:t>2008</a:t>
            </a:r>
            <a:r>
              <a:rPr lang="zh-CN" altLang="en-US" sz="2200" b="1">
                <a:latin typeface="楷体" panose="02010609060101010101" charset="-122"/>
                <a:ea typeface="楷体" panose="02010609060101010101" charset="-122"/>
              </a:rPr>
              <a:t>年以来一直使用安装在电脑内微电路板和</a:t>
            </a:r>
            <a:r>
              <a:rPr lang="en-US" altLang="zh-CN" sz="2200" b="1">
                <a:latin typeface="楷体" panose="02010609060101010101" charset="-122"/>
                <a:ea typeface="楷体" panose="02010609060101010101" charset="-122"/>
              </a:rPr>
              <a:t>USB</a:t>
            </a:r>
            <a:r>
              <a:rPr lang="zh-CN" altLang="en-US" sz="2200" b="1">
                <a:latin typeface="楷体" panose="02010609060101010101" charset="-122"/>
                <a:ea typeface="楷体" panose="02010609060101010101" charset="-122"/>
              </a:rPr>
              <a:t>连线发送秘密无线电波实现监视</a:t>
            </a:r>
            <a:r>
              <a:rPr lang="en-US" altLang="zh-CN" sz="2200" b="1">
                <a:latin typeface="楷体" panose="02010609060101010101" charset="-122"/>
                <a:ea typeface="楷体" panose="02010609060101010101" charset="-122"/>
              </a:rPr>
              <a:t>,</a:t>
            </a:r>
            <a:r>
              <a:rPr lang="zh-CN" altLang="en-US" sz="2200" b="1">
                <a:latin typeface="楷体" panose="02010609060101010101" charset="-122"/>
                <a:ea typeface="楷体" panose="02010609060101010101" charset="-122"/>
              </a:rPr>
              <a:t>已在全球</a:t>
            </a:r>
            <a:r>
              <a:rPr lang="en-US" altLang="zh-CN" sz="2200" b="1">
                <a:latin typeface="楷体" panose="02010609060101010101" charset="-122"/>
                <a:ea typeface="楷体" panose="02010609060101010101" charset="-122"/>
              </a:rPr>
              <a:t>10</a:t>
            </a:r>
            <a:r>
              <a:rPr lang="zh-CN" altLang="en-US" sz="2200" b="1">
                <a:latin typeface="楷体" panose="02010609060101010101" charset="-122"/>
                <a:ea typeface="楷体" panose="02010609060101010101" charset="-122"/>
              </a:rPr>
              <a:t>万台电脑上植入其软件，最重要的监控对象包括中国军方。</a:t>
            </a:r>
            <a:r>
              <a:rPr lang="zh-CN" altLang="en-US" sz="2200" b="1">
                <a:solidFill>
                  <a:srgbClr val="990033"/>
                </a:solidFill>
                <a:latin typeface="楷体" panose="02010609060101010101" charset="-122"/>
                <a:ea typeface="楷体" panose="02010609060101010101" charset="-122"/>
              </a:rPr>
              <a:t>美国专家</a:t>
            </a:r>
            <a:r>
              <a:rPr lang="zh-CN" altLang="en-US" sz="2200" b="1">
                <a:latin typeface="楷体" panose="02010609060101010101" charset="-122"/>
                <a:ea typeface="楷体" panose="02010609060101010101" charset="-122"/>
              </a:rPr>
              <a:t>以“肆无忌惮”</a:t>
            </a:r>
            <a:r>
              <a:rPr lang="zh-CN" altLang="en-US" sz="2200" b="1">
                <a:solidFill>
                  <a:srgbClr val="990033"/>
                </a:solidFill>
                <a:latin typeface="楷体" panose="02010609060101010101" charset="-122"/>
                <a:ea typeface="楷体" panose="02010609060101010101" charset="-122"/>
              </a:rPr>
              <a:t>评价</a:t>
            </a:r>
            <a:r>
              <a:rPr lang="en-US" altLang="zh-CN" sz="2200" b="1">
                <a:latin typeface="楷体" panose="02010609060101010101" charset="-122"/>
                <a:ea typeface="楷体" panose="02010609060101010101" charset="-122"/>
              </a:rPr>
              <a:t>NSA</a:t>
            </a:r>
            <a:r>
              <a:rPr lang="zh-CN" altLang="en-US" sz="2200" b="1">
                <a:latin typeface="楷体" panose="02010609060101010101" charset="-122"/>
                <a:ea typeface="楷体" panose="02010609060101010101" charset="-122"/>
              </a:rPr>
              <a:t>的行为</a:t>
            </a:r>
            <a:r>
              <a:rPr lang="en-US" altLang="zh-CN" sz="2200" b="1">
                <a:latin typeface="楷体" panose="02010609060101010101" charset="-122"/>
                <a:ea typeface="楷体" panose="02010609060101010101" charset="-122"/>
              </a:rPr>
              <a:t>,</a:t>
            </a:r>
            <a:r>
              <a:rPr lang="zh-CN" altLang="en-US" sz="2200" b="1">
                <a:latin typeface="楷体" panose="02010609060101010101" charset="-122"/>
                <a:ea typeface="楷体" panose="02010609060101010101" charset="-122"/>
              </a:rPr>
              <a:t>称“白宫曾义正词严地批评中国黑客盗取我们的军事、商业机密</a:t>
            </a:r>
            <a:r>
              <a:rPr lang="en-US" altLang="zh-CN" sz="2200" b="1">
                <a:latin typeface="楷体" panose="02010609060101010101" charset="-122"/>
                <a:ea typeface="楷体" panose="02010609060101010101" charset="-122"/>
              </a:rPr>
              <a:t>,</a:t>
            </a:r>
            <a:r>
              <a:rPr lang="zh-CN" altLang="en-US" sz="2200" b="1">
                <a:latin typeface="楷体" panose="02010609060101010101" charset="-122"/>
                <a:ea typeface="楷体" panose="02010609060101010101" charset="-122"/>
              </a:rPr>
              <a:t>原来我们一直在对中国做同样事情”。</a:t>
            </a:r>
            <a:endParaRPr lang="zh-CN" altLang="en-US" sz="2200" b="1">
              <a:latin typeface="楷体" panose="02010609060101010101" charset="-122"/>
              <a:ea typeface="楷体" panose="02010609060101010101" charset="-122"/>
            </a:endParaRPr>
          </a:p>
        </p:txBody>
      </p:sp>
      <p:sp>
        <p:nvSpPr>
          <p:cNvPr id="13" name="圆角矩形 12"/>
          <p:cNvSpPr/>
          <p:nvPr/>
        </p:nvSpPr>
        <p:spPr bwMode="gray">
          <a:xfrm>
            <a:off x="1062038" y="3856038"/>
            <a:ext cx="1387475" cy="479425"/>
          </a:xfrm>
          <a:prstGeom prst="roundRect">
            <a:avLst/>
          </a:prstGeom>
        </p:spPr>
        <p:style>
          <a:lnRef idx="0">
            <a:schemeClr val="accent2"/>
          </a:lnRef>
          <a:fillRef idx="3">
            <a:schemeClr val="accent2"/>
          </a:fillRef>
          <a:effectRef idx="3">
            <a:schemeClr val="accent2"/>
          </a:effectRef>
          <a:fontRef idx="minor">
            <a:schemeClr val="lt1"/>
          </a:fontRef>
        </p:style>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20000"/>
              </a:spcBef>
              <a:buFont typeface="Wingdings" panose="05000000000000000000" pitchFamily="2" charset="2"/>
              <a:buNone/>
              <a:defRPr/>
            </a:pPr>
            <a:r>
              <a:rPr lang="zh-CN" altLang="en-US" sz="2000" dirty="0" smtClean="0">
                <a:solidFill>
                  <a:srgbClr val="002060"/>
                </a:solidFill>
                <a:latin typeface="宋体" panose="02010600030101010101" pitchFamily="2" charset="-122"/>
              </a:rPr>
              <a:t>案例</a:t>
            </a:r>
            <a:r>
              <a:rPr lang="en-US" altLang="zh-CN" sz="2000" dirty="0" smtClean="0">
                <a:solidFill>
                  <a:srgbClr val="002060"/>
                </a:solidFill>
                <a:latin typeface="宋体" panose="02010600030101010101" pitchFamily="2" charset="-122"/>
              </a:rPr>
              <a:t>1-8</a:t>
            </a:r>
            <a:endParaRPr lang="zh-CN" altLang="en-US" sz="2000" dirty="0" smtClean="0">
              <a:solidFill>
                <a:srgbClr val="002060"/>
              </a:solidFill>
              <a:latin typeface="宋体" panose="02010600030101010101" pitchFamily="2" charset="-122"/>
            </a:endParaRPr>
          </a:p>
        </p:txBody>
      </p:sp>
      <p:sp>
        <p:nvSpPr>
          <p:cNvPr id="7" name="Rectangle 2"/>
          <p:cNvSpPr txBox="1">
            <a:spLocks noChangeArrowheads="1"/>
          </p:cNvSpPr>
          <p:nvPr/>
        </p:nvSpPr>
        <p:spPr bwMode="white">
          <a:xfrm>
            <a:off x="838200" y="152400"/>
            <a:ext cx="7327900" cy="563563"/>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en-US" altLang="zh-CN" sz="3200" dirty="0" smtClean="0">
                <a:solidFill>
                  <a:schemeClr val="bg1"/>
                </a:solidFill>
                <a:latin typeface="Verdana" panose="020B0604030504040204" pitchFamily="34" charset="0"/>
              </a:rPr>
              <a:t>1.1</a:t>
            </a:r>
            <a:r>
              <a:rPr lang="zh-CN" altLang="en-US" sz="3200" dirty="0" smtClean="0">
                <a:solidFill>
                  <a:schemeClr val="bg1"/>
                </a:solidFill>
                <a:latin typeface="Verdana" panose="020B0604030504040204" pitchFamily="34" charset="0"/>
              </a:rPr>
              <a:t> </a:t>
            </a:r>
            <a:r>
              <a:rPr lang="zh-CN" altLang="en-US" sz="3200" dirty="0" smtClean="0">
                <a:solidFill>
                  <a:schemeClr val="bg1"/>
                </a:solidFill>
                <a:effectLst>
                  <a:outerShdw blurRad="38100" dist="38100" dir="2700000" algn="tl">
                    <a:srgbClr val="C0C0C0"/>
                  </a:outerShdw>
                </a:effectLst>
                <a:latin typeface="Verdana" panose="020B0604030504040204" pitchFamily="34" charset="0"/>
              </a:rPr>
              <a:t>网络空间安全</a:t>
            </a:r>
            <a:r>
              <a:rPr lang="zh-CN" altLang="en-US" sz="3200" dirty="0" smtClean="0">
                <a:solidFill>
                  <a:schemeClr val="bg1"/>
                </a:solidFill>
                <a:effectLst>
                  <a:outerShdw blurRad="38100" dist="38100" dir="2700000" algn="tl">
                    <a:srgbClr val="C0C0C0"/>
                  </a:outerShdw>
                </a:effectLst>
              </a:rPr>
              <a:t>威胁及态势</a:t>
            </a:r>
            <a:endParaRPr lang="zh-CN" altLang="en-US" sz="3200" dirty="0" smtClean="0">
              <a:solidFill>
                <a:schemeClr val="bg1"/>
              </a:solidFill>
              <a:effectLst>
                <a:outerShdw blurRad="38100" dist="38100" dir="2700000" algn="tl">
                  <a:srgbClr val="C0C0C0"/>
                </a:outerShdw>
              </a:effectLst>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17"/>
          <p:cNvSpPr>
            <a:spLocks noChangeArrowheads="1"/>
          </p:cNvSpPr>
          <p:nvPr/>
        </p:nvSpPr>
        <p:spPr bwMode="auto">
          <a:xfrm>
            <a:off x="539750" y="1228725"/>
            <a:ext cx="8208963" cy="831850"/>
          </a:xfrm>
          <a:prstGeom prst="rect">
            <a:avLst/>
          </a:prstGeom>
          <a:noFill/>
          <a:ln w="9525">
            <a:noFill/>
            <a:miter lim="800000"/>
          </a:ln>
        </p:spPr>
        <p:txBody>
          <a:bodyPr anchor="ctr">
            <a:spAutoFit/>
          </a:bodyPr>
          <a:lstStyle/>
          <a:p>
            <a:pPr>
              <a:spcBef>
                <a:spcPct val="20000"/>
              </a:spcBef>
              <a:buFont typeface="Wingdings" panose="05000000000000000000" pitchFamily="2" charset="2"/>
              <a:buNone/>
            </a:pPr>
            <a:r>
              <a:rPr lang="zh-CN" altLang="en-US" b="1">
                <a:solidFill>
                  <a:srgbClr val="FF0000"/>
                </a:solidFill>
              </a:rPr>
              <a:t>       </a:t>
            </a:r>
            <a:r>
              <a:rPr lang="zh-CN" altLang="en-US" b="1">
                <a:solidFill>
                  <a:srgbClr val="CC0000"/>
                </a:solidFill>
              </a:rPr>
              <a:t>网络安全威胁的</a:t>
            </a:r>
            <a:r>
              <a:rPr lang="zh-CN" altLang="en-US" b="1" u="sng">
                <a:solidFill>
                  <a:srgbClr val="FF0000"/>
                </a:solidFill>
              </a:rPr>
              <a:t>主要途径</a:t>
            </a:r>
            <a:r>
              <a:rPr lang="zh-CN" altLang="en-US" b="1"/>
              <a:t>，可以很直观地用图示的方式进行表示，如图</a:t>
            </a:r>
            <a:r>
              <a:rPr lang="en-US" altLang="zh-CN" b="1"/>
              <a:t>1-10</a:t>
            </a:r>
            <a:r>
              <a:rPr lang="zh-CN" altLang="en-US" b="1"/>
              <a:t>所示。</a:t>
            </a:r>
            <a:endParaRPr lang="zh-CN" altLang="en-US" b="1"/>
          </a:p>
        </p:txBody>
      </p:sp>
      <p:sp>
        <p:nvSpPr>
          <p:cNvPr id="23554" name="Rectangle 10"/>
          <p:cNvSpPr>
            <a:spLocks noChangeArrowheads="1"/>
          </p:cNvSpPr>
          <p:nvPr/>
        </p:nvSpPr>
        <p:spPr bwMode="auto">
          <a:xfrm>
            <a:off x="0" y="2505075"/>
            <a:ext cx="9144000" cy="0"/>
          </a:xfrm>
          <a:prstGeom prst="rect">
            <a:avLst/>
          </a:prstGeom>
          <a:noFill/>
          <a:ln w="9525">
            <a:noFill/>
            <a:miter lim="800000"/>
          </a:ln>
        </p:spPr>
        <p:txBody>
          <a:bodyPr wrap="none" anchor="ctr">
            <a:spAutoFit/>
          </a:bodyPr>
          <a:lstStyle/>
          <a:p>
            <a:pPr algn="dist">
              <a:spcBef>
                <a:spcPct val="20000"/>
              </a:spcBef>
              <a:buFont typeface="Wingdings" panose="05000000000000000000" pitchFamily="2" charset="2"/>
              <a:buNone/>
            </a:pPr>
            <a:endParaRPr lang="zh-CN" altLang="en-US"/>
          </a:p>
        </p:txBody>
      </p:sp>
      <p:pic>
        <p:nvPicPr>
          <p:cNvPr id="23555" name="Picture 9"/>
          <p:cNvPicPr>
            <a:picLocks noChangeAspect="1" noChangeArrowheads="1"/>
          </p:cNvPicPr>
          <p:nvPr/>
        </p:nvPicPr>
        <p:blipFill>
          <a:blip r:embed="rId1" cstate="print"/>
          <a:srcRect/>
          <a:stretch>
            <a:fillRect/>
          </a:stretch>
        </p:blipFill>
        <p:spPr bwMode="auto">
          <a:xfrm>
            <a:off x="827088" y="2349500"/>
            <a:ext cx="7489825" cy="3306763"/>
          </a:xfrm>
          <a:prstGeom prst="rect">
            <a:avLst/>
          </a:prstGeom>
          <a:noFill/>
          <a:ln w="9525">
            <a:noFill/>
            <a:miter lim="800000"/>
            <a:headEnd/>
            <a:tailEnd/>
          </a:ln>
        </p:spPr>
      </p:pic>
      <p:sp>
        <p:nvSpPr>
          <p:cNvPr id="23556" name="Rectangle 11"/>
          <p:cNvSpPr>
            <a:spLocks noChangeArrowheads="1"/>
          </p:cNvSpPr>
          <p:nvPr/>
        </p:nvSpPr>
        <p:spPr bwMode="auto">
          <a:xfrm>
            <a:off x="2862263" y="5918200"/>
            <a:ext cx="3570287" cy="368300"/>
          </a:xfrm>
          <a:prstGeom prst="rect">
            <a:avLst/>
          </a:prstGeom>
          <a:solidFill>
            <a:srgbClr val="FFFFFF"/>
          </a:solidFill>
          <a:ln w="9525">
            <a:noFill/>
            <a:miter lim="800000"/>
          </a:ln>
        </p:spPr>
        <p:txBody>
          <a:bodyPr wrap="none" anchor="ctr">
            <a:spAutoFit/>
          </a:bodyPr>
          <a:lstStyle/>
          <a:p>
            <a:pPr algn="ctr" eaLnBrk="0" hangingPunct="0">
              <a:spcBef>
                <a:spcPct val="20000"/>
              </a:spcBef>
              <a:buFont typeface="Wingdings" panose="05000000000000000000" pitchFamily="2" charset="2"/>
              <a:buNone/>
            </a:pPr>
            <a:r>
              <a:rPr lang="zh-CN" altLang="en-US" sz="1800" b="1">
                <a:solidFill>
                  <a:srgbClr val="FF0000"/>
                </a:solidFill>
                <a:latin typeface="Times New Roman" panose="02020603050405020304" pitchFamily="18" charset="0"/>
              </a:rPr>
              <a:t>图</a:t>
            </a:r>
            <a:r>
              <a:rPr lang="en-US" altLang="zh-CN" sz="1800" b="1">
                <a:solidFill>
                  <a:srgbClr val="FF0000"/>
                </a:solidFill>
                <a:latin typeface="Times New Roman" panose="02020603050405020304" pitchFamily="18" charset="0"/>
              </a:rPr>
              <a:t>1-10 </a:t>
            </a:r>
            <a:r>
              <a:rPr lang="zh-CN" altLang="en-US" sz="1800" b="1">
                <a:solidFill>
                  <a:srgbClr val="FF0000"/>
                </a:solidFill>
                <a:latin typeface="Times New Roman" panose="02020603050405020304" pitchFamily="18" charset="0"/>
              </a:rPr>
              <a:t>网络安全主要威胁及途径</a:t>
            </a:r>
            <a:endParaRPr lang="zh-CN" altLang="en-US" sz="1800" b="1"/>
          </a:p>
        </p:txBody>
      </p:sp>
      <p:sp>
        <p:nvSpPr>
          <p:cNvPr id="23557" name="矩形 6"/>
          <p:cNvSpPr>
            <a:spLocks noChangeArrowheads="1"/>
          </p:cNvSpPr>
          <p:nvPr/>
        </p:nvSpPr>
        <p:spPr bwMode="auto">
          <a:xfrm>
            <a:off x="1547813" y="3321050"/>
            <a:ext cx="350837" cy="369888"/>
          </a:xfrm>
          <a:prstGeom prst="rect">
            <a:avLst/>
          </a:prstGeom>
          <a:noFill/>
          <a:ln w="9525">
            <a:noFill/>
            <a:miter lim="800000"/>
          </a:ln>
        </p:spPr>
        <p:txBody>
          <a:bodyPr wrap="none">
            <a:spAutoFit/>
          </a:bodyPr>
          <a:lstStyle/>
          <a:p>
            <a:pPr algn="dist">
              <a:spcBef>
                <a:spcPct val="20000"/>
              </a:spcBef>
              <a:buFont typeface="Wingdings" panose="05000000000000000000" pitchFamily="2" charset="2"/>
              <a:buNone/>
            </a:pPr>
            <a:r>
              <a:rPr lang="en-US" altLang="zh-CN"/>
              <a:t>U</a:t>
            </a:r>
            <a:endParaRPr lang="zh-CN" altLang="en-US"/>
          </a:p>
        </p:txBody>
      </p:sp>
      <p:sp>
        <p:nvSpPr>
          <p:cNvPr id="7" name="Rectangle 2"/>
          <p:cNvSpPr txBox="1">
            <a:spLocks noChangeArrowheads="1"/>
          </p:cNvSpPr>
          <p:nvPr/>
        </p:nvSpPr>
        <p:spPr bwMode="white">
          <a:xfrm>
            <a:off x="838200" y="152400"/>
            <a:ext cx="7327900" cy="563563"/>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en-US" altLang="zh-CN" sz="3200" dirty="0" smtClean="0">
                <a:solidFill>
                  <a:schemeClr val="bg1"/>
                </a:solidFill>
                <a:latin typeface="Verdana" panose="020B0604030504040204" pitchFamily="34" charset="0"/>
              </a:rPr>
              <a:t>1.1</a:t>
            </a:r>
            <a:r>
              <a:rPr lang="zh-CN" altLang="en-US" sz="3200" dirty="0" smtClean="0">
                <a:solidFill>
                  <a:schemeClr val="bg1"/>
                </a:solidFill>
                <a:latin typeface="Verdana" panose="020B0604030504040204" pitchFamily="34" charset="0"/>
              </a:rPr>
              <a:t> </a:t>
            </a:r>
            <a:r>
              <a:rPr lang="zh-CN" altLang="en-US" sz="3200" dirty="0" smtClean="0">
                <a:solidFill>
                  <a:schemeClr val="bg1"/>
                </a:solidFill>
                <a:effectLst>
                  <a:outerShdw blurRad="38100" dist="38100" dir="2700000" algn="tl">
                    <a:srgbClr val="C0C0C0"/>
                  </a:outerShdw>
                </a:effectLst>
                <a:latin typeface="Verdana" panose="020B0604030504040204" pitchFamily="34" charset="0"/>
              </a:rPr>
              <a:t>网络空间安全</a:t>
            </a:r>
            <a:r>
              <a:rPr lang="zh-CN" altLang="en-US" sz="3200" dirty="0" smtClean="0">
                <a:solidFill>
                  <a:schemeClr val="bg1"/>
                </a:solidFill>
                <a:effectLst>
                  <a:outerShdw blurRad="38100" dist="38100" dir="2700000" algn="tl">
                    <a:srgbClr val="C0C0C0"/>
                  </a:outerShdw>
                </a:effectLst>
              </a:rPr>
              <a:t>威胁及态势</a:t>
            </a:r>
            <a:endParaRPr lang="zh-CN" altLang="en-US" sz="3200" dirty="0" smtClean="0">
              <a:solidFill>
                <a:schemeClr val="bg1"/>
              </a:solidFill>
              <a:effectLst>
                <a:outerShdw blurRad="38100" dist="38100" dir="2700000" algn="tl">
                  <a:srgbClr val="C0C0C0"/>
                </a:outerShdw>
              </a:effectLs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圆角矩形 4"/>
          <p:cNvSpPr>
            <a:spLocks noChangeArrowheads="1"/>
          </p:cNvSpPr>
          <p:nvPr/>
        </p:nvSpPr>
        <p:spPr bwMode="auto">
          <a:xfrm>
            <a:off x="381000" y="1557338"/>
            <a:ext cx="8610600" cy="5300662"/>
          </a:xfrm>
          <a:prstGeom prst="roundRect">
            <a:avLst>
              <a:gd name="adj" fmla="val 16667"/>
            </a:avLst>
          </a:prstGeom>
          <a:solidFill>
            <a:schemeClr val="bg1"/>
          </a:solidFill>
          <a:ln w="25400">
            <a:solidFill>
              <a:schemeClr val="accent1"/>
            </a:solidFill>
            <a:round/>
          </a:ln>
        </p:spPr>
        <p:txBody>
          <a:bodyPr anchor="ctr" anchorCtr="1"/>
          <a:lstStyle/>
          <a:p>
            <a:pPr indent="457200">
              <a:spcBef>
                <a:spcPct val="20000"/>
              </a:spcBef>
            </a:pPr>
            <a:r>
              <a:rPr lang="zh-CN" altLang="en-US" sz="2200" b="1"/>
              <a:t>  </a:t>
            </a:r>
            <a:endParaRPr lang="zh-CN" altLang="en-US" sz="2200" b="1"/>
          </a:p>
          <a:p>
            <a:pPr indent="457200">
              <a:spcBef>
                <a:spcPct val="20000"/>
              </a:spcBef>
            </a:pPr>
            <a:r>
              <a:rPr lang="zh-CN" altLang="en-US" sz="2200" b="1">
                <a:solidFill>
                  <a:srgbClr val="990033"/>
                </a:solidFill>
              </a:rPr>
              <a:t>网络安全</a:t>
            </a:r>
            <a:r>
              <a:rPr lang="zh-CN" altLang="en-US" sz="2200" b="1"/>
              <a:t>的</a:t>
            </a:r>
            <a:r>
              <a:rPr lang="zh-CN" altLang="en-US" sz="2200" b="1">
                <a:solidFill>
                  <a:srgbClr val="CC0000"/>
                </a:solidFill>
              </a:rPr>
              <a:t>风险及脆弱性</a:t>
            </a:r>
            <a:r>
              <a:rPr lang="zh-CN" altLang="en-US" sz="2200" b="1"/>
              <a:t>涉及网络设计、结构、层次、范畴和管理机制等方面。</a:t>
            </a:r>
            <a:endParaRPr lang="zh-CN" altLang="en-US" sz="2200" b="1"/>
          </a:p>
          <a:p>
            <a:pPr indent="457200">
              <a:spcBef>
                <a:spcPct val="10000"/>
              </a:spcBef>
              <a:spcAft>
                <a:spcPct val="10000"/>
              </a:spcAft>
            </a:pPr>
            <a:r>
              <a:rPr lang="en-US" altLang="zh-CN" sz="2200" b="1"/>
              <a:t> </a:t>
            </a:r>
            <a:r>
              <a:rPr lang="en-US" altLang="zh-CN" sz="2200" b="1">
                <a:solidFill>
                  <a:srgbClr val="CC0000"/>
                </a:solidFill>
              </a:rPr>
              <a:t>1. </a:t>
            </a:r>
            <a:r>
              <a:rPr lang="zh-CN" altLang="en-US" sz="2200" b="1">
                <a:solidFill>
                  <a:srgbClr val="CC0000"/>
                </a:solidFill>
              </a:rPr>
              <a:t>网络系统安全威胁及风险</a:t>
            </a:r>
            <a:endParaRPr lang="zh-CN" altLang="en-US" sz="2200" b="1">
              <a:solidFill>
                <a:srgbClr val="CC0000"/>
              </a:solidFill>
            </a:endParaRPr>
          </a:p>
          <a:p>
            <a:pPr indent="457200">
              <a:spcBef>
                <a:spcPct val="20000"/>
              </a:spcBef>
            </a:pPr>
            <a:r>
              <a:rPr lang="en-US" altLang="zh-CN" sz="2100" b="1">
                <a:solidFill>
                  <a:srgbClr val="990033"/>
                </a:solidFill>
              </a:rPr>
              <a:t>1</a:t>
            </a:r>
            <a:r>
              <a:rPr lang="zh-CN" altLang="en-US" sz="2100" b="1">
                <a:solidFill>
                  <a:srgbClr val="990033"/>
                </a:solidFill>
              </a:rPr>
              <a:t>）网络系统面临的威胁和风险</a:t>
            </a:r>
            <a:endParaRPr lang="zh-CN" altLang="en-US" sz="2100" b="1">
              <a:solidFill>
                <a:srgbClr val="990033"/>
              </a:solidFill>
            </a:endParaRPr>
          </a:p>
          <a:p>
            <a:pPr indent="457200">
              <a:spcBef>
                <a:spcPct val="20000"/>
              </a:spcBef>
            </a:pPr>
            <a:r>
              <a:rPr lang="zh-CN" altLang="en-US" sz="2100" b="1"/>
              <a:t> 互联网创建初期只用于计算和科学研究，其设计及技术基础并不安全。现代互联网的快速发展和广泛应用，使其具有开放性、国际性和自由性等特点。</a:t>
            </a:r>
            <a:endParaRPr lang="zh-CN" altLang="en-US" sz="2100" b="1"/>
          </a:p>
          <a:p>
            <a:pPr indent="457200">
              <a:spcBef>
                <a:spcPct val="20000"/>
              </a:spcBef>
            </a:pPr>
            <a:r>
              <a:rPr lang="zh-CN" altLang="en-US" sz="2100" b="1"/>
              <a:t> </a:t>
            </a:r>
            <a:r>
              <a:rPr lang="zh-CN" altLang="en-US" sz="2100" b="1">
                <a:solidFill>
                  <a:srgbClr val="990033"/>
                </a:solidFill>
              </a:rPr>
              <a:t>2）网络服务协议的安全威胁。</a:t>
            </a:r>
            <a:r>
              <a:rPr lang="zh-CN" altLang="en-US" sz="2100" b="1">
                <a:solidFill>
                  <a:srgbClr val="FF0000"/>
                </a:solidFill>
              </a:rPr>
              <a:t>常用的互联网服务安全</a:t>
            </a:r>
            <a:r>
              <a:rPr lang="zh-CN" altLang="en-US" sz="2100" b="1"/>
              <a:t>包括：</a:t>
            </a:r>
            <a:r>
              <a:rPr lang="zh-CN" altLang="en-US" sz="2100" b="1">
                <a:latin typeface="Times New Roman" panose="02020603050405020304" pitchFamily="18" charset="0"/>
              </a:rPr>
              <a:t>Web浏览服务安全、文件传输（FTP）服务安全、Email服务安全、远程登陆（Telnet）安全、DNS域名安全和设备实体安全。</a:t>
            </a:r>
            <a:r>
              <a:rPr lang="zh-CN" altLang="en-US" sz="2100" b="1">
                <a:solidFill>
                  <a:srgbClr val="990033"/>
                </a:solidFill>
                <a:latin typeface="Times New Roman" panose="02020603050405020304" pitchFamily="18" charset="0"/>
              </a:rPr>
              <a:t>网络的运行机制依赖网络协议</a:t>
            </a:r>
            <a:r>
              <a:rPr lang="zh-CN" altLang="en-US" sz="2100" b="1">
                <a:latin typeface="Times New Roman" panose="02020603050405020304" pitchFamily="18" charset="0"/>
              </a:rPr>
              <a:t>，不同结点间信息交换以约定机制通过协议数据单元实现。TCP/IP 协议在</a:t>
            </a:r>
            <a:r>
              <a:rPr lang="zh-CN" altLang="en-US" sz="2100" b="1">
                <a:solidFill>
                  <a:srgbClr val="990033"/>
                </a:solidFill>
                <a:latin typeface="Times New Roman" panose="02020603050405020304" pitchFamily="18" charset="0"/>
              </a:rPr>
              <a:t>设计初期</a:t>
            </a:r>
            <a:r>
              <a:rPr lang="zh-CN" altLang="en-US" sz="2100" b="1">
                <a:latin typeface="Times New Roman" panose="02020603050405020304" pitchFamily="18" charset="0"/>
              </a:rPr>
              <a:t>只注重异构网的互联，并没考虑安全问题，Internet的广泛应用使其安全威胁对系统安全产生极大风险。</a:t>
            </a:r>
            <a:r>
              <a:rPr lang="zh-CN" altLang="en-US" sz="2100" b="1">
                <a:solidFill>
                  <a:srgbClr val="990033"/>
                </a:solidFill>
                <a:latin typeface="Times New Roman" panose="02020603050405020304" pitchFamily="18" charset="0"/>
              </a:rPr>
              <a:t>互联网基础协议</a:t>
            </a:r>
            <a:r>
              <a:rPr lang="zh-CN" altLang="en-US" sz="2100" b="1">
                <a:latin typeface="Times New Roman" panose="02020603050405020304" pitchFamily="18" charset="0"/>
              </a:rPr>
              <a:t>TCP /IP、FTP、E-mail、RPC</a:t>
            </a:r>
            <a:r>
              <a:rPr lang="en-US" altLang="zh-CN" sz="2100" b="1">
                <a:latin typeface="Times New Roman" panose="02020603050405020304" pitchFamily="18" charset="0"/>
              </a:rPr>
              <a:t>(</a:t>
            </a:r>
            <a:r>
              <a:rPr lang="zh-CN" altLang="en-US" sz="2100" b="1">
                <a:latin typeface="Times New Roman" panose="02020603050405020304" pitchFamily="18" charset="0"/>
              </a:rPr>
              <a:t>远程进程调用</a:t>
            </a:r>
            <a:r>
              <a:rPr lang="en-US" altLang="zh-CN" sz="2100" b="1">
                <a:latin typeface="Times New Roman" panose="02020603050405020304" pitchFamily="18" charset="0"/>
              </a:rPr>
              <a:t>)</a:t>
            </a:r>
            <a:r>
              <a:rPr lang="zh-CN" altLang="en-US" sz="2100" b="1">
                <a:latin typeface="Times New Roman" panose="02020603050405020304" pitchFamily="18" charset="0"/>
              </a:rPr>
              <a:t>和NFS</a:t>
            </a:r>
            <a:r>
              <a:rPr lang="en-US" altLang="zh-CN" sz="2100" b="1">
                <a:latin typeface="Times New Roman" panose="02020603050405020304" pitchFamily="18" charset="0"/>
              </a:rPr>
              <a:t>(</a:t>
            </a:r>
            <a:r>
              <a:rPr lang="zh-CN" altLang="en-US" sz="2100" b="1">
                <a:latin typeface="Times New Roman" panose="02020603050405020304" pitchFamily="18" charset="0"/>
              </a:rPr>
              <a:t>网络文件</a:t>
            </a:r>
            <a:r>
              <a:rPr lang="zh-CN" altLang="en-US" sz="2100" b="1"/>
              <a:t>系统</a:t>
            </a:r>
            <a:r>
              <a:rPr lang="en-US" altLang="zh-CN" sz="2100" b="1"/>
              <a:t>)</a:t>
            </a:r>
            <a:r>
              <a:rPr lang="zh-CN" altLang="en-US" sz="2100" b="1"/>
              <a:t>等不仅</a:t>
            </a:r>
            <a:r>
              <a:rPr lang="zh-CN" altLang="en-US" sz="2100" b="1">
                <a:solidFill>
                  <a:srgbClr val="990033"/>
                </a:solidFill>
              </a:rPr>
              <a:t>公开</a:t>
            </a:r>
            <a:r>
              <a:rPr lang="zh-CN" altLang="en-US" sz="2100" b="1"/>
              <a:t>，且</a:t>
            </a:r>
            <a:r>
              <a:rPr lang="zh-CN" altLang="en-US" sz="2100" b="1">
                <a:solidFill>
                  <a:srgbClr val="990033"/>
                </a:solidFill>
              </a:rPr>
              <a:t>存在安全漏洞</a:t>
            </a:r>
            <a:r>
              <a:rPr lang="zh-CN" altLang="en-US" sz="2100" b="1"/>
              <a:t>。</a:t>
            </a:r>
            <a:endParaRPr lang="zh-CN" altLang="en-US" sz="2100" b="1"/>
          </a:p>
          <a:p>
            <a:pPr indent="457200">
              <a:spcBef>
                <a:spcPct val="20000"/>
              </a:spcBef>
            </a:pPr>
            <a:r>
              <a:rPr lang="zh-CN" altLang="en-US" b="1"/>
              <a:t> </a:t>
            </a:r>
            <a:endParaRPr lang="zh-CN" altLang="en-US" b="1"/>
          </a:p>
        </p:txBody>
      </p:sp>
      <p:sp>
        <p:nvSpPr>
          <p:cNvPr id="24578" name="Rectangle 9"/>
          <p:cNvSpPr>
            <a:spLocks noChangeArrowheads="1"/>
          </p:cNvSpPr>
          <p:nvPr/>
        </p:nvSpPr>
        <p:spPr bwMode="auto">
          <a:xfrm>
            <a:off x="457200" y="1036638"/>
            <a:ext cx="4618038" cy="460375"/>
          </a:xfrm>
          <a:prstGeom prst="rect">
            <a:avLst/>
          </a:prstGeom>
          <a:noFill/>
          <a:ln w="9525">
            <a:noFill/>
            <a:miter lim="800000"/>
          </a:ln>
        </p:spPr>
        <p:txBody>
          <a:bodyPr wrap="none" anchor="ctr">
            <a:spAutoFit/>
          </a:bodyPr>
          <a:lstStyle/>
          <a:p>
            <a:pPr algn="dist">
              <a:spcBef>
                <a:spcPct val="20000"/>
              </a:spcBef>
              <a:buFont typeface="Wingdings" panose="05000000000000000000" pitchFamily="2" charset="2"/>
              <a:buNone/>
            </a:pPr>
            <a:r>
              <a:rPr lang="en-US" altLang="zh-CN" b="1">
                <a:solidFill>
                  <a:srgbClr val="FF0000"/>
                </a:solidFill>
              </a:rPr>
              <a:t>1.1.3 </a:t>
            </a:r>
            <a:r>
              <a:rPr lang="zh-CN" altLang="en-US" b="1">
                <a:solidFill>
                  <a:srgbClr val="FF0000"/>
                </a:solidFill>
              </a:rPr>
              <a:t>网络安全的威胁及风险分析</a:t>
            </a:r>
            <a:endParaRPr lang="en-US" altLang="zh-CN" b="1">
              <a:solidFill>
                <a:srgbClr val="FF0000"/>
              </a:solidFill>
            </a:endParaRPr>
          </a:p>
        </p:txBody>
      </p:sp>
      <p:pic>
        <p:nvPicPr>
          <p:cNvPr id="24579" name="Picture 24" descr="C:\Program Files\Microsoft Office\MEDIA\CAGCAT10\j0300520.gif"/>
          <p:cNvPicPr>
            <a:picLocks noChangeAspect="1" noChangeArrowheads="1"/>
          </p:cNvPicPr>
          <p:nvPr/>
        </p:nvPicPr>
        <p:blipFill>
          <a:blip r:embed="rId1"/>
          <a:srcRect/>
          <a:stretch>
            <a:fillRect/>
          </a:stretch>
        </p:blipFill>
        <p:spPr bwMode="auto">
          <a:xfrm>
            <a:off x="6551613" y="2205038"/>
            <a:ext cx="1079500" cy="928687"/>
          </a:xfrm>
          <a:prstGeom prst="rect">
            <a:avLst/>
          </a:prstGeom>
          <a:noFill/>
          <a:ln w="9525">
            <a:noFill/>
            <a:miter lim="800000"/>
            <a:headEnd/>
            <a:tailEnd/>
          </a:ln>
        </p:spPr>
      </p:pic>
      <p:sp>
        <p:nvSpPr>
          <p:cNvPr id="7" name="Rectangle 2"/>
          <p:cNvSpPr txBox="1">
            <a:spLocks noChangeArrowheads="1"/>
          </p:cNvSpPr>
          <p:nvPr/>
        </p:nvSpPr>
        <p:spPr bwMode="white">
          <a:xfrm>
            <a:off x="838200" y="152400"/>
            <a:ext cx="7327900" cy="563563"/>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en-US" altLang="zh-CN" sz="3200" dirty="0" smtClean="0">
                <a:solidFill>
                  <a:schemeClr val="bg1"/>
                </a:solidFill>
                <a:latin typeface="Verdana" panose="020B0604030504040204" pitchFamily="34" charset="0"/>
              </a:rPr>
              <a:t>1.1</a:t>
            </a:r>
            <a:r>
              <a:rPr lang="zh-CN" altLang="en-US" sz="3200" dirty="0" smtClean="0">
                <a:solidFill>
                  <a:schemeClr val="bg1"/>
                </a:solidFill>
                <a:latin typeface="Verdana" panose="020B0604030504040204" pitchFamily="34" charset="0"/>
              </a:rPr>
              <a:t> </a:t>
            </a:r>
            <a:r>
              <a:rPr lang="zh-CN" altLang="en-US" sz="3200" dirty="0" smtClean="0">
                <a:solidFill>
                  <a:schemeClr val="bg1"/>
                </a:solidFill>
                <a:effectLst>
                  <a:outerShdw blurRad="38100" dist="38100" dir="2700000" algn="tl">
                    <a:srgbClr val="C0C0C0"/>
                  </a:outerShdw>
                </a:effectLst>
                <a:latin typeface="Verdana" panose="020B0604030504040204" pitchFamily="34" charset="0"/>
              </a:rPr>
              <a:t>网络空间安全</a:t>
            </a:r>
            <a:r>
              <a:rPr lang="zh-CN" altLang="en-US" sz="3200" dirty="0" smtClean="0">
                <a:solidFill>
                  <a:schemeClr val="bg1"/>
                </a:solidFill>
                <a:effectLst>
                  <a:outerShdw blurRad="38100" dist="38100" dir="2700000" algn="tl">
                    <a:srgbClr val="C0C0C0"/>
                  </a:outerShdw>
                </a:effectLst>
              </a:rPr>
              <a:t>威胁及态势</a:t>
            </a:r>
            <a:endParaRPr lang="zh-CN" altLang="en-US" sz="3200" dirty="0" smtClean="0">
              <a:solidFill>
                <a:schemeClr val="bg1"/>
              </a:solidFill>
              <a:effectLst>
                <a:outerShdw blurRad="38100" dist="38100" dir="2700000" algn="tl">
                  <a:srgbClr val="C0C0C0"/>
                </a:outerShdw>
              </a:effectLst>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圆角矩形 4"/>
          <p:cNvSpPr>
            <a:spLocks noChangeArrowheads="1"/>
          </p:cNvSpPr>
          <p:nvPr/>
        </p:nvSpPr>
        <p:spPr bwMode="auto">
          <a:xfrm>
            <a:off x="503238" y="1219200"/>
            <a:ext cx="8418512" cy="5410200"/>
          </a:xfrm>
          <a:prstGeom prst="roundRect">
            <a:avLst>
              <a:gd name="adj" fmla="val 16667"/>
            </a:avLst>
          </a:prstGeom>
          <a:solidFill>
            <a:schemeClr val="bg1"/>
          </a:solidFill>
          <a:ln w="25400">
            <a:solidFill>
              <a:srgbClr val="1F38ED"/>
            </a:solidFill>
            <a:round/>
          </a:ln>
        </p:spPr>
        <p:txBody>
          <a:bodyPr anchor="ctr" anchorCtr="1"/>
          <a:lstStyle/>
          <a:p>
            <a:pPr>
              <a:spcBef>
                <a:spcPct val="20000"/>
              </a:spcBef>
              <a:buFont typeface="Wingdings" panose="05000000000000000000" pitchFamily="2" charset="2"/>
              <a:buNone/>
              <a:defRPr/>
            </a:pPr>
            <a:r>
              <a:rPr lang="en-US" altLang="zh-CN" sz="2200" b="1" dirty="0">
                <a:solidFill>
                  <a:srgbClr val="CC0000"/>
                </a:solidFill>
              </a:rPr>
              <a:t>        2. </a:t>
            </a:r>
            <a:r>
              <a:rPr lang="zh-CN" altLang="en-US" sz="2200" b="1" dirty="0">
                <a:solidFill>
                  <a:srgbClr val="CC0000"/>
                </a:solidFill>
              </a:rPr>
              <a:t>操作系统的漏洞及隐患</a:t>
            </a:r>
            <a:endParaRPr lang="zh-CN" altLang="en-US" sz="2200" b="1" dirty="0">
              <a:solidFill>
                <a:srgbClr val="CC0000"/>
              </a:solidFill>
            </a:endParaRPr>
          </a:p>
          <a:p>
            <a:pPr>
              <a:spcBef>
                <a:spcPts val="0"/>
              </a:spcBef>
              <a:spcAft>
                <a:spcPts val="0"/>
              </a:spcAft>
              <a:buFont typeface="Wingdings" panose="05000000000000000000" pitchFamily="2" charset="2"/>
              <a:buNone/>
              <a:defRPr/>
            </a:pPr>
            <a:r>
              <a:rPr lang="zh-CN" altLang="en-US" sz="2200" b="1" dirty="0"/>
              <a:t>       </a:t>
            </a:r>
            <a:r>
              <a:rPr lang="zh-CN" altLang="en-US" sz="2000" b="1" dirty="0">
                <a:solidFill>
                  <a:srgbClr val="CC0000"/>
                </a:solidFill>
              </a:rPr>
              <a:t>操作系统安全</a:t>
            </a:r>
            <a:r>
              <a:rPr lang="en-US" altLang="zh-CN" sz="2000" b="1" dirty="0">
                <a:solidFill>
                  <a:srgbClr val="CC0000"/>
                </a:solidFill>
              </a:rPr>
              <a:t>(</a:t>
            </a:r>
            <a:r>
              <a:rPr lang="zh-CN" altLang="en-US" sz="2000" b="1" dirty="0">
                <a:solidFill>
                  <a:srgbClr val="CC0000"/>
                </a:solidFill>
                <a:latin typeface="Times New Roman" panose="02020603050405020304" pitchFamily="18" charset="0"/>
              </a:rPr>
              <a:t>Operation System Secure</a:t>
            </a:r>
            <a:r>
              <a:rPr lang="en-US" altLang="zh-CN" sz="2000" b="1" dirty="0">
                <a:solidFill>
                  <a:srgbClr val="CC0000"/>
                </a:solidFill>
                <a:latin typeface="Times New Roman" panose="02020603050405020304" pitchFamily="18" charset="0"/>
              </a:rPr>
              <a:t>)</a:t>
            </a:r>
            <a:r>
              <a:rPr lang="zh-CN" altLang="en-US" sz="2000" b="1" dirty="0"/>
              <a:t>是指操作系统本身及运行的安全</a:t>
            </a:r>
            <a:r>
              <a:rPr lang="en-US" altLang="zh-CN" sz="2000" b="1" dirty="0"/>
              <a:t>,</a:t>
            </a:r>
            <a:r>
              <a:rPr lang="zh-CN" altLang="en-US" sz="2000" b="1" dirty="0"/>
              <a:t>通过其对系统软硬件资源的整体有效控制</a:t>
            </a:r>
            <a:r>
              <a:rPr lang="en-US" altLang="zh-CN" sz="2000" b="1" dirty="0"/>
              <a:t>,</a:t>
            </a:r>
            <a:r>
              <a:rPr lang="zh-CN" altLang="en-US" sz="2000" b="1" dirty="0"/>
              <a:t>并对所管理的资源提供安全保护</a:t>
            </a:r>
            <a:r>
              <a:rPr lang="en-US" altLang="zh-CN" sz="2000" b="1" dirty="0"/>
              <a:t>.</a:t>
            </a:r>
            <a:r>
              <a:rPr lang="zh-CN" altLang="en-US" sz="2000" b="1" dirty="0"/>
              <a:t>操作系统是网络系统中</a:t>
            </a:r>
            <a:r>
              <a:rPr lang="zh-CN" altLang="en-US" sz="2000" b="1" dirty="0">
                <a:solidFill>
                  <a:srgbClr val="990033"/>
                </a:solidFill>
              </a:rPr>
              <a:t>最基本、最重要的系统软件</a:t>
            </a:r>
            <a:r>
              <a:rPr lang="en-US" altLang="zh-CN" sz="2000" b="1" dirty="0"/>
              <a:t>,</a:t>
            </a:r>
            <a:r>
              <a:rPr lang="zh-CN" altLang="en-US" sz="2000" b="1" dirty="0"/>
              <a:t>在设计与开发时难以避免疏忽留下漏洞和隐患。</a:t>
            </a:r>
            <a:endParaRPr lang="zh-CN" altLang="en-US" sz="2000" b="1" dirty="0"/>
          </a:p>
          <a:p>
            <a:pPr>
              <a:spcBef>
                <a:spcPts val="0"/>
              </a:spcBef>
              <a:spcAft>
                <a:spcPts val="0"/>
              </a:spcAft>
              <a:buFont typeface="Wingdings" panose="05000000000000000000" pitchFamily="2" charset="2"/>
              <a:buNone/>
              <a:defRPr/>
            </a:pPr>
            <a:r>
              <a:rPr lang="zh-CN" altLang="en-US" sz="2000" b="1" dirty="0"/>
              <a:t>       </a:t>
            </a:r>
            <a:r>
              <a:rPr lang="en-US" altLang="zh-CN" sz="2000" b="1" dirty="0"/>
              <a:t>1</a:t>
            </a:r>
            <a:r>
              <a:rPr lang="zh-CN" altLang="en-US" sz="2000" b="1" dirty="0"/>
              <a:t>）体系结构和研发漏洞 。</a:t>
            </a:r>
            <a:r>
              <a:rPr lang="zh-CN" altLang="zh-CN" sz="2000" b="1" dirty="0"/>
              <a:t>网络系统的威胁主要来自操作系统的漏洞</a:t>
            </a:r>
            <a:endParaRPr lang="en-US" altLang="zh-CN" sz="2000" b="1" dirty="0"/>
          </a:p>
          <a:p>
            <a:pPr>
              <a:spcBef>
                <a:spcPts val="0"/>
              </a:spcBef>
              <a:spcAft>
                <a:spcPts val="0"/>
              </a:spcAft>
              <a:buFont typeface="Wingdings" panose="05000000000000000000" pitchFamily="2" charset="2"/>
              <a:buNone/>
              <a:defRPr/>
            </a:pPr>
            <a:r>
              <a:rPr lang="en-US" altLang="zh-CN" sz="2000" b="1" dirty="0"/>
              <a:t> </a:t>
            </a:r>
            <a:r>
              <a:rPr lang="zh-CN" altLang="en-US" sz="2000" b="1" dirty="0"/>
              <a:t>      2）创建进程的隐患。支持进程的远程创建与激活、新进程继承原进程的权限，其机制也时常给黑客提供远端服务器安装“间谍软件”的可乘之机。</a:t>
            </a:r>
            <a:endParaRPr lang="zh-CN" altLang="en-US" sz="2000" b="1" dirty="0"/>
          </a:p>
          <a:p>
            <a:pPr>
              <a:spcBef>
                <a:spcPts val="0"/>
              </a:spcBef>
              <a:spcAft>
                <a:spcPts val="0"/>
              </a:spcAft>
              <a:buFont typeface="Wingdings" panose="05000000000000000000" pitchFamily="2" charset="2"/>
              <a:buNone/>
              <a:defRPr/>
            </a:pPr>
            <a:r>
              <a:rPr lang="zh-CN" altLang="en-US" sz="2000" b="1" dirty="0"/>
              <a:t>       3）服务及设置的风险。</a:t>
            </a:r>
            <a:r>
              <a:rPr lang="zh-CN" altLang="zh-CN" sz="2000" b="1" dirty="0"/>
              <a:t>操作系统的部分服务程序可能绕过防火墙、查杀病毒软件等。</a:t>
            </a:r>
            <a:endParaRPr lang="en-US" altLang="zh-CN" sz="2000" b="1" dirty="0"/>
          </a:p>
          <a:p>
            <a:pPr indent="457200" fontAlgn="auto">
              <a:spcBef>
                <a:spcPts val="0"/>
              </a:spcBef>
              <a:spcAft>
                <a:spcPts val="0"/>
              </a:spcAft>
              <a:buFont typeface="Wingdings" panose="05000000000000000000" pitchFamily="2" charset="2"/>
              <a:buNone/>
              <a:defRPr/>
            </a:pPr>
            <a:r>
              <a:rPr lang="zh-CN" altLang="en-US" sz="2000" b="1" noProof="1"/>
              <a:t>4）配置和初始化错误。网络系统一旦出现严重故障，必须关掉某台服务器维护其某个子系统，之后再重启动服务器时，可能会发现个别文件丢失或被篡改的现象。</a:t>
            </a:r>
            <a:endParaRPr lang="zh-CN" altLang="en-US" sz="2000" b="1" dirty="0"/>
          </a:p>
        </p:txBody>
      </p:sp>
      <p:sp>
        <p:nvSpPr>
          <p:cNvPr id="2" name="Rectangle 2"/>
          <p:cNvSpPr txBox="1">
            <a:spLocks noChangeArrowheads="1"/>
          </p:cNvSpPr>
          <p:nvPr/>
        </p:nvSpPr>
        <p:spPr bwMode="white">
          <a:xfrm>
            <a:off x="838200" y="152400"/>
            <a:ext cx="7327900" cy="563563"/>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en-US" altLang="zh-CN" sz="3200" dirty="0" smtClean="0">
                <a:solidFill>
                  <a:schemeClr val="bg1"/>
                </a:solidFill>
                <a:latin typeface="Verdana" panose="020B0604030504040204" pitchFamily="34" charset="0"/>
              </a:rPr>
              <a:t>1.1</a:t>
            </a:r>
            <a:r>
              <a:rPr lang="zh-CN" altLang="en-US" sz="3200" dirty="0" smtClean="0">
                <a:solidFill>
                  <a:schemeClr val="bg1"/>
                </a:solidFill>
                <a:latin typeface="Verdana" panose="020B0604030504040204" pitchFamily="34" charset="0"/>
              </a:rPr>
              <a:t> </a:t>
            </a:r>
            <a:r>
              <a:rPr lang="zh-CN" altLang="en-US" sz="3200" dirty="0" smtClean="0">
                <a:solidFill>
                  <a:schemeClr val="bg1"/>
                </a:solidFill>
                <a:effectLst>
                  <a:outerShdw blurRad="38100" dist="38100" dir="2700000" algn="tl">
                    <a:srgbClr val="C0C0C0"/>
                  </a:outerShdw>
                </a:effectLst>
                <a:latin typeface="Verdana" panose="020B0604030504040204" pitchFamily="34" charset="0"/>
              </a:rPr>
              <a:t>网络空间安全</a:t>
            </a:r>
            <a:r>
              <a:rPr lang="zh-CN" altLang="en-US" sz="3200" dirty="0" smtClean="0">
                <a:solidFill>
                  <a:schemeClr val="bg1"/>
                </a:solidFill>
                <a:effectLst>
                  <a:outerShdw blurRad="38100" dist="38100" dir="2700000" algn="tl">
                    <a:srgbClr val="C0C0C0"/>
                  </a:outerShdw>
                </a:effectLst>
              </a:rPr>
              <a:t>威胁及态势</a:t>
            </a:r>
            <a:endParaRPr lang="zh-CN" altLang="en-US" sz="3200" dirty="0" smtClean="0">
              <a:solidFill>
                <a:schemeClr val="bg1"/>
              </a:solidFill>
              <a:effectLst>
                <a:outerShdw blurRad="38100" dist="38100" dir="2700000" algn="tl">
                  <a:srgbClr val="C0C0C0"/>
                </a:outerShdw>
              </a:effectLst>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圆角矩形 4"/>
          <p:cNvSpPr>
            <a:spLocks noChangeArrowheads="1"/>
          </p:cNvSpPr>
          <p:nvPr/>
        </p:nvSpPr>
        <p:spPr bwMode="auto">
          <a:xfrm>
            <a:off x="457200" y="1295400"/>
            <a:ext cx="8245475" cy="4876800"/>
          </a:xfrm>
          <a:prstGeom prst="roundRect">
            <a:avLst>
              <a:gd name="adj" fmla="val 16667"/>
            </a:avLst>
          </a:prstGeom>
          <a:solidFill>
            <a:schemeClr val="bg1"/>
          </a:solidFill>
          <a:ln w="25400">
            <a:solidFill>
              <a:srgbClr val="1F38ED"/>
            </a:solidFill>
            <a:round/>
          </a:ln>
        </p:spPr>
        <p:txBody>
          <a:bodyPr anchor="ctr" anchorCtr="1"/>
          <a:lstStyle/>
          <a:p>
            <a:pPr indent="457200">
              <a:spcBef>
                <a:spcPct val="20000"/>
              </a:spcBef>
              <a:buFont typeface="Wingdings" panose="05000000000000000000" pitchFamily="2" charset="2"/>
              <a:buNone/>
              <a:defRPr/>
            </a:pPr>
            <a:r>
              <a:rPr lang="en-US" altLang="zh-CN" sz="2200" dirty="0">
                <a:solidFill>
                  <a:srgbClr val="CC0000"/>
                </a:solidFill>
              </a:rPr>
              <a:t>  </a:t>
            </a:r>
            <a:r>
              <a:rPr lang="en-US" altLang="zh-CN" sz="2200" b="1" dirty="0">
                <a:solidFill>
                  <a:srgbClr val="CC0000"/>
                </a:solidFill>
              </a:rPr>
              <a:t>3.防火墙的局限性及风险</a:t>
            </a:r>
            <a:endParaRPr lang="en-US" altLang="zh-CN" sz="2200" b="1" dirty="0">
              <a:solidFill>
                <a:srgbClr val="CC0000"/>
              </a:solidFill>
            </a:endParaRPr>
          </a:p>
          <a:p>
            <a:pPr indent="457200">
              <a:spcBef>
                <a:spcPct val="20000"/>
              </a:spcBef>
              <a:buFont typeface="Wingdings" panose="05000000000000000000" pitchFamily="2" charset="2"/>
              <a:buNone/>
              <a:defRPr/>
            </a:pPr>
            <a:r>
              <a:rPr lang="en-US" altLang="zh-CN" sz="2000" b="1" dirty="0"/>
              <a:t> 防火墙能够较好地阻止外网基于IP包头的攻击和非信任地址的访问，却</a:t>
            </a:r>
            <a:r>
              <a:rPr lang="en-US" altLang="zh-CN" sz="2000" b="1" dirty="0">
                <a:solidFill>
                  <a:srgbClr val="990033"/>
                </a:solidFill>
              </a:rPr>
              <a:t>无法阻止</a:t>
            </a:r>
            <a:r>
              <a:rPr lang="en-US" altLang="zh-CN" sz="2000" b="1" dirty="0"/>
              <a:t>基于数据内容的黑客攻击和病毒入侵，也</a:t>
            </a:r>
            <a:r>
              <a:rPr lang="en-US" altLang="zh-CN" sz="2000" b="1" dirty="0">
                <a:solidFill>
                  <a:srgbClr val="990033"/>
                </a:solidFill>
              </a:rPr>
              <a:t>无法控制</a:t>
            </a:r>
            <a:r>
              <a:rPr lang="en-US" altLang="zh-CN" sz="2000" b="1" dirty="0"/>
              <a:t>内网之间的攻击行为。</a:t>
            </a:r>
            <a:r>
              <a:rPr lang="en-US" altLang="zh-CN" sz="2000" b="1" dirty="0" err="1"/>
              <a:t>其安全局限性还需要入侵检测系统、入侵防御系统、统一威胁管</a:t>
            </a:r>
            <a:r>
              <a:rPr lang="zh-CN" altLang="en-US" sz="2000" b="1" dirty="0" err="1"/>
              <a:t>理</a:t>
            </a:r>
            <a:r>
              <a:rPr lang="en-US" altLang="zh-CN" sz="2000" b="1" dirty="0" err="1"/>
              <a:t>（</a:t>
            </a:r>
            <a:r>
              <a:rPr lang="en-US" altLang="zh-CN" sz="2000" b="1" dirty="0" err="1">
                <a:latin typeface="Times New Roman" panose="02020603050405020304" pitchFamily="18" charset="0"/>
              </a:rPr>
              <a:t>Unified</a:t>
            </a:r>
            <a:r>
              <a:rPr lang="en-US" altLang="zh-CN" sz="2000" b="1" dirty="0">
                <a:latin typeface="Times New Roman" panose="02020603050405020304" pitchFamily="18" charset="0"/>
              </a:rPr>
              <a:t> Threat </a:t>
            </a:r>
            <a:r>
              <a:rPr lang="en-US" altLang="zh-CN" sz="2000" b="1" dirty="0" err="1">
                <a:latin typeface="Times New Roman" panose="02020603050405020304" pitchFamily="18" charset="0"/>
              </a:rPr>
              <a:t>Mana</a:t>
            </a:r>
            <a:r>
              <a:rPr lang="en-US" altLang="zh-CN" sz="2000" b="1" dirty="0">
                <a:latin typeface="Times New Roman" panose="02020603050405020304" pitchFamily="18" charset="0"/>
              </a:rPr>
              <a:t>- </a:t>
            </a:r>
            <a:endParaRPr lang="en-US" altLang="zh-CN" sz="2000" b="1" dirty="0">
              <a:latin typeface="Times New Roman" panose="02020603050405020304" pitchFamily="18" charset="0"/>
            </a:endParaRPr>
          </a:p>
          <a:p>
            <a:pPr>
              <a:spcBef>
                <a:spcPct val="20000"/>
              </a:spcBef>
              <a:buFont typeface="Wingdings" panose="05000000000000000000" pitchFamily="2" charset="2"/>
              <a:buNone/>
              <a:defRPr/>
            </a:pPr>
            <a:r>
              <a:rPr lang="en-US" altLang="zh-CN" sz="2000" b="1" dirty="0" err="1">
                <a:latin typeface="Times New Roman" panose="02020603050405020304" pitchFamily="18" charset="0"/>
              </a:rPr>
              <a:t>gement</a:t>
            </a:r>
            <a:r>
              <a:rPr lang="en-US" altLang="zh-CN" sz="2000" b="1" dirty="0">
                <a:latin typeface="Times New Roman" panose="02020603050405020304" pitchFamily="18" charset="0"/>
              </a:rPr>
              <a:t>, UTM</a:t>
            </a:r>
            <a:r>
              <a:rPr lang="en-US" altLang="zh-CN" sz="2000" b="1" dirty="0"/>
              <a:t>）等技术进行弥补，应对各种网络攻击，以扩展系统管理员的防范能力（包括安全审计、监视、进攻识别和响应）。</a:t>
            </a:r>
            <a:r>
              <a:rPr lang="en-US" altLang="zh-CN" sz="2000" b="1" dirty="0" err="1"/>
              <a:t>从网络系统中的一些关键点收集并分析有关信息，可检查出违反安全策略的异常行为或遭到攻击的迹象</a:t>
            </a:r>
            <a:r>
              <a:rPr lang="en-US" altLang="zh-CN" sz="2000" b="1" dirty="0"/>
              <a:t>。入侵防御和检测系统被认为是防火墙后的第二道安全闸门，在不影响网络性能的情况下，需要及时对网络进行异常行为的防御和监测，提供对网络内部攻击、外部攻击和误操作的实时保护。</a:t>
            </a:r>
            <a:r>
              <a:rPr lang="zh-CN" altLang="en-US" sz="2000" b="1" dirty="0"/>
              <a:t>防火墙</a:t>
            </a:r>
            <a:r>
              <a:rPr lang="en-US" altLang="zh-CN" sz="2000" b="1" dirty="0" err="1"/>
              <a:t>具体</a:t>
            </a:r>
            <a:r>
              <a:rPr lang="zh-CN" altLang="en-US" sz="2000" b="1" dirty="0"/>
              <a:t>内容</a:t>
            </a:r>
            <a:r>
              <a:rPr lang="en-US" altLang="zh-CN" sz="2000" b="1" dirty="0"/>
              <a:t>将在第8章进行介绍</a:t>
            </a:r>
            <a:r>
              <a:rPr lang="en-US" altLang="zh-CN" sz="2000" dirty="0"/>
              <a:t>。</a:t>
            </a:r>
            <a:endParaRPr lang="en-US" altLang="zh-CN" sz="2000" dirty="0">
              <a:solidFill>
                <a:srgbClr val="CC0000"/>
              </a:solidFill>
            </a:endParaRPr>
          </a:p>
        </p:txBody>
      </p:sp>
      <p:sp>
        <p:nvSpPr>
          <p:cNvPr id="7" name="Rectangle 2"/>
          <p:cNvSpPr txBox="1">
            <a:spLocks noChangeArrowheads="1"/>
          </p:cNvSpPr>
          <p:nvPr/>
        </p:nvSpPr>
        <p:spPr bwMode="white">
          <a:xfrm>
            <a:off x="838200" y="152400"/>
            <a:ext cx="7327900" cy="563563"/>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en-US" altLang="zh-CN" sz="3200" dirty="0" smtClean="0">
                <a:solidFill>
                  <a:schemeClr val="bg1"/>
                </a:solidFill>
                <a:latin typeface="Verdana" panose="020B0604030504040204" pitchFamily="34" charset="0"/>
              </a:rPr>
              <a:t>1.1</a:t>
            </a:r>
            <a:r>
              <a:rPr lang="zh-CN" altLang="en-US" sz="3200" dirty="0" smtClean="0">
                <a:solidFill>
                  <a:schemeClr val="bg1"/>
                </a:solidFill>
                <a:latin typeface="Verdana" panose="020B0604030504040204" pitchFamily="34" charset="0"/>
              </a:rPr>
              <a:t> </a:t>
            </a:r>
            <a:r>
              <a:rPr lang="zh-CN" altLang="en-US" sz="3200" dirty="0" smtClean="0">
                <a:solidFill>
                  <a:schemeClr val="bg1"/>
                </a:solidFill>
                <a:effectLst>
                  <a:outerShdw blurRad="38100" dist="38100" dir="2700000" algn="tl">
                    <a:srgbClr val="C0C0C0"/>
                  </a:outerShdw>
                </a:effectLst>
                <a:latin typeface="Verdana" panose="020B0604030504040204" pitchFamily="34" charset="0"/>
              </a:rPr>
              <a:t>网络空间安全</a:t>
            </a:r>
            <a:r>
              <a:rPr lang="zh-CN" altLang="en-US" sz="3200" dirty="0" smtClean="0">
                <a:solidFill>
                  <a:schemeClr val="bg1"/>
                </a:solidFill>
                <a:effectLst>
                  <a:outerShdw blurRad="38100" dist="38100" dir="2700000" algn="tl">
                    <a:srgbClr val="C0C0C0"/>
                  </a:outerShdw>
                </a:effectLst>
              </a:rPr>
              <a:t>威胁及态势</a:t>
            </a:r>
            <a:endParaRPr lang="zh-CN" altLang="en-US" sz="3200" dirty="0" smtClean="0">
              <a:solidFill>
                <a:schemeClr val="bg1"/>
              </a:solidFill>
              <a:effectLst>
                <a:outerShdw blurRad="38100" dist="38100" dir="2700000" algn="tl">
                  <a:srgbClr val="C0C0C0"/>
                </a:outerShdw>
              </a:effectLst>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 167"/>
          <p:cNvSpPr/>
          <p:nvPr/>
        </p:nvSpPr>
        <p:spPr>
          <a:xfrm>
            <a:off x="609600" y="1219200"/>
            <a:ext cx="8128635" cy="4810125"/>
          </a:xfrm>
          <a:prstGeom prst="roundRect">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buFont typeface="Wingdings" panose="05000000000000000000" pitchFamily="2" charset="2"/>
              <a:buNone/>
              <a:defRPr/>
            </a:pPr>
            <a:r>
              <a:rPr lang="en-US" altLang="zh-CN" sz="2000" b="1" noProof="1">
                <a:solidFill>
                  <a:schemeClr val="tx1"/>
                </a:solidFill>
              </a:rPr>
              <a:t> </a:t>
            </a:r>
            <a:r>
              <a:rPr lang="en-US" altLang="zh-CN" sz="2200" b="1" noProof="1">
                <a:solidFill>
                  <a:srgbClr val="CC0000"/>
                </a:solidFill>
                <a:latin typeface="Arial" panose="020B0604020202020204" pitchFamily="34" charset="0"/>
                <a:cs typeface="+mn-ea"/>
              </a:rPr>
              <a:t>4. 网络数据库的安全风险</a:t>
            </a:r>
            <a:endParaRPr lang="en-US" altLang="zh-CN" sz="2200" b="1" noProof="1">
              <a:solidFill>
                <a:srgbClr val="CC0000"/>
              </a:solidFill>
              <a:latin typeface="Arial" panose="020B0604020202020204" pitchFamily="34" charset="0"/>
              <a:cs typeface="+mn-ea"/>
            </a:endParaRPr>
          </a:p>
          <a:p>
            <a:pPr indent="457200" eaLnBrk="1" fontAlgn="auto" hangingPunct="1">
              <a:spcBef>
                <a:spcPts val="0"/>
              </a:spcBef>
              <a:spcAft>
                <a:spcPts val="0"/>
              </a:spcAft>
              <a:buFont typeface="Wingdings" panose="05000000000000000000" pitchFamily="2" charset="2"/>
              <a:buNone/>
              <a:defRPr/>
            </a:pPr>
            <a:r>
              <a:rPr lang="zh-CN" altLang="en-US" sz="2000" b="1" noProof="1">
                <a:solidFill>
                  <a:srgbClr val="990033"/>
                </a:solidFill>
              </a:rPr>
              <a:t>数据库技术</a:t>
            </a:r>
            <a:r>
              <a:rPr lang="zh-CN" altLang="en-US" sz="2000" b="1" noProof="1">
                <a:solidFill>
                  <a:schemeClr val="tx1"/>
                </a:solidFill>
              </a:rPr>
              <a:t>是信息资源管理和数据处理的</a:t>
            </a:r>
            <a:r>
              <a:rPr lang="zh-CN" altLang="en-US" sz="2000" b="1" noProof="1">
                <a:solidFill>
                  <a:srgbClr val="CC0000"/>
                </a:solidFill>
              </a:rPr>
              <a:t>核心技术</a:t>
            </a:r>
            <a:r>
              <a:rPr lang="zh-CN" altLang="en-US" sz="2000" b="1" noProof="1">
                <a:solidFill>
                  <a:schemeClr val="tx1"/>
                </a:solidFill>
              </a:rPr>
              <a:t>，也是各种应用系统处理业务数据的</a:t>
            </a:r>
            <a:r>
              <a:rPr lang="zh-CN" altLang="en-US" sz="2000" b="1" noProof="1">
                <a:solidFill>
                  <a:srgbClr val="CC0000"/>
                </a:solidFill>
              </a:rPr>
              <a:t>关键</a:t>
            </a:r>
            <a:r>
              <a:rPr lang="zh-CN" altLang="en-US" sz="2000" b="1" noProof="1">
                <a:solidFill>
                  <a:schemeClr val="tx1"/>
                </a:solidFill>
              </a:rPr>
              <a:t>，是信息化建设的重要组成部分。网络系统需要在数据库中存取调用大量重要数据共享，数据库技术的核心是数据库管理系统（DBMS），主要用于集中管理数据资源信息，解决数据资源共享、减少数据冗余，确保系统数据的保密性、完整性和可靠性，各类应用系统都以其为支撑平台。</a:t>
            </a:r>
            <a:r>
              <a:rPr lang="zh-CN" altLang="en-US" sz="2000" b="1" noProof="1">
                <a:solidFill>
                  <a:srgbClr val="CC0000"/>
                </a:solidFill>
              </a:rPr>
              <a:t>数据库安全</a:t>
            </a:r>
            <a:r>
              <a:rPr lang="zh-CN" altLang="en-US" sz="2000" b="1" noProof="1">
                <a:solidFill>
                  <a:schemeClr val="tx1"/>
                </a:solidFill>
              </a:rPr>
              <a:t>不仅包括数据库系统本身的安全，还包括</a:t>
            </a:r>
            <a:r>
              <a:rPr lang="zh-CN" altLang="en-US" sz="2000" b="1" noProof="1">
                <a:solidFill>
                  <a:srgbClr val="990033"/>
                </a:solidFill>
              </a:rPr>
              <a:t>最核心和关键的数据（信息）安全</a:t>
            </a:r>
            <a:r>
              <a:rPr lang="zh-CN" altLang="en-US" sz="2000" b="1" noProof="1">
                <a:solidFill>
                  <a:schemeClr val="tx1"/>
                </a:solidFill>
              </a:rPr>
              <a:t>，需要确保数据的安全可靠和正确有效，确保数据的安全性、完整性和并发控制。</a:t>
            </a:r>
            <a:r>
              <a:rPr lang="zh-CN" altLang="en-US" sz="2000" b="1" noProof="1">
                <a:solidFill>
                  <a:srgbClr val="CC0000"/>
                </a:solidFill>
              </a:rPr>
              <a:t>数据库存在</a:t>
            </a:r>
            <a:r>
              <a:rPr lang="zh-CN" altLang="en-US" sz="2000" b="1" noProof="1" smtClean="0">
                <a:solidFill>
                  <a:srgbClr val="CC0000"/>
                </a:solidFill>
              </a:rPr>
              <a:t>的风险因</a:t>
            </a:r>
            <a:r>
              <a:rPr lang="zh-CN" altLang="en-US" sz="2000" b="1" noProof="1">
                <a:solidFill>
                  <a:srgbClr val="CC0000"/>
                </a:solidFill>
              </a:rPr>
              <a:t>素</a:t>
            </a:r>
            <a:r>
              <a:rPr lang="zh-CN" altLang="en-US" sz="2000" b="1" noProof="1">
                <a:solidFill>
                  <a:schemeClr val="tx1"/>
                </a:solidFill>
              </a:rPr>
              <a:t>包括：非法用户窃取信息资源，授权用户超出权限进行数据访问、更改和破坏等。</a:t>
            </a:r>
            <a:endParaRPr lang="zh-CN" altLang="en-US" sz="2000" b="1" noProof="1">
              <a:solidFill>
                <a:schemeClr val="tx1"/>
              </a:solidFill>
            </a:endParaRPr>
          </a:p>
          <a:p>
            <a:pPr indent="457200" eaLnBrk="1" fontAlgn="auto" hangingPunct="1">
              <a:spcBef>
                <a:spcPts val="0"/>
              </a:spcBef>
              <a:spcAft>
                <a:spcPts val="0"/>
              </a:spcAft>
              <a:buFont typeface="Wingdings" panose="05000000000000000000" pitchFamily="2" charset="2"/>
              <a:buNone/>
              <a:defRPr/>
            </a:pPr>
            <a:r>
              <a:rPr lang="zh-CN" altLang="en-US" sz="2000" b="1" noProof="1">
                <a:solidFill>
                  <a:schemeClr val="tx1"/>
                </a:solidFill>
              </a:rPr>
              <a:t>数据库安全技术和应用，具体将在第10章介绍。</a:t>
            </a:r>
            <a:endParaRPr lang="zh-CN" altLang="en-US" sz="2000" b="1" noProof="1">
              <a:solidFill>
                <a:schemeClr val="tx1"/>
              </a:solidFill>
            </a:endParaRPr>
          </a:p>
        </p:txBody>
      </p:sp>
      <p:sp>
        <p:nvSpPr>
          <p:cNvPr id="7" name="Rectangle 2"/>
          <p:cNvSpPr txBox="1">
            <a:spLocks noChangeArrowheads="1"/>
          </p:cNvSpPr>
          <p:nvPr/>
        </p:nvSpPr>
        <p:spPr bwMode="white">
          <a:xfrm>
            <a:off x="838200" y="152400"/>
            <a:ext cx="7327900" cy="563563"/>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en-US" altLang="zh-CN" sz="3200" dirty="0" smtClean="0">
                <a:solidFill>
                  <a:schemeClr val="bg1"/>
                </a:solidFill>
                <a:latin typeface="Verdana" panose="020B0604030504040204" pitchFamily="34" charset="0"/>
              </a:rPr>
              <a:t>1.1</a:t>
            </a:r>
            <a:r>
              <a:rPr lang="zh-CN" altLang="en-US" sz="3200" dirty="0" smtClean="0">
                <a:solidFill>
                  <a:schemeClr val="bg1"/>
                </a:solidFill>
                <a:latin typeface="Verdana" panose="020B0604030504040204" pitchFamily="34" charset="0"/>
              </a:rPr>
              <a:t> </a:t>
            </a:r>
            <a:r>
              <a:rPr lang="zh-CN" altLang="en-US" sz="3200" dirty="0" smtClean="0">
                <a:solidFill>
                  <a:schemeClr val="bg1"/>
                </a:solidFill>
                <a:effectLst>
                  <a:outerShdw blurRad="38100" dist="38100" dir="2700000" algn="tl">
                    <a:srgbClr val="C0C0C0"/>
                  </a:outerShdw>
                </a:effectLst>
                <a:latin typeface="Verdana" panose="020B0604030504040204" pitchFamily="34" charset="0"/>
              </a:rPr>
              <a:t>网络空间安全</a:t>
            </a:r>
            <a:r>
              <a:rPr lang="zh-CN" altLang="en-US" sz="3200" dirty="0" smtClean="0">
                <a:solidFill>
                  <a:schemeClr val="bg1"/>
                </a:solidFill>
                <a:effectLst>
                  <a:outerShdw blurRad="38100" dist="38100" dir="2700000" algn="tl">
                    <a:srgbClr val="C0C0C0"/>
                  </a:outerShdw>
                </a:effectLst>
              </a:rPr>
              <a:t>威胁及态势</a:t>
            </a:r>
            <a:endParaRPr lang="zh-CN" altLang="en-US" sz="3200" dirty="0" smtClean="0">
              <a:solidFill>
                <a:schemeClr val="bg1"/>
              </a:solidFill>
              <a:effectLst>
                <a:outerShdw blurRad="38100" dist="38100" dir="2700000" algn="tl">
                  <a:srgbClr val="C0C0C0"/>
                </a:outerShdw>
              </a:effectLst>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9"/>
          <p:cNvSpPr>
            <a:spLocks noChangeArrowheads="1"/>
          </p:cNvSpPr>
          <p:nvPr/>
        </p:nvSpPr>
        <p:spPr bwMode="auto">
          <a:xfrm>
            <a:off x="468313" y="1087438"/>
            <a:ext cx="5362575" cy="522287"/>
          </a:xfrm>
          <a:prstGeom prst="rect">
            <a:avLst/>
          </a:prstGeom>
          <a:noFill/>
          <a:ln w="9525">
            <a:noFill/>
            <a:miter lim="800000"/>
          </a:ln>
        </p:spPr>
        <p:txBody>
          <a:bodyPr wrap="none" anchor="ctr">
            <a:spAutoFit/>
          </a:bodyPr>
          <a:lstStyle/>
          <a:p>
            <a:pPr>
              <a:spcBef>
                <a:spcPct val="20000"/>
              </a:spcBef>
              <a:buFont typeface="Wingdings" panose="05000000000000000000" pitchFamily="2" charset="2"/>
              <a:buNone/>
            </a:pPr>
            <a:r>
              <a:rPr lang="en-US" altLang="zh-CN" sz="2800" b="1">
                <a:solidFill>
                  <a:srgbClr val="FF0000"/>
                </a:solidFill>
              </a:rPr>
              <a:t>1.1.3 </a:t>
            </a:r>
            <a:r>
              <a:rPr lang="zh-CN" altLang="en-US" sz="2800" b="1">
                <a:solidFill>
                  <a:srgbClr val="FF0000"/>
                </a:solidFill>
              </a:rPr>
              <a:t>网络安全的威胁及风险分析</a:t>
            </a:r>
            <a:endParaRPr lang="en-US" altLang="zh-CN" sz="2800" b="1">
              <a:solidFill>
                <a:srgbClr val="FF0000"/>
              </a:solidFill>
            </a:endParaRPr>
          </a:p>
        </p:txBody>
      </p:sp>
      <p:sp>
        <p:nvSpPr>
          <p:cNvPr id="28674" name="圆角矩形 4"/>
          <p:cNvSpPr>
            <a:spLocks noChangeArrowheads="1"/>
          </p:cNvSpPr>
          <p:nvPr/>
        </p:nvSpPr>
        <p:spPr bwMode="auto">
          <a:xfrm>
            <a:off x="647700" y="1628775"/>
            <a:ext cx="7956550" cy="2383155"/>
          </a:xfrm>
          <a:prstGeom prst="roundRect">
            <a:avLst>
              <a:gd name="adj" fmla="val 16667"/>
            </a:avLst>
          </a:prstGeom>
          <a:solidFill>
            <a:schemeClr val="bg1"/>
          </a:solidFill>
          <a:ln w="25400">
            <a:solidFill>
              <a:srgbClr val="1F38ED"/>
            </a:solidFill>
            <a:round/>
          </a:ln>
        </p:spPr>
        <p:txBody>
          <a:bodyPr anchor="ctr" anchorCtr="1"/>
          <a:lstStyle/>
          <a:p>
            <a:pPr>
              <a:spcBef>
                <a:spcPct val="20000"/>
              </a:spcBef>
              <a:buFont typeface="Wingdings" panose="05000000000000000000" pitchFamily="2" charset="2"/>
              <a:buNone/>
            </a:pPr>
            <a:r>
              <a:rPr lang="en-US" altLang="zh-CN" sz="2200" b="1">
                <a:solidFill>
                  <a:srgbClr val="CC0000"/>
                </a:solidFill>
              </a:rPr>
              <a:t>      </a:t>
            </a:r>
            <a:r>
              <a:rPr lang="en-US" altLang="zh-CN" b="1">
                <a:solidFill>
                  <a:srgbClr val="CC0000"/>
                </a:solidFill>
              </a:rPr>
              <a:t> 5.</a:t>
            </a:r>
            <a:r>
              <a:rPr lang="zh-CN" altLang="en-US" b="1">
                <a:solidFill>
                  <a:srgbClr val="CC0000"/>
                </a:solidFill>
              </a:rPr>
              <a:t>网络安全管理及其他问题</a:t>
            </a:r>
            <a:endParaRPr lang="zh-CN" altLang="en-US" b="1">
              <a:solidFill>
                <a:srgbClr val="CC0000"/>
              </a:solidFill>
            </a:endParaRPr>
          </a:p>
          <a:p>
            <a:pPr>
              <a:lnSpc>
                <a:spcPct val="90000"/>
              </a:lnSpc>
              <a:spcBef>
                <a:spcPct val="20000"/>
              </a:spcBef>
              <a:buFont typeface="Wingdings" panose="05000000000000000000" pitchFamily="2" charset="2"/>
              <a:buNone/>
            </a:pPr>
            <a:r>
              <a:rPr lang="zh-CN" altLang="en-US" b="1"/>
              <a:t>       </a:t>
            </a:r>
            <a:r>
              <a:rPr lang="zh-CN" altLang="en-US" b="1">
                <a:solidFill>
                  <a:srgbClr val="CC0000"/>
                </a:solidFill>
              </a:rPr>
              <a:t>网络安全是一项系统工程，需要各方面协同管理</a:t>
            </a:r>
            <a:r>
              <a:rPr lang="zh-CN" altLang="en-US" b="1"/>
              <a:t>。安全管理产生的漏洞和疏忽属于人为因素，如果缺乏完善的相关法律法规、管理技术规范和安全管理组织及人员，缺少安全检查、测试和实时有效地安全监控，将是</a:t>
            </a:r>
            <a:r>
              <a:rPr lang="zh-CN" altLang="en-US" b="1">
                <a:solidFill>
                  <a:srgbClr val="990033"/>
                </a:solidFill>
              </a:rPr>
              <a:t>网络安全的最大问题</a:t>
            </a:r>
            <a:r>
              <a:rPr lang="zh-CN" altLang="en-US" b="1"/>
              <a:t>。</a:t>
            </a:r>
            <a:endParaRPr lang="zh-CN" altLang="en-US" b="1"/>
          </a:p>
        </p:txBody>
      </p:sp>
      <p:sp>
        <p:nvSpPr>
          <p:cNvPr id="28675" name="自选图形 842"/>
          <p:cNvSpPr>
            <a:spLocks noChangeArrowheads="1"/>
          </p:cNvSpPr>
          <p:nvPr/>
        </p:nvSpPr>
        <p:spPr bwMode="auto">
          <a:xfrm>
            <a:off x="647700" y="4126865"/>
            <a:ext cx="7956550" cy="2387600"/>
          </a:xfrm>
          <a:prstGeom prst="flowChartAlternateProcess">
            <a:avLst/>
          </a:prstGeom>
          <a:noFill/>
          <a:ln w="31750">
            <a:solidFill>
              <a:schemeClr val="tx1"/>
            </a:solidFill>
            <a:prstDash val="lgDashDot"/>
            <a:miter lim="800000"/>
          </a:ln>
        </p:spPr>
        <p:txBody>
          <a:bodyPr lIns="74295" tIns="8890" rIns="74295" bIns="8890"/>
          <a:lstStyle/>
          <a:p>
            <a:pPr algn="just">
              <a:lnSpc>
                <a:spcPct val="95000"/>
              </a:lnSpc>
              <a:spcBef>
                <a:spcPct val="20000"/>
              </a:spcBef>
              <a:buFont typeface="Wingdings" panose="05000000000000000000" pitchFamily="2" charset="2"/>
              <a:buNone/>
            </a:pPr>
            <a:r>
              <a:rPr lang="zh-CN" altLang="en-US" sz="2200">
                <a:latin typeface="Times New Roman" panose="02020603050405020304" pitchFamily="18" charset="0"/>
                <a:ea typeface="楷体" panose="02010609060101010101" charset="-122"/>
              </a:rPr>
              <a:t>                       </a:t>
            </a:r>
            <a:r>
              <a:rPr lang="zh-CN" altLang="en-US" sz="2200" b="1">
                <a:solidFill>
                  <a:srgbClr val="FF0000"/>
                </a:solidFill>
                <a:latin typeface="Times New Roman" panose="02020603050405020304" pitchFamily="18" charset="0"/>
                <a:ea typeface="楷体" panose="02010609060101010101" charset="-122"/>
              </a:rPr>
              <a:t>中国是网络安全最大受害国，遭受攻击主要来自美国。</a:t>
            </a:r>
            <a:r>
              <a:rPr lang="zh-CN" altLang="en-US" sz="2200" b="1">
                <a:latin typeface="Times New Roman" panose="02020603050405020304" pitchFamily="18" charset="0"/>
                <a:ea typeface="楷体" panose="02010609060101010101" charset="-122"/>
              </a:rPr>
              <a:t>中国国家互联网应急中心（CNNIC）发布的2020年上半年中国互联网网络安全监测数据分析报告：中国遭受来自境外网络攻击持续增加，美国是针对中国网络攻击比较大的来源国。监测发现用于发起DDoS攻击的服务器2379台，其中位于境外的攻击占95.5%</a:t>
            </a:r>
            <a:r>
              <a:rPr lang="en-US" altLang="zh-CN" sz="2200" b="1">
                <a:latin typeface="Times New Roman" panose="02020603050405020304" pitchFamily="18" charset="0"/>
                <a:ea typeface="楷体" panose="02010609060101010101" charset="-122"/>
              </a:rPr>
              <a:t>,</a:t>
            </a:r>
            <a:r>
              <a:rPr lang="zh-CN" altLang="en-US" sz="2200" b="1">
                <a:latin typeface="Times New Roman" panose="02020603050405020304" pitchFamily="18" charset="0"/>
                <a:ea typeface="楷体" panose="02010609060101010101" charset="-122"/>
              </a:rPr>
              <a:t>主要攻击来自美国、荷兰、德国等。</a:t>
            </a:r>
            <a:endParaRPr lang="zh-CN" altLang="en-US" sz="2200" b="1">
              <a:latin typeface="Times New Roman" panose="02020603050405020304" pitchFamily="18" charset="0"/>
              <a:ea typeface="楷体" panose="02010609060101010101" charset="-122"/>
            </a:endParaRPr>
          </a:p>
        </p:txBody>
      </p:sp>
      <p:sp>
        <p:nvSpPr>
          <p:cNvPr id="13" name="圆角矩形 12"/>
          <p:cNvSpPr/>
          <p:nvPr/>
        </p:nvSpPr>
        <p:spPr bwMode="gray">
          <a:xfrm>
            <a:off x="1040765" y="4011930"/>
            <a:ext cx="1216025" cy="452438"/>
          </a:xfrm>
          <a:prstGeom prst="roundRect">
            <a:avLst/>
          </a:prstGeom>
        </p:spPr>
        <p:style>
          <a:lnRef idx="0">
            <a:schemeClr val="accent2"/>
          </a:lnRef>
          <a:fillRef idx="3">
            <a:schemeClr val="accent2"/>
          </a:fillRef>
          <a:effectRef idx="3">
            <a:schemeClr val="accent2"/>
          </a:effectRef>
          <a:fontRef idx="minor">
            <a:schemeClr val="lt1"/>
          </a:fontRef>
        </p:style>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spcBef>
                <a:spcPct val="20000"/>
              </a:spcBef>
              <a:buFont typeface="Wingdings" panose="05000000000000000000" pitchFamily="2" charset="2"/>
              <a:buNone/>
              <a:defRPr/>
            </a:pPr>
            <a:r>
              <a:rPr lang="zh-CN" altLang="en-US" sz="2000" dirty="0" smtClean="0">
                <a:solidFill>
                  <a:srgbClr val="002060"/>
                </a:solidFill>
                <a:latin typeface="宋体" panose="02010600030101010101" pitchFamily="2" charset="-122"/>
              </a:rPr>
              <a:t>案例</a:t>
            </a:r>
            <a:r>
              <a:rPr lang="en-US" altLang="zh-CN" sz="2000" dirty="0" smtClean="0">
                <a:solidFill>
                  <a:srgbClr val="002060"/>
                </a:solidFill>
                <a:latin typeface="宋体" panose="02010600030101010101" pitchFamily="2" charset="-122"/>
              </a:rPr>
              <a:t>1-9</a:t>
            </a:r>
            <a:endParaRPr lang="zh-CN" altLang="en-US" sz="2000" dirty="0" smtClean="0">
              <a:solidFill>
                <a:srgbClr val="002060"/>
              </a:solidFill>
              <a:latin typeface="宋体" panose="02010600030101010101" pitchFamily="2" charset="-122"/>
            </a:endParaRPr>
          </a:p>
        </p:txBody>
      </p:sp>
      <p:sp>
        <p:nvSpPr>
          <p:cNvPr id="2" name="Rectangle 2"/>
          <p:cNvSpPr txBox="1">
            <a:spLocks noChangeArrowheads="1"/>
          </p:cNvSpPr>
          <p:nvPr/>
        </p:nvSpPr>
        <p:spPr bwMode="white">
          <a:xfrm>
            <a:off x="838200" y="152400"/>
            <a:ext cx="7327900" cy="563563"/>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en-US" altLang="zh-CN" sz="3200" dirty="0" smtClean="0">
                <a:solidFill>
                  <a:schemeClr val="bg1"/>
                </a:solidFill>
                <a:latin typeface="Verdana" panose="020B0604030504040204" pitchFamily="34" charset="0"/>
              </a:rPr>
              <a:t>1.1</a:t>
            </a:r>
            <a:r>
              <a:rPr lang="zh-CN" altLang="en-US" sz="3200" dirty="0" smtClean="0">
                <a:solidFill>
                  <a:schemeClr val="bg1"/>
                </a:solidFill>
                <a:latin typeface="Verdana" panose="020B0604030504040204" pitchFamily="34" charset="0"/>
              </a:rPr>
              <a:t> </a:t>
            </a:r>
            <a:r>
              <a:rPr lang="zh-CN" altLang="en-US" sz="3200" dirty="0" smtClean="0">
                <a:solidFill>
                  <a:schemeClr val="bg1"/>
                </a:solidFill>
                <a:effectLst>
                  <a:outerShdw blurRad="38100" dist="38100" dir="2700000" algn="tl">
                    <a:srgbClr val="C0C0C0"/>
                  </a:outerShdw>
                </a:effectLst>
                <a:latin typeface="Verdana" panose="020B0604030504040204" pitchFamily="34" charset="0"/>
              </a:rPr>
              <a:t>网络空间安全</a:t>
            </a:r>
            <a:r>
              <a:rPr lang="zh-CN" altLang="en-US" sz="3200" dirty="0" smtClean="0">
                <a:solidFill>
                  <a:schemeClr val="bg1"/>
                </a:solidFill>
                <a:effectLst>
                  <a:outerShdw blurRad="38100" dist="38100" dir="2700000" algn="tl">
                    <a:srgbClr val="C0C0C0"/>
                  </a:outerShdw>
                </a:effectLst>
              </a:rPr>
              <a:t>威胁及态势</a:t>
            </a:r>
            <a:endParaRPr lang="zh-CN" altLang="en-US" sz="3200" dirty="0" smtClean="0">
              <a:solidFill>
                <a:schemeClr val="bg1"/>
              </a:solidFill>
              <a:effectLst>
                <a:outerShdw blurRad="38100" dist="38100" dir="2700000" algn="tl">
                  <a:srgbClr val="C0C0C0"/>
                </a:outerShdw>
              </a:effectLst>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文本框 2"/>
          <p:cNvSpPr txBox="1">
            <a:spLocks noChangeArrowheads="1"/>
          </p:cNvSpPr>
          <p:nvPr/>
        </p:nvSpPr>
        <p:spPr bwMode="auto">
          <a:xfrm>
            <a:off x="603250" y="1066800"/>
            <a:ext cx="5362575" cy="522288"/>
          </a:xfrm>
          <a:prstGeom prst="rect">
            <a:avLst/>
          </a:prstGeom>
          <a:noFill/>
          <a:ln w="9525">
            <a:noFill/>
            <a:miter lim="800000"/>
          </a:ln>
        </p:spPr>
        <p:txBody>
          <a:bodyPr wrap="none">
            <a:spAutoFit/>
          </a:bodyPr>
          <a:lstStyle/>
          <a:p>
            <a:pPr algn="dist">
              <a:spcBef>
                <a:spcPct val="20000"/>
              </a:spcBef>
              <a:buFont typeface="Wingdings" panose="05000000000000000000" pitchFamily="2" charset="2"/>
              <a:buNone/>
            </a:pPr>
            <a:r>
              <a:rPr lang="en-US" altLang="zh-CN" sz="2800" b="1">
                <a:solidFill>
                  <a:srgbClr val="FF0000"/>
                </a:solidFill>
              </a:rPr>
              <a:t>1.1.3 </a:t>
            </a:r>
            <a:r>
              <a:rPr lang="zh-CN" altLang="en-US" sz="2800" b="1">
                <a:solidFill>
                  <a:srgbClr val="FF0000"/>
                </a:solidFill>
              </a:rPr>
              <a:t>网络安全的威胁及风险分析</a:t>
            </a:r>
            <a:endParaRPr lang="zh-CN" altLang="en-US" sz="2800" b="1"/>
          </a:p>
        </p:txBody>
      </p:sp>
      <p:sp>
        <p:nvSpPr>
          <p:cNvPr id="167" name=" 167"/>
          <p:cNvSpPr/>
          <p:nvPr/>
        </p:nvSpPr>
        <p:spPr>
          <a:xfrm>
            <a:off x="603247" y="1584325"/>
            <a:ext cx="8102600" cy="5092065"/>
          </a:xfrm>
          <a:prstGeom prst="roundRect">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buFont typeface="Wingdings" panose="05000000000000000000" pitchFamily="2" charset="2"/>
              <a:buNone/>
              <a:defRPr/>
            </a:pPr>
            <a:r>
              <a:rPr lang="zh-CN" altLang="en-US" b="1" noProof="1">
                <a:solidFill>
                  <a:schemeClr val="tx1"/>
                </a:solidFill>
              </a:rPr>
              <a:t>1）网络安全</a:t>
            </a:r>
            <a:r>
              <a:rPr lang="zh-CN" altLang="en-US" b="1" noProof="1">
                <a:solidFill>
                  <a:srgbClr val="990033"/>
                </a:solidFill>
              </a:rPr>
              <a:t>相关法律法规和管理政策</a:t>
            </a:r>
            <a:r>
              <a:rPr lang="zh-CN" altLang="en-US" b="1" noProof="1">
                <a:solidFill>
                  <a:schemeClr val="tx1"/>
                </a:solidFill>
              </a:rPr>
              <a:t>问题。网络安全相关的法律法规不健全，管理体制、保障体系、机制、方式方法、权限、监控</a:t>
            </a:r>
            <a:r>
              <a:rPr lang="zh-CN" altLang="en-US" b="1" noProof="1" smtClean="0">
                <a:solidFill>
                  <a:schemeClr val="tx1"/>
                </a:solidFill>
              </a:rPr>
              <a:t>、管</a:t>
            </a:r>
            <a:r>
              <a:rPr lang="zh-CN" altLang="en-US" b="1" noProof="1">
                <a:solidFill>
                  <a:schemeClr val="tx1"/>
                </a:solidFill>
              </a:rPr>
              <a:t>理策略、措施和审计等不够科学完善及时有效等。</a:t>
            </a:r>
            <a:endParaRPr lang="zh-CN" altLang="en-US" b="1" noProof="1">
              <a:solidFill>
                <a:schemeClr val="tx1"/>
              </a:solidFill>
            </a:endParaRPr>
          </a:p>
          <a:p>
            <a:pPr indent="457200" eaLnBrk="1" fontAlgn="auto" hangingPunct="1">
              <a:spcBef>
                <a:spcPts val="0"/>
              </a:spcBef>
              <a:spcAft>
                <a:spcPts val="0"/>
              </a:spcAft>
              <a:buFont typeface="Wingdings" panose="05000000000000000000" pitchFamily="2" charset="2"/>
              <a:buNone/>
              <a:defRPr/>
            </a:pPr>
            <a:r>
              <a:rPr lang="zh-CN" altLang="en-US" b="1" noProof="1">
                <a:solidFill>
                  <a:schemeClr val="tx1"/>
                </a:solidFill>
              </a:rPr>
              <a:t>2）</a:t>
            </a:r>
            <a:r>
              <a:rPr lang="zh-CN" altLang="en-US" b="1" noProof="1">
                <a:solidFill>
                  <a:srgbClr val="990033"/>
                </a:solidFill>
              </a:rPr>
              <a:t>管理漏洞和操作人员</a:t>
            </a:r>
            <a:r>
              <a:rPr lang="zh-CN" altLang="en-US" b="1" noProof="1">
                <a:solidFill>
                  <a:schemeClr val="tx1"/>
                </a:solidFill>
              </a:rPr>
              <a:t>问题。主要是管理疏忽、失误、误操作及水平能力等。如安全配置不当所造成的安全漏洞，用户安全意识不强与疏忽，密码选择不慎等都会对网络安全构成威胁。疏于管理与防范，甚至个别内部人员贪心邪念成为最大威胁。</a:t>
            </a:r>
            <a:endParaRPr lang="zh-CN" altLang="en-US" b="1" noProof="1">
              <a:solidFill>
                <a:schemeClr val="tx1"/>
              </a:solidFill>
            </a:endParaRPr>
          </a:p>
          <a:p>
            <a:pPr indent="457200" eaLnBrk="1" fontAlgn="auto" hangingPunct="1">
              <a:spcBef>
                <a:spcPts val="0"/>
              </a:spcBef>
              <a:spcAft>
                <a:spcPts val="0"/>
              </a:spcAft>
              <a:buFont typeface="Wingdings" panose="05000000000000000000" pitchFamily="2" charset="2"/>
              <a:buNone/>
              <a:defRPr/>
            </a:pPr>
            <a:r>
              <a:rPr lang="zh-CN" altLang="en-US" b="1" noProof="1">
                <a:solidFill>
                  <a:schemeClr val="tx1"/>
                </a:solidFill>
              </a:rPr>
              <a:t>3）</a:t>
            </a:r>
            <a:r>
              <a:rPr lang="zh-CN" altLang="en-US" b="1" noProof="1">
                <a:solidFill>
                  <a:srgbClr val="990033"/>
                </a:solidFill>
              </a:rPr>
              <a:t>实体管理、运行环</a:t>
            </a:r>
            <a:r>
              <a:rPr lang="zh-CN" altLang="en-US" b="1" noProof="1" smtClean="0">
                <a:solidFill>
                  <a:srgbClr val="990033"/>
                </a:solidFill>
              </a:rPr>
              <a:t>境及</a:t>
            </a:r>
            <a:r>
              <a:rPr lang="zh-CN" altLang="en-US" b="1" noProof="1">
                <a:solidFill>
                  <a:srgbClr val="990033"/>
                </a:solidFill>
              </a:rPr>
              <a:t>传输安全</a:t>
            </a:r>
            <a:r>
              <a:rPr lang="zh-CN" altLang="en-US" b="1" noProof="1">
                <a:solidFill>
                  <a:schemeClr val="tx1"/>
                </a:solidFill>
              </a:rPr>
              <a:t>是网络安全的重要基础。在光缆、同轴电缆、微波、卫星通信中窃听指定的信息很难，但是，没有绝对安全的通信线路，如电磁干扰泄漏等安全问题。</a:t>
            </a:r>
            <a:endParaRPr lang="zh-CN" altLang="en-US" b="1" noProof="1">
              <a:solidFill>
                <a:schemeClr val="tx1"/>
              </a:solidFill>
            </a:endParaRPr>
          </a:p>
        </p:txBody>
      </p:sp>
      <p:sp>
        <p:nvSpPr>
          <p:cNvPr id="7" name="Rectangle 2"/>
          <p:cNvSpPr txBox="1">
            <a:spLocks noChangeArrowheads="1"/>
          </p:cNvSpPr>
          <p:nvPr/>
        </p:nvSpPr>
        <p:spPr bwMode="white">
          <a:xfrm>
            <a:off x="838200" y="152400"/>
            <a:ext cx="7327900" cy="563563"/>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en-US" altLang="zh-CN" sz="3200" dirty="0" smtClean="0">
                <a:solidFill>
                  <a:schemeClr val="bg1"/>
                </a:solidFill>
                <a:latin typeface="Verdana" panose="020B0604030504040204" pitchFamily="34" charset="0"/>
              </a:rPr>
              <a:t>1.1</a:t>
            </a:r>
            <a:r>
              <a:rPr lang="zh-CN" altLang="en-US" sz="3200" dirty="0" smtClean="0">
                <a:solidFill>
                  <a:schemeClr val="bg1"/>
                </a:solidFill>
                <a:latin typeface="Verdana" panose="020B0604030504040204" pitchFamily="34" charset="0"/>
              </a:rPr>
              <a:t> </a:t>
            </a:r>
            <a:r>
              <a:rPr lang="zh-CN" altLang="en-US" sz="3200" dirty="0" smtClean="0">
                <a:solidFill>
                  <a:schemeClr val="bg1"/>
                </a:solidFill>
                <a:effectLst>
                  <a:outerShdw blurRad="38100" dist="38100" dir="2700000" algn="tl">
                    <a:srgbClr val="C0C0C0"/>
                  </a:outerShdw>
                </a:effectLst>
                <a:latin typeface="Verdana" panose="020B0604030504040204" pitchFamily="34" charset="0"/>
              </a:rPr>
              <a:t>网络空间安全</a:t>
            </a:r>
            <a:r>
              <a:rPr lang="zh-CN" altLang="en-US" sz="3200" dirty="0" smtClean="0">
                <a:solidFill>
                  <a:schemeClr val="bg1"/>
                </a:solidFill>
                <a:effectLst>
                  <a:outerShdw blurRad="38100" dist="38100" dir="2700000" algn="tl">
                    <a:srgbClr val="C0C0C0"/>
                  </a:outerShdw>
                </a:effectLst>
              </a:rPr>
              <a:t>威胁及态势</a:t>
            </a:r>
            <a:endParaRPr lang="zh-CN" altLang="en-US" sz="3200" dirty="0" smtClean="0">
              <a:solidFill>
                <a:schemeClr val="bg1"/>
              </a:solidFill>
              <a:effectLst>
                <a:outerShdw blurRad="38100" dist="38100" dir="2700000" algn="tl">
                  <a:srgbClr val="C0C0C0"/>
                </a:outerShdw>
              </a:effectLst>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9"/>
          <p:cNvSpPr>
            <a:spLocks noChangeArrowheads="1"/>
          </p:cNvSpPr>
          <p:nvPr/>
        </p:nvSpPr>
        <p:spPr bwMode="auto">
          <a:xfrm>
            <a:off x="457200" y="993775"/>
            <a:ext cx="5719763" cy="522288"/>
          </a:xfrm>
          <a:prstGeom prst="rect">
            <a:avLst/>
          </a:prstGeom>
          <a:noFill/>
          <a:ln w="9525">
            <a:noFill/>
            <a:miter lim="800000"/>
          </a:ln>
        </p:spPr>
        <p:txBody>
          <a:bodyPr wrap="none" anchor="ctr">
            <a:spAutoFit/>
          </a:bodyPr>
          <a:lstStyle/>
          <a:p>
            <a:pPr>
              <a:spcBef>
                <a:spcPct val="20000"/>
              </a:spcBef>
              <a:buFont typeface="Wingdings" panose="05000000000000000000" pitchFamily="2" charset="2"/>
              <a:buNone/>
            </a:pPr>
            <a:r>
              <a:rPr lang="en-US" altLang="zh-CN" sz="2800" b="1">
                <a:solidFill>
                  <a:srgbClr val="FF0000"/>
                </a:solidFill>
              </a:rPr>
              <a:t>1.1.4 </a:t>
            </a:r>
            <a:r>
              <a:rPr lang="zh-CN" altLang="en-US" sz="2800" b="1">
                <a:solidFill>
                  <a:srgbClr val="FF0000"/>
                </a:solidFill>
              </a:rPr>
              <a:t>网络空间安全威胁的发展态势</a:t>
            </a:r>
            <a:endParaRPr lang="en-US" altLang="zh-CN" sz="2800" b="1">
              <a:solidFill>
                <a:srgbClr val="FF0000"/>
              </a:solidFill>
            </a:endParaRPr>
          </a:p>
        </p:txBody>
      </p:sp>
      <p:sp>
        <p:nvSpPr>
          <p:cNvPr id="30722" name="圆角矩形 4"/>
          <p:cNvSpPr>
            <a:spLocks noChangeArrowheads="1"/>
          </p:cNvSpPr>
          <p:nvPr/>
        </p:nvSpPr>
        <p:spPr bwMode="auto">
          <a:xfrm>
            <a:off x="503238" y="1592263"/>
            <a:ext cx="8389937" cy="4732337"/>
          </a:xfrm>
          <a:prstGeom prst="roundRect">
            <a:avLst>
              <a:gd name="adj" fmla="val 16667"/>
            </a:avLst>
          </a:prstGeom>
          <a:solidFill>
            <a:schemeClr val="bg1"/>
          </a:solidFill>
          <a:ln w="25400">
            <a:solidFill>
              <a:srgbClr val="1F38ED"/>
            </a:solidFill>
            <a:round/>
          </a:ln>
        </p:spPr>
        <p:txBody>
          <a:bodyPr anchor="ctr" anchorCtr="1"/>
          <a:lstStyle/>
          <a:p>
            <a:pPr indent="457200">
              <a:lnSpc>
                <a:spcPct val="90000"/>
              </a:lnSpc>
              <a:buFont typeface="Wingdings" panose="05000000000000000000" pitchFamily="2" charset="2"/>
              <a:buNone/>
            </a:pPr>
            <a:r>
              <a:rPr lang="zh-CN" altLang="en-US" sz="2000" b="1"/>
              <a:t>我国监管机构对</a:t>
            </a:r>
            <a:r>
              <a:rPr lang="zh-CN" altLang="en-US" sz="2000" b="1">
                <a:solidFill>
                  <a:srgbClr val="CC0000"/>
                </a:solidFill>
              </a:rPr>
              <a:t>网络安全威胁</a:t>
            </a:r>
            <a:r>
              <a:rPr lang="zh-CN" altLang="en-US" sz="2000" b="1"/>
              <a:t>和</a:t>
            </a:r>
            <a:r>
              <a:rPr lang="zh-CN" altLang="en-US" sz="2000" b="1">
                <a:solidFill>
                  <a:srgbClr val="CC0000"/>
                </a:solidFill>
              </a:rPr>
              <a:t>新网络攻击手段</a:t>
            </a:r>
            <a:r>
              <a:rPr lang="zh-CN" altLang="en-US" sz="2000" b="1"/>
              <a:t>等进行深入分析和研究</a:t>
            </a:r>
            <a:r>
              <a:rPr lang="en-US" altLang="zh-CN" sz="2000" b="1"/>
              <a:t>,</a:t>
            </a:r>
            <a:r>
              <a:rPr lang="zh-CN" altLang="en-US" sz="2000" b="1">
                <a:solidFill>
                  <a:srgbClr val="990033"/>
                </a:solidFill>
              </a:rPr>
              <a:t>攻击工具</a:t>
            </a:r>
            <a:r>
              <a:rPr lang="zh-CN" altLang="en-US" sz="2000" b="1"/>
              <a:t>更加简单化</a:t>
            </a:r>
            <a:r>
              <a:rPr lang="en-US" altLang="zh-CN" sz="2000" b="1"/>
              <a:t>,</a:t>
            </a:r>
            <a:r>
              <a:rPr lang="zh-CN" altLang="en-US" sz="2000" b="1"/>
              <a:t>智能化、自动化</a:t>
            </a:r>
            <a:r>
              <a:rPr lang="en-US" altLang="zh-CN" sz="2000" b="1"/>
              <a:t>.</a:t>
            </a:r>
            <a:r>
              <a:rPr lang="zh-CN" altLang="en-US" sz="2000" b="1">
                <a:solidFill>
                  <a:srgbClr val="990033"/>
                </a:solidFill>
              </a:rPr>
              <a:t>攻击手段</a:t>
            </a:r>
            <a:r>
              <a:rPr lang="zh-CN" altLang="en-US" sz="2000" b="1"/>
              <a:t>更加复杂多变</a:t>
            </a:r>
            <a:r>
              <a:rPr lang="en-US" altLang="zh-CN" sz="2000" b="1"/>
              <a:t>,</a:t>
            </a:r>
            <a:r>
              <a:rPr lang="zh-CN" altLang="en-US" sz="2000" b="1"/>
              <a:t>攻击直指网络基础协议和操作系统</a:t>
            </a:r>
            <a:r>
              <a:rPr lang="en-US" altLang="zh-CN" sz="2000" b="1"/>
              <a:t>,</a:t>
            </a:r>
            <a:r>
              <a:rPr lang="zh-CN" altLang="en-US" sz="2000" b="1"/>
              <a:t>黑客培训广泛</a:t>
            </a:r>
            <a:r>
              <a:rPr lang="en-US" altLang="zh-CN" sz="2000" b="1"/>
              <a:t>.</a:t>
            </a:r>
            <a:r>
              <a:rPr lang="zh-CN" altLang="en-US" sz="2000" b="1"/>
              <a:t> 提出新课题与挑战。</a:t>
            </a:r>
            <a:endParaRPr lang="zh-CN" altLang="en-US" sz="2000" b="1"/>
          </a:p>
          <a:p>
            <a:pPr indent="457200">
              <a:buFont typeface="Wingdings" panose="05000000000000000000" pitchFamily="2" charset="2"/>
              <a:buNone/>
            </a:pPr>
            <a:r>
              <a:rPr lang="zh-CN" altLang="en-US" sz="2000" b="1">
                <a:solidFill>
                  <a:srgbClr val="990033"/>
                </a:solidFill>
              </a:rPr>
              <a:t>中国电子信息产业发展研究院</a:t>
            </a:r>
            <a:r>
              <a:rPr lang="zh-CN" altLang="en-US" sz="2000" b="1"/>
              <a:t>，在对国内外网络安全问题进行认真分析研究的基础上提出</a:t>
            </a:r>
            <a:r>
              <a:rPr lang="zh-CN" altLang="en-US" sz="2000" b="1">
                <a:solidFill>
                  <a:srgbClr val="C00000"/>
                </a:solidFill>
              </a:rPr>
              <a:t>未来网络安全威胁趋势</a:t>
            </a:r>
            <a:r>
              <a:rPr lang="zh-CN" altLang="en-US" sz="2000" b="1"/>
              <a:t>主要包括：</a:t>
            </a:r>
            <a:endParaRPr lang="zh-CN" altLang="en-US" sz="2000" b="1"/>
          </a:p>
          <a:p>
            <a:pPr indent="457200">
              <a:buFont typeface="Wingdings" panose="05000000000000000000" pitchFamily="2" charset="2"/>
              <a:buNone/>
            </a:pPr>
            <a:r>
              <a:rPr lang="zh-CN" altLang="en-US" sz="2000" b="1"/>
              <a:t> </a:t>
            </a:r>
            <a:r>
              <a:rPr lang="en-US" altLang="zh-CN" sz="2000" b="1"/>
              <a:t>1</a:t>
            </a:r>
            <a:r>
              <a:rPr lang="zh-CN" altLang="en-US" sz="2000" b="1"/>
              <a:t>）网络空间国际军备竞赛加剧。</a:t>
            </a:r>
            <a:endParaRPr lang="zh-CN" altLang="en-US" sz="2000" b="1"/>
          </a:p>
          <a:p>
            <a:pPr indent="457200">
              <a:buFont typeface="Wingdings" panose="05000000000000000000" pitchFamily="2" charset="2"/>
              <a:buNone/>
            </a:pPr>
            <a:r>
              <a:rPr lang="en-US" altLang="zh-CN" sz="2000" b="1"/>
              <a:t> 2</a:t>
            </a:r>
            <a:r>
              <a:rPr lang="zh-CN" altLang="en-US" sz="2000" b="1"/>
              <a:t>）网络空间国际话语权争夺更激烈。</a:t>
            </a:r>
            <a:endParaRPr lang="zh-CN" altLang="en-US" sz="2000" b="1"/>
          </a:p>
          <a:p>
            <a:pPr indent="457200">
              <a:buFont typeface="Wingdings" panose="05000000000000000000" pitchFamily="2" charset="2"/>
              <a:buNone/>
            </a:pPr>
            <a:r>
              <a:rPr lang="en-US" altLang="zh-CN" sz="2000" b="1"/>
              <a:t> 3</a:t>
            </a:r>
            <a:r>
              <a:rPr lang="zh-CN" altLang="en-US" sz="2000" b="1"/>
              <a:t>）可能发生有组织的大规模网络攻击。</a:t>
            </a:r>
            <a:endParaRPr lang="zh-CN" altLang="en-US" sz="2000" b="1"/>
          </a:p>
          <a:p>
            <a:pPr indent="457200">
              <a:buFont typeface="Wingdings" panose="05000000000000000000" pitchFamily="2" charset="2"/>
              <a:buNone/>
            </a:pPr>
            <a:r>
              <a:rPr lang="en-US" altLang="zh-CN" sz="2000" b="1"/>
              <a:t> 4</a:t>
            </a:r>
            <a:r>
              <a:rPr lang="zh-CN" altLang="en-US" sz="2000" b="1"/>
              <a:t>）移动互联网安全事件增加。</a:t>
            </a:r>
            <a:endParaRPr lang="zh-CN" altLang="en-US" sz="2000" b="1"/>
          </a:p>
          <a:p>
            <a:pPr indent="457200">
              <a:buFont typeface="Wingdings" panose="05000000000000000000" pitchFamily="2" charset="2"/>
              <a:buNone/>
            </a:pPr>
            <a:r>
              <a:rPr lang="en-US" altLang="zh-CN" sz="2000" b="1"/>
              <a:t> 5</a:t>
            </a:r>
            <a:r>
              <a:rPr lang="zh-CN" altLang="en-US" sz="2000" b="1"/>
              <a:t>）智能互联设备成为网络攻击的新目标。</a:t>
            </a:r>
            <a:endParaRPr lang="zh-CN" altLang="en-US" sz="2000" b="1"/>
          </a:p>
          <a:p>
            <a:pPr indent="457200">
              <a:buFont typeface="Wingdings" panose="05000000000000000000" pitchFamily="2" charset="2"/>
              <a:buNone/>
            </a:pPr>
            <a:r>
              <a:rPr lang="en-US" altLang="zh-CN" sz="2000" b="1"/>
              <a:t> 6</a:t>
            </a:r>
            <a:r>
              <a:rPr lang="zh-CN" altLang="en-US" sz="2000" b="1"/>
              <a:t>）工业控制系统的安全风险加大。</a:t>
            </a:r>
            <a:endParaRPr lang="zh-CN" altLang="en-US" sz="2000" b="1"/>
          </a:p>
          <a:p>
            <a:pPr indent="457200">
              <a:buFont typeface="Wingdings" panose="05000000000000000000" pitchFamily="2" charset="2"/>
              <a:buNone/>
            </a:pPr>
            <a:r>
              <a:rPr lang="en-US" altLang="zh-CN" sz="2000" b="1"/>
              <a:t> 7</a:t>
            </a:r>
            <a:r>
              <a:rPr lang="zh-CN" altLang="en-US" sz="2000" b="1"/>
              <a:t>）可能发生大规模信息泄露事件。</a:t>
            </a:r>
            <a:endParaRPr lang="zh-CN" altLang="en-US" sz="2000" b="1"/>
          </a:p>
          <a:p>
            <a:pPr indent="457200">
              <a:buFont typeface="Wingdings" panose="05000000000000000000" pitchFamily="2" charset="2"/>
              <a:buNone/>
            </a:pPr>
            <a:r>
              <a:rPr lang="en-US" altLang="zh-CN" sz="2000" b="1"/>
              <a:t> 8</a:t>
            </a:r>
            <a:r>
              <a:rPr lang="zh-CN" altLang="en-US" sz="2000" b="1"/>
              <a:t>）网络安全事件将造成更大损失。</a:t>
            </a:r>
            <a:endParaRPr lang="zh-CN" altLang="en-US" sz="2000" b="1"/>
          </a:p>
          <a:p>
            <a:pPr indent="457200">
              <a:buFont typeface="Wingdings" panose="05000000000000000000" pitchFamily="2" charset="2"/>
              <a:buNone/>
            </a:pPr>
            <a:r>
              <a:rPr lang="en-US" altLang="zh-CN" sz="2000" b="1"/>
              <a:t> 9</a:t>
            </a:r>
            <a:r>
              <a:rPr lang="zh-CN" altLang="en-US" sz="2000" b="1"/>
              <a:t>）我国信息安全产业将快速发展。 </a:t>
            </a:r>
            <a:endParaRPr lang="zh-CN" altLang="en-US" sz="2000" b="1"/>
          </a:p>
        </p:txBody>
      </p:sp>
      <p:pic>
        <p:nvPicPr>
          <p:cNvPr id="30723" name="Picture 5" descr="MC900441341[1]"/>
          <p:cNvPicPr>
            <a:picLocks noChangeAspect="1" noChangeArrowheads="1"/>
          </p:cNvPicPr>
          <p:nvPr/>
        </p:nvPicPr>
        <p:blipFill>
          <a:blip r:embed="rId1" cstate="print"/>
          <a:srcRect/>
          <a:stretch>
            <a:fillRect/>
          </a:stretch>
        </p:blipFill>
        <p:spPr bwMode="auto">
          <a:xfrm>
            <a:off x="7235825" y="5316538"/>
            <a:ext cx="1584325" cy="1541462"/>
          </a:xfrm>
          <a:prstGeom prst="rect">
            <a:avLst/>
          </a:prstGeom>
          <a:noFill/>
          <a:ln w="9525">
            <a:noFill/>
            <a:miter lim="800000"/>
            <a:headEnd/>
            <a:tailEnd/>
          </a:ln>
        </p:spPr>
      </p:pic>
      <p:sp>
        <p:nvSpPr>
          <p:cNvPr id="30724" name="矩形 1"/>
          <p:cNvSpPr>
            <a:spLocks noChangeArrowheads="1"/>
          </p:cNvSpPr>
          <p:nvPr/>
        </p:nvSpPr>
        <p:spPr bwMode="auto">
          <a:xfrm>
            <a:off x="5791200" y="3733800"/>
            <a:ext cx="3048000" cy="1187450"/>
          </a:xfrm>
          <a:prstGeom prst="rect">
            <a:avLst/>
          </a:prstGeom>
          <a:solidFill>
            <a:srgbClr val="AFEAFF"/>
          </a:solidFill>
          <a:ln w="12700">
            <a:solidFill>
              <a:schemeClr val="accent1"/>
            </a:solidFill>
            <a:round/>
          </a:ln>
        </p:spPr>
        <p:txBody>
          <a:bodyPr wrap="none" anchor="ctr"/>
          <a:lstStyle/>
          <a:p>
            <a:pPr>
              <a:spcBef>
                <a:spcPct val="20000"/>
              </a:spcBef>
              <a:buFont typeface="Wingdings" panose="05000000000000000000" pitchFamily="2" charset="2"/>
              <a:buNone/>
            </a:pPr>
            <a:r>
              <a:rPr lang="zh-CN" altLang="en-US" sz="1700" b="1">
                <a:latin typeface="Times New Roman" panose="02020603050405020304" pitchFamily="18" charset="0"/>
                <a:ea typeface="楷体" panose="02010609060101010101" charset="-122"/>
              </a:rPr>
              <a:t>著名未来学家</a:t>
            </a:r>
            <a:r>
              <a:rPr lang="zh-CN" altLang="en-US" sz="1700" b="1">
                <a:solidFill>
                  <a:srgbClr val="FF0000"/>
                </a:solidFill>
                <a:latin typeface="Times New Roman" panose="02020603050405020304" pitchFamily="18" charset="0"/>
                <a:ea typeface="楷体" panose="02010609060101010101" charset="-122"/>
              </a:rPr>
              <a:t>阿尔文</a:t>
            </a:r>
            <a:r>
              <a:rPr lang="en-US" altLang="zh-CN" sz="1700" b="1">
                <a:solidFill>
                  <a:srgbClr val="FF0000"/>
                </a:solidFill>
                <a:latin typeface="Times New Roman" panose="02020603050405020304" pitchFamily="18" charset="0"/>
                <a:ea typeface="楷体" panose="02010609060101010101" charset="-122"/>
              </a:rPr>
              <a:t>.</a:t>
            </a:r>
            <a:r>
              <a:rPr lang="zh-CN" altLang="en-US" sz="1700" b="1">
                <a:solidFill>
                  <a:srgbClr val="FF0000"/>
                </a:solidFill>
                <a:latin typeface="Times New Roman" panose="02020603050405020304" pitchFamily="18" charset="0"/>
                <a:ea typeface="楷体" panose="02010609060101010101" charset="-122"/>
              </a:rPr>
              <a:t>托夫勒</a:t>
            </a:r>
            <a:r>
              <a:rPr lang="zh-CN" altLang="en-US" sz="1700" b="1">
                <a:latin typeface="Times New Roman" panose="02020603050405020304" pitchFamily="18" charset="0"/>
                <a:ea typeface="楷体" panose="02010609060101010101" charset="-122"/>
              </a:rPr>
              <a:t>：</a:t>
            </a:r>
            <a:endParaRPr lang="en-US" altLang="zh-CN" sz="1700" b="1">
              <a:latin typeface="Times New Roman" panose="02020603050405020304" pitchFamily="18" charset="0"/>
              <a:ea typeface="楷体" panose="02010609060101010101" charset="-122"/>
            </a:endParaRPr>
          </a:p>
          <a:p>
            <a:pPr>
              <a:spcBef>
                <a:spcPct val="20000"/>
              </a:spcBef>
              <a:buFont typeface="Wingdings" panose="05000000000000000000" pitchFamily="2" charset="2"/>
              <a:buNone/>
            </a:pPr>
            <a:r>
              <a:rPr lang="zh-CN" altLang="en-US" sz="1700" b="1">
                <a:solidFill>
                  <a:srgbClr val="C00000"/>
                </a:solidFill>
                <a:latin typeface="Times New Roman" panose="02020603050405020304" pitchFamily="18" charset="0"/>
                <a:ea typeface="楷体" panose="02010609060101010101" charset="-122"/>
              </a:rPr>
              <a:t>谁掌握了信息，谁控制了网络，</a:t>
            </a:r>
            <a:endParaRPr lang="en-US" altLang="zh-CN" sz="1700" b="1">
              <a:solidFill>
                <a:srgbClr val="C00000"/>
              </a:solidFill>
              <a:latin typeface="Times New Roman" panose="02020603050405020304" pitchFamily="18" charset="0"/>
              <a:ea typeface="楷体" panose="02010609060101010101" charset="-122"/>
            </a:endParaRPr>
          </a:p>
          <a:p>
            <a:pPr>
              <a:spcBef>
                <a:spcPct val="20000"/>
              </a:spcBef>
              <a:buFont typeface="Wingdings" panose="05000000000000000000" pitchFamily="2" charset="2"/>
              <a:buNone/>
            </a:pPr>
            <a:r>
              <a:rPr lang="zh-CN" altLang="en-US" sz="1700" b="1">
                <a:solidFill>
                  <a:srgbClr val="C00000"/>
                </a:solidFill>
                <a:latin typeface="Times New Roman" panose="02020603050405020304" pitchFamily="18" charset="0"/>
                <a:ea typeface="楷体" panose="02010609060101010101" charset="-122"/>
              </a:rPr>
              <a:t>谁就将拥有整个世界</a:t>
            </a:r>
            <a:r>
              <a:rPr lang="zh-CN" altLang="en-US" sz="1600" b="1">
                <a:latin typeface="Times New Roman" panose="02020603050405020304" pitchFamily="18" charset="0"/>
                <a:ea typeface="楷体" panose="02010609060101010101" charset="-122"/>
              </a:rPr>
              <a:t>。</a:t>
            </a:r>
            <a:endParaRPr lang="zh-CN" altLang="en-US" sz="1600" b="1">
              <a:solidFill>
                <a:schemeClr val="tx2"/>
              </a:solidFill>
            </a:endParaRPr>
          </a:p>
        </p:txBody>
      </p:sp>
      <p:sp>
        <p:nvSpPr>
          <p:cNvPr id="7" name="Rectangle 2"/>
          <p:cNvSpPr txBox="1">
            <a:spLocks noChangeArrowheads="1"/>
          </p:cNvSpPr>
          <p:nvPr/>
        </p:nvSpPr>
        <p:spPr bwMode="white">
          <a:xfrm>
            <a:off x="838200" y="152400"/>
            <a:ext cx="7327900" cy="563563"/>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en-US" altLang="zh-CN" sz="3200" dirty="0" smtClean="0">
                <a:solidFill>
                  <a:schemeClr val="bg1"/>
                </a:solidFill>
                <a:latin typeface="Verdana" panose="020B0604030504040204" pitchFamily="34" charset="0"/>
              </a:rPr>
              <a:t>1.1</a:t>
            </a:r>
            <a:r>
              <a:rPr lang="zh-CN" altLang="en-US" sz="3200" dirty="0" smtClean="0">
                <a:solidFill>
                  <a:schemeClr val="bg1"/>
                </a:solidFill>
                <a:latin typeface="Verdana" panose="020B0604030504040204" pitchFamily="34" charset="0"/>
              </a:rPr>
              <a:t> </a:t>
            </a:r>
            <a:r>
              <a:rPr lang="zh-CN" altLang="en-US" sz="3200" dirty="0" smtClean="0">
                <a:solidFill>
                  <a:schemeClr val="bg1"/>
                </a:solidFill>
                <a:effectLst>
                  <a:outerShdw blurRad="38100" dist="38100" dir="2700000" algn="tl">
                    <a:srgbClr val="C0C0C0"/>
                  </a:outerShdw>
                </a:effectLst>
                <a:latin typeface="Verdana" panose="020B0604030504040204" pitchFamily="34" charset="0"/>
              </a:rPr>
              <a:t>网络空间安全</a:t>
            </a:r>
            <a:r>
              <a:rPr lang="zh-CN" altLang="en-US" sz="3200" dirty="0" smtClean="0">
                <a:solidFill>
                  <a:schemeClr val="bg1"/>
                </a:solidFill>
                <a:effectLst>
                  <a:outerShdw blurRad="38100" dist="38100" dir="2700000" algn="tl">
                    <a:srgbClr val="C0C0C0"/>
                  </a:outerShdw>
                </a:effectLst>
              </a:rPr>
              <a:t>威胁及态势</a:t>
            </a:r>
            <a:endParaRPr lang="zh-CN" altLang="en-US" sz="3200" dirty="0" smtClean="0">
              <a:solidFill>
                <a:schemeClr val="bg1"/>
              </a:solidFill>
              <a:effectLst>
                <a:outerShdw blurRad="38100" dist="38100" dir="2700000" algn="tl">
                  <a:srgbClr val="C0C0C0"/>
                </a:outerShdw>
              </a:effectLst>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内容占位符 13"/>
          <p:cNvSpPr>
            <a:spLocks noGrp="1" noChangeArrowheads="1"/>
          </p:cNvSpPr>
          <p:nvPr>
            <p:ph idx="1"/>
          </p:nvPr>
        </p:nvSpPr>
        <p:spPr>
          <a:xfrm>
            <a:off x="419100" y="1185863"/>
            <a:ext cx="8040688" cy="947737"/>
          </a:xfrm>
        </p:spPr>
        <p:txBody>
          <a:bodyPr/>
          <a:lstStyle/>
          <a:p>
            <a:pPr eaLnBrk="1" hangingPunct="1">
              <a:spcAft>
                <a:spcPts val="600"/>
              </a:spcAft>
              <a:buFont typeface="Wingdings" panose="05000000000000000000" pitchFamily="2" charset="2"/>
              <a:buNone/>
            </a:pPr>
            <a:endParaRPr lang="en-US" altLang="zh-CN" sz="2400" smtClean="0">
              <a:solidFill>
                <a:srgbClr val="FF0000"/>
              </a:solidFill>
              <a:latin typeface="Calibri" panose="020F0502020204030204" pitchFamily="34" charset="0"/>
              <a:ea typeface="黑体" panose="02010609060101010101" pitchFamily="49" charset="-122"/>
            </a:endParaRPr>
          </a:p>
          <a:p>
            <a:pPr eaLnBrk="1" hangingPunct="1">
              <a:buFont typeface="Wingdings" panose="05000000000000000000" pitchFamily="2" charset="2"/>
              <a:buNone/>
            </a:pPr>
            <a:r>
              <a:rPr lang="zh-CN" altLang="en-US" sz="1800" smtClean="0">
                <a:solidFill>
                  <a:srgbClr val="FF0000"/>
                </a:solidFill>
                <a:ea typeface="黑体" panose="02010609060101010101" pitchFamily="49" charset="-122"/>
              </a:rPr>
              <a:t> </a:t>
            </a:r>
            <a:endParaRPr lang="en-US" altLang="zh-CN" sz="1800" smtClean="0">
              <a:ea typeface="黑体" panose="02010609060101010101" pitchFamily="49" charset="-122"/>
            </a:endParaRPr>
          </a:p>
          <a:p>
            <a:pP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a typeface="黑体" panose="02010609060101010101" pitchFamily="49" charset="-122"/>
            </a:endParaRPr>
          </a:p>
          <a:p>
            <a:pP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a typeface="黑体" panose="02010609060101010101" pitchFamily="49" charset="-122"/>
            </a:endParaRPr>
          </a:p>
          <a:p>
            <a:pPr eaLnBrk="1" hangingPunct="1">
              <a:buFont typeface="Wingdings" panose="05000000000000000000" pitchFamily="2" charset="2"/>
              <a:buNone/>
            </a:pPr>
            <a:r>
              <a:rPr lang="zh-CN" altLang="en-US" sz="1800" smtClean="0">
                <a:solidFill>
                  <a:srgbClr val="0000CC"/>
                </a:solidFill>
                <a:latin typeface="Times New Roman" panose="02020603050405020304" pitchFamily="18" charset="0"/>
                <a:ea typeface="黑体" panose="02010609060101010101" pitchFamily="49" charset="-122"/>
              </a:rPr>
              <a:t>  </a:t>
            </a:r>
            <a:endParaRPr lang="en-US" altLang="zh-CN" sz="1800" smtClean="0">
              <a:solidFill>
                <a:schemeClr val="tx1"/>
              </a:solidFill>
              <a:latin typeface="Times New Roman" panose="02020603050405020304" pitchFamily="18" charset="0"/>
              <a:ea typeface="黑体" panose="02010609060101010101" pitchFamily="49" charset="-122"/>
            </a:endParaRPr>
          </a:p>
          <a:p>
            <a:pPr eaLnBrk="1" hangingPunct="1">
              <a:buFont typeface="Wingdings" panose="05000000000000000000" pitchFamily="2" charset="2"/>
              <a:buNone/>
            </a:pPr>
            <a:endParaRPr lang="en-US" altLang="zh-CN" sz="1800" smtClean="0">
              <a:ea typeface="黑体" panose="02010609060101010101" pitchFamily="49" charset="-122"/>
            </a:endParaRPr>
          </a:p>
        </p:txBody>
      </p:sp>
      <p:sp>
        <p:nvSpPr>
          <p:cNvPr id="31746" name="内容占位符 13"/>
          <p:cNvSpPr>
            <a:spLocks noChangeArrowheads="1"/>
          </p:cNvSpPr>
          <p:nvPr/>
        </p:nvSpPr>
        <p:spPr bwMode="auto">
          <a:xfrm>
            <a:off x="838200" y="1219200"/>
            <a:ext cx="6697663" cy="611188"/>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None/>
            </a:pPr>
            <a:r>
              <a:rPr lang="en-US" altLang="zh-CN" b="1">
                <a:solidFill>
                  <a:srgbClr val="FF0000"/>
                </a:solidFill>
                <a:latin typeface="宋体" panose="02010600030101010101" pitchFamily="2" charset="-122"/>
              </a:rPr>
              <a:t>1.</a:t>
            </a:r>
            <a:r>
              <a:rPr lang="zh-CN" altLang="en-US" b="1">
                <a:solidFill>
                  <a:srgbClr val="FF0000"/>
                </a:solidFill>
                <a:latin typeface="宋体" panose="02010600030101010101" pitchFamily="2" charset="-122"/>
              </a:rPr>
              <a:t>网络安全相关概念、目标和特征</a:t>
            </a:r>
            <a:r>
              <a:rPr lang="zh-CN" altLang="en-US" b="1"/>
              <a:t> </a:t>
            </a:r>
            <a:endParaRPr lang="en-US" altLang="zh-CN" b="1"/>
          </a:p>
        </p:txBody>
      </p:sp>
      <p:sp>
        <p:nvSpPr>
          <p:cNvPr id="7177" name="Rectangle 2"/>
          <p:cNvSpPr txBox="1">
            <a:spLocks noChangeArrowheads="1"/>
          </p:cNvSpPr>
          <p:nvPr/>
        </p:nvSpPr>
        <p:spPr bwMode="white">
          <a:xfrm>
            <a:off x="576263" y="188913"/>
            <a:ext cx="8305800" cy="563562"/>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en-US" altLang="zh-CN" sz="3200" dirty="0" smtClean="0">
                <a:solidFill>
                  <a:schemeClr val="bg1"/>
                </a:solidFill>
              </a:rPr>
              <a:t>1.</a:t>
            </a:r>
            <a:r>
              <a:rPr sz="3200" dirty="0" smtClean="0">
                <a:solidFill>
                  <a:schemeClr val="bg1"/>
                </a:solidFill>
              </a:rPr>
              <a:t>2  网络安全的概念、特点和内容</a:t>
            </a:r>
            <a:endParaRPr sz="3200" dirty="0" smtClean="0">
              <a:solidFill>
                <a:schemeClr val="bg1"/>
              </a:solidFill>
            </a:endParaRPr>
          </a:p>
        </p:txBody>
      </p:sp>
      <p:sp>
        <p:nvSpPr>
          <p:cNvPr id="31748" name="自选图形 905"/>
          <p:cNvSpPr>
            <a:spLocks noChangeArrowheads="1"/>
          </p:cNvSpPr>
          <p:nvPr/>
        </p:nvSpPr>
        <p:spPr bwMode="auto">
          <a:xfrm>
            <a:off x="792163" y="1881188"/>
            <a:ext cx="7667625" cy="3376612"/>
          </a:xfrm>
          <a:prstGeom prst="flowChartAlternateProcess">
            <a:avLst/>
          </a:prstGeom>
          <a:noFill/>
          <a:ln w="31750">
            <a:solidFill>
              <a:schemeClr val="tx1"/>
            </a:solidFill>
            <a:prstDash val="lgDashDot"/>
            <a:miter lim="800000"/>
          </a:ln>
        </p:spPr>
        <p:txBody>
          <a:bodyPr lIns="74295" tIns="8890" rIns="74295" bIns="8890"/>
          <a:lstStyle/>
          <a:p>
            <a:pPr>
              <a:lnSpc>
                <a:spcPct val="95000"/>
              </a:lnSpc>
              <a:spcBef>
                <a:spcPts val="300"/>
              </a:spcBef>
              <a:spcAft>
                <a:spcPts val="300"/>
              </a:spcAft>
              <a:buFont typeface="Wingdings" panose="05000000000000000000" pitchFamily="2" charset="2"/>
              <a:buNone/>
            </a:pPr>
            <a:r>
              <a:rPr lang="en-US" altLang="zh-CN" sz="2300" b="1">
                <a:solidFill>
                  <a:srgbClr val="FF0000"/>
                </a:solidFill>
                <a:latin typeface="Times New Roman" panose="02020603050405020304" pitchFamily="18" charset="0"/>
                <a:ea typeface="楷体" panose="02010609060101010101" charset="-122"/>
              </a:rPr>
              <a:t>                          </a:t>
            </a:r>
            <a:r>
              <a:rPr lang="en-US" altLang="zh-CN" sz="2300" b="1">
                <a:solidFill>
                  <a:srgbClr val="C00000"/>
                </a:solidFill>
              </a:rPr>
              <a:t>2016</a:t>
            </a:r>
            <a:r>
              <a:rPr lang="zh-CN" altLang="zh-CN" sz="2300" b="1">
                <a:solidFill>
                  <a:srgbClr val="C00000"/>
                </a:solidFill>
              </a:rPr>
              <a:t>年近</a:t>
            </a:r>
            <a:r>
              <a:rPr lang="en-US" altLang="zh-CN" sz="2300" b="1">
                <a:solidFill>
                  <a:srgbClr val="C00000"/>
                </a:solidFill>
              </a:rPr>
              <a:t>70%</a:t>
            </a:r>
            <a:r>
              <a:rPr lang="zh-CN" altLang="zh-CN" sz="2300" b="1">
                <a:solidFill>
                  <a:srgbClr val="C00000"/>
                </a:solidFill>
              </a:rPr>
              <a:t>网友曾遭遇电信网络诈骗</a:t>
            </a:r>
            <a:r>
              <a:rPr lang="zh-CN" altLang="zh-CN" sz="2300" b="1"/>
              <a:t>。</a:t>
            </a:r>
            <a:r>
              <a:rPr lang="en-US" altLang="zh-CN" sz="2300" b="1"/>
              <a:t>2016</a:t>
            </a:r>
            <a:r>
              <a:rPr lang="zh-CN" altLang="zh-CN" sz="2300" b="1"/>
              <a:t>年，山东女大学生徐玉玉被骗近万元学费导致猝死、清华大学教授被骗上千万元等案件，使电信网络诈骗案件成为最受瞩目的社会热点之一。公安等相关部门为破解这个多年顽疾进行重点整治。</a:t>
            </a:r>
            <a:r>
              <a:rPr lang="en-US" altLang="zh-CN" sz="2300" b="1"/>
              <a:t>2016</a:t>
            </a:r>
            <a:r>
              <a:rPr lang="zh-CN" altLang="zh-CN" sz="2300" b="1"/>
              <a:t>年前</a:t>
            </a:r>
            <a:r>
              <a:rPr lang="en-US" altLang="zh-CN" sz="2300" b="1"/>
              <a:t>10</a:t>
            </a:r>
            <a:r>
              <a:rPr lang="zh-CN" altLang="zh-CN" sz="2300" b="1"/>
              <a:t>个月，全国共破获电信诈骗案件</a:t>
            </a:r>
            <a:r>
              <a:rPr lang="en-US" altLang="zh-CN" sz="2300" b="1"/>
              <a:t>9.3</a:t>
            </a:r>
            <a:r>
              <a:rPr lang="zh-CN" altLang="zh-CN" sz="2300" b="1"/>
              <a:t>万起，收缴赃款赃物价值人民币</a:t>
            </a:r>
            <a:r>
              <a:rPr lang="en-US" altLang="zh-CN" sz="2300" b="1"/>
              <a:t>23.8</a:t>
            </a:r>
            <a:r>
              <a:rPr lang="zh-CN" altLang="zh-CN" sz="2300" b="1"/>
              <a:t>亿元，为群众挽回经济损失</a:t>
            </a:r>
            <a:r>
              <a:rPr lang="en-US" altLang="zh-CN" sz="2300" b="1"/>
              <a:t>48.7</a:t>
            </a:r>
            <a:r>
              <a:rPr lang="zh-CN" altLang="zh-CN" sz="2300" b="1"/>
              <a:t>亿元。</a:t>
            </a:r>
            <a:r>
              <a:rPr lang="en-US" altLang="zh-CN" sz="2300" b="1"/>
              <a:t>2015</a:t>
            </a:r>
            <a:r>
              <a:rPr lang="zh-CN" altLang="zh-CN" sz="2300" b="1"/>
              <a:t>年全国电信网络诈骗案发</a:t>
            </a:r>
            <a:r>
              <a:rPr lang="en-US" altLang="zh-CN" sz="2300" b="1"/>
              <a:t>59</a:t>
            </a:r>
            <a:r>
              <a:rPr lang="zh-CN" altLang="zh-CN" sz="2300" b="1"/>
              <a:t>万余起，被骗</a:t>
            </a:r>
            <a:r>
              <a:rPr lang="en-US" altLang="zh-CN" sz="2300" b="1"/>
              <a:t>222</a:t>
            </a:r>
            <a:r>
              <a:rPr lang="zh-CN" altLang="zh-CN" sz="2300" b="1"/>
              <a:t>亿元，其中</a:t>
            </a:r>
            <a:r>
              <a:rPr lang="en-US" altLang="zh-CN" sz="2300" b="1"/>
              <a:t>100</a:t>
            </a:r>
            <a:r>
              <a:rPr lang="zh-CN" altLang="zh-CN" sz="2300" b="1"/>
              <a:t>多亿元被卷入台湾。</a:t>
            </a:r>
            <a:endParaRPr lang="zh-CN" altLang="en-US" sz="2300" b="1">
              <a:latin typeface="Times New Roman" panose="02020603050405020304" pitchFamily="18" charset="0"/>
              <a:ea typeface="楷体" panose="02010609060101010101" charset="-122"/>
            </a:endParaRPr>
          </a:p>
        </p:txBody>
      </p:sp>
      <p:sp>
        <p:nvSpPr>
          <p:cNvPr id="13" name="圆角矩形 12"/>
          <p:cNvSpPr/>
          <p:nvPr/>
        </p:nvSpPr>
        <p:spPr bwMode="gray">
          <a:xfrm>
            <a:off x="1425575" y="1839913"/>
            <a:ext cx="1301750" cy="485775"/>
          </a:xfrm>
          <a:prstGeom prst="roundRect">
            <a:avLst/>
          </a:prstGeom>
        </p:spPr>
        <p:style>
          <a:lnRef idx="0">
            <a:schemeClr val="accent2"/>
          </a:lnRef>
          <a:fillRef idx="3">
            <a:schemeClr val="accent2"/>
          </a:fillRef>
          <a:effectRef idx="3">
            <a:schemeClr val="accent2"/>
          </a:effectRef>
          <a:fontRef idx="minor">
            <a:schemeClr val="lt1"/>
          </a:fontRef>
        </p:style>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spcBef>
                <a:spcPct val="20000"/>
              </a:spcBef>
              <a:buFont typeface="Wingdings" panose="05000000000000000000" pitchFamily="2" charset="2"/>
              <a:buNone/>
              <a:defRPr/>
            </a:pPr>
            <a:r>
              <a:rPr lang="zh-CN" altLang="en-US" dirty="0" smtClean="0">
                <a:solidFill>
                  <a:srgbClr val="002060"/>
                </a:solidFill>
                <a:latin typeface="宋体" panose="02010600030101010101" pitchFamily="2" charset="-122"/>
              </a:rPr>
              <a:t>案例</a:t>
            </a:r>
            <a:r>
              <a:rPr lang="en-US" altLang="zh-CN" dirty="0" smtClean="0">
                <a:solidFill>
                  <a:srgbClr val="002060"/>
                </a:solidFill>
                <a:latin typeface="宋体" panose="02010600030101010101" pitchFamily="2" charset="-122"/>
              </a:rPr>
              <a:t>1-1</a:t>
            </a:r>
            <a:endParaRPr lang="zh-CN" altLang="en-US" dirty="0" smtClean="0">
              <a:solidFill>
                <a:srgbClr val="002060"/>
              </a:solidFill>
              <a:latin typeface="宋体" panose="02010600030101010101" pitchFamily="2" charset="-122"/>
            </a:endParaRPr>
          </a:p>
        </p:txBody>
      </p:sp>
      <p:sp>
        <p:nvSpPr>
          <p:cNvPr id="31750" name="AutoShape 10"/>
          <p:cNvSpPr>
            <a:spLocks noChangeArrowheads="1"/>
          </p:cNvSpPr>
          <p:nvPr/>
        </p:nvSpPr>
        <p:spPr bwMode="auto">
          <a:xfrm>
            <a:off x="914400" y="5410200"/>
            <a:ext cx="7416800" cy="873125"/>
          </a:xfrm>
          <a:prstGeom prst="wedgeRectCallout">
            <a:avLst>
              <a:gd name="adj1" fmla="val -32245"/>
              <a:gd name="adj2" fmla="val -56801"/>
            </a:avLst>
          </a:prstGeom>
          <a:solidFill>
            <a:srgbClr val="FFFF66"/>
          </a:solidFill>
          <a:ln w="9525">
            <a:solidFill>
              <a:schemeClr val="tx1"/>
            </a:solidFill>
            <a:miter lim="800000"/>
          </a:ln>
        </p:spPr>
        <p:txBody>
          <a:bodyPr/>
          <a:lstStyle/>
          <a:p>
            <a:pPr>
              <a:spcBef>
                <a:spcPct val="20000"/>
              </a:spcBef>
              <a:buFont typeface="Wingdings" panose="05000000000000000000" pitchFamily="2" charset="2"/>
              <a:buNone/>
            </a:pPr>
            <a:r>
              <a:rPr lang="zh-CN" altLang="en-US" sz="1600" b="1">
                <a:solidFill>
                  <a:srgbClr val="CC0000"/>
                </a:solidFill>
              </a:rPr>
              <a:t>清华大学一教师遭电信诈骗</a:t>
            </a:r>
            <a:r>
              <a:rPr lang="en-US" altLang="zh-CN" sz="1600" b="1">
                <a:solidFill>
                  <a:srgbClr val="CC0000"/>
                </a:solidFill>
              </a:rPr>
              <a:t>1760</a:t>
            </a:r>
            <a:r>
              <a:rPr lang="zh-CN" altLang="en-US" sz="1600" b="1">
                <a:solidFill>
                  <a:srgbClr val="CC0000"/>
                </a:solidFill>
              </a:rPr>
              <a:t>万元</a:t>
            </a:r>
            <a:r>
              <a:rPr lang="zh-CN" altLang="en-US" sz="1600" b="1"/>
              <a:t>引发广泛关注。北青报记者</a:t>
            </a:r>
            <a:r>
              <a:rPr lang="en-US" altLang="zh-CN" sz="1600" b="1"/>
              <a:t>8</a:t>
            </a:r>
            <a:r>
              <a:rPr lang="zh-CN" altLang="en-US" sz="1600" b="1"/>
              <a:t>月报，这名教师遭遇典型的“冒充公检法”电信诈骗，诈骗团伙冒充政府部门工作人员通过“话术”引导被骗者将钱款打入“安全账号”</a:t>
            </a:r>
            <a:r>
              <a:rPr lang="en-US" altLang="zh-CN" sz="1600" b="1"/>
              <a:t>.</a:t>
            </a:r>
            <a:r>
              <a:rPr lang="zh-CN" altLang="en-US" sz="1600" b="1"/>
              <a:t>另有多名</a:t>
            </a:r>
            <a:r>
              <a:rPr lang="zh-CN" altLang="en-US" sz="1600" b="1">
                <a:solidFill>
                  <a:srgbClr val="990033"/>
                </a:solidFill>
              </a:rPr>
              <a:t>大学新生被骗自杀</a:t>
            </a:r>
            <a:r>
              <a:rPr lang="en-US" altLang="zh-CN" sz="1600" b="1">
                <a:solidFill>
                  <a:srgbClr val="990033"/>
                </a:solidFill>
              </a:rPr>
              <a:t>.</a:t>
            </a:r>
            <a:endParaRPr lang="zh-CN" altLang="en-US" sz="1600" b="1"/>
          </a:p>
        </p:txBody>
      </p:sp>
      <p:sp>
        <p:nvSpPr>
          <p:cNvPr id="2" name="圆角矩形 1"/>
          <p:cNvSpPr/>
          <p:nvPr/>
        </p:nvSpPr>
        <p:spPr bwMode="gray">
          <a:xfrm>
            <a:off x="8382000" y="5562600"/>
            <a:ext cx="534988" cy="485775"/>
          </a:xfrm>
          <a:prstGeom prst="roundRect">
            <a:avLst/>
          </a:prstGeom>
          <a:solidFill>
            <a:srgbClr val="339933"/>
          </a:solidFill>
          <a:ln>
            <a:solidFill>
              <a:srgbClr val="AFEAFF"/>
            </a:solidFill>
          </a:ln>
        </p:spPr>
        <p:style>
          <a:lnRef idx="0">
            <a:schemeClr val="accent2"/>
          </a:lnRef>
          <a:fillRef idx="3">
            <a:schemeClr val="accent2"/>
          </a:fillRef>
          <a:effectRef idx="3">
            <a:schemeClr val="accent2"/>
          </a:effectRef>
          <a:fontRef idx="minor">
            <a:schemeClr val="lt1"/>
          </a:fontRef>
        </p:style>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spcBef>
                <a:spcPct val="20000"/>
              </a:spcBef>
              <a:buFont typeface="Wingdings" panose="05000000000000000000" pitchFamily="2" charset="2"/>
              <a:buNone/>
              <a:defRPr/>
            </a:pPr>
            <a:r>
              <a:rPr lang="zh-CN" altLang="en-US" sz="2000" smtClean="0">
                <a:solidFill>
                  <a:srgbClr val="002060"/>
                </a:solidFill>
                <a:latin typeface="宋体" panose="02010600030101010101" pitchFamily="2" charset="-122"/>
                <a:sym typeface="Wingdings" panose="05000000000000000000" charset="0"/>
              </a:rPr>
              <a:t></a:t>
            </a:r>
            <a:endParaRPr lang="zh-CN" altLang="en-US" sz="2000" smtClean="0">
              <a:solidFill>
                <a:srgbClr val="002060"/>
              </a:solidFill>
              <a:latin typeface="宋体" panose="02010600030101010101" pitchFamily="2" charset="-122"/>
              <a:sym typeface="Wingdings" panose="05000000000000000000"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bwMode="gray">
          <a:xfrm>
            <a:off x="203200" y="1591945"/>
            <a:ext cx="8496300" cy="5257800"/>
          </a:xfrm>
          <a:prstGeom prst="roundRect">
            <a:avLst/>
          </a:prstGeom>
        </p:spPr>
        <p:style>
          <a:lnRef idx="2">
            <a:schemeClr val="accent1"/>
          </a:lnRef>
          <a:fillRef idx="1">
            <a:schemeClr val="lt1"/>
          </a:fillRef>
          <a:effectRef idx="0">
            <a:schemeClr val="accent1"/>
          </a:effectRef>
          <a:fontRef idx="minor">
            <a:schemeClr val="dk1"/>
          </a:fontRef>
        </p:style>
        <p:txBody>
          <a:bodyPr anchor="ctr" anchorCtr="1">
            <a:normAutofit/>
          </a:bodyPr>
          <a:lstStyle/>
          <a:p>
            <a:pPr>
              <a:lnSpc>
                <a:spcPct val="90000"/>
              </a:lnSpc>
              <a:spcBef>
                <a:spcPct val="18000"/>
              </a:spcBef>
            </a:pPr>
            <a:r>
              <a:rPr lang="zh-CN" altLang="en-US" sz="2200" b="1">
                <a:solidFill>
                  <a:srgbClr val="FF0000"/>
                </a:solidFill>
                <a:effectLst>
                  <a:outerShdw blurRad="38100" dist="38100" dir="2700000" algn="tl">
                    <a:srgbClr val="C0C0C0"/>
                  </a:outerShdw>
                </a:effectLst>
                <a:latin typeface="Arial" panose="020B0604020202020204" pitchFamily="34" charset="0"/>
                <a:ea typeface="黑体" panose="02010609060101010101" pitchFamily="49" charset="-122"/>
              </a:rPr>
              <a:t>     </a:t>
            </a:r>
            <a:r>
              <a:rPr lang="zh-CN" altLang="en-US" sz="2000" b="1">
                <a:solidFill>
                  <a:srgbClr val="FF0000"/>
                </a:solidFill>
                <a:effectLst>
                  <a:outerShdw blurRad="38100" dist="38100" dir="2700000" algn="tl">
                    <a:srgbClr val="C0C0C0"/>
                  </a:outerShdw>
                </a:effectLst>
                <a:latin typeface="Arial" panose="020B0604020202020204" pitchFamily="34" charset="0"/>
                <a:ea typeface="黑体" panose="02010609060101010101" pitchFamily="49" charset="-122"/>
              </a:rPr>
              <a:t> </a:t>
            </a:r>
            <a:r>
              <a:rPr lang="en-US" altLang="zh-CN" sz="2000" b="1">
                <a:solidFill>
                  <a:srgbClr val="FF0000"/>
                </a:solidFill>
                <a:effectLst>
                  <a:outerShdw blurRad="38100" dist="38100" dir="2700000" algn="tl">
                    <a:srgbClr val="C0C0C0"/>
                  </a:outerShdw>
                </a:effectLst>
                <a:latin typeface="Arial" panose="020B0604020202020204" pitchFamily="34" charset="0"/>
                <a:ea typeface="黑体" panose="02010609060101010101" pitchFamily="49" charset="-122"/>
              </a:rPr>
              <a:t> </a:t>
            </a:r>
            <a:r>
              <a:rPr lang="zh-CN" altLang="en-US" sz="2000" b="1">
                <a:solidFill>
                  <a:srgbClr val="FF0000"/>
                </a:solidFill>
                <a:effectLst>
                  <a:outerShdw blurRad="38100" dist="38100" dir="2700000" algn="tl">
                    <a:srgbClr val="C0C0C0"/>
                  </a:outerShdw>
                </a:effectLst>
                <a:latin typeface="Arial" panose="020B0604020202020204" pitchFamily="34" charset="0"/>
                <a:ea typeface="黑体" panose="02010609060101010101" pitchFamily="49" charset="-122"/>
              </a:rPr>
              <a:t> </a:t>
            </a:r>
            <a:r>
              <a:rPr lang="zh-CN" altLang="en-US" sz="2000" b="1" u="sng">
                <a:solidFill>
                  <a:srgbClr val="FF0000"/>
                </a:solidFill>
                <a:effectLst>
                  <a:outerShdw blurRad="38100" dist="38100" dir="2700000" algn="tl">
                    <a:srgbClr val="C0C0C0"/>
                  </a:outerShdw>
                </a:effectLst>
                <a:latin typeface="Arial" panose="020B0604020202020204" pitchFamily="34" charset="0"/>
                <a:ea typeface="黑体" panose="02010609060101010101" pitchFamily="49" charset="-122"/>
              </a:rPr>
              <a:t>信息安全</a:t>
            </a:r>
            <a:r>
              <a:rPr lang="en-US" altLang="zh-CN" sz="2000" b="1">
                <a:solidFill>
                  <a:srgbClr val="FF0000"/>
                </a:solidFill>
                <a:latin typeface="Times New Roman" panose="02020603050405020304" pitchFamily="18" charset="0"/>
              </a:rPr>
              <a:t>(Information Security)</a:t>
            </a:r>
            <a:r>
              <a:rPr lang="zh-CN" altLang="en-US" sz="2000" b="1">
                <a:solidFill>
                  <a:srgbClr val="FF0000"/>
                </a:solidFill>
                <a:latin typeface="Times New Roman" panose="02020603050405020304" pitchFamily="18" charset="0"/>
              </a:rPr>
              <a:t>：保护信息和信息系统不被非授权访问、使用、泄漏、修改和破坏，为信息和信息系统提供提供</a:t>
            </a:r>
            <a:r>
              <a:rPr lang="zh-CN" altLang="en-US" sz="2000" b="1">
                <a:solidFill>
                  <a:srgbClr val="FF0000"/>
                </a:solidFill>
                <a:latin typeface="Arial" panose="020B0604020202020204" pitchFamily="34" charset="0"/>
                <a:sym typeface="+mn-ea"/>
              </a:rPr>
              <a:t>保密性、完整性、可用性、可控性和不可否认性（可审查性）</a:t>
            </a:r>
            <a:r>
              <a:rPr lang="en-US" altLang="zh-CN" sz="2000" b="1">
                <a:solidFill>
                  <a:schemeClr val="tx1"/>
                </a:solidFill>
                <a:latin typeface="Arial" panose="020B0604020202020204" pitchFamily="34" charset="0"/>
              </a:rPr>
              <a:t>.</a:t>
            </a:r>
            <a:r>
              <a:rPr lang="zh-CN" altLang="en-US" sz="2000" b="1">
                <a:solidFill>
                  <a:schemeClr val="tx2"/>
                </a:solidFill>
                <a:latin typeface="Arial" panose="020B0604020202020204" pitchFamily="34" charset="0"/>
              </a:rPr>
              <a:t>信息安全的</a:t>
            </a:r>
            <a:r>
              <a:rPr lang="zh-CN" altLang="en-US" sz="2000" b="1">
                <a:solidFill>
                  <a:srgbClr val="FF0000"/>
                </a:solidFill>
                <a:latin typeface="Arial" panose="020B0604020202020204" pitchFamily="34" charset="0"/>
              </a:rPr>
              <a:t>实质</a:t>
            </a:r>
            <a:r>
              <a:rPr lang="zh-CN" altLang="en-US" sz="2000" b="1">
                <a:solidFill>
                  <a:schemeClr val="tx1"/>
                </a:solidFill>
                <a:latin typeface="Arial" panose="020B0604020202020204" pitchFamily="34" charset="0"/>
              </a:rPr>
              <a:t>是保护信息系统和信息资源免受各种威胁、干扰和破坏</a:t>
            </a:r>
            <a:r>
              <a:rPr lang="en-US" altLang="zh-CN" sz="2000" b="1">
                <a:solidFill>
                  <a:schemeClr val="tx1"/>
                </a:solidFill>
                <a:latin typeface="Arial" panose="020B0604020202020204" pitchFamily="34" charset="0"/>
              </a:rPr>
              <a:t>,</a:t>
            </a:r>
            <a:r>
              <a:rPr lang="zh-CN" altLang="en-US" sz="2000" b="1">
                <a:solidFill>
                  <a:schemeClr val="tx1"/>
                </a:solidFill>
                <a:latin typeface="Arial" panose="020B0604020202020204" pitchFamily="34" charset="0"/>
              </a:rPr>
              <a:t>即保证信息的安全性。主要</a:t>
            </a:r>
            <a:r>
              <a:rPr lang="zh-CN" altLang="en-US" sz="2000" b="1">
                <a:solidFill>
                  <a:srgbClr val="CC0000"/>
                </a:solidFill>
                <a:latin typeface="Arial" panose="020B0604020202020204" pitchFamily="34" charset="0"/>
              </a:rPr>
              <a:t>目标</a:t>
            </a:r>
            <a:r>
              <a:rPr lang="zh-CN" altLang="en-US" sz="2000" b="1">
                <a:solidFill>
                  <a:schemeClr val="tx1"/>
                </a:solidFill>
                <a:latin typeface="Arial" panose="020B0604020202020204" pitchFamily="34" charset="0"/>
              </a:rPr>
              <a:t>是防止信息被非授权泄露、更改、破坏或被非法的系统辨识与控制</a:t>
            </a:r>
            <a:r>
              <a:rPr lang="en-US" altLang="zh-CN" sz="2000" b="1">
                <a:solidFill>
                  <a:schemeClr val="tx1"/>
                </a:solidFill>
                <a:latin typeface="Arial" panose="020B0604020202020204" pitchFamily="34" charset="0"/>
              </a:rPr>
              <a:t>,</a:t>
            </a:r>
            <a:r>
              <a:rPr lang="zh-CN" altLang="en-US" sz="2000" b="1">
                <a:solidFill>
                  <a:schemeClr val="tx1"/>
                </a:solidFill>
                <a:latin typeface="Arial" panose="020B0604020202020204" pitchFamily="34" charset="0"/>
              </a:rPr>
              <a:t>确保信息的保密性、完整性、可用性、可控性和可审查性</a:t>
            </a:r>
            <a:r>
              <a:rPr lang="en-US" altLang="zh-CN" sz="2000" b="1">
                <a:solidFill>
                  <a:schemeClr val="tx1"/>
                </a:solidFill>
                <a:latin typeface="Arial" panose="020B0604020202020204" pitchFamily="34" charset="0"/>
              </a:rPr>
              <a:t>(</a:t>
            </a:r>
            <a:r>
              <a:rPr lang="zh-CN" altLang="en-US" sz="2000" b="1">
                <a:solidFill>
                  <a:srgbClr val="CC0000"/>
                </a:solidFill>
                <a:latin typeface="Arial" panose="020B0604020202020204" pitchFamily="34" charset="0"/>
              </a:rPr>
              <a:t>信息安全</a:t>
            </a:r>
            <a:r>
              <a:rPr lang="en-US" altLang="zh-CN" sz="2000" b="1" u="sng">
                <a:solidFill>
                  <a:srgbClr val="FF0000"/>
                </a:solidFill>
                <a:effectLst>
                  <a:outerShdw blurRad="38100" dist="38100" dir="2700000" algn="tl">
                    <a:srgbClr val="C0C0C0"/>
                  </a:outerShdw>
                </a:effectLst>
                <a:latin typeface="Arial" panose="020B0604020202020204" pitchFamily="34" charset="0"/>
              </a:rPr>
              <a:t>5</a:t>
            </a:r>
            <a:r>
              <a:rPr lang="zh-CN" altLang="en-US" sz="2000" b="1" u="sng">
                <a:solidFill>
                  <a:srgbClr val="FF0000"/>
                </a:solidFill>
                <a:effectLst>
                  <a:outerShdw blurRad="38100" dist="38100" dir="2700000" algn="tl">
                    <a:srgbClr val="C0C0C0"/>
                  </a:outerShdw>
                </a:effectLst>
                <a:latin typeface="Arial" panose="020B0604020202020204" pitchFamily="34" charset="0"/>
              </a:rPr>
              <a:t>大特征</a:t>
            </a:r>
            <a:r>
              <a:rPr lang="en-US" altLang="zh-CN" sz="2000" b="1">
                <a:solidFill>
                  <a:schemeClr val="tx1"/>
                </a:solidFill>
                <a:latin typeface="Arial" panose="020B0604020202020204" pitchFamily="34" charset="0"/>
              </a:rPr>
              <a:t>)</a:t>
            </a:r>
            <a:r>
              <a:rPr lang="zh-CN" altLang="en-US" sz="2000" b="1">
                <a:solidFill>
                  <a:schemeClr val="tx1"/>
                </a:solidFill>
                <a:latin typeface="Arial" panose="020B0604020202020204" pitchFamily="34" charset="0"/>
              </a:rPr>
              <a:t>。</a:t>
            </a:r>
            <a:endParaRPr lang="zh-CN" altLang="en-US" sz="2000" b="1">
              <a:solidFill>
                <a:schemeClr val="tx1"/>
              </a:solidFill>
              <a:latin typeface="Arial" panose="020B0604020202020204" pitchFamily="34" charset="0"/>
            </a:endParaRPr>
          </a:p>
          <a:p>
            <a:pPr>
              <a:lnSpc>
                <a:spcPct val="90000"/>
              </a:lnSpc>
              <a:spcBef>
                <a:spcPct val="18000"/>
              </a:spcBef>
            </a:pPr>
            <a:r>
              <a:rPr lang="en-US" altLang="zh-CN" sz="2000" b="1">
                <a:solidFill>
                  <a:schemeClr val="tx1"/>
                </a:solidFill>
                <a:latin typeface="Arial" panose="020B0604020202020204" pitchFamily="34" charset="0"/>
              </a:rPr>
              <a:t>	</a:t>
            </a:r>
            <a:r>
              <a:rPr lang="zh-CN" altLang="en-US" sz="2000" b="1">
                <a:solidFill>
                  <a:schemeClr val="tx1"/>
                </a:solidFill>
                <a:latin typeface="Arial" panose="020B0604020202020204" pitchFamily="34" charset="0"/>
              </a:rPr>
              <a:t>在</a:t>
            </a:r>
            <a:r>
              <a:rPr lang="en-US" altLang="zh-CN" sz="2000" b="1">
                <a:solidFill>
                  <a:schemeClr val="tx1"/>
                </a:solidFill>
                <a:latin typeface="Arial" panose="020B0604020202020204" pitchFamily="34" charset="0"/>
              </a:rPr>
              <a:t>《</a:t>
            </a:r>
            <a:r>
              <a:rPr lang="zh-CN" altLang="en-US" sz="2000" b="1">
                <a:solidFill>
                  <a:schemeClr val="tx1"/>
                </a:solidFill>
                <a:latin typeface="Arial" panose="020B0604020202020204" pitchFamily="34" charset="0"/>
              </a:rPr>
              <a:t>计算机信息系统安全保护条例</a:t>
            </a:r>
            <a:r>
              <a:rPr lang="en-US" altLang="zh-CN" sz="2000" b="1">
                <a:solidFill>
                  <a:schemeClr val="tx1"/>
                </a:solidFill>
                <a:latin typeface="Arial" panose="020B0604020202020204" pitchFamily="34" charset="0"/>
              </a:rPr>
              <a:t>》</a:t>
            </a:r>
            <a:r>
              <a:rPr lang="zh-CN" altLang="en-US" sz="2000" b="1">
                <a:solidFill>
                  <a:schemeClr val="tx1"/>
                </a:solidFill>
                <a:latin typeface="Arial" panose="020B0604020202020204" pitchFamily="34" charset="0"/>
              </a:rPr>
              <a:t>中指出，</a:t>
            </a:r>
            <a:r>
              <a:rPr lang="zh-CN" altLang="en-US" sz="2000" b="1">
                <a:solidFill>
                  <a:srgbClr val="CC0000"/>
                </a:solidFill>
                <a:latin typeface="Arial" panose="020B0604020202020204" pitchFamily="34" charset="0"/>
              </a:rPr>
              <a:t>计算机信息系统的安全保护</a:t>
            </a:r>
            <a:r>
              <a:rPr lang="zh-CN" altLang="en-US" sz="2000" b="1">
                <a:solidFill>
                  <a:schemeClr val="tx1"/>
                </a:solidFill>
                <a:latin typeface="Arial" panose="020B0604020202020204" pitchFamily="34" charset="0"/>
              </a:rPr>
              <a:t>，应当保障计算机及其相关的配套设备、设施（含网络）的安全，运行环境的安全，保障</a:t>
            </a:r>
            <a:r>
              <a:rPr lang="zh-CN" altLang="en-US" sz="2000" b="1" u="sng">
                <a:solidFill>
                  <a:schemeClr val="tx1"/>
                </a:solidFill>
                <a:latin typeface="Arial" panose="020B0604020202020204" pitchFamily="34" charset="0"/>
              </a:rPr>
              <a:t>信息</a:t>
            </a:r>
            <a:r>
              <a:rPr lang="zh-CN" altLang="en-US" sz="2000" b="1">
                <a:solidFill>
                  <a:schemeClr val="tx1"/>
                </a:solidFill>
                <a:latin typeface="Arial" panose="020B0604020202020204" pitchFamily="34" charset="0"/>
              </a:rPr>
              <a:t>的安全，保障计算机功能的正常发挥，以维护计算机信息系统安全运行。 </a:t>
            </a:r>
            <a:endParaRPr lang="zh-CN" altLang="en-US" sz="2000" b="1">
              <a:solidFill>
                <a:schemeClr val="tx1"/>
              </a:solidFill>
              <a:latin typeface="Arial" panose="020B0604020202020204" pitchFamily="34" charset="0"/>
            </a:endParaRPr>
          </a:p>
          <a:p>
            <a:pPr>
              <a:spcBef>
                <a:spcPct val="18000"/>
              </a:spcBef>
            </a:pPr>
            <a:r>
              <a:rPr lang="en-US" altLang="zh-CN" sz="2000" b="1">
                <a:solidFill>
                  <a:schemeClr val="tx1"/>
                </a:solidFill>
                <a:latin typeface="Arial" panose="020B0604020202020204" pitchFamily="34" charset="0"/>
              </a:rPr>
              <a:t>       </a:t>
            </a:r>
            <a:r>
              <a:rPr lang="zh-CN" altLang="en-US" sz="2000" b="1">
                <a:solidFill>
                  <a:srgbClr val="FF0000"/>
                </a:solidFill>
                <a:latin typeface="Arial" panose="020B0604020202020204" pitchFamily="34" charset="0"/>
              </a:rPr>
              <a:t>国际标准化组织（</a:t>
            </a:r>
            <a:r>
              <a:rPr lang="en-US" altLang="zh-CN" sz="2000" b="1">
                <a:solidFill>
                  <a:srgbClr val="FF0000"/>
                </a:solidFill>
                <a:latin typeface="Arial" panose="020B0604020202020204" pitchFamily="34" charset="0"/>
              </a:rPr>
              <a:t>ISO</a:t>
            </a:r>
            <a:r>
              <a:rPr lang="zh-CN" altLang="en-US" sz="2000" b="1">
                <a:solidFill>
                  <a:srgbClr val="FF0000"/>
                </a:solidFill>
                <a:latin typeface="Arial" panose="020B0604020202020204" pitchFamily="34" charset="0"/>
              </a:rPr>
              <a:t>）</a:t>
            </a:r>
            <a:r>
              <a:rPr lang="zh-CN" altLang="en-US" sz="2000" b="1">
                <a:solidFill>
                  <a:schemeClr val="tx1"/>
                </a:solidFill>
                <a:latin typeface="Arial" panose="020B0604020202020204" pitchFamily="34" charset="0"/>
              </a:rPr>
              <a:t>提出</a:t>
            </a:r>
            <a:r>
              <a:rPr lang="zh-CN" altLang="en-US" sz="2000" b="1" u="sng">
                <a:solidFill>
                  <a:srgbClr val="FF0000"/>
                </a:solidFill>
                <a:effectLst>
                  <a:outerShdw blurRad="38100" dist="38100" dir="2700000" algn="tl">
                    <a:srgbClr val="C0C0C0"/>
                  </a:outerShdw>
                </a:effectLst>
                <a:latin typeface="Arial" panose="020B0604020202020204" pitchFamily="34" charset="0"/>
                <a:ea typeface="黑体" panose="02010609060101010101" pitchFamily="49" charset="-122"/>
              </a:rPr>
              <a:t>信息安全</a:t>
            </a:r>
            <a:r>
              <a:rPr lang="zh-CN" altLang="en-US" sz="2000" b="1">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rPr>
              <a:t>给出</a:t>
            </a:r>
            <a:r>
              <a:rPr lang="zh-CN" altLang="en-US" sz="2000" b="1">
                <a:solidFill>
                  <a:schemeClr val="tx1"/>
                </a:solidFill>
                <a:latin typeface="Arial" panose="020B0604020202020204" pitchFamily="34" charset="0"/>
              </a:rPr>
              <a:t>的</a:t>
            </a:r>
            <a:r>
              <a:rPr lang="zh-CN" altLang="en-US" sz="2000" b="1">
                <a:solidFill>
                  <a:srgbClr val="FF0000"/>
                </a:solidFill>
                <a:latin typeface="Arial" panose="020B0604020202020204" pitchFamily="34" charset="0"/>
              </a:rPr>
              <a:t>定义</a:t>
            </a:r>
            <a:r>
              <a:rPr lang="zh-CN" altLang="en-US" sz="2000" b="1">
                <a:solidFill>
                  <a:schemeClr val="tx1"/>
                </a:solidFill>
                <a:latin typeface="Arial" panose="020B0604020202020204" pitchFamily="34" charset="0"/>
              </a:rPr>
              <a:t>是：为数据处理系统</a:t>
            </a:r>
            <a:r>
              <a:rPr lang="zh-CN" altLang="en-US" sz="2000" b="1">
                <a:solidFill>
                  <a:srgbClr val="0033CC"/>
                </a:solidFill>
                <a:latin typeface="Arial" panose="020B0604020202020204" pitchFamily="34" charset="0"/>
              </a:rPr>
              <a:t>建立</a:t>
            </a:r>
            <a:r>
              <a:rPr lang="zh-CN" altLang="en-US" sz="2000" b="1">
                <a:solidFill>
                  <a:schemeClr val="tx1"/>
                </a:solidFill>
                <a:latin typeface="Arial" panose="020B0604020202020204" pitchFamily="34" charset="0"/>
              </a:rPr>
              <a:t>和</a:t>
            </a:r>
            <a:r>
              <a:rPr lang="zh-CN" altLang="en-US" sz="2000" b="1">
                <a:solidFill>
                  <a:srgbClr val="0033CC"/>
                </a:solidFill>
                <a:latin typeface="Arial" panose="020B0604020202020204" pitchFamily="34" charset="0"/>
              </a:rPr>
              <a:t>采取</a:t>
            </a:r>
            <a:r>
              <a:rPr lang="zh-CN" altLang="en-US" sz="2000" b="1">
                <a:solidFill>
                  <a:schemeClr val="tx1"/>
                </a:solidFill>
                <a:latin typeface="Arial" panose="020B0604020202020204" pitchFamily="34" charset="0"/>
              </a:rPr>
              <a:t>的技术及管理防</a:t>
            </a:r>
            <a:r>
              <a:rPr lang="zh-CN" altLang="en-US" sz="2000" b="1">
                <a:solidFill>
                  <a:srgbClr val="0033CC"/>
                </a:solidFill>
                <a:latin typeface="Arial" panose="020B0604020202020204" pitchFamily="34" charset="0"/>
              </a:rPr>
              <a:t>护</a:t>
            </a:r>
            <a:r>
              <a:rPr lang="zh-CN" altLang="en-US" sz="2000" b="1">
                <a:solidFill>
                  <a:schemeClr val="tx2"/>
                </a:solidFill>
                <a:latin typeface="Arial" panose="020B0604020202020204" pitchFamily="34" charset="0"/>
              </a:rPr>
              <a:t>，</a:t>
            </a:r>
            <a:r>
              <a:rPr lang="zh-CN" altLang="en-US" sz="2000" b="1">
                <a:solidFill>
                  <a:srgbClr val="0033CC"/>
                </a:solidFill>
                <a:latin typeface="Arial" panose="020B0604020202020204" pitchFamily="34" charset="0"/>
              </a:rPr>
              <a:t>保护</a:t>
            </a:r>
            <a:r>
              <a:rPr lang="zh-CN" altLang="en-US" sz="2000" b="1">
                <a:solidFill>
                  <a:schemeClr val="tx1"/>
                </a:solidFill>
                <a:latin typeface="Arial" panose="020B0604020202020204" pitchFamily="34" charset="0"/>
              </a:rPr>
              <a:t>计算机硬件、软件、数据不因偶然及恶意的原因而遭到破坏、更改和泄漏。</a:t>
            </a:r>
            <a:endParaRPr lang="zh-CN" altLang="en-US" sz="2000" b="1">
              <a:solidFill>
                <a:schemeClr val="tx1"/>
              </a:solidFill>
              <a:latin typeface="Arial" panose="020B0604020202020204" pitchFamily="34" charset="0"/>
            </a:endParaRPr>
          </a:p>
        </p:txBody>
      </p:sp>
      <p:sp>
        <p:nvSpPr>
          <p:cNvPr id="32770" name="内容占位符 13"/>
          <p:cNvSpPr>
            <a:spLocks noChangeArrowheads="1"/>
          </p:cNvSpPr>
          <p:nvPr/>
        </p:nvSpPr>
        <p:spPr bwMode="auto">
          <a:xfrm>
            <a:off x="1066800" y="1591945"/>
            <a:ext cx="6769100" cy="1044575"/>
          </a:xfrm>
          <a:prstGeom prst="rect">
            <a:avLst/>
          </a:prstGeom>
          <a:noFill/>
          <a:ln w="9525">
            <a:noFill/>
            <a:miter lim="800000"/>
          </a:ln>
        </p:spPr>
        <p:txBody>
          <a:bodyPr/>
          <a:lstStyle/>
          <a:p>
            <a:pPr marL="342900" indent="-342900">
              <a:spcBef>
                <a:spcPts val="300"/>
              </a:spcBef>
              <a:spcAft>
                <a:spcPts val="300"/>
              </a:spcAft>
              <a:buClr>
                <a:schemeClr val="hlink"/>
              </a:buClr>
              <a:buFont typeface="Wingdings" panose="05000000000000000000" pitchFamily="2" charset="2"/>
              <a:buNone/>
            </a:pPr>
            <a:r>
              <a:rPr lang="zh-CN" altLang="en-US" b="1">
                <a:solidFill>
                  <a:srgbClr val="FF0000"/>
                </a:solidFill>
                <a:latin typeface="宋体" panose="02010600030101010101" pitchFamily="2" charset="-122"/>
              </a:rPr>
              <a:t>（</a:t>
            </a:r>
            <a:r>
              <a:rPr lang="en-US" altLang="zh-CN" b="1">
                <a:solidFill>
                  <a:srgbClr val="FF0000"/>
                </a:solidFill>
                <a:latin typeface="宋体" panose="02010600030101010101" pitchFamily="2" charset="-122"/>
              </a:rPr>
              <a:t>1</a:t>
            </a:r>
            <a:r>
              <a:rPr lang="zh-CN" altLang="en-US" b="1">
                <a:solidFill>
                  <a:srgbClr val="FF0000"/>
                </a:solidFill>
                <a:latin typeface="宋体" panose="02010600030101010101" pitchFamily="2" charset="-122"/>
              </a:rPr>
              <a:t>）</a:t>
            </a:r>
            <a:r>
              <a:rPr lang="zh-CN" altLang="en-US" b="1">
                <a:solidFill>
                  <a:srgbClr val="CC0000"/>
                </a:solidFill>
                <a:latin typeface="宋体" panose="02010600030101010101" pitchFamily="2" charset="-122"/>
              </a:rPr>
              <a:t>网络安全与网络空间安全相关概念</a:t>
            </a:r>
            <a:endParaRPr lang="zh-CN" altLang="en-US" b="1">
              <a:solidFill>
                <a:srgbClr val="CC0000"/>
              </a:solidFill>
              <a:latin typeface="宋体" panose="02010600030101010101" pitchFamily="2" charset="-122"/>
            </a:endParaRPr>
          </a:p>
        </p:txBody>
      </p:sp>
      <p:sp>
        <p:nvSpPr>
          <p:cNvPr id="7177" name="Rectangle 2"/>
          <p:cNvSpPr txBox="1">
            <a:spLocks noChangeArrowheads="1"/>
          </p:cNvSpPr>
          <p:nvPr/>
        </p:nvSpPr>
        <p:spPr bwMode="white">
          <a:xfrm>
            <a:off x="576263" y="188913"/>
            <a:ext cx="8305800" cy="563562"/>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en-US" altLang="zh-CN" sz="3200" dirty="0" smtClean="0">
                <a:solidFill>
                  <a:schemeClr val="bg1"/>
                </a:solidFill>
              </a:rPr>
              <a:t>1.</a:t>
            </a:r>
            <a:r>
              <a:rPr sz="3200" dirty="0" smtClean="0">
                <a:solidFill>
                  <a:schemeClr val="bg1"/>
                </a:solidFill>
              </a:rPr>
              <a:t>2  网络安全的概念、特点和内容</a:t>
            </a:r>
            <a:endParaRPr sz="3200" dirty="0" smtClean="0">
              <a:solidFill>
                <a:schemeClr val="bg1"/>
              </a:solidFill>
            </a:endParaRPr>
          </a:p>
        </p:txBody>
      </p:sp>
      <p:sp>
        <p:nvSpPr>
          <p:cNvPr id="31746" name="内容占位符 13"/>
          <p:cNvSpPr>
            <a:spLocks noChangeArrowheads="1"/>
          </p:cNvSpPr>
          <p:nvPr/>
        </p:nvSpPr>
        <p:spPr bwMode="auto">
          <a:xfrm>
            <a:off x="857885" y="1040130"/>
            <a:ext cx="6697663" cy="611188"/>
          </a:xfrm>
          <a:prstGeom prst="rect">
            <a:avLst/>
          </a:prstGeom>
          <a:noFill/>
          <a:ln w="9525">
            <a:noFill/>
            <a:miter lim="800000"/>
          </a:ln>
        </p:spPr>
        <p:txBody>
          <a:bodyPr/>
          <a:p>
            <a:pPr marL="342900" indent="-342900">
              <a:spcBef>
                <a:spcPct val="20000"/>
              </a:spcBef>
              <a:spcAft>
                <a:spcPts val="600"/>
              </a:spcAft>
              <a:buClr>
                <a:schemeClr val="hlink"/>
              </a:buClr>
              <a:buFont typeface="Wingdings" panose="05000000000000000000" pitchFamily="2" charset="2"/>
              <a:buNone/>
            </a:pPr>
            <a:r>
              <a:rPr lang="en-US" altLang="zh-CN" b="1">
                <a:solidFill>
                  <a:srgbClr val="FF0000"/>
                </a:solidFill>
                <a:latin typeface="宋体" panose="02010600030101010101" pitchFamily="2" charset="-122"/>
              </a:rPr>
              <a:t>1.</a:t>
            </a:r>
            <a:r>
              <a:rPr lang="zh-CN" altLang="en-US" b="1">
                <a:solidFill>
                  <a:srgbClr val="FF0000"/>
                </a:solidFill>
                <a:latin typeface="宋体" panose="02010600030101010101" pitchFamily="2" charset="-122"/>
              </a:rPr>
              <a:t>网络安全相关概念、目标和特征</a:t>
            </a:r>
            <a:r>
              <a:rPr lang="zh-CN" altLang="en-US" b="1"/>
              <a:t> </a:t>
            </a:r>
            <a:endParaRPr lang="en-US" altLang="zh-CN" b="1"/>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bwMode="gray">
          <a:xfrm>
            <a:off x="304800" y="1143000"/>
            <a:ext cx="8686800" cy="5160963"/>
          </a:xfrm>
          <a:prstGeom prst="roundRect">
            <a:avLst/>
          </a:prstGeom>
        </p:spPr>
        <p:style>
          <a:lnRef idx="2">
            <a:schemeClr val="accent1"/>
          </a:lnRef>
          <a:fillRef idx="1">
            <a:schemeClr val="lt1"/>
          </a:fillRef>
          <a:effectRef idx="0">
            <a:schemeClr val="accent1"/>
          </a:effectRef>
          <a:fontRef idx="minor">
            <a:schemeClr val="dk1"/>
          </a:fontRef>
        </p:style>
        <p:txBody>
          <a:bodyPr anchor="ctr" anchorCtr="1">
            <a:normAutofit lnSpcReduction="10000"/>
          </a:bodyPr>
          <a:lstStyle/>
          <a:p>
            <a:pPr>
              <a:lnSpc>
                <a:spcPct val="75000"/>
              </a:lnSpc>
              <a:spcBef>
                <a:spcPct val="20000"/>
              </a:spcBef>
              <a:defRPr/>
            </a:pPr>
            <a:endParaRPr lang="en-US" altLang="zh-CN" sz="1800" b="1" u="sng" dirty="0">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sym typeface="+mn-ea"/>
            </a:endParaRPr>
          </a:p>
          <a:p>
            <a:pPr>
              <a:defRPr/>
            </a:pPr>
            <a:r>
              <a:rPr lang="zh-CN" altLang="en-US" sz="1800" b="1" u="sng" dirty="0">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sym typeface="+mn-ea"/>
              </a:rPr>
              <a:t> </a:t>
            </a:r>
            <a:r>
              <a:rPr lang="zh-CN" altLang="en-US" sz="1800" b="1" dirty="0">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sym typeface="+mn-ea"/>
              </a:rPr>
              <a:t>       </a:t>
            </a:r>
            <a:r>
              <a:rPr lang="zh-CN" altLang="en-US" sz="1800" b="1" u="sng" dirty="0">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sym typeface="+mn-ea"/>
              </a:rPr>
              <a:t>网络安全</a:t>
            </a:r>
            <a:r>
              <a:rPr lang="zh-CN" altLang="en-US" sz="1800" b="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1800" b="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rPr>
              <a:t>Network Security</a:t>
            </a:r>
            <a:r>
              <a:rPr lang="zh-CN" altLang="en-US" sz="1800" b="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rPr>
              <a:t>）指利用网络技术、管理和控制等措施，保证网络系统和信息的</a:t>
            </a:r>
            <a:r>
              <a:rPr lang="zh-CN" altLang="en-US" sz="1800" b="1" dirty="0">
                <a:solidFill>
                  <a:srgbClr val="990033"/>
                </a:solidFill>
                <a:latin typeface="Times New Roman" panose="02020603050405020304" pitchFamily="18" charset="0"/>
                <a:ea typeface="黑体" panose="02010609060101010101" pitchFamily="49" charset="-122"/>
                <a:cs typeface="Times New Roman" panose="02020603050405020304" pitchFamily="18" charset="0"/>
                <a:sym typeface="+mn-ea"/>
              </a:rPr>
              <a:t>保密性、完整性、可用性、可控性和可审查性</a:t>
            </a:r>
            <a:r>
              <a:rPr lang="zh-CN" altLang="en-US" sz="1800" b="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rPr>
              <a:t>受到保护。即保证网络系统的硬件、软件及系统中的数据资源得到完整、准确、连续运行与服务不受干扰破坏和非授权使用。</a:t>
            </a:r>
            <a:r>
              <a:rPr lang="en-US" altLang="zh-CN" sz="1800" b="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rPr>
              <a:t>ISO/IEC27032</a:t>
            </a:r>
            <a:r>
              <a:rPr lang="zh-CN" altLang="en-US" sz="1800" b="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rPr>
              <a:t>的</a:t>
            </a:r>
            <a:r>
              <a:rPr lang="zh-CN" altLang="en-US" sz="1800" b="1" dirty="0">
                <a:solidFill>
                  <a:srgbClr val="CC0000"/>
                </a:solidFill>
                <a:latin typeface="Times New Roman" panose="02020603050405020304" pitchFamily="18" charset="0"/>
                <a:ea typeface="黑体" panose="02010609060101010101" pitchFamily="49" charset="-122"/>
                <a:cs typeface="Times New Roman" panose="02020603050405020304" pitchFamily="18" charset="0"/>
                <a:sym typeface="+mn-ea"/>
              </a:rPr>
              <a:t>网络安全定义</a:t>
            </a:r>
            <a:r>
              <a:rPr lang="zh-CN" altLang="en-US" sz="1800" b="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rPr>
              <a:t>则是指对网络的设计、实施和运营等过程中的信息及其相关系统的安全保护。</a:t>
            </a:r>
            <a:endParaRPr lang="zh-CN" altLang="en-US" sz="1800" b="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endParaRPr>
          </a:p>
          <a:p>
            <a:pPr>
              <a:lnSpc>
                <a:spcPct val="105000"/>
              </a:lnSpc>
              <a:spcBef>
                <a:spcPct val="20000"/>
              </a:spcBef>
              <a:defRPr/>
            </a:pPr>
            <a:r>
              <a:rPr lang="zh-CN" altLang="en-US" sz="1800" b="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rPr>
              <a:t> </a:t>
            </a:r>
            <a:r>
              <a:rPr lang="zh-CN" altLang="en-US" sz="18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Wingdings" panose="05000000000000000000" pitchFamily="2" charset="2"/>
              </a:rPr>
              <a:t>     </a:t>
            </a:r>
            <a:r>
              <a:rPr lang="zh-CN" altLang="en-US" sz="1800" b="1" dirty="0">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sym typeface="+mn-ea"/>
              </a:rPr>
              <a:t>注意</a:t>
            </a:r>
            <a:r>
              <a:rPr lang="zh-CN" altLang="en-US" sz="1800" b="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zh-CN" altLang="en-US" sz="1800" b="1" dirty="0">
                <a:solidFill>
                  <a:schemeClr val="tx1"/>
                </a:solidFill>
                <a:latin typeface="楷体_GB2312" pitchFamily="49" charset="-122"/>
                <a:ea typeface="楷体_GB2312" pitchFamily="49" charset="-122"/>
                <a:cs typeface="Times New Roman" panose="02020603050405020304" pitchFamily="18" charset="0"/>
                <a:sym typeface="+mn-ea"/>
              </a:rPr>
              <a:t>网络安全不仅限于计算机网络安全，还包括手机网络、电视网络或物联网等网络的安全。实际上，网络安全是一个相对性的概念。世界上不存在绝对的安全，过分提高网络的安全性可能降低网络传输速度等方面的性能，而且浪费资源和成本代价</a:t>
            </a:r>
            <a:r>
              <a:rPr lang="zh-CN" altLang="en-US" sz="1800" b="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rPr>
              <a:t>。</a:t>
            </a:r>
            <a:endParaRPr lang="zh-CN" altLang="en-US" sz="1800" b="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endParaRPr>
          </a:p>
          <a:p>
            <a:pPr>
              <a:lnSpc>
                <a:spcPct val="105000"/>
              </a:lnSpc>
              <a:spcBef>
                <a:spcPts val="600"/>
              </a:spcBef>
              <a:spcAft>
                <a:spcPts val="600"/>
              </a:spcAft>
              <a:defRPr/>
            </a:pPr>
            <a:r>
              <a:rPr lang="zh-CN" altLang="en-US" sz="1800" b="1" dirty="0">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sym typeface="+mn-ea"/>
              </a:rPr>
              <a:t>      </a:t>
            </a:r>
            <a:r>
              <a:rPr lang="zh-CN" altLang="en-US" sz="1800" b="1" u="sng" dirty="0">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sym typeface="+mn-ea"/>
              </a:rPr>
              <a:t>网络空间安全</a:t>
            </a:r>
            <a:r>
              <a:rPr lang="zh-CN" altLang="en-US" sz="1800" b="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1800" b="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rPr>
              <a:t>Cyberspace Security</a:t>
            </a:r>
            <a:r>
              <a:rPr lang="zh-CN" altLang="en-US" sz="1800" b="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rPr>
              <a:t>）是针对网络空间中的信息在产生、传输、存储、处理等环节中所面临的威胁和防御措施</a:t>
            </a:r>
            <a:r>
              <a:rPr lang="en-US" altLang="zh-CN" sz="1800" b="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zh-CN" altLang="en-US" sz="1800" b="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rPr>
              <a:t>以及网络和系统本身的安全和防护机制。不仅包括传统信息安全所研究的信息的保密性、完整性和可用性，还包括构成网络空间基础设施的安全和可信。需要明确信息安全、网络安全、网络空间安全概念之异同，</a:t>
            </a:r>
            <a:r>
              <a:rPr lang="zh-CN" altLang="en-US" sz="18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三者均属于非传统安全</a:t>
            </a:r>
            <a:r>
              <a:rPr lang="zh-CN" altLang="en-US" sz="1800" b="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rPr>
              <a:t>，均聚焦于信息安全问题。</a:t>
            </a:r>
            <a:r>
              <a:rPr lang="zh-CN" altLang="en-US" sz="18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网络安全及网络空间的</a:t>
            </a:r>
            <a:r>
              <a:rPr lang="zh-CN" altLang="en-US" sz="1800" b="1" u="sng" dirty="0">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sym typeface="+mn-ea"/>
              </a:rPr>
              <a:t>核心</a:t>
            </a:r>
            <a:r>
              <a:rPr lang="zh-CN" altLang="en-US" sz="1800" b="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rPr>
              <a:t>是信息安全。只是出发点和侧重点有所差别。</a:t>
            </a:r>
            <a:endParaRPr lang="zh-CN" altLang="en-US" sz="1800" b="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6" name="矩形标注 5"/>
          <p:cNvSpPr/>
          <p:nvPr/>
        </p:nvSpPr>
        <p:spPr bwMode="gray">
          <a:xfrm>
            <a:off x="0" y="4191000"/>
            <a:ext cx="533400" cy="685800"/>
          </a:xfrm>
          <a:prstGeom prst="wedgeRectCallout">
            <a:avLst>
              <a:gd name="adj1" fmla="val 67803"/>
              <a:gd name="adj2" fmla="val -10227"/>
            </a:avLst>
          </a:prstGeom>
          <a:solidFill>
            <a:srgbClr val="FFFF00"/>
          </a:solidFill>
          <a:ln w="12700" algn="ctr">
            <a:solidFill>
              <a:schemeClr val="accent1"/>
            </a:solidFill>
            <a:round/>
          </a:ln>
        </p:spPr>
        <p:txBody>
          <a:bodyPr wrap="none" anchor="ctr"/>
          <a:lstStyle/>
          <a:p>
            <a:pPr algn="dist">
              <a:spcBef>
                <a:spcPct val="20000"/>
              </a:spcBef>
              <a:buFont typeface="Wingdings" panose="05000000000000000000" pitchFamily="2" charset="2"/>
              <a:buNone/>
              <a:defRPr/>
            </a:pPr>
            <a:r>
              <a:rPr lang="zh-CN" altLang="en-US" sz="1100" dirty="0">
                <a:solidFill>
                  <a:srgbClr val="FF0066"/>
                </a:solidFill>
                <a:effectLst>
                  <a:outerShdw blurRad="38100" dist="38100" dir="2700000" algn="tl">
                    <a:srgbClr val="000000">
                      <a:alpha val="43137"/>
                    </a:srgbClr>
                  </a:outerShdw>
                </a:effectLst>
              </a:rPr>
              <a:t>广义网</a:t>
            </a:r>
            <a:endParaRPr lang="en-US" altLang="zh-CN" sz="1100" dirty="0">
              <a:solidFill>
                <a:srgbClr val="FF0066"/>
              </a:solidFill>
              <a:effectLst>
                <a:outerShdw blurRad="38100" dist="38100" dir="2700000" algn="tl">
                  <a:srgbClr val="000000">
                    <a:alpha val="43137"/>
                  </a:srgbClr>
                </a:outerShdw>
              </a:effectLst>
            </a:endParaRPr>
          </a:p>
          <a:p>
            <a:pPr algn="dist">
              <a:spcBef>
                <a:spcPct val="20000"/>
              </a:spcBef>
              <a:buFont typeface="Wingdings" panose="05000000000000000000" pitchFamily="2" charset="2"/>
              <a:buNone/>
              <a:defRPr/>
            </a:pPr>
            <a:r>
              <a:rPr lang="zh-CN" altLang="en-US" sz="1100" dirty="0">
                <a:solidFill>
                  <a:srgbClr val="FF0066"/>
                </a:solidFill>
                <a:effectLst>
                  <a:outerShdw blurRad="38100" dist="38100" dir="2700000" algn="tl">
                    <a:srgbClr val="000000">
                      <a:alpha val="43137"/>
                    </a:srgbClr>
                  </a:outerShdw>
                </a:effectLst>
              </a:rPr>
              <a:t>络安全</a:t>
            </a:r>
            <a:endParaRPr lang="zh-CN" altLang="en-US" sz="1100" dirty="0">
              <a:solidFill>
                <a:srgbClr val="FF0066"/>
              </a:solidFill>
              <a:effectLst>
                <a:outerShdw blurRad="38100" dist="38100" dir="2700000" algn="tl">
                  <a:srgbClr val="000000">
                    <a:alpha val="43137"/>
                  </a:srgbClr>
                </a:outerShdw>
              </a:effectLst>
            </a:endParaRPr>
          </a:p>
        </p:txBody>
      </p:sp>
      <p:sp>
        <p:nvSpPr>
          <p:cNvPr id="33795" name="内容占位符 13"/>
          <p:cNvSpPr>
            <a:spLocks noChangeArrowheads="1"/>
          </p:cNvSpPr>
          <p:nvPr/>
        </p:nvSpPr>
        <p:spPr bwMode="auto">
          <a:xfrm>
            <a:off x="990600" y="1295400"/>
            <a:ext cx="6769100" cy="1044575"/>
          </a:xfrm>
          <a:prstGeom prst="rect">
            <a:avLst/>
          </a:prstGeom>
          <a:noFill/>
          <a:ln w="9525">
            <a:noFill/>
            <a:miter lim="800000"/>
          </a:ln>
        </p:spPr>
        <p:txBody>
          <a:bodyPr/>
          <a:lstStyle/>
          <a:p>
            <a:pPr marL="342900" indent="-342900">
              <a:spcBef>
                <a:spcPts val="300"/>
              </a:spcBef>
              <a:spcAft>
                <a:spcPts val="300"/>
              </a:spcAft>
              <a:buClr>
                <a:schemeClr val="hlink"/>
              </a:buClr>
              <a:buFont typeface="Wingdings" panose="05000000000000000000" pitchFamily="2" charset="2"/>
              <a:buNone/>
            </a:pPr>
            <a:r>
              <a:rPr lang="zh-CN" altLang="en-US" b="1">
                <a:solidFill>
                  <a:srgbClr val="FF0000"/>
                </a:solidFill>
                <a:latin typeface="宋体" panose="02010600030101010101" pitchFamily="2" charset="-122"/>
              </a:rPr>
              <a:t>（</a:t>
            </a:r>
            <a:r>
              <a:rPr lang="en-US" altLang="zh-CN" b="1">
                <a:solidFill>
                  <a:srgbClr val="FF0000"/>
                </a:solidFill>
                <a:latin typeface="宋体" panose="02010600030101010101" pitchFamily="2" charset="-122"/>
              </a:rPr>
              <a:t>1</a:t>
            </a:r>
            <a:r>
              <a:rPr lang="zh-CN" altLang="en-US" b="1">
                <a:solidFill>
                  <a:srgbClr val="FF0000"/>
                </a:solidFill>
                <a:latin typeface="宋体" panose="02010600030101010101" pitchFamily="2" charset="-122"/>
              </a:rPr>
              <a:t>）</a:t>
            </a:r>
            <a:r>
              <a:rPr lang="zh-CN" altLang="en-US" b="1">
                <a:solidFill>
                  <a:srgbClr val="CC0000"/>
                </a:solidFill>
                <a:latin typeface="宋体" panose="02010600030101010101" pitchFamily="2" charset="-122"/>
              </a:rPr>
              <a:t>网络安全与网络空间安全相关概念</a:t>
            </a:r>
            <a:endParaRPr lang="zh-CN" altLang="en-US" b="1">
              <a:solidFill>
                <a:srgbClr val="CC0000"/>
              </a:solidFill>
              <a:latin typeface="宋体" panose="02010600030101010101" pitchFamily="2" charset="-122"/>
            </a:endParaRPr>
          </a:p>
        </p:txBody>
      </p:sp>
      <p:pic>
        <p:nvPicPr>
          <p:cNvPr id="33796" name="Picture 6" descr="C:\Users\Administrator\Desktop\图标0.jpg"/>
          <p:cNvPicPr>
            <a:picLocks noChangeAspect="1" noChangeArrowheads="1"/>
          </p:cNvPicPr>
          <p:nvPr/>
        </p:nvPicPr>
        <p:blipFill>
          <a:blip r:embed="rId1" cstate="print"/>
          <a:srcRect/>
          <a:stretch>
            <a:fillRect/>
          </a:stretch>
        </p:blipFill>
        <p:spPr bwMode="auto">
          <a:xfrm>
            <a:off x="5105400" y="5867400"/>
            <a:ext cx="1252538" cy="790575"/>
          </a:xfrm>
          <a:prstGeom prst="rect">
            <a:avLst/>
          </a:prstGeom>
          <a:noFill/>
          <a:ln w="9525">
            <a:noFill/>
            <a:miter lim="800000"/>
            <a:headEnd/>
            <a:tailEnd/>
          </a:ln>
        </p:spPr>
      </p:pic>
      <p:sp>
        <p:nvSpPr>
          <p:cNvPr id="7177" name="Rectangle 2"/>
          <p:cNvSpPr txBox="1">
            <a:spLocks noChangeArrowheads="1"/>
          </p:cNvSpPr>
          <p:nvPr/>
        </p:nvSpPr>
        <p:spPr bwMode="white">
          <a:xfrm>
            <a:off x="576263" y="188913"/>
            <a:ext cx="8305800" cy="563562"/>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en-US" altLang="zh-CN" sz="3200" dirty="0" smtClean="0">
                <a:solidFill>
                  <a:schemeClr val="bg1"/>
                </a:solidFill>
              </a:rPr>
              <a:t>1.</a:t>
            </a:r>
            <a:r>
              <a:rPr sz="3200" dirty="0" smtClean="0">
                <a:solidFill>
                  <a:schemeClr val="bg1"/>
                </a:solidFill>
              </a:rPr>
              <a:t>2  网络安全的概念、特点和内容</a:t>
            </a:r>
            <a:endParaRPr sz="3200" dirty="0" smtClean="0">
              <a:solidFill>
                <a:schemeClr val="bg1"/>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bwMode="gray">
          <a:xfrm>
            <a:off x="304800" y="1143000"/>
            <a:ext cx="8686800" cy="5160963"/>
          </a:xfrm>
          <a:prstGeom prst="roundRect">
            <a:avLst/>
          </a:prstGeom>
        </p:spPr>
        <p:style>
          <a:lnRef idx="2">
            <a:schemeClr val="accent1"/>
          </a:lnRef>
          <a:fillRef idx="1">
            <a:schemeClr val="lt1"/>
          </a:fillRef>
          <a:effectRef idx="0">
            <a:schemeClr val="accent1"/>
          </a:effectRef>
          <a:fontRef idx="minor">
            <a:schemeClr val="dk1"/>
          </a:fontRef>
        </p:style>
        <p:txBody>
          <a:bodyPr anchor="ctr" anchorCtr="1">
            <a:normAutofit lnSpcReduction="10000"/>
          </a:bodyPr>
          <a:lstStyle/>
          <a:p>
            <a:pPr>
              <a:lnSpc>
                <a:spcPct val="75000"/>
              </a:lnSpc>
              <a:spcBef>
                <a:spcPct val="20000"/>
              </a:spcBef>
              <a:defRPr/>
            </a:pPr>
            <a:endParaRPr lang="en-US" altLang="zh-CN" sz="1800" b="1" u="sng" dirty="0">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sym typeface="+mn-ea"/>
            </a:endParaRPr>
          </a:p>
          <a:p>
            <a:pPr>
              <a:defRPr/>
            </a:pPr>
            <a:r>
              <a:rPr lang="zh-CN" sz="2000" b="1" dirty="0">
                <a:latin typeface="Times New Roman" panose="02020603050405020304" pitchFamily="18" charset="0"/>
                <a:ea typeface="黑体" panose="02010609060101010101" pitchFamily="49" charset="-122"/>
                <a:cs typeface="Times New Roman" panose="02020603050405020304" pitchFamily="18" charset="0"/>
                <a:sym typeface="+mn-ea"/>
              </a:rPr>
              <a:t>信息安全的诞生：</a:t>
            </a:r>
            <a:r>
              <a:rPr sz="2000" b="1" dirty="0">
                <a:latin typeface="Times New Roman" panose="02020603050405020304" pitchFamily="18" charset="0"/>
                <a:ea typeface="黑体" panose="02010609060101010101" pitchFamily="49" charset="-122"/>
                <a:cs typeface="Times New Roman" panose="02020603050405020304" pitchFamily="18" charset="0"/>
                <a:sym typeface="+mn-ea"/>
              </a:rPr>
              <a:t>20世纪50年代，科技文献中开始出现信息安全的用词，至20世纪90年代，信息安全一词陆续出现在各国和地区的政策文献中，相关的学术研究文献也逐步增加。我国也于1994年出台了第一部关于计算机信息安全的法规《中华人民共和国计算机信息系统安全保护条例》。国际信息系统安全认证组织将信息安全划分为十大部分，包括</a:t>
            </a:r>
            <a:r>
              <a:rPr sz="20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物理安全、商务连续和灾害重建计划、安全结构和模式、应用和系统开发、通信和网络安全、访问控制领域、密码学领域、安全管理实践、操作安全、法律侦察和道德规划</a:t>
            </a:r>
            <a:r>
              <a:rPr sz="2000" b="1" dirty="0">
                <a:latin typeface="Times New Roman" panose="02020603050405020304" pitchFamily="18" charset="0"/>
                <a:ea typeface="黑体" panose="02010609060101010101" pitchFamily="49" charset="-122"/>
                <a:cs typeface="Times New Roman" panose="02020603050405020304" pitchFamily="18" charset="0"/>
                <a:sym typeface="+mn-ea"/>
              </a:rPr>
              <a:t>。从上述内容可以看出，信息安全概念所涉的范围很广，在各类物理安全的基础上，包括了通信和网络安全等要素。进入21世纪后，信息安全成为各国安全领域聚焦的重点。既有理论的研究，也有国家秘密、商业秘密和个人隐私保护的探讨</a:t>
            </a:r>
            <a:r>
              <a:rPr lang="zh-CN" sz="2000" b="1" dirty="0">
                <a:latin typeface="Times New Roman" panose="02020603050405020304" pitchFamily="18" charset="0"/>
                <a:ea typeface="黑体" panose="02010609060101010101" pitchFamily="49" charset="-122"/>
                <a:cs typeface="Times New Roman" panose="02020603050405020304" pitchFamily="18" charset="0"/>
                <a:sym typeface="+mn-ea"/>
              </a:rPr>
              <a:t>，</a:t>
            </a:r>
            <a:r>
              <a:rPr sz="2000" b="1" dirty="0">
                <a:latin typeface="Times New Roman" panose="02020603050405020304" pitchFamily="18" charset="0"/>
                <a:ea typeface="黑体" panose="02010609060101010101" pitchFamily="49" charset="-122"/>
                <a:cs typeface="Times New Roman" panose="02020603050405020304" pitchFamily="18" charset="0"/>
                <a:sym typeface="+mn-ea"/>
              </a:rPr>
              <a:t>既有国家战略的策划，也有信息安全内容的管理。既有信息安全技术标准的制定，也有国际行为准则的起草。信息安全已成为全球总体安全和综合安全最重要的非传统安全领域之一。</a:t>
            </a:r>
            <a:endParaRPr sz="2000" b="1" dirty="0">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3795" name="内容占位符 13"/>
          <p:cNvSpPr>
            <a:spLocks noChangeArrowheads="1"/>
          </p:cNvSpPr>
          <p:nvPr/>
        </p:nvSpPr>
        <p:spPr bwMode="auto">
          <a:xfrm>
            <a:off x="990600" y="1295400"/>
            <a:ext cx="6769100" cy="1044575"/>
          </a:xfrm>
          <a:prstGeom prst="rect">
            <a:avLst/>
          </a:prstGeom>
          <a:noFill/>
          <a:ln w="9525">
            <a:noFill/>
            <a:miter lim="800000"/>
          </a:ln>
        </p:spPr>
        <p:txBody>
          <a:bodyPr/>
          <a:lstStyle/>
          <a:p>
            <a:pPr marL="342900" indent="-342900">
              <a:spcBef>
                <a:spcPts val="300"/>
              </a:spcBef>
              <a:spcAft>
                <a:spcPts val="300"/>
              </a:spcAft>
              <a:buClr>
                <a:schemeClr val="hlink"/>
              </a:buClr>
              <a:buFont typeface="Wingdings" panose="05000000000000000000" pitchFamily="2" charset="2"/>
              <a:buNone/>
            </a:pPr>
            <a:r>
              <a:rPr lang="zh-CN" altLang="en-US" b="1">
                <a:solidFill>
                  <a:srgbClr val="FF0000"/>
                </a:solidFill>
                <a:latin typeface="宋体" panose="02010600030101010101" pitchFamily="2" charset="-122"/>
              </a:rPr>
              <a:t>（</a:t>
            </a:r>
            <a:r>
              <a:rPr lang="en-US" altLang="zh-CN" b="1">
                <a:solidFill>
                  <a:srgbClr val="FF0000"/>
                </a:solidFill>
                <a:latin typeface="宋体" panose="02010600030101010101" pitchFamily="2" charset="-122"/>
              </a:rPr>
              <a:t>1</a:t>
            </a:r>
            <a:r>
              <a:rPr lang="zh-CN" altLang="en-US" b="1">
                <a:solidFill>
                  <a:srgbClr val="FF0000"/>
                </a:solidFill>
                <a:latin typeface="宋体" panose="02010600030101010101" pitchFamily="2" charset="-122"/>
              </a:rPr>
              <a:t>）</a:t>
            </a:r>
            <a:r>
              <a:rPr lang="zh-CN" altLang="en-US" b="1">
                <a:solidFill>
                  <a:srgbClr val="CC0000"/>
                </a:solidFill>
                <a:latin typeface="宋体" panose="02010600030101010101" pitchFamily="2" charset="-122"/>
              </a:rPr>
              <a:t>网络安全与网络空间安全相关概念（扩展）</a:t>
            </a:r>
            <a:endParaRPr lang="zh-CN" altLang="en-US" b="1">
              <a:solidFill>
                <a:srgbClr val="CC0000"/>
              </a:solidFill>
              <a:latin typeface="宋体" panose="02010600030101010101" pitchFamily="2" charset="-122"/>
            </a:endParaRPr>
          </a:p>
        </p:txBody>
      </p:sp>
      <p:pic>
        <p:nvPicPr>
          <p:cNvPr id="33796" name="Picture 6" descr="C:\Users\Administrator\Desktop\图标0.jpg"/>
          <p:cNvPicPr>
            <a:picLocks noChangeAspect="1" noChangeArrowheads="1"/>
          </p:cNvPicPr>
          <p:nvPr/>
        </p:nvPicPr>
        <p:blipFill>
          <a:blip r:embed="rId1" cstate="print"/>
          <a:srcRect/>
          <a:stretch>
            <a:fillRect/>
          </a:stretch>
        </p:blipFill>
        <p:spPr bwMode="auto">
          <a:xfrm>
            <a:off x="5105400" y="5867400"/>
            <a:ext cx="1252538" cy="790575"/>
          </a:xfrm>
          <a:prstGeom prst="rect">
            <a:avLst/>
          </a:prstGeom>
          <a:noFill/>
          <a:ln w="9525">
            <a:noFill/>
            <a:miter lim="800000"/>
            <a:headEnd/>
            <a:tailEnd/>
          </a:ln>
        </p:spPr>
      </p:pic>
      <p:sp>
        <p:nvSpPr>
          <p:cNvPr id="7177" name="Rectangle 2"/>
          <p:cNvSpPr txBox="1">
            <a:spLocks noChangeArrowheads="1"/>
          </p:cNvSpPr>
          <p:nvPr/>
        </p:nvSpPr>
        <p:spPr bwMode="white">
          <a:xfrm>
            <a:off x="576263" y="188913"/>
            <a:ext cx="8305800" cy="563562"/>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en-US" altLang="zh-CN" sz="3200" dirty="0" smtClean="0">
                <a:solidFill>
                  <a:schemeClr val="bg1"/>
                </a:solidFill>
              </a:rPr>
              <a:t>1.</a:t>
            </a:r>
            <a:r>
              <a:rPr sz="3200" dirty="0" smtClean="0">
                <a:solidFill>
                  <a:schemeClr val="bg1"/>
                </a:solidFill>
              </a:rPr>
              <a:t>2  网络安全的概念、特点和内容</a:t>
            </a:r>
            <a:endParaRPr sz="3200" dirty="0" smtClean="0">
              <a:solidFill>
                <a:schemeClr val="bg1"/>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bwMode="gray">
          <a:xfrm>
            <a:off x="304800" y="1143000"/>
            <a:ext cx="8686800" cy="5160963"/>
          </a:xfrm>
          <a:prstGeom prst="roundRect">
            <a:avLst/>
          </a:prstGeom>
        </p:spPr>
        <p:style>
          <a:lnRef idx="2">
            <a:schemeClr val="accent1"/>
          </a:lnRef>
          <a:fillRef idx="1">
            <a:schemeClr val="lt1"/>
          </a:fillRef>
          <a:effectRef idx="0">
            <a:schemeClr val="accent1"/>
          </a:effectRef>
          <a:fontRef idx="minor">
            <a:schemeClr val="dk1"/>
          </a:fontRef>
        </p:style>
        <p:txBody>
          <a:bodyPr anchor="ctr" anchorCtr="1">
            <a:normAutofit lnSpcReduction="10000"/>
          </a:bodyPr>
          <a:lstStyle/>
          <a:p>
            <a:pPr>
              <a:lnSpc>
                <a:spcPct val="75000"/>
              </a:lnSpc>
              <a:spcBef>
                <a:spcPct val="20000"/>
              </a:spcBef>
              <a:defRPr/>
            </a:pPr>
            <a:endParaRPr lang="en-US" altLang="zh-CN" sz="1800" b="1" u="sng" dirty="0">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sym typeface="+mn-ea"/>
            </a:endParaRPr>
          </a:p>
          <a:p>
            <a:pPr>
              <a:defRPr/>
            </a:pPr>
            <a:r>
              <a:rPr sz="2000" b="1" dirty="0">
                <a:latin typeface="Times New Roman" panose="02020603050405020304" pitchFamily="18" charset="0"/>
                <a:ea typeface="黑体" panose="02010609060101010101" pitchFamily="49" charset="-122"/>
                <a:cs typeface="Times New Roman" panose="02020603050405020304" pitchFamily="18" charset="0"/>
                <a:sym typeface="+mn-ea"/>
              </a:rPr>
              <a:t>而随着互联网的发展，信息安全更多地</a:t>
            </a:r>
            <a:r>
              <a:rPr sz="20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聚焦于网络数字世界</a:t>
            </a:r>
            <a:r>
              <a:rPr sz="2000" b="1" dirty="0">
                <a:latin typeface="Times New Roman" panose="02020603050405020304" pitchFamily="18" charset="0"/>
                <a:ea typeface="黑体" panose="02010609060101010101" pitchFamily="49" charset="-122"/>
                <a:cs typeface="Times New Roman" panose="02020603050405020304" pitchFamily="18" charset="0"/>
                <a:sym typeface="+mn-ea"/>
              </a:rPr>
              <a:t>。网络带来的诸多安全问题成为信息安全发展的新趋势和新特点，已很难直接用信息安全一词来准确表述网络安全和网络空间安全的新进展，且无法深刻揭示网络安全和网络空间安全的新特征。在此背景下，“网络安全、网络空间安全”开始与信息安全同时使用，有时甚至会直接使用“网络安全、网络空间安全”。</a:t>
            </a:r>
            <a:endParaRPr sz="2000" b="1" dirty="0">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3795" name="内容占位符 13"/>
          <p:cNvSpPr>
            <a:spLocks noChangeArrowheads="1"/>
          </p:cNvSpPr>
          <p:nvPr/>
        </p:nvSpPr>
        <p:spPr bwMode="auto">
          <a:xfrm>
            <a:off x="990600" y="1295400"/>
            <a:ext cx="6769100" cy="1044575"/>
          </a:xfrm>
          <a:prstGeom prst="rect">
            <a:avLst/>
          </a:prstGeom>
          <a:noFill/>
          <a:ln w="9525">
            <a:noFill/>
            <a:miter lim="800000"/>
          </a:ln>
        </p:spPr>
        <p:txBody>
          <a:bodyPr/>
          <a:lstStyle/>
          <a:p>
            <a:pPr marL="342900" indent="-342900">
              <a:spcBef>
                <a:spcPts val="300"/>
              </a:spcBef>
              <a:spcAft>
                <a:spcPts val="300"/>
              </a:spcAft>
              <a:buClr>
                <a:schemeClr val="hlink"/>
              </a:buClr>
              <a:buFont typeface="Wingdings" panose="05000000000000000000" pitchFamily="2" charset="2"/>
              <a:buNone/>
            </a:pPr>
            <a:r>
              <a:rPr lang="zh-CN" altLang="en-US" b="1">
                <a:solidFill>
                  <a:srgbClr val="FF0000"/>
                </a:solidFill>
                <a:latin typeface="宋体" panose="02010600030101010101" pitchFamily="2" charset="-122"/>
              </a:rPr>
              <a:t>（</a:t>
            </a:r>
            <a:r>
              <a:rPr lang="en-US" altLang="zh-CN" b="1">
                <a:solidFill>
                  <a:srgbClr val="FF0000"/>
                </a:solidFill>
                <a:latin typeface="宋体" panose="02010600030101010101" pitchFamily="2" charset="-122"/>
              </a:rPr>
              <a:t>1</a:t>
            </a:r>
            <a:r>
              <a:rPr lang="zh-CN" altLang="en-US" b="1">
                <a:solidFill>
                  <a:srgbClr val="FF0000"/>
                </a:solidFill>
                <a:latin typeface="宋体" panose="02010600030101010101" pitchFamily="2" charset="-122"/>
              </a:rPr>
              <a:t>）</a:t>
            </a:r>
            <a:r>
              <a:rPr lang="zh-CN" altLang="en-US" b="1">
                <a:solidFill>
                  <a:srgbClr val="CC0000"/>
                </a:solidFill>
                <a:latin typeface="宋体" panose="02010600030101010101" pitchFamily="2" charset="-122"/>
              </a:rPr>
              <a:t>网络安全与网络空间安全相关概念（扩展）</a:t>
            </a:r>
            <a:endParaRPr lang="zh-CN" altLang="en-US" b="1">
              <a:solidFill>
                <a:srgbClr val="CC0000"/>
              </a:solidFill>
              <a:latin typeface="宋体" panose="02010600030101010101" pitchFamily="2" charset="-122"/>
            </a:endParaRPr>
          </a:p>
        </p:txBody>
      </p:sp>
      <p:pic>
        <p:nvPicPr>
          <p:cNvPr id="33796" name="Picture 6" descr="C:\Users\Administrator\Desktop\图标0.jpg"/>
          <p:cNvPicPr>
            <a:picLocks noChangeAspect="1" noChangeArrowheads="1"/>
          </p:cNvPicPr>
          <p:nvPr/>
        </p:nvPicPr>
        <p:blipFill>
          <a:blip r:embed="rId1" cstate="print"/>
          <a:srcRect/>
          <a:stretch>
            <a:fillRect/>
          </a:stretch>
        </p:blipFill>
        <p:spPr bwMode="auto">
          <a:xfrm>
            <a:off x="5105400" y="5867400"/>
            <a:ext cx="1252538" cy="790575"/>
          </a:xfrm>
          <a:prstGeom prst="rect">
            <a:avLst/>
          </a:prstGeom>
          <a:noFill/>
          <a:ln w="9525">
            <a:noFill/>
            <a:miter lim="800000"/>
            <a:headEnd/>
            <a:tailEnd/>
          </a:ln>
        </p:spPr>
      </p:pic>
      <p:sp>
        <p:nvSpPr>
          <p:cNvPr id="7177" name="Rectangle 2"/>
          <p:cNvSpPr txBox="1">
            <a:spLocks noChangeArrowheads="1"/>
          </p:cNvSpPr>
          <p:nvPr/>
        </p:nvSpPr>
        <p:spPr bwMode="white">
          <a:xfrm>
            <a:off x="576263" y="188913"/>
            <a:ext cx="8305800" cy="563562"/>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en-US" altLang="zh-CN" sz="3200" dirty="0" smtClean="0">
                <a:solidFill>
                  <a:schemeClr val="bg1"/>
                </a:solidFill>
              </a:rPr>
              <a:t>1.</a:t>
            </a:r>
            <a:r>
              <a:rPr sz="3200" dirty="0" smtClean="0">
                <a:solidFill>
                  <a:schemeClr val="bg1"/>
                </a:solidFill>
              </a:rPr>
              <a:t>2  网络安全的概念、特点和内容</a:t>
            </a:r>
            <a:endParaRPr sz="3200" dirty="0" smtClean="0">
              <a:solidFill>
                <a:schemeClr val="bg1"/>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bwMode="gray">
          <a:xfrm>
            <a:off x="304800" y="1143000"/>
            <a:ext cx="8686800" cy="5160963"/>
          </a:xfrm>
          <a:prstGeom prst="roundRect">
            <a:avLst/>
          </a:prstGeom>
        </p:spPr>
        <p:style>
          <a:lnRef idx="2">
            <a:schemeClr val="accent1"/>
          </a:lnRef>
          <a:fillRef idx="1">
            <a:schemeClr val="lt1"/>
          </a:fillRef>
          <a:effectRef idx="0">
            <a:schemeClr val="accent1"/>
          </a:effectRef>
          <a:fontRef idx="minor">
            <a:schemeClr val="dk1"/>
          </a:fontRef>
        </p:style>
        <p:txBody>
          <a:bodyPr anchor="ctr" anchorCtr="1">
            <a:normAutofit lnSpcReduction="10000"/>
          </a:bodyPr>
          <a:lstStyle/>
          <a:p>
            <a:pPr>
              <a:lnSpc>
                <a:spcPct val="75000"/>
              </a:lnSpc>
              <a:spcBef>
                <a:spcPct val="20000"/>
              </a:spcBef>
              <a:defRPr/>
            </a:pPr>
            <a:endParaRPr lang="en-US" altLang="zh-CN" sz="1800" b="1" u="sng" dirty="0">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sym typeface="+mn-ea"/>
            </a:endParaRPr>
          </a:p>
          <a:p>
            <a:pPr>
              <a:defRPr/>
            </a:pPr>
            <a:r>
              <a:rPr sz="2000" b="1" dirty="0">
                <a:latin typeface="Times New Roman" panose="02020603050405020304" pitchFamily="18" charset="0"/>
                <a:ea typeface="黑体" panose="02010609060101010101" pitchFamily="49" charset="-122"/>
                <a:cs typeface="Times New Roman" panose="02020603050405020304" pitchFamily="18" charset="0"/>
                <a:sym typeface="+mn-ea"/>
              </a:rPr>
              <a:t>从上述背景可以看出三者的演化由来，那么三者之间的异同有哪些？三者具有以下</a:t>
            </a:r>
            <a:r>
              <a:rPr sz="20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相同之处</a:t>
            </a:r>
            <a:r>
              <a:rPr sz="2000" b="1" dirty="0">
                <a:latin typeface="Times New Roman" panose="02020603050405020304" pitchFamily="18" charset="0"/>
                <a:ea typeface="黑体" panose="02010609060101010101" pitchFamily="49" charset="-122"/>
                <a:cs typeface="Times New Roman" panose="02020603050405020304" pitchFamily="18" charset="0"/>
                <a:sym typeface="+mn-ea"/>
              </a:rPr>
              <a:t>：首先，</a:t>
            </a:r>
            <a:r>
              <a:rPr sz="20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三者均类属于非传统安全领域</a:t>
            </a:r>
            <a:r>
              <a:rPr sz="2000" b="1" dirty="0">
                <a:latin typeface="Times New Roman" panose="02020603050405020304" pitchFamily="18" charset="0"/>
                <a:ea typeface="黑体" panose="02010609060101010101" pitchFamily="49" charset="-122"/>
                <a:cs typeface="Times New Roman" panose="02020603050405020304" pitchFamily="18" charset="0"/>
                <a:sym typeface="+mn-ea"/>
              </a:rPr>
              <a:t>。较军事、政治和外交的传统安全而言，信息安全、网络安全、网络空间安全都类属于非传统安全领域，是进入20世纪末特别是21世纪初以来人类所共同面临的日益突出的安全问题。其次</a:t>
            </a:r>
            <a:r>
              <a:rPr sz="20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三者都聚焦于信息安全</a:t>
            </a:r>
            <a:r>
              <a:rPr sz="2000" b="1" dirty="0">
                <a:latin typeface="Times New Roman" panose="02020603050405020304" pitchFamily="18" charset="0"/>
                <a:ea typeface="黑体" panose="02010609060101010101" pitchFamily="49" charset="-122"/>
                <a:cs typeface="Times New Roman" panose="02020603050405020304" pitchFamily="18" charset="0"/>
                <a:sym typeface="+mn-ea"/>
              </a:rPr>
              <a:t>。网络安全、网络空间安全的核心也是信息安全，只是出发点和侧重点有所差别。最后三者可以互相使用，但各有侧重点。</a:t>
            </a:r>
            <a:r>
              <a:rPr sz="2000" b="1"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sym typeface="+mn-ea"/>
              </a:rPr>
              <a:t>信息安全使用范围最广</a:t>
            </a:r>
            <a:r>
              <a:rPr sz="2000" b="1" dirty="0">
                <a:latin typeface="Times New Roman" panose="02020603050405020304" pitchFamily="18" charset="0"/>
                <a:ea typeface="黑体" panose="02010609060101010101" pitchFamily="49" charset="-122"/>
                <a:cs typeface="Times New Roman" panose="02020603050405020304" pitchFamily="18" charset="0"/>
                <a:sym typeface="+mn-ea"/>
              </a:rPr>
              <a:t>，网络安全可以指称信息安全或网络空间安全，但侧重点是</a:t>
            </a:r>
            <a:r>
              <a:rPr sz="2000" b="1"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sym typeface="+mn-ea"/>
              </a:rPr>
              <a:t>线上安全和网络社会安全</a:t>
            </a:r>
            <a:r>
              <a:rPr sz="2000" b="1" dirty="0">
                <a:latin typeface="Times New Roman" panose="02020603050405020304" pitchFamily="18" charset="0"/>
                <a:ea typeface="黑体" panose="02010609060101010101" pitchFamily="49" charset="-122"/>
                <a:cs typeface="Times New Roman" panose="02020603050405020304" pitchFamily="18" charset="0"/>
                <a:sym typeface="+mn-ea"/>
              </a:rPr>
              <a:t>，网络空间安全可以指称信息安全或网络安全，但侧重点是与陆海空太空等并行的空间概念，并一开始就具有</a:t>
            </a:r>
            <a:r>
              <a:rPr sz="2000" b="1"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sym typeface="+mn-ea"/>
              </a:rPr>
              <a:t>军事性质</a:t>
            </a:r>
            <a:r>
              <a:rPr sz="2000" b="1" dirty="0">
                <a:latin typeface="Times New Roman" panose="02020603050405020304" pitchFamily="18" charset="0"/>
                <a:ea typeface="黑体" panose="02010609060101010101" pitchFamily="49" charset="-122"/>
                <a:cs typeface="Times New Roman" panose="02020603050405020304" pitchFamily="18" charset="0"/>
                <a:sym typeface="+mn-ea"/>
              </a:rPr>
              <a:t>。</a:t>
            </a:r>
            <a:endParaRPr sz="2000" b="1" dirty="0">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3795" name="内容占位符 13"/>
          <p:cNvSpPr>
            <a:spLocks noChangeArrowheads="1"/>
          </p:cNvSpPr>
          <p:nvPr/>
        </p:nvSpPr>
        <p:spPr bwMode="auto">
          <a:xfrm>
            <a:off x="990600" y="1295400"/>
            <a:ext cx="6769100" cy="1044575"/>
          </a:xfrm>
          <a:prstGeom prst="rect">
            <a:avLst/>
          </a:prstGeom>
          <a:noFill/>
          <a:ln w="9525">
            <a:noFill/>
            <a:miter lim="800000"/>
          </a:ln>
        </p:spPr>
        <p:txBody>
          <a:bodyPr/>
          <a:lstStyle/>
          <a:p>
            <a:pPr marL="342900" indent="-342900">
              <a:spcBef>
                <a:spcPts val="300"/>
              </a:spcBef>
              <a:spcAft>
                <a:spcPts val="300"/>
              </a:spcAft>
              <a:buClr>
                <a:schemeClr val="hlink"/>
              </a:buClr>
              <a:buFont typeface="Wingdings" panose="05000000000000000000" pitchFamily="2" charset="2"/>
              <a:buNone/>
            </a:pPr>
            <a:r>
              <a:rPr lang="zh-CN" altLang="en-US" b="1">
                <a:solidFill>
                  <a:srgbClr val="FF0000"/>
                </a:solidFill>
                <a:latin typeface="宋体" panose="02010600030101010101" pitchFamily="2" charset="-122"/>
              </a:rPr>
              <a:t>（</a:t>
            </a:r>
            <a:r>
              <a:rPr lang="en-US" altLang="zh-CN" b="1">
                <a:solidFill>
                  <a:srgbClr val="FF0000"/>
                </a:solidFill>
                <a:latin typeface="宋体" panose="02010600030101010101" pitchFamily="2" charset="-122"/>
              </a:rPr>
              <a:t>1</a:t>
            </a:r>
            <a:r>
              <a:rPr lang="zh-CN" altLang="en-US" b="1">
                <a:solidFill>
                  <a:srgbClr val="FF0000"/>
                </a:solidFill>
                <a:latin typeface="宋体" panose="02010600030101010101" pitchFamily="2" charset="-122"/>
              </a:rPr>
              <a:t>）</a:t>
            </a:r>
            <a:r>
              <a:rPr lang="zh-CN" altLang="en-US" b="1">
                <a:solidFill>
                  <a:srgbClr val="CC0000"/>
                </a:solidFill>
                <a:latin typeface="宋体" panose="02010600030101010101" pitchFamily="2" charset="-122"/>
              </a:rPr>
              <a:t>网络安全与网络空间安全相关概念（扩展）</a:t>
            </a:r>
            <a:endParaRPr lang="zh-CN" altLang="en-US" b="1">
              <a:solidFill>
                <a:srgbClr val="CC0000"/>
              </a:solidFill>
              <a:latin typeface="宋体" panose="02010600030101010101" pitchFamily="2" charset="-122"/>
            </a:endParaRPr>
          </a:p>
        </p:txBody>
      </p:sp>
      <p:pic>
        <p:nvPicPr>
          <p:cNvPr id="33796" name="Picture 6" descr="C:\Users\Administrator\Desktop\图标0.jpg"/>
          <p:cNvPicPr>
            <a:picLocks noChangeAspect="1" noChangeArrowheads="1"/>
          </p:cNvPicPr>
          <p:nvPr/>
        </p:nvPicPr>
        <p:blipFill>
          <a:blip r:embed="rId1" cstate="print"/>
          <a:srcRect/>
          <a:stretch>
            <a:fillRect/>
          </a:stretch>
        </p:blipFill>
        <p:spPr bwMode="auto">
          <a:xfrm>
            <a:off x="5105400" y="5867400"/>
            <a:ext cx="1252538" cy="790575"/>
          </a:xfrm>
          <a:prstGeom prst="rect">
            <a:avLst/>
          </a:prstGeom>
          <a:noFill/>
          <a:ln w="9525">
            <a:noFill/>
            <a:miter lim="800000"/>
            <a:headEnd/>
            <a:tailEnd/>
          </a:ln>
        </p:spPr>
      </p:pic>
      <p:sp>
        <p:nvSpPr>
          <p:cNvPr id="7177" name="Rectangle 2"/>
          <p:cNvSpPr txBox="1">
            <a:spLocks noChangeArrowheads="1"/>
          </p:cNvSpPr>
          <p:nvPr/>
        </p:nvSpPr>
        <p:spPr bwMode="white">
          <a:xfrm>
            <a:off x="576263" y="188913"/>
            <a:ext cx="8305800" cy="563562"/>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en-US" altLang="zh-CN" sz="3200" dirty="0" smtClean="0">
                <a:solidFill>
                  <a:schemeClr val="bg1"/>
                </a:solidFill>
              </a:rPr>
              <a:t>1.</a:t>
            </a:r>
            <a:r>
              <a:rPr sz="3200" dirty="0" smtClean="0">
                <a:solidFill>
                  <a:schemeClr val="bg1"/>
                </a:solidFill>
              </a:rPr>
              <a:t>2  网络安全的概念、特点和内容</a:t>
            </a:r>
            <a:endParaRPr sz="3200" dirty="0" smtClean="0">
              <a:solidFill>
                <a:schemeClr val="bg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bwMode="gray">
          <a:xfrm>
            <a:off x="304800" y="1143000"/>
            <a:ext cx="8686800" cy="5160963"/>
          </a:xfrm>
          <a:prstGeom prst="roundRect">
            <a:avLst/>
          </a:prstGeom>
        </p:spPr>
        <p:style>
          <a:lnRef idx="2">
            <a:schemeClr val="accent1"/>
          </a:lnRef>
          <a:fillRef idx="1">
            <a:schemeClr val="lt1"/>
          </a:fillRef>
          <a:effectRef idx="0">
            <a:schemeClr val="accent1"/>
          </a:effectRef>
          <a:fontRef idx="minor">
            <a:schemeClr val="dk1"/>
          </a:fontRef>
        </p:style>
        <p:txBody>
          <a:bodyPr anchor="ctr" anchorCtr="1">
            <a:normAutofit lnSpcReduction="10000"/>
          </a:bodyPr>
          <a:lstStyle/>
          <a:p>
            <a:pPr>
              <a:lnSpc>
                <a:spcPct val="75000"/>
              </a:lnSpc>
              <a:spcBef>
                <a:spcPct val="20000"/>
              </a:spcBef>
              <a:defRPr/>
            </a:pPr>
            <a:endParaRPr lang="en-US" altLang="zh-CN" sz="1800" b="1" u="sng" dirty="0">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sym typeface="+mn-ea"/>
            </a:endParaRPr>
          </a:p>
          <a:p>
            <a:pPr>
              <a:defRPr/>
            </a:pPr>
            <a:r>
              <a:rPr sz="2000" b="1" dirty="0">
                <a:latin typeface="Times New Roman" panose="02020603050405020304" pitchFamily="18" charset="0"/>
                <a:ea typeface="黑体" panose="02010609060101010101" pitchFamily="49" charset="-122"/>
                <a:cs typeface="Times New Roman" panose="02020603050405020304" pitchFamily="18" charset="0"/>
                <a:sym typeface="+mn-ea"/>
              </a:rPr>
              <a:t>三者的不同之处有两点：其一，</a:t>
            </a:r>
            <a:r>
              <a:rPr sz="20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三者的视角不同</a:t>
            </a:r>
            <a:r>
              <a:rPr sz="2000" b="1" dirty="0">
                <a:latin typeface="Times New Roman" panose="02020603050405020304" pitchFamily="18" charset="0"/>
                <a:ea typeface="黑体" panose="02010609060101010101" pitchFamily="49" charset="-122"/>
                <a:cs typeface="Times New Roman" panose="02020603050405020304" pitchFamily="18" charset="0"/>
                <a:sym typeface="+mn-ea"/>
              </a:rPr>
              <a:t>。信息安全所反映的安全问题基于信息，网络安全所反映的安全问题基于网络，网络空间安全所反映的安全问题基于空间，这正是三者的不同点。其二，</a:t>
            </a:r>
            <a:r>
              <a:rPr sz="20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三者提出的背景不同</a:t>
            </a:r>
            <a:r>
              <a:rPr sz="2000" b="1" dirty="0">
                <a:latin typeface="Times New Roman" panose="02020603050405020304" pitchFamily="18" charset="0"/>
                <a:ea typeface="黑体" panose="02010609060101010101" pitchFamily="49" charset="-122"/>
                <a:cs typeface="Times New Roman" panose="02020603050405020304" pitchFamily="18" charset="0"/>
                <a:sym typeface="+mn-ea"/>
              </a:rPr>
              <a:t>。信息安全最初是基于现实社会的信息安全所提出的概念，随着网络社会的来临，也可以指称网络安全或网络空间安全。网络安全则相对于现实社会的信息安全而言，是基于互联网的发展以及网络社会到来所面临的信息安全新挑战所提出的概念。而网络空间安全则是基于对全球五大空间的新认知，网域与现实空间中的陆海空太空一起，共同形成了人类自然与社会以及国家的公域空间，具有全球空间的性质。</a:t>
            </a:r>
            <a:endParaRPr sz="2000" b="1" dirty="0">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3795" name="内容占位符 13"/>
          <p:cNvSpPr>
            <a:spLocks noChangeArrowheads="1"/>
          </p:cNvSpPr>
          <p:nvPr/>
        </p:nvSpPr>
        <p:spPr bwMode="auto">
          <a:xfrm>
            <a:off x="990600" y="1295400"/>
            <a:ext cx="6769100" cy="1044575"/>
          </a:xfrm>
          <a:prstGeom prst="rect">
            <a:avLst/>
          </a:prstGeom>
          <a:noFill/>
          <a:ln w="9525">
            <a:noFill/>
            <a:miter lim="800000"/>
          </a:ln>
        </p:spPr>
        <p:txBody>
          <a:bodyPr/>
          <a:lstStyle/>
          <a:p>
            <a:pPr marL="342900" indent="-342900">
              <a:spcBef>
                <a:spcPts val="300"/>
              </a:spcBef>
              <a:spcAft>
                <a:spcPts val="300"/>
              </a:spcAft>
              <a:buClr>
                <a:schemeClr val="hlink"/>
              </a:buClr>
              <a:buFont typeface="Wingdings" panose="05000000000000000000" pitchFamily="2" charset="2"/>
              <a:buNone/>
            </a:pPr>
            <a:r>
              <a:rPr lang="zh-CN" altLang="en-US" b="1">
                <a:solidFill>
                  <a:srgbClr val="FF0000"/>
                </a:solidFill>
                <a:latin typeface="宋体" panose="02010600030101010101" pitchFamily="2" charset="-122"/>
              </a:rPr>
              <a:t>（</a:t>
            </a:r>
            <a:r>
              <a:rPr lang="en-US" altLang="zh-CN" b="1">
                <a:solidFill>
                  <a:srgbClr val="FF0000"/>
                </a:solidFill>
                <a:latin typeface="宋体" panose="02010600030101010101" pitchFamily="2" charset="-122"/>
              </a:rPr>
              <a:t>1</a:t>
            </a:r>
            <a:r>
              <a:rPr lang="zh-CN" altLang="en-US" b="1">
                <a:solidFill>
                  <a:srgbClr val="FF0000"/>
                </a:solidFill>
                <a:latin typeface="宋体" panose="02010600030101010101" pitchFamily="2" charset="-122"/>
              </a:rPr>
              <a:t>）</a:t>
            </a:r>
            <a:r>
              <a:rPr lang="zh-CN" altLang="en-US" b="1">
                <a:solidFill>
                  <a:srgbClr val="CC0000"/>
                </a:solidFill>
                <a:latin typeface="宋体" panose="02010600030101010101" pitchFamily="2" charset="-122"/>
              </a:rPr>
              <a:t>网络安全与网络空间安全相关概念（扩展）</a:t>
            </a:r>
            <a:endParaRPr lang="zh-CN" altLang="en-US" b="1">
              <a:solidFill>
                <a:srgbClr val="CC0000"/>
              </a:solidFill>
              <a:latin typeface="宋体" panose="02010600030101010101" pitchFamily="2" charset="-122"/>
            </a:endParaRPr>
          </a:p>
        </p:txBody>
      </p:sp>
      <p:pic>
        <p:nvPicPr>
          <p:cNvPr id="33796" name="Picture 6" descr="C:\Users\Administrator\Desktop\图标0.jpg"/>
          <p:cNvPicPr>
            <a:picLocks noChangeAspect="1" noChangeArrowheads="1"/>
          </p:cNvPicPr>
          <p:nvPr/>
        </p:nvPicPr>
        <p:blipFill>
          <a:blip r:embed="rId1" cstate="print"/>
          <a:srcRect/>
          <a:stretch>
            <a:fillRect/>
          </a:stretch>
        </p:blipFill>
        <p:spPr bwMode="auto">
          <a:xfrm>
            <a:off x="5105400" y="5867400"/>
            <a:ext cx="1252538" cy="790575"/>
          </a:xfrm>
          <a:prstGeom prst="rect">
            <a:avLst/>
          </a:prstGeom>
          <a:noFill/>
          <a:ln w="9525">
            <a:noFill/>
            <a:miter lim="800000"/>
            <a:headEnd/>
            <a:tailEnd/>
          </a:ln>
        </p:spPr>
      </p:pic>
      <p:sp>
        <p:nvSpPr>
          <p:cNvPr id="7177" name="Rectangle 2"/>
          <p:cNvSpPr txBox="1">
            <a:spLocks noChangeArrowheads="1"/>
          </p:cNvSpPr>
          <p:nvPr/>
        </p:nvSpPr>
        <p:spPr bwMode="white">
          <a:xfrm>
            <a:off x="576263" y="188913"/>
            <a:ext cx="8305800" cy="563562"/>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en-US" altLang="zh-CN" sz="3200" dirty="0" smtClean="0">
                <a:solidFill>
                  <a:schemeClr val="bg1"/>
                </a:solidFill>
              </a:rPr>
              <a:t>1.</a:t>
            </a:r>
            <a:r>
              <a:rPr sz="3200" dirty="0" smtClean="0">
                <a:solidFill>
                  <a:schemeClr val="bg1"/>
                </a:solidFill>
              </a:rPr>
              <a:t>2  网络安全的概念、特点和内容</a:t>
            </a:r>
            <a:endParaRPr sz="3200" dirty="0" smtClean="0">
              <a:solidFill>
                <a:schemeClr val="bg1"/>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bwMode="gray">
          <a:xfrm>
            <a:off x="685800" y="1524000"/>
            <a:ext cx="7921625" cy="4360863"/>
          </a:xfrm>
          <a:prstGeom prst="roundRect">
            <a:avLst/>
          </a:prstGeom>
        </p:spPr>
        <p:style>
          <a:lnRef idx="2">
            <a:schemeClr val="accent1"/>
          </a:lnRef>
          <a:fillRef idx="1">
            <a:schemeClr val="lt1"/>
          </a:fillRef>
          <a:effectRef idx="0">
            <a:schemeClr val="accent1"/>
          </a:effectRef>
          <a:fontRef idx="minor">
            <a:schemeClr val="dk1"/>
          </a:fontRef>
        </p:style>
        <p:txBody>
          <a:bodyPr anchor="ctr" anchorCtr="1">
            <a:normAutofit fontScale="77500" lnSpcReduction="20000"/>
          </a:bodyPr>
          <a:lstStyle/>
          <a:p>
            <a:pPr indent="457200">
              <a:lnSpc>
                <a:spcPct val="110000"/>
              </a:lnSpc>
              <a:spcBef>
                <a:spcPct val="20000"/>
              </a:spcBef>
              <a:defRPr/>
            </a:pPr>
            <a:r>
              <a:rPr lang="zh-CN" altLang="en-US" sz="2300" b="1">
                <a:solidFill>
                  <a:srgbClr val="CC0000"/>
                </a:solidFill>
                <a:latin typeface="Arial" panose="020B0604020202020204" pitchFamily="34" charset="0"/>
              </a:rPr>
              <a:t> </a:t>
            </a:r>
            <a:r>
              <a:rPr sz="2800" b="1">
                <a:solidFill>
                  <a:srgbClr val="FF0000"/>
                </a:solidFill>
                <a:latin typeface="Arial" panose="020B0604020202020204" pitchFamily="34" charset="0"/>
              </a:rPr>
              <a:t>网络安全的目标</a:t>
            </a:r>
            <a:r>
              <a:rPr sz="2800" b="1">
                <a:latin typeface="Arial" panose="020B0604020202020204" pitchFamily="34" charset="0"/>
              </a:rPr>
              <a:t>是指在网络的信息传输、存储与处理的整个过程中，提高物理上逻辑上的防护、监控、反应恢复和对抗的要求。网络安全的</a:t>
            </a:r>
            <a:r>
              <a:rPr sz="2800" b="1">
                <a:solidFill>
                  <a:srgbClr val="FF0000"/>
                </a:solidFill>
                <a:latin typeface="Arial" panose="020B0604020202020204" pitchFamily="34" charset="0"/>
              </a:rPr>
              <a:t>主要目标</a:t>
            </a:r>
            <a:r>
              <a:rPr sz="2800" b="1">
                <a:latin typeface="Arial" panose="020B0604020202020204" pitchFamily="34" charset="0"/>
              </a:rPr>
              <a:t>是通过各种技术与管理等手段，实现网络信息的保密性、完整性、可用性、可控性和可审查性（</a:t>
            </a:r>
            <a:r>
              <a:rPr sz="2800" b="1">
                <a:solidFill>
                  <a:srgbClr val="C00000"/>
                </a:solidFill>
                <a:latin typeface="Arial" panose="020B0604020202020204" pitchFamily="34" charset="0"/>
              </a:rPr>
              <a:t>网络信息安全5大特征</a:t>
            </a:r>
            <a:r>
              <a:rPr sz="2800" b="1">
                <a:latin typeface="Arial" panose="020B0604020202020204" pitchFamily="34" charset="0"/>
              </a:rPr>
              <a:t>）。其中保密性、完整性、可用性是</a:t>
            </a:r>
            <a:r>
              <a:rPr sz="2800" b="1">
                <a:solidFill>
                  <a:srgbClr val="FF0000"/>
                </a:solidFill>
                <a:latin typeface="Arial" panose="020B0604020202020204" pitchFamily="34" charset="0"/>
              </a:rPr>
              <a:t>网络安全的基本要求</a:t>
            </a:r>
            <a:r>
              <a:rPr lang="zh-CN" sz="2800" b="1">
                <a:solidFill>
                  <a:schemeClr val="tx1"/>
                </a:solidFill>
                <a:latin typeface="Arial" panose="020B0604020202020204" pitchFamily="34" charset="0"/>
              </a:rPr>
              <a:t>。</a:t>
            </a:r>
            <a:endParaRPr lang="zh-CN" sz="2800" b="1">
              <a:solidFill>
                <a:schemeClr val="tx1"/>
              </a:solidFill>
              <a:latin typeface="Arial" panose="020B0604020202020204" pitchFamily="34" charset="0"/>
            </a:endParaRPr>
          </a:p>
          <a:p>
            <a:pPr indent="457200">
              <a:lnSpc>
                <a:spcPct val="110000"/>
              </a:lnSpc>
              <a:spcBef>
                <a:spcPct val="20000"/>
              </a:spcBef>
              <a:defRPr/>
            </a:pPr>
            <a:r>
              <a:rPr lang="zh-CN" altLang="en-US" sz="2800" b="1">
                <a:solidFill>
                  <a:srgbClr val="CC0000"/>
                </a:solidFill>
                <a:latin typeface="Arial" panose="020B0604020202020204" pitchFamily="34" charset="0"/>
              </a:rPr>
              <a:t>网络安全包括两大方面</a:t>
            </a:r>
            <a:r>
              <a:rPr lang="zh-CN" altLang="en-US" sz="2800" b="1">
                <a:solidFill>
                  <a:schemeClr val="tx1"/>
                </a:solidFill>
                <a:latin typeface="Arial" panose="020B0604020202020204" pitchFamily="34" charset="0"/>
              </a:rPr>
              <a:t>，一是网络系统的安全，二是网络信息（数据）的安全，</a:t>
            </a:r>
            <a:r>
              <a:rPr lang="zh-CN" altLang="en-US" sz="2800" b="1">
                <a:solidFill>
                  <a:srgbClr val="CC0000"/>
                </a:solidFill>
                <a:latin typeface="Arial" panose="020B0604020202020204" pitchFamily="34" charset="0"/>
              </a:rPr>
              <a:t>网络安全</a:t>
            </a:r>
            <a:r>
              <a:rPr lang="zh-CN" altLang="en-US" sz="2800" b="1">
                <a:solidFill>
                  <a:schemeClr val="tx1"/>
                </a:solidFill>
                <a:latin typeface="Arial" panose="020B0604020202020204" pitchFamily="34" charset="0"/>
              </a:rPr>
              <a:t>的</a:t>
            </a:r>
            <a:r>
              <a:rPr lang="zh-CN" altLang="en-US" sz="2800" b="1" u="sng">
                <a:solidFill>
                  <a:srgbClr val="FF0000"/>
                </a:solidFill>
                <a:latin typeface="Arial" panose="020B0604020202020204" pitchFamily="34" charset="0"/>
              </a:rPr>
              <a:t>最终目标和关键</a:t>
            </a:r>
            <a:r>
              <a:rPr lang="zh-CN" altLang="en-US" sz="2800" b="1">
                <a:solidFill>
                  <a:schemeClr val="tx1"/>
                </a:solidFill>
                <a:latin typeface="Arial" panose="020B0604020202020204" pitchFamily="34" charset="0"/>
              </a:rPr>
              <a:t>是保护网络信息的安全。网络信息安全的特征反映了网络安全的具体目标要求 。</a:t>
            </a:r>
            <a:r>
              <a:rPr lang="zh-CN" altLang="en-US" sz="2100" b="1">
                <a:solidFill>
                  <a:schemeClr val="tx2"/>
                </a:solidFill>
                <a:latin typeface="Arial" panose="020B0604020202020204" pitchFamily="34" charset="0"/>
              </a:rPr>
              <a:t>　　</a:t>
            </a:r>
            <a:endParaRPr lang="zh-CN" altLang="en-US" sz="2100" b="1">
              <a:solidFill>
                <a:schemeClr val="tx2"/>
              </a:solidFill>
              <a:latin typeface="Arial" panose="020B0604020202020204" pitchFamily="34" charset="0"/>
            </a:endParaRPr>
          </a:p>
          <a:p>
            <a:pPr indent="457200">
              <a:lnSpc>
                <a:spcPct val="80000"/>
              </a:lnSpc>
              <a:spcBef>
                <a:spcPct val="20000"/>
              </a:spcBef>
              <a:defRPr/>
            </a:pPr>
            <a:r>
              <a:rPr lang="zh-CN" altLang="en-US" sz="2100" b="1">
                <a:solidFill>
                  <a:schemeClr val="tx2"/>
                </a:solidFill>
                <a:latin typeface="Arial" panose="020B0604020202020204" pitchFamily="34" charset="0"/>
              </a:rPr>
              <a:t>       </a:t>
            </a:r>
            <a:endParaRPr lang="zh-CN" altLang="en-US" sz="2100" b="1">
              <a:solidFill>
                <a:schemeClr val="tx2"/>
              </a:solidFill>
              <a:latin typeface="Arial" panose="020B0604020202020204" pitchFamily="34" charset="0"/>
            </a:endParaRPr>
          </a:p>
        </p:txBody>
      </p:sp>
      <p:pic>
        <p:nvPicPr>
          <p:cNvPr id="34818" name="Picture 5" descr="MC900436992[1]"/>
          <p:cNvPicPr>
            <a:picLocks noChangeAspect="1" noChangeArrowheads="1"/>
          </p:cNvPicPr>
          <p:nvPr/>
        </p:nvPicPr>
        <p:blipFill>
          <a:blip r:embed="rId1" cstate="print"/>
          <a:srcRect/>
          <a:stretch>
            <a:fillRect/>
          </a:stretch>
        </p:blipFill>
        <p:spPr bwMode="auto">
          <a:xfrm>
            <a:off x="5029200" y="4953000"/>
            <a:ext cx="1785938" cy="1219200"/>
          </a:xfrm>
          <a:prstGeom prst="rect">
            <a:avLst/>
          </a:prstGeom>
          <a:noFill/>
          <a:ln w="9525">
            <a:noFill/>
            <a:miter lim="800000"/>
            <a:headEnd/>
            <a:tailEnd/>
          </a:ln>
        </p:spPr>
      </p:pic>
      <p:sp>
        <p:nvSpPr>
          <p:cNvPr id="34819" name="内容占位符 2"/>
          <p:cNvSpPr txBox="1">
            <a:spLocks noChangeArrowheads="1"/>
          </p:cNvSpPr>
          <p:nvPr/>
        </p:nvSpPr>
        <p:spPr bwMode="auto">
          <a:xfrm>
            <a:off x="1143000" y="1600200"/>
            <a:ext cx="4943475" cy="576263"/>
          </a:xfrm>
          <a:prstGeom prst="rect">
            <a:avLst/>
          </a:prstGeom>
          <a:noFill/>
          <a:ln w="9525">
            <a:noFill/>
            <a:miter lim="800000"/>
          </a:ln>
        </p:spPr>
        <p:txBody>
          <a:bodyPr/>
          <a:lstStyle/>
          <a:p>
            <a:pPr marL="342900" indent="-342900" eaLnBrk="0" hangingPunct="0">
              <a:spcBef>
                <a:spcPct val="20000"/>
              </a:spcBef>
              <a:buClr>
                <a:schemeClr val="hlink"/>
              </a:buClr>
              <a:buFont typeface="Wingdings" panose="05000000000000000000" pitchFamily="2" charset="2"/>
              <a:buNone/>
            </a:pPr>
            <a:r>
              <a:rPr lang="zh-CN" altLang="en-US" sz="2300" b="1">
                <a:solidFill>
                  <a:srgbClr val="CC0000"/>
                </a:solidFill>
                <a:latin typeface="宋体" panose="02010600030101010101" pitchFamily="2" charset="-122"/>
              </a:rPr>
              <a:t>（</a:t>
            </a:r>
            <a:r>
              <a:rPr lang="en-US" altLang="zh-CN" sz="2300" b="1">
                <a:solidFill>
                  <a:srgbClr val="CC0000"/>
                </a:solidFill>
                <a:latin typeface="宋体" panose="02010600030101010101" pitchFamily="2" charset="-122"/>
              </a:rPr>
              <a:t>2</a:t>
            </a:r>
            <a:r>
              <a:rPr lang="zh-CN" altLang="en-US" sz="2300" b="1">
                <a:solidFill>
                  <a:srgbClr val="CC0000"/>
                </a:solidFill>
                <a:latin typeface="宋体" panose="02010600030101010101" pitchFamily="2" charset="-122"/>
              </a:rPr>
              <a:t>）网络安全的目标及特征</a:t>
            </a:r>
            <a:endParaRPr lang="zh-CN" altLang="en-US" sz="2300" b="1">
              <a:solidFill>
                <a:srgbClr val="CC0000"/>
              </a:solidFill>
              <a:latin typeface="宋体" panose="02010600030101010101" pitchFamily="2" charset="-122"/>
            </a:endParaRPr>
          </a:p>
        </p:txBody>
      </p:sp>
      <p:sp>
        <p:nvSpPr>
          <p:cNvPr id="7177" name="Rectangle 2"/>
          <p:cNvSpPr txBox="1">
            <a:spLocks noChangeArrowheads="1"/>
          </p:cNvSpPr>
          <p:nvPr/>
        </p:nvSpPr>
        <p:spPr bwMode="white">
          <a:xfrm>
            <a:off x="576263" y="188913"/>
            <a:ext cx="8305800" cy="563562"/>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en-US" altLang="zh-CN" sz="3200" dirty="0" smtClean="0">
                <a:solidFill>
                  <a:schemeClr val="bg1"/>
                </a:solidFill>
              </a:rPr>
              <a:t>1.</a:t>
            </a:r>
            <a:r>
              <a:rPr sz="3200" dirty="0" smtClean="0">
                <a:solidFill>
                  <a:schemeClr val="bg1"/>
                </a:solidFill>
              </a:rPr>
              <a:t>2  网络安全的概念、特点和内容</a:t>
            </a:r>
            <a:endParaRPr sz="3200" dirty="0" smtClean="0">
              <a:solidFill>
                <a:schemeClr val="bg1"/>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内容占位符 2"/>
          <p:cNvSpPr>
            <a:spLocks noGrp="1" noChangeArrowheads="1"/>
          </p:cNvSpPr>
          <p:nvPr>
            <p:ph idx="4294967295"/>
          </p:nvPr>
        </p:nvSpPr>
        <p:spPr>
          <a:xfrm>
            <a:off x="457200" y="1268413"/>
            <a:ext cx="8153400" cy="1439862"/>
          </a:xfrm>
        </p:spPr>
        <p:txBody>
          <a:bodyPr/>
          <a:lstStyle/>
          <a:p>
            <a:pPr>
              <a:buFont typeface="Wingdings" panose="05000000000000000000" pitchFamily="2" charset="2"/>
              <a:buNone/>
            </a:pPr>
            <a:endParaRPr lang="en-US" altLang="zh-CN" sz="2400" smtClean="0"/>
          </a:p>
          <a:p>
            <a:pPr eaLnBrk="1" hangingPunct="1">
              <a:spcBef>
                <a:spcPts val="600"/>
              </a:spcBef>
              <a:spcAft>
                <a:spcPts val="600"/>
              </a:spcAft>
              <a:buFont typeface="Wingdings" panose="05000000000000000000" pitchFamily="2" charset="2"/>
              <a:buNone/>
            </a:pPr>
            <a:r>
              <a:rPr lang="zh-CN" altLang="en-US" sz="1800" smtClean="0">
                <a:solidFill>
                  <a:srgbClr val="FF0000"/>
                </a:solidFill>
              </a:rPr>
              <a:t>   </a:t>
            </a:r>
            <a:endParaRPr lang="zh-CN" altLang="en-US" sz="1800" smtClean="0">
              <a:solidFill>
                <a:srgbClr val="FF0000"/>
              </a:solidFill>
            </a:endParaRPr>
          </a:p>
        </p:txBody>
      </p:sp>
      <p:sp>
        <p:nvSpPr>
          <p:cNvPr id="5" name="圆角矩形 4"/>
          <p:cNvSpPr/>
          <p:nvPr/>
        </p:nvSpPr>
        <p:spPr bwMode="gray">
          <a:xfrm>
            <a:off x="552450" y="1370013"/>
            <a:ext cx="8353425" cy="5111750"/>
          </a:xfrm>
          <a:prstGeom prst="roundRect">
            <a:avLst/>
          </a:prstGeom>
        </p:spPr>
        <p:style>
          <a:lnRef idx="2">
            <a:schemeClr val="accent1"/>
          </a:lnRef>
          <a:fillRef idx="1">
            <a:schemeClr val="lt1"/>
          </a:fillRef>
          <a:effectRef idx="0">
            <a:schemeClr val="accent1"/>
          </a:effectRef>
          <a:fontRef idx="minor">
            <a:schemeClr val="dk1"/>
          </a:fontRef>
        </p:style>
        <p:txBody>
          <a:bodyPr anchor="ctr" anchorCtr="1"/>
          <a:lstStyle/>
          <a:p>
            <a:pPr indent="457200">
              <a:lnSpc>
                <a:spcPct val="85000"/>
              </a:lnSpc>
              <a:spcBef>
                <a:spcPct val="20000"/>
              </a:spcBef>
              <a:buFont typeface="Wingdings" panose="05000000000000000000" pitchFamily="2" charset="2"/>
              <a:buNone/>
              <a:defRPr/>
            </a:pPr>
            <a:r>
              <a:rPr lang="zh-CN" altLang="en-US" sz="1900" b="1">
                <a:solidFill>
                  <a:srgbClr val="CC0000"/>
                </a:solidFill>
                <a:latin typeface="Arial" panose="020B0604020202020204" pitchFamily="34" charset="0"/>
              </a:rPr>
              <a:t>网络信息安全</a:t>
            </a:r>
            <a:r>
              <a:rPr lang="en-US" altLang="zh-CN" sz="1900" b="1" u="sng">
                <a:solidFill>
                  <a:srgbClr val="FF0000"/>
                </a:solidFill>
                <a:latin typeface="Arial" panose="020B0604020202020204" pitchFamily="34" charset="0"/>
              </a:rPr>
              <a:t>5</a:t>
            </a:r>
            <a:r>
              <a:rPr lang="zh-CN" altLang="en-US" sz="1900" b="1" u="sng">
                <a:solidFill>
                  <a:srgbClr val="FF0000"/>
                </a:solidFill>
                <a:latin typeface="Arial" panose="020B0604020202020204" pitchFamily="34" charset="0"/>
              </a:rPr>
              <a:t>大特征</a:t>
            </a:r>
            <a:r>
              <a:rPr lang="zh-CN" altLang="en-US" sz="1900" b="1">
                <a:solidFill>
                  <a:srgbClr val="FF0000"/>
                </a:solidFill>
                <a:latin typeface="Arial" panose="020B0604020202020204" pitchFamily="34" charset="0"/>
              </a:rPr>
              <a:t>：</a:t>
            </a:r>
            <a:endParaRPr lang="zh-CN" altLang="en-US" sz="1900" b="1">
              <a:solidFill>
                <a:srgbClr val="FF0000"/>
              </a:solidFill>
              <a:latin typeface="Arial" panose="020B0604020202020204" pitchFamily="34" charset="0"/>
            </a:endParaRPr>
          </a:p>
          <a:p>
            <a:pPr indent="457200">
              <a:lnSpc>
                <a:spcPct val="85000"/>
              </a:lnSpc>
              <a:spcBef>
                <a:spcPct val="20000"/>
              </a:spcBef>
              <a:buFont typeface="Wingdings" panose="05000000000000000000" pitchFamily="2" charset="2"/>
              <a:buNone/>
              <a:defRPr/>
            </a:pPr>
            <a:r>
              <a:rPr lang="en-US" altLang="zh-CN" sz="1900" b="1">
                <a:solidFill>
                  <a:srgbClr val="FF0000"/>
                </a:solidFill>
                <a:latin typeface="Arial" panose="020B0604020202020204" pitchFamily="34" charset="0"/>
              </a:rPr>
              <a:t>(1) </a:t>
            </a:r>
            <a:r>
              <a:rPr lang="zh-CN" altLang="en-US" sz="1900" b="1">
                <a:solidFill>
                  <a:srgbClr val="FF0000"/>
                </a:solidFill>
                <a:latin typeface="Arial" panose="020B0604020202020204" pitchFamily="34" charset="0"/>
              </a:rPr>
              <a:t>保密性（Confidentiality）。</a:t>
            </a:r>
            <a:r>
              <a:rPr lang="zh-CN" altLang="en-US" sz="1900" b="1">
                <a:solidFill>
                  <a:schemeClr val="tx2"/>
                </a:solidFill>
                <a:latin typeface="Arial" panose="020B0604020202020204" pitchFamily="34" charset="0"/>
              </a:rPr>
              <a:t>也称</a:t>
            </a:r>
            <a:r>
              <a:rPr lang="zh-CN" altLang="en-US" sz="1900" b="1">
                <a:solidFill>
                  <a:srgbClr val="FF0000"/>
                </a:solidFill>
                <a:latin typeface="Arial" panose="020B0604020202020204" pitchFamily="34" charset="0"/>
              </a:rPr>
              <a:t>机密性，</a:t>
            </a:r>
            <a:r>
              <a:rPr lang="zh-CN" altLang="en-US" sz="1900" b="1">
                <a:solidFill>
                  <a:schemeClr val="tx2"/>
                </a:solidFill>
                <a:latin typeface="Arial" panose="020B0604020202020204" pitchFamily="34" charset="0"/>
              </a:rPr>
              <a:t>是不将有用信息泄漏给非授权用户的特性，主要强调有用信息只被授权对象使用的特征。可以通过信息加密、身份认证、访问控制、安全通信协议等技术实现，信息加密是防止信息非法泄露的最基本手段。</a:t>
            </a:r>
            <a:endParaRPr lang="zh-CN" altLang="en-US" sz="1900" b="1">
              <a:solidFill>
                <a:schemeClr val="tx2"/>
              </a:solidFill>
              <a:latin typeface="Arial" panose="020B0604020202020204" pitchFamily="34" charset="0"/>
            </a:endParaRPr>
          </a:p>
          <a:p>
            <a:pPr indent="457200">
              <a:lnSpc>
                <a:spcPct val="85000"/>
              </a:lnSpc>
              <a:spcBef>
                <a:spcPct val="20000"/>
              </a:spcBef>
              <a:buFont typeface="Wingdings" panose="05000000000000000000" pitchFamily="2" charset="2"/>
              <a:buNone/>
              <a:defRPr/>
            </a:pPr>
            <a:r>
              <a:rPr lang="zh-CN" altLang="en-US" sz="1900" b="1">
                <a:solidFill>
                  <a:schemeClr val="tx2"/>
                </a:solidFill>
                <a:latin typeface="Arial" panose="020B0604020202020204" pitchFamily="34" charset="0"/>
              </a:rPr>
              <a:t>实现保密性保护有三种基本方法：一是访问控制方法，防止敌人访问敏感信息；二是信息隐藏的方法，避免敌人发现敏感信息的存在；三是信息加密的方法，允许敌人观测到信息的表示，但是无法从表示中得到原始的信息内容或提炼出有用的信息。</a:t>
            </a:r>
            <a:endParaRPr lang="zh-CN" altLang="en-US" sz="1900" b="1">
              <a:solidFill>
                <a:schemeClr val="tx2"/>
              </a:solidFill>
              <a:latin typeface="Arial" panose="020B0604020202020204" pitchFamily="34" charset="0"/>
            </a:endParaRPr>
          </a:p>
          <a:p>
            <a:pPr indent="457200">
              <a:lnSpc>
                <a:spcPct val="85000"/>
              </a:lnSpc>
              <a:spcBef>
                <a:spcPct val="20000"/>
              </a:spcBef>
              <a:buFont typeface="Wingdings" panose="05000000000000000000" pitchFamily="2" charset="2"/>
              <a:buNone/>
              <a:defRPr/>
            </a:pPr>
            <a:r>
              <a:rPr lang="en-US" altLang="zh-CN" sz="1900" b="1">
                <a:solidFill>
                  <a:srgbClr val="FF0000"/>
                </a:solidFill>
                <a:latin typeface="Arial" panose="020B0604020202020204" pitchFamily="34" charset="0"/>
              </a:rPr>
              <a:t>(2) </a:t>
            </a:r>
            <a:r>
              <a:rPr lang="zh-CN" altLang="en-US" sz="1900" b="1">
                <a:solidFill>
                  <a:srgbClr val="FF0000"/>
                </a:solidFill>
                <a:latin typeface="Arial" panose="020B0604020202020204" pitchFamily="34" charset="0"/>
              </a:rPr>
              <a:t>完整性（Integrity）。</a:t>
            </a:r>
            <a:r>
              <a:rPr lang="zh-CN" altLang="en-US" sz="1900" b="1">
                <a:solidFill>
                  <a:schemeClr val="tx2"/>
                </a:solidFill>
                <a:latin typeface="Arial" panose="020B0604020202020204" pitchFamily="34" charset="0"/>
              </a:rPr>
              <a:t>是指信息在传输、交换、存储和处理过程中，保持信息不被破坏或随意删改、不丢失和信息未经授权不能改变的特性，也是</a:t>
            </a:r>
            <a:r>
              <a:rPr lang="zh-CN" altLang="en-US" sz="1900" b="1">
                <a:solidFill>
                  <a:srgbClr val="990033"/>
                </a:solidFill>
                <a:latin typeface="Arial" panose="020B0604020202020204" pitchFamily="34" charset="0"/>
              </a:rPr>
              <a:t>最基本的安全特征</a:t>
            </a:r>
            <a:r>
              <a:rPr lang="zh-CN" altLang="en-US" sz="1900" b="1">
                <a:solidFill>
                  <a:schemeClr val="tx2"/>
                </a:solidFill>
                <a:latin typeface="Arial" panose="020B0604020202020204" pitchFamily="34" charset="0"/>
              </a:rPr>
              <a:t>。</a:t>
            </a:r>
            <a:endParaRPr lang="zh-CN" altLang="en-US" sz="1900" b="1">
              <a:solidFill>
                <a:schemeClr val="tx2"/>
              </a:solidFill>
              <a:latin typeface="Arial" panose="020B0604020202020204" pitchFamily="34" charset="0"/>
            </a:endParaRPr>
          </a:p>
          <a:p>
            <a:pPr indent="457200">
              <a:lnSpc>
                <a:spcPct val="85000"/>
              </a:lnSpc>
              <a:spcBef>
                <a:spcPct val="20000"/>
              </a:spcBef>
              <a:buFont typeface="Wingdings" panose="05000000000000000000" pitchFamily="2" charset="2"/>
              <a:buNone/>
              <a:defRPr/>
            </a:pPr>
            <a:r>
              <a:rPr lang="zh-CN" altLang="en-US" sz="1900" b="1">
                <a:solidFill>
                  <a:schemeClr val="tx2"/>
                </a:solidFill>
                <a:latin typeface="Arial" panose="020B0604020202020204" pitchFamily="34" charset="0"/>
              </a:rPr>
              <a:t>数据完整性保护有两种基本方法：一是访问控制方法，限制非授权实体修改被保护的数据；二是损坏-检测方法，这种方法无法避免数据损坏，但能确保这些损坏能够被检测出来，并能够被纠正或报警。</a:t>
            </a:r>
            <a:endParaRPr lang="zh-CN" altLang="en-US" sz="1900" b="1">
              <a:solidFill>
                <a:schemeClr val="tx2"/>
              </a:solidFill>
              <a:latin typeface="Arial" panose="020B0604020202020204" pitchFamily="34" charset="0"/>
            </a:endParaRPr>
          </a:p>
          <a:p>
            <a:pPr indent="457200">
              <a:lnSpc>
                <a:spcPct val="85000"/>
              </a:lnSpc>
              <a:spcBef>
                <a:spcPct val="20000"/>
              </a:spcBef>
              <a:buFont typeface="Wingdings" panose="05000000000000000000" pitchFamily="2" charset="2"/>
              <a:buNone/>
              <a:defRPr/>
            </a:pPr>
            <a:endParaRPr lang="zh-CN" altLang="en-US" sz="1900" b="1">
              <a:solidFill>
                <a:schemeClr val="tx2"/>
              </a:solidFill>
              <a:latin typeface="Arial" panose="020B0604020202020204" pitchFamily="34" charset="0"/>
            </a:endParaRPr>
          </a:p>
          <a:p>
            <a:pPr indent="457200">
              <a:lnSpc>
                <a:spcPct val="85000"/>
              </a:lnSpc>
              <a:spcBef>
                <a:spcPct val="20000"/>
              </a:spcBef>
              <a:buFont typeface="Wingdings" panose="05000000000000000000" pitchFamily="2" charset="2"/>
              <a:buNone/>
              <a:defRPr/>
            </a:pPr>
            <a:endParaRPr lang="zh-CN" altLang="en-US" sz="1900" b="1">
              <a:solidFill>
                <a:schemeClr val="tx2"/>
              </a:solidFill>
              <a:latin typeface="Arial" panose="020B0604020202020204" pitchFamily="34" charset="0"/>
            </a:endParaRPr>
          </a:p>
        </p:txBody>
      </p:sp>
      <p:sp>
        <p:nvSpPr>
          <p:cNvPr id="7177" name="Rectangle 2"/>
          <p:cNvSpPr txBox="1">
            <a:spLocks noChangeArrowheads="1"/>
          </p:cNvSpPr>
          <p:nvPr/>
        </p:nvSpPr>
        <p:spPr bwMode="white">
          <a:xfrm>
            <a:off x="576263" y="188913"/>
            <a:ext cx="8305800" cy="563562"/>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en-US" altLang="zh-CN" sz="3200" dirty="0" smtClean="0">
                <a:solidFill>
                  <a:schemeClr val="bg1"/>
                </a:solidFill>
              </a:rPr>
              <a:t>1.</a:t>
            </a:r>
            <a:r>
              <a:rPr sz="3200" dirty="0" smtClean="0">
                <a:solidFill>
                  <a:schemeClr val="bg1"/>
                </a:solidFill>
              </a:rPr>
              <a:t>2  网络安全的概念、特点和内容</a:t>
            </a:r>
            <a:endParaRPr sz="3200" dirty="0" smtClean="0">
              <a:solidFill>
                <a:schemeClr val="bg1"/>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内容占位符 2"/>
          <p:cNvSpPr>
            <a:spLocks noGrp="1" noChangeArrowheads="1"/>
          </p:cNvSpPr>
          <p:nvPr>
            <p:ph idx="4294967295"/>
          </p:nvPr>
        </p:nvSpPr>
        <p:spPr>
          <a:xfrm>
            <a:off x="457200" y="1268413"/>
            <a:ext cx="8153400" cy="1439862"/>
          </a:xfrm>
        </p:spPr>
        <p:txBody>
          <a:bodyPr/>
          <a:lstStyle/>
          <a:p>
            <a:pPr>
              <a:buFont typeface="Wingdings" panose="05000000000000000000" pitchFamily="2" charset="2"/>
              <a:buNone/>
            </a:pPr>
            <a:endParaRPr lang="en-US" altLang="zh-CN" sz="2400" smtClean="0"/>
          </a:p>
          <a:p>
            <a:pPr eaLnBrk="1" hangingPunct="1">
              <a:spcBef>
                <a:spcPts val="600"/>
              </a:spcBef>
              <a:spcAft>
                <a:spcPts val="600"/>
              </a:spcAft>
              <a:buFont typeface="Wingdings" panose="05000000000000000000" pitchFamily="2" charset="2"/>
              <a:buNone/>
            </a:pPr>
            <a:r>
              <a:rPr lang="zh-CN" altLang="en-US" sz="1800" smtClean="0">
                <a:solidFill>
                  <a:srgbClr val="FF0000"/>
                </a:solidFill>
              </a:rPr>
              <a:t>   </a:t>
            </a:r>
            <a:endParaRPr lang="zh-CN" altLang="en-US" sz="1800" smtClean="0">
              <a:solidFill>
                <a:srgbClr val="FF0000"/>
              </a:solidFill>
            </a:endParaRPr>
          </a:p>
        </p:txBody>
      </p:sp>
      <p:sp>
        <p:nvSpPr>
          <p:cNvPr id="5" name="圆角矩形 4"/>
          <p:cNvSpPr/>
          <p:nvPr/>
        </p:nvSpPr>
        <p:spPr bwMode="gray">
          <a:xfrm>
            <a:off x="552450" y="1370013"/>
            <a:ext cx="8353425" cy="5111750"/>
          </a:xfrm>
          <a:prstGeom prst="roundRect">
            <a:avLst/>
          </a:prstGeom>
        </p:spPr>
        <p:style>
          <a:lnRef idx="2">
            <a:schemeClr val="accent1"/>
          </a:lnRef>
          <a:fillRef idx="1">
            <a:schemeClr val="lt1"/>
          </a:fillRef>
          <a:effectRef idx="0">
            <a:schemeClr val="accent1"/>
          </a:effectRef>
          <a:fontRef idx="minor">
            <a:schemeClr val="dk1"/>
          </a:fontRef>
        </p:style>
        <p:txBody>
          <a:bodyPr anchor="ctr" anchorCtr="1"/>
          <a:lstStyle/>
          <a:p>
            <a:pPr indent="457200">
              <a:lnSpc>
                <a:spcPct val="85000"/>
              </a:lnSpc>
              <a:spcBef>
                <a:spcPct val="20000"/>
              </a:spcBef>
              <a:buFont typeface="Wingdings" panose="05000000000000000000" pitchFamily="2" charset="2"/>
              <a:buNone/>
              <a:defRPr/>
            </a:pPr>
            <a:r>
              <a:rPr lang="zh-CN" altLang="en-US" sz="1900" b="1">
                <a:solidFill>
                  <a:srgbClr val="CC0000"/>
                </a:solidFill>
                <a:latin typeface="Arial" panose="020B0604020202020204" pitchFamily="34" charset="0"/>
              </a:rPr>
              <a:t>网络信息安全</a:t>
            </a:r>
            <a:r>
              <a:rPr lang="en-US" altLang="zh-CN" sz="1900" b="1" u="sng">
                <a:solidFill>
                  <a:srgbClr val="FF0000"/>
                </a:solidFill>
                <a:latin typeface="Arial" panose="020B0604020202020204" pitchFamily="34" charset="0"/>
              </a:rPr>
              <a:t>5</a:t>
            </a:r>
            <a:r>
              <a:rPr lang="zh-CN" altLang="en-US" sz="1900" b="1" u="sng">
                <a:solidFill>
                  <a:srgbClr val="FF0000"/>
                </a:solidFill>
                <a:latin typeface="Arial" panose="020B0604020202020204" pitchFamily="34" charset="0"/>
              </a:rPr>
              <a:t>大特征</a:t>
            </a:r>
            <a:r>
              <a:rPr lang="zh-CN" altLang="en-US" sz="1900" b="1">
                <a:solidFill>
                  <a:srgbClr val="FF0000"/>
                </a:solidFill>
                <a:latin typeface="Arial" panose="020B0604020202020204" pitchFamily="34" charset="0"/>
              </a:rPr>
              <a:t>：</a:t>
            </a:r>
            <a:endParaRPr lang="zh-CN" altLang="en-US" sz="1900" b="1">
              <a:solidFill>
                <a:srgbClr val="FF0000"/>
              </a:solidFill>
              <a:latin typeface="Arial" panose="020B0604020202020204" pitchFamily="34" charset="0"/>
            </a:endParaRPr>
          </a:p>
          <a:p>
            <a:pPr indent="457200">
              <a:lnSpc>
                <a:spcPct val="85000"/>
              </a:lnSpc>
              <a:spcBef>
                <a:spcPct val="20000"/>
              </a:spcBef>
              <a:buFont typeface="Wingdings" panose="05000000000000000000" pitchFamily="2" charset="2"/>
              <a:buNone/>
              <a:defRPr/>
            </a:pPr>
            <a:r>
              <a:rPr lang="en-US" altLang="zh-CN" sz="1900" b="1">
                <a:solidFill>
                  <a:srgbClr val="FF0000"/>
                </a:solidFill>
                <a:latin typeface="Arial" panose="020B0604020202020204" pitchFamily="34" charset="0"/>
              </a:rPr>
              <a:t>(3) </a:t>
            </a:r>
            <a:r>
              <a:rPr lang="zh-CN" altLang="en-US" sz="1900" b="1">
                <a:solidFill>
                  <a:srgbClr val="FF0000"/>
                </a:solidFill>
                <a:latin typeface="Arial" panose="020B0604020202020204" pitchFamily="34" charset="0"/>
              </a:rPr>
              <a:t>可用性</a:t>
            </a:r>
            <a:r>
              <a:rPr lang="zh-CN" altLang="en-US" sz="1900" b="1">
                <a:solidFill>
                  <a:schemeClr val="tx2"/>
                </a:solidFill>
                <a:latin typeface="Arial" panose="020B0604020202020204" pitchFamily="34" charset="0"/>
              </a:rPr>
              <a:t>。也称</a:t>
            </a:r>
            <a:r>
              <a:rPr lang="zh-CN" altLang="en-US" sz="1900" b="1">
                <a:solidFill>
                  <a:srgbClr val="FF0000"/>
                </a:solidFill>
                <a:latin typeface="Arial" panose="020B0604020202020204" pitchFamily="34" charset="0"/>
              </a:rPr>
              <a:t>有效性（Availability）</a:t>
            </a:r>
            <a:r>
              <a:rPr lang="zh-CN" altLang="en-US" sz="1900" b="1">
                <a:solidFill>
                  <a:schemeClr val="tx2"/>
                </a:solidFill>
                <a:latin typeface="Arial" panose="020B0604020202020204" pitchFamily="34" charset="0"/>
              </a:rPr>
              <a:t>，指信息资源可被授权实体按要求访问、正常使用或在非正常情况下可恢复使用的特性（系统面向用户服务的安全特性）。在系统运行时正确存取所需信息，当系统遭受意外攻击或破坏时，可以迅速恢复并能投入使用。是衡量网络信息系统面向用户的一种安全性能，以保障为用户提供服务。</a:t>
            </a:r>
            <a:endParaRPr lang="zh-CN" altLang="en-US" sz="1900" b="1">
              <a:solidFill>
                <a:schemeClr val="tx2"/>
              </a:solidFill>
              <a:latin typeface="Arial" panose="020B0604020202020204" pitchFamily="34" charset="0"/>
            </a:endParaRPr>
          </a:p>
          <a:p>
            <a:pPr indent="457200">
              <a:lnSpc>
                <a:spcPct val="85000"/>
              </a:lnSpc>
              <a:spcBef>
                <a:spcPct val="20000"/>
              </a:spcBef>
              <a:buFont typeface="Wingdings" panose="05000000000000000000" pitchFamily="2" charset="2"/>
              <a:buNone/>
              <a:defRPr/>
            </a:pPr>
            <a:r>
              <a:rPr lang="zh-CN" altLang="en-US" sz="1900" b="1">
                <a:solidFill>
                  <a:schemeClr val="tx2"/>
                </a:solidFill>
                <a:latin typeface="Arial" panose="020B0604020202020204" pitchFamily="34" charset="0"/>
              </a:rPr>
              <a:t>实现可用性保护的基本方法一是冗余，二是备份。</a:t>
            </a:r>
            <a:endParaRPr lang="zh-CN" altLang="en-US" sz="1900" b="1">
              <a:solidFill>
                <a:schemeClr val="tx2"/>
              </a:solidFill>
              <a:latin typeface="Arial" panose="020B0604020202020204" pitchFamily="34" charset="0"/>
            </a:endParaRPr>
          </a:p>
          <a:p>
            <a:pPr indent="457200">
              <a:lnSpc>
                <a:spcPct val="85000"/>
              </a:lnSpc>
              <a:spcBef>
                <a:spcPct val="20000"/>
              </a:spcBef>
              <a:buFont typeface="Wingdings" panose="05000000000000000000" pitchFamily="2" charset="2"/>
              <a:buNone/>
              <a:defRPr/>
            </a:pPr>
            <a:r>
              <a:rPr lang="en-US" altLang="zh-CN" sz="1900" b="1">
                <a:solidFill>
                  <a:srgbClr val="FF0000"/>
                </a:solidFill>
                <a:latin typeface="Arial" panose="020B0604020202020204" pitchFamily="34" charset="0"/>
                <a:sym typeface="+mn-ea"/>
              </a:rPr>
              <a:t>(4) </a:t>
            </a:r>
            <a:r>
              <a:rPr lang="zh-CN" altLang="en-US" sz="1900" b="1">
                <a:solidFill>
                  <a:srgbClr val="FF0000"/>
                </a:solidFill>
                <a:latin typeface="Arial" panose="020B0604020202020204" pitchFamily="34" charset="0"/>
                <a:sym typeface="+mn-ea"/>
              </a:rPr>
              <a:t>可控性</a:t>
            </a:r>
            <a:r>
              <a:rPr lang="zh-CN" altLang="en-US" sz="1900" b="1">
                <a:solidFill>
                  <a:srgbClr val="FF0000"/>
                </a:solidFill>
                <a:latin typeface="Times New Roman" panose="02020603050405020304" pitchFamily="18" charset="0"/>
                <a:sym typeface="+mn-ea"/>
              </a:rPr>
              <a:t>（Controllability）</a:t>
            </a:r>
            <a:r>
              <a:rPr lang="en-US" altLang="zh-CN" sz="1900" b="1">
                <a:solidFill>
                  <a:srgbClr val="FF0000"/>
                </a:solidFill>
                <a:latin typeface="Times New Roman" panose="02020603050405020304" pitchFamily="18" charset="0"/>
                <a:sym typeface="+mn-ea"/>
              </a:rPr>
              <a:t>.</a:t>
            </a:r>
            <a:r>
              <a:rPr lang="zh-CN" altLang="en-US" sz="1900" b="1">
                <a:solidFill>
                  <a:schemeClr val="tx2"/>
                </a:solidFill>
                <a:latin typeface="Arial" panose="020B0604020202020204" pitchFamily="34" charset="0"/>
                <a:sym typeface="+mn-ea"/>
              </a:rPr>
              <a:t>指系统对信息内容和传输具有控制能力的特性</a:t>
            </a:r>
            <a:r>
              <a:rPr lang="en-US" altLang="zh-CN" sz="1900" b="1">
                <a:solidFill>
                  <a:schemeClr val="tx2"/>
                </a:solidFill>
                <a:latin typeface="Arial" panose="020B0604020202020204" pitchFamily="34" charset="0"/>
                <a:sym typeface="+mn-ea"/>
              </a:rPr>
              <a:t>,</a:t>
            </a:r>
            <a:r>
              <a:rPr lang="zh-CN" altLang="en-US" sz="1900" b="1">
                <a:solidFill>
                  <a:schemeClr val="tx2"/>
                </a:solidFill>
                <a:latin typeface="Arial" panose="020B0604020202020204" pitchFamily="34" charset="0"/>
                <a:sym typeface="+mn-ea"/>
              </a:rPr>
              <a:t>指网络系统中的信息在一定传输范围和存放空间内可控程度。</a:t>
            </a:r>
            <a:endParaRPr lang="zh-CN" altLang="en-US" sz="1900" b="1">
              <a:solidFill>
                <a:schemeClr val="tx2"/>
              </a:solidFill>
              <a:latin typeface="Arial" panose="020B0604020202020204" pitchFamily="34" charset="0"/>
            </a:endParaRPr>
          </a:p>
          <a:p>
            <a:pPr indent="457200">
              <a:lnSpc>
                <a:spcPct val="85000"/>
              </a:lnSpc>
              <a:spcBef>
                <a:spcPct val="20000"/>
              </a:spcBef>
              <a:buFont typeface="Wingdings" panose="05000000000000000000" pitchFamily="2" charset="2"/>
              <a:buNone/>
              <a:defRPr/>
            </a:pPr>
            <a:r>
              <a:rPr lang="zh-CN" altLang="en-US" sz="1900" b="1">
                <a:solidFill>
                  <a:schemeClr val="tx2"/>
                </a:solidFill>
                <a:latin typeface="Arial" panose="020B0604020202020204" pitchFamily="34" charset="0"/>
              </a:rPr>
              <a:t>防火墙，口令，生物特征识别</a:t>
            </a:r>
            <a:endParaRPr lang="zh-CN" altLang="en-US" sz="1900" b="1">
              <a:solidFill>
                <a:schemeClr val="tx2"/>
              </a:solidFill>
              <a:latin typeface="Arial" panose="020B0604020202020204" pitchFamily="34" charset="0"/>
            </a:endParaRPr>
          </a:p>
          <a:p>
            <a:pPr indent="457200">
              <a:lnSpc>
                <a:spcPct val="85000"/>
              </a:lnSpc>
              <a:spcBef>
                <a:spcPct val="20000"/>
              </a:spcBef>
              <a:buFont typeface="Wingdings" panose="05000000000000000000" pitchFamily="2" charset="2"/>
              <a:buNone/>
              <a:defRPr/>
            </a:pPr>
            <a:endParaRPr lang="zh-CN" altLang="en-US" sz="1900" b="1">
              <a:solidFill>
                <a:schemeClr val="tx2"/>
              </a:solidFill>
              <a:latin typeface="Arial" panose="020B0604020202020204" pitchFamily="34" charset="0"/>
            </a:endParaRPr>
          </a:p>
        </p:txBody>
      </p:sp>
      <p:sp>
        <p:nvSpPr>
          <p:cNvPr id="7177" name="Rectangle 2"/>
          <p:cNvSpPr txBox="1">
            <a:spLocks noChangeArrowheads="1"/>
          </p:cNvSpPr>
          <p:nvPr/>
        </p:nvSpPr>
        <p:spPr bwMode="white">
          <a:xfrm>
            <a:off x="576263" y="188913"/>
            <a:ext cx="8305800" cy="563562"/>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en-US" altLang="zh-CN" sz="3200" dirty="0" smtClean="0">
                <a:solidFill>
                  <a:schemeClr val="bg1"/>
                </a:solidFill>
              </a:rPr>
              <a:t>1.</a:t>
            </a:r>
            <a:r>
              <a:rPr sz="3200" dirty="0" smtClean="0">
                <a:solidFill>
                  <a:schemeClr val="bg1"/>
                </a:solidFill>
              </a:rPr>
              <a:t>2  网络安全的概念、特点和内容</a:t>
            </a:r>
            <a:endParaRPr sz="3200" dirty="0" smtClean="0">
              <a:solidFill>
                <a:schemeClr val="bg1"/>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内容占位符 2"/>
          <p:cNvSpPr>
            <a:spLocks noGrp="1" noChangeArrowheads="1"/>
          </p:cNvSpPr>
          <p:nvPr>
            <p:ph idx="4294967295"/>
          </p:nvPr>
        </p:nvSpPr>
        <p:spPr>
          <a:xfrm>
            <a:off x="457200" y="1268413"/>
            <a:ext cx="8153400" cy="1439862"/>
          </a:xfrm>
        </p:spPr>
        <p:txBody>
          <a:bodyPr/>
          <a:lstStyle/>
          <a:p>
            <a:pPr>
              <a:buFont typeface="Wingdings" panose="05000000000000000000" pitchFamily="2" charset="2"/>
              <a:buNone/>
            </a:pPr>
            <a:endParaRPr lang="en-US" altLang="zh-CN" sz="2400" smtClean="0"/>
          </a:p>
          <a:p>
            <a:pPr eaLnBrk="1" hangingPunct="1">
              <a:spcBef>
                <a:spcPts val="600"/>
              </a:spcBef>
              <a:spcAft>
                <a:spcPts val="600"/>
              </a:spcAft>
              <a:buFont typeface="Wingdings" panose="05000000000000000000" pitchFamily="2" charset="2"/>
              <a:buNone/>
            </a:pPr>
            <a:r>
              <a:rPr lang="zh-CN" altLang="en-US" sz="1800" smtClean="0">
                <a:solidFill>
                  <a:srgbClr val="FF0000"/>
                </a:solidFill>
              </a:rPr>
              <a:t>   </a:t>
            </a:r>
            <a:endParaRPr lang="zh-CN" altLang="en-US" sz="1800" smtClean="0">
              <a:solidFill>
                <a:srgbClr val="FF0000"/>
              </a:solidFill>
            </a:endParaRPr>
          </a:p>
        </p:txBody>
      </p:sp>
      <p:sp>
        <p:nvSpPr>
          <p:cNvPr id="5" name="圆角矩形 4"/>
          <p:cNvSpPr/>
          <p:nvPr/>
        </p:nvSpPr>
        <p:spPr bwMode="gray">
          <a:xfrm>
            <a:off x="552450" y="1370013"/>
            <a:ext cx="8353425" cy="5111750"/>
          </a:xfrm>
          <a:prstGeom prst="roundRect">
            <a:avLst/>
          </a:prstGeom>
        </p:spPr>
        <p:style>
          <a:lnRef idx="2">
            <a:schemeClr val="accent1"/>
          </a:lnRef>
          <a:fillRef idx="1">
            <a:schemeClr val="lt1"/>
          </a:fillRef>
          <a:effectRef idx="0">
            <a:schemeClr val="accent1"/>
          </a:effectRef>
          <a:fontRef idx="minor">
            <a:schemeClr val="dk1"/>
          </a:fontRef>
        </p:style>
        <p:txBody>
          <a:bodyPr anchor="ctr" anchorCtr="1"/>
          <a:lstStyle/>
          <a:p>
            <a:pPr indent="457200">
              <a:lnSpc>
                <a:spcPct val="85000"/>
              </a:lnSpc>
              <a:spcBef>
                <a:spcPct val="20000"/>
              </a:spcBef>
              <a:buFont typeface="Wingdings" panose="05000000000000000000" pitchFamily="2" charset="2"/>
              <a:buNone/>
              <a:defRPr/>
            </a:pPr>
            <a:r>
              <a:rPr lang="en-US" altLang="zh-CN" sz="1900" b="1">
                <a:solidFill>
                  <a:srgbClr val="FF0000"/>
                </a:solidFill>
                <a:latin typeface="Arial" panose="020B0604020202020204" pitchFamily="34" charset="0"/>
              </a:rPr>
              <a:t>(5) </a:t>
            </a:r>
            <a:r>
              <a:rPr lang="zh-CN" altLang="en-US" sz="1900" b="1">
                <a:solidFill>
                  <a:srgbClr val="FF0000"/>
                </a:solidFill>
                <a:latin typeface="Arial" panose="020B0604020202020204" pitchFamily="34" charset="0"/>
              </a:rPr>
              <a:t>可审查性</a:t>
            </a:r>
            <a:r>
              <a:rPr lang="zh-CN" altLang="en-US" sz="1900" b="1">
                <a:solidFill>
                  <a:schemeClr val="tx2"/>
                </a:solidFill>
                <a:latin typeface="Arial" panose="020B0604020202020204" pitchFamily="34" charset="0"/>
              </a:rPr>
              <a:t>。又称</a:t>
            </a:r>
            <a:r>
              <a:rPr lang="zh-CN" altLang="en-US" sz="1900" b="1">
                <a:solidFill>
                  <a:srgbClr val="FF0000"/>
                </a:solidFill>
                <a:latin typeface="Arial" panose="020B0604020202020204" pitchFamily="34" charset="0"/>
              </a:rPr>
              <a:t>拒绝否认性（</a:t>
            </a:r>
            <a:r>
              <a:rPr lang="en-US" altLang="zh-CN" sz="1900" b="1">
                <a:solidFill>
                  <a:srgbClr val="FF0000"/>
                </a:solidFill>
                <a:latin typeface="Arial" panose="020B0604020202020204" pitchFamily="34" charset="0"/>
              </a:rPr>
              <a:t>No-repudiation</a:t>
            </a:r>
            <a:r>
              <a:rPr lang="zh-CN" altLang="en-US" sz="1900" b="1">
                <a:solidFill>
                  <a:srgbClr val="FF0000"/>
                </a:solidFill>
                <a:latin typeface="Arial" panose="020B0604020202020204" pitchFamily="34" charset="0"/>
              </a:rPr>
              <a:t>）</a:t>
            </a:r>
            <a:r>
              <a:rPr lang="zh-CN" altLang="en-US" sz="1900" b="1">
                <a:solidFill>
                  <a:schemeClr val="tx2"/>
                </a:solidFill>
                <a:latin typeface="Arial" panose="020B0604020202020204" pitchFamily="34" charset="0"/>
              </a:rPr>
              <a:t>、</a:t>
            </a:r>
            <a:r>
              <a:rPr lang="zh-CN" altLang="en-US" sz="1900" b="1">
                <a:solidFill>
                  <a:srgbClr val="FF0000"/>
                </a:solidFill>
                <a:latin typeface="Arial" panose="020B0604020202020204" pitchFamily="34" charset="0"/>
              </a:rPr>
              <a:t>抗抵赖性</a:t>
            </a:r>
            <a:r>
              <a:rPr lang="zh-CN" altLang="en-US" sz="1900" b="1">
                <a:solidFill>
                  <a:schemeClr val="tx2"/>
                </a:solidFill>
                <a:latin typeface="Arial" panose="020B0604020202020204" pitchFamily="34" charset="0"/>
              </a:rPr>
              <a:t>或</a:t>
            </a:r>
            <a:r>
              <a:rPr lang="zh-CN" altLang="en-US" sz="1900" b="1">
                <a:solidFill>
                  <a:srgbClr val="FF0000"/>
                </a:solidFill>
                <a:latin typeface="Arial" panose="020B0604020202020204" pitchFamily="34" charset="0"/>
              </a:rPr>
              <a:t>不可否认性</a:t>
            </a:r>
            <a:r>
              <a:rPr lang="zh-CN" altLang="en-US" sz="1900" b="1">
                <a:solidFill>
                  <a:schemeClr val="tx2"/>
                </a:solidFill>
                <a:latin typeface="Arial" panose="020B0604020202020204" pitchFamily="34" charset="0"/>
              </a:rPr>
              <a:t>，指网络通信双方在信息交互过程中，确信参与者本身和所提供的信息真实同一性，即所有参与者不可否认或抵赖本人的真实身份，以及提供信息的原样性和完成的操作与承诺。</a:t>
            </a:r>
            <a:endParaRPr lang="zh-CN" altLang="en-US" sz="1900" b="1">
              <a:solidFill>
                <a:schemeClr val="tx2"/>
              </a:solidFill>
              <a:latin typeface="Arial" panose="020B0604020202020204" pitchFamily="34" charset="0"/>
            </a:endParaRPr>
          </a:p>
          <a:p>
            <a:pPr indent="457200">
              <a:lnSpc>
                <a:spcPct val="85000"/>
              </a:lnSpc>
              <a:spcBef>
                <a:spcPct val="20000"/>
              </a:spcBef>
              <a:buFont typeface="Wingdings" panose="05000000000000000000" pitchFamily="2" charset="2"/>
              <a:buNone/>
              <a:defRPr/>
            </a:pPr>
            <a:r>
              <a:rPr lang="zh-CN" altLang="en-US" sz="1900" b="1">
                <a:solidFill>
                  <a:schemeClr val="tx2"/>
                </a:solidFill>
                <a:latin typeface="Arial" panose="020B0604020202020204" pitchFamily="34" charset="0"/>
              </a:rPr>
              <a:t> 使用不可否认功能，虽然不能防止通信参与方否认通信交换行为的发生，但是能在产生纠纷时提供可信证据，有利于纠纷解决。网络环境中的不可否认可以分为起源的不可否认和传递的不可否认，主要通过数字签名技术实现。此外系统还应提供清晰的日志记录。</a:t>
            </a:r>
            <a:endParaRPr lang="en-US" altLang="zh-CN" sz="1900" b="1">
              <a:solidFill>
                <a:schemeClr val="tx2"/>
              </a:solidFill>
              <a:latin typeface="Arial" panose="020B0604020202020204" pitchFamily="34" charset="0"/>
            </a:endParaRPr>
          </a:p>
        </p:txBody>
      </p:sp>
      <p:sp>
        <p:nvSpPr>
          <p:cNvPr id="7177" name="Rectangle 2"/>
          <p:cNvSpPr txBox="1">
            <a:spLocks noChangeArrowheads="1"/>
          </p:cNvSpPr>
          <p:nvPr/>
        </p:nvSpPr>
        <p:spPr bwMode="white">
          <a:xfrm>
            <a:off x="576263" y="188913"/>
            <a:ext cx="8305800" cy="563562"/>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en-US" altLang="zh-CN" sz="3200" dirty="0" smtClean="0">
                <a:solidFill>
                  <a:schemeClr val="bg1"/>
                </a:solidFill>
              </a:rPr>
              <a:t>1.</a:t>
            </a:r>
            <a:r>
              <a:rPr sz="3200" dirty="0" smtClean="0">
                <a:solidFill>
                  <a:schemeClr val="bg1"/>
                </a:solidFill>
              </a:rPr>
              <a:t>2  网络安全的概念、特点和内容</a:t>
            </a:r>
            <a:endParaRPr sz="3200" dirty="0" smtClean="0">
              <a:solidFill>
                <a:schemeClr val="bg1"/>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内容占位符 2"/>
          <p:cNvSpPr>
            <a:spLocks noGrp="1" noChangeArrowheads="1"/>
          </p:cNvSpPr>
          <p:nvPr>
            <p:ph idx="4294967295"/>
          </p:nvPr>
        </p:nvSpPr>
        <p:spPr>
          <a:xfrm>
            <a:off x="358775" y="1103313"/>
            <a:ext cx="8424863" cy="2984500"/>
          </a:xfrm>
        </p:spPr>
        <p:txBody>
          <a:bodyPr/>
          <a:lstStyle/>
          <a:p>
            <a:pPr>
              <a:buFont typeface="Wingdings" panose="05000000000000000000" pitchFamily="2" charset="2"/>
              <a:buNone/>
            </a:pPr>
            <a:r>
              <a:rPr lang="en-US" altLang="zh-CN" sz="2400" smtClean="0">
                <a:solidFill>
                  <a:srgbClr val="FF0000"/>
                </a:solidFill>
              </a:rPr>
              <a:t>     2. </a:t>
            </a:r>
            <a:r>
              <a:rPr lang="zh-CN" altLang="en-US" sz="2400" smtClean="0">
                <a:solidFill>
                  <a:srgbClr val="FF0000"/>
                </a:solidFill>
              </a:rPr>
              <a:t>网络安全的内容及侧重点</a:t>
            </a:r>
            <a:endParaRPr lang="zh-CN" altLang="en-US" sz="2400" smtClean="0">
              <a:solidFill>
                <a:srgbClr val="FF0000"/>
              </a:solidFill>
            </a:endParaRPr>
          </a:p>
          <a:p>
            <a:pPr>
              <a:lnSpc>
                <a:spcPct val="90000"/>
              </a:lnSpc>
            </a:pPr>
            <a:r>
              <a:rPr lang="zh-CN" altLang="en-US" smtClean="0"/>
              <a:t>   从不同角度可划分网络安全内容、保护范畴及侧重点。</a:t>
            </a:r>
            <a:endParaRPr lang="zh-CN" altLang="en-US" smtClean="0"/>
          </a:p>
          <a:p>
            <a:pPr>
              <a:lnSpc>
                <a:spcPct val="90000"/>
              </a:lnSpc>
            </a:pPr>
            <a:r>
              <a:rPr lang="en-US" altLang="zh-CN" sz="2400" smtClean="0">
                <a:solidFill>
                  <a:srgbClr val="CC0000"/>
                </a:solidFill>
              </a:rPr>
              <a:t>   </a:t>
            </a:r>
            <a:r>
              <a:rPr lang="zh-CN" altLang="en-US" sz="2400" smtClean="0">
                <a:solidFill>
                  <a:srgbClr val="CC0000"/>
                </a:solidFill>
              </a:rPr>
              <a:t>（</a:t>
            </a:r>
            <a:r>
              <a:rPr lang="en-US" altLang="zh-CN" sz="2400" smtClean="0">
                <a:solidFill>
                  <a:srgbClr val="CC0000"/>
                </a:solidFill>
              </a:rPr>
              <a:t>1</a:t>
            </a:r>
            <a:r>
              <a:rPr lang="zh-CN" altLang="en-US" sz="2400" smtClean="0">
                <a:solidFill>
                  <a:srgbClr val="CC0000"/>
                </a:solidFill>
              </a:rPr>
              <a:t>）网络安全涉及的内容</a:t>
            </a:r>
            <a:endParaRPr lang="zh-CN" altLang="en-US" sz="2400" smtClean="0">
              <a:solidFill>
                <a:srgbClr val="006600"/>
              </a:solidFill>
            </a:endParaRPr>
          </a:p>
          <a:p>
            <a:pPr>
              <a:lnSpc>
                <a:spcPct val="90000"/>
              </a:lnSpc>
              <a:buFont typeface="Wingdings" panose="05000000000000000000" pitchFamily="2" charset="2"/>
              <a:buNone/>
            </a:pPr>
            <a:r>
              <a:rPr lang="zh-CN" altLang="en-US" sz="2400" smtClean="0">
                <a:solidFill>
                  <a:srgbClr val="006600"/>
                </a:solidFill>
              </a:rPr>
              <a:t>      </a:t>
            </a:r>
            <a:r>
              <a:rPr lang="zh-CN" altLang="en-US" smtClean="0"/>
              <a:t>通常，</a:t>
            </a:r>
            <a:r>
              <a:rPr lang="zh-CN" altLang="en-US" smtClean="0">
                <a:solidFill>
                  <a:srgbClr val="FF0000"/>
                </a:solidFill>
              </a:rPr>
              <a:t>网络安全的内容包括</a:t>
            </a:r>
            <a:r>
              <a:rPr lang="zh-CN" altLang="en-US" smtClean="0"/>
              <a:t>：操作系统安全、数据库安全、网络站点安全、病毒与防护、访问控制、加密与鉴别等方面，具体内容将在以后章节中分别进行详细介绍。</a:t>
            </a:r>
            <a:r>
              <a:rPr lang="zh-CN" altLang="en-US" smtClean="0">
                <a:solidFill>
                  <a:srgbClr val="FF0000"/>
                </a:solidFill>
              </a:rPr>
              <a:t>从层次结构上</a:t>
            </a:r>
            <a:r>
              <a:rPr lang="zh-CN" altLang="en-US" smtClean="0"/>
              <a:t>，也可将</a:t>
            </a:r>
            <a:r>
              <a:rPr lang="zh-CN" altLang="en-US" smtClean="0">
                <a:solidFill>
                  <a:srgbClr val="FF0000"/>
                </a:solidFill>
              </a:rPr>
              <a:t>网络安全所涉及的内容</a:t>
            </a:r>
            <a:r>
              <a:rPr lang="zh-CN" altLang="en-US" smtClean="0"/>
              <a:t>概括为以下五个方面。</a:t>
            </a:r>
            <a:r>
              <a:rPr lang="zh-CN" altLang="en-US" smtClean="0">
                <a:solidFill>
                  <a:srgbClr val="FF0000"/>
                </a:solidFill>
              </a:rPr>
              <a:t>网络空间安全内容及体系</a:t>
            </a:r>
            <a:r>
              <a:rPr lang="zh-CN" altLang="en-US" smtClean="0"/>
              <a:t>见3.1.2。 </a:t>
            </a:r>
            <a:r>
              <a:rPr lang="zh-CN" altLang="en-US" sz="1800" b="0" smtClean="0"/>
              <a:t>   </a:t>
            </a:r>
            <a:endParaRPr lang="zh-CN" altLang="en-US" sz="1800" b="0" smtClean="0"/>
          </a:p>
        </p:txBody>
      </p:sp>
      <p:sp>
        <p:nvSpPr>
          <p:cNvPr id="5" name="圆角矩形 4"/>
          <p:cNvSpPr/>
          <p:nvPr/>
        </p:nvSpPr>
        <p:spPr bwMode="gray">
          <a:xfrm>
            <a:off x="762000" y="4038600"/>
            <a:ext cx="7845425" cy="1290955"/>
          </a:xfrm>
          <a:prstGeom prst="roundRect">
            <a:avLst/>
          </a:prstGeom>
        </p:spPr>
        <p:style>
          <a:lnRef idx="2">
            <a:schemeClr val="accent1"/>
          </a:lnRef>
          <a:fillRef idx="1">
            <a:schemeClr val="lt1"/>
          </a:fillRef>
          <a:effectRef idx="0">
            <a:schemeClr val="accent1"/>
          </a:effectRef>
          <a:fontRef idx="minor">
            <a:schemeClr val="dk1"/>
          </a:fontRef>
        </p:style>
        <p:txBody>
          <a:bodyPr anchor="ctr" anchorCtr="1">
            <a:normAutofit/>
          </a:bodyPr>
          <a:lstStyle/>
          <a:p>
            <a:pPr>
              <a:spcBef>
                <a:spcPct val="20000"/>
              </a:spcBef>
              <a:defRPr/>
            </a:pPr>
            <a:r>
              <a:rPr lang="en-US" altLang="zh-CN" sz="2200" b="1" dirty="0">
                <a:solidFill>
                  <a:srgbClr val="FF0000"/>
                </a:solidFill>
                <a:latin typeface="Arial" panose="020B0604020202020204" pitchFamily="34" charset="0"/>
              </a:rPr>
              <a:t>     1) </a:t>
            </a:r>
            <a:r>
              <a:rPr lang="zh-CN" altLang="en-US" sz="2200" b="1" dirty="0">
                <a:solidFill>
                  <a:srgbClr val="FF0000"/>
                </a:solidFill>
                <a:latin typeface="Arial" panose="020B0604020202020204" pitchFamily="34" charset="0"/>
              </a:rPr>
              <a:t>实体安全。</a:t>
            </a:r>
            <a:r>
              <a:rPr lang="zh-CN" altLang="en-US" sz="2200" b="1" dirty="0">
                <a:solidFill>
                  <a:schemeClr val="tx2"/>
                </a:solidFill>
                <a:latin typeface="Arial" panose="020B0604020202020204" pitchFamily="34" charset="0"/>
              </a:rPr>
              <a:t>也称</a:t>
            </a:r>
            <a:r>
              <a:rPr lang="zh-CN" altLang="en-US" sz="2200" b="1" dirty="0">
                <a:solidFill>
                  <a:srgbClr val="990033"/>
                </a:solidFill>
                <a:latin typeface="Arial" panose="020B0604020202020204" pitchFamily="34" charset="0"/>
              </a:rPr>
              <a:t>物理安全</a:t>
            </a:r>
            <a:r>
              <a:rPr lang="zh-CN" altLang="en-US" sz="2200" b="1" dirty="0">
                <a:solidFill>
                  <a:schemeClr val="tx2"/>
                </a:solidFill>
                <a:latin typeface="Arial" panose="020B0604020202020204" pitchFamily="34" charset="0"/>
              </a:rPr>
              <a:t>，</a:t>
            </a:r>
            <a:r>
              <a:rPr sz="2200" b="1" dirty="0">
                <a:latin typeface="Arial" panose="020B0604020202020204" pitchFamily="34" charset="0"/>
              </a:rPr>
              <a:t>指保护网络设备、设施及其他媒介免遭地震、水灾、火灾、有害气体和其他环境事故破坏的措施及过程。具体参见1.5介绍。</a:t>
            </a:r>
            <a:endParaRPr sz="2200" b="1" dirty="0">
              <a:latin typeface="Arial" panose="020B0604020202020204" pitchFamily="34" charset="0"/>
            </a:endParaRPr>
          </a:p>
        </p:txBody>
      </p:sp>
      <p:sp>
        <p:nvSpPr>
          <p:cNvPr id="36867" name="AutoShape 7"/>
          <p:cNvSpPr>
            <a:spLocks noChangeArrowheads="1"/>
          </p:cNvSpPr>
          <p:nvPr/>
        </p:nvSpPr>
        <p:spPr bwMode="auto">
          <a:xfrm>
            <a:off x="1023938" y="5350828"/>
            <a:ext cx="5076825" cy="576262"/>
          </a:xfrm>
          <a:prstGeom prst="wedgeRectCallout">
            <a:avLst>
              <a:gd name="adj1" fmla="val -38866"/>
              <a:gd name="adj2" fmla="val -70662"/>
            </a:avLst>
          </a:prstGeom>
          <a:solidFill>
            <a:srgbClr val="FFFF99"/>
          </a:solidFill>
          <a:ln w="9525">
            <a:solidFill>
              <a:schemeClr val="tx1"/>
            </a:solidFill>
            <a:miter lim="800000"/>
          </a:ln>
        </p:spPr>
        <p:txBody>
          <a:bodyPr/>
          <a:lstStyle/>
          <a:p>
            <a:pPr>
              <a:spcBef>
                <a:spcPct val="20000"/>
              </a:spcBef>
              <a:buFont typeface="Wingdings" panose="05000000000000000000" pitchFamily="2" charset="2"/>
              <a:buNone/>
            </a:pPr>
            <a:r>
              <a:rPr lang="zh-CN" altLang="en-US" sz="1800" b="1">
                <a:solidFill>
                  <a:srgbClr val="CC0000"/>
                </a:solidFill>
              </a:rPr>
              <a:t>主要安全防护（简称</a:t>
            </a:r>
            <a:r>
              <a:rPr lang="en-US" altLang="zh-CN" sz="1800" b="1">
                <a:solidFill>
                  <a:srgbClr val="CC0000"/>
                </a:solidFill>
              </a:rPr>
              <a:t>5</a:t>
            </a:r>
            <a:r>
              <a:rPr lang="zh-CN" altLang="en-US" sz="1800" b="1">
                <a:solidFill>
                  <a:srgbClr val="CC0000"/>
                </a:solidFill>
              </a:rPr>
              <a:t>防）：</a:t>
            </a:r>
            <a:r>
              <a:rPr lang="zh-CN" altLang="en-US" sz="1800" b="1"/>
              <a:t>防盗、防火、防静电、防雷击、防电磁泄漏。 </a:t>
            </a:r>
            <a:endParaRPr lang="zh-CN" altLang="en-US" sz="1800" b="1"/>
          </a:p>
        </p:txBody>
      </p:sp>
      <p:pic>
        <p:nvPicPr>
          <p:cNvPr id="36868" name="Picture 7" descr="C:\Users\Administrator\Desktop\图标.jpg"/>
          <p:cNvPicPr>
            <a:picLocks noChangeAspect="1" noChangeArrowheads="1"/>
          </p:cNvPicPr>
          <p:nvPr/>
        </p:nvPicPr>
        <p:blipFill>
          <a:blip r:embed="rId1" cstate="print"/>
          <a:srcRect/>
          <a:stretch>
            <a:fillRect/>
          </a:stretch>
        </p:blipFill>
        <p:spPr bwMode="auto">
          <a:xfrm>
            <a:off x="6400800" y="5105400"/>
            <a:ext cx="1676400" cy="1066800"/>
          </a:xfrm>
          <a:prstGeom prst="rect">
            <a:avLst/>
          </a:prstGeom>
          <a:noFill/>
          <a:ln w="9525">
            <a:noFill/>
            <a:miter lim="800000"/>
            <a:headEnd/>
            <a:tailEnd/>
          </a:ln>
        </p:spPr>
      </p:pic>
      <p:sp>
        <p:nvSpPr>
          <p:cNvPr id="7177" name="Rectangle 2"/>
          <p:cNvSpPr txBox="1">
            <a:spLocks noChangeArrowheads="1"/>
          </p:cNvSpPr>
          <p:nvPr/>
        </p:nvSpPr>
        <p:spPr bwMode="white">
          <a:xfrm>
            <a:off x="576263" y="188913"/>
            <a:ext cx="8305800" cy="563562"/>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en-US" altLang="zh-CN" sz="3200" dirty="0" smtClean="0">
                <a:solidFill>
                  <a:schemeClr val="bg1"/>
                </a:solidFill>
              </a:rPr>
              <a:t>1.</a:t>
            </a:r>
            <a:r>
              <a:rPr sz="3200" dirty="0" smtClean="0">
                <a:solidFill>
                  <a:schemeClr val="bg1"/>
                </a:solidFill>
              </a:rPr>
              <a:t>2  网络安全的概念、特点和内容</a:t>
            </a:r>
            <a:endParaRPr sz="3200" dirty="0" smtClean="0">
              <a:solidFill>
                <a:schemeClr val="bg1"/>
              </a:solidFill>
            </a:endParaRPr>
          </a:p>
        </p:txBody>
      </p:sp>
      <p:sp>
        <p:nvSpPr>
          <p:cNvPr id="3" name="圆角矩形 2"/>
          <p:cNvSpPr/>
          <p:nvPr/>
        </p:nvSpPr>
        <p:spPr bwMode="gray">
          <a:xfrm>
            <a:off x="762000" y="1497965"/>
            <a:ext cx="8021955" cy="2463800"/>
          </a:xfrm>
          <a:prstGeom prst="roundRect">
            <a:avLst/>
          </a:prstGeom>
          <a:noFill/>
        </p:spPr>
        <p:style>
          <a:lnRef idx="2">
            <a:schemeClr val="accent1"/>
          </a:lnRef>
          <a:fillRef idx="1">
            <a:schemeClr val="lt1"/>
          </a:fillRef>
          <a:effectRef idx="0">
            <a:schemeClr val="accent1"/>
          </a:effectRef>
          <a:fontRef idx="minor">
            <a:schemeClr val="dk1"/>
          </a:fontRef>
        </p:style>
        <p:txBody>
          <a:bodyPr anchor="ctr" anchorCtr="1"/>
          <a:lstStyle/>
          <a:p>
            <a:pPr indent="457200">
              <a:lnSpc>
                <a:spcPct val="85000"/>
              </a:lnSpc>
              <a:spcBef>
                <a:spcPct val="20000"/>
              </a:spcBef>
              <a:buFont typeface="Wingdings" panose="05000000000000000000" pitchFamily="2" charset="2"/>
              <a:buNone/>
              <a:defRPr/>
            </a:pPr>
            <a:endParaRPr lang="zh-CN" altLang="en-US" sz="1900" b="1">
              <a:solidFill>
                <a:schemeClr val="tx2"/>
              </a:solidFill>
              <a:latin typeface="Arial" panose="020B0604020202020204" pitchFamily="34"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a:xfrm>
          <a:off x="0" y="0"/>
          <a:ext cx="0" cy="0"/>
          <a:chOff x="0" y="0"/>
          <a:chExt cx="0" cy="0"/>
        </a:xfrm>
      </p:grpSpPr>
      <p:sp>
        <p:nvSpPr>
          <p:cNvPr id="5" name="圆角矩形 4"/>
          <p:cNvSpPr/>
          <p:nvPr/>
        </p:nvSpPr>
        <p:spPr bwMode="gray">
          <a:xfrm>
            <a:off x="467678" y="1228408"/>
            <a:ext cx="8208962" cy="4824412"/>
          </a:xfrm>
          <a:prstGeom prst="roundRect">
            <a:avLst/>
          </a:prstGeom>
        </p:spPr>
        <p:style>
          <a:lnRef idx="2">
            <a:schemeClr val="accent1"/>
          </a:lnRef>
          <a:fillRef idx="1">
            <a:schemeClr val="lt1"/>
          </a:fillRef>
          <a:effectRef idx="0">
            <a:schemeClr val="accent1"/>
          </a:effectRef>
          <a:fontRef idx="minor">
            <a:schemeClr val="dk1"/>
          </a:fontRef>
        </p:style>
        <p:txBody>
          <a:bodyPr anchor="ctr" anchorCtr="1">
            <a:normAutofit/>
          </a:bodyPr>
          <a:lstStyle/>
          <a:p>
            <a:pPr algn="dist">
              <a:lnSpc>
                <a:spcPct val="90000"/>
              </a:lnSpc>
              <a:spcBef>
                <a:spcPct val="20000"/>
              </a:spcBef>
            </a:pPr>
            <a:endParaRPr lang="zh-CN" altLang="en-US" sz="800" b="1">
              <a:solidFill>
                <a:schemeClr val="tx2"/>
              </a:solidFill>
              <a:latin typeface="Arial" panose="020B0604020202020204" pitchFamily="34" charset="0"/>
            </a:endParaRPr>
          </a:p>
          <a:p>
            <a:pPr algn="dist">
              <a:lnSpc>
                <a:spcPct val="90000"/>
              </a:lnSpc>
              <a:spcBef>
                <a:spcPct val="20000"/>
              </a:spcBef>
            </a:pPr>
            <a:r>
              <a:rPr lang="en-US" altLang="zh-CN" b="1">
                <a:solidFill>
                  <a:srgbClr val="FF0000"/>
                </a:solidFill>
                <a:latin typeface="Arial" panose="020B0604020202020204" pitchFamily="34" charset="0"/>
              </a:rPr>
              <a:t>       2) </a:t>
            </a:r>
            <a:r>
              <a:rPr lang="zh-CN" altLang="en-US" b="1">
                <a:solidFill>
                  <a:srgbClr val="FF0000"/>
                </a:solidFill>
                <a:latin typeface="Arial" panose="020B0604020202020204" pitchFamily="34" charset="0"/>
              </a:rPr>
              <a:t>系统安全。系统安全包括</a:t>
            </a:r>
            <a:r>
              <a:rPr lang="zh-CN" altLang="en-US" b="1">
                <a:solidFill>
                  <a:schemeClr val="tx2"/>
                </a:solidFill>
                <a:latin typeface="Arial" panose="020B0604020202020204" pitchFamily="34" charset="0"/>
              </a:rPr>
              <a:t>网络系统安全、操作系统安全和数据库系统安全。主要以网络系统的特点、条件和管理要求为依据，通过有针对性地为系统提供安全策略机制、保障措施、应急修复方法、安全建议和安全管理规范等，确保整个网络系统的安全运行。</a:t>
            </a:r>
            <a:r>
              <a:rPr lang="en-US" altLang="zh-CN" b="1">
                <a:solidFill>
                  <a:schemeClr val="tx2"/>
                </a:solidFill>
                <a:latin typeface="Arial" panose="020B0604020202020204" pitchFamily="34" charset="0"/>
              </a:rPr>
              <a:t> </a:t>
            </a:r>
            <a:endParaRPr lang="en-US" altLang="zh-CN" b="1">
              <a:solidFill>
                <a:schemeClr val="tx2"/>
              </a:solidFill>
              <a:latin typeface="Arial" panose="020B0604020202020204" pitchFamily="34" charset="0"/>
            </a:endParaRPr>
          </a:p>
          <a:p>
            <a:pPr>
              <a:lnSpc>
                <a:spcPct val="90000"/>
              </a:lnSpc>
              <a:spcBef>
                <a:spcPct val="20000"/>
              </a:spcBef>
            </a:pPr>
            <a:r>
              <a:rPr lang="en-US" altLang="zh-CN" b="1">
                <a:solidFill>
                  <a:srgbClr val="FF0000"/>
                </a:solidFill>
                <a:latin typeface="Arial" panose="020B0604020202020204" pitchFamily="34" charset="0"/>
              </a:rPr>
              <a:t>       3) </a:t>
            </a:r>
            <a:r>
              <a:rPr lang="zh-CN" altLang="en-US" b="1">
                <a:solidFill>
                  <a:srgbClr val="FF0000"/>
                </a:solidFill>
                <a:latin typeface="Arial" panose="020B0604020202020204" pitchFamily="34" charset="0"/>
              </a:rPr>
              <a:t>运行安全。</a:t>
            </a:r>
            <a:r>
              <a:rPr lang="zh-CN" altLang="en-US" b="1">
                <a:solidFill>
                  <a:schemeClr val="tx2"/>
                </a:solidFill>
                <a:latin typeface="Arial" panose="020B0604020202020204" pitchFamily="34" charset="0"/>
              </a:rPr>
              <a:t>包括网络运行和网络访问控制的安全</a:t>
            </a:r>
            <a:r>
              <a:rPr lang="en-US" altLang="zh-CN" b="1">
                <a:solidFill>
                  <a:schemeClr val="tx2"/>
                </a:solidFill>
                <a:latin typeface="Arial" panose="020B0604020202020204" pitchFamily="34" charset="0"/>
              </a:rPr>
              <a:t>,</a:t>
            </a:r>
            <a:r>
              <a:rPr lang="zh-CN" altLang="en-US" b="1">
                <a:solidFill>
                  <a:schemeClr val="tx2"/>
                </a:solidFill>
                <a:latin typeface="Arial" panose="020B0604020202020204" pitchFamily="34" charset="0"/>
              </a:rPr>
              <a:t>如用防火墙实现内外网的隔离、访问控制、系统恢复。</a:t>
            </a:r>
            <a:r>
              <a:rPr lang="zh-CN" altLang="en-US" b="1">
                <a:solidFill>
                  <a:srgbClr val="FF0000"/>
                </a:solidFill>
                <a:latin typeface="Arial" panose="020B0604020202020204" pitchFamily="34" charset="0"/>
              </a:rPr>
              <a:t>运行安全包括</a:t>
            </a:r>
            <a:r>
              <a:rPr lang="zh-CN" altLang="en-US" b="1">
                <a:solidFill>
                  <a:schemeClr val="tx2"/>
                </a:solidFill>
                <a:latin typeface="Arial" panose="020B0604020202020204" pitchFamily="34" charset="0"/>
              </a:rPr>
              <a:t>：内外网隔离机制、应急处置机制和配套服务、网络系统安全性监测、网络安全产品运行监测、定期检查和评估、系统升级和补丁处理、跟踪最新安全漏洞、灾难恢复机制与预防、安全审计、系统改造、网络安全咨询等。</a:t>
            </a:r>
            <a:endParaRPr lang="zh-CN" altLang="en-US" b="1">
              <a:solidFill>
                <a:schemeClr val="tx2"/>
              </a:solidFill>
              <a:latin typeface="Arial" panose="020B0604020202020204" pitchFamily="34" charset="0"/>
            </a:endParaRPr>
          </a:p>
          <a:p>
            <a:pPr algn="dist">
              <a:lnSpc>
                <a:spcPct val="90000"/>
              </a:lnSpc>
              <a:spcBef>
                <a:spcPct val="20000"/>
              </a:spcBef>
            </a:pPr>
            <a:endParaRPr lang="zh-CN" altLang="en-US" b="1">
              <a:solidFill>
                <a:schemeClr val="tx2"/>
              </a:solidFill>
              <a:latin typeface="Arial" panose="020B0604020202020204" pitchFamily="34" charset="0"/>
            </a:endParaRPr>
          </a:p>
        </p:txBody>
      </p:sp>
      <p:pic>
        <p:nvPicPr>
          <p:cNvPr id="37890" name="Picture 5" descr="j0285750"/>
          <p:cNvPicPr>
            <a:picLocks noChangeAspect="1" noChangeArrowheads="1"/>
          </p:cNvPicPr>
          <p:nvPr/>
        </p:nvPicPr>
        <p:blipFill>
          <a:blip r:embed="rId1" cstate="print"/>
          <a:srcRect/>
          <a:stretch>
            <a:fillRect/>
          </a:stretch>
        </p:blipFill>
        <p:spPr bwMode="auto">
          <a:xfrm>
            <a:off x="5951220" y="5259070"/>
            <a:ext cx="1476375" cy="908050"/>
          </a:xfrm>
          <a:prstGeom prst="rect">
            <a:avLst/>
          </a:prstGeom>
          <a:noFill/>
          <a:ln w="9525">
            <a:noFill/>
            <a:miter lim="800000"/>
            <a:headEnd/>
            <a:tailEnd/>
          </a:ln>
        </p:spPr>
      </p:pic>
      <p:sp>
        <p:nvSpPr>
          <p:cNvPr id="7177" name="Rectangle 2"/>
          <p:cNvSpPr txBox="1">
            <a:spLocks noChangeArrowheads="1"/>
          </p:cNvSpPr>
          <p:nvPr/>
        </p:nvSpPr>
        <p:spPr bwMode="white">
          <a:xfrm>
            <a:off x="576263" y="188913"/>
            <a:ext cx="8305800" cy="563562"/>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en-US" altLang="zh-CN" sz="3200" dirty="0" smtClean="0">
                <a:solidFill>
                  <a:schemeClr val="bg1"/>
                </a:solidFill>
              </a:rPr>
              <a:t>1.</a:t>
            </a:r>
            <a:r>
              <a:rPr sz="3200" dirty="0" smtClean="0">
                <a:solidFill>
                  <a:schemeClr val="bg1"/>
                </a:solidFill>
              </a:rPr>
              <a:t>2  网络安全的概念、特点和内容</a:t>
            </a:r>
            <a:endParaRPr sz="3200" dirty="0" smtClean="0">
              <a:solidFill>
                <a:schemeClr val="bg1"/>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内容占位符 2"/>
          <p:cNvSpPr>
            <a:spLocks noGrp="1" noChangeArrowheads="1"/>
          </p:cNvSpPr>
          <p:nvPr>
            <p:ph idx="4294967295"/>
          </p:nvPr>
        </p:nvSpPr>
        <p:spPr>
          <a:xfrm>
            <a:off x="457200" y="1268413"/>
            <a:ext cx="8153400" cy="1439862"/>
          </a:xfrm>
        </p:spPr>
        <p:txBody>
          <a:bodyPr/>
          <a:lstStyle/>
          <a:p>
            <a:endParaRPr lang="en-US" altLang="zh-CN" sz="2400" smtClean="0"/>
          </a:p>
          <a:p>
            <a:pPr eaLnBrk="1" hangingPunct="1">
              <a:spcBef>
                <a:spcPts val="600"/>
              </a:spcBef>
              <a:spcAft>
                <a:spcPts val="600"/>
              </a:spcAft>
              <a:buFont typeface="Wingdings" panose="05000000000000000000" pitchFamily="2" charset="2"/>
              <a:buNone/>
            </a:pPr>
            <a:r>
              <a:rPr lang="zh-CN" altLang="en-US" sz="1800" smtClean="0">
                <a:solidFill>
                  <a:srgbClr val="FF0000"/>
                </a:solidFill>
              </a:rPr>
              <a:t>   </a:t>
            </a:r>
            <a:endParaRPr lang="zh-CN" altLang="en-US" sz="1800" smtClean="0">
              <a:solidFill>
                <a:srgbClr val="FF0000"/>
              </a:solidFill>
            </a:endParaRPr>
          </a:p>
        </p:txBody>
      </p:sp>
      <p:sp>
        <p:nvSpPr>
          <p:cNvPr id="5" name="圆角矩形 4"/>
          <p:cNvSpPr/>
          <p:nvPr/>
        </p:nvSpPr>
        <p:spPr bwMode="gray">
          <a:xfrm>
            <a:off x="252413" y="1125538"/>
            <a:ext cx="8662987" cy="5275262"/>
          </a:xfrm>
          <a:prstGeom prst="roundRect">
            <a:avLst/>
          </a:prstGeom>
        </p:spPr>
        <p:style>
          <a:lnRef idx="2">
            <a:schemeClr val="accent1"/>
          </a:lnRef>
          <a:fillRef idx="1">
            <a:schemeClr val="lt1"/>
          </a:fillRef>
          <a:effectRef idx="0">
            <a:schemeClr val="accent1"/>
          </a:effectRef>
          <a:fontRef idx="minor">
            <a:schemeClr val="dk1"/>
          </a:fontRef>
        </p:style>
        <p:txBody>
          <a:bodyPr anchor="ctr" anchorCtr="1"/>
          <a:lstStyle/>
          <a:p>
            <a:pPr indent="457200">
              <a:spcBef>
                <a:spcPts val="0"/>
              </a:spcBef>
              <a:defRPr/>
            </a:pPr>
            <a:r>
              <a:rPr lang="en-US" altLang="zh-CN" sz="2200" b="1" dirty="0">
                <a:solidFill>
                  <a:srgbClr val="FF0000"/>
                </a:solidFill>
              </a:rPr>
              <a:t>(4) </a:t>
            </a:r>
            <a:r>
              <a:rPr lang="zh-CN" altLang="en-US" sz="2200" b="1" dirty="0">
                <a:solidFill>
                  <a:srgbClr val="FF0000"/>
                </a:solidFill>
              </a:rPr>
              <a:t>应用安全。</a:t>
            </a:r>
            <a:r>
              <a:rPr sz="2200" b="1" dirty="0">
                <a:solidFill>
                  <a:schemeClr val="tx2"/>
                </a:solidFill>
              </a:rPr>
              <a:t>由应用软件平台安全和数据安全两部分组成</a:t>
            </a:r>
            <a:r>
              <a:rPr lang="en-US" sz="2200" b="1" dirty="0">
                <a:solidFill>
                  <a:schemeClr val="tx2"/>
                </a:solidFill>
              </a:rPr>
              <a:t>.</a:t>
            </a:r>
            <a:r>
              <a:rPr sz="2200" b="1" dirty="0">
                <a:solidFill>
                  <a:schemeClr val="tx2"/>
                </a:solidFill>
              </a:rPr>
              <a:t>应用安全包括：业务应用软件的程序安全性测试分析、业务数据的安全检测与审计、数据资源访问控制验证测试、实体身份鉴别检测、业务数据备份与恢复机制检查、数据唯一性或一致性、防冲突检测、数据保密性测试、系统可靠性测试和可用性测试等。</a:t>
            </a:r>
            <a:endParaRPr sz="2200" b="1" dirty="0">
              <a:solidFill>
                <a:schemeClr val="tx2"/>
              </a:solidFill>
            </a:endParaRPr>
          </a:p>
          <a:p>
            <a:pPr indent="457200">
              <a:spcBef>
                <a:spcPts val="0"/>
              </a:spcBef>
              <a:defRPr/>
            </a:pPr>
            <a:r>
              <a:rPr lang="zh-CN" altLang="en-US" sz="2200" b="1" dirty="0">
                <a:solidFill>
                  <a:srgbClr val="FF0000"/>
                </a:solidFill>
              </a:rPr>
              <a:t>（</a:t>
            </a:r>
            <a:r>
              <a:rPr lang="en-US" altLang="zh-CN" sz="2200" b="1" dirty="0">
                <a:solidFill>
                  <a:srgbClr val="FF0000"/>
                </a:solidFill>
              </a:rPr>
              <a:t>5) </a:t>
            </a:r>
            <a:r>
              <a:rPr lang="zh-CN" altLang="en-US" sz="2200" b="1" dirty="0">
                <a:solidFill>
                  <a:srgbClr val="FF0000"/>
                </a:solidFill>
              </a:rPr>
              <a:t>管理安全</a:t>
            </a:r>
            <a:r>
              <a:rPr lang="zh-CN" altLang="en-US" sz="2200" b="1" dirty="0">
                <a:solidFill>
                  <a:schemeClr val="tx2"/>
                </a:solidFill>
              </a:rPr>
              <a:t>。</a:t>
            </a:r>
            <a:r>
              <a:rPr sz="2200" b="1" dirty="0">
                <a:solidFill>
                  <a:schemeClr val="tx2"/>
                </a:solidFill>
              </a:rPr>
              <a:t>也称</a:t>
            </a:r>
            <a:r>
              <a:rPr sz="2200" b="1" dirty="0">
                <a:solidFill>
                  <a:srgbClr val="FF0000"/>
                </a:solidFill>
              </a:rPr>
              <a:t>安全管理</a:t>
            </a:r>
            <a:r>
              <a:rPr sz="2200" b="1" dirty="0">
                <a:solidFill>
                  <a:schemeClr val="tx2"/>
                </a:solidFill>
              </a:rPr>
              <a:t>，主要指对人员、网络系统和应用与服务等要素的安全管理，涉及的各种法律、法规、政策、策略、机制、规范、标准、技术手段和措施等内容。</a:t>
            </a:r>
            <a:r>
              <a:rPr sz="2200" b="1" dirty="0">
                <a:solidFill>
                  <a:srgbClr val="FF0000"/>
                </a:solidFill>
              </a:rPr>
              <a:t>主要包括</a:t>
            </a:r>
            <a:r>
              <a:rPr sz="2200" b="1" dirty="0">
                <a:solidFill>
                  <a:schemeClr val="tx2"/>
                </a:solidFill>
              </a:rPr>
              <a:t>：法律法规管理、政策策略管理、规范标准管理、人员管理、应用系统管理、软件管理、设备管理、文档管理、数据管理、操作管理、运营管理、机房管理、安全培训管理等。</a:t>
            </a:r>
            <a:endParaRPr sz="2200" b="1" dirty="0">
              <a:solidFill>
                <a:schemeClr val="tx2"/>
              </a:solidFill>
            </a:endParaRPr>
          </a:p>
          <a:p>
            <a:pPr indent="457200">
              <a:spcBef>
                <a:spcPts val="0"/>
              </a:spcBef>
              <a:defRPr/>
            </a:pPr>
            <a:r>
              <a:rPr sz="2200" b="1" dirty="0">
                <a:solidFill>
                  <a:srgbClr val="990033"/>
                </a:solidFill>
              </a:rPr>
              <a:t>广义的</a:t>
            </a:r>
            <a:r>
              <a:rPr sz="2200" b="1" dirty="0">
                <a:solidFill>
                  <a:srgbClr val="FF0000"/>
                </a:solidFill>
              </a:rPr>
              <a:t>网络安全主要内容</a:t>
            </a:r>
            <a:r>
              <a:rPr sz="2200" b="1" dirty="0">
                <a:solidFill>
                  <a:schemeClr val="tx2"/>
                </a:solidFill>
              </a:rPr>
              <a:t>如图1-</a:t>
            </a:r>
            <a:r>
              <a:rPr lang="en-US" sz="2200" b="1" dirty="0">
                <a:solidFill>
                  <a:schemeClr val="tx2"/>
                </a:solidFill>
              </a:rPr>
              <a:t>1</a:t>
            </a:r>
            <a:r>
              <a:rPr sz="2200" b="1" dirty="0">
                <a:solidFill>
                  <a:schemeClr val="tx2"/>
                </a:solidFill>
              </a:rPr>
              <a:t>所示。</a:t>
            </a:r>
            <a:endParaRPr lang="en-US" sz="2200" b="1" dirty="0">
              <a:solidFill>
                <a:schemeClr val="tx2"/>
              </a:solidFill>
            </a:endParaRPr>
          </a:p>
          <a:p>
            <a:pPr>
              <a:spcBef>
                <a:spcPts val="0"/>
              </a:spcBef>
              <a:defRPr/>
            </a:pPr>
            <a:r>
              <a:rPr sz="2200" b="1" dirty="0" err="1">
                <a:solidFill>
                  <a:schemeClr val="tx2"/>
                </a:solidFill>
              </a:rPr>
              <a:t>依据网络信息安全法律法规，以实体安全为</a:t>
            </a:r>
            <a:endParaRPr lang="en-US" sz="2200" b="1" dirty="0">
              <a:solidFill>
                <a:schemeClr val="tx2"/>
              </a:solidFill>
            </a:endParaRPr>
          </a:p>
          <a:p>
            <a:pPr>
              <a:spcBef>
                <a:spcPts val="0"/>
              </a:spcBef>
              <a:defRPr/>
            </a:pPr>
            <a:r>
              <a:rPr sz="2200" b="1" dirty="0" err="1">
                <a:solidFill>
                  <a:schemeClr val="tx2"/>
                </a:solidFill>
              </a:rPr>
              <a:t>基础，以管理和运行安全保障操作系统安全</a:t>
            </a:r>
            <a:r>
              <a:rPr sz="2200" b="1" dirty="0">
                <a:solidFill>
                  <a:schemeClr val="tx2"/>
                </a:solidFill>
              </a:rPr>
              <a:t>、</a:t>
            </a:r>
            <a:endParaRPr lang="en-US" sz="2200" b="1" dirty="0">
              <a:solidFill>
                <a:schemeClr val="tx2"/>
              </a:solidFill>
            </a:endParaRPr>
          </a:p>
          <a:p>
            <a:pPr>
              <a:spcBef>
                <a:spcPts val="0"/>
              </a:spcBef>
              <a:defRPr/>
            </a:pPr>
            <a:r>
              <a:rPr sz="2100" b="1" dirty="0" err="1">
                <a:solidFill>
                  <a:schemeClr val="tx2"/>
                </a:solidFill>
              </a:rPr>
              <a:t>网络安全</a:t>
            </a:r>
            <a:r>
              <a:rPr lang="en-US" sz="2100" b="1" dirty="0">
                <a:solidFill>
                  <a:schemeClr val="tx2"/>
                </a:solidFill>
              </a:rPr>
              <a:t>(</a:t>
            </a:r>
            <a:r>
              <a:rPr sz="2100" b="1" dirty="0" err="1">
                <a:solidFill>
                  <a:schemeClr val="tx2"/>
                </a:solidFill>
              </a:rPr>
              <a:t>狭义</a:t>
            </a:r>
            <a:r>
              <a:rPr lang="en-US" sz="2100" b="1" dirty="0">
                <a:solidFill>
                  <a:schemeClr val="tx2"/>
                </a:solidFill>
              </a:rPr>
              <a:t>)</a:t>
            </a:r>
            <a:r>
              <a:rPr sz="2100" b="1" dirty="0" err="1">
                <a:solidFill>
                  <a:schemeClr val="tx2"/>
                </a:solidFill>
              </a:rPr>
              <a:t>和应用安全及正常运行与服务</a:t>
            </a:r>
            <a:r>
              <a:rPr sz="2200" b="1" dirty="0">
                <a:solidFill>
                  <a:schemeClr val="tx2"/>
                </a:solidFill>
              </a:rPr>
              <a:t>。</a:t>
            </a:r>
            <a:endParaRPr sz="2200" b="1" dirty="0">
              <a:solidFill>
                <a:schemeClr val="tx2"/>
              </a:solidFill>
            </a:endParaRPr>
          </a:p>
        </p:txBody>
      </p:sp>
      <p:pic>
        <p:nvPicPr>
          <p:cNvPr id="38915" name="Picture 5"/>
          <p:cNvPicPr>
            <a:picLocks noChangeAspect="1" noChangeArrowheads="1"/>
          </p:cNvPicPr>
          <p:nvPr/>
        </p:nvPicPr>
        <p:blipFill>
          <a:blip r:embed="rId1" cstate="print">
            <a:lum bright="-24000" contrast="36000"/>
          </a:blip>
          <a:srcRect/>
          <a:stretch>
            <a:fillRect/>
          </a:stretch>
        </p:blipFill>
        <p:spPr bwMode="auto">
          <a:xfrm>
            <a:off x="6264275" y="4652963"/>
            <a:ext cx="2193925" cy="1751012"/>
          </a:xfrm>
          <a:prstGeom prst="rect">
            <a:avLst/>
          </a:prstGeom>
          <a:noFill/>
          <a:ln w="9525">
            <a:noFill/>
            <a:miter lim="800000"/>
            <a:headEnd/>
            <a:tailEnd/>
          </a:ln>
        </p:spPr>
      </p:pic>
      <p:sp>
        <p:nvSpPr>
          <p:cNvPr id="38916" name="Rectangle 6"/>
          <p:cNvSpPr>
            <a:spLocks noChangeArrowheads="1"/>
          </p:cNvSpPr>
          <p:nvPr/>
        </p:nvSpPr>
        <p:spPr bwMode="auto">
          <a:xfrm>
            <a:off x="6172200" y="6400800"/>
            <a:ext cx="2435225" cy="336550"/>
          </a:xfrm>
          <a:prstGeom prst="rect">
            <a:avLst/>
          </a:prstGeom>
          <a:noFill/>
          <a:ln w="9525">
            <a:noFill/>
            <a:miter lim="800000"/>
          </a:ln>
        </p:spPr>
        <p:txBody>
          <a:bodyPr wrap="none">
            <a:spAutoFit/>
          </a:bodyPr>
          <a:lstStyle/>
          <a:p>
            <a:pPr algn="dist">
              <a:spcBef>
                <a:spcPct val="20000"/>
              </a:spcBef>
              <a:buFont typeface="Wingdings" panose="05000000000000000000" pitchFamily="2" charset="2"/>
              <a:buNone/>
            </a:pPr>
            <a:r>
              <a:rPr lang="zh-CN" altLang="en-US" sz="1600">
                <a:solidFill>
                  <a:srgbClr val="990033"/>
                </a:solidFill>
              </a:rPr>
              <a:t>图</a:t>
            </a:r>
            <a:r>
              <a:rPr lang="en-US" altLang="zh-CN" sz="1600">
                <a:solidFill>
                  <a:srgbClr val="990033"/>
                </a:solidFill>
              </a:rPr>
              <a:t>1-1 </a:t>
            </a:r>
            <a:r>
              <a:rPr lang="zh-CN" altLang="en-US" sz="1600">
                <a:solidFill>
                  <a:srgbClr val="990033"/>
                </a:solidFill>
              </a:rPr>
              <a:t>网络安全主要内容 </a:t>
            </a:r>
            <a:endParaRPr lang="zh-CN" altLang="en-US" sz="1600">
              <a:solidFill>
                <a:srgbClr val="990033"/>
              </a:solidFill>
            </a:endParaRPr>
          </a:p>
        </p:txBody>
      </p:sp>
      <p:sp>
        <p:nvSpPr>
          <p:cNvPr id="7177" name="Rectangle 2"/>
          <p:cNvSpPr txBox="1">
            <a:spLocks noChangeArrowheads="1"/>
          </p:cNvSpPr>
          <p:nvPr/>
        </p:nvSpPr>
        <p:spPr bwMode="white">
          <a:xfrm>
            <a:off x="576263" y="188913"/>
            <a:ext cx="8305800" cy="563562"/>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en-US" altLang="zh-CN" sz="3200" dirty="0" smtClean="0">
                <a:solidFill>
                  <a:schemeClr val="bg1"/>
                </a:solidFill>
              </a:rPr>
              <a:t>1.</a:t>
            </a:r>
            <a:r>
              <a:rPr sz="3200" dirty="0" smtClean="0">
                <a:solidFill>
                  <a:schemeClr val="bg1"/>
                </a:solidFill>
              </a:rPr>
              <a:t>2  网络安全的概念、特点和内容</a:t>
            </a:r>
            <a:endParaRPr sz="3200" dirty="0" smtClean="0">
              <a:solidFill>
                <a:schemeClr val="bg1"/>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内容占位符 2"/>
          <p:cNvSpPr>
            <a:spLocks noGrp="1" noChangeArrowheads="1"/>
          </p:cNvSpPr>
          <p:nvPr>
            <p:ph idx="4294967295"/>
          </p:nvPr>
        </p:nvSpPr>
        <p:spPr>
          <a:xfrm>
            <a:off x="685800" y="990600"/>
            <a:ext cx="7056438" cy="611188"/>
          </a:xfrm>
        </p:spPr>
        <p:txBody>
          <a:bodyPr/>
          <a:lstStyle/>
          <a:p>
            <a:pPr>
              <a:buFont typeface="Wingdings" panose="05000000000000000000" pitchFamily="2" charset="2"/>
              <a:buNone/>
            </a:pPr>
            <a:r>
              <a:rPr lang="zh-CN" altLang="en-US" smtClean="0">
                <a:solidFill>
                  <a:srgbClr val="990033"/>
                </a:solidFill>
              </a:rPr>
              <a:t>网络安全</a:t>
            </a:r>
            <a:r>
              <a:rPr lang="zh-CN" altLang="en-US" u="sng" smtClean="0">
                <a:solidFill>
                  <a:srgbClr val="FF0000"/>
                </a:solidFill>
              </a:rPr>
              <a:t>相关内容及其相互关系</a:t>
            </a:r>
            <a:r>
              <a:rPr lang="en-US" altLang="zh-CN" smtClean="0"/>
              <a:t>,</a:t>
            </a:r>
            <a:r>
              <a:rPr lang="zh-CN" altLang="en-US" smtClean="0"/>
              <a:t>如图</a:t>
            </a:r>
            <a:r>
              <a:rPr lang="en-US" altLang="zh-CN" smtClean="0"/>
              <a:t>1-2</a:t>
            </a:r>
            <a:r>
              <a:rPr lang="zh-CN" altLang="en-US" smtClean="0"/>
              <a:t>所示。</a:t>
            </a:r>
            <a:r>
              <a:rPr lang="zh-CN" altLang="en-US" b="0" smtClean="0"/>
              <a:t> </a:t>
            </a:r>
            <a:endParaRPr lang="zh-CN" altLang="en-US" b="0" smtClean="0"/>
          </a:p>
        </p:txBody>
      </p:sp>
      <p:sp>
        <p:nvSpPr>
          <p:cNvPr id="39938" name="Rectangle 5"/>
          <p:cNvSpPr>
            <a:spLocks noChangeArrowheads="1"/>
          </p:cNvSpPr>
          <p:nvPr/>
        </p:nvSpPr>
        <p:spPr bwMode="auto">
          <a:xfrm>
            <a:off x="2286000" y="4267200"/>
            <a:ext cx="3186113" cy="307975"/>
          </a:xfrm>
          <a:prstGeom prst="rect">
            <a:avLst/>
          </a:prstGeom>
          <a:noFill/>
          <a:ln w="9525">
            <a:noFill/>
            <a:miter lim="800000"/>
          </a:ln>
        </p:spPr>
        <p:txBody>
          <a:bodyPr wrap="none" anchor="ctr">
            <a:spAutoFit/>
          </a:bodyPr>
          <a:lstStyle/>
          <a:p>
            <a:pPr algn="dist">
              <a:spcBef>
                <a:spcPct val="20000"/>
              </a:spcBef>
              <a:buFont typeface="Wingdings" panose="05000000000000000000" pitchFamily="2" charset="2"/>
              <a:buNone/>
            </a:pPr>
            <a:r>
              <a:rPr lang="zh-CN" altLang="en-US" sz="1400" b="1">
                <a:solidFill>
                  <a:srgbClr val="990033"/>
                </a:solidFill>
              </a:rPr>
              <a:t>图</a:t>
            </a:r>
            <a:r>
              <a:rPr lang="en-US" altLang="zh-CN" sz="1400" b="1">
                <a:solidFill>
                  <a:srgbClr val="990033"/>
                </a:solidFill>
              </a:rPr>
              <a:t>1-2 </a:t>
            </a:r>
            <a:r>
              <a:rPr lang="zh-CN" altLang="en-US" sz="1400" b="1">
                <a:solidFill>
                  <a:srgbClr val="990033"/>
                </a:solidFill>
              </a:rPr>
              <a:t>网络安全相关内容及其相互关系</a:t>
            </a:r>
            <a:endParaRPr lang="zh-CN" altLang="en-US" sz="1400" b="1">
              <a:solidFill>
                <a:srgbClr val="990033"/>
              </a:solidFill>
            </a:endParaRPr>
          </a:p>
        </p:txBody>
      </p:sp>
      <p:pic>
        <p:nvPicPr>
          <p:cNvPr id="39939" name="Picture 8"/>
          <p:cNvPicPr>
            <a:picLocks noChangeAspect="1" noChangeArrowheads="1"/>
          </p:cNvPicPr>
          <p:nvPr/>
        </p:nvPicPr>
        <p:blipFill>
          <a:blip r:embed="rId1" cstate="print"/>
          <a:srcRect/>
          <a:stretch>
            <a:fillRect/>
          </a:stretch>
        </p:blipFill>
        <p:spPr bwMode="auto">
          <a:xfrm>
            <a:off x="1905000" y="1447800"/>
            <a:ext cx="3733800" cy="2895600"/>
          </a:xfrm>
          <a:prstGeom prst="rect">
            <a:avLst/>
          </a:prstGeom>
          <a:noFill/>
          <a:ln w="9525">
            <a:noFill/>
            <a:miter lim="800000"/>
            <a:headEnd/>
            <a:tailEnd/>
          </a:ln>
        </p:spPr>
      </p:pic>
      <p:sp>
        <p:nvSpPr>
          <p:cNvPr id="39940" name="Rectangle 7"/>
          <p:cNvSpPr>
            <a:spLocks noChangeArrowheads="1"/>
          </p:cNvSpPr>
          <p:nvPr/>
        </p:nvSpPr>
        <p:spPr bwMode="auto">
          <a:xfrm>
            <a:off x="0" y="0"/>
            <a:ext cx="9144000" cy="0"/>
          </a:xfrm>
          <a:prstGeom prst="rect">
            <a:avLst/>
          </a:prstGeom>
          <a:noFill/>
          <a:ln w="9525">
            <a:noFill/>
            <a:miter lim="800000"/>
          </a:ln>
        </p:spPr>
        <p:txBody>
          <a:bodyPr wrap="none" anchor="ctr">
            <a:spAutoFit/>
          </a:bodyPr>
          <a:lstStyle/>
          <a:p>
            <a:pPr algn="dist">
              <a:spcBef>
                <a:spcPct val="20000"/>
              </a:spcBef>
              <a:buFont typeface="Wingdings" panose="05000000000000000000" pitchFamily="2" charset="2"/>
              <a:buNone/>
            </a:pPr>
            <a:endParaRPr lang="zh-CN" altLang="en-US"/>
          </a:p>
        </p:txBody>
      </p:sp>
      <p:sp>
        <p:nvSpPr>
          <p:cNvPr id="39941" name="自选图形 893"/>
          <p:cNvSpPr>
            <a:spLocks noChangeArrowheads="1"/>
          </p:cNvSpPr>
          <p:nvPr/>
        </p:nvSpPr>
        <p:spPr bwMode="auto">
          <a:xfrm>
            <a:off x="228600" y="4572000"/>
            <a:ext cx="8534400" cy="2057400"/>
          </a:xfrm>
          <a:prstGeom prst="flowChartAlternateProcess">
            <a:avLst/>
          </a:prstGeom>
          <a:noFill/>
          <a:ln w="9525">
            <a:solidFill>
              <a:srgbClr val="000000"/>
            </a:solidFill>
            <a:prstDash val="lgDashDot"/>
            <a:miter lim="800000"/>
          </a:ln>
        </p:spPr>
        <p:txBody>
          <a:bodyPr lIns="74295" tIns="8890" rIns="74295" bIns="8890"/>
          <a:lstStyle/>
          <a:p>
            <a:pPr indent="200025" eaLnBrk="0" hangingPunct="0">
              <a:spcBef>
                <a:spcPct val="20000"/>
              </a:spcBef>
              <a:buFont typeface="Wingdings" panose="05000000000000000000" pitchFamily="2" charset="2"/>
              <a:buChar char="•"/>
            </a:pPr>
            <a:r>
              <a:rPr lang="en-US" altLang="zh-CN" sz="2000" b="1">
                <a:solidFill>
                  <a:srgbClr val="FF0000"/>
                </a:solidFill>
              </a:rPr>
              <a:t>【</a:t>
            </a:r>
            <a:r>
              <a:rPr lang="zh-CN" altLang="en-US" sz="2000" b="1">
                <a:solidFill>
                  <a:srgbClr val="FF0000"/>
                </a:solidFill>
              </a:rPr>
              <a:t>案例</a:t>
            </a:r>
            <a:r>
              <a:rPr lang="en-US" altLang="zh-CN" sz="2000" b="1">
                <a:solidFill>
                  <a:srgbClr val="FF0000"/>
                </a:solidFill>
              </a:rPr>
              <a:t>1-2】</a:t>
            </a:r>
            <a:r>
              <a:rPr lang="zh-CN" altLang="en-US" sz="2000" b="1">
                <a:solidFill>
                  <a:srgbClr val="C00000"/>
                </a:solidFill>
                <a:latin typeface="宋体" panose="02010600030101010101" pitchFamily="2" charset="-122"/>
              </a:rPr>
              <a:t>国家网络与信息安全中心紧急通报</a:t>
            </a:r>
            <a:r>
              <a:rPr lang="zh-CN" altLang="en-US" sz="2000" b="1">
                <a:solidFill>
                  <a:srgbClr val="333333"/>
                </a:solidFill>
                <a:latin typeface="宋体" panose="02010600030101010101" pitchFamily="2" charset="-122"/>
              </a:rPr>
              <a:t>：</a:t>
            </a:r>
            <a:r>
              <a:rPr lang="zh-CN" altLang="en-US" sz="2000" b="1">
                <a:solidFill>
                  <a:srgbClr val="000000"/>
                </a:solidFill>
              </a:rPr>
              <a:t> </a:t>
            </a:r>
            <a:r>
              <a:rPr lang="en-US" altLang="zh-CN" sz="2000" b="1">
                <a:solidFill>
                  <a:srgbClr val="000000"/>
                </a:solidFill>
              </a:rPr>
              <a:t>2017</a:t>
            </a:r>
            <a:r>
              <a:rPr lang="zh-CN" altLang="en-US" sz="2000" b="1">
                <a:solidFill>
                  <a:srgbClr val="000000"/>
                </a:solidFill>
                <a:latin typeface="宋体" panose="02010600030101010101" pitchFamily="2" charset="-122"/>
              </a:rPr>
              <a:t>年</a:t>
            </a:r>
            <a:r>
              <a:rPr lang="en-US" altLang="zh-CN" sz="2000" b="1">
                <a:solidFill>
                  <a:srgbClr val="000000"/>
                </a:solidFill>
              </a:rPr>
              <a:t>5</a:t>
            </a:r>
            <a:r>
              <a:rPr lang="zh-CN" altLang="en-US" sz="2000" b="1">
                <a:solidFill>
                  <a:srgbClr val="000000"/>
                </a:solidFill>
                <a:latin typeface="宋体" panose="02010600030101010101" pitchFamily="2" charset="-122"/>
              </a:rPr>
              <a:t>月</a:t>
            </a:r>
            <a:r>
              <a:rPr lang="en-US" altLang="zh-CN" sz="2000" b="1">
                <a:solidFill>
                  <a:srgbClr val="000000"/>
                </a:solidFill>
              </a:rPr>
              <a:t>12</a:t>
            </a:r>
            <a:r>
              <a:rPr lang="zh-CN" altLang="en-US" sz="2000" b="1">
                <a:solidFill>
                  <a:srgbClr val="000000"/>
                </a:solidFill>
                <a:latin typeface="宋体" panose="02010600030101010101" pitchFamily="2" charset="-122"/>
              </a:rPr>
              <a:t>日</a:t>
            </a:r>
            <a:r>
              <a:rPr lang="en-US" altLang="zh-CN" sz="2000" b="1">
                <a:solidFill>
                  <a:srgbClr val="000000"/>
                </a:solidFill>
              </a:rPr>
              <a:t>20</a:t>
            </a:r>
            <a:r>
              <a:rPr lang="zh-CN" altLang="en-US" sz="2000" b="1">
                <a:solidFill>
                  <a:srgbClr val="000000"/>
                </a:solidFill>
                <a:latin typeface="宋体" panose="02010600030101010101" pitchFamily="2" charset="-122"/>
              </a:rPr>
              <a:t>时左右，</a:t>
            </a:r>
            <a:r>
              <a:rPr lang="zh-CN" altLang="en-US" sz="2000" b="1">
                <a:solidFill>
                  <a:srgbClr val="C00000"/>
                </a:solidFill>
                <a:latin typeface="宋体" panose="02010600030101010101" pitchFamily="2" charset="-122"/>
              </a:rPr>
              <a:t>新型</a:t>
            </a:r>
            <a:r>
              <a:rPr lang="zh-CN" altLang="en-US" sz="2000" b="1">
                <a:solidFill>
                  <a:srgbClr val="C00000"/>
                </a:solidFill>
              </a:rPr>
              <a:t>“</a:t>
            </a:r>
            <a:r>
              <a:rPr lang="zh-CN" altLang="en-US" sz="2000" b="1">
                <a:solidFill>
                  <a:srgbClr val="C00000"/>
                </a:solidFill>
                <a:latin typeface="宋体" panose="02010600030101010101" pitchFamily="2" charset="-122"/>
              </a:rPr>
              <a:t>蠕虫</a:t>
            </a:r>
            <a:r>
              <a:rPr lang="zh-CN" altLang="en-US" sz="2000" b="1">
                <a:solidFill>
                  <a:srgbClr val="C00000"/>
                </a:solidFill>
              </a:rPr>
              <a:t>”</a:t>
            </a:r>
            <a:r>
              <a:rPr lang="zh-CN" altLang="en-US" sz="2000" b="1">
                <a:solidFill>
                  <a:srgbClr val="C00000"/>
                </a:solidFill>
                <a:latin typeface="宋体" panose="02010600030101010101" pitchFamily="2" charset="-122"/>
              </a:rPr>
              <a:t>式勒索病毒爆发</a:t>
            </a:r>
            <a:r>
              <a:rPr lang="zh-CN" altLang="en-US" sz="2000" b="1">
                <a:solidFill>
                  <a:srgbClr val="000000"/>
                </a:solidFill>
                <a:latin typeface="宋体" panose="02010600030101010101" pitchFamily="2" charset="-122"/>
              </a:rPr>
              <a:t>，目前已有</a:t>
            </a:r>
            <a:r>
              <a:rPr lang="en-US" altLang="zh-CN" sz="2000" b="1">
                <a:solidFill>
                  <a:srgbClr val="000000"/>
                </a:solidFill>
              </a:rPr>
              <a:t>100</a:t>
            </a:r>
            <a:r>
              <a:rPr lang="zh-CN" altLang="en-US" sz="2000" b="1">
                <a:solidFill>
                  <a:srgbClr val="000000"/>
                </a:solidFill>
                <a:latin typeface="宋体" panose="02010600030101010101" pitchFamily="2" charset="-122"/>
              </a:rPr>
              <a:t>多个国家和地区的数万台电脑遭该勒索病毒感染，我国部分</a:t>
            </a:r>
            <a:r>
              <a:rPr lang="en-US" altLang="zh-CN" sz="2000" b="1">
                <a:solidFill>
                  <a:srgbClr val="000000"/>
                </a:solidFill>
              </a:rPr>
              <a:t>Windows</a:t>
            </a:r>
            <a:r>
              <a:rPr lang="zh-CN" altLang="en-US" sz="2000" b="1">
                <a:solidFill>
                  <a:srgbClr val="000000"/>
                </a:solidFill>
                <a:latin typeface="宋体" panose="02010600030101010101" pitchFamily="2" charset="-122"/>
              </a:rPr>
              <a:t>系列操作系统用户已经遭到感染。请广大计算机用户尽快升级安装补丁，相关用户可打开并启用</a:t>
            </a:r>
            <a:r>
              <a:rPr lang="en-US" altLang="zh-CN" sz="2000" b="1">
                <a:solidFill>
                  <a:srgbClr val="000000"/>
                </a:solidFill>
              </a:rPr>
              <a:t>Windows</a:t>
            </a:r>
            <a:r>
              <a:rPr lang="zh-CN" altLang="en-US" sz="2000" b="1">
                <a:solidFill>
                  <a:srgbClr val="000000"/>
                </a:solidFill>
                <a:latin typeface="宋体" panose="02010600030101010101" pitchFamily="2" charset="-122"/>
              </a:rPr>
              <a:t>防火墙，进入</a:t>
            </a:r>
            <a:r>
              <a:rPr lang="zh-CN" altLang="en-US" sz="2000" b="1">
                <a:solidFill>
                  <a:srgbClr val="000000"/>
                </a:solidFill>
              </a:rPr>
              <a:t>“</a:t>
            </a:r>
            <a:r>
              <a:rPr lang="zh-CN" altLang="en-US" sz="2000" b="1">
                <a:solidFill>
                  <a:srgbClr val="000000"/>
                </a:solidFill>
                <a:latin typeface="宋体" panose="02010600030101010101" pitchFamily="2" charset="-122"/>
              </a:rPr>
              <a:t>高级设置</a:t>
            </a:r>
            <a:r>
              <a:rPr lang="zh-CN" altLang="en-US" sz="2000" b="1">
                <a:solidFill>
                  <a:srgbClr val="000000"/>
                </a:solidFill>
              </a:rPr>
              <a:t>”</a:t>
            </a:r>
            <a:r>
              <a:rPr lang="zh-CN" altLang="en-US" sz="2000" b="1">
                <a:solidFill>
                  <a:srgbClr val="000000"/>
                </a:solidFill>
                <a:latin typeface="宋体" panose="02010600030101010101" pitchFamily="2" charset="-122"/>
              </a:rPr>
              <a:t>，禁用</a:t>
            </a:r>
            <a:r>
              <a:rPr lang="zh-CN" altLang="en-US" sz="2000" b="1">
                <a:solidFill>
                  <a:srgbClr val="000000"/>
                </a:solidFill>
              </a:rPr>
              <a:t>“</a:t>
            </a:r>
            <a:r>
              <a:rPr lang="zh-CN" altLang="en-US" sz="2000" b="1">
                <a:solidFill>
                  <a:srgbClr val="000000"/>
                </a:solidFill>
                <a:latin typeface="宋体" panose="02010600030101010101" pitchFamily="2" charset="-122"/>
              </a:rPr>
              <a:t>文件和打印机共享</a:t>
            </a:r>
            <a:r>
              <a:rPr lang="zh-CN" altLang="en-US" sz="2000" b="1">
                <a:solidFill>
                  <a:srgbClr val="000000"/>
                </a:solidFill>
              </a:rPr>
              <a:t>”</a:t>
            </a:r>
            <a:r>
              <a:rPr lang="zh-CN" altLang="en-US" sz="2000" b="1">
                <a:solidFill>
                  <a:srgbClr val="000000"/>
                </a:solidFill>
                <a:latin typeface="宋体" panose="02010600030101010101" pitchFamily="2" charset="-122"/>
              </a:rPr>
              <a:t>设置；或启用个人防火墙关闭</a:t>
            </a:r>
            <a:r>
              <a:rPr lang="en-US" altLang="zh-CN" sz="2000" b="1">
                <a:solidFill>
                  <a:srgbClr val="000000"/>
                </a:solidFill>
              </a:rPr>
              <a:t>445</a:t>
            </a:r>
            <a:r>
              <a:rPr lang="zh-CN" altLang="en-US" sz="2000" b="1">
                <a:solidFill>
                  <a:srgbClr val="000000"/>
                </a:solidFill>
                <a:latin typeface="宋体" panose="02010600030101010101" pitchFamily="2" charset="-122"/>
              </a:rPr>
              <a:t>以及</a:t>
            </a:r>
            <a:r>
              <a:rPr lang="en-US" altLang="zh-CN" sz="2000" b="1">
                <a:solidFill>
                  <a:srgbClr val="000000"/>
                </a:solidFill>
              </a:rPr>
              <a:t>135</a:t>
            </a:r>
            <a:r>
              <a:rPr lang="zh-CN" altLang="en-US" sz="2000" b="1">
                <a:solidFill>
                  <a:srgbClr val="000000"/>
                </a:solidFill>
                <a:latin typeface="宋体" panose="02010600030101010101" pitchFamily="2" charset="-122"/>
              </a:rPr>
              <a:t>、</a:t>
            </a:r>
            <a:r>
              <a:rPr lang="en-US" altLang="zh-CN" sz="2000" b="1">
                <a:solidFill>
                  <a:srgbClr val="000000"/>
                </a:solidFill>
              </a:rPr>
              <a:t>137</a:t>
            </a:r>
            <a:r>
              <a:rPr lang="zh-CN" altLang="en-US" sz="2000" b="1">
                <a:solidFill>
                  <a:srgbClr val="000000"/>
                </a:solidFill>
                <a:latin typeface="宋体" panose="02010600030101010101" pitchFamily="2" charset="-122"/>
              </a:rPr>
              <a:t>、</a:t>
            </a:r>
            <a:r>
              <a:rPr lang="en-US" altLang="zh-CN" sz="2000" b="1">
                <a:solidFill>
                  <a:srgbClr val="000000"/>
                </a:solidFill>
              </a:rPr>
              <a:t>138</a:t>
            </a:r>
            <a:r>
              <a:rPr lang="zh-CN" altLang="en-US" sz="2000" b="1">
                <a:solidFill>
                  <a:srgbClr val="000000"/>
                </a:solidFill>
                <a:latin typeface="宋体" panose="02010600030101010101" pitchFamily="2" charset="-122"/>
              </a:rPr>
              <a:t>、</a:t>
            </a:r>
            <a:r>
              <a:rPr lang="en-US" altLang="zh-CN" sz="2000" b="1">
                <a:solidFill>
                  <a:srgbClr val="000000"/>
                </a:solidFill>
              </a:rPr>
              <a:t>139</a:t>
            </a:r>
            <a:r>
              <a:rPr lang="zh-CN" altLang="en-US" sz="2000" b="1">
                <a:solidFill>
                  <a:srgbClr val="000000"/>
                </a:solidFill>
                <a:latin typeface="宋体" panose="02010600030101010101" pitchFamily="2" charset="-122"/>
              </a:rPr>
              <a:t>等高风险端口。</a:t>
            </a:r>
            <a:endParaRPr lang="zh-CN" altLang="en-US" sz="2000" b="1"/>
          </a:p>
          <a:p>
            <a:pPr indent="200025" eaLnBrk="0" hangingPunct="0">
              <a:buFontTx/>
              <a:buChar char="•"/>
            </a:pPr>
            <a:endParaRPr lang="zh-CN" altLang="en-US" sz="2000" b="1"/>
          </a:p>
        </p:txBody>
      </p:sp>
      <p:pic>
        <p:nvPicPr>
          <p:cNvPr id="39942" name="Picture 7" descr="MC900429293[1]"/>
          <p:cNvPicPr>
            <a:picLocks noChangeAspect="1" noChangeArrowheads="1"/>
          </p:cNvPicPr>
          <p:nvPr/>
        </p:nvPicPr>
        <p:blipFill>
          <a:blip r:embed="rId2" cstate="print"/>
          <a:srcRect/>
          <a:stretch>
            <a:fillRect/>
          </a:stretch>
        </p:blipFill>
        <p:spPr bwMode="auto">
          <a:xfrm>
            <a:off x="6705600" y="2209800"/>
            <a:ext cx="1531938" cy="1366838"/>
          </a:xfrm>
          <a:prstGeom prst="rect">
            <a:avLst/>
          </a:prstGeom>
          <a:noFill/>
          <a:ln w="9525">
            <a:noFill/>
            <a:miter lim="800000"/>
            <a:headEnd/>
            <a:tailEnd/>
          </a:ln>
        </p:spPr>
      </p:pic>
      <p:sp>
        <p:nvSpPr>
          <p:cNvPr id="10" name="圆角矩形 9"/>
          <p:cNvSpPr/>
          <p:nvPr/>
        </p:nvSpPr>
        <p:spPr bwMode="gray">
          <a:xfrm>
            <a:off x="685800" y="4495800"/>
            <a:ext cx="1295400" cy="485775"/>
          </a:xfrm>
          <a:prstGeom prst="roundRect">
            <a:avLst/>
          </a:prstGeom>
        </p:spPr>
        <p:style>
          <a:lnRef idx="0">
            <a:schemeClr val="accent2"/>
          </a:lnRef>
          <a:fillRef idx="3">
            <a:schemeClr val="accent2"/>
          </a:fillRef>
          <a:effectRef idx="3">
            <a:schemeClr val="accent2"/>
          </a:effectRef>
          <a:fontRef idx="minor">
            <a:schemeClr val="lt1"/>
          </a:fontRef>
        </p:style>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Font typeface="Wingdings" panose="05000000000000000000" pitchFamily="2" charset="2"/>
              <a:buNone/>
              <a:defRPr/>
            </a:pPr>
            <a:r>
              <a:rPr lang="zh-CN" altLang="en-US" sz="2000" dirty="0" smtClean="0">
                <a:solidFill>
                  <a:srgbClr val="002060"/>
                </a:solidFill>
                <a:latin typeface="宋体" panose="02010600030101010101" pitchFamily="2" charset="-122"/>
              </a:rPr>
              <a:t>案例</a:t>
            </a:r>
            <a:r>
              <a:rPr lang="en-US" altLang="zh-CN" sz="2000" dirty="0" smtClean="0">
                <a:solidFill>
                  <a:srgbClr val="002060"/>
                </a:solidFill>
                <a:latin typeface="宋体" panose="02010600030101010101" pitchFamily="2" charset="-122"/>
              </a:rPr>
              <a:t>1-2</a:t>
            </a:r>
            <a:endParaRPr lang="zh-CN" altLang="en-US" sz="2000" dirty="0" smtClean="0">
              <a:solidFill>
                <a:srgbClr val="002060"/>
              </a:solidFill>
              <a:latin typeface="宋体" panose="02010600030101010101" pitchFamily="2" charset="-122"/>
            </a:endParaRPr>
          </a:p>
        </p:txBody>
      </p:sp>
      <p:sp>
        <p:nvSpPr>
          <p:cNvPr id="7177" name="Rectangle 2"/>
          <p:cNvSpPr txBox="1">
            <a:spLocks noChangeArrowheads="1"/>
          </p:cNvSpPr>
          <p:nvPr/>
        </p:nvSpPr>
        <p:spPr bwMode="white">
          <a:xfrm>
            <a:off x="576263" y="188913"/>
            <a:ext cx="8305800" cy="563562"/>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en-US" altLang="zh-CN" sz="3200" dirty="0" smtClean="0">
                <a:solidFill>
                  <a:schemeClr val="bg1"/>
                </a:solidFill>
              </a:rPr>
              <a:t>1.</a:t>
            </a:r>
            <a:r>
              <a:rPr sz="3200" dirty="0" smtClean="0">
                <a:solidFill>
                  <a:schemeClr val="bg1"/>
                </a:solidFill>
              </a:rPr>
              <a:t>2  网络安全的概念、特点和内容</a:t>
            </a:r>
            <a:endParaRPr sz="3200" dirty="0" smtClean="0">
              <a:solidFill>
                <a:schemeClr val="bg1"/>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内容占位符 2"/>
          <p:cNvSpPr>
            <a:spLocks noGrp="1" noChangeArrowheads="1"/>
          </p:cNvSpPr>
          <p:nvPr>
            <p:ph idx="4294967295"/>
          </p:nvPr>
        </p:nvSpPr>
        <p:spPr>
          <a:xfrm>
            <a:off x="457200" y="1268413"/>
            <a:ext cx="8153400" cy="1439862"/>
          </a:xfrm>
        </p:spPr>
        <p:txBody>
          <a:bodyPr/>
          <a:lstStyle/>
          <a:p>
            <a:endParaRPr lang="en-US" altLang="zh-CN" sz="2400" smtClean="0"/>
          </a:p>
          <a:p>
            <a:pPr eaLnBrk="1" hangingPunct="1">
              <a:spcBef>
                <a:spcPts val="600"/>
              </a:spcBef>
              <a:spcAft>
                <a:spcPts val="600"/>
              </a:spcAft>
              <a:buFont typeface="Wingdings" panose="05000000000000000000" pitchFamily="2" charset="2"/>
              <a:buNone/>
            </a:pPr>
            <a:r>
              <a:rPr lang="zh-CN" altLang="en-US" sz="1800" smtClean="0">
                <a:solidFill>
                  <a:srgbClr val="FF0000"/>
                </a:solidFill>
              </a:rPr>
              <a:t>   </a:t>
            </a:r>
            <a:endParaRPr lang="zh-CN" altLang="en-US" sz="1800" smtClean="0">
              <a:solidFill>
                <a:srgbClr val="FF0000"/>
              </a:solidFill>
            </a:endParaRPr>
          </a:p>
        </p:txBody>
      </p:sp>
      <p:sp>
        <p:nvSpPr>
          <p:cNvPr id="5" name="圆角矩形 4"/>
          <p:cNvSpPr/>
          <p:nvPr/>
        </p:nvSpPr>
        <p:spPr bwMode="gray">
          <a:xfrm>
            <a:off x="287338" y="1143000"/>
            <a:ext cx="8640762" cy="5257800"/>
          </a:xfrm>
          <a:prstGeom prst="roundRect">
            <a:avLst/>
          </a:prstGeom>
        </p:spPr>
        <p:style>
          <a:lnRef idx="2">
            <a:schemeClr val="accent1"/>
          </a:lnRef>
          <a:fillRef idx="1">
            <a:schemeClr val="lt1"/>
          </a:fillRef>
          <a:effectRef idx="0">
            <a:schemeClr val="accent1"/>
          </a:effectRef>
          <a:fontRef idx="minor">
            <a:schemeClr val="dk1"/>
          </a:fontRef>
        </p:style>
        <p:txBody>
          <a:bodyPr anchor="ctr" anchorCtr="1"/>
          <a:lstStyle/>
          <a:p>
            <a:pPr indent="457200">
              <a:lnSpc>
                <a:spcPct val="90000"/>
              </a:lnSpc>
              <a:spcBef>
                <a:spcPts val="0"/>
              </a:spcBef>
              <a:spcAft>
                <a:spcPts val="0"/>
              </a:spcAft>
              <a:defRPr/>
            </a:pPr>
            <a:r>
              <a:rPr lang="zh-CN" altLang="en-US" sz="2200" b="1" dirty="0">
                <a:solidFill>
                  <a:srgbClr val="990033"/>
                </a:solidFill>
                <a:latin typeface="Arial" panose="020B0604020202020204" pitchFamily="34" charset="0"/>
              </a:rPr>
              <a:t>网络安全涉及的内容</a:t>
            </a:r>
            <a:r>
              <a:rPr lang="zh-CN" altLang="en-US" sz="2200" b="1" dirty="0">
                <a:solidFill>
                  <a:schemeClr val="tx1"/>
                </a:solidFill>
                <a:latin typeface="Arial" panose="020B0604020202020204" pitchFamily="34" charset="0"/>
              </a:rPr>
              <a:t>包括技术和管理等多个方面，需要相互补充、综合协同防范。技术方面主要侧重于防范外部非法攻击，管理方面则侧重于内部人为因素的管理。更有效地保护重要数据、提高网络系统的安全性，已成为必须解决的一个重要问题。</a:t>
            </a:r>
            <a:endParaRPr lang="zh-CN" altLang="en-US" sz="2200" b="1" dirty="0">
              <a:solidFill>
                <a:schemeClr val="tx1"/>
              </a:solidFill>
              <a:latin typeface="Arial" panose="020B0604020202020204" pitchFamily="34" charset="0"/>
            </a:endParaRPr>
          </a:p>
          <a:p>
            <a:pPr indent="457200">
              <a:lnSpc>
                <a:spcPct val="90000"/>
              </a:lnSpc>
              <a:spcBef>
                <a:spcPts val="0"/>
              </a:spcBef>
              <a:spcAft>
                <a:spcPts val="0"/>
              </a:spcAft>
              <a:defRPr/>
            </a:pPr>
            <a:r>
              <a:rPr lang="zh-CN" altLang="en-US" sz="2200" b="1" dirty="0">
                <a:solidFill>
                  <a:srgbClr val="990033"/>
                </a:solidFill>
                <a:ea typeface="+mn-lt"/>
              </a:rPr>
              <a:t>网络安全的</a:t>
            </a:r>
            <a:r>
              <a:rPr lang="zh-CN" altLang="en-US" sz="2200" b="1" dirty="0">
                <a:solidFill>
                  <a:srgbClr val="FF0000"/>
                </a:solidFill>
                <a:ea typeface="+mn-lt"/>
              </a:rPr>
              <a:t>关键及核心</a:t>
            </a:r>
            <a:r>
              <a:rPr lang="zh-CN" altLang="en-US" sz="2200" b="1" dirty="0">
                <a:solidFill>
                  <a:schemeClr val="tx1"/>
                </a:solidFill>
                <a:ea typeface="+mn-lt"/>
              </a:rPr>
              <a:t>是确保网络系统中的信息安全，凡涉及网络信息的可靠性、保密性、完整性、有效性、可控性和可审查性的理论、技术与管理都属于</a:t>
            </a:r>
            <a:r>
              <a:rPr lang="zh-CN" altLang="en-US" sz="2200" b="1" dirty="0">
                <a:solidFill>
                  <a:srgbClr val="990033"/>
                </a:solidFill>
                <a:ea typeface="+mn-lt"/>
              </a:rPr>
              <a:t>网络安全的</a:t>
            </a:r>
            <a:r>
              <a:rPr lang="zh-CN" altLang="en-US" sz="2200" b="1" dirty="0">
                <a:solidFill>
                  <a:srgbClr val="FF0000"/>
                </a:solidFill>
                <a:ea typeface="+mn-lt"/>
              </a:rPr>
              <a:t>研究范畴</a:t>
            </a:r>
            <a:r>
              <a:rPr lang="zh-CN" altLang="en-US" sz="2200" b="1" dirty="0">
                <a:solidFill>
                  <a:schemeClr val="tx1"/>
                </a:solidFill>
                <a:ea typeface="+mn-lt"/>
              </a:rPr>
              <a:t>，不同人员或部门对</a:t>
            </a:r>
            <a:r>
              <a:rPr lang="zh-CN" altLang="en-US" sz="2200" b="1" dirty="0">
                <a:solidFill>
                  <a:srgbClr val="990033"/>
                </a:solidFill>
                <a:ea typeface="+mn-lt"/>
              </a:rPr>
              <a:t>网络安全</a:t>
            </a:r>
            <a:r>
              <a:rPr lang="zh-CN" altLang="en-US" sz="2200" b="1" dirty="0">
                <a:solidFill>
                  <a:srgbClr val="FF0000"/>
                </a:solidFill>
                <a:ea typeface="+mn-lt"/>
              </a:rPr>
              <a:t>内容的侧重点</a:t>
            </a:r>
            <a:r>
              <a:rPr lang="zh-CN" altLang="en-US" sz="2200" b="1" dirty="0">
                <a:solidFill>
                  <a:schemeClr val="tx1"/>
                </a:solidFill>
                <a:ea typeface="+mn-lt"/>
              </a:rPr>
              <a:t>有所不同。</a:t>
            </a:r>
            <a:endParaRPr lang="zh-CN" altLang="en-US" sz="2200" b="1" dirty="0">
              <a:solidFill>
                <a:schemeClr val="tx1"/>
              </a:solidFill>
              <a:ea typeface="+mn-lt"/>
            </a:endParaRPr>
          </a:p>
          <a:p>
            <a:pPr indent="457200">
              <a:lnSpc>
                <a:spcPct val="90000"/>
              </a:lnSpc>
              <a:spcBef>
                <a:spcPts val="0"/>
              </a:spcBef>
              <a:spcAft>
                <a:spcPts val="0"/>
              </a:spcAft>
              <a:defRPr/>
            </a:pPr>
            <a:r>
              <a:rPr lang="zh-CN" altLang="en-US" sz="2200" b="1" dirty="0">
                <a:solidFill>
                  <a:schemeClr val="tx1"/>
                </a:solidFill>
                <a:ea typeface="+mn-lt"/>
              </a:rPr>
              <a:t>1）网络安全工程人员。从实际应用角度出发，更注重成熟的网络安全解决方案和新型产品，注重网络安全工程建设开发与管理、安全防范工具、操作系统防护技术和安全应急处理措施等。</a:t>
            </a:r>
            <a:endParaRPr lang="zh-CN" altLang="en-US" sz="2200" b="1" dirty="0">
              <a:solidFill>
                <a:schemeClr val="tx1"/>
              </a:solidFill>
              <a:ea typeface="+mn-lt"/>
            </a:endParaRPr>
          </a:p>
          <a:p>
            <a:pPr indent="457200">
              <a:lnSpc>
                <a:spcPct val="90000"/>
              </a:lnSpc>
              <a:spcBef>
                <a:spcPts val="0"/>
              </a:spcBef>
              <a:spcAft>
                <a:spcPts val="0"/>
              </a:spcAft>
              <a:defRPr/>
            </a:pPr>
            <a:r>
              <a:rPr lang="zh-CN" altLang="en-US" sz="2200" b="1" dirty="0">
                <a:solidFill>
                  <a:schemeClr val="tx1"/>
                </a:solidFill>
                <a:ea typeface="+mn-lt"/>
              </a:rPr>
              <a:t>2）网络安全研究人员。注重从理论上采用数学等方法精确描述安全问题的特征，之后通过安全模型等解决具体网络安全问题。</a:t>
            </a:r>
            <a:endParaRPr lang="zh-CN" altLang="en-US" sz="2200" b="1" dirty="0">
              <a:solidFill>
                <a:schemeClr val="tx1"/>
              </a:solidFill>
              <a:ea typeface="+mn-lt"/>
            </a:endParaRPr>
          </a:p>
          <a:p>
            <a:pPr indent="457200">
              <a:lnSpc>
                <a:spcPct val="90000"/>
              </a:lnSpc>
              <a:spcBef>
                <a:spcPts val="0"/>
              </a:spcBef>
              <a:spcAft>
                <a:spcPts val="0"/>
              </a:spcAft>
              <a:defRPr/>
            </a:pPr>
            <a:r>
              <a:rPr lang="zh-CN" altLang="en-US" sz="2200" b="1" dirty="0">
                <a:solidFill>
                  <a:schemeClr val="tx1"/>
                </a:solidFill>
                <a:ea typeface="+mn-lt"/>
              </a:rPr>
              <a:t>3）网络安全评估人员。主要关注网络安全评价标准与准则、安全等级划分、安全产品测评方法与工具、网络信息采集、网络攻击及防御技术和采取的有效措施等。</a:t>
            </a:r>
            <a:endParaRPr lang="zh-CN" altLang="en-US" sz="2200" b="1" dirty="0">
              <a:solidFill>
                <a:schemeClr val="tx1"/>
              </a:solidFill>
              <a:ea typeface="+mn-lt"/>
            </a:endParaRPr>
          </a:p>
        </p:txBody>
      </p:sp>
      <p:pic>
        <p:nvPicPr>
          <p:cNvPr id="40963" name="Picture 5" descr="C:\Users\Administrator\Desktop\图标.jpg"/>
          <p:cNvPicPr>
            <a:picLocks noChangeAspect="1" noChangeArrowheads="1"/>
          </p:cNvPicPr>
          <p:nvPr/>
        </p:nvPicPr>
        <p:blipFill>
          <a:blip r:embed="rId1" cstate="print"/>
          <a:srcRect/>
          <a:stretch>
            <a:fillRect/>
          </a:stretch>
        </p:blipFill>
        <p:spPr bwMode="auto">
          <a:xfrm>
            <a:off x="5791200" y="5943600"/>
            <a:ext cx="1152525" cy="714375"/>
          </a:xfrm>
          <a:prstGeom prst="rect">
            <a:avLst/>
          </a:prstGeom>
          <a:noFill/>
          <a:ln w="9525">
            <a:noFill/>
            <a:miter lim="800000"/>
            <a:headEnd/>
            <a:tailEnd/>
          </a:ln>
        </p:spPr>
      </p:pic>
      <p:sp>
        <p:nvSpPr>
          <p:cNvPr id="7177" name="Rectangle 2"/>
          <p:cNvSpPr txBox="1">
            <a:spLocks noChangeArrowheads="1"/>
          </p:cNvSpPr>
          <p:nvPr/>
        </p:nvSpPr>
        <p:spPr bwMode="white">
          <a:xfrm>
            <a:off x="576263" y="188913"/>
            <a:ext cx="8305800" cy="563562"/>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en-US" altLang="zh-CN" sz="3200" dirty="0" smtClean="0">
                <a:solidFill>
                  <a:schemeClr val="bg1"/>
                </a:solidFill>
              </a:rPr>
              <a:t>1.</a:t>
            </a:r>
            <a:r>
              <a:rPr sz="3200" dirty="0" smtClean="0">
                <a:solidFill>
                  <a:schemeClr val="bg1"/>
                </a:solidFill>
              </a:rPr>
              <a:t>2  网络安全的概念、特点和内容</a:t>
            </a:r>
            <a:endParaRPr sz="3200" dirty="0" smtClean="0">
              <a:solidFill>
                <a:schemeClr val="bg1"/>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 167"/>
          <p:cNvSpPr/>
          <p:nvPr/>
        </p:nvSpPr>
        <p:spPr>
          <a:xfrm>
            <a:off x="347341" y="1219201"/>
            <a:ext cx="8351520" cy="5257800"/>
          </a:xfrm>
          <a:prstGeom prst="roundRect">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lnSpc>
                <a:spcPct val="90000"/>
              </a:lnSpc>
              <a:spcBef>
                <a:spcPts val="0"/>
              </a:spcBef>
              <a:spcAft>
                <a:spcPts val="0"/>
              </a:spcAft>
              <a:buFont typeface="Wingdings" panose="05000000000000000000" pitchFamily="2" charset="2"/>
              <a:buNone/>
              <a:defRPr/>
            </a:pPr>
            <a:r>
              <a:rPr lang="en-US" altLang="zh-CN" sz="2000" b="1" noProof="1">
                <a:solidFill>
                  <a:srgbClr val="C00000"/>
                </a:solidFill>
              </a:rPr>
              <a:t>4）网络管理员或安全管理员。</a:t>
            </a:r>
            <a:r>
              <a:rPr lang="en-US" altLang="zh-CN" sz="2000" b="1" noProof="1">
                <a:solidFill>
                  <a:schemeClr val="tx1"/>
                </a:solidFill>
              </a:rPr>
              <a:t>主要侧重网络安全管理策略、身份认证、访问控制、入侵检测、防御与加固、网络安全审计、应急响应和计算机病毒防治等安全技术和措施。主要职责是配置与维护网络，在保护授权用户方便快捷地访问网络资源的同时，必须防范非法访问、病毒感染、黑客攻击、服务中断和垃圾邮件等各种威胁，一旦系统遭到破坏，致使数据或文件造成损失，可以采取相应的应急响应和恢复等措施。</a:t>
            </a:r>
            <a:endParaRPr lang="en-US" altLang="zh-CN" sz="2000" b="1" noProof="1">
              <a:solidFill>
                <a:schemeClr val="tx1"/>
              </a:solidFill>
            </a:endParaRPr>
          </a:p>
          <a:p>
            <a:pPr indent="457200" eaLnBrk="1" fontAlgn="auto" hangingPunct="1">
              <a:lnSpc>
                <a:spcPct val="90000"/>
              </a:lnSpc>
              <a:spcBef>
                <a:spcPts val="0"/>
              </a:spcBef>
              <a:spcAft>
                <a:spcPts val="0"/>
              </a:spcAft>
              <a:buFont typeface="Wingdings" panose="05000000000000000000" pitchFamily="2" charset="2"/>
              <a:buNone/>
              <a:defRPr/>
            </a:pPr>
            <a:r>
              <a:rPr lang="en-US" altLang="zh-CN" sz="2000" b="1" noProof="1">
                <a:solidFill>
                  <a:srgbClr val="C00000"/>
                </a:solidFill>
              </a:rPr>
              <a:t>5）国家安全保密人员。</a:t>
            </a:r>
            <a:r>
              <a:rPr lang="en-US" altLang="zh-CN" sz="2000" b="1" noProof="1">
                <a:solidFill>
                  <a:schemeClr val="tx1"/>
                </a:solidFill>
              </a:rPr>
              <a:t>注重网络信息泄露、窃听和过滤的各种技术手段，以避免涉及国家政治、军事、经济等重要机密信息的无意或有意泄露；抑制和过滤威胁国家安全的暴力与邪教等信息传播，以免给国家的稳定带来不利的影响，甚至危害国家安全。</a:t>
            </a:r>
            <a:endParaRPr lang="en-US" altLang="zh-CN" sz="2000" b="1" noProof="1">
              <a:solidFill>
                <a:schemeClr val="tx1"/>
              </a:solidFill>
            </a:endParaRPr>
          </a:p>
          <a:p>
            <a:pPr indent="457200" eaLnBrk="1" fontAlgn="auto" hangingPunct="1">
              <a:lnSpc>
                <a:spcPct val="90000"/>
              </a:lnSpc>
              <a:spcBef>
                <a:spcPts val="0"/>
              </a:spcBef>
              <a:spcAft>
                <a:spcPts val="0"/>
              </a:spcAft>
              <a:buFont typeface="Wingdings" panose="05000000000000000000" pitchFamily="2" charset="2"/>
              <a:buNone/>
              <a:defRPr/>
            </a:pPr>
            <a:r>
              <a:rPr lang="en-US" altLang="zh-CN" sz="2000" b="1" noProof="1">
                <a:solidFill>
                  <a:srgbClr val="C00000"/>
                </a:solidFill>
              </a:rPr>
              <a:t>6）国防军事相关人员。</a:t>
            </a:r>
            <a:r>
              <a:rPr lang="en-US" altLang="zh-CN" sz="2000" b="1" noProof="1">
                <a:solidFill>
                  <a:schemeClr val="tx1"/>
                </a:solidFill>
              </a:rPr>
              <a:t>更关心信息对抗、信息加密、安全通信协议、无线网络安全、入侵攻击、应急处理和网络病毒传播等网络安全综合技术，以此夺取网络信息优势、扰乱敌方指挥系统、摧毁敌方网络基础设施，打赢未来信息战争。</a:t>
            </a:r>
            <a:endParaRPr lang="en-US" altLang="zh-CN" sz="2000" b="1" noProof="1">
              <a:solidFill>
                <a:schemeClr val="tx1"/>
              </a:solidFill>
            </a:endParaRPr>
          </a:p>
          <a:p>
            <a:pPr indent="457200" eaLnBrk="1" fontAlgn="auto" hangingPunct="1">
              <a:lnSpc>
                <a:spcPct val="90000"/>
              </a:lnSpc>
              <a:spcBef>
                <a:spcPts val="0"/>
              </a:spcBef>
              <a:spcAft>
                <a:spcPts val="0"/>
              </a:spcAft>
              <a:buFont typeface="Wingdings" panose="05000000000000000000" pitchFamily="2" charset="2"/>
              <a:buNone/>
              <a:defRPr/>
            </a:pPr>
            <a:r>
              <a:rPr lang="zh-CN" altLang="en-US" sz="2000" b="1"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000" b="1" noProof="1">
                <a:solidFill>
                  <a:srgbClr val="FF0000"/>
                </a:solidFill>
              </a:rPr>
              <a:t>注意：</a:t>
            </a:r>
            <a:r>
              <a:rPr lang="en-US" altLang="zh-CN" sz="2000" b="1" noProof="1">
                <a:solidFill>
                  <a:schemeClr val="tx1"/>
                </a:solidFill>
                <a:latin typeface="楷体_GB2312" pitchFamily="49" charset="-122"/>
                <a:ea typeface="楷体_GB2312" pitchFamily="49" charset="-122"/>
              </a:rPr>
              <a:t>所有网络用户都应关心网络安全问题，注意保护个人隐私和商业信息不被窃取、篡改、破坏和非法存取，确保网络信息的保密性、完整性、有效性和可审查性。</a:t>
            </a:r>
            <a:endParaRPr lang="en-US" altLang="zh-CN" sz="2000" b="1" noProof="1">
              <a:solidFill>
                <a:schemeClr val="tx1"/>
              </a:solidFill>
              <a:latin typeface="楷体_GB2312" pitchFamily="49" charset="-122"/>
              <a:ea typeface="楷体_GB2312" pitchFamily="49" charset="-122"/>
            </a:endParaRPr>
          </a:p>
        </p:txBody>
      </p:sp>
      <p:sp>
        <p:nvSpPr>
          <p:cNvPr id="7177" name="Rectangle 2"/>
          <p:cNvSpPr txBox="1">
            <a:spLocks noChangeArrowheads="1"/>
          </p:cNvSpPr>
          <p:nvPr/>
        </p:nvSpPr>
        <p:spPr bwMode="white">
          <a:xfrm>
            <a:off x="576263" y="188913"/>
            <a:ext cx="8305800" cy="563562"/>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en-US" altLang="zh-CN" sz="3200" dirty="0" smtClean="0">
                <a:solidFill>
                  <a:schemeClr val="bg1"/>
                </a:solidFill>
              </a:rPr>
              <a:t>1.</a:t>
            </a:r>
            <a:r>
              <a:rPr sz="3200" dirty="0" smtClean="0">
                <a:solidFill>
                  <a:schemeClr val="bg1"/>
                </a:solidFill>
              </a:rPr>
              <a:t>2  网络安全的概念、特点和内容</a:t>
            </a:r>
            <a:endParaRPr sz="3200" dirty="0" smtClean="0">
              <a:solidFill>
                <a:schemeClr val="bg1"/>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内容占位符 2"/>
          <p:cNvSpPr>
            <a:spLocks noGrp="1" noChangeArrowheads="1"/>
          </p:cNvSpPr>
          <p:nvPr>
            <p:ph idx="4294967295"/>
          </p:nvPr>
        </p:nvSpPr>
        <p:spPr>
          <a:xfrm>
            <a:off x="762000" y="1066800"/>
            <a:ext cx="8153400" cy="468313"/>
          </a:xfrm>
        </p:spPr>
        <p:txBody>
          <a:bodyPr/>
          <a:lstStyle/>
          <a:p>
            <a:pPr>
              <a:spcBef>
                <a:spcPct val="0"/>
              </a:spcBef>
            </a:pPr>
            <a:r>
              <a:rPr lang="en-US" altLang="zh-CN" sz="2400" smtClean="0">
                <a:solidFill>
                  <a:srgbClr val="FF0000"/>
                </a:solidFill>
              </a:rPr>
              <a:t>1.</a:t>
            </a:r>
            <a:r>
              <a:rPr lang="zh-CN" altLang="en-US" sz="2400" smtClean="0">
                <a:solidFill>
                  <a:srgbClr val="FF0000"/>
                </a:solidFill>
              </a:rPr>
              <a:t> 网络安全技术概念和通用技术</a:t>
            </a:r>
            <a:endParaRPr lang="zh-CN" altLang="en-US" sz="2400" smtClean="0">
              <a:solidFill>
                <a:srgbClr val="CC0000"/>
              </a:solidFill>
            </a:endParaRPr>
          </a:p>
        </p:txBody>
      </p:sp>
      <p:sp>
        <p:nvSpPr>
          <p:cNvPr id="5" name="圆角矩形 4"/>
          <p:cNvSpPr/>
          <p:nvPr/>
        </p:nvSpPr>
        <p:spPr bwMode="gray">
          <a:xfrm>
            <a:off x="358775" y="1520825"/>
            <a:ext cx="8534400" cy="5076825"/>
          </a:xfrm>
          <a:prstGeom prst="roundRect">
            <a:avLst/>
          </a:prstGeom>
        </p:spPr>
        <p:style>
          <a:lnRef idx="2">
            <a:schemeClr val="accent1"/>
          </a:lnRef>
          <a:fillRef idx="1">
            <a:schemeClr val="lt1"/>
          </a:fillRef>
          <a:effectRef idx="0">
            <a:schemeClr val="accent1"/>
          </a:effectRef>
          <a:fontRef idx="minor">
            <a:schemeClr val="dk1"/>
          </a:fontRef>
        </p:style>
        <p:txBody>
          <a:bodyPr anchor="ctr" anchorCtr="1"/>
          <a:lstStyle/>
          <a:p>
            <a:pPr indent="457200">
              <a:spcBef>
                <a:spcPts val="0"/>
              </a:spcBef>
              <a:spcAft>
                <a:spcPts val="0"/>
              </a:spcAft>
              <a:defRPr/>
            </a:pPr>
            <a:r>
              <a:rPr lang="zh-CN" altLang="en-US" sz="2200" b="1" dirty="0">
                <a:solidFill>
                  <a:srgbClr val="CC0000"/>
                </a:solidFill>
                <a:latin typeface="Arial" panose="020B0604020202020204" pitchFamily="34" charset="0"/>
              </a:rPr>
              <a:t>（</a:t>
            </a:r>
            <a:r>
              <a:rPr lang="en-US" altLang="zh-CN" sz="2200" b="1" dirty="0">
                <a:solidFill>
                  <a:srgbClr val="CC0000"/>
                </a:solidFill>
                <a:latin typeface="Arial" panose="020B0604020202020204" pitchFamily="34" charset="0"/>
              </a:rPr>
              <a:t>1</a:t>
            </a:r>
            <a:r>
              <a:rPr lang="zh-CN" altLang="en-US" sz="2200" b="1" dirty="0">
                <a:solidFill>
                  <a:srgbClr val="CC0000"/>
                </a:solidFill>
                <a:latin typeface="Arial" panose="020B0604020202020204" pitchFamily="34" charset="0"/>
              </a:rPr>
              <a:t>）</a:t>
            </a:r>
            <a:r>
              <a:rPr lang="en-US" altLang="zh-CN" sz="2200" b="1" dirty="0">
                <a:solidFill>
                  <a:srgbClr val="CC0000"/>
                </a:solidFill>
                <a:latin typeface="Arial" panose="020B0604020202020204" pitchFamily="34" charset="0"/>
              </a:rPr>
              <a:t> </a:t>
            </a:r>
            <a:r>
              <a:rPr lang="zh-CN" altLang="en-US" sz="2200" b="1" dirty="0">
                <a:solidFill>
                  <a:srgbClr val="CC0000"/>
                </a:solidFill>
                <a:latin typeface="Arial" panose="020B0604020202020204" pitchFamily="34" charset="0"/>
              </a:rPr>
              <a:t>网络安全技术相关概念</a:t>
            </a:r>
            <a:endParaRPr lang="zh-CN" altLang="en-US" sz="2200" b="1" dirty="0">
              <a:solidFill>
                <a:srgbClr val="CC0000"/>
              </a:solidFill>
              <a:latin typeface="Arial" panose="020B0604020202020204" pitchFamily="34" charset="0"/>
            </a:endParaRPr>
          </a:p>
          <a:p>
            <a:pPr indent="457200">
              <a:spcBef>
                <a:spcPts val="0"/>
              </a:spcBef>
              <a:spcAft>
                <a:spcPts val="0"/>
              </a:spcAft>
              <a:defRPr/>
            </a:pPr>
            <a:r>
              <a:rPr lang="zh-CN" altLang="en-US" sz="2200" b="1" u="sng" dirty="0">
                <a:solidFill>
                  <a:srgbClr val="FF0000"/>
                </a:solidFill>
                <a:latin typeface="Arial" panose="020B0604020202020204" pitchFamily="34" charset="0"/>
                <a:ea typeface="黑体" panose="02010609060101010101" pitchFamily="49" charset="-122"/>
              </a:rPr>
              <a:t>网络安全技术</a:t>
            </a:r>
            <a:r>
              <a:rPr lang="en-US" altLang="zh-CN" sz="2200" b="1" dirty="0">
                <a:solidFill>
                  <a:srgbClr val="FF0000"/>
                </a:solidFill>
                <a:latin typeface="Times New Roman" panose="02020603050405020304" pitchFamily="18" charset="0"/>
                <a:cs typeface="Times New Roman" panose="02020603050405020304" pitchFamily="18" charset="0"/>
              </a:rPr>
              <a:t>(Network Security Technology)</a:t>
            </a:r>
            <a:r>
              <a:rPr lang="zh-CN" altLang="en-US" sz="2200" b="1" dirty="0">
                <a:solidFill>
                  <a:schemeClr val="tx1"/>
                </a:solidFill>
                <a:latin typeface="Arial" panose="020B0604020202020204" pitchFamily="34" charset="0"/>
              </a:rPr>
              <a:t>是指为解决网络安全问题进行有效监控和管理</a:t>
            </a:r>
            <a:r>
              <a:rPr lang="en-US" altLang="zh-CN" sz="2200" b="1" dirty="0">
                <a:solidFill>
                  <a:schemeClr val="tx1"/>
                </a:solidFill>
                <a:latin typeface="Arial" panose="020B0604020202020204" pitchFamily="34" charset="0"/>
              </a:rPr>
              <a:t>,</a:t>
            </a:r>
            <a:r>
              <a:rPr lang="zh-CN" altLang="en-US" sz="2200" b="1" dirty="0">
                <a:solidFill>
                  <a:schemeClr val="tx1"/>
                </a:solidFill>
                <a:latin typeface="Arial" panose="020B0604020202020204" pitchFamily="34" charset="0"/>
              </a:rPr>
              <a:t>保障数据及系统安全的技术手段</a:t>
            </a:r>
            <a:r>
              <a:rPr lang="en-US" altLang="zh-CN" sz="2200" b="1" dirty="0">
                <a:solidFill>
                  <a:schemeClr val="tx1"/>
                </a:solidFill>
                <a:latin typeface="Arial" panose="020B0604020202020204" pitchFamily="34" charset="0"/>
              </a:rPr>
              <a:t>.</a:t>
            </a:r>
            <a:r>
              <a:rPr lang="zh-CN" altLang="en-US" sz="2200" b="1" dirty="0">
                <a:solidFill>
                  <a:srgbClr val="990033"/>
                </a:solidFill>
                <a:latin typeface="Arial" panose="020B0604020202020204" pitchFamily="34" charset="0"/>
              </a:rPr>
              <a:t>包括</a:t>
            </a:r>
            <a:r>
              <a:rPr lang="zh-CN" altLang="en-US" sz="2200" b="1" dirty="0">
                <a:solidFill>
                  <a:schemeClr val="tx1"/>
                </a:solidFill>
                <a:latin typeface="Arial" panose="020B0604020202020204" pitchFamily="34" charset="0"/>
              </a:rPr>
              <a:t>实体安全技术、网络系统安全、数据安全、密码及加密技术、身份认证、访问控制、防恶意代码、检测防御、管理与运行安全技术等，以及确保安全服务和安全机制的策略等。</a:t>
            </a:r>
            <a:endParaRPr lang="zh-CN" altLang="en-US" sz="2200" b="1" dirty="0">
              <a:solidFill>
                <a:schemeClr val="tx1"/>
              </a:solidFill>
              <a:latin typeface="Arial" panose="020B0604020202020204" pitchFamily="34" charset="0"/>
            </a:endParaRPr>
          </a:p>
          <a:p>
            <a:pPr indent="457200">
              <a:spcBef>
                <a:spcPts val="0"/>
              </a:spcBef>
              <a:spcAft>
                <a:spcPts val="0"/>
              </a:spcAft>
              <a:defRPr/>
            </a:pPr>
            <a:r>
              <a:rPr lang="zh-CN" altLang="en-US" sz="2200" b="1" dirty="0">
                <a:solidFill>
                  <a:srgbClr val="CC0000"/>
                </a:solidFill>
                <a:latin typeface="Arial" panose="020B0604020202020204" pitchFamily="34" charset="0"/>
              </a:rPr>
              <a:t>（</a:t>
            </a:r>
            <a:r>
              <a:rPr lang="en-US" altLang="zh-CN" sz="2200" b="1" dirty="0">
                <a:solidFill>
                  <a:srgbClr val="CC0000"/>
                </a:solidFill>
                <a:latin typeface="Arial" panose="020B0604020202020204" pitchFamily="34" charset="0"/>
              </a:rPr>
              <a:t>2</a:t>
            </a:r>
            <a:r>
              <a:rPr lang="zh-CN" altLang="en-US" sz="2200" b="1" dirty="0">
                <a:solidFill>
                  <a:srgbClr val="CC0000"/>
                </a:solidFill>
                <a:latin typeface="Arial" panose="020B0604020202020204" pitchFamily="34" charset="0"/>
              </a:rPr>
              <a:t>）通用的网络安全技术</a:t>
            </a:r>
            <a:endParaRPr lang="zh-CN" altLang="en-US" sz="2200" b="1" dirty="0">
              <a:solidFill>
                <a:srgbClr val="CC0000"/>
              </a:solidFill>
              <a:latin typeface="Arial" panose="020B0604020202020204" pitchFamily="34" charset="0"/>
            </a:endParaRPr>
          </a:p>
          <a:p>
            <a:pPr indent="457200">
              <a:spcBef>
                <a:spcPts val="0"/>
              </a:spcBef>
              <a:spcAft>
                <a:spcPts val="0"/>
              </a:spcAft>
              <a:defRPr/>
            </a:pPr>
            <a:r>
              <a:rPr lang="zh-CN" altLang="en-US" sz="2200" b="1" dirty="0">
                <a:solidFill>
                  <a:schemeClr val="tx1"/>
                </a:solidFill>
                <a:latin typeface="Arial" panose="020B0604020202020204" pitchFamily="34" charset="0"/>
              </a:rPr>
              <a:t>通用的</a:t>
            </a:r>
            <a:r>
              <a:rPr lang="zh-CN" altLang="en-US" sz="2200" b="1" dirty="0">
                <a:solidFill>
                  <a:srgbClr val="CC0000"/>
                </a:solidFill>
                <a:latin typeface="Arial" panose="020B0604020202020204" pitchFamily="34" charset="0"/>
              </a:rPr>
              <a:t>网络安全技术</a:t>
            </a:r>
            <a:r>
              <a:rPr lang="zh-CN" altLang="en-US" sz="2200" b="1" dirty="0">
                <a:solidFill>
                  <a:schemeClr val="tx1"/>
                </a:solidFill>
                <a:latin typeface="Arial" panose="020B0604020202020204" pitchFamily="34" charset="0"/>
              </a:rPr>
              <a:t>主要可以归纳为</a:t>
            </a:r>
            <a:r>
              <a:rPr lang="zh-CN" altLang="en-US" sz="2200" b="1" dirty="0">
                <a:solidFill>
                  <a:srgbClr val="CC0000"/>
                </a:solidFill>
                <a:latin typeface="Arial" panose="020B0604020202020204" pitchFamily="34" charset="0"/>
              </a:rPr>
              <a:t>三大类</a:t>
            </a:r>
            <a:r>
              <a:rPr lang="zh-CN" altLang="en-US" sz="2200" b="1" dirty="0">
                <a:solidFill>
                  <a:schemeClr val="tx1"/>
                </a:solidFill>
                <a:latin typeface="Arial" panose="020B0604020202020204" pitchFamily="34" charset="0"/>
              </a:rPr>
              <a:t>：</a:t>
            </a:r>
            <a:endParaRPr lang="zh-CN" altLang="en-US" sz="2200" b="1" dirty="0">
              <a:solidFill>
                <a:schemeClr val="tx1"/>
              </a:solidFill>
              <a:latin typeface="Arial" panose="020B0604020202020204" pitchFamily="34" charset="0"/>
            </a:endParaRPr>
          </a:p>
          <a:p>
            <a:pPr indent="457200">
              <a:spcBef>
                <a:spcPts val="0"/>
              </a:spcBef>
              <a:spcAft>
                <a:spcPts val="0"/>
              </a:spcAft>
              <a:defRPr/>
            </a:pPr>
            <a:r>
              <a:rPr lang="en-US" altLang="zh-CN" sz="2200" b="1" dirty="0">
                <a:solidFill>
                  <a:schemeClr val="tx1"/>
                </a:solidFill>
                <a:latin typeface="Arial" panose="020B0604020202020204" pitchFamily="34" charset="0"/>
              </a:rPr>
              <a:t>1</a:t>
            </a:r>
            <a:r>
              <a:rPr lang="zh-CN" altLang="en-US" sz="2200" b="1" dirty="0">
                <a:solidFill>
                  <a:schemeClr val="tx1"/>
                </a:solidFill>
                <a:latin typeface="Arial" panose="020B0604020202020204" pitchFamily="34" charset="0"/>
              </a:rPr>
              <a:t>）预防保护类。主要包括身份认证、访问管理、加密、防恶意代码、入侵防御和加固等。</a:t>
            </a:r>
            <a:endParaRPr lang="zh-CN" altLang="en-US" sz="2200" b="1" dirty="0">
              <a:solidFill>
                <a:schemeClr val="tx1"/>
              </a:solidFill>
              <a:latin typeface="Arial" panose="020B0604020202020204" pitchFamily="34" charset="0"/>
            </a:endParaRPr>
          </a:p>
          <a:p>
            <a:pPr indent="457200">
              <a:spcBef>
                <a:spcPts val="0"/>
              </a:spcBef>
              <a:spcAft>
                <a:spcPts val="0"/>
              </a:spcAft>
              <a:defRPr/>
            </a:pPr>
            <a:r>
              <a:rPr lang="en-US" altLang="zh-CN" sz="2200" b="1" dirty="0">
                <a:solidFill>
                  <a:schemeClr val="tx1"/>
                </a:solidFill>
                <a:latin typeface="Arial" panose="020B0604020202020204" pitchFamily="34" charset="0"/>
              </a:rPr>
              <a:t>2</a:t>
            </a:r>
            <a:r>
              <a:rPr lang="zh-CN" altLang="en-US" sz="2200" b="1" dirty="0">
                <a:solidFill>
                  <a:schemeClr val="tx1"/>
                </a:solidFill>
                <a:latin typeface="Arial" panose="020B0604020202020204" pitchFamily="34" charset="0"/>
              </a:rPr>
              <a:t>）检测跟踪类。对网络客体访问行为需要监控、检测和审计跟踪，防止在访问过程中可能产生的安全事故的各种举措。</a:t>
            </a:r>
            <a:endParaRPr lang="zh-CN" altLang="en-US" sz="2200" b="1" dirty="0">
              <a:solidFill>
                <a:schemeClr val="tx1"/>
              </a:solidFill>
              <a:latin typeface="Arial" panose="020B0604020202020204" pitchFamily="34" charset="0"/>
            </a:endParaRPr>
          </a:p>
          <a:p>
            <a:pPr indent="457200">
              <a:spcBef>
                <a:spcPts val="0"/>
              </a:spcBef>
              <a:spcAft>
                <a:spcPts val="0"/>
              </a:spcAft>
              <a:defRPr/>
            </a:pPr>
            <a:r>
              <a:rPr lang="en-US" altLang="zh-CN" sz="2200" b="1" dirty="0">
                <a:solidFill>
                  <a:schemeClr val="tx1"/>
                </a:solidFill>
                <a:latin typeface="Arial" panose="020B0604020202020204" pitchFamily="34" charset="0"/>
              </a:rPr>
              <a:t>3</a:t>
            </a:r>
            <a:r>
              <a:rPr lang="zh-CN" altLang="en-US" sz="2200" b="1" dirty="0">
                <a:solidFill>
                  <a:schemeClr val="tx1"/>
                </a:solidFill>
                <a:latin typeface="Arial" panose="020B0604020202020204" pitchFamily="34" charset="0"/>
              </a:rPr>
              <a:t>）响应恢复类。一旦发生重大安全故障，采取应急预案呵有效措施，确保在最短时间内对其事件应急响应和备份恢复</a:t>
            </a:r>
            <a:r>
              <a:rPr lang="en-US" altLang="zh-CN" sz="2200" b="1" dirty="0">
                <a:solidFill>
                  <a:schemeClr val="tx1"/>
                </a:solidFill>
                <a:latin typeface="Arial" panose="020B0604020202020204" pitchFamily="34" charset="0"/>
              </a:rPr>
              <a:t>,</a:t>
            </a:r>
            <a:r>
              <a:rPr lang="zh-CN" altLang="en-US" sz="2200" b="1" dirty="0">
                <a:solidFill>
                  <a:schemeClr val="tx1"/>
                </a:solidFill>
                <a:latin typeface="Arial" panose="020B0604020202020204" pitchFamily="34" charset="0"/>
              </a:rPr>
              <a:t>尽快将其损失和影响降至最低。</a:t>
            </a:r>
            <a:endParaRPr lang="zh-CN" altLang="en-US" sz="2200" b="1" dirty="0">
              <a:solidFill>
                <a:schemeClr val="tx1"/>
              </a:solidFill>
              <a:latin typeface="Arial" panose="020B0604020202020204" pitchFamily="34" charset="0"/>
            </a:endParaRPr>
          </a:p>
        </p:txBody>
      </p:sp>
      <p:sp>
        <p:nvSpPr>
          <p:cNvPr id="7177" name="Rectangle 2"/>
          <p:cNvSpPr txBox="1">
            <a:spLocks noChangeArrowheads="1"/>
          </p:cNvSpPr>
          <p:nvPr/>
        </p:nvSpPr>
        <p:spPr bwMode="white">
          <a:xfrm>
            <a:off x="231775" y="198438"/>
            <a:ext cx="7450138" cy="563562"/>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en-US" altLang="zh-CN" sz="3200" dirty="0" smtClean="0">
                <a:solidFill>
                  <a:schemeClr val="bg1"/>
                </a:solidFill>
              </a:rPr>
              <a:t>1.</a:t>
            </a:r>
            <a:r>
              <a:rPr lang="en-US" altLang="zh-CN" sz="3200" dirty="0" smtClean="0">
                <a:solidFill>
                  <a:schemeClr val="bg1"/>
                </a:solidFill>
                <a:sym typeface="+mn-ea"/>
              </a:rPr>
              <a:t>3 网络安全主要常用技术</a:t>
            </a:r>
            <a:endParaRPr lang="en-US" altLang="zh-CN" sz="3200" dirty="0" smtClean="0">
              <a:solidFill>
                <a:schemeClr val="bg1"/>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自选图形 889"/>
          <p:cNvSpPr>
            <a:spLocks noChangeArrowheads="1"/>
          </p:cNvSpPr>
          <p:nvPr/>
        </p:nvSpPr>
        <p:spPr bwMode="auto">
          <a:xfrm>
            <a:off x="755650" y="1808163"/>
            <a:ext cx="7704138" cy="1697037"/>
          </a:xfrm>
          <a:prstGeom prst="flowChartAlternateProcess">
            <a:avLst/>
          </a:prstGeom>
          <a:noFill/>
          <a:ln w="28575">
            <a:solidFill>
              <a:schemeClr val="tx1"/>
            </a:solidFill>
            <a:prstDash val="lgDashDot"/>
            <a:miter lim="800000"/>
          </a:ln>
        </p:spPr>
        <p:txBody>
          <a:bodyPr lIns="74295" tIns="8890" rIns="74295" bIns="8890"/>
          <a:lstStyle/>
          <a:p>
            <a:pPr>
              <a:lnSpc>
                <a:spcPct val="125000"/>
              </a:lnSpc>
              <a:spcBef>
                <a:spcPts val="600"/>
              </a:spcBef>
              <a:spcAft>
                <a:spcPts val="600"/>
              </a:spcAft>
              <a:buFont typeface="Wingdings" panose="05000000000000000000" pitchFamily="2" charset="2"/>
              <a:buNone/>
            </a:pPr>
            <a:r>
              <a:rPr lang="zh-CN" altLang="en-US" sz="2300" b="1">
                <a:latin typeface="楷体" panose="02010609060101010101" charset="-122"/>
                <a:ea typeface="楷体" panose="02010609060101010101" charset="-122"/>
              </a:rPr>
              <a:t>                </a:t>
            </a:r>
            <a:r>
              <a:rPr lang="zh-CN" altLang="en-US" sz="2500" b="1">
                <a:latin typeface="楷体" panose="02010609060101010101" charset="-122"/>
                <a:ea typeface="楷体" panose="02010609060101010101" charset="-122"/>
              </a:rPr>
              <a:t>某</a:t>
            </a:r>
            <a:r>
              <a:rPr lang="zh-CN" altLang="en-US" sz="2500" b="1">
                <a:solidFill>
                  <a:srgbClr val="CC0000"/>
                </a:solidFill>
                <a:latin typeface="楷体" panose="02010609060101010101" charset="-122"/>
                <a:ea typeface="楷体" panose="02010609060101010101" charset="-122"/>
              </a:rPr>
              <a:t>银行</a:t>
            </a:r>
            <a:r>
              <a:rPr lang="zh-CN" altLang="en-US" sz="2500" b="1">
                <a:latin typeface="楷体" panose="02010609060101010101" charset="-122"/>
                <a:ea typeface="楷体" panose="02010609060101010101" charset="-122"/>
              </a:rPr>
              <a:t>以</a:t>
            </a:r>
            <a:r>
              <a:rPr lang="zh-CN" altLang="en-US" sz="2500" b="1">
                <a:solidFill>
                  <a:srgbClr val="CC0000"/>
                </a:solidFill>
                <a:latin typeface="楷体" panose="02010609060101010101" charset="-122"/>
                <a:ea typeface="楷体" panose="02010609060101010101" charset="-122"/>
              </a:rPr>
              <a:t>网络安全</a:t>
            </a:r>
            <a:r>
              <a:rPr lang="zh-CN" altLang="en-US" sz="2500" b="1">
                <a:latin typeface="楷体" panose="02010609060101010101" charset="-122"/>
                <a:ea typeface="楷体" panose="02010609060101010101" charset="-122"/>
              </a:rPr>
              <a:t>业务价值链的概念，将网络安全的技术手段分为预防保护类、检测跟踪类和响应恢复类等</a:t>
            </a:r>
            <a:r>
              <a:rPr lang="zh-CN" altLang="en-US" sz="2500" b="1">
                <a:solidFill>
                  <a:srgbClr val="CC0000"/>
                </a:solidFill>
                <a:latin typeface="楷体" panose="02010609060101010101" charset="-122"/>
                <a:ea typeface="楷体" panose="02010609060101010101" charset="-122"/>
              </a:rPr>
              <a:t>三大类</a:t>
            </a:r>
            <a:r>
              <a:rPr lang="zh-CN" altLang="en-US" sz="2500" b="1">
                <a:latin typeface="楷体" panose="02010609060101010101" charset="-122"/>
                <a:ea typeface="楷体" panose="02010609060101010101" charset="-122"/>
              </a:rPr>
              <a:t>，如图</a:t>
            </a:r>
            <a:r>
              <a:rPr lang="en-US" altLang="zh-CN" sz="2500" b="1">
                <a:latin typeface="楷体" panose="02010609060101010101" charset="-122"/>
                <a:ea typeface="楷体" panose="02010609060101010101" charset="-122"/>
              </a:rPr>
              <a:t>1-3</a:t>
            </a:r>
            <a:r>
              <a:rPr lang="zh-CN" altLang="en-US" sz="2500" b="1">
                <a:latin typeface="楷体" panose="02010609060101010101" charset="-122"/>
                <a:ea typeface="楷体" panose="02010609060101010101" charset="-122"/>
              </a:rPr>
              <a:t>所示：</a:t>
            </a:r>
            <a:endParaRPr lang="zh-CN" altLang="en-US" sz="2500" b="1">
              <a:latin typeface="楷体" panose="02010609060101010101" charset="-122"/>
              <a:ea typeface="楷体" panose="02010609060101010101" charset="-122"/>
            </a:endParaRPr>
          </a:p>
        </p:txBody>
      </p:sp>
      <p:sp>
        <p:nvSpPr>
          <p:cNvPr id="44034" name="内容占位符 2"/>
          <p:cNvSpPr>
            <a:spLocks noChangeArrowheads="1"/>
          </p:cNvSpPr>
          <p:nvPr/>
        </p:nvSpPr>
        <p:spPr bwMode="auto">
          <a:xfrm>
            <a:off x="287338" y="1160463"/>
            <a:ext cx="8153400" cy="468312"/>
          </a:xfrm>
          <a:prstGeom prst="rect">
            <a:avLst/>
          </a:prstGeom>
          <a:noFill/>
          <a:ln w="9525">
            <a:noFill/>
            <a:miter lim="800000"/>
          </a:ln>
        </p:spPr>
        <p:txBody>
          <a:bodyPr/>
          <a:lstStyle/>
          <a:p>
            <a:pPr marL="342900" indent="-342900" eaLnBrk="0" hangingPunct="0">
              <a:spcBef>
                <a:spcPct val="20000"/>
              </a:spcBef>
              <a:buClr>
                <a:schemeClr val="hlink"/>
              </a:buClr>
              <a:buFont typeface="Wingdings" panose="05000000000000000000" pitchFamily="2" charset="2"/>
              <a:buChar char="n"/>
            </a:pPr>
            <a:r>
              <a:rPr lang="zh-CN" altLang="en-US" sz="2500" b="1">
                <a:solidFill>
                  <a:srgbClr val="FF0000"/>
                </a:solidFill>
                <a:latin typeface="宋体" panose="02010600030101010101" pitchFamily="2" charset="-122"/>
              </a:rPr>
              <a:t>（</a:t>
            </a:r>
            <a:r>
              <a:rPr lang="en-US" altLang="zh-CN" sz="2500" b="1">
                <a:solidFill>
                  <a:srgbClr val="FF0000"/>
                </a:solidFill>
                <a:latin typeface="宋体" panose="02010600030101010101" pitchFamily="2" charset="-122"/>
              </a:rPr>
              <a:t>2</a:t>
            </a:r>
            <a:r>
              <a:rPr lang="zh-CN" altLang="en-US" sz="2500" b="1">
                <a:solidFill>
                  <a:srgbClr val="FF0000"/>
                </a:solidFill>
                <a:latin typeface="宋体" panose="02010600030101010101" pitchFamily="2" charset="-122"/>
              </a:rPr>
              <a:t>）通用网络空间安全技术</a:t>
            </a:r>
            <a:endParaRPr lang="zh-CN" altLang="en-US" b="1">
              <a:solidFill>
                <a:srgbClr val="CC0000"/>
              </a:solidFill>
              <a:latin typeface="宋体" panose="02010600030101010101" pitchFamily="2" charset="-122"/>
            </a:endParaRPr>
          </a:p>
        </p:txBody>
      </p:sp>
      <p:sp>
        <p:nvSpPr>
          <p:cNvPr id="13" name="圆角矩形 12"/>
          <p:cNvSpPr/>
          <p:nvPr/>
        </p:nvSpPr>
        <p:spPr bwMode="gray">
          <a:xfrm>
            <a:off x="1371600" y="1676400"/>
            <a:ext cx="1600200" cy="485775"/>
          </a:xfrm>
          <a:prstGeom prst="roundRect">
            <a:avLst/>
          </a:prstGeom>
        </p:spPr>
        <p:style>
          <a:lnRef idx="0">
            <a:schemeClr val="accent2"/>
          </a:lnRef>
          <a:fillRef idx="3">
            <a:schemeClr val="accent2"/>
          </a:fillRef>
          <a:effectRef idx="3">
            <a:schemeClr val="accent2"/>
          </a:effectRef>
          <a:fontRef idx="minor">
            <a:schemeClr val="lt1"/>
          </a:fontRef>
        </p:style>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Font typeface="Wingdings" panose="05000000000000000000" pitchFamily="2" charset="2"/>
              <a:buNone/>
              <a:defRPr/>
            </a:pPr>
            <a:r>
              <a:rPr lang="zh-CN" altLang="en-US" sz="2000" dirty="0" smtClean="0">
                <a:solidFill>
                  <a:srgbClr val="002060"/>
                </a:solidFill>
                <a:latin typeface="宋体" panose="02010600030101010101" pitchFamily="2" charset="-122"/>
              </a:rPr>
              <a:t>案例</a:t>
            </a:r>
            <a:r>
              <a:rPr lang="en-US" altLang="zh-CN" sz="2000" dirty="0" smtClean="0">
                <a:solidFill>
                  <a:srgbClr val="002060"/>
                </a:solidFill>
                <a:latin typeface="宋体" panose="02010600030101010101" pitchFamily="2" charset="-122"/>
              </a:rPr>
              <a:t>1-3</a:t>
            </a:r>
            <a:endParaRPr lang="zh-CN" altLang="en-US" sz="2000" dirty="0" smtClean="0">
              <a:solidFill>
                <a:srgbClr val="002060"/>
              </a:solidFill>
              <a:latin typeface="宋体" panose="02010600030101010101" pitchFamily="2" charset="-122"/>
            </a:endParaRPr>
          </a:p>
        </p:txBody>
      </p:sp>
      <p:pic>
        <p:nvPicPr>
          <p:cNvPr id="44036" name="图片 4"/>
          <p:cNvPicPr>
            <a:picLocks noChangeAspect="1" noChangeArrowheads="1"/>
          </p:cNvPicPr>
          <p:nvPr/>
        </p:nvPicPr>
        <p:blipFill>
          <a:blip r:embed="rId1" cstate="print">
            <a:grayscl/>
          </a:blip>
          <a:srcRect/>
          <a:stretch>
            <a:fillRect/>
          </a:stretch>
        </p:blipFill>
        <p:spPr bwMode="auto">
          <a:xfrm>
            <a:off x="914400" y="3733800"/>
            <a:ext cx="7559675" cy="2520950"/>
          </a:xfrm>
          <a:prstGeom prst="rect">
            <a:avLst/>
          </a:prstGeom>
          <a:noFill/>
          <a:ln w="9525">
            <a:noFill/>
            <a:miter lim="800000"/>
            <a:headEnd/>
            <a:tailEnd/>
          </a:ln>
        </p:spPr>
      </p:pic>
      <p:sp>
        <p:nvSpPr>
          <p:cNvPr id="44037" name="Rectangle 11"/>
          <p:cNvSpPr>
            <a:spLocks noChangeArrowheads="1"/>
          </p:cNvSpPr>
          <p:nvPr/>
        </p:nvSpPr>
        <p:spPr bwMode="auto">
          <a:xfrm>
            <a:off x="3505200" y="6324600"/>
            <a:ext cx="2582863" cy="336550"/>
          </a:xfrm>
          <a:prstGeom prst="rect">
            <a:avLst/>
          </a:prstGeom>
          <a:noFill/>
          <a:ln w="9525">
            <a:noFill/>
            <a:miter lim="800000"/>
          </a:ln>
        </p:spPr>
        <p:txBody>
          <a:bodyPr wrap="none">
            <a:spAutoFit/>
          </a:bodyPr>
          <a:lstStyle/>
          <a:p>
            <a:pPr>
              <a:spcBef>
                <a:spcPts val="300"/>
              </a:spcBef>
              <a:spcAft>
                <a:spcPts val="300"/>
              </a:spcAft>
              <a:buFont typeface="Wingdings" panose="05000000000000000000" pitchFamily="2" charset="2"/>
              <a:buNone/>
            </a:pPr>
            <a:r>
              <a:rPr lang="zh-CN" altLang="en-US" sz="1600" b="1">
                <a:solidFill>
                  <a:srgbClr val="990033"/>
                </a:solidFill>
              </a:rPr>
              <a:t>图</a:t>
            </a:r>
            <a:r>
              <a:rPr lang="en-US" altLang="zh-CN" sz="1600" b="1">
                <a:solidFill>
                  <a:srgbClr val="990033"/>
                </a:solidFill>
              </a:rPr>
              <a:t>1-3 </a:t>
            </a:r>
            <a:r>
              <a:rPr lang="zh-CN" altLang="en-US" sz="1600" b="1">
                <a:solidFill>
                  <a:srgbClr val="990033"/>
                </a:solidFill>
              </a:rPr>
              <a:t>常用的网络安全技术</a:t>
            </a:r>
            <a:endParaRPr lang="zh-CN" altLang="en-US" sz="1600" b="1">
              <a:solidFill>
                <a:srgbClr val="990033"/>
              </a:solidFill>
            </a:endParaRPr>
          </a:p>
        </p:txBody>
      </p:sp>
      <p:sp>
        <p:nvSpPr>
          <p:cNvPr id="2" name="Rectangle 2"/>
          <p:cNvSpPr txBox="1">
            <a:spLocks noChangeArrowheads="1"/>
          </p:cNvSpPr>
          <p:nvPr/>
        </p:nvSpPr>
        <p:spPr bwMode="white">
          <a:xfrm>
            <a:off x="231775" y="198438"/>
            <a:ext cx="7450138" cy="563562"/>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en-US" altLang="zh-CN" sz="3200" dirty="0" smtClean="0">
                <a:solidFill>
                  <a:schemeClr val="bg1"/>
                </a:solidFill>
              </a:rPr>
              <a:t>1.</a:t>
            </a:r>
            <a:r>
              <a:rPr lang="en-US" altLang="zh-CN" sz="3200" dirty="0" smtClean="0">
                <a:solidFill>
                  <a:schemeClr val="bg1"/>
                </a:solidFill>
                <a:sym typeface="+mn-ea"/>
              </a:rPr>
              <a:t>3 网络安全主要常用技术</a:t>
            </a:r>
            <a:endParaRPr lang="en-US" altLang="zh-CN" sz="3200" dirty="0" smtClean="0">
              <a:solidFill>
                <a:schemeClr val="bg1"/>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bwMode="gray">
          <a:xfrm>
            <a:off x="323850" y="1143000"/>
            <a:ext cx="8461375" cy="5029200"/>
          </a:xfrm>
          <a:prstGeom prst="roundRect">
            <a:avLst/>
          </a:prstGeom>
        </p:spPr>
        <p:style>
          <a:lnRef idx="2">
            <a:schemeClr val="accent1"/>
          </a:lnRef>
          <a:fillRef idx="1">
            <a:schemeClr val="lt1"/>
          </a:fillRef>
          <a:effectRef idx="0">
            <a:schemeClr val="accent1"/>
          </a:effectRef>
          <a:fontRef idx="minor">
            <a:schemeClr val="dk1"/>
          </a:fontRef>
        </p:style>
        <p:txBody>
          <a:bodyPr anchor="ctr" anchorCtr="1"/>
          <a:lstStyle/>
          <a:p>
            <a:pPr indent="457200">
              <a:spcBef>
                <a:spcPct val="20000"/>
              </a:spcBef>
              <a:defRPr/>
            </a:pPr>
            <a:r>
              <a:rPr sz="2200" b="1" dirty="0">
                <a:solidFill>
                  <a:srgbClr val="990033"/>
                </a:solidFill>
                <a:latin typeface="Arial" panose="020B0604020202020204" pitchFamily="34" charset="0"/>
              </a:rPr>
              <a:t>主要的</a:t>
            </a:r>
            <a:r>
              <a:rPr sz="2200" b="1" dirty="0">
                <a:solidFill>
                  <a:srgbClr val="FF0000"/>
                </a:solidFill>
                <a:latin typeface="Arial" panose="020B0604020202020204" pitchFamily="34" charset="0"/>
              </a:rPr>
              <a:t>通用网络安全技术</a:t>
            </a:r>
            <a:r>
              <a:rPr sz="2200" b="1" dirty="0">
                <a:latin typeface="Arial" panose="020B0604020202020204" pitchFamily="34" charset="0"/>
              </a:rPr>
              <a:t>有8种，包括：</a:t>
            </a:r>
            <a:endParaRPr sz="2200" b="1" dirty="0">
              <a:latin typeface="Arial" panose="020B0604020202020204" pitchFamily="34" charset="0"/>
            </a:endParaRPr>
          </a:p>
          <a:p>
            <a:pPr indent="457200">
              <a:spcBef>
                <a:spcPct val="20000"/>
              </a:spcBef>
              <a:defRPr/>
            </a:pPr>
            <a:r>
              <a:rPr sz="2200" b="1" dirty="0">
                <a:solidFill>
                  <a:srgbClr val="C00000"/>
                </a:solidFill>
                <a:latin typeface="Arial" panose="020B0604020202020204" pitchFamily="34" charset="0"/>
              </a:rPr>
              <a:t>1）身份认证</a:t>
            </a:r>
            <a:r>
              <a:rPr sz="2200" b="1" dirty="0">
                <a:latin typeface="Arial" panose="020B0604020202020204" pitchFamily="34" charset="0"/>
              </a:rPr>
              <a:t>（Identity and Authentication）。</a:t>
            </a:r>
            <a:r>
              <a:rPr sz="2200" b="1" dirty="0" err="1">
                <a:latin typeface="Arial" panose="020B0604020202020204" pitchFamily="34" charset="0"/>
              </a:rPr>
              <a:t>通过网络身份的一致性确认，保护网络授权用户的正确存储、同步、使用、管理和控制，防止别人冒用或盗用的技术手段</a:t>
            </a:r>
            <a:r>
              <a:rPr sz="2200" b="1" dirty="0">
                <a:latin typeface="Arial" panose="020B0604020202020204" pitchFamily="34" charset="0"/>
              </a:rPr>
              <a:t>。</a:t>
            </a:r>
            <a:endParaRPr sz="2200" b="1" dirty="0">
              <a:latin typeface="Arial" panose="020B0604020202020204" pitchFamily="34" charset="0"/>
            </a:endParaRPr>
          </a:p>
          <a:p>
            <a:pPr indent="457200">
              <a:spcBef>
                <a:spcPct val="20000"/>
              </a:spcBef>
              <a:defRPr/>
            </a:pPr>
            <a:r>
              <a:rPr sz="2200" b="1" dirty="0">
                <a:solidFill>
                  <a:srgbClr val="C00000"/>
                </a:solidFill>
                <a:latin typeface="Arial" panose="020B0604020202020204" pitchFamily="34" charset="0"/>
              </a:rPr>
              <a:t>2）访问管理</a:t>
            </a:r>
            <a:r>
              <a:rPr sz="2200" b="1" dirty="0">
                <a:latin typeface="Arial" panose="020B0604020202020204" pitchFamily="34" charset="0"/>
              </a:rPr>
              <a:t>（Access Management）。</a:t>
            </a:r>
            <a:r>
              <a:rPr sz="2200" b="1" dirty="0" err="1">
                <a:latin typeface="Arial" panose="020B0604020202020204" pitchFamily="34" charset="0"/>
              </a:rPr>
              <a:t>保障授权用户在其权限内对授权资源进行正当使用，防止非授权使用的措施</a:t>
            </a:r>
            <a:r>
              <a:rPr sz="2200" b="1" dirty="0">
                <a:latin typeface="Arial" panose="020B0604020202020204" pitchFamily="34" charset="0"/>
              </a:rPr>
              <a:t>。</a:t>
            </a:r>
            <a:endParaRPr sz="2200" b="1" dirty="0">
              <a:latin typeface="Arial" panose="020B0604020202020204" pitchFamily="34" charset="0"/>
            </a:endParaRPr>
          </a:p>
          <a:p>
            <a:pPr indent="457200">
              <a:spcBef>
                <a:spcPct val="20000"/>
              </a:spcBef>
              <a:defRPr/>
            </a:pPr>
            <a:r>
              <a:rPr sz="2200" b="1" dirty="0">
                <a:solidFill>
                  <a:srgbClr val="C00000"/>
                </a:solidFill>
                <a:latin typeface="Arial" panose="020B0604020202020204" pitchFamily="34" charset="0"/>
              </a:rPr>
              <a:t>3）加密</a:t>
            </a:r>
            <a:r>
              <a:rPr lang="en-US" sz="2200" b="1" dirty="0">
                <a:latin typeface="Arial" panose="020B0604020202020204" pitchFamily="34" charset="0"/>
              </a:rPr>
              <a:t>(</a:t>
            </a:r>
            <a:r>
              <a:rPr sz="2200" b="1" dirty="0" err="1">
                <a:latin typeface="Arial" panose="020B0604020202020204" pitchFamily="34" charset="0"/>
              </a:rPr>
              <a:t>Cryptograghy</a:t>
            </a:r>
            <a:r>
              <a:rPr lang="en-US" sz="2200" b="1" dirty="0">
                <a:latin typeface="Arial" panose="020B0604020202020204" pitchFamily="34" charset="0"/>
              </a:rPr>
              <a:t>).</a:t>
            </a:r>
            <a:r>
              <a:rPr sz="2200" b="1" dirty="0" err="1">
                <a:latin typeface="Arial" panose="020B0604020202020204" pitchFamily="34" charset="0"/>
              </a:rPr>
              <a:t>加密技术是最基本的网络安全手段</a:t>
            </a:r>
            <a:r>
              <a:rPr lang="en-US" sz="2200" b="1" dirty="0" err="1">
                <a:latin typeface="Arial" panose="020B0604020202020204" pitchFamily="34" charset="0"/>
              </a:rPr>
              <a:t>.</a:t>
            </a:r>
            <a:r>
              <a:rPr sz="2200" b="1" dirty="0" err="1">
                <a:latin typeface="Arial" panose="020B0604020202020204" pitchFamily="34" charset="0"/>
              </a:rPr>
              <a:t>包括</a:t>
            </a:r>
            <a:r>
              <a:rPr lang="en-US" sz="2200" b="1" dirty="0" err="1">
                <a:latin typeface="Arial" panose="020B0604020202020204" pitchFamily="34" charset="0"/>
              </a:rPr>
              <a:t>:</a:t>
            </a:r>
            <a:r>
              <a:rPr sz="2200" b="1" dirty="0" err="1">
                <a:latin typeface="Arial" panose="020B0604020202020204" pitchFamily="34" charset="0"/>
              </a:rPr>
              <a:t>加密算法、密钥长度确定、密钥生命周期</a:t>
            </a:r>
            <a:r>
              <a:rPr lang="en-US" sz="2200" b="1" dirty="0">
                <a:latin typeface="Arial" panose="020B0604020202020204" pitchFamily="34" charset="0"/>
              </a:rPr>
              <a:t>(</a:t>
            </a:r>
            <a:r>
              <a:rPr sz="2200" b="1" dirty="0" err="1">
                <a:latin typeface="Arial" panose="020B0604020202020204" pitchFamily="34" charset="0"/>
              </a:rPr>
              <a:t>生成、分发、存储、输入输出、更新、恢复、销毁等</a:t>
            </a:r>
            <a:r>
              <a:rPr lang="en-US" sz="2200" b="1" dirty="0">
                <a:latin typeface="Arial" panose="020B0604020202020204" pitchFamily="34" charset="0"/>
              </a:rPr>
              <a:t>)</a:t>
            </a:r>
            <a:r>
              <a:rPr sz="2200" b="1" dirty="0" err="1">
                <a:latin typeface="Arial" panose="020B0604020202020204" pitchFamily="34" charset="0"/>
              </a:rPr>
              <a:t>安全措施和管理等</a:t>
            </a:r>
            <a:r>
              <a:rPr sz="2200" b="1" dirty="0">
                <a:latin typeface="Arial" panose="020B0604020202020204" pitchFamily="34" charset="0"/>
              </a:rPr>
              <a:t>。</a:t>
            </a:r>
            <a:endParaRPr sz="2200" b="1" dirty="0">
              <a:latin typeface="Arial" panose="020B0604020202020204" pitchFamily="34" charset="0"/>
            </a:endParaRPr>
          </a:p>
          <a:p>
            <a:pPr indent="457200">
              <a:spcBef>
                <a:spcPct val="20000"/>
              </a:spcBef>
              <a:defRPr/>
            </a:pPr>
            <a:r>
              <a:rPr sz="2200" b="1" dirty="0">
                <a:solidFill>
                  <a:srgbClr val="C00000"/>
                </a:solidFill>
                <a:latin typeface="Arial" panose="020B0604020202020204" pitchFamily="34" charset="0"/>
              </a:rPr>
              <a:t>4）防恶意代码</a:t>
            </a:r>
            <a:r>
              <a:rPr sz="2200" b="1" dirty="0">
                <a:latin typeface="Arial" panose="020B0604020202020204" pitchFamily="34" charset="0"/>
              </a:rPr>
              <a:t>（Anti-Malicode）。建立健全恶意代码（计算机病毒及流氓软件）的预防、检测、隔离和清除机制，预防恶意代码入侵，迅速隔离查杀已感染病毒，识别并清除网内恶意代码。</a:t>
            </a:r>
            <a:endParaRPr sz="2200" b="1" dirty="0">
              <a:latin typeface="Arial" panose="020B0604020202020204" pitchFamily="34" charset="0"/>
            </a:endParaRPr>
          </a:p>
        </p:txBody>
      </p:sp>
      <p:pic>
        <p:nvPicPr>
          <p:cNvPr id="45058" name="Picture 24" descr="C:\Program Files\Microsoft Office\MEDIA\CAGCAT10\j0300520.gif"/>
          <p:cNvPicPr>
            <a:picLocks noChangeAspect="1" noChangeArrowheads="1"/>
          </p:cNvPicPr>
          <p:nvPr/>
        </p:nvPicPr>
        <p:blipFill>
          <a:blip r:embed="rId1" cstate="print"/>
          <a:srcRect/>
          <a:stretch>
            <a:fillRect/>
          </a:stretch>
        </p:blipFill>
        <p:spPr bwMode="auto">
          <a:xfrm>
            <a:off x="5486400" y="5638800"/>
            <a:ext cx="990600" cy="852488"/>
          </a:xfrm>
          <a:prstGeom prst="rect">
            <a:avLst/>
          </a:prstGeom>
          <a:noFill/>
          <a:ln w="9525">
            <a:noFill/>
            <a:miter lim="800000"/>
            <a:headEnd/>
            <a:tailEnd/>
          </a:ln>
        </p:spPr>
      </p:pic>
      <p:sp>
        <p:nvSpPr>
          <p:cNvPr id="2" name="Rectangle 2"/>
          <p:cNvSpPr txBox="1">
            <a:spLocks noChangeArrowheads="1"/>
          </p:cNvSpPr>
          <p:nvPr/>
        </p:nvSpPr>
        <p:spPr bwMode="white">
          <a:xfrm>
            <a:off x="231775" y="198438"/>
            <a:ext cx="7450138" cy="563562"/>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en-US" altLang="zh-CN" sz="3200" dirty="0" smtClean="0">
                <a:solidFill>
                  <a:schemeClr val="bg1"/>
                </a:solidFill>
              </a:rPr>
              <a:t>1.</a:t>
            </a:r>
            <a:r>
              <a:rPr lang="en-US" altLang="zh-CN" sz="3200" dirty="0" smtClean="0">
                <a:solidFill>
                  <a:schemeClr val="bg1"/>
                </a:solidFill>
                <a:sym typeface="+mn-ea"/>
              </a:rPr>
              <a:t>3 网络安全主要常用技术</a:t>
            </a:r>
            <a:endParaRPr lang="en-US" altLang="zh-CN" sz="3200" dirty="0" smtClean="0">
              <a:solidFill>
                <a:schemeClr val="bg1"/>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内容占位符 2"/>
          <p:cNvSpPr>
            <a:spLocks noChangeArrowheads="1"/>
          </p:cNvSpPr>
          <p:nvPr/>
        </p:nvSpPr>
        <p:spPr bwMode="auto">
          <a:xfrm>
            <a:off x="533400" y="1219200"/>
            <a:ext cx="8153400" cy="468313"/>
          </a:xfrm>
          <a:prstGeom prst="rect">
            <a:avLst/>
          </a:prstGeom>
          <a:noFill/>
          <a:ln w="9525">
            <a:noFill/>
            <a:miter lim="800000"/>
          </a:ln>
        </p:spPr>
        <p:txBody>
          <a:bodyPr/>
          <a:lstStyle/>
          <a:p>
            <a:pPr marL="342900" indent="-342900" eaLnBrk="0" hangingPunct="0">
              <a:spcBef>
                <a:spcPct val="20000"/>
              </a:spcBef>
              <a:buClr>
                <a:schemeClr val="hlink"/>
              </a:buClr>
              <a:buFont typeface="Wingdings" panose="05000000000000000000" pitchFamily="2" charset="2"/>
              <a:buChar char="n"/>
            </a:pPr>
            <a:r>
              <a:rPr lang="en-US" altLang="zh-CN" sz="2700" b="1">
                <a:solidFill>
                  <a:srgbClr val="FF0000"/>
                </a:solidFill>
                <a:latin typeface="宋体" panose="02010600030101010101" pitchFamily="2" charset="-122"/>
              </a:rPr>
              <a:t>(2)</a:t>
            </a:r>
            <a:r>
              <a:rPr lang="zh-CN" altLang="en-US" sz="2700" b="1">
                <a:solidFill>
                  <a:srgbClr val="FF0000"/>
                </a:solidFill>
                <a:latin typeface="宋体" panose="02010600030101010101" pitchFamily="2" charset="-122"/>
              </a:rPr>
              <a:t>通用网络空间安全技术</a:t>
            </a:r>
            <a:endParaRPr lang="zh-CN" altLang="en-US" sz="2700" b="1">
              <a:solidFill>
                <a:srgbClr val="CC0000"/>
              </a:solidFill>
              <a:latin typeface="宋体" panose="02010600030101010101" pitchFamily="2" charset="-122"/>
            </a:endParaRPr>
          </a:p>
        </p:txBody>
      </p:sp>
      <p:sp>
        <p:nvSpPr>
          <p:cNvPr id="167" name=" 167"/>
          <p:cNvSpPr/>
          <p:nvPr/>
        </p:nvSpPr>
        <p:spPr>
          <a:xfrm>
            <a:off x="587375" y="1767205"/>
            <a:ext cx="7969250" cy="4629785"/>
          </a:xfrm>
          <a:prstGeom prst="roundRect">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lnSpc>
                <a:spcPct val="90000"/>
              </a:lnSpc>
              <a:spcBef>
                <a:spcPts val="0"/>
              </a:spcBef>
              <a:spcAft>
                <a:spcPts val="0"/>
              </a:spcAft>
              <a:buFont typeface="Wingdings" panose="05000000000000000000" pitchFamily="2" charset="2"/>
              <a:buNone/>
              <a:defRPr/>
            </a:pPr>
            <a:r>
              <a:rPr lang="zh-CN" altLang="en-US" sz="2200" b="1" noProof="1">
                <a:solidFill>
                  <a:srgbClr val="C00000"/>
                </a:solidFill>
              </a:rPr>
              <a:t>5）加固</a:t>
            </a:r>
            <a:r>
              <a:rPr lang="zh-CN" altLang="en-US" sz="2200" b="1" noProof="1">
                <a:solidFill>
                  <a:schemeClr val="tx1"/>
                </a:solidFill>
              </a:rPr>
              <a:t>（Hardening）。对系统漏洞及隐患，采取一定必要的安全防范措施，主要包括：安全性配置、关闭不必要的服务端口、系统漏洞扫描、渗透性测试、安装或更新安全补丁及增设防御功能和对特定攻击预防手段等，提高系统自身的安全。</a:t>
            </a:r>
            <a:endParaRPr lang="zh-CN" altLang="en-US" sz="2200" b="1" noProof="1">
              <a:solidFill>
                <a:schemeClr val="tx1"/>
              </a:solidFill>
            </a:endParaRPr>
          </a:p>
          <a:p>
            <a:pPr indent="457200" eaLnBrk="1" fontAlgn="auto" hangingPunct="1">
              <a:lnSpc>
                <a:spcPct val="90000"/>
              </a:lnSpc>
              <a:spcBef>
                <a:spcPts val="0"/>
              </a:spcBef>
              <a:spcAft>
                <a:spcPts val="0"/>
              </a:spcAft>
              <a:buFont typeface="Wingdings" panose="05000000000000000000" pitchFamily="2" charset="2"/>
              <a:buNone/>
              <a:defRPr/>
            </a:pPr>
            <a:r>
              <a:rPr lang="zh-CN" altLang="en-US" sz="2200" b="1" noProof="1">
                <a:solidFill>
                  <a:srgbClr val="C00000"/>
                </a:solidFill>
              </a:rPr>
              <a:t>6）监控</a:t>
            </a:r>
            <a:r>
              <a:rPr lang="zh-CN" altLang="en-US" sz="2200" b="1" noProof="1">
                <a:solidFill>
                  <a:schemeClr val="tx1"/>
                </a:solidFill>
              </a:rPr>
              <a:t>（Monitoring）。通过监控用户主体的各种访问行为，确保对网络等客体的访问过程中安全的技术手段。</a:t>
            </a:r>
            <a:endParaRPr lang="zh-CN" altLang="en-US" sz="2200" b="1" noProof="1">
              <a:solidFill>
                <a:schemeClr val="tx1"/>
              </a:solidFill>
            </a:endParaRPr>
          </a:p>
          <a:p>
            <a:pPr indent="457200" eaLnBrk="1" fontAlgn="auto" hangingPunct="1">
              <a:lnSpc>
                <a:spcPct val="90000"/>
              </a:lnSpc>
              <a:spcBef>
                <a:spcPts val="0"/>
              </a:spcBef>
              <a:spcAft>
                <a:spcPts val="0"/>
              </a:spcAft>
              <a:buFont typeface="Wingdings" panose="05000000000000000000" pitchFamily="2" charset="2"/>
              <a:buNone/>
              <a:defRPr/>
            </a:pPr>
            <a:r>
              <a:rPr lang="zh-CN" altLang="en-US" sz="2200" b="1" noProof="1">
                <a:solidFill>
                  <a:srgbClr val="C00000"/>
                </a:solidFill>
              </a:rPr>
              <a:t>7）审核跟踪</a:t>
            </a:r>
            <a:r>
              <a:rPr lang="zh-CN" altLang="en-US" sz="2200" b="1" noProof="1">
                <a:solidFill>
                  <a:schemeClr val="tx1"/>
                </a:solidFill>
              </a:rPr>
              <a:t>（Audit Trail）。对网络系统异常访问、探测及操作等事件及时核查、记录和追踪。利用多项审核跟踪不同活动。</a:t>
            </a:r>
            <a:endParaRPr lang="zh-CN" altLang="en-US" sz="2200" b="1" noProof="1">
              <a:solidFill>
                <a:schemeClr val="tx1"/>
              </a:solidFill>
            </a:endParaRPr>
          </a:p>
          <a:p>
            <a:pPr indent="457200" eaLnBrk="1" fontAlgn="auto" hangingPunct="1">
              <a:lnSpc>
                <a:spcPct val="90000"/>
              </a:lnSpc>
              <a:spcBef>
                <a:spcPts val="0"/>
              </a:spcBef>
              <a:spcAft>
                <a:spcPts val="0"/>
              </a:spcAft>
              <a:buFont typeface="Wingdings" panose="05000000000000000000" pitchFamily="2" charset="2"/>
              <a:buNone/>
              <a:defRPr/>
            </a:pPr>
            <a:r>
              <a:rPr lang="zh-CN" altLang="en-US" sz="2200" b="1" noProof="1">
                <a:solidFill>
                  <a:srgbClr val="C00000"/>
                </a:solidFill>
              </a:rPr>
              <a:t>8）备份恢复</a:t>
            </a:r>
            <a:r>
              <a:rPr lang="zh-CN" altLang="en-US" sz="2200" b="1" noProof="1">
                <a:solidFill>
                  <a:schemeClr val="tx1"/>
                </a:solidFill>
              </a:rPr>
              <a:t>（Backup and Recovery）。为了在网络系统出现异常、故障或入侵等意外情况时，及时恢复系统和数据而进行的预先备份等技术方法。备份恢复技术主要包括四个方面：备份技术、容错技术、冗余技术和不间断电源保护。</a:t>
            </a:r>
            <a:endParaRPr lang="zh-CN" altLang="en-US" sz="2200" b="1" noProof="1">
              <a:solidFill>
                <a:schemeClr val="tx1"/>
              </a:solidFill>
            </a:endParaRPr>
          </a:p>
        </p:txBody>
      </p:sp>
      <p:sp>
        <p:nvSpPr>
          <p:cNvPr id="2" name="Rectangle 2"/>
          <p:cNvSpPr txBox="1">
            <a:spLocks noChangeArrowheads="1"/>
          </p:cNvSpPr>
          <p:nvPr/>
        </p:nvSpPr>
        <p:spPr bwMode="white">
          <a:xfrm>
            <a:off x="231775" y="198438"/>
            <a:ext cx="7450138" cy="563562"/>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en-US" altLang="zh-CN" sz="3200" dirty="0" smtClean="0">
                <a:solidFill>
                  <a:schemeClr val="bg1"/>
                </a:solidFill>
              </a:rPr>
              <a:t>1.</a:t>
            </a:r>
            <a:r>
              <a:rPr lang="en-US" altLang="zh-CN" sz="3200" dirty="0" smtClean="0">
                <a:solidFill>
                  <a:schemeClr val="bg1"/>
                </a:solidFill>
                <a:sym typeface="+mn-ea"/>
              </a:rPr>
              <a:t>3 网络安全主要常用技术</a:t>
            </a:r>
            <a:endParaRPr lang="en-US" altLang="zh-CN" sz="3200" dirty="0" smtClean="0">
              <a:solidFill>
                <a:schemeClr val="bg1"/>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内容占位符 2"/>
          <p:cNvSpPr>
            <a:spLocks noGrp="1" noChangeArrowheads="1"/>
          </p:cNvSpPr>
          <p:nvPr>
            <p:ph idx="4294967295"/>
          </p:nvPr>
        </p:nvSpPr>
        <p:spPr>
          <a:xfrm>
            <a:off x="533400" y="1219200"/>
            <a:ext cx="8153400" cy="1081088"/>
          </a:xfrm>
        </p:spPr>
        <p:txBody>
          <a:bodyPr/>
          <a:lstStyle/>
          <a:p>
            <a:r>
              <a:rPr lang="zh-CN" altLang="en-US" sz="2000" smtClean="0">
                <a:solidFill>
                  <a:srgbClr val="CC0000"/>
                </a:solidFill>
              </a:rPr>
              <a:t> </a:t>
            </a:r>
            <a:r>
              <a:rPr lang="en-US" altLang="zh-CN" sz="2000" smtClean="0">
                <a:solidFill>
                  <a:srgbClr val="CC0000"/>
                </a:solidFill>
              </a:rPr>
              <a:t>*</a:t>
            </a:r>
            <a:r>
              <a:rPr lang="zh-CN" altLang="en-US" sz="2300" smtClean="0">
                <a:solidFill>
                  <a:srgbClr val="CC0000"/>
                </a:solidFill>
              </a:rPr>
              <a:t>（</a:t>
            </a:r>
            <a:r>
              <a:rPr lang="en-US" altLang="zh-CN" sz="2300" smtClean="0">
                <a:solidFill>
                  <a:srgbClr val="CC0000"/>
                </a:solidFill>
              </a:rPr>
              <a:t>3</a:t>
            </a:r>
            <a:r>
              <a:rPr lang="zh-CN" altLang="en-US" sz="2300" smtClean="0">
                <a:solidFill>
                  <a:srgbClr val="CC0000"/>
                </a:solidFill>
              </a:rPr>
              <a:t>）网络空间安全新技术</a:t>
            </a:r>
            <a:endParaRPr lang="zh-CN" altLang="en-US" sz="2300" smtClean="0">
              <a:solidFill>
                <a:srgbClr val="CC0000"/>
              </a:solidFill>
            </a:endParaRPr>
          </a:p>
        </p:txBody>
      </p:sp>
      <p:sp>
        <p:nvSpPr>
          <p:cNvPr id="5" name="圆角矩形 4"/>
          <p:cNvSpPr/>
          <p:nvPr/>
        </p:nvSpPr>
        <p:spPr bwMode="gray">
          <a:xfrm>
            <a:off x="533400" y="1752600"/>
            <a:ext cx="8151813" cy="4067175"/>
          </a:xfrm>
          <a:prstGeom prst="roundRect">
            <a:avLst/>
          </a:prstGeom>
        </p:spPr>
        <p:style>
          <a:lnRef idx="2">
            <a:schemeClr val="accent1"/>
          </a:lnRef>
          <a:fillRef idx="1">
            <a:schemeClr val="lt1"/>
          </a:fillRef>
          <a:effectRef idx="0">
            <a:schemeClr val="accent1"/>
          </a:effectRef>
          <a:fontRef idx="minor">
            <a:schemeClr val="dk1"/>
          </a:fontRef>
        </p:style>
        <p:txBody>
          <a:bodyPr anchor="ctr" anchorCtr="1"/>
          <a:lstStyle/>
          <a:p>
            <a:pPr indent="457200">
              <a:lnSpc>
                <a:spcPct val="120000"/>
              </a:lnSpc>
              <a:spcBef>
                <a:spcPct val="20000"/>
              </a:spcBef>
              <a:defRPr/>
            </a:pPr>
            <a:r>
              <a:rPr sz="2000" b="1" dirty="0">
                <a:solidFill>
                  <a:srgbClr val="C00000"/>
                </a:solidFill>
                <a:latin typeface="Arial" panose="020B0604020202020204" pitchFamily="34" charset="0"/>
              </a:rPr>
              <a:t>1</a:t>
            </a:r>
            <a:r>
              <a:rPr lang="zh-CN" sz="2000" b="1" dirty="0">
                <a:solidFill>
                  <a:srgbClr val="C00000"/>
                </a:solidFill>
                <a:latin typeface="Arial" panose="020B0604020202020204" pitchFamily="34" charset="0"/>
              </a:rPr>
              <a:t>）</a:t>
            </a:r>
            <a:r>
              <a:rPr sz="2000" b="1" dirty="0" err="1">
                <a:solidFill>
                  <a:srgbClr val="C00000"/>
                </a:solidFill>
                <a:latin typeface="Arial" panose="020B0604020202020204" pitchFamily="34" charset="0"/>
              </a:rPr>
              <a:t>智能移动终端恶意代码检测技术</a:t>
            </a:r>
            <a:endParaRPr sz="2000" b="1" dirty="0">
              <a:solidFill>
                <a:srgbClr val="C00000"/>
              </a:solidFill>
              <a:latin typeface="Arial" panose="020B0604020202020204" pitchFamily="34" charset="0"/>
            </a:endParaRPr>
          </a:p>
          <a:p>
            <a:pPr indent="457200">
              <a:lnSpc>
                <a:spcPct val="120000"/>
              </a:lnSpc>
              <a:spcBef>
                <a:spcPct val="20000"/>
              </a:spcBef>
              <a:defRPr/>
            </a:pPr>
            <a:r>
              <a:rPr sz="2000" b="1" dirty="0">
                <a:solidFill>
                  <a:schemeClr val="tx1"/>
                </a:solidFill>
                <a:latin typeface="Arial" panose="020B0604020202020204" pitchFamily="34" charset="0"/>
              </a:rPr>
              <a:t>针对智能移动终端恶意代码研发的新型恶意代码检测技术，是在原有PC </a:t>
            </a:r>
            <a:r>
              <a:rPr sz="2000" b="1" dirty="0" err="1">
                <a:solidFill>
                  <a:schemeClr val="tx1"/>
                </a:solidFill>
                <a:latin typeface="Arial" panose="020B0604020202020204" pitchFamily="34" charset="0"/>
              </a:rPr>
              <a:t>机已有的恶意代码检测技术的基础上，结合智能移动终端的特点引入的新技术</a:t>
            </a:r>
            <a:r>
              <a:rPr sz="2000" b="1" dirty="0">
                <a:solidFill>
                  <a:schemeClr val="tx1"/>
                </a:solidFill>
                <a:latin typeface="Arial" panose="020B0604020202020204" pitchFamily="34" charset="0"/>
              </a:rPr>
              <a:t>。</a:t>
            </a:r>
            <a:endParaRPr sz="2000" b="1" dirty="0">
              <a:solidFill>
                <a:schemeClr val="tx1"/>
              </a:solidFill>
              <a:latin typeface="Arial" panose="020B0604020202020204" pitchFamily="34" charset="0"/>
            </a:endParaRPr>
          </a:p>
          <a:p>
            <a:pPr indent="457200">
              <a:lnSpc>
                <a:spcPct val="120000"/>
              </a:lnSpc>
              <a:spcBef>
                <a:spcPct val="20000"/>
              </a:spcBef>
              <a:defRPr/>
            </a:pPr>
            <a:r>
              <a:rPr sz="2000" b="1" dirty="0">
                <a:solidFill>
                  <a:srgbClr val="C00000"/>
                </a:solidFill>
                <a:latin typeface="Arial" panose="020B0604020202020204" pitchFamily="34" charset="0"/>
              </a:rPr>
              <a:t>2）可穿戴设备安全防护技术</a:t>
            </a:r>
            <a:endParaRPr sz="2000" b="1" dirty="0">
              <a:solidFill>
                <a:srgbClr val="C00000"/>
              </a:solidFill>
              <a:latin typeface="Arial" panose="020B0604020202020204" pitchFamily="34" charset="0"/>
            </a:endParaRPr>
          </a:p>
          <a:p>
            <a:pPr indent="457200">
              <a:lnSpc>
                <a:spcPct val="120000"/>
              </a:lnSpc>
              <a:spcBef>
                <a:spcPct val="20000"/>
              </a:spcBef>
              <a:defRPr/>
            </a:pPr>
            <a:r>
              <a:rPr sz="2000" b="1" dirty="0" err="1">
                <a:solidFill>
                  <a:schemeClr val="tx1"/>
                </a:solidFill>
                <a:latin typeface="Arial" panose="020B0604020202020204" pitchFamily="34" charset="0"/>
              </a:rPr>
              <a:t>生物特征识别技术</a:t>
            </a:r>
            <a:r>
              <a:rPr sz="2000" b="1" dirty="0">
                <a:solidFill>
                  <a:schemeClr val="tx1"/>
                </a:solidFill>
                <a:latin typeface="Arial" panose="020B0604020202020204" pitchFamily="34" charset="0"/>
              </a:rPr>
              <a:t>。</a:t>
            </a:r>
            <a:r>
              <a:rPr sz="2000" b="1" dirty="0" err="1">
                <a:solidFill>
                  <a:schemeClr val="tx1"/>
                </a:solidFill>
                <a:latin typeface="Arial" panose="020B0604020202020204" pitchFamily="34" charset="0"/>
              </a:rPr>
              <a:t>用生物体本身特征对用户进行身份验证，如指纹识别技术</a:t>
            </a:r>
            <a:r>
              <a:rPr sz="2000" b="1" dirty="0">
                <a:solidFill>
                  <a:schemeClr val="tx1"/>
                </a:solidFill>
                <a:latin typeface="Arial" panose="020B0604020202020204" pitchFamily="34" charset="0"/>
              </a:rPr>
              <a:t>。</a:t>
            </a:r>
            <a:endParaRPr sz="2000" b="1" dirty="0">
              <a:solidFill>
                <a:schemeClr val="tx1"/>
              </a:solidFill>
              <a:latin typeface="Arial" panose="020B0604020202020204" pitchFamily="34" charset="0"/>
            </a:endParaRPr>
          </a:p>
          <a:p>
            <a:pPr indent="457200">
              <a:lnSpc>
                <a:spcPct val="120000"/>
              </a:lnSpc>
              <a:spcBef>
                <a:spcPct val="20000"/>
              </a:spcBef>
              <a:defRPr/>
            </a:pPr>
            <a:r>
              <a:rPr sz="2000" b="1" dirty="0" err="1">
                <a:solidFill>
                  <a:schemeClr val="tx1"/>
                </a:solidFill>
                <a:latin typeface="Arial" panose="020B0604020202020204" pitchFamily="34" charset="0"/>
              </a:rPr>
              <a:t>入侵检测与病毒防御工具</a:t>
            </a:r>
            <a:r>
              <a:rPr sz="2000" b="1" dirty="0">
                <a:solidFill>
                  <a:schemeClr val="tx1"/>
                </a:solidFill>
                <a:latin typeface="Arial" panose="020B0604020202020204" pitchFamily="34" charset="0"/>
              </a:rPr>
              <a:t>。</a:t>
            </a:r>
            <a:r>
              <a:rPr sz="2000" b="1" dirty="0" err="1">
                <a:solidFill>
                  <a:schemeClr val="tx1"/>
                </a:solidFill>
                <a:latin typeface="Arial" panose="020B0604020202020204" pitchFamily="34" charset="0"/>
              </a:rPr>
              <a:t>在设备中引入异常检测及病毒防护模块</a:t>
            </a:r>
            <a:r>
              <a:rPr sz="2000" b="1" dirty="0">
                <a:solidFill>
                  <a:schemeClr val="tx1"/>
                </a:solidFill>
                <a:latin typeface="Arial" panose="020B0604020202020204" pitchFamily="34" charset="0"/>
              </a:rPr>
              <a:t>。</a:t>
            </a:r>
            <a:r>
              <a:rPr sz="2000" b="1" dirty="0" err="1">
                <a:solidFill>
                  <a:schemeClr val="tx1"/>
                </a:solidFill>
                <a:latin typeface="Arial" panose="020B0604020202020204" pitchFamily="34" charset="0"/>
              </a:rPr>
              <a:t>由于可穿戴设备中本身的计算能力有限，因此，嵌入在可穿戴设备中的入侵检测或病毒防护模块只能以数据收集为主</a:t>
            </a:r>
            <a:r>
              <a:rPr sz="2000" b="1" dirty="0">
                <a:solidFill>
                  <a:schemeClr val="tx1"/>
                </a:solidFill>
                <a:latin typeface="Arial" panose="020B0604020202020204" pitchFamily="34" charset="0"/>
              </a:rPr>
              <a:t>。</a:t>
            </a:r>
            <a:endParaRPr sz="2000" b="1" dirty="0">
              <a:solidFill>
                <a:schemeClr val="tx1"/>
              </a:solidFill>
              <a:latin typeface="Arial" panose="020B0604020202020204" pitchFamily="34" charset="0"/>
            </a:endParaRPr>
          </a:p>
        </p:txBody>
      </p:sp>
      <p:pic>
        <p:nvPicPr>
          <p:cNvPr id="47107" name="Picture 5" descr="j0285750"/>
          <p:cNvPicPr>
            <a:picLocks noChangeAspect="1" noChangeArrowheads="1"/>
          </p:cNvPicPr>
          <p:nvPr/>
        </p:nvPicPr>
        <p:blipFill>
          <a:blip r:embed="rId1" cstate="print"/>
          <a:srcRect/>
          <a:stretch>
            <a:fillRect/>
          </a:stretch>
        </p:blipFill>
        <p:spPr bwMode="auto">
          <a:xfrm>
            <a:off x="6096000" y="5715000"/>
            <a:ext cx="1239838" cy="762000"/>
          </a:xfrm>
          <a:prstGeom prst="rect">
            <a:avLst/>
          </a:prstGeom>
          <a:noFill/>
          <a:ln w="9525">
            <a:noFill/>
            <a:miter lim="800000"/>
            <a:headEnd/>
            <a:tailEnd/>
          </a:ln>
        </p:spPr>
      </p:pic>
      <p:sp>
        <p:nvSpPr>
          <p:cNvPr id="2" name="Rectangle 2"/>
          <p:cNvSpPr txBox="1">
            <a:spLocks noChangeArrowheads="1"/>
          </p:cNvSpPr>
          <p:nvPr/>
        </p:nvSpPr>
        <p:spPr bwMode="white">
          <a:xfrm>
            <a:off x="231775" y="198438"/>
            <a:ext cx="7450138" cy="563562"/>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en-US" altLang="zh-CN" sz="3200" dirty="0" smtClean="0">
                <a:solidFill>
                  <a:schemeClr val="bg1"/>
                </a:solidFill>
              </a:rPr>
              <a:t>1.</a:t>
            </a:r>
            <a:r>
              <a:rPr lang="en-US" altLang="zh-CN" sz="3200" dirty="0" smtClean="0">
                <a:solidFill>
                  <a:schemeClr val="bg1"/>
                </a:solidFill>
                <a:sym typeface="+mn-ea"/>
              </a:rPr>
              <a:t>3 网络安全主要常用技术</a:t>
            </a:r>
            <a:endParaRPr lang="en-US" altLang="zh-CN" sz="3200" dirty="0" smtClean="0">
              <a:solidFill>
                <a:schemeClr val="bg1"/>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内容占位符 2"/>
          <p:cNvSpPr>
            <a:spLocks noGrp="1" noChangeArrowheads="1"/>
          </p:cNvSpPr>
          <p:nvPr/>
        </p:nvSpPr>
        <p:spPr bwMode="auto">
          <a:xfrm>
            <a:off x="468313" y="1068388"/>
            <a:ext cx="8153400" cy="887412"/>
          </a:xfrm>
          <a:prstGeom prst="rect">
            <a:avLst/>
          </a:prstGeom>
          <a:noFill/>
          <a:ln w="9525">
            <a:noFill/>
            <a:miter lim="800000"/>
          </a:ln>
        </p:spPr>
        <p:txBody>
          <a:bodyPr/>
          <a:lstStyle/>
          <a:p>
            <a:pPr marL="342900" indent="-342900" eaLnBrk="0" hangingPunct="0">
              <a:spcBef>
                <a:spcPct val="20000"/>
              </a:spcBef>
              <a:buClr>
                <a:schemeClr val="hlink"/>
              </a:buClr>
              <a:buFont typeface="Wingdings" panose="05000000000000000000" pitchFamily="2" charset="2"/>
              <a:buChar char="n"/>
            </a:pPr>
            <a:r>
              <a:rPr lang="en-US" altLang="zh-CN" b="1">
                <a:solidFill>
                  <a:srgbClr val="CC0000"/>
                </a:solidFill>
              </a:rPr>
              <a:t>*</a:t>
            </a:r>
            <a:r>
              <a:rPr lang="zh-CN" altLang="en-US" b="1">
                <a:solidFill>
                  <a:srgbClr val="CC0000"/>
                </a:solidFill>
              </a:rPr>
              <a:t>（</a:t>
            </a:r>
            <a:r>
              <a:rPr lang="en-US" altLang="zh-CN" b="1">
                <a:solidFill>
                  <a:srgbClr val="CC0000"/>
                </a:solidFill>
              </a:rPr>
              <a:t>3</a:t>
            </a:r>
            <a:r>
              <a:rPr lang="zh-CN" altLang="en-US" b="1">
                <a:solidFill>
                  <a:srgbClr val="CC0000"/>
                </a:solidFill>
              </a:rPr>
              <a:t>）网络空间安全新技术</a:t>
            </a:r>
            <a:endParaRPr lang="zh-CN" altLang="en-US" b="1">
              <a:solidFill>
                <a:srgbClr val="CC0000"/>
              </a:solidFill>
            </a:endParaRPr>
          </a:p>
        </p:txBody>
      </p:sp>
      <p:sp>
        <p:nvSpPr>
          <p:cNvPr id="167" name=" 167"/>
          <p:cNvSpPr/>
          <p:nvPr/>
        </p:nvSpPr>
        <p:spPr>
          <a:xfrm>
            <a:off x="457200" y="1676400"/>
            <a:ext cx="8154035" cy="4628914"/>
          </a:xfrm>
          <a:prstGeom prst="roundRect">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lnSpc>
                <a:spcPct val="90000"/>
              </a:lnSpc>
              <a:spcBef>
                <a:spcPts val="0"/>
              </a:spcBef>
              <a:spcAft>
                <a:spcPts val="0"/>
              </a:spcAft>
              <a:buFont typeface="Wingdings" panose="05000000000000000000" pitchFamily="2" charset="2"/>
              <a:buNone/>
              <a:defRPr/>
            </a:pPr>
            <a:r>
              <a:rPr lang="zh-CN" altLang="en-US" sz="2000" b="1" noProof="1" smtClean="0">
                <a:solidFill>
                  <a:srgbClr val="C00000"/>
                </a:solidFill>
              </a:rPr>
              <a:t>3</a:t>
            </a:r>
            <a:r>
              <a:rPr lang="zh-CN" altLang="en-US" sz="2000" b="1" noProof="1">
                <a:solidFill>
                  <a:srgbClr val="C00000"/>
                </a:solidFill>
              </a:rPr>
              <a:t>）云存储安全技术</a:t>
            </a:r>
            <a:endParaRPr lang="zh-CN" altLang="en-US" sz="2000" b="1" noProof="1">
              <a:solidFill>
                <a:srgbClr val="C00000"/>
              </a:solidFill>
            </a:endParaRPr>
          </a:p>
          <a:p>
            <a:pPr indent="457200" eaLnBrk="1" fontAlgn="auto" hangingPunct="1">
              <a:lnSpc>
                <a:spcPct val="90000"/>
              </a:lnSpc>
              <a:spcBef>
                <a:spcPts val="0"/>
              </a:spcBef>
              <a:spcAft>
                <a:spcPts val="0"/>
              </a:spcAft>
              <a:buFont typeface="Wingdings" panose="05000000000000000000" pitchFamily="2" charset="2"/>
              <a:buNone/>
              <a:defRPr/>
            </a:pPr>
            <a:r>
              <a:rPr lang="zh-CN" altLang="en-US" sz="2000" b="1" noProof="1" smtClean="0">
                <a:solidFill>
                  <a:schemeClr val="tx1"/>
                </a:solidFill>
              </a:rPr>
              <a:t>①云</a:t>
            </a:r>
            <a:r>
              <a:rPr lang="zh-CN" altLang="en-US" sz="2000" b="1" noProof="1">
                <a:solidFill>
                  <a:schemeClr val="tx1"/>
                </a:solidFill>
              </a:rPr>
              <a:t>容灾技术。用物理隔离设备和特殊算法，实现资源的异地分配。当设备意外损毁，可利用储存在其他设备上的冗余信息恢复出原数据</a:t>
            </a:r>
            <a:r>
              <a:rPr lang="zh-CN" altLang="en-US" sz="2000" b="1" noProof="1" smtClean="0">
                <a:solidFill>
                  <a:schemeClr val="tx1"/>
                </a:solidFill>
              </a:rPr>
              <a:t>。</a:t>
            </a:r>
            <a:endParaRPr lang="zh-CN" altLang="en-US" sz="2000" b="1" noProof="1">
              <a:solidFill>
                <a:schemeClr val="tx1"/>
              </a:solidFill>
            </a:endParaRPr>
          </a:p>
          <a:p>
            <a:pPr indent="457200" eaLnBrk="1" fontAlgn="auto" hangingPunct="1">
              <a:lnSpc>
                <a:spcPct val="90000"/>
              </a:lnSpc>
              <a:spcBef>
                <a:spcPts val="0"/>
              </a:spcBef>
              <a:spcAft>
                <a:spcPts val="0"/>
              </a:spcAft>
              <a:buFont typeface="Wingdings" panose="05000000000000000000" pitchFamily="2" charset="2"/>
              <a:buNone/>
              <a:defRPr/>
            </a:pPr>
            <a:r>
              <a:rPr lang="zh-CN" altLang="en-US" sz="2000" b="1" noProof="1" smtClean="0">
                <a:solidFill>
                  <a:schemeClr val="tx1"/>
                </a:solidFill>
              </a:rPr>
              <a:t>②可</a:t>
            </a:r>
            <a:r>
              <a:rPr lang="zh-CN" altLang="en-US" sz="2000" b="1" noProof="1">
                <a:solidFill>
                  <a:schemeClr val="tx1"/>
                </a:solidFill>
              </a:rPr>
              <a:t>搜索加密与数据完整性校验技术。可通过关键字搜索云端密文数据。新可搜索加密技术应注重关键词保护</a:t>
            </a:r>
            <a:r>
              <a:rPr lang="en-US" altLang="zh-CN" sz="2000" b="1" noProof="1">
                <a:solidFill>
                  <a:schemeClr val="tx1"/>
                </a:solidFill>
              </a:rPr>
              <a:t>,</a:t>
            </a:r>
            <a:r>
              <a:rPr lang="zh-CN" altLang="en-US" sz="2000" b="1" noProof="1">
                <a:solidFill>
                  <a:schemeClr val="tx1"/>
                </a:solidFill>
              </a:rPr>
              <a:t>持模糊搜索</a:t>
            </a:r>
            <a:r>
              <a:rPr lang="en-US" altLang="zh-CN" sz="2000" b="1" noProof="1">
                <a:solidFill>
                  <a:schemeClr val="tx1"/>
                </a:solidFill>
              </a:rPr>
              <a:t>,</a:t>
            </a:r>
            <a:r>
              <a:rPr lang="zh-CN" altLang="en-US" sz="2000" b="1" noProof="1">
                <a:solidFill>
                  <a:schemeClr val="tx1"/>
                </a:solidFill>
              </a:rPr>
              <a:t>允许用户搜索时误输入</a:t>
            </a:r>
            <a:r>
              <a:rPr lang="en-US" altLang="zh-CN" sz="2000" b="1" noProof="1">
                <a:solidFill>
                  <a:schemeClr val="tx1"/>
                </a:solidFill>
              </a:rPr>
              <a:t>,</a:t>
            </a:r>
            <a:r>
              <a:rPr lang="zh-CN" altLang="en-US" sz="2000" b="1" noProof="1">
                <a:solidFill>
                  <a:schemeClr val="tx1"/>
                </a:solidFill>
              </a:rPr>
              <a:t>并支持多关键词检索，对服务器返回结果进行有效性验证</a:t>
            </a:r>
            <a:r>
              <a:rPr lang="zh-CN" altLang="en-US" sz="2000" b="1" noProof="1" smtClean="0">
                <a:solidFill>
                  <a:schemeClr val="tx1"/>
                </a:solidFill>
              </a:rPr>
              <a:t>。</a:t>
            </a:r>
            <a:endParaRPr lang="zh-CN" altLang="en-US" sz="2000" b="1" noProof="1">
              <a:solidFill>
                <a:schemeClr val="tx1"/>
              </a:solidFill>
            </a:endParaRPr>
          </a:p>
          <a:p>
            <a:pPr indent="457200" eaLnBrk="1" fontAlgn="auto" hangingPunct="1">
              <a:lnSpc>
                <a:spcPct val="90000"/>
              </a:lnSpc>
              <a:spcBef>
                <a:spcPts val="0"/>
              </a:spcBef>
              <a:spcAft>
                <a:spcPts val="0"/>
              </a:spcAft>
              <a:buFont typeface="Wingdings" panose="05000000000000000000" pitchFamily="2" charset="2"/>
              <a:buNone/>
              <a:defRPr/>
            </a:pPr>
            <a:r>
              <a:rPr lang="zh-CN" altLang="en-US" sz="2000" b="1" noProof="1" smtClean="0">
                <a:solidFill>
                  <a:schemeClr val="tx1"/>
                </a:solidFill>
              </a:rPr>
              <a:t>③基</a:t>
            </a:r>
            <a:r>
              <a:rPr lang="zh-CN" altLang="en-US" sz="2000" b="1" noProof="1">
                <a:solidFill>
                  <a:schemeClr val="tx1"/>
                </a:solidFill>
              </a:rPr>
              <a:t>于属性的加密技术。支持一对多加密模式，在基于属性的加密系统中，用户向属性中心提供属性列表信息或访问结构，中心返回给用户私钥。数据拥有者选择属性列表或访问结构对数据加密，将密文外包给云服务器存储</a:t>
            </a:r>
            <a:r>
              <a:rPr lang="zh-CN" altLang="en-US" sz="2000" b="1" noProof="1" smtClean="0">
                <a:solidFill>
                  <a:schemeClr val="tx1"/>
                </a:solidFill>
              </a:rPr>
              <a:t>。</a:t>
            </a:r>
            <a:endParaRPr lang="zh-CN" altLang="en-US" sz="2000" b="1" noProof="1">
              <a:solidFill>
                <a:schemeClr val="tx1"/>
              </a:solidFill>
            </a:endParaRPr>
          </a:p>
          <a:p>
            <a:pPr indent="457200" eaLnBrk="1" fontAlgn="auto" hangingPunct="1">
              <a:lnSpc>
                <a:spcPct val="90000"/>
              </a:lnSpc>
              <a:spcBef>
                <a:spcPts val="0"/>
              </a:spcBef>
              <a:spcAft>
                <a:spcPts val="0"/>
              </a:spcAft>
              <a:buFont typeface="Wingdings" panose="05000000000000000000" pitchFamily="2" charset="2"/>
              <a:buNone/>
              <a:defRPr/>
            </a:pPr>
            <a:r>
              <a:rPr lang="zh-CN" altLang="en-US" sz="2000" b="1" noProof="1" smtClean="0">
                <a:solidFill>
                  <a:schemeClr val="tx1"/>
                </a:solidFill>
              </a:rPr>
              <a:t>4</a:t>
            </a:r>
            <a:r>
              <a:rPr lang="zh-CN" altLang="en-US" sz="2000" b="1" noProof="1">
                <a:solidFill>
                  <a:schemeClr val="tx1"/>
                </a:solidFill>
              </a:rPr>
              <a:t>）量子密</a:t>
            </a:r>
            <a:r>
              <a:rPr lang="zh-CN" altLang="en-US" sz="2000" b="1" noProof="1" smtClean="0">
                <a:solidFill>
                  <a:schemeClr val="tx1"/>
                </a:solidFill>
              </a:rPr>
              <a:t>码。量</a:t>
            </a:r>
            <a:r>
              <a:rPr lang="zh-CN" altLang="en-US" sz="2000" b="1" noProof="1">
                <a:solidFill>
                  <a:schemeClr val="tx1"/>
                </a:solidFill>
              </a:rPr>
              <a:t>子计算机的高度并行计算能力，可将计算难题化解为可求解问题。以量子计算复杂度为基础设计的密码系统具有抗量子计算优点，可有效地提高现代密码体制的安全</a:t>
            </a:r>
            <a:r>
              <a:rPr lang="zh-CN" altLang="en-US" sz="2000" b="1" noProof="1" smtClean="0">
                <a:solidFill>
                  <a:schemeClr val="tx1"/>
                </a:solidFill>
              </a:rPr>
              <a:t>。</a:t>
            </a:r>
            <a:endParaRPr lang="zh-CN" altLang="en-US" sz="2000" b="1" noProof="1">
              <a:solidFill>
                <a:schemeClr val="tx1"/>
              </a:solidFill>
            </a:endParaRPr>
          </a:p>
        </p:txBody>
      </p:sp>
      <p:pic>
        <p:nvPicPr>
          <p:cNvPr id="48131" name="Picture 5" descr="C:\Users\Administrator\Desktop\图标.jpg"/>
          <p:cNvPicPr>
            <a:picLocks noChangeAspect="1" noChangeArrowheads="1"/>
          </p:cNvPicPr>
          <p:nvPr/>
        </p:nvPicPr>
        <p:blipFill>
          <a:blip r:embed="rId1" cstate="print"/>
          <a:srcRect/>
          <a:stretch>
            <a:fillRect/>
          </a:stretch>
        </p:blipFill>
        <p:spPr bwMode="auto">
          <a:xfrm>
            <a:off x="6934200" y="5867400"/>
            <a:ext cx="1152525" cy="714375"/>
          </a:xfrm>
          <a:prstGeom prst="rect">
            <a:avLst/>
          </a:prstGeom>
          <a:noFill/>
          <a:ln w="9525">
            <a:noFill/>
            <a:miter lim="800000"/>
            <a:headEnd/>
            <a:tailEnd/>
          </a:ln>
        </p:spPr>
      </p:pic>
      <p:sp>
        <p:nvSpPr>
          <p:cNvPr id="2" name="Rectangle 2"/>
          <p:cNvSpPr txBox="1">
            <a:spLocks noChangeArrowheads="1"/>
          </p:cNvSpPr>
          <p:nvPr/>
        </p:nvSpPr>
        <p:spPr bwMode="white">
          <a:xfrm>
            <a:off x="231775" y="198438"/>
            <a:ext cx="7450138" cy="563562"/>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en-US" altLang="zh-CN" sz="3200" dirty="0" smtClean="0">
                <a:solidFill>
                  <a:schemeClr val="bg1"/>
                </a:solidFill>
              </a:rPr>
              <a:t>1.</a:t>
            </a:r>
            <a:r>
              <a:rPr lang="en-US" altLang="zh-CN" sz="3200" dirty="0" smtClean="0">
                <a:solidFill>
                  <a:schemeClr val="bg1"/>
                </a:solidFill>
                <a:sym typeface="+mn-ea"/>
              </a:rPr>
              <a:t>3 网络安全主要常用技术</a:t>
            </a:r>
            <a:endParaRPr lang="en-US" altLang="zh-CN" sz="3200" dirty="0" smtClean="0">
              <a:solidFill>
                <a:schemeClr val="bg1"/>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内容占位符 2"/>
          <p:cNvSpPr/>
          <p:nvPr/>
        </p:nvSpPr>
        <p:spPr>
          <a:xfrm>
            <a:off x="577850" y="1143000"/>
            <a:ext cx="7990205" cy="396240"/>
          </a:xfrm>
          <a:prstGeom prst="rect">
            <a:avLst/>
          </a:prstGeom>
          <a:noFill/>
          <a:ln w="9525">
            <a:noFill/>
          </a:ln>
        </p:spPr>
        <p:txBody>
          <a:bodyPr/>
          <a:lstStyle/>
          <a:p>
            <a:pPr marL="342900" indent="-342900" eaLnBrk="0" hangingPunct="0">
              <a:spcBef>
                <a:spcPts val="0"/>
              </a:spcBef>
              <a:buClr>
                <a:schemeClr val="hlink"/>
              </a:buClr>
              <a:buFont typeface="Wingdings" panose="05000000000000000000" pitchFamily="2" charset="2"/>
              <a:buChar char="n"/>
              <a:defRPr/>
            </a:pPr>
            <a:r>
              <a:rPr lang="en-US" altLang="zh-CN" b="1" noProof="1">
                <a:solidFill>
                  <a:srgbClr val="FF0000"/>
                </a:solidFill>
                <a:latin typeface="宋体" panose="02010600030101010101" pitchFamily="2" charset="-122"/>
                <a:cs typeface="+mn-ea"/>
              </a:rPr>
              <a:t>2. </a:t>
            </a:r>
            <a:r>
              <a:rPr lang="zh-CN" altLang="en-US" b="1" noProof="1">
                <a:solidFill>
                  <a:srgbClr val="FF0000"/>
                </a:solidFill>
                <a:latin typeface="宋体" panose="02010600030101010101" pitchFamily="2" charset="-122"/>
                <a:cs typeface="+mn-ea"/>
              </a:rPr>
              <a:t>网络安全常用模型</a:t>
            </a:r>
            <a:endParaRPr lang="zh-CN" altLang="en-US" b="1" noProof="1">
              <a:solidFill>
                <a:srgbClr val="FF0000"/>
              </a:solidFill>
              <a:latin typeface="宋体" panose="02010600030101010101" pitchFamily="2" charset="-122"/>
              <a:cs typeface="+mn-ea"/>
            </a:endParaRPr>
          </a:p>
          <a:p>
            <a:pPr marL="0" indent="0" eaLnBrk="0" hangingPunct="0">
              <a:spcBef>
                <a:spcPts val="0"/>
              </a:spcBef>
              <a:buClr>
                <a:schemeClr val="hlink"/>
              </a:buClr>
              <a:buFont typeface="Wingdings" panose="05000000000000000000" pitchFamily="2" charset="2"/>
              <a:buNone/>
              <a:defRPr/>
            </a:pPr>
            <a:r>
              <a:rPr lang="zh-CN" altLang="en-US" b="1" noProof="1">
                <a:solidFill>
                  <a:srgbClr val="FF0000"/>
                </a:solidFill>
                <a:latin typeface="宋体" panose="02010600030101010101" pitchFamily="2" charset="-122"/>
              </a:rPr>
              <a:t>   </a:t>
            </a:r>
            <a:r>
              <a:rPr lang="zh-CN" altLang="en-US" b="1" noProof="1">
                <a:solidFill>
                  <a:schemeClr val="tx1"/>
                </a:solidFill>
                <a:latin typeface="宋体" panose="02010600030101010101" pitchFamily="2" charset="-122"/>
              </a:rPr>
              <a:t>网络安全模型：对动态网络安全过程的抽象描述。</a:t>
            </a:r>
            <a:endParaRPr lang="zh-CN" altLang="en-US" b="1" noProof="1">
              <a:solidFill>
                <a:srgbClr val="FF0000"/>
              </a:solidFill>
              <a:latin typeface="宋体" panose="02010600030101010101" pitchFamily="2" charset="-122"/>
            </a:endParaRPr>
          </a:p>
          <a:p>
            <a:pPr eaLnBrk="0" hangingPunct="0">
              <a:spcBef>
                <a:spcPts val="0"/>
              </a:spcBef>
              <a:buClr>
                <a:schemeClr val="hlink"/>
              </a:buClr>
              <a:buFont typeface="Wingdings" panose="05000000000000000000" pitchFamily="2" charset="2"/>
              <a:buNone/>
              <a:defRPr/>
            </a:pPr>
            <a:r>
              <a:rPr lang="zh-CN" altLang="en-US" b="1" noProof="1">
                <a:cs typeface="+mn-ea"/>
              </a:rPr>
              <a:t>      </a:t>
            </a:r>
            <a:r>
              <a:rPr lang="zh-CN" altLang="en-US" sz="2200" b="1" noProof="1">
                <a:cs typeface="+mn-ea"/>
              </a:rPr>
              <a:t>借助网络安全模型可构建网络安全体系和结构</a:t>
            </a:r>
            <a:r>
              <a:rPr lang="en-US" altLang="zh-CN" sz="2200" b="1" noProof="1">
                <a:cs typeface="+mn-ea"/>
              </a:rPr>
              <a:t>,</a:t>
            </a:r>
            <a:r>
              <a:rPr lang="zh-CN" altLang="en-US" sz="2200" b="1" noProof="1">
                <a:cs typeface="+mn-ea"/>
              </a:rPr>
              <a:t>进行网络安全解决方案制定、规划、设计和实施等，也可用于实际应用网络安全实施过程的描述和研究。</a:t>
            </a:r>
            <a:endParaRPr lang="zh-CN" altLang="en-US" sz="2200" b="1" noProof="1">
              <a:cs typeface="+mn-ea"/>
            </a:endParaRPr>
          </a:p>
          <a:p>
            <a:pPr eaLnBrk="0" hangingPunct="0">
              <a:spcBef>
                <a:spcPts val="0"/>
              </a:spcBef>
              <a:buClr>
                <a:schemeClr val="hlink"/>
              </a:buClr>
              <a:buFont typeface="Wingdings" panose="05000000000000000000" pitchFamily="2" charset="2"/>
              <a:buNone/>
              <a:defRPr/>
            </a:pPr>
            <a:r>
              <a:rPr lang="zh-CN" altLang="en-US" sz="2200" b="1" noProof="1">
                <a:cs typeface="+mn-ea"/>
              </a:rPr>
              <a:t>       通过对安全模型的研究，了解安全动态过程的构成因素，是构建合理而实用的安全策略体系的前提之一。为了达到安全防范的目标，需要建立合理的网络安全模型，以指导网络安全工作的部署和管理。</a:t>
            </a:r>
            <a:endParaRPr lang="zh-CN" altLang="en-US" sz="2200" b="1" noProof="1">
              <a:cs typeface="+mn-ea"/>
            </a:endParaRPr>
          </a:p>
          <a:p>
            <a:pPr eaLnBrk="0" hangingPunct="0">
              <a:spcBef>
                <a:spcPts val="0"/>
              </a:spcBef>
              <a:buClr>
                <a:schemeClr val="hlink"/>
              </a:buClr>
              <a:buFont typeface="Wingdings" panose="05000000000000000000" pitchFamily="2" charset="2"/>
              <a:buNone/>
              <a:defRPr/>
            </a:pPr>
            <a:r>
              <a:rPr lang="en-US" altLang="zh-CN" sz="2200" b="1" noProof="1">
                <a:cs typeface="+mn-ea"/>
              </a:rPr>
              <a:t>	</a:t>
            </a:r>
            <a:r>
              <a:rPr lang="zh-CN" altLang="en-US" sz="2200" b="1" noProof="1">
                <a:cs typeface="+mn-ea"/>
              </a:rPr>
              <a:t>网络安全模型：从</a:t>
            </a:r>
            <a:r>
              <a:rPr lang="en-US" altLang="zh-CN" sz="2200" b="1" noProof="1">
                <a:cs typeface="+mn-ea"/>
              </a:rPr>
              <a:t>PDR</a:t>
            </a:r>
            <a:r>
              <a:rPr lang="zh-CN" altLang="en-US" sz="2200" b="1" noProof="1">
                <a:cs typeface="+mn-ea"/>
              </a:rPr>
              <a:t>到</a:t>
            </a:r>
            <a:r>
              <a:rPr lang="en-US" altLang="zh-CN" sz="2200" b="1">
                <a:cs typeface="+mn-ea"/>
                <a:sym typeface="+mn-ea"/>
              </a:rPr>
              <a:t>PDRR</a:t>
            </a:r>
            <a:r>
              <a:rPr lang="zh-CN" altLang="en-US" sz="2200" b="1">
                <a:cs typeface="+mn-ea"/>
                <a:sym typeface="+mn-ea"/>
              </a:rPr>
              <a:t>、</a:t>
            </a:r>
            <a:r>
              <a:rPr lang="en-US" altLang="zh-CN" sz="2200" b="1" noProof="1">
                <a:cs typeface="+mn-ea"/>
              </a:rPr>
              <a:t>PPDR</a:t>
            </a:r>
            <a:r>
              <a:rPr lang="zh-CN" altLang="en-US" sz="2200" b="1" noProof="1">
                <a:cs typeface="+mn-ea"/>
              </a:rPr>
              <a:t>、</a:t>
            </a:r>
            <a:r>
              <a:rPr lang="en-US" altLang="zh-CN" sz="2200" b="1" noProof="1">
                <a:cs typeface="+mn-ea"/>
              </a:rPr>
              <a:t>PPDRR</a:t>
            </a:r>
            <a:r>
              <a:rPr lang="zh-CN" altLang="en-US" sz="2200" b="1" noProof="1">
                <a:cs typeface="+mn-ea"/>
              </a:rPr>
              <a:t>（</a:t>
            </a:r>
            <a:r>
              <a:rPr lang="en-US" altLang="zh-CN" sz="2200" b="1" noProof="1">
                <a:cs typeface="+mn-ea"/>
              </a:rPr>
              <a:t>P2DR2</a:t>
            </a:r>
            <a:r>
              <a:rPr lang="zh-CN" altLang="en-US" sz="2200" b="1" noProof="1">
                <a:cs typeface="+mn-ea"/>
              </a:rPr>
              <a:t>）等，我国“八六三”信息安全专家组提出了WPDRRC信息安全模型。</a:t>
            </a:r>
            <a:endParaRPr lang="zh-CN" altLang="en-US" sz="2200" b="1" noProof="1">
              <a:cs typeface="+mn-ea"/>
            </a:endParaRPr>
          </a:p>
          <a:p>
            <a:pPr eaLnBrk="0" hangingPunct="0">
              <a:spcBef>
                <a:spcPts val="0"/>
              </a:spcBef>
              <a:buClr>
                <a:schemeClr val="hlink"/>
              </a:buClr>
              <a:buFont typeface="Wingdings" panose="05000000000000000000" pitchFamily="2" charset="2"/>
              <a:buNone/>
              <a:defRPr/>
            </a:pPr>
            <a:endParaRPr lang="zh-CN" altLang="en-US" sz="2200" b="1" noProof="1">
              <a:cs typeface="+mn-ea"/>
            </a:endParaRPr>
          </a:p>
          <a:p>
            <a:pPr eaLnBrk="0" hangingPunct="0">
              <a:spcBef>
                <a:spcPts val="0"/>
              </a:spcBef>
              <a:buClr>
                <a:schemeClr val="hlink"/>
              </a:buClr>
              <a:buFont typeface="Wingdings" panose="05000000000000000000" pitchFamily="2" charset="2"/>
              <a:buNone/>
              <a:defRPr/>
            </a:pPr>
            <a:endParaRPr lang="zh-CN" altLang="en-US" sz="2200" b="1" noProof="1"/>
          </a:p>
        </p:txBody>
      </p:sp>
      <p:sp>
        <p:nvSpPr>
          <p:cNvPr id="49159" name="AutoShape 6"/>
          <p:cNvSpPr>
            <a:spLocks noChangeArrowheads="1"/>
          </p:cNvSpPr>
          <p:nvPr/>
        </p:nvSpPr>
        <p:spPr bwMode="auto">
          <a:xfrm>
            <a:off x="457200" y="1143000"/>
            <a:ext cx="8369300" cy="5208905"/>
          </a:xfrm>
          <a:prstGeom prst="flowChartAlternateProcess">
            <a:avLst/>
          </a:prstGeom>
          <a:noFill/>
          <a:ln w="25400">
            <a:solidFill>
              <a:srgbClr val="1F38ED"/>
            </a:solidFill>
            <a:miter lim="800000"/>
          </a:ln>
        </p:spPr>
        <p:txBody>
          <a:bodyPr wrap="none" anchor="ctr"/>
          <a:lstStyle/>
          <a:p>
            <a:pPr>
              <a:spcBef>
                <a:spcPct val="20000"/>
              </a:spcBef>
              <a:buFont typeface="Wingdings" panose="05000000000000000000" pitchFamily="2" charset="2"/>
              <a:buNone/>
            </a:pPr>
            <a:endParaRPr lang="zh-CN" altLang="en-US" b="1"/>
          </a:p>
        </p:txBody>
      </p:sp>
      <p:sp>
        <p:nvSpPr>
          <p:cNvPr id="3" name="Rectangle 2"/>
          <p:cNvSpPr txBox="1">
            <a:spLocks noChangeArrowheads="1"/>
          </p:cNvSpPr>
          <p:nvPr/>
        </p:nvSpPr>
        <p:spPr bwMode="white">
          <a:xfrm>
            <a:off x="231775" y="198438"/>
            <a:ext cx="7450138" cy="563562"/>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en-US" altLang="zh-CN" sz="3200" dirty="0" smtClean="0">
                <a:solidFill>
                  <a:schemeClr val="bg1"/>
                </a:solidFill>
              </a:rPr>
              <a:t>1.</a:t>
            </a:r>
            <a:r>
              <a:rPr lang="en-US" altLang="zh-CN" sz="3200" dirty="0" smtClean="0">
                <a:solidFill>
                  <a:schemeClr val="bg1"/>
                </a:solidFill>
                <a:sym typeface="+mn-ea"/>
              </a:rPr>
              <a:t>3 网络安全主要常用技术</a:t>
            </a:r>
            <a:endParaRPr lang="en-US" altLang="zh-CN" sz="3200" dirty="0" smtClean="0">
              <a:solidFill>
                <a:schemeClr val="bg1"/>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内容占位符 2"/>
          <p:cNvSpPr/>
          <p:nvPr/>
        </p:nvSpPr>
        <p:spPr>
          <a:xfrm>
            <a:off x="577850" y="1143000"/>
            <a:ext cx="7990205" cy="396240"/>
          </a:xfrm>
          <a:prstGeom prst="rect">
            <a:avLst/>
          </a:prstGeom>
          <a:noFill/>
          <a:ln w="9525">
            <a:noFill/>
          </a:ln>
        </p:spPr>
        <p:txBody>
          <a:bodyPr/>
          <a:lstStyle/>
          <a:p>
            <a:pPr marL="342900" indent="-342900" eaLnBrk="0" hangingPunct="0">
              <a:spcBef>
                <a:spcPts val="0"/>
              </a:spcBef>
              <a:buClr>
                <a:schemeClr val="hlink"/>
              </a:buClr>
              <a:buFont typeface="Wingdings" panose="05000000000000000000" pitchFamily="2" charset="2"/>
              <a:buChar char="n"/>
              <a:defRPr/>
            </a:pPr>
            <a:r>
              <a:rPr lang="en-US" altLang="zh-CN" b="1" noProof="1">
                <a:solidFill>
                  <a:srgbClr val="FF0000"/>
                </a:solidFill>
                <a:latin typeface="宋体" panose="02010600030101010101" pitchFamily="2" charset="-122"/>
                <a:cs typeface="+mn-ea"/>
              </a:rPr>
              <a:t>2. </a:t>
            </a:r>
            <a:r>
              <a:rPr lang="zh-CN" altLang="en-US" b="1" noProof="1">
                <a:solidFill>
                  <a:srgbClr val="FF0000"/>
                </a:solidFill>
                <a:latin typeface="宋体" panose="02010600030101010101" pitchFamily="2" charset="-122"/>
                <a:cs typeface="+mn-ea"/>
              </a:rPr>
              <a:t>网络安全常用模型</a:t>
            </a:r>
            <a:endParaRPr lang="zh-CN" altLang="en-US" b="1" noProof="1">
              <a:solidFill>
                <a:srgbClr val="FF0000"/>
              </a:solidFill>
              <a:latin typeface="宋体" panose="02010600030101010101" pitchFamily="2" charset="-122"/>
              <a:cs typeface="+mn-ea"/>
            </a:endParaRPr>
          </a:p>
          <a:p>
            <a:pPr marL="0" indent="0" eaLnBrk="0" hangingPunct="0">
              <a:spcBef>
                <a:spcPts val="0"/>
              </a:spcBef>
              <a:buClr>
                <a:schemeClr val="hlink"/>
              </a:buClr>
              <a:buFont typeface="Wingdings" panose="05000000000000000000" pitchFamily="2" charset="2"/>
              <a:buNone/>
              <a:defRPr/>
            </a:pPr>
            <a:r>
              <a:rPr lang="zh-CN" altLang="en-US" b="1" noProof="1">
                <a:solidFill>
                  <a:srgbClr val="FF0000"/>
                </a:solidFill>
                <a:latin typeface="宋体" panose="02010600030101010101" pitchFamily="2" charset="-122"/>
              </a:rPr>
              <a:t>   </a:t>
            </a:r>
            <a:r>
              <a:rPr lang="zh-CN" altLang="en-US" b="1" noProof="1">
                <a:solidFill>
                  <a:schemeClr val="tx1"/>
                </a:solidFill>
                <a:latin typeface="宋体" panose="02010600030101010101" pitchFamily="2" charset="-122"/>
              </a:rPr>
              <a:t>网络安全模型：对动态网络安全过程的抽象描述。</a:t>
            </a:r>
            <a:endParaRPr lang="zh-CN" altLang="en-US" b="1" noProof="1">
              <a:solidFill>
                <a:srgbClr val="FF0000"/>
              </a:solidFill>
              <a:latin typeface="宋体" panose="02010600030101010101" pitchFamily="2" charset="-122"/>
            </a:endParaRPr>
          </a:p>
          <a:p>
            <a:pPr eaLnBrk="0" hangingPunct="0">
              <a:spcBef>
                <a:spcPts val="0"/>
              </a:spcBef>
              <a:buClr>
                <a:schemeClr val="hlink"/>
              </a:buClr>
              <a:buFont typeface="Wingdings" panose="05000000000000000000" pitchFamily="2" charset="2"/>
              <a:buNone/>
              <a:defRPr/>
            </a:pPr>
            <a:r>
              <a:rPr lang="zh-CN" altLang="en-US" b="1" noProof="1">
                <a:cs typeface="+mn-ea"/>
              </a:rPr>
              <a:t>      </a:t>
            </a:r>
            <a:r>
              <a:rPr lang="zh-CN" altLang="en-US" sz="2200" b="1" noProof="1">
                <a:cs typeface="+mn-ea"/>
              </a:rPr>
              <a:t>借助网络安全模型可构建网络安全体系和结构</a:t>
            </a:r>
            <a:r>
              <a:rPr lang="en-US" altLang="zh-CN" sz="2200" b="1" noProof="1">
                <a:cs typeface="+mn-ea"/>
              </a:rPr>
              <a:t>,</a:t>
            </a:r>
            <a:r>
              <a:rPr lang="zh-CN" altLang="en-US" sz="2200" b="1" noProof="1">
                <a:cs typeface="+mn-ea"/>
              </a:rPr>
              <a:t>进行网络安全解决方案制定、规划、设计和实施等，也可用于实际应用网络安全实施过程的描述和研究。</a:t>
            </a:r>
            <a:endParaRPr lang="zh-CN" altLang="en-US" sz="2200" b="1" noProof="1">
              <a:cs typeface="+mn-ea"/>
            </a:endParaRPr>
          </a:p>
          <a:p>
            <a:pPr eaLnBrk="0" hangingPunct="0">
              <a:spcBef>
                <a:spcPts val="0"/>
              </a:spcBef>
              <a:buClr>
                <a:schemeClr val="hlink"/>
              </a:buClr>
              <a:buFont typeface="Wingdings" panose="05000000000000000000" pitchFamily="2" charset="2"/>
              <a:buNone/>
              <a:defRPr/>
            </a:pPr>
            <a:r>
              <a:rPr lang="zh-CN" altLang="en-US" sz="2200" b="1" noProof="1">
                <a:cs typeface="+mn-ea"/>
              </a:rPr>
              <a:t>       通过对安全模型的研究，了解安全动态过程的构成因素，是构建合理而实用的安全策略体系的前提之一。为了达到安全防范的目标，需要建立合理的网络安全模型，以指导网络安全工作的部署和管理。</a:t>
            </a:r>
            <a:endParaRPr lang="zh-CN" altLang="en-US" sz="2200" b="1" noProof="1">
              <a:cs typeface="+mn-ea"/>
            </a:endParaRPr>
          </a:p>
          <a:p>
            <a:pPr eaLnBrk="0" hangingPunct="0">
              <a:spcBef>
                <a:spcPts val="0"/>
              </a:spcBef>
              <a:buClr>
                <a:schemeClr val="hlink"/>
              </a:buClr>
              <a:buFont typeface="Wingdings" panose="05000000000000000000" pitchFamily="2" charset="2"/>
              <a:buNone/>
              <a:defRPr/>
            </a:pPr>
            <a:r>
              <a:rPr lang="en-US" altLang="zh-CN" sz="2200" b="1" noProof="1">
                <a:cs typeface="+mn-ea"/>
              </a:rPr>
              <a:t>	</a:t>
            </a:r>
            <a:r>
              <a:rPr lang="zh-CN" altLang="en-US" sz="2200" b="1" noProof="1">
                <a:cs typeface="+mn-ea"/>
              </a:rPr>
              <a:t>网络安全模型：从</a:t>
            </a:r>
            <a:r>
              <a:rPr lang="en-US" altLang="zh-CN" sz="2200" b="1" noProof="1">
                <a:cs typeface="+mn-ea"/>
              </a:rPr>
              <a:t>PDR</a:t>
            </a:r>
            <a:r>
              <a:rPr lang="zh-CN" altLang="en-US" sz="2200" b="1" noProof="1">
                <a:cs typeface="+mn-ea"/>
              </a:rPr>
              <a:t>到</a:t>
            </a:r>
            <a:r>
              <a:rPr lang="en-US" altLang="zh-CN" sz="2200" b="1">
                <a:cs typeface="+mn-ea"/>
                <a:sym typeface="+mn-ea"/>
              </a:rPr>
              <a:t>PDRR</a:t>
            </a:r>
            <a:r>
              <a:rPr lang="zh-CN" altLang="en-US" sz="2200" b="1">
                <a:cs typeface="+mn-ea"/>
                <a:sym typeface="+mn-ea"/>
              </a:rPr>
              <a:t>、</a:t>
            </a:r>
            <a:r>
              <a:rPr lang="en-US" altLang="zh-CN" sz="2200" b="1" noProof="1">
                <a:cs typeface="+mn-ea"/>
              </a:rPr>
              <a:t>PPDR</a:t>
            </a:r>
            <a:r>
              <a:rPr lang="zh-CN" altLang="en-US" sz="2200" b="1" noProof="1">
                <a:cs typeface="+mn-ea"/>
              </a:rPr>
              <a:t>、</a:t>
            </a:r>
            <a:r>
              <a:rPr lang="en-US" altLang="zh-CN" sz="2200" b="1" noProof="1">
                <a:cs typeface="+mn-ea"/>
              </a:rPr>
              <a:t>PPDRR</a:t>
            </a:r>
            <a:r>
              <a:rPr lang="zh-CN" altLang="en-US" sz="2200" b="1" noProof="1">
                <a:cs typeface="+mn-ea"/>
              </a:rPr>
              <a:t>（</a:t>
            </a:r>
            <a:r>
              <a:rPr lang="en-US" altLang="zh-CN" sz="2200" b="1" noProof="1">
                <a:cs typeface="+mn-ea"/>
              </a:rPr>
              <a:t>P2DR2</a:t>
            </a:r>
            <a:r>
              <a:rPr lang="zh-CN" altLang="en-US" sz="2200" b="1" noProof="1">
                <a:cs typeface="+mn-ea"/>
              </a:rPr>
              <a:t>）等，我国“八六三”信息安全专家组提出了WPDRRC信息安全模型。</a:t>
            </a:r>
            <a:endParaRPr lang="zh-CN" altLang="en-US" sz="2200" b="1" noProof="1">
              <a:cs typeface="+mn-ea"/>
            </a:endParaRPr>
          </a:p>
          <a:p>
            <a:pPr eaLnBrk="0" hangingPunct="0">
              <a:spcBef>
                <a:spcPts val="0"/>
              </a:spcBef>
              <a:buClr>
                <a:schemeClr val="hlink"/>
              </a:buClr>
              <a:buFont typeface="Wingdings" panose="05000000000000000000" pitchFamily="2" charset="2"/>
              <a:buNone/>
              <a:defRPr/>
            </a:pPr>
            <a:endParaRPr lang="zh-CN" altLang="en-US" sz="2200" b="1" noProof="1">
              <a:cs typeface="+mn-ea"/>
            </a:endParaRPr>
          </a:p>
          <a:p>
            <a:pPr eaLnBrk="0" hangingPunct="0">
              <a:spcBef>
                <a:spcPts val="0"/>
              </a:spcBef>
              <a:buClr>
                <a:schemeClr val="hlink"/>
              </a:buClr>
              <a:buFont typeface="Wingdings" panose="05000000000000000000" pitchFamily="2" charset="2"/>
              <a:buNone/>
              <a:defRPr/>
            </a:pPr>
            <a:endParaRPr lang="zh-CN" altLang="en-US" sz="2200" b="1" noProof="1"/>
          </a:p>
        </p:txBody>
      </p:sp>
      <p:sp>
        <p:nvSpPr>
          <p:cNvPr id="49159" name="AutoShape 6"/>
          <p:cNvSpPr>
            <a:spLocks noChangeArrowheads="1"/>
          </p:cNvSpPr>
          <p:nvPr/>
        </p:nvSpPr>
        <p:spPr bwMode="auto">
          <a:xfrm>
            <a:off x="457200" y="1143000"/>
            <a:ext cx="8369300" cy="5208905"/>
          </a:xfrm>
          <a:prstGeom prst="flowChartAlternateProcess">
            <a:avLst/>
          </a:prstGeom>
          <a:noFill/>
          <a:ln w="25400">
            <a:solidFill>
              <a:srgbClr val="1F38ED"/>
            </a:solidFill>
            <a:miter lim="800000"/>
          </a:ln>
        </p:spPr>
        <p:txBody>
          <a:bodyPr wrap="none" anchor="ctr"/>
          <a:lstStyle/>
          <a:p>
            <a:pPr>
              <a:spcBef>
                <a:spcPct val="20000"/>
              </a:spcBef>
              <a:buFont typeface="Wingdings" panose="05000000000000000000" pitchFamily="2" charset="2"/>
              <a:buNone/>
            </a:pPr>
            <a:endParaRPr lang="zh-CN" altLang="en-US" b="1"/>
          </a:p>
        </p:txBody>
      </p:sp>
      <p:sp>
        <p:nvSpPr>
          <p:cNvPr id="3" name="Rectangle 2"/>
          <p:cNvSpPr txBox="1">
            <a:spLocks noChangeArrowheads="1"/>
          </p:cNvSpPr>
          <p:nvPr/>
        </p:nvSpPr>
        <p:spPr bwMode="white">
          <a:xfrm>
            <a:off x="231775" y="198438"/>
            <a:ext cx="7450138" cy="563562"/>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en-US" altLang="zh-CN" sz="3200" dirty="0" smtClean="0">
                <a:solidFill>
                  <a:schemeClr val="bg1"/>
                </a:solidFill>
              </a:rPr>
              <a:t>1.</a:t>
            </a:r>
            <a:r>
              <a:rPr lang="en-US" altLang="zh-CN" sz="3200" dirty="0" smtClean="0">
                <a:solidFill>
                  <a:schemeClr val="bg1"/>
                </a:solidFill>
                <a:sym typeface="+mn-ea"/>
              </a:rPr>
              <a:t>3 网络安全主要常用技术</a:t>
            </a:r>
            <a:endParaRPr lang="en-US" altLang="zh-CN" sz="3200" dirty="0" smtClean="0">
              <a:solidFill>
                <a:schemeClr val="bg1"/>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内容占位符 2"/>
          <p:cNvSpPr/>
          <p:nvPr/>
        </p:nvSpPr>
        <p:spPr>
          <a:xfrm>
            <a:off x="577850" y="1143000"/>
            <a:ext cx="7990205" cy="396240"/>
          </a:xfrm>
          <a:prstGeom prst="rect">
            <a:avLst/>
          </a:prstGeom>
          <a:noFill/>
          <a:ln w="9525">
            <a:noFill/>
          </a:ln>
        </p:spPr>
        <p:txBody>
          <a:bodyPr/>
          <a:lstStyle/>
          <a:p>
            <a:pPr marL="342900" indent="-342900" eaLnBrk="0" hangingPunct="0">
              <a:spcBef>
                <a:spcPts val="0"/>
              </a:spcBef>
              <a:buClr>
                <a:schemeClr val="hlink"/>
              </a:buClr>
              <a:buFont typeface="Wingdings" panose="05000000000000000000" pitchFamily="2" charset="2"/>
              <a:buChar char="n"/>
              <a:defRPr/>
            </a:pPr>
            <a:r>
              <a:rPr lang="en-US" altLang="zh-CN" b="1" noProof="1">
                <a:solidFill>
                  <a:srgbClr val="FF0000"/>
                </a:solidFill>
                <a:latin typeface="宋体" panose="02010600030101010101" pitchFamily="2" charset="-122"/>
                <a:cs typeface="+mn-ea"/>
              </a:rPr>
              <a:t>2. </a:t>
            </a:r>
            <a:r>
              <a:rPr lang="zh-CN" altLang="en-US" b="1" noProof="1">
                <a:solidFill>
                  <a:srgbClr val="FF0000"/>
                </a:solidFill>
                <a:latin typeface="宋体" panose="02010600030101010101" pitchFamily="2" charset="-122"/>
                <a:cs typeface="+mn-ea"/>
              </a:rPr>
              <a:t>网络安全常用模型</a:t>
            </a:r>
            <a:endParaRPr lang="zh-CN" altLang="en-US" b="1" noProof="1">
              <a:solidFill>
                <a:srgbClr val="FF0000"/>
              </a:solidFill>
              <a:latin typeface="宋体" panose="02010600030101010101" pitchFamily="2" charset="-122"/>
              <a:cs typeface="+mn-ea"/>
            </a:endParaRPr>
          </a:p>
          <a:p>
            <a:pPr marL="0" indent="0" eaLnBrk="0" hangingPunct="0">
              <a:spcBef>
                <a:spcPts val="0"/>
              </a:spcBef>
              <a:buClr>
                <a:schemeClr val="hlink"/>
              </a:buClr>
              <a:buFont typeface="Wingdings" panose="05000000000000000000" pitchFamily="2" charset="2"/>
              <a:buNone/>
              <a:defRPr/>
            </a:pPr>
            <a:r>
              <a:rPr lang="zh-CN" altLang="en-US" b="1" noProof="1">
                <a:solidFill>
                  <a:srgbClr val="FF0000"/>
                </a:solidFill>
                <a:latin typeface="宋体" panose="02010600030101010101" pitchFamily="2" charset="-122"/>
              </a:rPr>
              <a:t>   </a:t>
            </a:r>
            <a:endParaRPr lang="zh-CN" altLang="en-US" sz="2200" b="1" noProof="1">
              <a:cs typeface="+mn-ea"/>
            </a:endParaRPr>
          </a:p>
          <a:p>
            <a:pPr eaLnBrk="0" hangingPunct="0">
              <a:spcBef>
                <a:spcPts val="0"/>
              </a:spcBef>
              <a:buClr>
                <a:schemeClr val="hlink"/>
              </a:buClr>
              <a:buFont typeface="Wingdings" panose="05000000000000000000" pitchFamily="2" charset="2"/>
              <a:buNone/>
              <a:defRPr/>
            </a:pPr>
            <a:endParaRPr lang="zh-CN" altLang="en-US" sz="2200" b="1" noProof="1">
              <a:cs typeface="+mn-ea"/>
            </a:endParaRPr>
          </a:p>
          <a:p>
            <a:pPr eaLnBrk="0" hangingPunct="0">
              <a:spcBef>
                <a:spcPts val="0"/>
              </a:spcBef>
              <a:buClr>
                <a:schemeClr val="hlink"/>
              </a:buClr>
              <a:buFont typeface="Wingdings" panose="05000000000000000000" pitchFamily="2" charset="2"/>
              <a:buNone/>
              <a:defRPr/>
            </a:pPr>
            <a:endParaRPr lang="zh-CN" altLang="en-US" sz="2200" b="1" noProof="1"/>
          </a:p>
        </p:txBody>
      </p:sp>
      <p:sp>
        <p:nvSpPr>
          <p:cNvPr id="49159" name="AutoShape 6"/>
          <p:cNvSpPr>
            <a:spLocks noChangeArrowheads="1"/>
          </p:cNvSpPr>
          <p:nvPr/>
        </p:nvSpPr>
        <p:spPr bwMode="auto">
          <a:xfrm>
            <a:off x="457200" y="1143000"/>
            <a:ext cx="8369300" cy="5208905"/>
          </a:xfrm>
          <a:prstGeom prst="flowChartAlternateProcess">
            <a:avLst/>
          </a:prstGeom>
          <a:noFill/>
          <a:ln w="25400">
            <a:solidFill>
              <a:srgbClr val="1F38ED"/>
            </a:solidFill>
            <a:miter lim="800000"/>
          </a:ln>
        </p:spPr>
        <p:txBody>
          <a:bodyPr wrap="none" anchor="ctr"/>
          <a:lstStyle/>
          <a:p>
            <a:pPr>
              <a:spcBef>
                <a:spcPct val="20000"/>
              </a:spcBef>
              <a:buFont typeface="Wingdings" panose="05000000000000000000" pitchFamily="2" charset="2"/>
              <a:buNone/>
            </a:pPr>
            <a:endParaRPr lang="zh-CN" altLang="en-US" b="1"/>
          </a:p>
        </p:txBody>
      </p:sp>
      <p:sp>
        <p:nvSpPr>
          <p:cNvPr id="3" name="Rectangle 2"/>
          <p:cNvSpPr txBox="1">
            <a:spLocks noChangeArrowheads="1"/>
          </p:cNvSpPr>
          <p:nvPr/>
        </p:nvSpPr>
        <p:spPr bwMode="white">
          <a:xfrm>
            <a:off x="231775" y="198438"/>
            <a:ext cx="7450138" cy="563562"/>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en-US" altLang="zh-CN" sz="3200" dirty="0" smtClean="0">
                <a:solidFill>
                  <a:schemeClr val="bg1"/>
                </a:solidFill>
              </a:rPr>
              <a:t>1.</a:t>
            </a:r>
            <a:r>
              <a:rPr lang="en-US" altLang="zh-CN" sz="3200" dirty="0" smtClean="0">
                <a:solidFill>
                  <a:schemeClr val="bg1"/>
                </a:solidFill>
                <a:sym typeface="+mn-ea"/>
              </a:rPr>
              <a:t>3 网络安全主要常用技术</a:t>
            </a:r>
            <a:endParaRPr lang="en-US" altLang="zh-CN" sz="3200" dirty="0" smtClean="0">
              <a:solidFill>
                <a:schemeClr val="bg1"/>
              </a:solidFill>
            </a:endParaRPr>
          </a:p>
        </p:txBody>
      </p:sp>
      <p:pic>
        <p:nvPicPr>
          <p:cNvPr id="2" name="图片 1"/>
          <p:cNvPicPr>
            <a:picLocks noChangeAspect="1"/>
          </p:cNvPicPr>
          <p:nvPr/>
        </p:nvPicPr>
        <p:blipFill>
          <a:blip r:embed="rId1"/>
          <a:stretch>
            <a:fillRect/>
          </a:stretch>
        </p:blipFill>
        <p:spPr>
          <a:xfrm>
            <a:off x="4207510" y="146685"/>
            <a:ext cx="4699000" cy="6563995"/>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内容占位符 2"/>
          <p:cNvSpPr/>
          <p:nvPr/>
        </p:nvSpPr>
        <p:spPr>
          <a:xfrm>
            <a:off x="577850" y="1143000"/>
            <a:ext cx="7990205" cy="396240"/>
          </a:xfrm>
          <a:prstGeom prst="rect">
            <a:avLst/>
          </a:prstGeom>
          <a:noFill/>
          <a:ln w="9525">
            <a:noFill/>
          </a:ln>
        </p:spPr>
        <p:txBody>
          <a:bodyPr/>
          <a:lstStyle/>
          <a:p>
            <a:pPr marL="342900" indent="-342900" eaLnBrk="0" hangingPunct="0">
              <a:spcBef>
                <a:spcPts val="0"/>
              </a:spcBef>
              <a:buClr>
                <a:schemeClr val="hlink"/>
              </a:buClr>
              <a:buFont typeface="Wingdings" panose="05000000000000000000" pitchFamily="2" charset="2"/>
              <a:buChar char="n"/>
              <a:defRPr/>
            </a:pPr>
            <a:r>
              <a:rPr lang="en-US" altLang="zh-CN" b="1" noProof="1">
                <a:solidFill>
                  <a:srgbClr val="FF0000"/>
                </a:solidFill>
                <a:latin typeface="宋体" panose="02010600030101010101" pitchFamily="2" charset="-122"/>
                <a:cs typeface="+mn-ea"/>
              </a:rPr>
              <a:t>2. </a:t>
            </a:r>
            <a:r>
              <a:rPr lang="zh-CN" altLang="en-US" b="1" noProof="1">
                <a:solidFill>
                  <a:srgbClr val="FF0000"/>
                </a:solidFill>
                <a:latin typeface="宋体" panose="02010600030101010101" pitchFamily="2" charset="-122"/>
                <a:cs typeface="+mn-ea"/>
              </a:rPr>
              <a:t>网络安全常用模型</a:t>
            </a:r>
            <a:endParaRPr lang="zh-CN" altLang="en-US" b="1" noProof="1">
              <a:solidFill>
                <a:srgbClr val="FF0000"/>
              </a:solidFill>
              <a:latin typeface="宋体" panose="02010600030101010101" pitchFamily="2" charset="-122"/>
              <a:cs typeface="+mn-ea"/>
            </a:endParaRPr>
          </a:p>
          <a:p>
            <a:pPr marL="0" indent="0" eaLnBrk="0" hangingPunct="0">
              <a:spcBef>
                <a:spcPts val="0"/>
              </a:spcBef>
              <a:buClr>
                <a:schemeClr val="hlink"/>
              </a:buClr>
              <a:buFont typeface="Wingdings" panose="05000000000000000000" pitchFamily="2" charset="2"/>
              <a:buNone/>
              <a:defRPr/>
            </a:pPr>
            <a:r>
              <a:rPr lang="zh-CN" altLang="en-US" b="1" noProof="1">
                <a:solidFill>
                  <a:srgbClr val="FF0000"/>
                </a:solidFill>
                <a:latin typeface="宋体" panose="02010600030101010101" pitchFamily="2" charset="-122"/>
              </a:rPr>
              <a:t>   </a:t>
            </a:r>
            <a:endParaRPr lang="zh-CN" altLang="en-US" sz="2200" b="1" noProof="1">
              <a:cs typeface="+mn-ea"/>
            </a:endParaRPr>
          </a:p>
          <a:p>
            <a:pPr eaLnBrk="0" hangingPunct="0">
              <a:spcBef>
                <a:spcPts val="0"/>
              </a:spcBef>
              <a:buClr>
                <a:schemeClr val="hlink"/>
              </a:buClr>
              <a:buFont typeface="Wingdings" panose="05000000000000000000" pitchFamily="2" charset="2"/>
              <a:buNone/>
              <a:defRPr/>
            </a:pPr>
            <a:endParaRPr lang="zh-CN" altLang="en-US" sz="2200" b="1" noProof="1">
              <a:cs typeface="+mn-ea"/>
            </a:endParaRPr>
          </a:p>
          <a:p>
            <a:pPr eaLnBrk="0" hangingPunct="0">
              <a:spcBef>
                <a:spcPts val="0"/>
              </a:spcBef>
              <a:buClr>
                <a:schemeClr val="hlink"/>
              </a:buClr>
              <a:buFont typeface="Wingdings" panose="05000000000000000000" pitchFamily="2" charset="2"/>
              <a:buNone/>
              <a:defRPr/>
            </a:pPr>
            <a:endParaRPr lang="zh-CN" altLang="en-US" sz="2200" b="1" noProof="1"/>
          </a:p>
        </p:txBody>
      </p:sp>
      <p:sp>
        <p:nvSpPr>
          <p:cNvPr id="49159" name="AutoShape 6"/>
          <p:cNvSpPr>
            <a:spLocks noChangeArrowheads="1"/>
          </p:cNvSpPr>
          <p:nvPr/>
        </p:nvSpPr>
        <p:spPr bwMode="auto">
          <a:xfrm>
            <a:off x="102870" y="1451610"/>
            <a:ext cx="3382010" cy="5208905"/>
          </a:xfrm>
          <a:prstGeom prst="flowChartAlternateProcess">
            <a:avLst/>
          </a:prstGeom>
          <a:noFill/>
          <a:ln w="25400">
            <a:solidFill>
              <a:srgbClr val="1F38ED"/>
            </a:solidFill>
            <a:miter lim="800000"/>
          </a:ln>
        </p:spPr>
        <p:txBody>
          <a:bodyPr wrap="none" anchor="ctr"/>
          <a:lstStyle/>
          <a:p>
            <a:pPr>
              <a:spcBef>
                <a:spcPct val="20000"/>
              </a:spcBef>
              <a:buFont typeface="Wingdings" panose="05000000000000000000" pitchFamily="2" charset="2"/>
              <a:buNone/>
            </a:pPr>
            <a:endParaRPr lang="zh-CN" altLang="en-US" b="1"/>
          </a:p>
        </p:txBody>
      </p:sp>
      <p:sp>
        <p:nvSpPr>
          <p:cNvPr id="3" name="Rectangle 2"/>
          <p:cNvSpPr txBox="1">
            <a:spLocks noChangeArrowheads="1"/>
          </p:cNvSpPr>
          <p:nvPr/>
        </p:nvSpPr>
        <p:spPr bwMode="white">
          <a:xfrm>
            <a:off x="231775" y="198438"/>
            <a:ext cx="7450138" cy="563562"/>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en-US" altLang="zh-CN" sz="3200" dirty="0" smtClean="0">
                <a:solidFill>
                  <a:schemeClr val="bg1"/>
                </a:solidFill>
              </a:rPr>
              <a:t>1.</a:t>
            </a:r>
            <a:r>
              <a:rPr lang="en-US" altLang="zh-CN" sz="3200" dirty="0" smtClean="0">
                <a:solidFill>
                  <a:schemeClr val="bg1"/>
                </a:solidFill>
                <a:sym typeface="+mn-ea"/>
              </a:rPr>
              <a:t>3 网络安全主要常用技术</a:t>
            </a:r>
            <a:endParaRPr lang="en-US" altLang="zh-CN" sz="3200" dirty="0" smtClean="0">
              <a:solidFill>
                <a:schemeClr val="bg1"/>
              </a:solidFill>
            </a:endParaRPr>
          </a:p>
        </p:txBody>
      </p:sp>
      <p:pic>
        <p:nvPicPr>
          <p:cNvPr id="4" name="图片 3"/>
          <p:cNvPicPr>
            <a:picLocks noChangeAspect="1"/>
          </p:cNvPicPr>
          <p:nvPr/>
        </p:nvPicPr>
        <p:blipFill>
          <a:blip r:embed="rId1"/>
          <a:stretch>
            <a:fillRect/>
          </a:stretch>
        </p:blipFill>
        <p:spPr>
          <a:xfrm>
            <a:off x="3549650" y="1221105"/>
            <a:ext cx="5480685" cy="5220970"/>
          </a:xfrm>
          <a:prstGeom prst="rect">
            <a:avLst/>
          </a:prstGeom>
        </p:spPr>
      </p:pic>
      <p:sp>
        <p:nvSpPr>
          <p:cNvPr id="5" name="文本框 4"/>
          <p:cNvSpPr txBox="1"/>
          <p:nvPr/>
        </p:nvSpPr>
        <p:spPr>
          <a:xfrm>
            <a:off x="300990" y="1539240"/>
            <a:ext cx="2985135" cy="4799965"/>
          </a:xfrm>
          <a:prstGeom prst="rect">
            <a:avLst/>
          </a:prstGeom>
          <a:noFill/>
        </p:spPr>
        <p:txBody>
          <a:bodyPr wrap="square" rtlCol="0">
            <a:spAutoFit/>
          </a:bodyPr>
          <a:p>
            <a:r>
              <a:rPr lang="zh-CN" altLang="en-US" sz="1800" b="1">
                <a:solidFill>
                  <a:schemeClr val="tx1"/>
                </a:solidFill>
                <a:latin typeface="宋体" panose="02010600030101010101" pitchFamily="2" charset="-122"/>
                <a:cs typeface="宋体" panose="02010600030101010101" pitchFamily="2" charset="-122"/>
                <a:sym typeface="+mn-ea"/>
              </a:rPr>
              <a:t>网络安全策略是实现网络安全的指导性文件，包括总体安全策略和具体安全管理实施细则。</a:t>
            </a:r>
            <a:endParaRPr lang="zh-CN" altLang="en-US" sz="1800" b="1">
              <a:solidFill>
                <a:schemeClr val="tx1"/>
              </a:solidFill>
              <a:latin typeface="宋体" panose="02010600030101010101" pitchFamily="2" charset="-122"/>
              <a:cs typeface="宋体" panose="02010600030101010101" pitchFamily="2" charset="-122"/>
              <a:sym typeface="+mn-ea"/>
            </a:endParaRPr>
          </a:p>
          <a:p>
            <a:r>
              <a:rPr lang="zh-CN" altLang="zh-CN" sz="1800" b="1">
                <a:solidFill>
                  <a:srgbClr val="FF0000"/>
                </a:solidFill>
                <a:latin typeface="宋体" panose="02010600030101010101" pitchFamily="2" charset="-122"/>
                <a:cs typeface="宋体" panose="02010600030101010101" pitchFamily="2" charset="-122"/>
                <a:sym typeface="+mn-ea"/>
              </a:rPr>
              <a:t>网络安全策略</a:t>
            </a:r>
            <a:r>
              <a:rPr lang="zh-CN" altLang="zh-CN" sz="1800" b="1">
                <a:solidFill>
                  <a:schemeClr val="tx1"/>
                </a:solidFill>
                <a:latin typeface="宋体" panose="02010600030101010101" pitchFamily="2" charset="-122"/>
                <a:cs typeface="宋体" panose="02010600030101010101" pitchFamily="2" charset="-122"/>
                <a:sym typeface="+mn-ea"/>
              </a:rPr>
              <a:t>是在指定网络安全需求等级、环境和区域内，同网络安全活动有关的规则和条例，是网络安全管理过程的重要内容和方法。包括对企业各种网络服务的安全层次和权限的分类，确定网络管理员的安全职责，主要涉及</a:t>
            </a:r>
            <a:r>
              <a:rPr lang="en-US" altLang="zh-CN" sz="1800" b="1">
                <a:solidFill>
                  <a:schemeClr val="tx1"/>
                </a:solidFill>
                <a:latin typeface="宋体" panose="02010600030101010101" pitchFamily="2" charset="-122"/>
                <a:cs typeface="宋体" panose="02010600030101010101" pitchFamily="2" charset="-122"/>
                <a:sym typeface="+mn-ea"/>
              </a:rPr>
              <a:t>4</a:t>
            </a:r>
            <a:r>
              <a:rPr lang="zh-CN" altLang="zh-CN" sz="1800" b="1">
                <a:solidFill>
                  <a:schemeClr val="tx1"/>
                </a:solidFill>
                <a:latin typeface="宋体" panose="02010600030101010101" pitchFamily="2" charset="-122"/>
                <a:cs typeface="宋体" panose="02010600030101010101" pitchFamily="2" charset="-122"/>
                <a:sym typeface="+mn-ea"/>
              </a:rPr>
              <a:t>个方面：实体（物理）安全策略、访问控制策略、信息加密策略和网络安全管理策略。</a:t>
            </a:r>
            <a:endParaRPr lang="zh-CN" altLang="en-US" sz="1800" b="1">
              <a:solidFill>
                <a:schemeClr val="tx1"/>
              </a:solidFill>
              <a:latin typeface="宋体" panose="02010600030101010101" pitchFamily="2" charset="-122"/>
              <a:cs typeface="宋体" panose="02010600030101010101" pitchFamily="2" charset="-122"/>
            </a:endParaRPr>
          </a:p>
          <a:p>
            <a:endParaRPr lang="zh-CN" altLang="en-US" sz="1800" b="1">
              <a:solidFill>
                <a:schemeClr val="tx1"/>
              </a:solidFill>
              <a:latin typeface="宋体" panose="02010600030101010101" pitchFamily="2" charset="-122"/>
              <a:cs typeface="宋体" panose="02010600030101010101" pitchFamily="2"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内容占位符 2"/>
          <p:cNvSpPr/>
          <p:nvPr/>
        </p:nvSpPr>
        <p:spPr>
          <a:xfrm>
            <a:off x="577850" y="1143000"/>
            <a:ext cx="7990205" cy="396240"/>
          </a:xfrm>
          <a:prstGeom prst="rect">
            <a:avLst/>
          </a:prstGeom>
          <a:noFill/>
          <a:ln w="9525">
            <a:noFill/>
          </a:ln>
        </p:spPr>
        <p:txBody>
          <a:bodyPr/>
          <a:lstStyle/>
          <a:p>
            <a:pPr marL="342900" indent="-342900" eaLnBrk="0" hangingPunct="0">
              <a:spcBef>
                <a:spcPts val="0"/>
              </a:spcBef>
              <a:buClr>
                <a:schemeClr val="hlink"/>
              </a:buClr>
              <a:buFont typeface="Wingdings" panose="05000000000000000000" pitchFamily="2" charset="2"/>
              <a:buChar char="n"/>
              <a:defRPr/>
            </a:pPr>
            <a:r>
              <a:rPr lang="en-US" altLang="zh-CN" b="1" noProof="1">
                <a:solidFill>
                  <a:srgbClr val="FF0000"/>
                </a:solidFill>
                <a:latin typeface="宋体" panose="02010600030101010101" pitchFamily="2" charset="-122"/>
                <a:cs typeface="+mn-ea"/>
              </a:rPr>
              <a:t>2. </a:t>
            </a:r>
            <a:r>
              <a:rPr lang="zh-CN" altLang="en-US" b="1" noProof="1">
                <a:solidFill>
                  <a:srgbClr val="FF0000"/>
                </a:solidFill>
                <a:latin typeface="宋体" panose="02010600030101010101" pitchFamily="2" charset="-122"/>
                <a:cs typeface="+mn-ea"/>
              </a:rPr>
              <a:t>网络安全常用模型</a:t>
            </a:r>
            <a:endParaRPr lang="zh-CN" altLang="en-US" b="1" noProof="1">
              <a:solidFill>
                <a:srgbClr val="FF0000"/>
              </a:solidFill>
              <a:latin typeface="宋体" panose="02010600030101010101" pitchFamily="2" charset="-122"/>
              <a:cs typeface="+mn-ea"/>
            </a:endParaRPr>
          </a:p>
          <a:p>
            <a:pPr marL="0" indent="0" eaLnBrk="0" hangingPunct="0">
              <a:spcBef>
                <a:spcPts val="0"/>
              </a:spcBef>
              <a:buClr>
                <a:schemeClr val="hlink"/>
              </a:buClr>
              <a:buFont typeface="Wingdings" panose="05000000000000000000" pitchFamily="2" charset="2"/>
              <a:buNone/>
              <a:defRPr/>
            </a:pPr>
            <a:r>
              <a:rPr lang="zh-CN" altLang="en-US" b="1" noProof="1">
                <a:solidFill>
                  <a:srgbClr val="FF0000"/>
                </a:solidFill>
                <a:latin typeface="宋体" panose="02010600030101010101" pitchFamily="2" charset="-122"/>
              </a:rPr>
              <a:t>   </a:t>
            </a:r>
            <a:endParaRPr lang="zh-CN" altLang="en-US" sz="2200" b="1" noProof="1">
              <a:cs typeface="+mn-ea"/>
            </a:endParaRPr>
          </a:p>
          <a:p>
            <a:pPr eaLnBrk="0" hangingPunct="0">
              <a:spcBef>
                <a:spcPts val="0"/>
              </a:spcBef>
              <a:buClr>
                <a:schemeClr val="hlink"/>
              </a:buClr>
              <a:buFont typeface="Wingdings" panose="05000000000000000000" pitchFamily="2" charset="2"/>
              <a:buNone/>
              <a:defRPr/>
            </a:pPr>
            <a:endParaRPr lang="zh-CN" altLang="en-US" sz="2200" b="1" noProof="1">
              <a:cs typeface="+mn-ea"/>
            </a:endParaRPr>
          </a:p>
          <a:p>
            <a:pPr eaLnBrk="0" hangingPunct="0">
              <a:spcBef>
                <a:spcPts val="0"/>
              </a:spcBef>
              <a:buClr>
                <a:schemeClr val="hlink"/>
              </a:buClr>
              <a:buFont typeface="Wingdings" panose="05000000000000000000" pitchFamily="2" charset="2"/>
              <a:buNone/>
              <a:defRPr/>
            </a:pPr>
            <a:endParaRPr lang="zh-CN" altLang="en-US" sz="2200" b="1" noProof="1"/>
          </a:p>
        </p:txBody>
      </p:sp>
      <p:sp>
        <p:nvSpPr>
          <p:cNvPr id="3" name="Rectangle 2"/>
          <p:cNvSpPr txBox="1">
            <a:spLocks noChangeArrowheads="1"/>
          </p:cNvSpPr>
          <p:nvPr/>
        </p:nvSpPr>
        <p:spPr bwMode="white">
          <a:xfrm>
            <a:off x="231775" y="198438"/>
            <a:ext cx="7450138" cy="563562"/>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en-US" altLang="zh-CN" sz="3200" dirty="0" smtClean="0">
                <a:solidFill>
                  <a:schemeClr val="bg1"/>
                </a:solidFill>
              </a:rPr>
              <a:t>1.</a:t>
            </a:r>
            <a:r>
              <a:rPr lang="en-US" altLang="zh-CN" sz="3200" dirty="0" smtClean="0">
                <a:solidFill>
                  <a:schemeClr val="bg1"/>
                </a:solidFill>
                <a:sym typeface="+mn-ea"/>
              </a:rPr>
              <a:t>3 网络安全主要常用技术</a:t>
            </a:r>
            <a:endParaRPr lang="en-US" altLang="zh-CN" sz="3200" dirty="0" smtClean="0">
              <a:solidFill>
                <a:schemeClr val="bg1"/>
              </a:solidFill>
            </a:endParaRPr>
          </a:p>
        </p:txBody>
      </p:sp>
      <p:pic>
        <p:nvPicPr>
          <p:cNvPr id="2" name="图片 1" descr="360截图20210903115109928"/>
          <p:cNvPicPr>
            <a:picLocks noChangeAspect="1"/>
          </p:cNvPicPr>
          <p:nvPr/>
        </p:nvPicPr>
        <p:blipFill>
          <a:blip r:embed="rId1"/>
          <a:stretch>
            <a:fillRect/>
          </a:stretch>
        </p:blipFill>
        <p:spPr>
          <a:xfrm>
            <a:off x="3688080" y="1038225"/>
            <a:ext cx="4879975" cy="3199130"/>
          </a:xfrm>
          <a:prstGeom prst="rect">
            <a:avLst/>
          </a:prstGeom>
        </p:spPr>
      </p:pic>
      <p:pic>
        <p:nvPicPr>
          <p:cNvPr id="6" name="图片 5"/>
          <p:cNvPicPr>
            <a:picLocks noChangeAspect="1"/>
          </p:cNvPicPr>
          <p:nvPr/>
        </p:nvPicPr>
        <p:blipFill>
          <a:blip r:embed="rId2"/>
          <a:stretch>
            <a:fillRect/>
          </a:stretch>
        </p:blipFill>
        <p:spPr>
          <a:xfrm>
            <a:off x="3961765" y="4163060"/>
            <a:ext cx="4491990" cy="2635250"/>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3"/>
          <p:cNvSpPr>
            <a:spLocks noChangeArrowheads="1"/>
          </p:cNvSpPr>
          <p:nvPr/>
        </p:nvSpPr>
        <p:spPr bwMode="auto">
          <a:xfrm>
            <a:off x="555625" y="1984375"/>
            <a:ext cx="8172450" cy="2454275"/>
          </a:xfrm>
          <a:prstGeom prst="rect">
            <a:avLst/>
          </a:prstGeom>
          <a:noFill/>
          <a:ln w="9525">
            <a:noFill/>
            <a:miter lim="800000"/>
          </a:ln>
        </p:spPr>
        <p:txBody>
          <a:bodyPr anchor="ctr">
            <a:spAutoFit/>
          </a:bodyPr>
          <a:lstStyle/>
          <a:p>
            <a:pPr>
              <a:spcBef>
                <a:spcPct val="20000"/>
              </a:spcBef>
              <a:buFont typeface="Wingdings" panose="05000000000000000000" pitchFamily="2" charset="2"/>
              <a:buNone/>
            </a:pPr>
            <a:r>
              <a:rPr lang="zh-CN" altLang="en-US" sz="2200" b="1">
                <a:latin typeface="Times New Roman" panose="02020603050405020304" pitchFamily="18" charset="0"/>
              </a:rPr>
              <a:t>         </a:t>
            </a:r>
            <a:endParaRPr lang="zh-CN" altLang="en-US" sz="2200" b="1">
              <a:latin typeface="Times New Roman" panose="02020603050405020304" pitchFamily="18" charset="0"/>
            </a:endParaRPr>
          </a:p>
          <a:p>
            <a:pPr>
              <a:spcBef>
                <a:spcPct val="20000"/>
              </a:spcBef>
              <a:buFont typeface="Wingdings" panose="05000000000000000000" pitchFamily="2" charset="2"/>
              <a:buNone/>
            </a:pPr>
            <a:endParaRPr lang="zh-CN" altLang="en-US" sz="2200" b="1">
              <a:latin typeface="Times New Roman" panose="02020603050405020304" pitchFamily="18" charset="0"/>
            </a:endParaRPr>
          </a:p>
          <a:p>
            <a:pPr>
              <a:spcBef>
                <a:spcPct val="20000"/>
              </a:spcBef>
              <a:buFont typeface="Wingdings" panose="05000000000000000000" pitchFamily="2" charset="2"/>
              <a:buNone/>
            </a:pPr>
            <a:r>
              <a:rPr lang="zh-CN" altLang="en-US" sz="2100" b="1">
                <a:latin typeface="Times New Roman" panose="02020603050405020304" pitchFamily="18" charset="0"/>
              </a:rPr>
              <a:t>      </a:t>
            </a:r>
            <a:r>
              <a:rPr lang="zh-CN" altLang="en-US" sz="2000" b="1">
                <a:latin typeface="Times New Roman" panose="02020603050405020304" pitchFamily="18" charset="0"/>
              </a:rPr>
              <a:t>常用描述</a:t>
            </a:r>
            <a:r>
              <a:rPr lang="zh-CN" altLang="en-US" sz="2000" b="1">
                <a:solidFill>
                  <a:srgbClr val="CC0000"/>
                </a:solidFill>
                <a:latin typeface="Times New Roman" panose="02020603050405020304" pitchFamily="18" charset="0"/>
              </a:rPr>
              <a:t>网络安全整个过程和环节</a:t>
            </a:r>
            <a:r>
              <a:rPr lang="zh-CN" altLang="en-US" sz="2000" b="1">
                <a:latin typeface="Times New Roman" panose="02020603050405020304" pitchFamily="18" charset="0"/>
              </a:rPr>
              <a:t>的</a:t>
            </a:r>
            <a:r>
              <a:rPr lang="zh-CN" altLang="en-US" sz="2000" b="1">
                <a:solidFill>
                  <a:srgbClr val="CC0000"/>
                </a:solidFill>
                <a:latin typeface="Times New Roman" panose="02020603050405020304" pitchFamily="18" charset="0"/>
              </a:rPr>
              <a:t>网络安全模型为</a:t>
            </a:r>
            <a:r>
              <a:rPr lang="en-US" altLang="zh-CN" sz="2000" b="1">
                <a:solidFill>
                  <a:srgbClr val="CC0000"/>
                </a:solidFill>
                <a:latin typeface="Times New Roman" panose="02020603050405020304" pitchFamily="18" charset="0"/>
              </a:rPr>
              <a:t>PDRR</a:t>
            </a:r>
            <a:r>
              <a:rPr lang="zh-CN" altLang="en-US" sz="2000" b="1">
                <a:solidFill>
                  <a:srgbClr val="CC0000"/>
                </a:solidFill>
                <a:latin typeface="Times New Roman" panose="02020603050405020304" pitchFamily="18" charset="0"/>
              </a:rPr>
              <a:t>模型</a:t>
            </a:r>
            <a:r>
              <a:rPr lang="zh-CN" altLang="en-US" sz="2000" b="1">
                <a:latin typeface="Times New Roman" panose="02020603050405020304" pitchFamily="18" charset="0"/>
              </a:rPr>
              <a:t>：防护</a:t>
            </a:r>
            <a:r>
              <a:rPr lang="en-US" altLang="zh-CN" sz="2000" b="1">
                <a:latin typeface="Times New Roman" panose="02020603050405020304" pitchFamily="18" charset="0"/>
              </a:rPr>
              <a:t>(Protection)</a:t>
            </a:r>
            <a:r>
              <a:rPr lang="zh-CN" altLang="en-US" sz="2000" b="1">
                <a:latin typeface="Times New Roman" panose="02020603050405020304" pitchFamily="18" charset="0"/>
              </a:rPr>
              <a:t>、检测</a:t>
            </a:r>
            <a:r>
              <a:rPr lang="en-US" altLang="zh-CN" sz="2000" b="1">
                <a:latin typeface="Times New Roman" panose="02020603050405020304" pitchFamily="18" charset="0"/>
              </a:rPr>
              <a:t>(Detection)</a:t>
            </a:r>
            <a:r>
              <a:rPr lang="zh-CN" altLang="en-US" sz="2000" b="1">
                <a:latin typeface="Times New Roman" panose="02020603050405020304" pitchFamily="18" charset="0"/>
              </a:rPr>
              <a:t>、响应</a:t>
            </a:r>
            <a:r>
              <a:rPr lang="en-US" altLang="zh-CN" sz="2000" b="1">
                <a:latin typeface="Times New Roman" panose="02020603050405020304" pitchFamily="18" charset="0"/>
              </a:rPr>
              <a:t>(Reaction)</a:t>
            </a:r>
            <a:r>
              <a:rPr lang="zh-CN" altLang="en-US" sz="2000" b="1">
                <a:latin typeface="Times New Roman" panose="02020603050405020304" pitchFamily="18" charset="0"/>
              </a:rPr>
              <a:t>和恢复</a:t>
            </a:r>
            <a:r>
              <a:rPr lang="en-US" altLang="zh-CN" sz="2000" b="1">
                <a:latin typeface="Times New Roman" panose="02020603050405020304" pitchFamily="18" charset="0"/>
              </a:rPr>
              <a:t>(Recovery)</a:t>
            </a:r>
            <a:r>
              <a:rPr lang="zh-CN" altLang="en-US" sz="2000" b="1">
                <a:latin typeface="Times New Roman" panose="02020603050405020304" pitchFamily="18" charset="0"/>
              </a:rPr>
              <a:t>如图</a:t>
            </a:r>
            <a:r>
              <a:rPr lang="en-US" altLang="zh-CN" sz="2000" b="1">
                <a:latin typeface="Times New Roman" panose="02020603050405020304" pitchFamily="18" charset="0"/>
              </a:rPr>
              <a:t>1-4.</a:t>
            </a:r>
            <a:r>
              <a:rPr lang="zh-CN" altLang="en-US" sz="2000" b="1">
                <a:latin typeface="Times New Roman" panose="02020603050405020304" pitchFamily="18" charset="0"/>
              </a:rPr>
              <a:t>在上述模型的基础上</a:t>
            </a:r>
            <a:r>
              <a:rPr lang="en-US" altLang="zh-CN" sz="2000" b="1">
                <a:latin typeface="Times New Roman" panose="02020603050405020304" pitchFamily="18" charset="0"/>
              </a:rPr>
              <a:t>,</a:t>
            </a:r>
            <a:r>
              <a:rPr lang="zh-CN" altLang="en-US" sz="2000" b="1">
                <a:latin typeface="Times New Roman" panose="02020603050405020304" pitchFamily="18" charset="0"/>
              </a:rPr>
              <a:t>以“</a:t>
            </a:r>
            <a:r>
              <a:rPr lang="zh-CN" altLang="en-US" sz="2000" b="1">
                <a:solidFill>
                  <a:srgbClr val="990033"/>
                </a:solidFill>
                <a:latin typeface="Times New Roman" panose="02020603050405020304" pitchFamily="18" charset="0"/>
              </a:rPr>
              <a:t>检查准备、防护加固、检测发现、快速反映、确保恢复、反省改进</a:t>
            </a:r>
            <a:r>
              <a:rPr lang="zh-CN" altLang="en-US" sz="2000" b="1">
                <a:latin typeface="Times New Roman" panose="02020603050405020304" pitchFamily="18" charset="0"/>
              </a:rPr>
              <a:t>”的</a:t>
            </a:r>
            <a:r>
              <a:rPr lang="zh-CN" altLang="en-US" sz="2000" b="1">
                <a:solidFill>
                  <a:srgbClr val="FF0000"/>
                </a:solidFill>
                <a:latin typeface="Times New Roman" panose="02020603050405020304" pitchFamily="18" charset="0"/>
              </a:rPr>
              <a:t>原则</a:t>
            </a:r>
            <a:r>
              <a:rPr lang="en-US" altLang="zh-CN" sz="2000" b="1">
                <a:latin typeface="Times New Roman" panose="02020603050405020304" pitchFamily="18" charset="0"/>
              </a:rPr>
              <a:t>,</a:t>
            </a:r>
            <a:r>
              <a:rPr lang="zh-CN" altLang="en-US" sz="2000" b="1">
                <a:latin typeface="Times New Roman" panose="02020603050405020304" pitchFamily="18" charset="0"/>
              </a:rPr>
              <a:t>经过改进得到另一个</a:t>
            </a:r>
            <a:r>
              <a:rPr lang="zh-CN" altLang="en-US" sz="2000" b="1">
                <a:solidFill>
                  <a:srgbClr val="FF0066"/>
                </a:solidFill>
                <a:latin typeface="Times New Roman" panose="02020603050405020304" pitchFamily="18" charset="0"/>
              </a:rPr>
              <a:t>网络系统安全生命周期模型 </a:t>
            </a:r>
            <a:r>
              <a:rPr lang="en-US" altLang="zh-CN" sz="2000" b="1">
                <a:latin typeface="Times New Roman" panose="02020603050405020304" pitchFamily="18" charset="0"/>
                <a:cs typeface="Times New Roman" panose="02020603050405020304" pitchFamily="18" charset="0"/>
              </a:rPr>
              <a:t>—</a:t>
            </a:r>
            <a:r>
              <a:rPr lang="en-US" altLang="zh-CN" sz="2000" b="1">
                <a:solidFill>
                  <a:srgbClr val="CC0000"/>
                </a:solidFill>
                <a:latin typeface="Times New Roman" panose="02020603050405020304" pitchFamily="18" charset="0"/>
              </a:rPr>
              <a:t>IPDRRR</a:t>
            </a:r>
            <a:r>
              <a:rPr lang="zh-CN" altLang="en-US" sz="2000" b="1">
                <a:latin typeface="Times New Roman" panose="02020603050405020304" pitchFamily="18" charset="0"/>
              </a:rPr>
              <a:t>模型</a:t>
            </a:r>
            <a:r>
              <a:rPr lang="en-US" altLang="zh-CN" sz="2000" b="1">
                <a:latin typeface="Times New Roman" panose="02020603050405020304" pitchFamily="18" charset="0"/>
              </a:rPr>
              <a:t>,</a:t>
            </a:r>
            <a:r>
              <a:rPr lang="zh-CN" altLang="en-US" sz="2000" b="1">
                <a:latin typeface="Times New Roman" panose="02020603050405020304" pitchFamily="18" charset="0"/>
              </a:rPr>
              <a:t>如图</a:t>
            </a:r>
            <a:r>
              <a:rPr lang="en-US" altLang="zh-CN" sz="2000" b="1">
                <a:latin typeface="Times New Roman" panose="02020603050405020304" pitchFamily="18" charset="0"/>
              </a:rPr>
              <a:t>1-5</a:t>
            </a:r>
            <a:r>
              <a:rPr lang="zh-CN" altLang="en-US" sz="2000" b="1">
                <a:latin typeface="Times New Roman" panose="02020603050405020304" pitchFamily="18" charset="0"/>
              </a:rPr>
              <a:t>所示。 </a:t>
            </a:r>
            <a:endParaRPr lang="zh-CN" altLang="en-US" sz="2000" b="1">
              <a:latin typeface="Times New Roman" panose="02020603050405020304" pitchFamily="18" charset="0"/>
              <a:cs typeface="Times New Roman" panose="02020603050405020304" pitchFamily="18" charset="0"/>
            </a:endParaRPr>
          </a:p>
        </p:txBody>
      </p:sp>
      <p:sp>
        <p:nvSpPr>
          <p:cNvPr id="47106" name="内容占位符 2"/>
          <p:cNvSpPr/>
          <p:nvPr/>
        </p:nvSpPr>
        <p:spPr>
          <a:xfrm>
            <a:off x="577850" y="1143000"/>
            <a:ext cx="7989888" cy="1371600"/>
          </a:xfrm>
          <a:prstGeom prst="rect">
            <a:avLst/>
          </a:prstGeom>
          <a:noFill/>
          <a:ln w="9525">
            <a:noFill/>
          </a:ln>
        </p:spPr>
        <p:txBody>
          <a:bodyPr/>
          <a:lstStyle/>
          <a:p>
            <a:pPr marL="342900" indent="-342900" eaLnBrk="0" hangingPunct="0">
              <a:spcBef>
                <a:spcPts val="0"/>
              </a:spcBef>
              <a:buClr>
                <a:schemeClr val="hlink"/>
              </a:buClr>
              <a:buFont typeface="Wingdings" panose="05000000000000000000" pitchFamily="2" charset="2"/>
              <a:buChar char="n"/>
              <a:defRPr/>
            </a:pPr>
            <a:r>
              <a:rPr lang="en-US" altLang="zh-CN" b="1" noProof="1">
                <a:solidFill>
                  <a:srgbClr val="FF0000"/>
                </a:solidFill>
                <a:latin typeface="宋体" panose="02010600030101010101" pitchFamily="2" charset="-122"/>
                <a:cs typeface="+mn-ea"/>
              </a:rPr>
              <a:t>2. </a:t>
            </a:r>
            <a:r>
              <a:rPr lang="zh-CN" altLang="en-US" b="1" noProof="1">
                <a:solidFill>
                  <a:srgbClr val="FF0000"/>
                </a:solidFill>
                <a:latin typeface="宋体" panose="02010600030101010101" pitchFamily="2" charset="-122"/>
                <a:cs typeface="+mn-ea"/>
              </a:rPr>
              <a:t>网络安全常用模型</a:t>
            </a:r>
            <a:endParaRPr lang="zh-CN" altLang="en-US" b="1" noProof="1">
              <a:solidFill>
                <a:srgbClr val="FF0000"/>
              </a:solidFill>
              <a:latin typeface="宋体" panose="02010600030101010101" pitchFamily="2" charset="-122"/>
            </a:endParaRPr>
          </a:p>
          <a:p>
            <a:pPr eaLnBrk="0" hangingPunct="0">
              <a:spcBef>
                <a:spcPts val="0"/>
              </a:spcBef>
              <a:buClr>
                <a:schemeClr val="hlink"/>
              </a:buClr>
              <a:buFont typeface="Wingdings" panose="05000000000000000000" pitchFamily="2" charset="2"/>
              <a:buNone/>
              <a:defRPr/>
            </a:pPr>
            <a:r>
              <a:rPr lang="zh-CN" altLang="en-US" b="1" noProof="1">
                <a:cs typeface="+mn-ea"/>
              </a:rPr>
              <a:t>       </a:t>
            </a:r>
            <a:r>
              <a:rPr lang="zh-CN" altLang="en-US" sz="2200" b="1" noProof="1">
                <a:cs typeface="+mn-ea"/>
              </a:rPr>
              <a:t>借助网络安全模型可构建网络安全体系和结构</a:t>
            </a:r>
            <a:r>
              <a:rPr lang="en-US" altLang="zh-CN" sz="2200" b="1" noProof="1">
                <a:cs typeface="+mn-ea"/>
              </a:rPr>
              <a:t>,</a:t>
            </a:r>
            <a:r>
              <a:rPr lang="zh-CN" altLang="en-US" sz="2200" b="1" noProof="1">
                <a:cs typeface="+mn-ea"/>
              </a:rPr>
              <a:t>进行网络安全解决方案制定、规划、设计和实施等，也可用于实际应用网络安全实施过程的描述和研究。</a:t>
            </a:r>
            <a:endParaRPr lang="zh-CN" altLang="en-US" sz="2200" b="1" noProof="1"/>
          </a:p>
        </p:txBody>
      </p:sp>
      <p:pic>
        <p:nvPicPr>
          <p:cNvPr id="49155" name="图片 5"/>
          <p:cNvPicPr>
            <a:picLocks noChangeAspect="1" noChangeArrowheads="1"/>
          </p:cNvPicPr>
          <p:nvPr/>
        </p:nvPicPr>
        <p:blipFill>
          <a:blip r:embed="rId1" cstate="print"/>
          <a:srcRect/>
          <a:stretch>
            <a:fillRect/>
          </a:stretch>
        </p:blipFill>
        <p:spPr bwMode="auto">
          <a:xfrm>
            <a:off x="468313" y="4660900"/>
            <a:ext cx="4540250" cy="1766888"/>
          </a:xfrm>
          <a:prstGeom prst="rect">
            <a:avLst/>
          </a:prstGeom>
          <a:noFill/>
          <a:ln w="9525">
            <a:noFill/>
            <a:miter lim="800000"/>
            <a:headEnd/>
            <a:tailEnd/>
          </a:ln>
        </p:spPr>
      </p:pic>
      <p:sp>
        <p:nvSpPr>
          <p:cNvPr id="49156" name="Rectangle 10"/>
          <p:cNvSpPr>
            <a:spLocks noChangeArrowheads="1"/>
          </p:cNvSpPr>
          <p:nvPr/>
        </p:nvSpPr>
        <p:spPr bwMode="auto">
          <a:xfrm>
            <a:off x="1384300" y="6427788"/>
            <a:ext cx="2501900" cy="336550"/>
          </a:xfrm>
          <a:prstGeom prst="rect">
            <a:avLst/>
          </a:prstGeom>
          <a:noFill/>
          <a:ln w="9525">
            <a:noFill/>
            <a:miter lim="800000"/>
          </a:ln>
        </p:spPr>
        <p:txBody>
          <a:bodyPr wrap="none" anchor="ctr">
            <a:spAutoFit/>
          </a:bodyPr>
          <a:lstStyle/>
          <a:p>
            <a:pPr eaLnBrk="0" hangingPunct="0">
              <a:spcBef>
                <a:spcPct val="20000"/>
              </a:spcBef>
              <a:buFont typeface="Wingdings" panose="05000000000000000000" pitchFamily="2" charset="2"/>
              <a:buNone/>
            </a:pPr>
            <a:r>
              <a:rPr lang="zh-CN" altLang="en-US" sz="1600" b="1">
                <a:solidFill>
                  <a:srgbClr val="FF0000"/>
                </a:solidFill>
                <a:latin typeface="Times New Roman" panose="02020603050405020304" pitchFamily="18" charset="0"/>
              </a:rPr>
              <a:t>图</a:t>
            </a:r>
            <a:r>
              <a:rPr lang="en-US" altLang="zh-CN" sz="1600" b="1">
                <a:solidFill>
                  <a:srgbClr val="FF0000"/>
                </a:solidFill>
                <a:latin typeface="Times New Roman" panose="02020603050405020304" pitchFamily="18" charset="0"/>
              </a:rPr>
              <a:t>1-4</a:t>
            </a:r>
            <a:r>
              <a:rPr lang="zh-CN" altLang="en-US" sz="1600" b="1">
                <a:solidFill>
                  <a:srgbClr val="FF0000"/>
                </a:solidFill>
                <a:latin typeface="Times New Roman" panose="02020603050405020304" pitchFamily="18" charset="0"/>
              </a:rPr>
              <a:t>网络安全</a:t>
            </a:r>
            <a:r>
              <a:rPr lang="en-US" altLang="zh-CN" sz="1600" b="1">
                <a:solidFill>
                  <a:srgbClr val="FF0000"/>
                </a:solidFill>
                <a:latin typeface="Times New Roman" panose="02020603050405020304" pitchFamily="18" charset="0"/>
              </a:rPr>
              <a:t>PDRR</a:t>
            </a:r>
            <a:r>
              <a:rPr lang="zh-CN" altLang="en-US" sz="1600" b="1">
                <a:solidFill>
                  <a:srgbClr val="FF0000"/>
                </a:solidFill>
                <a:latin typeface="Times New Roman" panose="02020603050405020304" pitchFamily="18" charset="0"/>
              </a:rPr>
              <a:t>模型</a:t>
            </a:r>
            <a:endParaRPr lang="zh-CN" altLang="en-US" sz="1600" b="1"/>
          </a:p>
        </p:txBody>
      </p:sp>
      <p:pic>
        <p:nvPicPr>
          <p:cNvPr id="49157" name="图片 888"/>
          <p:cNvPicPr>
            <a:picLocks noChangeAspect="1" noChangeArrowheads="1"/>
          </p:cNvPicPr>
          <p:nvPr/>
        </p:nvPicPr>
        <p:blipFill>
          <a:blip r:embed="rId2" cstate="print"/>
          <a:srcRect/>
          <a:stretch>
            <a:fillRect/>
          </a:stretch>
        </p:blipFill>
        <p:spPr bwMode="auto">
          <a:xfrm>
            <a:off x="5472430" y="4559300"/>
            <a:ext cx="2787650" cy="1868170"/>
          </a:xfrm>
          <a:prstGeom prst="rect">
            <a:avLst/>
          </a:prstGeom>
          <a:noFill/>
          <a:ln w="9525">
            <a:noFill/>
            <a:miter lim="800000"/>
            <a:headEnd/>
            <a:tailEnd/>
          </a:ln>
        </p:spPr>
      </p:pic>
      <p:sp>
        <p:nvSpPr>
          <p:cNvPr id="49158" name="Rectangle 12"/>
          <p:cNvSpPr>
            <a:spLocks noChangeArrowheads="1"/>
          </p:cNvSpPr>
          <p:nvPr/>
        </p:nvSpPr>
        <p:spPr bwMode="auto">
          <a:xfrm>
            <a:off x="5472113" y="6427788"/>
            <a:ext cx="2787650" cy="336550"/>
          </a:xfrm>
          <a:prstGeom prst="rect">
            <a:avLst/>
          </a:prstGeom>
          <a:noFill/>
          <a:ln w="9525">
            <a:noFill/>
            <a:miter lim="800000"/>
          </a:ln>
        </p:spPr>
        <p:txBody>
          <a:bodyPr wrap="none" anchor="ctr">
            <a:spAutoFit/>
          </a:bodyPr>
          <a:lstStyle/>
          <a:p>
            <a:pPr eaLnBrk="0" hangingPunct="0">
              <a:spcBef>
                <a:spcPct val="20000"/>
              </a:spcBef>
              <a:buFont typeface="Wingdings" panose="05000000000000000000" pitchFamily="2" charset="2"/>
              <a:buNone/>
            </a:pPr>
            <a:r>
              <a:rPr lang="zh-CN" altLang="en-US" sz="1600" b="1">
                <a:solidFill>
                  <a:srgbClr val="FF0000"/>
                </a:solidFill>
              </a:rPr>
              <a:t>图</a:t>
            </a:r>
            <a:r>
              <a:rPr lang="en-US" altLang="zh-CN" sz="1600" b="1">
                <a:solidFill>
                  <a:srgbClr val="FF0000"/>
                </a:solidFill>
              </a:rPr>
              <a:t>1-5</a:t>
            </a:r>
            <a:r>
              <a:rPr lang="zh-CN" altLang="en-US" sz="1600" b="1">
                <a:solidFill>
                  <a:srgbClr val="FF0000"/>
                </a:solidFill>
              </a:rPr>
              <a:t>系统安全生命周期模型 </a:t>
            </a:r>
            <a:endParaRPr lang="zh-CN" altLang="en-US" sz="1600" b="1">
              <a:solidFill>
                <a:srgbClr val="FF0000"/>
              </a:solidFill>
            </a:endParaRPr>
          </a:p>
        </p:txBody>
      </p:sp>
      <p:sp>
        <p:nvSpPr>
          <p:cNvPr id="49159" name="AutoShape 6"/>
          <p:cNvSpPr>
            <a:spLocks noChangeArrowheads="1"/>
          </p:cNvSpPr>
          <p:nvPr/>
        </p:nvSpPr>
        <p:spPr bwMode="auto">
          <a:xfrm>
            <a:off x="457200" y="1143000"/>
            <a:ext cx="8369300" cy="3297238"/>
          </a:xfrm>
          <a:prstGeom prst="flowChartAlternateProcess">
            <a:avLst/>
          </a:prstGeom>
          <a:noFill/>
          <a:ln w="25400">
            <a:solidFill>
              <a:srgbClr val="1F38ED"/>
            </a:solidFill>
            <a:miter lim="800000"/>
          </a:ln>
        </p:spPr>
        <p:txBody>
          <a:bodyPr wrap="none" anchor="ctr"/>
          <a:lstStyle/>
          <a:p>
            <a:pPr>
              <a:spcBef>
                <a:spcPct val="20000"/>
              </a:spcBef>
              <a:buFont typeface="Wingdings" panose="05000000000000000000" pitchFamily="2" charset="2"/>
              <a:buNone/>
            </a:pPr>
            <a:endParaRPr lang="zh-CN" altLang="en-US" b="1"/>
          </a:p>
        </p:txBody>
      </p:sp>
      <p:sp>
        <p:nvSpPr>
          <p:cNvPr id="2" name="内容占位符 2"/>
          <p:cNvSpPr/>
          <p:nvPr/>
        </p:nvSpPr>
        <p:spPr>
          <a:xfrm>
            <a:off x="815975" y="2459038"/>
            <a:ext cx="8066088" cy="654050"/>
          </a:xfrm>
          <a:prstGeom prst="rect">
            <a:avLst/>
          </a:prstGeom>
          <a:noFill/>
          <a:ln w="9525">
            <a:noFill/>
          </a:ln>
        </p:spPr>
        <p:txBody>
          <a:bodyPr/>
          <a:lstStyle/>
          <a:p>
            <a:pPr marL="342900" indent="-342900" eaLnBrk="0" hangingPunct="0">
              <a:spcBef>
                <a:spcPct val="20000"/>
              </a:spcBef>
              <a:buClr>
                <a:schemeClr val="hlink"/>
              </a:buClr>
              <a:buFont typeface="Wingdings" panose="05000000000000000000" pitchFamily="2" charset="2"/>
              <a:buChar char="n"/>
            </a:pPr>
            <a:r>
              <a:rPr lang="en-US" altLang="zh-CN" sz="2200" b="1">
                <a:solidFill>
                  <a:srgbClr val="CC0000"/>
                </a:solidFill>
                <a:latin typeface="宋体" panose="02010600030101010101" pitchFamily="2" charset="-122"/>
              </a:rPr>
              <a:t>(1)</a:t>
            </a:r>
            <a:r>
              <a:rPr lang="zh-CN" altLang="en-US" sz="2200" b="1">
                <a:solidFill>
                  <a:srgbClr val="CC0000"/>
                </a:solidFill>
                <a:latin typeface="宋体" panose="02010600030101010101" pitchFamily="2" charset="-122"/>
              </a:rPr>
              <a:t>网络安全</a:t>
            </a:r>
            <a:r>
              <a:rPr lang="en-US" altLang="zh-CN" sz="2200" b="1">
                <a:solidFill>
                  <a:srgbClr val="CC0000"/>
                </a:solidFill>
                <a:latin typeface="宋体" panose="02010600030101010101" pitchFamily="2" charset="-122"/>
              </a:rPr>
              <a:t>PDRR</a:t>
            </a:r>
            <a:r>
              <a:rPr lang="zh-CN" altLang="en-US" sz="2200" b="1">
                <a:solidFill>
                  <a:srgbClr val="CC0000"/>
                </a:solidFill>
                <a:latin typeface="宋体" panose="02010600030101010101" pitchFamily="2" charset="-122"/>
              </a:rPr>
              <a:t>模型</a:t>
            </a:r>
            <a:r>
              <a:rPr lang="zh-CN" altLang="en-US" sz="2200" b="1"/>
              <a:t> </a:t>
            </a:r>
            <a:endParaRPr lang="zh-CN" altLang="en-US" sz="2200" b="1"/>
          </a:p>
        </p:txBody>
      </p:sp>
      <p:sp>
        <p:nvSpPr>
          <p:cNvPr id="3" name="Rectangle 2"/>
          <p:cNvSpPr txBox="1">
            <a:spLocks noChangeArrowheads="1"/>
          </p:cNvSpPr>
          <p:nvPr/>
        </p:nvSpPr>
        <p:spPr bwMode="white">
          <a:xfrm>
            <a:off x="231775" y="198438"/>
            <a:ext cx="7450138" cy="563562"/>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en-US" altLang="zh-CN" sz="3200" dirty="0" smtClean="0">
                <a:solidFill>
                  <a:schemeClr val="bg1"/>
                </a:solidFill>
              </a:rPr>
              <a:t>1.</a:t>
            </a:r>
            <a:r>
              <a:rPr lang="en-US" altLang="zh-CN" sz="3200" dirty="0" smtClean="0">
                <a:solidFill>
                  <a:schemeClr val="bg1"/>
                </a:solidFill>
                <a:sym typeface="+mn-ea"/>
              </a:rPr>
              <a:t>3 网络安全主要常用技术</a:t>
            </a:r>
            <a:endParaRPr lang="en-US" altLang="zh-CN" sz="3200" dirty="0" smtClean="0">
              <a:solidFill>
                <a:schemeClr val="bg1"/>
              </a:solidFil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内容占位符 2"/>
          <p:cNvSpPr/>
          <p:nvPr/>
        </p:nvSpPr>
        <p:spPr>
          <a:xfrm>
            <a:off x="577850" y="1143000"/>
            <a:ext cx="7990205" cy="396240"/>
          </a:xfrm>
          <a:prstGeom prst="rect">
            <a:avLst/>
          </a:prstGeom>
          <a:noFill/>
          <a:ln w="9525">
            <a:noFill/>
          </a:ln>
        </p:spPr>
        <p:txBody>
          <a:bodyPr/>
          <a:lstStyle/>
          <a:p>
            <a:pPr marL="342900" indent="-342900" eaLnBrk="0" hangingPunct="0">
              <a:spcBef>
                <a:spcPts val="0"/>
              </a:spcBef>
              <a:buClr>
                <a:schemeClr val="hlink"/>
              </a:buClr>
              <a:buFont typeface="Wingdings" panose="05000000000000000000" pitchFamily="2" charset="2"/>
              <a:buChar char="n"/>
              <a:defRPr/>
            </a:pPr>
            <a:r>
              <a:rPr lang="en-US" altLang="zh-CN" b="1" noProof="1">
                <a:solidFill>
                  <a:srgbClr val="FF0000"/>
                </a:solidFill>
                <a:latin typeface="宋体" panose="02010600030101010101" pitchFamily="2" charset="-122"/>
                <a:cs typeface="+mn-ea"/>
              </a:rPr>
              <a:t>2. </a:t>
            </a:r>
            <a:r>
              <a:rPr lang="zh-CN" altLang="en-US" b="1" noProof="1">
                <a:solidFill>
                  <a:srgbClr val="FF0000"/>
                </a:solidFill>
                <a:latin typeface="宋体" panose="02010600030101010101" pitchFamily="2" charset="-122"/>
                <a:cs typeface="+mn-ea"/>
              </a:rPr>
              <a:t>网络安全常用模型</a:t>
            </a:r>
            <a:endParaRPr lang="zh-CN" altLang="en-US" b="1" noProof="1">
              <a:solidFill>
                <a:srgbClr val="FF0000"/>
              </a:solidFill>
              <a:latin typeface="宋体" panose="02010600030101010101" pitchFamily="2" charset="-122"/>
              <a:cs typeface="+mn-ea"/>
            </a:endParaRPr>
          </a:p>
          <a:p>
            <a:pPr marL="0" indent="0" eaLnBrk="0" hangingPunct="0">
              <a:spcBef>
                <a:spcPts val="0"/>
              </a:spcBef>
              <a:buClr>
                <a:schemeClr val="hlink"/>
              </a:buClr>
              <a:buFont typeface="Wingdings" panose="05000000000000000000" pitchFamily="2" charset="2"/>
              <a:buNone/>
              <a:defRPr/>
            </a:pPr>
            <a:r>
              <a:rPr lang="zh-CN" altLang="en-US" b="1" noProof="1">
                <a:solidFill>
                  <a:srgbClr val="FF0000"/>
                </a:solidFill>
                <a:latin typeface="宋体" panose="02010600030101010101" pitchFamily="2" charset="-122"/>
              </a:rPr>
              <a:t>   </a:t>
            </a:r>
            <a:endParaRPr lang="zh-CN" altLang="en-US" b="1" noProof="1">
              <a:solidFill>
                <a:srgbClr val="FF0000"/>
              </a:solidFill>
              <a:latin typeface="宋体" panose="02010600030101010101" pitchFamily="2" charset="-122"/>
            </a:endParaRPr>
          </a:p>
          <a:p>
            <a:pPr marL="0" indent="0" algn="l" eaLnBrk="0" hangingPunct="0">
              <a:spcBef>
                <a:spcPts val="0"/>
              </a:spcBef>
              <a:buClr>
                <a:schemeClr val="hlink"/>
              </a:buClr>
              <a:buFont typeface="Wingdings" panose="05000000000000000000" pitchFamily="2" charset="2"/>
              <a:buNone/>
              <a:defRPr/>
            </a:pPr>
            <a:r>
              <a:rPr lang="en-US" altLang="zh-CN" sz="2200" b="1" noProof="1"/>
              <a:t>PDR</a:t>
            </a:r>
            <a:r>
              <a:rPr lang="zh-CN" altLang="en-US" sz="2200" b="1" noProof="1"/>
              <a:t>模型的发展，反映出人们对信息安全理解的逐渐丰富，也反映了信息安全技术和产品的日渐丰富。随着信息化的发展，人们越来越意识到信息安全不涉及面非常广，除了技术，管理、制度、人员和法律等方面也是信息安全必须考虑的因素。</a:t>
            </a:r>
            <a:endParaRPr lang="zh-CN" altLang="en-US" sz="2200" b="1" noProof="1"/>
          </a:p>
        </p:txBody>
      </p:sp>
      <p:sp>
        <p:nvSpPr>
          <p:cNvPr id="49159" name="AutoShape 6"/>
          <p:cNvSpPr>
            <a:spLocks noChangeArrowheads="1"/>
          </p:cNvSpPr>
          <p:nvPr/>
        </p:nvSpPr>
        <p:spPr bwMode="auto">
          <a:xfrm>
            <a:off x="457200" y="1143000"/>
            <a:ext cx="8467725" cy="5208905"/>
          </a:xfrm>
          <a:prstGeom prst="flowChartAlternateProcess">
            <a:avLst/>
          </a:prstGeom>
          <a:noFill/>
          <a:ln w="25400">
            <a:solidFill>
              <a:srgbClr val="1F38ED"/>
            </a:solidFill>
            <a:miter lim="800000"/>
          </a:ln>
        </p:spPr>
        <p:txBody>
          <a:bodyPr wrap="none" anchor="ctr"/>
          <a:lstStyle/>
          <a:p>
            <a:pPr>
              <a:spcBef>
                <a:spcPct val="20000"/>
              </a:spcBef>
              <a:buFont typeface="Wingdings" panose="05000000000000000000" pitchFamily="2" charset="2"/>
              <a:buNone/>
            </a:pPr>
            <a:endParaRPr lang="zh-CN" altLang="en-US" b="1"/>
          </a:p>
        </p:txBody>
      </p:sp>
      <p:sp>
        <p:nvSpPr>
          <p:cNvPr id="3" name="Rectangle 2"/>
          <p:cNvSpPr txBox="1">
            <a:spLocks noChangeArrowheads="1"/>
          </p:cNvSpPr>
          <p:nvPr/>
        </p:nvSpPr>
        <p:spPr bwMode="white">
          <a:xfrm>
            <a:off x="231775" y="198438"/>
            <a:ext cx="7450138" cy="563562"/>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en-US" altLang="zh-CN" sz="3200" dirty="0" smtClean="0">
                <a:solidFill>
                  <a:schemeClr val="bg1"/>
                </a:solidFill>
              </a:rPr>
              <a:t>1.</a:t>
            </a:r>
            <a:r>
              <a:rPr lang="en-US" altLang="zh-CN" sz="3200" dirty="0" smtClean="0">
                <a:solidFill>
                  <a:schemeClr val="bg1"/>
                </a:solidFill>
                <a:sym typeface="+mn-ea"/>
              </a:rPr>
              <a:t>3 网络安全主要常用技术</a:t>
            </a:r>
            <a:endParaRPr lang="en-US" altLang="zh-CN" sz="3200" dirty="0" smtClean="0">
              <a:solidFill>
                <a:schemeClr val="bg1"/>
              </a:solidFil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内容占位符 2"/>
          <p:cNvSpPr>
            <a:spLocks noGrp="1" noChangeArrowheads="1"/>
          </p:cNvSpPr>
          <p:nvPr>
            <p:ph idx="4294967295"/>
          </p:nvPr>
        </p:nvSpPr>
        <p:spPr>
          <a:xfrm>
            <a:off x="304800" y="1371600"/>
            <a:ext cx="8218488" cy="1600200"/>
          </a:xfrm>
        </p:spPr>
        <p:txBody>
          <a:bodyPr/>
          <a:lstStyle/>
          <a:p>
            <a:pPr>
              <a:lnSpc>
                <a:spcPct val="30000"/>
              </a:lnSpc>
              <a:spcBef>
                <a:spcPct val="0"/>
              </a:spcBef>
              <a:buFont typeface="Wingdings" panose="05000000000000000000" pitchFamily="2" charset="2"/>
              <a:buNone/>
            </a:pPr>
            <a:r>
              <a:rPr lang="en-US" altLang="zh-CN" sz="2800" smtClean="0">
                <a:solidFill>
                  <a:srgbClr val="FF0000"/>
                </a:solidFill>
              </a:rPr>
              <a:t>     </a:t>
            </a:r>
            <a:r>
              <a:rPr lang="zh-CN" altLang="en-US" smtClean="0">
                <a:solidFill>
                  <a:srgbClr val="FF0000"/>
                </a:solidFill>
              </a:rPr>
              <a:t>（</a:t>
            </a:r>
            <a:r>
              <a:rPr lang="en-US" altLang="zh-CN" smtClean="0">
                <a:solidFill>
                  <a:srgbClr val="FF0000"/>
                </a:solidFill>
              </a:rPr>
              <a:t>2</a:t>
            </a:r>
            <a:r>
              <a:rPr lang="zh-CN" altLang="en-US" smtClean="0">
                <a:solidFill>
                  <a:srgbClr val="FF0000"/>
                </a:solidFill>
              </a:rPr>
              <a:t>）</a:t>
            </a:r>
            <a:r>
              <a:rPr lang="zh-CN" altLang="en-US" smtClean="0">
                <a:solidFill>
                  <a:srgbClr val="CC0000"/>
                </a:solidFill>
              </a:rPr>
              <a:t>网络</a:t>
            </a:r>
            <a:r>
              <a:rPr lang="zh-CN" altLang="en-US" sz="2000" smtClean="0">
                <a:solidFill>
                  <a:srgbClr val="CC0000"/>
                </a:solidFill>
              </a:rPr>
              <a:t>安全通用模型</a:t>
            </a:r>
            <a:endParaRPr lang="zh-CN" altLang="en-US" sz="2000" smtClean="0">
              <a:solidFill>
                <a:srgbClr val="CC0000"/>
              </a:solidFill>
            </a:endParaRPr>
          </a:p>
          <a:p>
            <a:pPr>
              <a:lnSpc>
                <a:spcPct val="90000"/>
              </a:lnSpc>
              <a:spcBef>
                <a:spcPct val="0"/>
              </a:spcBef>
              <a:buFont typeface="Wingdings" panose="05000000000000000000" pitchFamily="2" charset="2"/>
              <a:buNone/>
            </a:pPr>
            <a:r>
              <a:rPr lang="zh-CN" altLang="en-US" sz="2000" smtClean="0"/>
              <a:t>      利用互联网将数据报文从源站主机传输到目的站主机，需要协同处理与交换。通过建立逻辑信息通道，可以确定从源站经过网络到目的站的路由及两个主体协同使用TCP/IP的通信协议。其网络安全通用模型如图1-</a:t>
            </a:r>
            <a:r>
              <a:rPr lang="en-US" altLang="zh-CN" sz="2000" smtClean="0"/>
              <a:t>6</a:t>
            </a:r>
            <a:r>
              <a:rPr lang="zh-CN" altLang="en-US" sz="2000" smtClean="0"/>
              <a:t>所示</a:t>
            </a:r>
            <a:r>
              <a:rPr lang="en-US" altLang="zh-CN" sz="2000" smtClean="0"/>
              <a:t>,</a:t>
            </a:r>
            <a:r>
              <a:rPr lang="zh-CN" altLang="en-US" sz="2000" smtClean="0"/>
              <a:t>缺点是并非所有情况都通用。</a:t>
            </a:r>
            <a:r>
              <a:rPr lang="zh-CN" altLang="en-US" sz="2000" b="0" smtClean="0"/>
              <a:t> </a:t>
            </a:r>
            <a:endParaRPr lang="zh-CN" altLang="en-US" sz="2000" b="0" smtClean="0"/>
          </a:p>
        </p:txBody>
      </p:sp>
      <p:pic>
        <p:nvPicPr>
          <p:cNvPr id="50178" name="Picture 4"/>
          <p:cNvPicPr>
            <a:picLocks noChangeAspect="1" noChangeArrowheads="1"/>
          </p:cNvPicPr>
          <p:nvPr/>
        </p:nvPicPr>
        <p:blipFill>
          <a:blip r:embed="rId1" cstate="print">
            <a:lum bright="-12000" contrast="12000"/>
          </a:blip>
          <a:srcRect/>
          <a:stretch>
            <a:fillRect/>
          </a:stretch>
        </p:blipFill>
        <p:spPr bwMode="auto">
          <a:xfrm>
            <a:off x="1541463" y="2735263"/>
            <a:ext cx="6048375" cy="1944687"/>
          </a:xfrm>
          <a:prstGeom prst="rect">
            <a:avLst/>
          </a:prstGeom>
          <a:noFill/>
          <a:ln w="9525">
            <a:noFill/>
            <a:miter lim="800000"/>
            <a:headEnd/>
            <a:tailEnd/>
          </a:ln>
        </p:spPr>
      </p:pic>
      <p:sp>
        <p:nvSpPr>
          <p:cNvPr id="50179" name="Rectangle 5"/>
          <p:cNvSpPr>
            <a:spLocks noChangeArrowheads="1"/>
          </p:cNvSpPr>
          <p:nvPr/>
        </p:nvSpPr>
        <p:spPr bwMode="auto">
          <a:xfrm>
            <a:off x="2987675" y="4616450"/>
            <a:ext cx="3284538" cy="336550"/>
          </a:xfrm>
          <a:prstGeom prst="rect">
            <a:avLst/>
          </a:prstGeom>
          <a:noFill/>
          <a:ln w="9525">
            <a:noFill/>
            <a:miter lim="800000"/>
          </a:ln>
        </p:spPr>
        <p:txBody>
          <a:bodyPr anchor="ctr">
            <a:spAutoFit/>
          </a:bodyPr>
          <a:lstStyle/>
          <a:p>
            <a:pPr algn="ctr">
              <a:spcBef>
                <a:spcPct val="20000"/>
              </a:spcBef>
              <a:buFont typeface="Wingdings" panose="05000000000000000000" pitchFamily="2" charset="2"/>
              <a:buNone/>
            </a:pPr>
            <a:r>
              <a:rPr lang="zh-CN" altLang="en-US" sz="1600">
                <a:solidFill>
                  <a:srgbClr val="CC0000"/>
                </a:solidFill>
              </a:rPr>
              <a:t>图</a:t>
            </a:r>
            <a:r>
              <a:rPr lang="en-US" altLang="zh-CN" sz="1600">
                <a:solidFill>
                  <a:srgbClr val="CC0000"/>
                </a:solidFill>
              </a:rPr>
              <a:t>1-6 </a:t>
            </a:r>
            <a:r>
              <a:rPr lang="zh-CN" altLang="en-US" sz="1600">
                <a:solidFill>
                  <a:srgbClr val="CC0000"/>
                </a:solidFill>
              </a:rPr>
              <a:t>网络安全通用模型</a:t>
            </a:r>
            <a:endParaRPr lang="zh-CN" altLang="en-US" sz="1600">
              <a:solidFill>
                <a:srgbClr val="CC0000"/>
              </a:solidFill>
            </a:endParaRPr>
          </a:p>
        </p:txBody>
      </p:sp>
      <p:sp>
        <p:nvSpPr>
          <p:cNvPr id="50180" name="Rectangle 6"/>
          <p:cNvSpPr>
            <a:spLocks noChangeArrowheads="1"/>
          </p:cNvSpPr>
          <p:nvPr/>
        </p:nvSpPr>
        <p:spPr bwMode="auto">
          <a:xfrm>
            <a:off x="611188" y="4976813"/>
            <a:ext cx="7916862" cy="1520825"/>
          </a:xfrm>
          <a:prstGeom prst="rect">
            <a:avLst/>
          </a:prstGeom>
          <a:noFill/>
          <a:ln w="9525">
            <a:noFill/>
            <a:miter lim="800000"/>
          </a:ln>
        </p:spPr>
        <p:txBody>
          <a:bodyPr>
            <a:spAutoFit/>
          </a:bodyPr>
          <a:lstStyle/>
          <a:p>
            <a:pPr algn="dist">
              <a:lnSpc>
                <a:spcPct val="90000"/>
              </a:lnSpc>
              <a:spcBef>
                <a:spcPct val="20000"/>
              </a:spcBef>
              <a:buFont typeface="Wingdings" panose="05000000000000000000" pitchFamily="2" charset="2"/>
              <a:buNone/>
            </a:pPr>
            <a:r>
              <a:rPr lang="zh-CN" altLang="en-US" sz="2300">
                <a:solidFill>
                  <a:schemeClr val="tx2"/>
                </a:solidFill>
              </a:rPr>
              <a:t>        </a:t>
            </a:r>
            <a:r>
              <a:rPr lang="zh-CN" altLang="en-US" sz="2000" b="1">
                <a:solidFill>
                  <a:schemeClr val="tx2"/>
                </a:solidFill>
              </a:rPr>
              <a:t>对网络信息进行安全处理，需要可信的第三方进行两个主体在报文传输中的身份认证。构建网络安全系统时，</a:t>
            </a:r>
            <a:r>
              <a:rPr lang="zh-CN" altLang="en-US" sz="2000" b="1">
                <a:solidFill>
                  <a:srgbClr val="FF0000"/>
                </a:solidFill>
              </a:rPr>
              <a:t>网络安全模型基本任务</a:t>
            </a:r>
            <a:r>
              <a:rPr lang="zh-CN" altLang="en-US" sz="2000" b="1">
                <a:solidFill>
                  <a:schemeClr val="tx2"/>
                </a:solidFill>
              </a:rPr>
              <a:t>主要有4个：选取一个秘密信息或报文；设计一个实现安全的转换算法；开发一个分发和共享秘密信息的方法；确定两个主体使用的网络协议，以便利用秘密算法与信息，实现特定的安全服务。</a:t>
            </a:r>
            <a:endParaRPr lang="zh-CN" altLang="en-US" sz="2000" b="1">
              <a:solidFill>
                <a:schemeClr val="tx2"/>
              </a:solidFill>
            </a:endParaRPr>
          </a:p>
        </p:txBody>
      </p:sp>
      <p:sp>
        <p:nvSpPr>
          <p:cNvPr id="50181" name="AutoShape 6"/>
          <p:cNvSpPr>
            <a:spLocks noChangeArrowheads="1"/>
          </p:cNvSpPr>
          <p:nvPr/>
        </p:nvSpPr>
        <p:spPr bwMode="auto">
          <a:xfrm>
            <a:off x="409575" y="1143000"/>
            <a:ext cx="8305800" cy="5486400"/>
          </a:xfrm>
          <a:prstGeom prst="flowChartAlternateProcess">
            <a:avLst/>
          </a:prstGeom>
          <a:noFill/>
          <a:ln w="25400">
            <a:solidFill>
              <a:srgbClr val="1F38ED"/>
            </a:solidFill>
            <a:miter lim="800000"/>
          </a:ln>
        </p:spPr>
        <p:txBody>
          <a:bodyPr wrap="none" anchor="ctr"/>
          <a:lstStyle/>
          <a:p>
            <a:pPr algn="dist">
              <a:spcBef>
                <a:spcPct val="20000"/>
              </a:spcBef>
              <a:buFont typeface="Wingdings" panose="05000000000000000000" pitchFamily="2" charset="2"/>
              <a:buNone/>
            </a:pPr>
            <a:endParaRPr lang="zh-CN" altLang="en-US"/>
          </a:p>
        </p:txBody>
      </p:sp>
      <p:sp>
        <p:nvSpPr>
          <p:cNvPr id="2" name="Rectangle 2"/>
          <p:cNvSpPr txBox="1">
            <a:spLocks noChangeArrowheads="1"/>
          </p:cNvSpPr>
          <p:nvPr/>
        </p:nvSpPr>
        <p:spPr bwMode="white">
          <a:xfrm>
            <a:off x="231775" y="198438"/>
            <a:ext cx="7450138" cy="563562"/>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en-US" altLang="zh-CN" sz="3200" dirty="0" smtClean="0">
                <a:solidFill>
                  <a:schemeClr val="bg1"/>
                </a:solidFill>
              </a:rPr>
              <a:t>1.</a:t>
            </a:r>
            <a:r>
              <a:rPr lang="en-US" altLang="zh-CN" sz="3200" dirty="0" smtClean="0">
                <a:solidFill>
                  <a:schemeClr val="bg1"/>
                </a:solidFill>
                <a:sym typeface="+mn-ea"/>
              </a:rPr>
              <a:t>3 网络安全主要常用技术</a:t>
            </a:r>
            <a:endParaRPr lang="en-US" altLang="zh-CN" sz="3200" dirty="0" smtClean="0">
              <a:solidFill>
                <a:schemeClr val="bg1"/>
              </a:solidFill>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bwMode="gray">
          <a:xfrm>
            <a:off x="468313" y="1098550"/>
            <a:ext cx="8370887" cy="2816225"/>
          </a:xfrm>
          <a:prstGeom prst="roundRect">
            <a:avLst/>
          </a:prstGeom>
        </p:spPr>
        <p:style>
          <a:lnRef idx="2">
            <a:schemeClr val="accent1"/>
          </a:lnRef>
          <a:fillRef idx="1">
            <a:schemeClr val="lt1"/>
          </a:fillRef>
          <a:effectRef idx="0">
            <a:schemeClr val="accent1"/>
          </a:effectRef>
          <a:fontRef idx="minor">
            <a:schemeClr val="dk1"/>
          </a:fontRef>
        </p:style>
        <p:txBody>
          <a:bodyPr anchor="ctr" anchorCtr="1">
            <a:normAutofit fontScale="92500" lnSpcReduction="10000"/>
          </a:bodyPr>
          <a:lstStyle/>
          <a:p>
            <a:pPr>
              <a:spcBef>
                <a:spcPct val="20000"/>
              </a:spcBef>
              <a:defRPr/>
            </a:pPr>
            <a:r>
              <a:rPr lang="en-US" altLang="zh-CN" b="1" dirty="0">
                <a:solidFill>
                  <a:srgbClr val="FF0000"/>
                </a:solidFill>
                <a:latin typeface="Arial" panose="020B0604020202020204" pitchFamily="34" charset="0"/>
              </a:rPr>
              <a:t>       </a:t>
            </a:r>
            <a:r>
              <a:rPr lang="zh-CN" altLang="en-US" b="1" dirty="0">
                <a:solidFill>
                  <a:srgbClr val="FF0000"/>
                </a:solidFill>
                <a:latin typeface="Arial" panose="020B0604020202020204" pitchFamily="34" charset="0"/>
              </a:rPr>
              <a:t>（</a:t>
            </a:r>
            <a:r>
              <a:rPr lang="en-US" altLang="zh-CN" b="1" dirty="0">
                <a:solidFill>
                  <a:srgbClr val="FF0000"/>
                </a:solidFill>
                <a:latin typeface="Arial" panose="020B0604020202020204" pitchFamily="34" charset="0"/>
              </a:rPr>
              <a:t>3</a:t>
            </a:r>
            <a:r>
              <a:rPr lang="zh-CN" altLang="en-US" b="1" dirty="0">
                <a:solidFill>
                  <a:srgbClr val="FF0000"/>
                </a:solidFill>
                <a:latin typeface="Arial" panose="020B0604020202020204" pitchFamily="34" charset="0"/>
              </a:rPr>
              <a:t>）</a:t>
            </a:r>
            <a:r>
              <a:rPr lang="zh-CN" altLang="en-US" sz="2000" b="1" dirty="0">
                <a:solidFill>
                  <a:srgbClr val="FF0000"/>
                </a:solidFill>
                <a:latin typeface="Arial" panose="020B0604020202020204" pitchFamily="34" charset="0"/>
              </a:rPr>
              <a:t>网络访问安全模型</a:t>
            </a:r>
            <a:endParaRPr lang="zh-CN" altLang="en-US" sz="2000" b="1" dirty="0">
              <a:solidFill>
                <a:srgbClr val="FF0000"/>
              </a:solidFill>
              <a:latin typeface="Arial" panose="020B0604020202020204" pitchFamily="34" charset="0"/>
            </a:endParaRPr>
          </a:p>
          <a:p>
            <a:pPr>
              <a:spcBef>
                <a:spcPct val="20000"/>
              </a:spcBef>
              <a:defRPr/>
            </a:pPr>
            <a:r>
              <a:rPr lang="zh-CN" altLang="en-US" sz="2000" b="1" dirty="0">
                <a:solidFill>
                  <a:schemeClr val="tx2"/>
                </a:solidFill>
                <a:latin typeface="Arial" panose="020B0604020202020204" pitchFamily="34" charset="0"/>
              </a:rPr>
              <a:t>        </a:t>
            </a:r>
            <a:r>
              <a:rPr sz="2000" b="1" dirty="0" err="1">
                <a:latin typeface="Arial" panose="020B0604020202020204" pitchFamily="34" charset="0"/>
              </a:rPr>
              <a:t>在访问网络过程中，针对黑客攻击、病毒侵入及非授权访问，常用网络访问安全模型</a:t>
            </a:r>
            <a:r>
              <a:rPr sz="2000" b="1" dirty="0">
                <a:latin typeface="Arial" panose="020B0604020202020204" pitchFamily="34" charset="0"/>
              </a:rPr>
              <a:t>。</a:t>
            </a:r>
            <a:r>
              <a:rPr sz="2000" b="1" dirty="0" err="1">
                <a:latin typeface="Arial" panose="020B0604020202020204" pitchFamily="34" charset="0"/>
              </a:rPr>
              <a:t>黑客攻击可以形成两类威胁：一是访问威胁，即非授权用户截获或修改数据；二是服务威胁，即服务流激增以禁止合法用户使用</a:t>
            </a:r>
            <a:r>
              <a:rPr sz="2000" b="1" dirty="0">
                <a:latin typeface="Arial" panose="020B0604020202020204" pitchFamily="34" charset="0"/>
              </a:rPr>
              <a:t>。对非授权访问的安全机制可分为两类：一是网闸功能，包括基于口令的登录过程可拒绝所有非授权访问，以及屏蔽逻辑用于检测、拒绝病毒、蠕虫和其他类似攻击；二是内部的安全控制，若非授权用户得到访问权，第二道防线将对其进行防御，包括各种内部监控和分析，以检查入侵者。如图1-</a:t>
            </a:r>
            <a:r>
              <a:rPr lang="en-US" sz="2000" b="1" dirty="0">
                <a:latin typeface="Arial" panose="020B0604020202020204" pitchFamily="34" charset="0"/>
              </a:rPr>
              <a:t>7</a:t>
            </a:r>
            <a:r>
              <a:rPr sz="2000" b="1" dirty="0">
                <a:latin typeface="Arial" panose="020B0604020202020204" pitchFamily="34" charset="0"/>
              </a:rPr>
              <a:t>所示。</a:t>
            </a:r>
            <a:endParaRPr sz="2000" b="1" dirty="0">
              <a:latin typeface="Arial" panose="020B0604020202020204" pitchFamily="34" charset="0"/>
            </a:endParaRPr>
          </a:p>
        </p:txBody>
      </p:sp>
      <p:pic>
        <p:nvPicPr>
          <p:cNvPr id="51202" name="Picture 4"/>
          <p:cNvPicPr>
            <a:picLocks noChangeAspect="1" noChangeArrowheads="1"/>
          </p:cNvPicPr>
          <p:nvPr/>
        </p:nvPicPr>
        <p:blipFill>
          <a:blip r:embed="rId1" cstate="print">
            <a:grayscl/>
          </a:blip>
          <a:srcRect/>
          <a:stretch>
            <a:fillRect/>
          </a:stretch>
        </p:blipFill>
        <p:spPr bwMode="auto">
          <a:xfrm>
            <a:off x="1387475" y="3913188"/>
            <a:ext cx="6156325" cy="2520950"/>
          </a:xfrm>
          <a:prstGeom prst="rect">
            <a:avLst/>
          </a:prstGeom>
          <a:noFill/>
          <a:ln w="9525">
            <a:noFill/>
            <a:miter lim="800000"/>
            <a:headEnd/>
            <a:tailEnd/>
          </a:ln>
        </p:spPr>
      </p:pic>
      <p:sp>
        <p:nvSpPr>
          <p:cNvPr id="51203" name="Rectangle 5"/>
          <p:cNvSpPr>
            <a:spLocks noChangeArrowheads="1"/>
          </p:cNvSpPr>
          <p:nvPr/>
        </p:nvSpPr>
        <p:spPr bwMode="auto">
          <a:xfrm>
            <a:off x="2898775" y="6432550"/>
            <a:ext cx="3348038" cy="369888"/>
          </a:xfrm>
          <a:prstGeom prst="rect">
            <a:avLst/>
          </a:prstGeom>
          <a:noFill/>
          <a:ln w="9525">
            <a:noFill/>
            <a:miter lim="800000"/>
          </a:ln>
        </p:spPr>
        <p:txBody>
          <a:bodyPr anchor="ctr">
            <a:spAutoFit/>
          </a:bodyPr>
          <a:lstStyle/>
          <a:p>
            <a:pPr algn="dist">
              <a:spcBef>
                <a:spcPct val="20000"/>
              </a:spcBef>
              <a:buFont typeface="Wingdings" panose="05000000000000000000" pitchFamily="2" charset="2"/>
              <a:buNone/>
            </a:pPr>
            <a:r>
              <a:rPr lang="zh-CN" altLang="en-US" sz="1800" b="1">
                <a:solidFill>
                  <a:srgbClr val="CC0000"/>
                </a:solidFill>
              </a:rPr>
              <a:t>图</a:t>
            </a:r>
            <a:r>
              <a:rPr lang="en-US" altLang="zh-CN" sz="1800" b="1">
                <a:solidFill>
                  <a:srgbClr val="CC0000"/>
                </a:solidFill>
              </a:rPr>
              <a:t>1-7 </a:t>
            </a:r>
            <a:r>
              <a:rPr lang="zh-CN" altLang="en-US" sz="1800" b="1">
                <a:solidFill>
                  <a:srgbClr val="CC0000"/>
                </a:solidFill>
              </a:rPr>
              <a:t>网络访问安全模型 </a:t>
            </a:r>
            <a:endParaRPr lang="zh-CN" altLang="en-US" sz="1800" b="1">
              <a:solidFill>
                <a:srgbClr val="CC0000"/>
              </a:solidFill>
            </a:endParaRPr>
          </a:p>
        </p:txBody>
      </p:sp>
      <p:sp>
        <p:nvSpPr>
          <p:cNvPr id="51204" name="AutoShape 7"/>
          <p:cNvSpPr>
            <a:spLocks noChangeArrowheads="1"/>
          </p:cNvSpPr>
          <p:nvPr/>
        </p:nvSpPr>
        <p:spPr bwMode="auto">
          <a:xfrm>
            <a:off x="4464050" y="4508500"/>
            <a:ext cx="971550" cy="325438"/>
          </a:xfrm>
          <a:prstGeom prst="wedgeRectCallout">
            <a:avLst>
              <a:gd name="adj1" fmla="val -26144"/>
              <a:gd name="adj2" fmla="val 87560"/>
            </a:avLst>
          </a:prstGeom>
          <a:solidFill>
            <a:srgbClr val="FFFF66"/>
          </a:solidFill>
          <a:ln w="9525">
            <a:solidFill>
              <a:schemeClr val="tx2"/>
            </a:solidFill>
            <a:miter lim="800000"/>
          </a:ln>
        </p:spPr>
        <p:txBody>
          <a:bodyPr/>
          <a:lstStyle/>
          <a:p>
            <a:pPr algn="ctr">
              <a:spcBef>
                <a:spcPct val="20000"/>
              </a:spcBef>
              <a:buFont typeface="Wingdings" panose="05000000000000000000" pitchFamily="2" charset="2"/>
              <a:buNone/>
            </a:pPr>
            <a:r>
              <a:rPr lang="zh-CN" altLang="en-US" sz="1600">
                <a:solidFill>
                  <a:srgbClr val="FF0000"/>
                </a:solidFill>
              </a:rPr>
              <a:t>防火墙</a:t>
            </a:r>
            <a:endParaRPr lang="zh-CN" altLang="en-US" sz="1600">
              <a:solidFill>
                <a:srgbClr val="FF0000"/>
              </a:solidFill>
            </a:endParaRPr>
          </a:p>
        </p:txBody>
      </p:sp>
      <p:sp>
        <p:nvSpPr>
          <p:cNvPr id="2" name="Rectangle 2"/>
          <p:cNvSpPr txBox="1">
            <a:spLocks noChangeArrowheads="1"/>
          </p:cNvSpPr>
          <p:nvPr/>
        </p:nvSpPr>
        <p:spPr bwMode="white">
          <a:xfrm>
            <a:off x="231775" y="198438"/>
            <a:ext cx="7450138" cy="563562"/>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en-US" altLang="zh-CN" sz="3200" dirty="0" smtClean="0">
                <a:solidFill>
                  <a:schemeClr val="bg1"/>
                </a:solidFill>
              </a:rPr>
              <a:t>1.</a:t>
            </a:r>
            <a:r>
              <a:rPr lang="en-US" altLang="zh-CN" sz="3200" dirty="0" smtClean="0">
                <a:solidFill>
                  <a:schemeClr val="bg1"/>
                </a:solidFill>
                <a:sym typeface="+mn-ea"/>
              </a:rPr>
              <a:t>3 网络安全主要常用技术</a:t>
            </a:r>
            <a:endParaRPr lang="en-US" altLang="zh-CN" sz="3200" dirty="0" smtClean="0">
              <a:solidFill>
                <a:schemeClr val="bg1"/>
              </a:solidFil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内容占位符 2"/>
          <p:cNvSpPr>
            <a:spLocks noGrp="1" noChangeArrowheads="1"/>
          </p:cNvSpPr>
          <p:nvPr>
            <p:ph idx="4294967295"/>
          </p:nvPr>
        </p:nvSpPr>
        <p:spPr>
          <a:xfrm>
            <a:off x="719138" y="1160463"/>
            <a:ext cx="4175125" cy="539750"/>
          </a:xfrm>
        </p:spPr>
        <p:txBody>
          <a:bodyPr/>
          <a:lstStyle/>
          <a:p>
            <a:pPr>
              <a:buFont typeface="Wingdings" panose="05000000000000000000" pitchFamily="2" charset="2"/>
              <a:buNone/>
            </a:pPr>
            <a:r>
              <a:rPr lang="en-US" altLang="zh-CN" sz="2400" smtClean="0">
                <a:solidFill>
                  <a:srgbClr val="FF0000"/>
                </a:solidFill>
              </a:rPr>
              <a:t>   </a:t>
            </a:r>
            <a:r>
              <a:rPr lang="zh-CN" altLang="en-US" sz="2400" smtClean="0">
                <a:solidFill>
                  <a:srgbClr val="FF0000"/>
                </a:solidFill>
              </a:rPr>
              <a:t>（</a:t>
            </a:r>
            <a:r>
              <a:rPr lang="en-US" altLang="zh-CN" sz="2400" smtClean="0">
                <a:solidFill>
                  <a:srgbClr val="FF0000"/>
                </a:solidFill>
              </a:rPr>
              <a:t>4</a:t>
            </a:r>
            <a:r>
              <a:rPr lang="zh-CN" altLang="en-US" sz="2400" smtClean="0">
                <a:solidFill>
                  <a:srgbClr val="FF0000"/>
                </a:solidFill>
              </a:rPr>
              <a:t>）网络安全防御模型</a:t>
            </a:r>
            <a:r>
              <a:rPr lang="zh-CN" altLang="en-US" smtClean="0"/>
              <a:t> </a:t>
            </a:r>
            <a:endParaRPr lang="zh-CN" altLang="en-US" smtClean="0"/>
          </a:p>
        </p:txBody>
      </p:sp>
      <p:sp>
        <p:nvSpPr>
          <p:cNvPr id="5" name="圆角矩形 4"/>
          <p:cNvSpPr/>
          <p:nvPr/>
        </p:nvSpPr>
        <p:spPr bwMode="gray">
          <a:xfrm>
            <a:off x="935038" y="1700213"/>
            <a:ext cx="7200900" cy="1584325"/>
          </a:xfrm>
          <a:prstGeom prst="roundRect">
            <a:avLst/>
          </a:prstGeom>
        </p:spPr>
        <p:style>
          <a:lnRef idx="2">
            <a:schemeClr val="accent1"/>
          </a:lnRef>
          <a:fillRef idx="1">
            <a:schemeClr val="lt1"/>
          </a:fillRef>
          <a:effectRef idx="0">
            <a:schemeClr val="accent1"/>
          </a:effectRef>
          <a:fontRef idx="minor">
            <a:schemeClr val="dk1"/>
          </a:fontRef>
        </p:style>
        <p:txBody>
          <a:bodyPr anchor="ctr" anchorCtr="1">
            <a:normAutofit fontScale="92500" lnSpcReduction="20000"/>
          </a:bodyPr>
          <a:lstStyle/>
          <a:p>
            <a:pPr>
              <a:spcBef>
                <a:spcPct val="20000"/>
              </a:spcBef>
              <a:defRPr/>
            </a:pPr>
            <a:r>
              <a:rPr lang="zh-CN" altLang="en-US" b="1" dirty="0">
                <a:solidFill>
                  <a:schemeClr val="tx2"/>
                </a:solidFill>
                <a:latin typeface="Arial" panose="020B0604020202020204" pitchFamily="34" charset="0"/>
              </a:rPr>
              <a:t>        </a:t>
            </a:r>
            <a:r>
              <a:rPr lang="zh-CN" altLang="en-US" b="1" dirty="0">
                <a:solidFill>
                  <a:srgbClr val="CC0000"/>
                </a:solidFill>
                <a:latin typeface="Arial" panose="020B0604020202020204" pitchFamily="34" charset="0"/>
              </a:rPr>
              <a:t>“防患于未然”是最好的保障</a:t>
            </a:r>
            <a:r>
              <a:rPr lang="zh-CN" altLang="en-US" b="1" dirty="0">
                <a:solidFill>
                  <a:schemeClr val="tx2"/>
                </a:solidFill>
                <a:latin typeface="Arial" panose="020B0604020202020204" pitchFamily="34" charset="0"/>
              </a:rPr>
              <a:t>，</a:t>
            </a:r>
            <a:r>
              <a:rPr lang="zh-CN" altLang="en-US" b="1" dirty="0">
                <a:solidFill>
                  <a:srgbClr val="FF0000"/>
                </a:solidFill>
                <a:latin typeface="Arial" panose="020B0604020202020204" pitchFamily="34" charset="0"/>
              </a:rPr>
              <a:t>网络安全的关键是预防</a:t>
            </a:r>
            <a:r>
              <a:rPr lang="zh-CN" altLang="en-US" b="1" dirty="0">
                <a:solidFill>
                  <a:schemeClr val="tx2"/>
                </a:solidFill>
                <a:latin typeface="Arial" panose="020B0604020202020204" pitchFamily="34" charset="0"/>
              </a:rPr>
              <a:t>，同时做好内网与外网的隔离保护。可以</a:t>
            </a:r>
            <a:endParaRPr lang="zh-CN" altLang="en-US" b="1" dirty="0">
              <a:solidFill>
                <a:schemeClr val="tx2"/>
              </a:solidFill>
              <a:latin typeface="Arial" panose="020B0604020202020204" pitchFamily="34" charset="0"/>
            </a:endParaRPr>
          </a:p>
          <a:p>
            <a:pPr>
              <a:spcBef>
                <a:spcPct val="20000"/>
              </a:spcBef>
              <a:defRPr/>
            </a:pPr>
            <a:r>
              <a:rPr lang="zh-CN" altLang="en-US" b="1" dirty="0">
                <a:solidFill>
                  <a:schemeClr val="tx2"/>
                </a:solidFill>
                <a:latin typeface="Arial" panose="020B0604020202020204" pitchFamily="34" charset="0"/>
              </a:rPr>
              <a:t>通过如图</a:t>
            </a:r>
            <a:r>
              <a:rPr lang="en-US" altLang="zh-CN" b="1" dirty="0">
                <a:solidFill>
                  <a:schemeClr val="tx2"/>
                </a:solidFill>
                <a:latin typeface="Arial" panose="020B0604020202020204" pitchFamily="34" charset="0"/>
              </a:rPr>
              <a:t>1-8</a:t>
            </a:r>
            <a:r>
              <a:rPr lang="zh-CN" altLang="en-US" b="1" dirty="0">
                <a:solidFill>
                  <a:schemeClr val="tx2"/>
                </a:solidFill>
                <a:latin typeface="Arial" panose="020B0604020202020204" pitchFamily="34" charset="0"/>
              </a:rPr>
              <a:t>所示的网络安全防御模型构建的系统</a:t>
            </a:r>
            <a:endParaRPr lang="zh-CN" altLang="en-US" b="1" dirty="0">
              <a:solidFill>
                <a:schemeClr val="tx2"/>
              </a:solidFill>
              <a:latin typeface="Arial" panose="020B0604020202020204" pitchFamily="34" charset="0"/>
            </a:endParaRPr>
          </a:p>
          <a:p>
            <a:pPr>
              <a:spcBef>
                <a:spcPct val="20000"/>
              </a:spcBef>
              <a:defRPr/>
            </a:pPr>
            <a:r>
              <a:rPr lang="zh-CN" altLang="en-US" b="1" dirty="0">
                <a:solidFill>
                  <a:schemeClr val="tx2"/>
                </a:solidFill>
                <a:latin typeface="Arial" panose="020B0604020202020204" pitchFamily="34" charset="0"/>
              </a:rPr>
              <a:t>保护内网。                          </a:t>
            </a:r>
            <a:endParaRPr lang="zh-CN" altLang="en-US" b="1" dirty="0">
              <a:solidFill>
                <a:schemeClr val="tx2"/>
              </a:solidFill>
              <a:latin typeface="Arial" panose="020B0604020202020204" pitchFamily="34" charset="0"/>
            </a:endParaRPr>
          </a:p>
        </p:txBody>
      </p:sp>
      <p:sp>
        <p:nvSpPr>
          <p:cNvPr id="52227" name="Rectangle 5"/>
          <p:cNvSpPr>
            <a:spLocks noChangeArrowheads="1"/>
          </p:cNvSpPr>
          <p:nvPr/>
        </p:nvSpPr>
        <p:spPr bwMode="auto">
          <a:xfrm>
            <a:off x="3321050" y="6491288"/>
            <a:ext cx="2398713" cy="338137"/>
          </a:xfrm>
          <a:prstGeom prst="rect">
            <a:avLst/>
          </a:prstGeom>
          <a:noFill/>
          <a:ln w="9525">
            <a:noFill/>
            <a:miter lim="800000"/>
          </a:ln>
        </p:spPr>
        <p:txBody>
          <a:bodyPr wrap="none">
            <a:spAutoFit/>
          </a:bodyPr>
          <a:lstStyle/>
          <a:p>
            <a:pPr algn="dist">
              <a:spcBef>
                <a:spcPct val="20000"/>
              </a:spcBef>
              <a:buFont typeface="Wingdings" panose="05000000000000000000" pitchFamily="2" charset="2"/>
              <a:buNone/>
            </a:pPr>
            <a:r>
              <a:rPr lang="zh-CN" altLang="en-US" sz="1600" b="1">
                <a:solidFill>
                  <a:schemeClr val="tx2"/>
                </a:solidFill>
              </a:rPr>
              <a:t>图</a:t>
            </a:r>
            <a:r>
              <a:rPr lang="en-US" altLang="zh-CN" sz="1600" b="1">
                <a:solidFill>
                  <a:schemeClr val="tx2"/>
                </a:solidFill>
              </a:rPr>
              <a:t>1-8 </a:t>
            </a:r>
            <a:r>
              <a:rPr lang="zh-CN" altLang="en-US" sz="1600" b="1">
                <a:solidFill>
                  <a:schemeClr val="tx2"/>
                </a:solidFill>
              </a:rPr>
              <a:t>网络安全防御模型</a:t>
            </a:r>
            <a:endParaRPr lang="zh-CN" altLang="en-US" sz="1600" b="1">
              <a:solidFill>
                <a:schemeClr val="tx2"/>
              </a:solidFill>
            </a:endParaRPr>
          </a:p>
        </p:txBody>
      </p:sp>
      <p:pic>
        <p:nvPicPr>
          <p:cNvPr id="52228" name="Picture 6"/>
          <p:cNvPicPr>
            <a:picLocks noChangeAspect="1" noChangeArrowheads="1"/>
          </p:cNvPicPr>
          <p:nvPr/>
        </p:nvPicPr>
        <p:blipFill>
          <a:blip r:embed="rId1" cstate="print">
            <a:lum bright="12000"/>
          </a:blip>
          <a:srcRect/>
          <a:stretch>
            <a:fillRect/>
          </a:stretch>
        </p:blipFill>
        <p:spPr bwMode="auto">
          <a:xfrm>
            <a:off x="1709738" y="3376613"/>
            <a:ext cx="5903912" cy="3024187"/>
          </a:xfrm>
          <a:prstGeom prst="rect">
            <a:avLst/>
          </a:prstGeom>
          <a:noFill/>
          <a:ln w="9525">
            <a:noFill/>
            <a:miter lim="800000"/>
            <a:headEnd/>
            <a:tailEnd/>
          </a:ln>
        </p:spPr>
      </p:pic>
      <p:sp>
        <p:nvSpPr>
          <p:cNvPr id="2" name="Rectangle 2"/>
          <p:cNvSpPr txBox="1">
            <a:spLocks noChangeArrowheads="1"/>
          </p:cNvSpPr>
          <p:nvPr/>
        </p:nvSpPr>
        <p:spPr bwMode="white">
          <a:xfrm>
            <a:off x="231775" y="198438"/>
            <a:ext cx="7450138" cy="563562"/>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lang="en-US" altLang="zh-CN" sz="3200" dirty="0" smtClean="0">
                <a:solidFill>
                  <a:schemeClr val="bg1"/>
                </a:solidFill>
              </a:rPr>
              <a:t>1.</a:t>
            </a:r>
            <a:r>
              <a:rPr lang="en-US" altLang="zh-CN" sz="3200" dirty="0" smtClean="0">
                <a:solidFill>
                  <a:schemeClr val="bg1"/>
                </a:solidFill>
                <a:sym typeface="+mn-ea"/>
              </a:rPr>
              <a:t>3 网络安全主要常用技术</a:t>
            </a:r>
            <a:endParaRPr lang="en-US" altLang="zh-CN" sz="3200" dirty="0" smtClean="0">
              <a:solidFill>
                <a:schemeClr val="bg1"/>
              </a:solidFil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219200" y="304800"/>
            <a:ext cx="7011988" cy="584200"/>
          </a:xfrm>
          <a:prstGeom prst="rect">
            <a:avLst/>
          </a:prstGeom>
          <a:noFill/>
        </p:spPr>
        <p:txBody>
          <a:bodyPr>
            <a:spAutoFit/>
          </a:bodyPr>
          <a:lstStyle/>
          <a:p>
            <a:pPr>
              <a:spcBef>
                <a:spcPct val="20000"/>
              </a:spcBef>
              <a:defRPr/>
            </a:pPr>
            <a:r>
              <a:rPr lang="en-US" altLang="zh-CN" sz="3200" b="1" dirty="0">
                <a:solidFill>
                  <a:schemeClr val="bg1"/>
                </a:solidFill>
                <a:sym typeface="+mn-ea"/>
              </a:rPr>
              <a:t>1.4 </a:t>
            </a:r>
            <a:r>
              <a:rPr lang="zh-CN" altLang="en-US" sz="3200" b="1" dirty="0">
                <a:solidFill>
                  <a:schemeClr val="bg1"/>
                </a:solidFill>
                <a:effectLst>
                  <a:outerShdw blurRad="38100" dist="38100" dir="2700000" algn="tl">
                    <a:srgbClr val="C0C0C0"/>
                  </a:outerShdw>
                </a:effectLst>
                <a:sym typeface="+mn-ea"/>
              </a:rPr>
              <a:t>网络安全建设发展现状及趋势</a:t>
            </a:r>
            <a:r>
              <a:rPr lang="zh-CN" altLang="en-US" sz="3200" b="1" dirty="0">
                <a:solidFill>
                  <a:schemeClr val="bg1"/>
                </a:solidFill>
                <a:sym typeface="+mn-ea"/>
              </a:rPr>
              <a:t> </a:t>
            </a:r>
            <a:endParaRPr lang="zh-CN" altLang="en-US" sz="3200" b="1" noProof="1"/>
          </a:p>
        </p:txBody>
      </p:sp>
      <p:sp>
        <p:nvSpPr>
          <p:cNvPr id="53250" name="文本框 2"/>
          <p:cNvSpPr txBox="1">
            <a:spLocks noChangeArrowheads="1"/>
          </p:cNvSpPr>
          <p:nvPr/>
        </p:nvSpPr>
        <p:spPr bwMode="auto">
          <a:xfrm>
            <a:off x="838200" y="990600"/>
            <a:ext cx="5019675" cy="523875"/>
          </a:xfrm>
          <a:prstGeom prst="rect">
            <a:avLst/>
          </a:prstGeom>
          <a:noFill/>
          <a:ln w="9525">
            <a:noFill/>
            <a:miter lim="800000"/>
          </a:ln>
        </p:spPr>
        <p:txBody>
          <a:bodyPr>
            <a:spAutoFit/>
          </a:bodyPr>
          <a:lstStyle/>
          <a:p>
            <a:pPr>
              <a:spcBef>
                <a:spcPct val="20000"/>
              </a:spcBef>
              <a:buFont typeface="Wingdings" panose="05000000000000000000" pitchFamily="2" charset="2"/>
              <a:buNone/>
            </a:pPr>
            <a:r>
              <a:rPr lang="en-US" altLang="zh-CN" b="1">
                <a:solidFill>
                  <a:srgbClr val="FF0000"/>
                </a:solidFill>
              </a:rPr>
              <a:t>1. </a:t>
            </a:r>
            <a:r>
              <a:rPr lang="zh-CN" altLang="en-US" b="1">
                <a:solidFill>
                  <a:srgbClr val="FF0000"/>
                </a:solidFill>
              </a:rPr>
              <a:t>国外网络安全建设发展现状</a:t>
            </a:r>
            <a:r>
              <a:rPr lang="zh-CN" altLang="en-US" sz="2800" b="1">
                <a:solidFill>
                  <a:srgbClr val="FF0000"/>
                </a:solidFill>
              </a:rPr>
              <a:t> </a:t>
            </a:r>
            <a:endParaRPr lang="zh-CN" altLang="en-US" sz="2800" b="1"/>
          </a:p>
        </p:txBody>
      </p:sp>
      <p:sp>
        <p:nvSpPr>
          <p:cNvPr id="53251" name="文本框 3"/>
          <p:cNvSpPr txBox="1">
            <a:spLocks noChangeArrowheads="1"/>
          </p:cNvSpPr>
          <p:nvPr/>
        </p:nvSpPr>
        <p:spPr bwMode="auto">
          <a:xfrm>
            <a:off x="457200" y="1600200"/>
            <a:ext cx="8247063" cy="4721225"/>
          </a:xfrm>
          <a:prstGeom prst="rect">
            <a:avLst/>
          </a:prstGeom>
          <a:noFill/>
          <a:ln w="9525">
            <a:noFill/>
            <a:miter lim="800000"/>
          </a:ln>
        </p:spPr>
        <p:txBody>
          <a:bodyPr>
            <a:spAutoFit/>
          </a:bodyPr>
          <a:lstStyle/>
          <a:p>
            <a:pPr indent="360680">
              <a:spcBef>
                <a:spcPct val="20000"/>
              </a:spcBef>
              <a:buFont typeface="Wingdings" panose="05000000000000000000" pitchFamily="2" charset="2"/>
              <a:buNone/>
            </a:pPr>
            <a:r>
              <a:rPr lang="zh-CN" altLang="en-US" sz="1600" b="1"/>
              <a:t>1）完善法律法规和制度建设。世界很多发达国家从立法、管理、监督和教育等方面都采取了相应的有效措施，加强对网络的规范管理。一些国家以网络实名制进行具体的网络管理，为网络安全奠定了重要基础。如韩国要求申请网站邮箱或聊天账号等用户，必须填写并审核真实的客户资料。以防黑客利用虚假信息从事网络犯罪，也起到了重大威慑作用。</a:t>
            </a:r>
            <a:endParaRPr lang="zh-CN" altLang="en-US" sz="1600" b="1"/>
          </a:p>
          <a:p>
            <a:pPr indent="360680">
              <a:spcBef>
                <a:spcPct val="20000"/>
              </a:spcBef>
              <a:buFont typeface="Wingdings" panose="05000000000000000000" pitchFamily="2" charset="2"/>
              <a:buNone/>
            </a:pPr>
            <a:r>
              <a:rPr lang="zh-CN" altLang="en-US" sz="1600" b="1"/>
              <a:t>2）信息安全保障体系。 面对各种网络威胁、信息战和安全隐患暴露出的问题，以及新的安全威胁、新的安全需求和新的网络环境等，促使很多发达国家正在完善各种以深度防御为重点的整体安全平台——网络信息安全保障体系。</a:t>
            </a:r>
            <a:endParaRPr lang="zh-CN" altLang="en-US" sz="1600" b="1"/>
          </a:p>
          <a:p>
            <a:pPr indent="360680">
              <a:spcBef>
                <a:spcPct val="20000"/>
              </a:spcBef>
              <a:buFont typeface="Wingdings" panose="05000000000000000000" pitchFamily="2" charset="2"/>
              <a:buNone/>
            </a:pPr>
            <a:r>
              <a:rPr lang="zh-CN" altLang="en-US" sz="1600" b="1"/>
              <a:t>3）网络系统安全测评。网络系统安全测评技术主要包括安全产品测评和基础设施安全性测评技术。针对重要安全机构或部门进一步加强安全产品测评技术，采用世界上先进的新型安全产品并完善和优化管理机制，同时进行严格的安全等级标准、安全测试和其他有效的安全措施。</a:t>
            </a:r>
            <a:endParaRPr lang="zh-CN" altLang="en-US" sz="1600" b="1"/>
          </a:p>
          <a:p>
            <a:pPr indent="360680">
              <a:spcBef>
                <a:spcPct val="20000"/>
              </a:spcBef>
              <a:buFont typeface="Wingdings" panose="05000000000000000000" pitchFamily="2" charset="2"/>
              <a:buNone/>
            </a:pPr>
            <a:r>
              <a:rPr lang="zh-CN" altLang="en-US" sz="1600" b="1"/>
              <a:t>4）网络安全防护技术。在对各种传统的网络安全技术进行更深入的探究的同时，创新和改进新技术新方法，研发新型的智能入侵防御系统、统一威胁管理与加固等多种新技术。研发新型的生物识别、公钥基础设施PKI（Public Key Infrastructure）和智能卡访问控制技术，并将生物识别与测量技术作为一个新的研究重点，实现远程人脸识别等技术。</a:t>
            </a:r>
            <a:endParaRPr lang="zh-CN" altLang="en-US" sz="1600" b="1"/>
          </a:p>
          <a:p>
            <a:pPr indent="360680">
              <a:spcBef>
                <a:spcPct val="20000"/>
              </a:spcBef>
              <a:buFont typeface="Wingdings" panose="05000000000000000000" pitchFamily="2" charset="2"/>
              <a:buNone/>
            </a:pPr>
            <a:r>
              <a:rPr lang="zh-CN" altLang="en-US" sz="1600" b="1"/>
              <a:t>5）故障应急响应处理。在很多灾难性事件中，可以看出应急响应技术极为重要。主要包括3个方面：突发事件处理（包括备份恢复技术）、追踪取证的技术手段、事件或具体攻击的分析。</a:t>
            </a:r>
            <a:endParaRPr lang="zh-CN" altLang="en-US" sz="1600" b="1"/>
          </a:p>
        </p:txBody>
      </p:sp>
      <p:sp>
        <p:nvSpPr>
          <p:cNvPr id="53252" name="AutoShape 6"/>
          <p:cNvSpPr>
            <a:spLocks noChangeArrowheads="1"/>
          </p:cNvSpPr>
          <p:nvPr/>
        </p:nvSpPr>
        <p:spPr bwMode="auto">
          <a:xfrm>
            <a:off x="381000" y="1143000"/>
            <a:ext cx="8458200" cy="5199063"/>
          </a:xfrm>
          <a:prstGeom prst="flowChartAlternateProcess">
            <a:avLst/>
          </a:prstGeom>
          <a:noFill/>
          <a:ln w="25400">
            <a:solidFill>
              <a:srgbClr val="1F38ED"/>
            </a:solidFill>
            <a:miter lim="800000"/>
          </a:ln>
        </p:spPr>
        <p:txBody>
          <a:bodyPr wrap="none" anchor="ctr"/>
          <a:lstStyle/>
          <a:p>
            <a:pPr>
              <a:spcBef>
                <a:spcPct val="20000"/>
              </a:spcBef>
              <a:buFont typeface="Wingdings" panose="05000000000000000000" pitchFamily="2" charset="2"/>
              <a:buNone/>
            </a:pPr>
            <a:endParaRPr lang="zh-CN" altLang="en-US" b="1"/>
          </a:p>
        </p:txBody>
      </p:sp>
      <p:pic>
        <p:nvPicPr>
          <p:cNvPr id="53253" name="Picture 7" descr="j0285750"/>
          <p:cNvPicPr>
            <a:picLocks noChangeAspect="1" noChangeArrowheads="1"/>
          </p:cNvPicPr>
          <p:nvPr/>
        </p:nvPicPr>
        <p:blipFill>
          <a:blip r:embed="rId1" cstate="print"/>
          <a:srcRect/>
          <a:stretch>
            <a:fillRect/>
          </a:stretch>
        </p:blipFill>
        <p:spPr bwMode="auto">
          <a:xfrm>
            <a:off x="5791200" y="5943600"/>
            <a:ext cx="1284288" cy="788988"/>
          </a:xfrm>
          <a:prstGeom prst="rect">
            <a:avLst/>
          </a:prstGeom>
          <a:noFill/>
          <a:ln w="9525">
            <a:noFill/>
            <a:miter lim="800000"/>
            <a:headEnd/>
            <a:tailEnd/>
          </a:ln>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内容占位符 2"/>
          <p:cNvSpPr>
            <a:spLocks noGrp="1" noChangeArrowheads="1"/>
          </p:cNvSpPr>
          <p:nvPr>
            <p:ph idx="4294967295"/>
          </p:nvPr>
        </p:nvSpPr>
        <p:spPr>
          <a:xfrm>
            <a:off x="431800" y="1160463"/>
            <a:ext cx="8153400" cy="1081087"/>
          </a:xfrm>
        </p:spPr>
        <p:txBody>
          <a:bodyPr/>
          <a:lstStyle/>
          <a:p>
            <a:endParaRPr lang="en-US" altLang="zh-CN" sz="2400" smtClean="0"/>
          </a:p>
          <a:p>
            <a:pPr eaLnBrk="1" hangingPunct="1">
              <a:spcBef>
                <a:spcPts val="600"/>
              </a:spcBef>
              <a:spcAft>
                <a:spcPts val="600"/>
              </a:spcAft>
              <a:buFont typeface="Wingdings" panose="05000000000000000000" pitchFamily="2" charset="2"/>
              <a:buNone/>
            </a:pPr>
            <a:r>
              <a:rPr lang="zh-CN" altLang="en-US" sz="1800" smtClean="0">
                <a:solidFill>
                  <a:srgbClr val="FF0000"/>
                </a:solidFill>
              </a:rPr>
              <a:t>   </a:t>
            </a:r>
            <a:endParaRPr lang="zh-CN" altLang="en-US" sz="1800" smtClean="0">
              <a:solidFill>
                <a:srgbClr val="FF0000"/>
              </a:solidFill>
            </a:endParaRPr>
          </a:p>
        </p:txBody>
      </p:sp>
      <p:sp>
        <p:nvSpPr>
          <p:cNvPr id="52226" name="Rectangle 5"/>
          <p:cNvSpPr/>
          <p:nvPr/>
        </p:nvSpPr>
        <p:spPr>
          <a:xfrm>
            <a:off x="684213" y="1065213"/>
            <a:ext cx="7561262" cy="3908425"/>
          </a:xfrm>
          <a:prstGeom prst="rect">
            <a:avLst/>
          </a:prstGeom>
          <a:noFill/>
          <a:ln w="9525">
            <a:noFill/>
          </a:ln>
        </p:spPr>
        <p:txBody>
          <a:bodyPr>
            <a:spAutoFit/>
          </a:bodyPr>
          <a:lstStyle/>
          <a:p>
            <a:pPr>
              <a:spcBef>
                <a:spcPts val="0"/>
              </a:spcBef>
              <a:buFont typeface="Wingdings" panose="05000000000000000000" pitchFamily="2" charset="2"/>
              <a:buNone/>
              <a:defRPr/>
            </a:pPr>
            <a:r>
              <a:rPr lang="en-US" altLang="zh-CN" b="1" noProof="1">
                <a:solidFill>
                  <a:srgbClr val="FF0000"/>
                </a:solidFill>
                <a:cs typeface="+mn-ea"/>
              </a:rPr>
              <a:t>     1. </a:t>
            </a:r>
            <a:r>
              <a:rPr lang="zh-CN" altLang="en-US" b="1" noProof="1">
                <a:solidFill>
                  <a:srgbClr val="FF0000"/>
                </a:solidFill>
                <a:cs typeface="+mn-ea"/>
              </a:rPr>
              <a:t>国外网络安全建设发展状况</a:t>
            </a:r>
            <a:endParaRPr lang="zh-CN" altLang="en-US" b="1" noProof="1">
              <a:solidFill>
                <a:srgbClr val="FF0000"/>
              </a:solidFill>
            </a:endParaRPr>
          </a:p>
          <a:p>
            <a:pPr indent="360045">
              <a:spcBef>
                <a:spcPts val="0"/>
              </a:spcBef>
              <a:buFont typeface="Wingdings" panose="05000000000000000000" pitchFamily="2" charset="2"/>
              <a:buNone/>
              <a:defRPr/>
            </a:pPr>
            <a:r>
              <a:rPr sz="2000" b="1" noProof="1">
                <a:cs typeface="+mn-ea"/>
              </a:rPr>
              <a:t>6）网络系统生存措施</a:t>
            </a:r>
            <a:endParaRPr sz="2000" b="1" noProof="1"/>
          </a:p>
          <a:p>
            <a:pPr indent="360045">
              <a:spcBef>
                <a:spcPts val="0"/>
              </a:spcBef>
              <a:buFont typeface="Wingdings" panose="05000000000000000000" pitchFamily="2" charset="2"/>
              <a:buNone/>
              <a:defRPr/>
            </a:pPr>
            <a:r>
              <a:rPr sz="2000" b="1" noProof="1">
                <a:cs typeface="+mn-ea"/>
              </a:rPr>
              <a:t>7）网络安全信息关联分析</a:t>
            </a:r>
            <a:r>
              <a:rPr lang="zh-CN" altLang="en-US" sz="2000" b="1" noProof="1">
                <a:cs typeface="+mn-ea"/>
              </a:rPr>
              <a:t>。</a:t>
            </a:r>
            <a:r>
              <a:rPr sz="2000" b="1" noProof="1">
                <a:cs typeface="+mn-ea"/>
              </a:rPr>
              <a:t>美国等国家在捕获攻击信息和新型扫描技术等方面取得了突破。有效地克服了面对各种庞杂多变的网络攻击和威胁，仅对单个系统入侵监测和漏洞扫描，很难及时将不同安全设备和区域的信息进行关联分析，也无法快速准确掌握攻击策略信息等。</a:t>
            </a:r>
            <a:endParaRPr sz="2000" b="1" noProof="1"/>
          </a:p>
          <a:p>
            <a:pPr indent="360045">
              <a:spcBef>
                <a:spcPts val="0"/>
              </a:spcBef>
              <a:buFont typeface="Wingdings" panose="05000000000000000000" pitchFamily="2" charset="2"/>
              <a:buNone/>
              <a:defRPr/>
            </a:pPr>
            <a:r>
              <a:rPr sz="2000" b="1" noProof="1">
                <a:cs typeface="+mn-ea"/>
              </a:rPr>
              <a:t>8）密码新技术研究</a:t>
            </a:r>
            <a:r>
              <a:rPr lang="zh-CN" altLang="en-US" sz="2000" b="1" noProof="1">
                <a:cs typeface="+mn-ea"/>
              </a:rPr>
              <a:t>。</a:t>
            </a:r>
            <a:r>
              <a:rPr sz="2000" b="1" noProof="1">
                <a:cs typeface="+mn-ea"/>
              </a:rPr>
              <a:t>我国在密码新技术研究方面取得一些国际领先成果。在深入进行传统密码技术研究的同时，重点进行量子密码等新技术的研究，主要包括两个方面：一是利用量子计算机对传统密码体制进行分析；二是利用量子密码学实现信息加密和密钥管理</a:t>
            </a:r>
            <a:r>
              <a:rPr b="1" noProof="1">
                <a:cs typeface="+mn-ea"/>
              </a:rPr>
              <a:t>。</a:t>
            </a:r>
            <a:endParaRPr b="1" noProof="1"/>
          </a:p>
        </p:txBody>
      </p:sp>
      <p:sp>
        <p:nvSpPr>
          <p:cNvPr id="54275" name="AutoShape 6"/>
          <p:cNvSpPr>
            <a:spLocks noChangeArrowheads="1"/>
          </p:cNvSpPr>
          <p:nvPr/>
        </p:nvSpPr>
        <p:spPr bwMode="auto">
          <a:xfrm>
            <a:off x="685800" y="4953000"/>
            <a:ext cx="7899400" cy="1752600"/>
          </a:xfrm>
          <a:prstGeom prst="flowChartAlternateProcess">
            <a:avLst/>
          </a:prstGeom>
          <a:noFill/>
          <a:ln w="25400">
            <a:solidFill>
              <a:srgbClr val="1F38ED"/>
            </a:solidFill>
            <a:miter lim="800000"/>
          </a:ln>
        </p:spPr>
        <p:txBody>
          <a:bodyPr wrap="none" anchor="ctr"/>
          <a:lstStyle/>
          <a:p>
            <a:pPr>
              <a:spcBef>
                <a:spcPct val="20000"/>
              </a:spcBef>
              <a:buFont typeface="Wingdings" panose="05000000000000000000" pitchFamily="2" charset="2"/>
              <a:buNone/>
            </a:pPr>
            <a:endParaRPr lang="zh-CN" altLang="en-US" b="1"/>
          </a:p>
        </p:txBody>
      </p:sp>
      <p:sp>
        <p:nvSpPr>
          <p:cNvPr id="54276" name="Rectangle 9"/>
          <p:cNvSpPr>
            <a:spLocks noChangeArrowheads="1"/>
          </p:cNvSpPr>
          <p:nvPr/>
        </p:nvSpPr>
        <p:spPr bwMode="auto">
          <a:xfrm>
            <a:off x="914400" y="5137150"/>
            <a:ext cx="7497763" cy="1416050"/>
          </a:xfrm>
          <a:prstGeom prst="rect">
            <a:avLst/>
          </a:prstGeom>
          <a:noFill/>
          <a:ln w="9525">
            <a:noFill/>
            <a:miter lim="800000"/>
          </a:ln>
        </p:spPr>
        <p:txBody>
          <a:bodyPr anchor="ctr">
            <a:spAutoFit/>
          </a:bodyPr>
          <a:lstStyle/>
          <a:p>
            <a:pPr>
              <a:spcBef>
                <a:spcPct val="20000"/>
              </a:spcBef>
              <a:buFont typeface="Wingdings" panose="05000000000000000000" pitchFamily="2" charset="2"/>
              <a:buNone/>
            </a:pPr>
            <a:r>
              <a:rPr lang="zh-CN" altLang="en-US" sz="2000" b="1">
                <a:solidFill>
                  <a:srgbClr val="CC0000"/>
                </a:solidFill>
              </a:rPr>
              <a:t>                            美国国防部五角大楼遭到被劫持客机的撞击，</a:t>
            </a:r>
            <a:r>
              <a:rPr lang="en-US" altLang="zh-CN" sz="2200" b="1"/>
              <a:t>2001</a:t>
            </a:r>
            <a:r>
              <a:rPr lang="zh-CN" altLang="en-US" sz="2200" b="1"/>
              <a:t>年</a:t>
            </a:r>
            <a:r>
              <a:rPr lang="en-US" altLang="zh-CN" sz="2200" b="1">
                <a:solidFill>
                  <a:srgbClr val="CC0000"/>
                </a:solidFill>
              </a:rPr>
              <a:t>9</a:t>
            </a:r>
            <a:r>
              <a:rPr lang="zh-CN" altLang="en-US" sz="2200" b="1">
                <a:solidFill>
                  <a:srgbClr val="CC0000"/>
                </a:solidFill>
              </a:rPr>
              <a:t>月</a:t>
            </a:r>
            <a:r>
              <a:rPr lang="en-US" altLang="zh-CN" sz="2200" b="1">
                <a:solidFill>
                  <a:srgbClr val="CC0000"/>
                </a:solidFill>
              </a:rPr>
              <a:t>11</a:t>
            </a:r>
            <a:r>
              <a:rPr lang="zh-CN" altLang="en-US" sz="2200" b="1">
                <a:solidFill>
                  <a:srgbClr val="CC0000"/>
                </a:solidFill>
              </a:rPr>
              <a:t>日</a:t>
            </a:r>
            <a:r>
              <a:rPr lang="zh-CN" altLang="en-US" sz="2200" b="1"/>
              <a:t>。由于利用网络系统生存措施和应急响应，使得遭受重大袭击后仅几小时就成功地恢复其网络系统的主要功能，得益于在西海岸的数据备份和有效的远程恢复技术。     </a:t>
            </a:r>
            <a:endParaRPr lang="zh-CN" altLang="en-US" sz="2200" b="1"/>
          </a:p>
        </p:txBody>
      </p:sp>
      <p:sp>
        <p:nvSpPr>
          <p:cNvPr id="13" name="圆角矩形 12"/>
          <p:cNvSpPr/>
          <p:nvPr/>
        </p:nvSpPr>
        <p:spPr bwMode="gray">
          <a:xfrm>
            <a:off x="1295400" y="4953000"/>
            <a:ext cx="1371600" cy="450850"/>
          </a:xfrm>
          <a:prstGeom prst="roundRect">
            <a:avLst/>
          </a:prstGeom>
        </p:spPr>
        <p:style>
          <a:lnRef idx="0">
            <a:schemeClr val="accent2"/>
          </a:lnRef>
          <a:fillRef idx="3">
            <a:schemeClr val="accent2"/>
          </a:fillRef>
          <a:effectRef idx="3">
            <a:schemeClr val="accent2"/>
          </a:effectRef>
          <a:fontRef idx="minor">
            <a:schemeClr val="lt1"/>
          </a:fontRef>
        </p:style>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spcBef>
                <a:spcPct val="20000"/>
              </a:spcBef>
              <a:buFont typeface="Wingdings" panose="05000000000000000000" pitchFamily="2" charset="2"/>
              <a:buNone/>
              <a:defRPr/>
            </a:pPr>
            <a:r>
              <a:rPr lang="zh-CN" altLang="en-US" sz="2000" dirty="0" smtClean="0">
                <a:solidFill>
                  <a:srgbClr val="002060"/>
                </a:solidFill>
                <a:latin typeface="宋体" panose="02010600030101010101" pitchFamily="2" charset="-122"/>
              </a:rPr>
              <a:t>案例</a:t>
            </a:r>
            <a:r>
              <a:rPr lang="en-US" altLang="zh-CN" sz="2000" dirty="0" smtClean="0">
                <a:solidFill>
                  <a:srgbClr val="002060"/>
                </a:solidFill>
                <a:latin typeface="宋体" panose="02010600030101010101" pitchFamily="2" charset="-122"/>
              </a:rPr>
              <a:t>1-4</a:t>
            </a:r>
            <a:endParaRPr lang="zh-CN" altLang="en-US" sz="2000" dirty="0" smtClean="0">
              <a:solidFill>
                <a:srgbClr val="002060"/>
              </a:solidFill>
              <a:latin typeface="宋体" panose="02010600030101010101" pitchFamily="2" charset="-122"/>
            </a:endParaRPr>
          </a:p>
        </p:txBody>
      </p:sp>
      <p:sp>
        <p:nvSpPr>
          <p:cNvPr id="54278" name="AutoShape 6"/>
          <p:cNvSpPr>
            <a:spLocks noChangeArrowheads="1"/>
          </p:cNvSpPr>
          <p:nvPr/>
        </p:nvSpPr>
        <p:spPr bwMode="auto">
          <a:xfrm>
            <a:off x="381000" y="1143000"/>
            <a:ext cx="8077200" cy="3733800"/>
          </a:xfrm>
          <a:prstGeom prst="flowChartAlternateProcess">
            <a:avLst/>
          </a:prstGeom>
          <a:noFill/>
          <a:ln w="25400">
            <a:solidFill>
              <a:srgbClr val="1F38ED"/>
            </a:solidFill>
            <a:miter lim="800000"/>
          </a:ln>
        </p:spPr>
        <p:txBody>
          <a:bodyPr wrap="none" anchor="ctr"/>
          <a:lstStyle/>
          <a:p>
            <a:pPr>
              <a:buFont typeface="Wingdings" panose="05000000000000000000" pitchFamily="2" charset="2"/>
              <a:buNone/>
            </a:pPr>
            <a:endParaRPr lang="zh-CN" altLang="en-US" sz="2000" b="1"/>
          </a:p>
        </p:txBody>
      </p:sp>
      <p:sp>
        <p:nvSpPr>
          <p:cNvPr id="10" name="文本框 1"/>
          <p:cNvSpPr txBox="1"/>
          <p:nvPr/>
        </p:nvSpPr>
        <p:spPr>
          <a:xfrm>
            <a:off x="1219200" y="304800"/>
            <a:ext cx="7011988" cy="584200"/>
          </a:xfrm>
          <a:prstGeom prst="rect">
            <a:avLst/>
          </a:prstGeom>
          <a:noFill/>
        </p:spPr>
        <p:txBody>
          <a:bodyPr>
            <a:spAutoFit/>
          </a:bodyPr>
          <a:lstStyle/>
          <a:p>
            <a:pPr>
              <a:spcBef>
                <a:spcPct val="20000"/>
              </a:spcBef>
              <a:defRPr/>
            </a:pPr>
            <a:r>
              <a:rPr lang="en-US" altLang="zh-CN" sz="3200" b="1" dirty="0">
                <a:solidFill>
                  <a:schemeClr val="bg1"/>
                </a:solidFill>
                <a:sym typeface="+mn-ea"/>
              </a:rPr>
              <a:t>1.4 </a:t>
            </a:r>
            <a:r>
              <a:rPr lang="zh-CN" altLang="en-US" sz="3200" b="1" dirty="0">
                <a:solidFill>
                  <a:schemeClr val="bg1"/>
                </a:solidFill>
                <a:effectLst>
                  <a:outerShdw blurRad="38100" dist="38100" dir="2700000" algn="tl">
                    <a:srgbClr val="C0C0C0"/>
                  </a:outerShdw>
                </a:effectLst>
                <a:sym typeface="+mn-ea"/>
              </a:rPr>
              <a:t>网络安全建设发展现状及趋势</a:t>
            </a:r>
            <a:r>
              <a:rPr lang="zh-CN" altLang="en-US" sz="3200" b="1" dirty="0">
                <a:solidFill>
                  <a:schemeClr val="bg1"/>
                </a:solidFill>
                <a:sym typeface="+mn-ea"/>
              </a:rPr>
              <a:t> </a:t>
            </a:r>
            <a:endParaRPr lang="zh-CN" altLang="en-US" sz="3200" b="1" noProof="1"/>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9"/>
          <p:cNvSpPr>
            <a:spLocks noChangeArrowheads="1"/>
          </p:cNvSpPr>
          <p:nvPr/>
        </p:nvSpPr>
        <p:spPr bwMode="auto">
          <a:xfrm>
            <a:off x="539750" y="1052513"/>
            <a:ext cx="4919663" cy="523875"/>
          </a:xfrm>
          <a:prstGeom prst="rect">
            <a:avLst/>
          </a:prstGeom>
          <a:noFill/>
          <a:ln w="9525">
            <a:noFill/>
            <a:miter lim="800000"/>
          </a:ln>
        </p:spPr>
        <p:txBody>
          <a:bodyPr wrap="none">
            <a:spAutoFit/>
          </a:bodyPr>
          <a:lstStyle/>
          <a:p>
            <a:pPr>
              <a:spcBef>
                <a:spcPct val="20000"/>
              </a:spcBef>
              <a:buFont typeface="Wingdings" panose="05000000000000000000" pitchFamily="2" charset="2"/>
              <a:buNone/>
            </a:pPr>
            <a:r>
              <a:rPr lang="en-US" altLang="zh-CN" sz="2800" b="1">
                <a:solidFill>
                  <a:srgbClr val="FF0000"/>
                </a:solidFill>
              </a:rPr>
              <a:t>      </a:t>
            </a:r>
            <a:r>
              <a:rPr lang="en-US" altLang="zh-CN" b="1">
                <a:solidFill>
                  <a:srgbClr val="FF0000"/>
                </a:solidFill>
              </a:rPr>
              <a:t>2. </a:t>
            </a:r>
            <a:r>
              <a:rPr lang="zh-CN" altLang="en-US" b="1">
                <a:solidFill>
                  <a:srgbClr val="FF0000"/>
                </a:solidFill>
              </a:rPr>
              <a:t>我国网络安全建设发展现状 </a:t>
            </a:r>
            <a:endParaRPr lang="zh-CN" altLang="en-US" b="1">
              <a:solidFill>
                <a:srgbClr val="FF0000"/>
              </a:solidFill>
            </a:endParaRPr>
          </a:p>
        </p:txBody>
      </p:sp>
      <p:sp>
        <p:nvSpPr>
          <p:cNvPr id="2" name="圆角矩形 4"/>
          <p:cNvSpPr/>
          <p:nvPr/>
        </p:nvSpPr>
        <p:spPr bwMode="gray">
          <a:xfrm>
            <a:off x="457200" y="1600200"/>
            <a:ext cx="8099425" cy="4800600"/>
          </a:xfrm>
          <a:prstGeom prst="roundRect">
            <a:avLst/>
          </a:prstGeom>
        </p:spPr>
        <p:style>
          <a:lnRef idx="2">
            <a:schemeClr val="accent1"/>
          </a:lnRef>
          <a:fillRef idx="1">
            <a:schemeClr val="lt1"/>
          </a:fillRef>
          <a:effectRef idx="0">
            <a:schemeClr val="accent1"/>
          </a:effectRef>
          <a:fontRef idx="minor">
            <a:schemeClr val="dk1"/>
          </a:fontRef>
        </p:style>
        <p:txBody>
          <a:bodyPr anchor="ctr" anchorCtr="1">
            <a:normAutofit fontScale="82500" lnSpcReduction="10000"/>
          </a:bodyPr>
          <a:lstStyle/>
          <a:p>
            <a:pPr indent="457200">
              <a:lnSpc>
                <a:spcPct val="110000"/>
              </a:lnSpc>
              <a:spcBef>
                <a:spcPct val="20000"/>
              </a:spcBef>
              <a:defRPr/>
            </a:pPr>
            <a:r>
              <a:rPr lang="zh-CN" altLang="en-US" sz="2100" b="1" dirty="0">
                <a:solidFill>
                  <a:schemeClr val="tx2"/>
                </a:solidFill>
                <a:latin typeface="Arial" panose="020B0604020202020204" pitchFamily="34" charset="0"/>
              </a:rPr>
              <a:t> </a:t>
            </a:r>
            <a:r>
              <a:rPr sz="2800" b="1" dirty="0" err="1">
                <a:latin typeface="Arial" panose="020B0604020202020204" pitchFamily="34" charset="0"/>
              </a:rPr>
              <a:t>我国极为重视网络安全建设，并采取了一系列重大举措</a:t>
            </a:r>
            <a:r>
              <a:rPr sz="2800" b="1" dirty="0">
                <a:latin typeface="Arial" panose="020B0604020202020204" pitchFamily="34" charset="0"/>
              </a:rPr>
              <a:t>。我国起步晚发展快，</a:t>
            </a:r>
            <a:r>
              <a:rPr sz="2800" b="1" dirty="0">
                <a:solidFill>
                  <a:srgbClr val="FF0000"/>
                </a:solidFill>
                <a:latin typeface="Arial" panose="020B0604020202020204" pitchFamily="34" charset="0"/>
              </a:rPr>
              <a:t>主要体现</a:t>
            </a:r>
            <a:r>
              <a:rPr sz="2800" b="1" dirty="0">
                <a:latin typeface="Arial" panose="020B0604020202020204" pitchFamily="34" charset="0"/>
              </a:rPr>
              <a:t>在：</a:t>
            </a:r>
            <a:endParaRPr sz="2800" b="1" dirty="0">
              <a:latin typeface="Arial" panose="020B0604020202020204" pitchFamily="34" charset="0"/>
            </a:endParaRPr>
          </a:p>
          <a:p>
            <a:pPr indent="457200">
              <a:lnSpc>
                <a:spcPct val="110000"/>
              </a:lnSpc>
              <a:spcBef>
                <a:spcPct val="20000"/>
              </a:spcBef>
              <a:defRPr/>
            </a:pPr>
            <a:r>
              <a:rPr sz="2800" b="1" dirty="0">
                <a:latin typeface="Arial" panose="020B0604020202020204" pitchFamily="34" charset="0"/>
              </a:rPr>
              <a:t>1）强</a:t>
            </a:r>
            <a:r>
              <a:rPr lang="zh-CN" altLang="en-US" sz="2800" b="1" dirty="0">
                <a:latin typeface="Arial" panose="020B0604020202020204" pitchFamily="34" charset="0"/>
              </a:rPr>
              <a:t>化</a:t>
            </a:r>
            <a:r>
              <a:rPr sz="2800" b="1" dirty="0" err="1">
                <a:latin typeface="Arial" panose="020B0604020202020204" pitchFamily="34" charset="0"/>
              </a:rPr>
              <a:t>网络安全管理与保障</a:t>
            </a:r>
            <a:r>
              <a:rPr lang="zh-CN" altLang="en-US" sz="2800" b="1" dirty="0">
                <a:latin typeface="Arial" panose="020B0604020202020204" pitchFamily="34" charset="0"/>
              </a:rPr>
              <a:t>。</a:t>
            </a:r>
            <a:r>
              <a:rPr sz="2800" b="1" dirty="0">
                <a:latin typeface="Arial" panose="020B0604020202020204" pitchFamily="34" charset="0"/>
              </a:rPr>
              <a:t>国家高度重视并成立“国家网络信息安全领导小组”且国家主席亲自抓，并进一步加强并完善了网络安全方面的法律法规、准则与规范、规划与策略、规章制度、保障体系、管理技术、机制与措施、管理方法和安全管理人员队伍及素质能力等。</a:t>
            </a:r>
            <a:endParaRPr lang="en-US" sz="2800" b="1" dirty="0">
              <a:latin typeface="Arial" panose="020B0604020202020204" pitchFamily="34" charset="0"/>
            </a:endParaRPr>
          </a:p>
          <a:p>
            <a:pPr indent="457200" fontAlgn="auto">
              <a:lnSpc>
                <a:spcPct val="90000"/>
              </a:lnSpc>
              <a:spcBef>
                <a:spcPts val="0"/>
              </a:spcBef>
              <a:spcAft>
                <a:spcPts val="0"/>
              </a:spcAft>
              <a:buFont typeface="Wingdings" panose="05000000000000000000" pitchFamily="2" charset="2"/>
              <a:buNone/>
              <a:defRPr/>
            </a:pPr>
            <a:r>
              <a:rPr lang="zh-CN" altLang="en-US" sz="2800" b="1" noProof="1">
                <a:solidFill>
                  <a:schemeClr val="tx1"/>
                </a:solidFill>
              </a:rPr>
              <a:t>2）安全风险评估分析。以往在构建网络系统时，基本事先忽略或简化风险分析，导致不能全面准确地认识系统存在的威胁，经常使制定的安全策略和方案不切实际。现在，非常重视网络安全工作，以规范要求必须进行安全风险评估和分析，对现有网络也要定期进行安全风险评估和分析，并及时采取有效措施进行安全管理和防范。</a:t>
            </a:r>
            <a:endParaRPr lang="zh-CN" altLang="en-US" sz="2800" b="1" noProof="1">
              <a:solidFill>
                <a:schemeClr val="tx1"/>
              </a:solidFill>
            </a:endParaRPr>
          </a:p>
        </p:txBody>
      </p:sp>
      <p:sp>
        <p:nvSpPr>
          <p:cNvPr id="7" name="文本框 1"/>
          <p:cNvSpPr txBox="1"/>
          <p:nvPr/>
        </p:nvSpPr>
        <p:spPr>
          <a:xfrm>
            <a:off x="1219200" y="304800"/>
            <a:ext cx="7011988" cy="584200"/>
          </a:xfrm>
          <a:prstGeom prst="rect">
            <a:avLst/>
          </a:prstGeom>
          <a:noFill/>
        </p:spPr>
        <p:txBody>
          <a:bodyPr>
            <a:spAutoFit/>
          </a:bodyPr>
          <a:lstStyle/>
          <a:p>
            <a:pPr>
              <a:spcBef>
                <a:spcPct val="20000"/>
              </a:spcBef>
              <a:defRPr/>
            </a:pPr>
            <a:r>
              <a:rPr lang="en-US" altLang="zh-CN" sz="3200" b="1" dirty="0">
                <a:solidFill>
                  <a:schemeClr val="bg1"/>
                </a:solidFill>
                <a:sym typeface="+mn-ea"/>
              </a:rPr>
              <a:t>1.4 </a:t>
            </a:r>
            <a:r>
              <a:rPr lang="zh-CN" altLang="en-US" sz="3200" b="1" dirty="0">
                <a:solidFill>
                  <a:schemeClr val="bg1"/>
                </a:solidFill>
                <a:effectLst>
                  <a:outerShdw blurRad="38100" dist="38100" dir="2700000" algn="tl">
                    <a:srgbClr val="C0C0C0"/>
                  </a:outerShdw>
                </a:effectLst>
                <a:sym typeface="+mn-ea"/>
              </a:rPr>
              <a:t>网络安全建设发展现状及趋势</a:t>
            </a:r>
            <a:r>
              <a:rPr lang="zh-CN" altLang="en-US" sz="3200" b="1" dirty="0">
                <a:solidFill>
                  <a:schemeClr val="bg1"/>
                </a:solidFill>
                <a:sym typeface="+mn-ea"/>
              </a:rPr>
              <a:t> </a:t>
            </a:r>
            <a:endParaRPr lang="zh-CN" altLang="en-US" sz="3200" b="1" noProof="1"/>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 4"/>
          <p:cNvSpPr/>
          <p:nvPr/>
        </p:nvSpPr>
        <p:spPr>
          <a:xfrm>
            <a:off x="457200" y="1752600"/>
            <a:ext cx="8239125" cy="3733800"/>
          </a:xfrm>
          <a:prstGeom prst="roundRect">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lnSpc>
                <a:spcPct val="90000"/>
              </a:lnSpc>
              <a:spcBef>
                <a:spcPts val="0"/>
              </a:spcBef>
              <a:spcAft>
                <a:spcPts val="0"/>
              </a:spcAft>
              <a:buFont typeface="Wingdings" panose="05000000000000000000" pitchFamily="2" charset="2"/>
              <a:buNone/>
              <a:defRPr/>
            </a:pPr>
            <a:r>
              <a:rPr lang="zh-CN" altLang="en-US" sz="2300" b="1" noProof="1" smtClean="0">
                <a:solidFill>
                  <a:schemeClr val="tx1"/>
                </a:solidFill>
              </a:rPr>
              <a:t>（</a:t>
            </a:r>
            <a:r>
              <a:rPr lang="zh-CN" altLang="en-US" sz="2300" b="1" noProof="1">
                <a:solidFill>
                  <a:schemeClr val="tx1"/>
                </a:solidFill>
              </a:rPr>
              <a:t>3）网络安全技术研究</a:t>
            </a:r>
            <a:endParaRPr lang="zh-CN" altLang="en-US" sz="2300" b="1" noProof="1">
              <a:solidFill>
                <a:schemeClr val="tx1"/>
              </a:solidFill>
            </a:endParaRPr>
          </a:p>
          <a:p>
            <a:pPr indent="457200" eaLnBrk="1" fontAlgn="auto" hangingPunct="1">
              <a:lnSpc>
                <a:spcPct val="90000"/>
              </a:lnSpc>
              <a:spcBef>
                <a:spcPts val="0"/>
              </a:spcBef>
              <a:spcAft>
                <a:spcPts val="0"/>
              </a:spcAft>
              <a:buFont typeface="Wingdings" panose="05000000000000000000" pitchFamily="2" charset="2"/>
              <a:buNone/>
              <a:defRPr/>
            </a:pPr>
            <a:r>
              <a:rPr lang="zh-CN" altLang="en-US" sz="2300" b="1" noProof="1">
                <a:solidFill>
                  <a:schemeClr val="tx1"/>
                </a:solidFill>
              </a:rPr>
              <a:t>我国对网络安全工作高度重视，不仅成立了由习近平亲自任组长的中央网络安全及信息化建设领导小组，还以《国家安全战略纲要》将网络空间安全纳入国家安全战略。并在国家重大高新技术研究项目等方面给予大量投入</a:t>
            </a:r>
            <a:r>
              <a:rPr lang="en-US" altLang="zh-CN" sz="2300" b="1" noProof="1">
                <a:solidFill>
                  <a:schemeClr val="tx1"/>
                </a:solidFill>
              </a:rPr>
              <a:t>,</a:t>
            </a:r>
            <a:r>
              <a:rPr lang="zh-CN" altLang="en-US" sz="2300" b="1" noProof="1">
                <a:solidFill>
                  <a:schemeClr val="tx1"/>
                </a:solidFill>
              </a:rPr>
              <a:t>在密码技术和可信计算等方面取得重大成果。 </a:t>
            </a:r>
            <a:endParaRPr lang="zh-CN" altLang="en-US" sz="2300" b="1" noProof="1">
              <a:solidFill>
                <a:schemeClr val="tx1"/>
              </a:solidFill>
            </a:endParaRPr>
          </a:p>
          <a:p>
            <a:pPr indent="457200" eaLnBrk="1" fontAlgn="auto" hangingPunct="1">
              <a:lnSpc>
                <a:spcPct val="90000"/>
              </a:lnSpc>
              <a:spcBef>
                <a:spcPts val="0"/>
              </a:spcBef>
              <a:spcAft>
                <a:spcPts val="0"/>
              </a:spcAft>
              <a:buFont typeface="Wingdings" panose="05000000000000000000" pitchFamily="2" charset="2"/>
              <a:buNone/>
              <a:defRPr/>
            </a:pPr>
            <a:r>
              <a:rPr lang="zh-CN" altLang="en-US" sz="2300" b="1" noProof="1">
                <a:solidFill>
                  <a:schemeClr val="tx1"/>
                </a:solidFill>
              </a:rPr>
              <a:t>（4）网络安全测试与评估</a:t>
            </a:r>
            <a:endParaRPr lang="zh-CN" altLang="en-US" sz="2300" b="1" noProof="1">
              <a:solidFill>
                <a:schemeClr val="tx1"/>
              </a:solidFill>
            </a:endParaRPr>
          </a:p>
          <a:p>
            <a:pPr indent="457200" eaLnBrk="1" fontAlgn="auto" hangingPunct="1">
              <a:lnSpc>
                <a:spcPct val="90000"/>
              </a:lnSpc>
              <a:spcBef>
                <a:spcPts val="0"/>
              </a:spcBef>
              <a:spcAft>
                <a:spcPts val="0"/>
              </a:spcAft>
              <a:buFont typeface="Wingdings" panose="05000000000000000000" pitchFamily="2" charset="2"/>
              <a:buNone/>
              <a:defRPr/>
            </a:pPr>
            <a:r>
              <a:rPr lang="zh-CN" altLang="en-US" sz="2300" b="1" noProof="1">
                <a:solidFill>
                  <a:schemeClr val="tx1"/>
                </a:solidFill>
              </a:rPr>
              <a:t>测试评估标准正在不断完善，测试评估的自动化工具有所加强，测试评估的手段不断提高，渗透性测试的技术方法正在增强，评估网络整体安全性进一步提高。</a:t>
            </a:r>
            <a:endParaRPr lang="zh-CN" altLang="en-US" sz="2300" b="1" noProof="1">
              <a:solidFill>
                <a:schemeClr val="tx1"/>
              </a:solidFill>
            </a:endParaRPr>
          </a:p>
        </p:txBody>
      </p:sp>
      <p:sp>
        <p:nvSpPr>
          <p:cNvPr id="5" name="文本框 1"/>
          <p:cNvSpPr txBox="1"/>
          <p:nvPr/>
        </p:nvSpPr>
        <p:spPr>
          <a:xfrm>
            <a:off x="1219200" y="304800"/>
            <a:ext cx="7011988" cy="584200"/>
          </a:xfrm>
          <a:prstGeom prst="rect">
            <a:avLst/>
          </a:prstGeom>
          <a:noFill/>
        </p:spPr>
        <p:txBody>
          <a:bodyPr>
            <a:spAutoFit/>
          </a:bodyPr>
          <a:lstStyle/>
          <a:p>
            <a:pPr>
              <a:spcBef>
                <a:spcPct val="20000"/>
              </a:spcBef>
              <a:defRPr/>
            </a:pPr>
            <a:r>
              <a:rPr lang="en-US" altLang="zh-CN" sz="3200" b="1" dirty="0">
                <a:solidFill>
                  <a:schemeClr val="bg1"/>
                </a:solidFill>
                <a:sym typeface="+mn-ea"/>
              </a:rPr>
              <a:t>1.4 </a:t>
            </a:r>
            <a:r>
              <a:rPr lang="zh-CN" altLang="en-US" sz="3200" b="1" dirty="0">
                <a:solidFill>
                  <a:schemeClr val="bg1"/>
                </a:solidFill>
                <a:effectLst>
                  <a:outerShdw blurRad="38100" dist="38100" dir="2700000" algn="tl">
                    <a:srgbClr val="C0C0C0"/>
                  </a:outerShdw>
                </a:effectLst>
                <a:sym typeface="+mn-ea"/>
              </a:rPr>
              <a:t>网络安全建设发展现状及趋势</a:t>
            </a:r>
            <a:r>
              <a:rPr lang="zh-CN" altLang="en-US" sz="3200" b="1" dirty="0">
                <a:solidFill>
                  <a:schemeClr val="bg1"/>
                </a:solidFill>
                <a:sym typeface="+mn-ea"/>
              </a:rPr>
              <a:t> </a:t>
            </a:r>
            <a:endParaRPr lang="zh-CN" altLang="en-US" sz="3200" b="1" noProof="1"/>
          </a:p>
        </p:txBody>
      </p:sp>
      <p:sp>
        <p:nvSpPr>
          <p:cNvPr id="56323" name="Rectangle 9"/>
          <p:cNvSpPr>
            <a:spLocks noChangeArrowheads="1"/>
          </p:cNvSpPr>
          <p:nvPr/>
        </p:nvSpPr>
        <p:spPr bwMode="auto">
          <a:xfrm>
            <a:off x="539750" y="1052513"/>
            <a:ext cx="4919663" cy="523875"/>
          </a:xfrm>
          <a:prstGeom prst="rect">
            <a:avLst/>
          </a:prstGeom>
          <a:noFill/>
          <a:ln w="9525">
            <a:noFill/>
            <a:miter lim="800000"/>
          </a:ln>
        </p:spPr>
        <p:txBody>
          <a:bodyPr wrap="none">
            <a:spAutoFit/>
          </a:bodyPr>
          <a:lstStyle/>
          <a:p>
            <a:pPr>
              <a:spcBef>
                <a:spcPct val="20000"/>
              </a:spcBef>
              <a:buFont typeface="Wingdings" panose="05000000000000000000" pitchFamily="2" charset="2"/>
              <a:buNone/>
            </a:pPr>
            <a:r>
              <a:rPr lang="en-US" altLang="zh-CN" sz="2800" b="1">
                <a:solidFill>
                  <a:srgbClr val="FF0000"/>
                </a:solidFill>
              </a:rPr>
              <a:t>      </a:t>
            </a:r>
            <a:r>
              <a:rPr lang="en-US" altLang="zh-CN" b="1">
                <a:solidFill>
                  <a:srgbClr val="FF0000"/>
                </a:solidFill>
              </a:rPr>
              <a:t>2. </a:t>
            </a:r>
            <a:r>
              <a:rPr lang="zh-CN" altLang="en-US" b="1">
                <a:solidFill>
                  <a:srgbClr val="FF0000"/>
                </a:solidFill>
              </a:rPr>
              <a:t>我国网络安全建设发展现状 </a:t>
            </a:r>
            <a:endParaRPr lang="zh-CN" altLang="en-US" b="1">
              <a:solidFill>
                <a:srgbClr val="FF0000"/>
              </a:solidFill>
            </a:endParaRPr>
          </a:p>
        </p:txBody>
      </p:sp>
      <p:pic>
        <p:nvPicPr>
          <p:cNvPr id="56324" name="Picture 5" descr="j0285750"/>
          <p:cNvPicPr>
            <a:picLocks noChangeAspect="1" noChangeArrowheads="1"/>
          </p:cNvPicPr>
          <p:nvPr/>
        </p:nvPicPr>
        <p:blipFill>
          <a:blip r:embed="rId1" cstate="print"/>
          <a:srcRect/>
          <a:stretch>
            <a:fillRect/>
          </a:stretch>
        </p:blipFill>
        <p:spPr bwMode="auto">
          <a:xfrm>
            <a:off x="6172200" y="5562600"/>
            <a:ext cx="1524000" cy="936625"/>
          </a:xfrm>
          <a:prstGeom prst="rect">
            <a:avLst/>
          </a:prstGeom>
          <a:noFill/>
          <a:ln w="9525">
            <a:noFill/>
            <a:miter lim="800000"/>
            <a:headEnd/>
            <a:tailEnd/>
          </a:ln>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 167"/>
          <p:cNvSpPr/>
          <p:nvPr/>
        </p:nvSpPr>
        <p:spPr>
          <a:xfrm>
            <a:off x="381000" y="1524000"/>
            <a:ext cx="8534399" cy="5181600"/>
          </a:xfrm>
          <a:prstGeom prst="roundRect">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buFont typeface="Wingdings" panose="05000000000000000000" pitchFamily="2" charset="2"/>
              <a:buNone/>
              <a:defRPr/>
            </a:pPr>
            <a:r>
              <a:rPr lang="zh-CN" altLang="en-US" sz="2000" b="1" noProof="1" smtClean="0">
                <a:solidFill>
                  <a:schemeClr val="tx1"/>
                </a:solidFill>
              </a:rPr>
              <a:t>5</a:t>
            </a:r>
            <a:r>
              <a:rPr lang="zh-CN" altLang="en-US" sz="2000" b="1" noProof="1">
                <a:solidFill>
                  <a:schemeClr val="tx1"/>
                </a:solidFill>
              </a:rPr>
              <a:t>）应急响应与系统恢复</a:t>
            </a:r>
            <a:endParaRPr lang="zh-CN" altLang="en-US" sz="2000" b="1" noProof="1">
              <a:solidFill>
                <a:schemeClr val="tx1"/>
              </a:solidFill>
            </a:endParaRPr>
          </a:p>
          <a:p>
            <a:pPr indent="457200" eaLnBrk="1" fontAlgn="auto" hangingPunct="1">
              <a:spcBef>
                <a:spcPts val="0"/>
              </a:spcBef>
              <a:spcAft>
                <a:spcPts val="0"/>
              </a:spcAft>
              <a:buFont typeface="Wingdings" panose="05000000000000000000" pitchFamily="2" charset="2"/>
              <a:buNone/>
              <a:defRPr/>
            </a:pPr>
            <a:r>
              <a:rPr lang="zh-CN" altLang="en-US" sz="2000" b="1" noProof="1">
                <a:solidFill>
                  <a:schemeClr val="tx1"/>
                </a:solidFill>
              </a:rPr>
              <a:t>应急响应能力是衡量网络系统生存性的重要指标。目前，我国应急处理的能力正在加强，缺乏系统性和完整性问题正在改善，对检测系统漏洞、入侵行为、安全突发事件等方面研究进一步提高。但在跟踪定位、现场取证、攻击隔离等技术研究和产品尚存不足。</a:t>
            </a:r>
            <a:endParaRPr lang="zh-CN" altLang="en-US" sz="2000" b="1" noProof="1">
              <a:solidFill>
                <a:schemeClr val="tx1"/>
              </a:solidFill>
            </a:endParaRPr>
          </a:p>
          <a:p>
            <a:pPr indent="457200" eaLnBrk="1" fontAlgn="auto" hangingPunct="1">
              <a:spcBef>
                <a:spcPts val="0"/>
              </a:spcBef>
              <a:spcAft>
                <a:spcPts val="0"/>
              </a:spcAft>
              <a:buFont typeface="Wingdings" panose="05000000000000000000" pitchFamily="2" charset="2"/>
              <a:buNone/>
              <a:defRPr/>
            </a:pPr>
            <a:r>
              <a:rPr lang="zh-CN" altLang="en-US" sz="2000" b="1" noProof="1">
                <a:solidFill>
                  <a:schemeClr val="tx1"/>
                </a:solidFill>
              </a:rPr>
              <a:t>在系统恢复方面以磁盘镜像备份、数据备份为主，以提高系统可靠性。系统恢复和数据恢复技术的研究仍显不足，应加强先进的远程备份、异地备份技术的研究，以及远程备份中数据一致性、完整性、访问控制等关键技术。</a:t>
            </a:r>
            <a:endParaRPr lang="zh-CN" altLang="en-US" sz="2000" b="1" noProof="1">
              <a:solidFill>
                <a:schemeClr val="tx1"/>
              </a:solidFill>
            </a:endParaRPr>
          </a:p>
          <a:p>
            <a:pPr indent="457200" eaLnBrk="1" fontAlgn="auto" hangingPunct="1">
              <a:spcBef>
                <a:spcPts val="0"/>
              </a:spcBef>
              <a:spcAft>
                <a:spcPts val="0"/>
              </a:spcAft>
              <a:buFont typeface="Wingdings" panose="05000000000000000000" pitchFamily="2" charset="2"/>
              <a:buNone/>
              <a:defRPr/>
            </a:pPr>
            <a:r>
              <a:rPr lang="zh-CN" altLang="en-US" sz="2000" b="1" noProof="1" smtClean="0">
                <a:solidFill>
                  <a:schemeClr val="tx1"/>
                </a:solidFill>
              </a:rPr>
              <a:t>6</a:t>
            </a:r>
            <a:r>
              <a:rPr lang="zh-CN" altLang="en-US" sz="2000" b="1" noProof="1">
                <a:solidFill>
                  <a:schemeClr val="tx1"/>
                </a:solidFill>
              </a:rPr>
              <a:t>）网络安全检测技术</a:t>
            </a:r>
            <a:endParaRPr lang="zh-CN" altLang="en-US" sz="2000" b="1" noProof="1">
              <a:solidFill>
                <a:schemeClr val="tx1"/>
              </a:solidFill>
            </a:endParaRPr>
          </a:p>
          <a:p>
            <a:pPr indent="457200" eaLnBrk="1" fontAlgn="auto" hangingPunct="1">
              <a:spcBef>
                <a:spcPts val="0"/>
              </a:spcBef>
              <a:spcAft>
                <a:spcPts val="0"/>
              </a:spcAft>
              <a:buFont typeface="Wingdings" panose="05000000000000000000" pitchFamily="2" charset="2"/>
              <a:buNone/>
              <a:defRPr/>
            </a:pPr>
            <a:r>
              <a:rPr lang="zh-CN" altLang="en-US" sz="2000" b="1" noProof="1">
                <a:solidFill>
                  <a:schemeClr val="tx1"/>
                </a:solidFill>
              </a:rPr>
              <a:t>网络安全检测是信息保障的动态措施，通过入侵检测、漏洞扫描等手段，定期对系统进行安全检测和评估，及时发现安全问题，进行安全预警和漏洞修补，防止发生重大信息安全事故。我国在安全检测技术和方法正在改进，并要将入侵检测、漏洞扫描、路由等安全技术相结合，努力实现跨越多边界的网络攻击事件的检测、追踪和取证。</a:t>
            </a:r>
            <a:endParaRPr lang="zh-CN" altLang="en-US" sz="2000" b="1" noProof="1">
              <a:solidFill>
                <a:schemeClr val="tx1"/>
              </a:solidFill>
            </a:endParaRPr>
          </a:p>
          <a:p>
            <a:pPr indent="457200" eaLnBrk="1" fontAlgn="auto" hangingPunct="1">
              <a:spcBef>
                <a:spcPts val="0"/>
              </a:spcBef>
              <a:spcAft>
                <a:spcPts val="0"/>
              </a:spcAft>
              <a:buFont typeface="Wingdings" panose="05000000000000000000" pitchFamily="2" charset="2"/>
              <a:buNone/>
              <a:defRPr/>
            </a:pPr>
            <a:r>
              <a:rPr lang="zh-CN" altLang="en-US" sz="2000" b="1" noProof="1">
                <a:solidFill>
                  <a:schemeClr val="tx1"/>
                </a:solidFill>
              </a:rPr>
              <a:t>网络安全管理与保障有关内容，将在第3章具体介绍。</a:t>
            </a:r>
            <a:endParaRPr lang="zh-CN" altLang="en-US" sz="2000" b="1" noProof="1">
              <a:solidFill>
                <a:schemeClr val="tx1"/>
              </a:solidFill>
            </a:endParaRPr>
          </a:p>
        </p:txBody>
      </p:sp>
      <p:sp>
        <p:nvSpPr>
          <p:cNvPr id="5" name="文本框 1"/>
          <p:cNvSpPr txBox="1"/>
          <p:nvPr/>
        </p:nvSpPr>
        <p:spPr>
          <a:xfrm>
            <a:off x="1219200" y="304800"/>
            <a:ext cx="7011988" cy="584200"/>
          </a:xfrm>
          <a:prstGeom prst="rect">
            <a:avLst/>
          </a:prstGeom>
          <a:noFill/>
        </p:spPr>
        <p:txBody>
          <a:bodyPr>
            <a:spAutoFit/>
          </a:bodyPr>
          <a:lstStyle/>
          <a:p>
            <a:pPr>
              <a:spcBef>
                <a:spcPct val="20000"/>
              </a:spcBef>
              <a:defRPr/>
            </a:pPr>
            <a:r>
              <a:rPr lang="en-US" altLang="zh-CN" sz="3200" b="1" dirty="0">
                <a:solidFill>
                  <a:schemeClr val="bg1"/>
                </a:solidFill>
                <a:sym typeface="+mn-ea"/>
              </a:rPr>
              <a:t>1.4 </a:t>
            </a:r>
            <a:r>
              <a:rPr lang="zh-CN" altLang="en-US" sz="3200" b="1" dirty="0">
                <a:solidFill>
                  <a:schemeClr val="bg1"/>
                </a:solidFill>
                <a:effectLst>
                  <a:outerShdw blurRad="38100" dist="38100" dir="2700000" algn="tl">
                    <a:srgbClr val="C0C0C0"/>
                  </a:outerShdw>
                </a:effectLst>
                <a:sym typeface="+mn-ea"/>
              </a:rPr>
              <a:t>网络安全建设发展现状及趋势</a:t>
            </a:r>
            <a:r>
              <a:rPr lang="zh-CN" altLang="en-US" sz="3200" b="1" dirty="0">
                <a:solidFill>
                  <a:schemeClr val="bg1"/>
                </a:solidFill>
                <a:sym typeface="+mn-ea"/>
              </a:rPr>
              <a:t> </a:t>
            </a:r>
            <a:endParaRPr lang="zh-CN" altLang="en-US" sz="3200" b="1" noProof="1"/>
          </a:p>
        </p:txBody>
      </p:sp>
      <p:sp>
        <p:nvSpPr>
          <p:cNvPr id="57347" name="Rectangle 9"/>
          <p:cNvSpPr>
            <a:spLocks noChangeArrowheads="1"/>
          </p:cNvSpPr>
          <p:nvPr/>
        </p:nvSpPr>
        <p:spPr bwMode="auto">
          <a:xfrm>
            <a:off x="539750" y="1052513"/>
            <a:ext cx="4919663" cy="523875"/>
          </a:xfrm>
          <a:prstGeom prst="rect">
            <a:avLst/>
          </a:prstGeom>
          <a:noFill/>
          <a:ln w="9525">
            <a:noFill/>
            <a:miter lim="800000"/>
          </a:ln>
        </p:spPr>
        <p:txBody>
          <a:bodyPr wrap="none">
            <a:spAutoFit/>
          </a:bodyPr>
          <a:lstStyle/>
          <a:p>
            <a:pPr>
              <a:spcBef>
                <a:spcPct val="20000"/>
              </a:spcBef>
              <a:buFont typeface="Wingdings" panose="05000000000000000000" pitchFamily="2" charset="2"/>
              <a:buNone/>
            </a:pPr>
            <a:r>
              <a:rPr lang="en-US" altLang="zh-CN" sz="2800" b="1">
                <a:solidFill>
                  <a:srgbClr val="FF0000"/>
                </a:solidFill>
              </a:rPr>
              <a:t>      </a:t>
            </a:r>
            <a:r>
              <a:rPr lang="en-US" altLang="zh-CN" b="1">
                <a:solidFill>
                  <a:srgbClr val="FF0000"/>
                </a:solidFill>
              </a:rPr>
              <a:t>2. </a:t>
            </a:r>
            <a:r>
              <a:rPr lang="zh-CN" altLang="en-US" b="1">
                <a:solidFill>
                  <a:srgbClr val="FF0000"/>
                </a:solidFill>
              </a:rPr>
              <a:t>我国网络安全建设发展现状 </a:t>
            </a:r>
            <a:endParaRPr lang="zh-CN" altLang="en-US" b="1">
              <a:solidFill>
                <a:srgbClr val="FF0000"/>
              </a:solidFill>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9"/>
          <p:cNvSpPr>
            <a:spLocks noChangeArrowheads="1"/>
          </p:cNvSpPr>
          <p:nvPr/>
        </p:nvSpPr>
        <p:spPr bwMode="auto">
          <a:xfrm>
            <a:off x="1228725" y="1160463"/>
            <a:ext cx="4013200" cy="461962"/>
          </a:xfrm>
          <a:prstGeom prst="rect">
            <a:avLst/>
          </a:prstGeom>
          <a:noFill/>
          <a:ln w="9525">
            <a:noFill/>
            <a:miter lim="800000"/>
          </a:ln>
        </p:spPr>
        <p:txBody>
          <a:bodyPr wrap="none">
            <a:spAutoFit/>
          </a:bodyPr>
          <a:lstStyle/>
          <a:p>
            <a:pPr algn="dist">
              <a:spcBef>
                <a:spcPct val="20000"/>
              </a:spcBef>
              <a:buFont typeface="Wingdings" panose="05000000000000000000" pitchFamily="2" charset="2"/>
              <a:buNone/>
            </a:pPr>
            <a:r>
              <a:rPr lang="en-US" altLang="zh-CN" b="1">
                <a:solidFill>
                  <a:srgbClr val="FF0000"/>
                </a:solidFill>
              </a:rPr>
              <a:t>3. </a:t>
            </a:r>
            <a:r>
              <a:rPr lang="zh-CN" altLang="en-US" b="1">
                <a:solidFill>
                  <a:srgbClr val="FF0000"/>
                </a:solidFill>
              </a:rPr>
              <a:t>网络安全技术的发展趋势 </a:t>
            </a:r>
            <a:endParaRPr lang="zh-CN" altLang="en-US" b="1">
              <a:solidFill>
                <a:srgbClr val="FF0000"/>
              </a:solidFill>
            </a:endParaRPr>
          </a:p>
        </p:txBody>
      </p:sp>
      <p:sp>
        <p:nvSpPr>
          <p:cNvPr id="5" name="圆角矩形 4"/>
          <p:cNvSpPr/>
          <p:nvPr/>
        </p:nvSpPr>
        <p:spPr bwMode="gray">
          <a:xfrm>
            <a:off x="419100" y="1736725"/>
            <a:ext cx="8305800" cy="4846638"/>
          </a:xfrm>
          <a:prstGeom prst="roundRect">
            <a:avLst/>
          </a:prstGeom>
        </p:spPr>
        <p:style>
          <a:lnRef idx="2">
            <a:schemeClr val="accent1"/>
          </a:lnRef>
          <a:fillRef idx="1">
            <a:schemeClr val="lt1"/>
          </a:fillRef>
          <a:effectRef idx="0">
            <a:schemeClr val="accent1"/>
          </a:effectRef>
          <a:fontRef idx="minor">
            <a:schemeClr val="dk1"/>
          </a:fontRef>
        </p:style>
        <p:txBody>
          <a:bodyPr anchor="ctr" anchorCtr="1"/>
          <a:lstStyle/>
          <a:p>
            <a:pPr indent="457200">
              <a:lnSpc>
                <a:spcPct val="90000"/>
              </a:lnSpc>
            </a:pPr>
            <a:r>
              <a:rPr lang="zh-CN" altLang="en-US" sz="2300" b="1">
                <a:solidFill>
                  <a:srgbClr val="CC0000"/>
                </a:solidFill>
                <a:latin typeface="Arial" panose="020B0604020202020204" pitchFamily="34" charset="0"/>
              </a:rPr>
              <a:t> 网络安全的发展趋势</a:t>
            </a:r>
            <a:r>
              <a:rPr lang="zh-CN" altLang="en-US" sz="2300" b="1">
                <a:solidFill>
                  <a:schemeClr val="tx1"/>
                </a:solidFill>
                <a:latin typeface="Arial" panose="020B0604020202020204" pitchFamily="34" charset="0"/>
              </a:rPr>
              <a:t>主要体现在以下几个方面： </a:t>
            </a:r>
            <a:endParaRPr lang="zh-CN" altLang="en-US" sz="2300" b="1">
              <a:solidFill>
                <a:schemeClr val="tx1"/>
              </a:solidFill>
              <a:latin typeface="Arial" panose="020B0604020202020204" pitchFamily="34" charset="0"/>
            </a:endParaRPr>
          </a:p>
          <a:p>
            <a:pPr indent="457200">
              <a:lnSpc>
                <a:spcPct val="90000"/>
              </a:lnSpc>
            </a:pPr>
            <a:r>
              <a:rPr lang="zh-CN" sz="2300" b="1">
                <a:solidFill>
                  <a:schemeClr val="tx1"/>
                </a:solidFill>
                <a:latin typeface="Arial" panose="020B0604020202020204" pitchFamily="34" charset="0"/>
              </a:rPr>
              <a:t>1）网络安全技术不断提高</a:t>
            </a:r>
            <a:r>
              <a:rPr lang="zh-CN" altLang="en-US" sz="2300" b="1">
                <a:solidFill>
                  <a:schemeClr val="tx1"/>
                </a:solidFill>
                <a:latin typeface="Arial" panose="020B0604020202020204" pitchFamily="34" charset="0"/>
              </a:rPr>
              <a:t>。</a:t>
            </a:r>
            <a:r>
              <a:rPr lang="zh-CN" sz="2300" b="1">
                <a:solidFill>
                  <a:schemeClr val="tx1"/>
                </a:solidFill>
                <a:latin typeface="Arial" panose="020B0604020202020204" pitchFamily="34" charset="0"/>
              </a:rPr>
              <a:t>随着网络安全威胁的不断增加和变化，网络安全技术也在不断创新和提高，从传统安全技术向可信技术、深度包检测、终端安全管控和Web安全技术等新技术发展。同时，也不断出现一些云安全、智能检测、智能防御技术、加固技术、网络隔离、可信服务、虚拟技术、信息隐藏技术和软件安全扫描等新技术。其中，可信技术是一个系统工程，包含可信计算技术、可信对象技术和可信网络技术，用于提供从终端及网络系统的整体安全可信环境。</a:t>
            </a:r>
            <a:endParaRPr lang="zh-CN" sz="2300" b="1">
              <a:solidFill>
                <a:schemeClr val="tx1"/>
              </a:solidFill>
              <a:latin typeface="Arial" panose="020B0604020202020204" pitchFamily="34" charset="0"/>
            </a:endParaRPr>
          </a:p>
          <a:p>
            <a:pPr indent="457200">
              <a:lnSpc>
                <a:spcPct val="90000"/>
              </a:lnSpc>
            </a:pPr>
            <a:r>
              <a:rPr lang="zh-CN" sz="2300" b="1">
                <a:solidFill>
                  <a:schemeClr val="tx1"/>
                </a:solidFill>
                <a:latin typeface="Arial" panose="020B0604020202020204" pitchFamily="34" charset="0"/>
              </a:rPr>
              <a:t>2）安全管理技术高度集成</a:t>
            </a:r>
            <a:r>
              <a:rPr lang="zh-CN" altLang="en-US" sz="2300" b="1">
                <a:solidFill>
                  <a:schemeClr val="tx1"/>
                </a:solidFill>
                <a:latin typeface="Arial" panose="020B0604020202020204" pitchFamily="34" charset="0"/>
              </a:rPr>
              <a:t>。</a:t>
            </a:r>
            <a:r>
              <a:rPr lang="zh-CN" sz="2300" b="1">
                <a:solidFill>
                  <a:schemeClr val="tx1"/>
                </a:solidFill>
                <a:latin typeface="Arial" panose="020B0604020202020204" pitchFamily="34" charset="0"/>
              </a:rPr>
              <a:t>网络安全技术优化集成已成趋势，如杀毒软件与防火墙集成、虚拟网VPN与防火墙的集成、入侵检测系统IDS与防火墙的集成，以及安全网关、主机安全防护系统、网络监控系统等集成技术。</a:t>
            </a:r>
            <a:endParaRPr lang="zh-CN" sz="2300" b="1">
              <a:solidFill>
                <a:schemeClr val="tx1"/>
              </a:solidFill>
              <a:latin typeface="Arial" panose="020B0604020202020204" pitchFamily="34" charset="0"/>
            </a:endParaRPr>
          </a:p>
        </p:txBody>
      </p:sp>
      <p:sp>
        <p:nvSpPr>
          <p:cNvPr id="6" name="文本框 1"/>
          <p:cNvSpPr txBox="1"/>
          <p:nvPr/>
        </p:nvSpPr>
        <p:spPr>
          <a:xfrm>
            <a:off x="1219200" y="304800"/>
            <a:ext cx="7011988" cy="584200"/>
          </a:xfrm>
          <a:prstGeom prst="rect">
            <a:avLst/>
          </a:prstGeom>
          <a:noFill/>
        </p:spPr>
        <p:txBody>
          <a:bodyPr>
            <a:spAutoFit/>
          </a:bodyPr>
          <a:lstStyle/>
          <a:p>
            <a:pPr>
              <a:spcBef>
                <a:spcPct val="20000"/>
              </a:spcBef>
              <a:defRPr/>
            </a:pPr>
            <a:r>
              <a:rPr lang="en-US" altLang="zh-CN" sz="3200" b="1" dirty="0">
                <a:solidFill>
                  <a:schemeClr val="bg1"/>
                </a:solidFill>
                <a:sym typeface="+mn-ea"/>
              </a:rPr>
              <a:t>1.4 </a:t>
            </a:r>
            <a:r>
              <a:rPr lang="zh-CN" altLang="en-US" sz="3200" b="1" dirty="0">
                <a:solidFill>
                  <a:schemeClr val="bg1"/>
                </a:solidFill>
                <a:effectLst>
                  <a:outerShdw blurRad="38100" dist="38100" dir="2700000" algn="tl">
                    <a:srgbClr val="C0C0C0"/>
                  </a:outerShdw>
                </a:effectLst>
                <a:sym typeface="+mn-ea"/>
              </a:rPr>
              <a:t>网络安全建设发展现状及趋势</a:t>
            </a:r>
            <a:r>
              <a:rPr lang="zh-CN" altLang="en-US" sz="3200" b="1" dirty="0">
                <a:solidFill>
                  <a:schemeClr val="bg1"/>
                </a:solidFill>
                <a:sym typeface="+mn-ea"/>
              </a:rPr>
              <a:t> </a:t>
            </a:r>
            <a:endParaRPr lang="zh-CN" altLang="en-US" sz="3200" b="1" noProof="1"/>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9"/>
          <p:cNvSpPr>
            <a:spLocks noChangeArrowheads="1"/>
          </p:cNvSpPr>
          <p:nvPr/>
        </p:nvSpPr>
        <p:spPr bwMode="auto">
          <a:xfrm>
            <a:off x="1143000" y="1143000"/>
            <a:ext cx="3929063" cy="461963"/>
          </a:xfrm>
          <a:prstGeom prst="rect">
            <a:avLst/>
          </a:prstGeom>
          <a:noFill/>
          <a:ln w="9525">
            <a:noFill/>
            <a:miter lim="800000"/>
          </a:ln>
        </p:spPr>
        <p:txBody>
          <a:bodyPr wrap="none">
            <a:spAutoFit/>
          </a:bodyPr>
          <a:lstStyle/>
          <a:p>
            <a:pPr>
              <a:spcBef>
                <a:spcPct val="20000"/>
              </a:spcBef>
              <a:buFont typeface="Wingdings" panose="05000000000000000000" pitchFamily="2" charset="2"/>
              <a:buNone/>
            </a:pPr>
            <a:r>
              <a:rPr lang="en-US" altLang="zh-CN" b="1">
                <a:solidFill>
                  <a:srgbClr val="FF0000"/>
                </a:solidFill>
              </a:rPr>
              <a:t>3.</a:t>
            </a:r>
            <a:r>
              <a:rPr lang="zh-CN" altLang="en-US" b="1">
                <a:solidFill>
                  <a:srgbClr val="FF0000"/>
                </a:solidFill>
              </a:rPr>
              <a:t>网络安全技术的发展趋势 </a:t>
            </a:r>
            <a:endParaRPr lang="zh-CN" altLang="en-US" b="1">
              <a:solidFill>
                <a:srgbClr val="FF0000"/>
              </a:solidFill>
            </a:endParaRPr>
          </a:p>
        </p:txBody>
      </p:sp>
      <p:sp>
        <p:nvSpPr>
          <p:cNvPr id="5" name="圆角矩形 4"/>
          <p:cNvSpPr/>
          <p:nvPr/>
        </p:nvSpPr>
        <p:spPr bwMode="gray">
          <a:xfrm>
            <a:off x="609600" y="1736725"/>
            <a:ext cx="8305800" cy="4511675"/>
          </a:xfrm>
          <a:prstGeom prst="roundRect">
            <a:avLst/>
          </a:prstGeom>
        </p:spPr>
        <p:style>
          <a:lnRef idx="2">
            <a:schemeClr val="accent1"/>
          </a:lnRef>
          <a:fillRef idx="1">
            <a:schemeClr val="lt1"/>
          </a:fillRef>
          <a:effectRef idx="0">
            <a:schemeClr val="accent1"/>
          </a:effectRef>
          <a:fontRef idx="minor">
            <a:schemeClr val="dk1"/>
          </a:fontRef>
        </p:style>
        <p:txBody>
          <a:bodyPr anchor="ctr" anchorCtr="1"/>
          <a:lstStyle/>
          <a:p>
            <a:pPr>
              <a:spcBef>
                <a:spcPct val="15000"/>
              </a:spcBef>
              <a:spcAft>
                <a:spcPct val="15000"/>
              </a:spcAft>
              <a:buFont typeface="Wingdings" panose="05000000000000000000" pitchFamily="2" charset="2"/>
              <a:buNone/>
              <a:defRPr/>
            </a:pPr>
            <a:r>
              <a:rPr lang="zh-CN" altLang="en-US" sz="2200" b="1" dirty="0">
                <a:solidFill>
                  <a:srgbClr val="CC0000"/>
                </a:solidFill>
                <a:latin typeface="Arial" panose="020B0604020202020204" pitchFamily="34" charset="0"/>
              </a:rPr>
              <a:t> </a:t>
            </a:r>
            <a:r>
              <a:rPr lang="zh-CN" altLang="en-US" sz="2200" b="1" dirty="0">
                <a:latin typeface="Arial" panose="020B0604020202020204" pitchFamily="34" charset="0"/>
              </a:rPr>
              <a:t>     </a:t>
            </a:r>
            <a:r>
              <a:rPr lang="en-US" altLang="zh-CN" sz="2200" b="1" dirty="0">
                <a:solidFill>
                  <a:schemeClr val="tx1"/>
                </a:solidFill>
                <a:latin typeface="Arial" panose="020B0604020202020204" pitchFamily="34" charset="0"/>
              </a:rPr>
              <a:t>3</a:t>
            </a:r>
            <a:r>
              <a:rPr lang="zh-CN" altLang="en-US" sz="2200" b="1" dirty="0">
                <a:solidFill>
                  <a:schemeClr val="tx1"/>
                </a:solidFill>
                <a:latin typeface="Arial" panose="020B0604020202020204" pitchFamily="34" charset="0"/>
              </a:rPr>
              <a:t>）新型网络安全平台。统一威胁管理可将各种威胁进行整体安全防护管理，是实现网络安全的重要手段和发展趋势，已成为集多种网络安全防护技术一体化的解决方案，在保障网络安全的同时大量降低运维成本。主要包括：网络安全平台、统一威胁管理工具和日志审计分析系统等。</a:t>
            </a:r>
            <a:endParaRPr lang="zh-CN" altLang="en-US" sz="2200" b="1" dirty="0">
              <a:solidFill>
                <a:schemeClr val="tx1"/>
              </a:solidFill>
              <a:latin typeface="Arial" panose="020B0604020202020204" pitchFamily="34" charset="0"/>
            </a:endParaRPr>
          </a:p>
          <a:p>
            <a:pPr>
              <a:spcBef>
                <a:spcPct val="15000"/>
              </a:spcBef>
              <a:spcAft>
                <a:spcPct val="15000"/>
              </a:spcAft>
              <a:defRPr/>
            </a:pPr>
            <a:r>
              <a:rPr lang="zh-CN" altLang="en-US" sz="2200" b="1" dirty="0">
                <a:latin typeface="Arial" panose="020B0604020202020204" pitchFamily="34" charset="0"/>
              </a:rPr>
              <a:t>       4）高水平的服务和人才。网络安全威胁的严重性及新变化，对解决网络安全技术和经验要求更高，急需高水平的网络安全服务和人才。</a:t>
            </a:r>
            <a:endParaRPr lang="zh-CN" altLang="en-US" sz="2200" b="1" dirty="0">
              <a:latin typeface="Arial" panose="020B0604020202020204" pitchFamily="34" charset="0"/>
            </a:endParaRPr>
          </a:p>
          <a:p>
            <a:pPr>
              <a:spcBef>
                <a:spcPct val="15000"/>
              </a:spcBef>
              <a:spcAft>
                <a:spcPct val="15000"/>
              </a:spcAft>
              <a:defRPr/>
            </a:pPr>
            <a:r>
              <a:rPr lang="zh-CN" altLang="en-US" sz="2200" b="1" dirty="0">
                <a:latin typeface="Arial" panose="020B0604020202020204" pitchFamily="34" charset="0"/>
              </a:rPr>
              <a:t>      5）特殊专用安全工具。对网络安全危害大且影响范围广的一些特殊威胁，应采用特殊专用工具，如专门针对分布式拒绝服务攻击的防御系统，专门解决网络安全认证、授权与计费的认证系统、入侵检测系统等。</a:t>
            </a:r>
            <a:endParaRPr lang="zh-CN" altLang="en-US" sz="2200" b="1" dirty="0">
              <a:latin typeface="Arial" panose="020B0604020202020204" pitchFamily="34" charset="0"/>
            </a:endParaRPr>
          </a:p>
        </p:txBody>
      </p:sp>
      <p:sp>
        <p:nvSpPr>
          <p:cNvPr id="7" name="文本框 1"/>
          <p:cNvSpPr txBox="1"/>
          <p:nvPr/>
        </p:nvSpPr>
        <p:spPr>
          <a:xfrm>
            <a:off x="1219200" y="304800"/>
            <a:ext cx="7011988" cy="584200"/>
          </a:xfrm>
          <a:prstGeom prst="rect">
            <a:avLst/>
          </a:prstGeom>
          <a:noFill/>
        </p:spPr>
        <p:txBody>
          <a:bodyPr>
            <a:spAutoFit/>
          </a:bodyPr>
          <a:lstStyle/>
          <a:p>
            <a:pPr>
              <a:spcBef>
                <a:spcPct val="20000"/>
              </a:spcBef>
              <a:defRPr/>
            </a:pPr>
            <a:r>
              <a:rPr lang="en-US" altLang="zh-CN" sz="3200" b="1" dirty="0">
                <a:solidFill>
                  <a:schemeClr val="bg1"/>
                </a:solidFill>
                <a:sym typeface="+mn-ea"/>
              </a:rPr>
              <a:t>1.4 </a:t>
            </a:r>
            <a:r>
              <a:rPr lang="zh-CN" altLang="en-US" sz="3200" b="1" dirty="0">
                <a:solidFill>
                  <a:schemeClr val="bg1"/>
                </a:solidFill>
                <a:effectLst>
                  <a:outerShdw blurRad="38100" dist="38100" dir="2700000" algn="tl">
                    <a:srgbClr val="C0C0C0"/>
                  </a:outerShdw>
                </a:effectLst>
                <a:sym typeface="+mn-ea"/>
              </a:rPr>
              <a:t>网络安全建设发展现状及趋势</a:t>
            </a:r>
            <a:r>
              <a:rPr lang="zh-CN" altLang="en-US" sz="3200" b="1" dirty="0">
                <a:solidFill>
                  <a:schemeClr val="bg1"/>
                </a:solidFill>
                <a:sym typeface="+mn-ea"/>
              </a:rPr>
              <a:t> </a:t>
            </a:r>
            <a:endParaRPr lang="zh-CN" altLang="en-US" sz="3200" b="1" noProof="1"/>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内容占位符 2"/>
          <p:cNvSpPr>
            <a:spLocks noGrp="1" noChangeArrowheads="1"/>
          </p:cNvSpPr>
          <p:nvPr>
            <p:ph idx="4294967295"/>
          </p:nvPr>
        </p:nvSpPr>
        <p:spPr>
          <a:xfrm>
            <a:off x="457200" y="1268413"/>
            <a:ext cx="8153400" cy="647700"/>
          </a:xfrm>
        </p:spPr>
        <p:txBody>
          <a:bodyPr/>
          <a:lstStyle/>
          <a:p>
            <a:pPr>
              <a:buFont typeface="Wingdings" panose="05000000000000000000" pitchFamily="2" charset="2"/>
              <a:buNone/>
            </a:pPr>
            <a:r>
              <a:rPr lang="en-US" altLang="zh-CN" sz="2800" smtClean="0">
                <a:solidFill>
                  <a:srgbClr val="FF0000"/>
                </a:solidFill>
              </a:rPr>
              <a:t>1.3.1 </a:t>
            </a:r>
            <a:r>
              <a:rPr lang="zh-CN" altLang="en-US" sz="2800" smtClean="0">
                <a:solidFill>
                  <a:srgbClr val="FF0000"/>
                </a:solidFill>
              </a:rPr>
              <a:t>实体安全的概念及内容</a:t>
            </a:r>
            <a:r>
              <a:rPr lang="zh-CN" altLang="en-US" sz="2400" b="0" smtClean="0"/>
              <a:t> </a:t>
            </a:r>
            <a:endParaRPr lang="zh-CN" altLang="en-US" sz="2400" b="0" smtClean="0"/>
          </a:p>
        </p:txBody>
      </p:sp>
      <p:sp>
        <p:nvSpPr>
          <p:cNvPr id="60418" name="Rectangle 2"/>
          <p:cNvSpPr txBox="1">
            <a:spLocks noChangeArrowheads="1"/>
          </p:cNvSpPr>
          <p:nvPr/>
        </p:nvSpPr>
        <p:spPr bwMode="auto">
          <a:xfrm>
            <a:off x="457200" y="152400"/>
            <a:ext cx="8305800" cy="563563"/>
          </a:xfrm>
          <a:prstGeom prst="rect">
            <a:avLst/>
          </a:prstGeom>
          <a:noFill/>
          <a:ln w="9525">
            <a:noFill/>
            <a:miter lim="800000"/>
          </a:ln>
        </p:spPr>
        <p:txBody>
          <a:bodyPr anchor="ctr"/>
          <a:lstStyle/>
          <a:p>
            <a:pPr algn="ctr">
              <a:spcBef>
                <a:spcPct val="20000"/>
              </a:spcBef>
              <a:buFont typeface="Wingdings" panose="05000000000000000000" pitchFamily="2" charset="2"/>
              <a:buNone/>
            </a:pPr>
            <a:r>
              <a:rPr lang="en-US" altLang="zh-CN" sz="3200" b="1">
                <a:solidFill>
                  <a:schemeClr val="bg1"/>
                </a:solidFill>
              </a:rPr>
              <a:t>*1.5 </a:t>
            </a:r>
            <a:r>
              <a:rPr lang="zh-CN" altLang="en-US" sz="3200" b="1">
                <a:solidFill>
                  <a:schemeClr val="bg1"/>
                </a:solidFill>
              </a:rPr>
              <a:t> 实体安全与隔离技术</a:t>
            </a:r>
            <a:r>
              <a:rPr lang="zh-CN" altLang="en-US" b="1"/>
              <a:t> </a:t>
            </a:r>
            <a:endParaRPr lang="zh-CN" altLang="en-US" b="1"/>
          </a:p>
        </p:txBody>
      </p:sp>
      <p:sp>
        <p:nvSpPr>
          <p:cNvPr id="5" name="圆角矩形 4"/>
          <p:cNvSpPr/>
          <p:nvPr/>
        </p:nvSpPr>
        <p:spPr bwMode="gray">
          <a:xfrm>
            <a:off x="827088" y="1916113"/>
            <a:ext cx="7489825" cy="4154487"/>
          </a:xfrm>
          <a:prstGeom prst="roundRect">
            <a:avLst/>
          </a:prstGeom>
        </p:spPr>
        <p:style>
          <a:lnRef idx="2">
            <a:schemeClr val="accent1"/>
          </a:lnRef>
          <a:fillRef idx="1">
            <a:schemeClr val="lt1"/>
          </a:fillRef>
          <a:effectRef idx="0">
            <a:schemeClr val="accent1"/>
          </a:effectRef>
          <a:fontRef idx="minor">
            <a:schemeClr val="dk1"/>
          </a:fontRef>
        </p:style>
        <p:txBody>
          <a:bodyPr anchor="ctr" anchorCtr="1">
            <a:normAutofit fontScale="92500" lnSpcReduction="10000"/>
          </a:bodyPr>
          <a:lstStyle/>
          <a:p>
            <a:pPr>
              <a:spcBef>
                <a:spcPct val="20000"/>
              </a:spcBef>
              <a:spcAft>
                <a:spcPct val="30000"/>
              </a:spcAft>
              <a:defRPr/>
            </a:pPr>
            <a:r>
              <a:rPr lang="en-US" altLang="zh-CN" sz="2800" b="1" dirty="0">
                <a:solidFill>
                  <a:srgbClr val="990033"/>
                </a:solidFill>
                <a:latin typeface="Arial" panose="020B0604020202020204" pitchFamily="34" charset="0"/>
              </a:rPr>
              <a:t>     1. </a:t>
            </a:r>
            <a:r>
              <a:rPr lang="zh-CN" altLang="en-US" sz="2800" b="1" dirty="0">
                <a:solidFill>
                  <a:srgbClr val="990033"/>
                </a:solidFill>
                <a:latin typeface="Arial" panose="020B0604020202020204" pitchFamily="34" charset="0"/>
              </a:rPr>
              <a:t>实体安全的概念</a:t>
            </a:r>
            <a:endParaRPr lang="zh-CN" altLang="en-US" sz="2800" b="1" dirty="0">
              <a:solidFill>
                <a:srgbClr val="990033"/>
              </a:solidFill>
              <a:latin typeface="Arial" panose="020B0604020202020204" pitchFamily="34" charset="0"/>
            </a:endParaRPr>
          </a:p>
          <a:p>
            <a:pPr indent="457200">
              <a:spcBef>
                <a:spcPct val="20000"/>
              </a:spcBef>
              <a:defRPr/>
            </a:pPr>
            <a:r>
              <a:rPr lang="zh-CN" altLang="en-US" b="1" dirty="0">
                <a:solidFill>
                  <a:schemeClr val="tx2"/>
                </a:solidFill>
                <a:latin typeface="Arial" panose="020B0604020202020204" pitchFamily="34" charset="0"/>
              </a:rPr>
              <a:t> </a:t>
            </a:r>
            <a:r>
              <a:rPr b="1" dirty="0" err="1">
                <a:solidFill>
                  <a:srgbClr val="FF0000"/>
                </a:solidFill>
                <a:latin typeface="Arial" panose="020B0604020202020204" pitchFamily="34" charset="0"/>
              </a:rPr>
              <a:t>实体安全（Physical</a:t>
            </a:r>
            <a:r>
              <a:rPr b="1" dirty="0">
                <a:solidFill>
                  <a:srgbClr val="FF0000"/>
                </a:solidFill>
                <a:latin typeface="Arial" panose="020B0604020202020204" pitchFamily="34" charset="0"/>
              </a:rPr>
              <a:t> </a:t>
            </a:r>
            <a:r>
              <a:rPr b="1" dirty="0" err="1">
                <a:solidFill>
                  <a:srgbClr val="FF0000"/>
                </a:solidFill>
                <a:latin typeface="Arial" panose="020B0604020202020204" pitchFamily="34" charset="0"/>
              </a:rPr>
              <a:t>Security）</a:t>
            </a:r>
            <a:r>
              <a:rPr b="1" dirty="0" err="1">
                <a:solidFill>
                  <a:schemeClr val="tx2"/>
                </a:solidFill>
                <a:latin typeface="Arial" panose="020B0604020202020204" pitchFamily="34" charset="0"/>
              </a:rPr>
              <a:t>也称</a:t>
            </a:r>
            <a:r>
              <a:rPr b="1" dirty="0" err="1">
                <a:solidFill>
                  <a:srgbClr val="FF0000"/>
                </a:solidFill>
                <a:latin typeface="Arial" panose="020B0604020202020204" pitchFamily="34" charset="0"/>
              </a:rPr>
              <a:t>物理安全</a:t>
            </a:r>
            <a:r>
              <a:rPr b="1" dirty="0" err="1">
                <a:solidFill>
                  <a:schemeClr val="tx2"/>
                </a:solidFill>
                <a:latin typeface="Arial" panose="020B0604020202020204" pitchFamily="34" charset="0"/>
              </a:rPr>
              <a:t>，指保护网络设备、设施及其他媒体免遭地震、水灾、火灾、有害气体和其他环境事故破坏的措施及过程</a:t>
            </a:r>
            <a:r>
              <a:rPr b="1" dirty="0">
                <a:solidFill>
                  <a:schemeClr val="tx2"/>
                </a:solidFill>
                <a:latin typeface="Arial" panose="020B0604020202020204" pitchFamily="34" charset="0"/>
              </a:rPr>
              <a:t>。</a:t>
            </a:r>
            <a:r>
              <a:rPr b="1" dirty="0" err="1">
                <a:solidFill>
                  <a:schemeClr val="tx2"/>
                </a:solidFill>
                <a:latin typeface="Arial" panose="020B0604020202020204" pitchFamily="34" charset="0"/>
              </a:rPr>
              <a:t>主要是对计算机及网络系统的环境、场地、设备和人员等方面，采取的各种安全技术和措施</a:t>
            </a:r>
            <a:r>
              <a:rPr b="1" dirty="0">
                <a:solidFill>
                  <a:schemeClr val="tx2"/>
                </a:solidFill>
                <a:latin typeface="Arial" panose="020B0604020202020204" pitchFamily="34" charset="0"/>
              </a:rPr>
              <a:t>。</a:t>
            </a:r>
            <a:endParaRPr b="1" dirty="0">
              <a:solidFill>
                <a:schemeClr val="tx2"/>
              </a:solidFill>
              <a:latin typeface="Arial" panose="020B0604020202020204" pitchFamily="34" charset="0"/>
            </a:endParaRPr>
          </a:p>
          <a:p>
            <a:pPr indent="457200">
              <a:spcBef>
                <a:spcPct val="20000"/>
              </a:spcBef>
              <a:defRPr/>
            </a:pPr>
            <a:r>
              <a:rPr b="1" dirty="0" err="1">
                <a:solidFill>
                  <a:srgbClr val="FF0000"/>
                </a:solidFill>
                <a:latin typeface="Arial" panose="020B0604020202020204" pitchFamily="34" charset="0"/>
              </a:rPr>
              <a:t>实体安全是整个网络系统安全的重要基础和保障</a:t>
            </a:r>
            <a:r>
              <a:rPr b="1" dirty="0">
                <a:solidFill>
                  <a:schemeClr val="tx2"/>
                </a:solidFill>
                <a:latin typeface="Arial" panose="020B0604020202020204" pitchFamily="34" charset="0"/>
              </a:rPr>
              <a:t>。</a:t>
            </a:r>
            <a:r>
              <a:rPr b="1" dirty="0" err="1">
                <a:solidFill>
                  <a:schemeClr val="tx2"/>
                </a:solidFill>
                <a:latin typeface="Arial" panose="020B0604020202020204" pitchFamily="34" charset="0"/>
              </a:rPr>
              <a:t>主要侧重环境、场地和设备的安全，以及实体访问控制和应急处置计划等</a:t>
            </a:r>
            <a:r>
              <a:rPr b="1" dirty="0">
                <a:solidFill>
                  <a:schemeClr val="tx2"/>
                </a:solidFill>
                <a:latin typeface="Arial" panose="020B0604020202020204" pitchFamily="34" charset="0"/>
              </a:rPr>
              <a:t>。</a:t>
            </a:r>
            <a:r>
              <a:rPr b="1" dirty="0" err="1">
                <a:solidFill>
                  <a:schemeClr val="tx2"/>
                </a:solidFill>
                <a:latin typeface="Arial" panose="020B0604020202020204" pitchFamily="34" charset="0"/>
              </a:rPr>
              <a:t>计算机网络系统受到的威胁和隐患，很多是与计算机网络系统的环境、场地、设备和人员等方面有关的实体安全问题</a:t>
            </a:r>
            <a:r>
              <a:rPr b="1" dirty="0">
                <a:solidFill>
                  <a:schemeClr val="tx2"/>
                </a:solidFill>
                <a:latin typeface="Arial" panose="020B0604020202020204" pitchFamily="34" charset="0"/>
              </a:rPr>
              <a:t>。</a:t>
            </a:r>
            <a:r>
              <a:rPr lang="zh-CN" altLang="en-US" b="1" dirty="0">
                <a:solidFill>
                  <a:schemeClr val="tx2"/>
                </a:solidFill>
                <a:latin typeface="Arial" panose="020B0604020202020204" pitchFamily="34" charset="0"/>
              </a:rPr>
              <a:t>       </a:t>
            </a:r>
            <a:endParaRPr lang="zh-CN" altLang="en-US" b="1" dirty="0">
              <a:solidFill>
                <a:schemeClr val="tx2"/>
              </a:solidFill>
              <a:latin typeface="Arial" panose="020B0604020202020204" pitchFamily="34"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内容占位符 2"/>
          <p:cNvSpPr>
            <a:spLocks noGrp="1" noChangeArrowheads="1"/>
          </p:cNvSpPr>
          <p:nvPr>
            <p:ph idx="4294967295"/>
          </p:nvPr>
        </p:nvSpPr>
        <p:spPr>
          <a:xfrm>
            <a:off x="457200" y="1268413"/>
            <a:ext cx="8153400" cy="612775"/>
          </a:xfrm>
        </p:spPr>
        <p:txBody>
          <a:bodyPr/>
          <a:lstStyle/>
          <a:p>
            <a:pPr>
              <a:buFont typeface="Wingdings" panose="05000000000000000000" pitchFamily="2" charset="2"/>
              <a:buNone/>
            </a:pPr>
            <a:r>
              <a:rPr lang="en-US" altLang="zh-CN" sz="2800" smtClean="0">
                <a:solidFill>
                  <a:srgbClr val="FF0000"/>
                </a:solidFill>
              </a:rPr>
              <a:t>1.5.1 </a:t>
            </a:r>
            <a:r>
              <a:rPr lang="zh-CN" altLang="en-US" sz="2800" smtClean="0">
                <a:solidFill>
                  <a:srgbClr val="FF0000"/>
                </a:solidFill>
              </a:rPr>
              <a:t>实体安全的概念及内容</a:t>
            </a:r>
            <a:r>
              <a:rPr lang="zh-CN" altLang="en-US" sz="2400" b="0" smtClean="0"/>
              <a:t> </a:t>
            </a:r>
            <a:endParaRPr lang="zh-CN" altLang="en-US" sz="2400" b="0" smtClean="0"/>
          </a:p>
        </p:txBody>
      </p:sp>
      <p:sp>
        <p:nvSpPr>
          <p:cNvPr id="5" name="圆角矩形 4"/>
          <p:cNvSpPr/>
          <p:nvPr/>
        </p:nvSpPr>
        <p:spPr bwMode="gray">
          <a:xfrm>
            <a:off x="533400" y="1905000"/>
            <a:ext cx="8135938" cy="4114800"/>
          </a:xfrm>
          <a:prstGeom prst="roundRect">
            <a:avLst/>
          </a:prstGeom>
        </p:spPr>
        <p:style>
          <a:lnRef idx="2">
            <a:schemeClr val="accent1"/>
          </a:lnRef>
          <a:fillRef idx="1">
            <a:schemeClr val="lt1"/>
          </a:fillRef>
          <a:effectRef idx="0">
            <a:schemeClr val="accent1"/>
          </a:effectRef>
          <a:fontRef idx="minor">
            <a:schemeClr val="dk1"/>
          </a:fontRef>
        </p:style>
        <p:txBody>
          <a:bodyPr anchor="ctr" anchorCtr="1">
            <a:normAutofit/>
          </a:bodyPr>
          <a:lstStyle/>
          <a:p>
            <a:pPr indent="457200">
              <a:lnSpc>
                <a:spcPct val="90000"/>
              </a:lnSpc>
              <a:spcBef>
                <a:spcPct val="20000"/>
              </a:spcBef>
              <a:defRPr/>
            </a:pPr>
            <a:r>
              <a:rPr lang="zh-CN" altLang="en-US" b="1" dirty="0">
                <a:solidFill>
                  <a:schemeClr val="tx2"/>
                </a:solidFill>
                <a:latin typeface="Arial" panose="020B0604020202020204" pitchFamily="34" charset="0"/>
              </a:rPr>
              <a:t>实体安全的</a:t>
            </a:r>
            <a:r>
              <a:rPr lang="zh-CN" altLang="en-US" b="1" dirty="0">
                <a:solidFill>
                  <a:srgbClr val="FF0000"/>
                </a:solidFill>
                <a:latin typeface="Arial" panose="020B0604020202020204" pitchFamily="34" charset="0"/>
              </a:rPr>
              <a:t>目的</a:t>
            </a:r>
            <a:r>
              <a:rPr lang="zh-CN" altLang="en-US" b="1" dirty="0">
                <a:solidFill>
                  <a:schemeClr val="tx2"/>
                </a:solidFill>
                <a:latin typeface="Arial" panose="020B0604020202020204" pitchFamily="34" charset="0"/>
              </a:rPr>
              <a:t>是保护计算机、网络服务器、交换机、路由器、打印机等硬件实体和通信设施免受自然灾害、人为失误、犯罪行为的破坏，确保系统有一个良好的电磁兼容工作环境，将有害的攻击进行有效隔离。</a:t>
            </a:r>
            <a:endParaRPr lang="zh-CN" altLang="en-US" b="1" dirty="0">
              <a:solidFill>
                <a:schemeClr val="tx2"/>
              </a:solidFill>
              <a:latin typeface="Arial" panose="020B0604020202020204" pitchFamily="34" charset="0"/>
            </a:endParaRPr>
          </a:p>
          <a:p>
            <a:pPr indent="457200">
              <a:lnSpc>
                <a:spcPct val="90000"/>
              </a:lnSpc>
              <a:spcBef>
                <a:spcPct val="20000"/>
              </a:spcBef>
              <a:defRPr/>
            </a:pPr>
            <a:r>
              <a:rPr lang="zh-CN" altLang="en-US" sz="2800" b="1" dirty="0">
                <a:solidFill>
                  <a:schemeClr val="tx2"/>
                </a:solidFill>
                <a:latin typeface="Arial" panose="020B0604020202020204" pitchFamily="34" charset="0"/>
              </a:rPr>
              <a:t> </a:t>
            </a:r>
            <a:r>
              <a:rPr lang="zh-CN" altLang="en-US" b="1" dirty="0">
                <a:solidFill>
                  <a:srgbClr val="FF0000"/>
                </a:solidFill>
                <a:latin typeface="Arial" panose="020B0604020202020204" pitchFamily="34" charset="0"/>
              </a:rPr>
              <a:t>2. 实体安全的内容及措施</a:t>
            </a:r>
            <a:endParaRPr lang="zh-CN" altLang="en-US" b="1" dirty="0">
              <a:solidFill>
                <a:srgbClr val="FF0000"/>
              </a:solidFill>
              <a:latin typeface="Arial" panose="020B0604020202020204" pitchFamily="34" charset="0"/>
            </a:endParaRPr>
          </a:p>
          <a:p>
            <a:pPr indent="457200">
              <a:lnSpc>
                <a:spcPct val="90000"/>
              </a:lnSpc>
              <a:spcBef>
                <a:spcPct val="20000"/>
              </a:spcBef>
              <a:defRPr/>
            </a:pPr>
            <a:r>
              <a:rPr lang="zh-CN" altLang="en-US" b="1" dirty="0">
                <a:solidFill>
                  <a:srgbClr val="FF0000"/>
                </a:solidFill>
                <a:latin typeface="Arial" panose="020B0604020202020204" pitchFamily="34" charset="0"/>
              </a:rPr>
              <a:t>实体安全的内容</a:t>
            </a:r>
            <a:r>
              <a:rPr lang="zh-CN" altLang="en-US" b="1" dirty="0">
                <a:solidFill>
                  <a:schemeClr val="tx2"/>
                </a:solidFill>
                <a:latin typeface="Arial" panose="020B0604020202020204" pitchFamily="34" charset="0"/>
              </a:rPr>
              <a:t>主要包括环境安全、设备安全和媒体安全三个方面，主要指</a:t>
            </a:r>
            <a:r>
              <a:rPr lang="zh-CN" altLang="en-US" b="1" dirty="0">
                <a:solidFill>
                  <a:srgbClr val="FF0000"/>
                </a:solidFill>
                <a:latin typeface="Arial" panose="020B0604020202020204" pitchFamily="34" charset="0"/>
              </a:rPr>
              <a:t>五项防护</a:t>
            </a:r>
            <a:r>
              <a:rPr lang="zh-CN" altLang="en-US" b="1" dirty="0">
                <a:solidFill>
                  <a:schemeClr val="tx2"/>
                </a:solidFill>
                <a:latin typeface="Arial" panose="020B0604020202020204" pitchFamily="34" charset="0"/>
              </a:rPr>
              <a:t>（简称</a:t>
            </a:r>
            <a:r>
              <a:rPr lang="zh-CN" altLang="en-US" b="1" dirty="0">
                <a:solidFill>
                  <a:srgbClr val="FF0000"/>
                </a:solidFill>
                <a:latin typeface="Arial" panose="020B0604020202020204" pitchFamily="34" charset="0"/>
              </a:rPr>
              <a:t>5防</a:t>
            </a:r>
            <a:r>
              <a:rPr lang="zh-CN" altLang="en-US" b="1" dirty="0">
                <a:solidFill>
                  <a:schemeClr val="tx2"/>
                </a:solidFill>
                <a:latin typeface="Arial" panose="020B0604020202020204" pitchFamily="34" charset="0"/>
              </a:rPr>
              <a:t>）：防盗、防火、防静电、防雷击、防电磁泄漏。特别是，应当加强对重点数据中心、机房、服务器、网络及其相关设备和媒体等实体安全的防护。</a:t>
            </a:r>
            <a:endParaRPr lang="zh-CN" altLang="en-US" b="1" dirty="0">
              <a:solidFill>
                <a:schemeClr val="tx2"/>
              </a:solidFill>
              <a:latin typeface="Arial" panose="020B0604020202020204" pitchFamily="34" charset="0"/>
            </a:endParaRPr>
          </a:p>
        </p:txBody>
      </p:sp>
      <p:sp>
        <p:nvSpPr>
          <p:cNvPr id="61443" name="Rectangle 2"/>
          <p:cNvSpPr txBox="1">
            <a:spLocks noChangeArrowheads="1"/>
          </p:cNvSpPr>
          <p:nvPr/>
        </p:nvSpPr>
        <p:spPr bwMode="auto">
          <a:xfrm>
            <a:off x="457200" y="152400"/>
            <a:ext cx="8305800" cy="563563"/>
          </a:xfrm>
          <a:prstGeom prst="rect">
            <a:avLst/>
          </a:prstGeom>
          <a:noFill/>
          <a:ln w="9525">
            <a:noFill/>
            <a:miter lim="800000"/>
          </a:ln>
        </p:spPr>
        <p:txBody>
          <a:bodyPr anchor="ctr"/>
          <a:lstStyle/>
          <a:p>
            <a:pPr algn="ctr">
              <a:spcBef>
                <a:spcPct val="20000"/>
              </a:spcBef>
              <a:buFont typeface="Wingdings" panose="05000000000000000000" pitchFamily="2" charset="2"/>
              <a:buNone/>
            </a:pPr>
            <a:r>
              <a:rPr lang="en-US" altLang="zh-CN" sz="3200" b="1">
                <a:solidFill>
                  <a:schemeClr val="bg1"/>
                </a:solidFill>
              </a:rPr>
              <a:t>*1.5 </a:t>
            </a:r>
            <a:r>
              <a:rPr lang="zh-CN" altLang="en-US" sz="3200" b="1">
                <a:solidFill>
                  <a:schemeClr val="bg1"/>
                </a:solidFill>
              </a:rPr>
              <a:t> 实体安全与隔离技术</a:t>
            </a:r>
            <a:r>
              <a:rPr lang="zh-CN" altLang="en-US" b="1"/>
              <a:t> </a:t>
            </a:r>
            <a:endParaRPr lang="zh-CN" altLang="en-US" b="1"/>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文本框 1"/>
          <p:cNvSpPr txBox="1">
            <a:spLocks noChangeArrowheads="1"/>
          </p:cNvSpPr>
          <p:nvPr/>
        </p:nvSpPr>
        <p:spPr bwMode="auto">
          <a:xfrm>
            <a:off x="304800" y="1600200"/>
            <a:ext cx="8305800" cy="5016500"/>
          </a:xfrm>
          <a:prstGeom prst="rect">
            <a:avLst/>
          </a:prstGeom>
          <a:noFill/>
          <a:ln w="9525">
            <a:noFill/>
            <a:miter lim="800000"/>
          </a:ln>
        </p:spPr>
        <p:txBody>
          <a:bodyPr>
            <a:spAutoFit/>
          </a:bodyPr>
          <a:lstStyle/>
          <a:p>
            <a:pPr indent="457200">
              <a:buFont typeface="Wingdings" panose="05000000000000000000" pitchFamily="2" charset="2"/>
              <a:buNone/>
            </a:pPr>
            <a:r>
              <a:rPr lang="zh-CN" altLang="en-US" sz="2000" b="1">
                <a:solidFill>
                  <a:schemeClr val="tx2"/>
                </a:solidFill>
              </a:rPr>
              <a:t>1）防盗。由于网络核心部件是偷窃者的主要目标，而且，这些设备存放大量重要资料，被偷窃所造成的损失可能远远超过计算机及网络设备本身的价值，因此，必须采取严格防范措施，以确保计算机、服务器及网络等相关设备不丢失。</a:t>
            </a:r>
            <a:endParaRPr lang="zh-CN" altLang="en-US" sz="2000" b="1">
              <a:solidFill>
                <a:schemeClr val="tx2"/>
              </a:solidFill>
            </a:endParaRPr>
          </a:p>
          <a:p>
            <a:pPr indent="457200">
              <a:buFont typeface="Wingdings" panose="05000000000000000000" pitchFamily="2" charset="2"/>
              <a:buNone/>
            </a:pPr>
            <a:r>
              <a:rPr lang="zh-CN" altLang="en-US" sz="2000" b="1">
                <a:solidFill>
                  <a:schemeClr val="tx2"/>
                </a:solidFill>
              </a:rPr>
              <a:t>2）防火。网络中心的机房发生火灾一般是由于电气原因、人为事故或外部火灾蔓延等引起的。</a:t>
            </a:r>
            <a:endParaRPr lang="zh-CN" altLang="en-US" sz="2000" b="1">
              <a:solidFill>
                <a:schemeClr val="tx2"/>
              </a:solidFill>
            </a:endParaRPr>
          </a:p>
          <a:p>
            <a:pPr indent="457200">
              <a:buFont typeface="Wingdings" panose="05000000000000000000" pitchFamily="2" charset="2"/>
              <a:buNone/>
            </a:pPr>
            <a:r>
              <a:rPr lang="zh-CN" altLang="en-US" sz="2000" b="1">
                <a:solidFill>
                  <a:schemeClr val="tx2"/>
                </a:solidFill>
              </a:rPr>
              <a:t>3）防静电。一般静电由物体间的相互摩擦、接触而产生</a:t>
            </a:r>
            <a:r>
              <a:rPr lang="en-US" altLang="zh-CN" sz="2000" b="1">
                <a:solidFill>
                  <a:schemeClr val="tx2"/>
                </a:solidFill>
              </a:rPr>
              <a:t>,</a:t>
            </a:r>
            <a:r>
              <a:rPr lang="zh-CN" altLang="en-US" sz="2000" b="1">
                <a:solidFill>
                  <a:schemeClr val="tx2"/>
                </a:solidFill>
              </a:rPr>
              <a:t>计算机显示器也会产生很强的静电。静电产生后</a:t>
            </a:r>
            <a:r>
              <a:rPr lang="en-US" altLang="zh-CN" sz="2000" b="1">
                <a:solidFill>
                  <a:schemeClr val="tx2"/>
                </a:solidFill>
              </a:rPr>
              <a:t>,</a:t>
            </a:r>
            <a:r>
              <a:rPr lang="zh-CN" altLang="en-US" sz="2000" b="1">
                <a:solidFill>
                  <a:schemeClr val="tx2"/>
                </a:solidFill>
              </a:rPr>
              <a:t>由于未能释放而保留在物体内会有很高的电位其能量不断增加</a:t>
            </a:r>
            <a:r>
              <a:rPr lang="en-US" altLang="zh-CN" sz="2000" b="1">
                <a:solidFill>
                  <a:schemeClr val="tx2"/>
                </a:solidFill>
              </a:rPr>
              <a:t>,</a:t>
            </a:r>
            <a:r>
              <a:rPr lang="zh-CN" altLang="en-US" sz="2000" b="1">
                <a:solidFill>
                  <a:schemeClr val="tx2"/>
                </a:solidFill>
              </a:rPr>
              <a:t>从而产生静电放电火花，造成火灾，可能使大规模集成电器损坏。</a:t>
            </a:r>
            <a:endParaRPr lang="zh-CN" altLang="en-US" sz="2000" b="1">
              <a:solidFill>
                <a:schemeClr val="tx2"/>
              </a:solidFill>
            </a:endParaRPr>
          </a:p>
          <a:p>
            <a:pPr indent="457200">
              <a:buFont typeface="Wingdings" panose="05000000000000000000" pitchFamily="2" charset="2"/>
              <a:buNone/>
            </a:pPr>
            <a:r>
              <a:rPr lang="zh-CN" altLang="en-US" sz="2000" b="1">
                <a:solidFill>
                  <a:schemeClr val="tx2"/>
                </a:solidFill>
              </a:rPr>
              <a:t>4）防雷击。由于传统避雷针防雷，不仅增大雷击可能性，而且产生感应雷，可能使电子信息设备被损坏，也是易燃易爆物品被引燃起爆的主要原因。</a:t>
            </a:r>
            <a:endParaRPr lang="zh-CN" altLang="en-US" sz="2000" b="1">
              <a:solidFill>
                <a:schemeClr val="tx2"/>
              </a:solidFill>
            </a:endParaRPr>
          </a:p>
          <a:p>
            <a:pPr indent="457200">
              <a:buFont typeface="Wingdings" panose="05000000000000000000" pitchFamily="2" charset="2"/>
              <a:buNone/>
            </a:pPr>
            <a:r>
              <a:rPr lang="zh-CN" altLang="en-US" sz="2000" b="1">
                <a:solidFill>
                  <a:schemeClr val="tx2"/>
                </a:solidFill>
              </a:rPr>
              <a:t>5）防电磁泄漏。电脑、服务器及网络等设备，工作时会产生电磁发射。电磁发射主要包括辐射发射和传导发射</a:t>
            </a:r>
            <a:r>
              <a:rPr lang="en-US" altLang="zh-CN" sz="2000" b="1">
                <a:solidFill>
                  <a:schemeClr val="tx2"/>
                </a:solidFill>
              </a:rPr>
              <a:t>.</a:t>
            </a:r>
            <a:r>
              <a:rPr lang="zh-CN" altLang="en-US" sz="2000" b="1">
                <a:solidFill>
                  <a:schemeClr val="tx2"/>
                </a:solidFill>
              </a:rPr>
              <a:t>可能被高灵敏度的接收设备进行接收、分析、还原，造成信息泄露。</a:t>
            </a:r>
            <a:endParaRPr lang="zh-CN" altLang="en-US" sz="2000" b="1">
              <a:solidFill>
                <a:schemeClr val="tx2"/>
              </a:solidFill>
            </a:endParaRPr>
          </a:p>
        </p:txBody>
      </p:sp>
      <p:sp>
        <p:nvSpPr>
          <p:cNvPr id="62466" name="文本框 2"/>
          <p:cNvSpPr txBox="1">
            <a:spLocks noChangeArrowheads="1"/>
          </p:cNvSpPr>
          <p:nvPr/>
        </p:nvSpPr>
        <p:spPr bwMode="auto">
          <a:xfrm>
            <a:off x="533400" y="1295400"/>
            <a:ext cx="8099425" cy="400050"/>
          </a:xfrm>
          <a:prstGeom prst="rect">
            <a:avLst/>
          </a:prstGeom>
          <a:noFill/>
          <a:ln w="9525">
            <a:noFill/>
            <a:miter lim="800000"/>
          </a:ln>
        </p:spPr>
        <p:txBody>
          <a:bodyPr>
            <a:spAutoFit/>
          </a:bodyPr>
          <a:lstStyle/>
          <a:p>
            <a:pPr>
              <a:buFont typeface="Wingdings" panose="05000000000000000000" pitchFamily="2" charset="2"/>
              <a:buNone/>
            </a:pPr>
            <a:r>
              <a:rPr lang="zh-CN" altLang="en-US" sz="2000" b="1">
                <a:solidFill>
                  <a:srgbClr val="FF0000"/>
                </a:solidFill>
              </a:rPr>
              <a:t>     2. 实体安全的内容及措施</a:t>
            </a:r>
            <a:endParaRPr lang="zh-CN" altLang="en-US" sz="2000" b="1">
              <a:solidFill>
                <a:srgbClr val="FF0000"/>
              </a:solidFill>
            </a:endParaRPr>
          </a:p>
        </p:txBody>
      </p:sp>
      <p:sp>
        <p:nvSpPr>
          <p:cNvPr id="62467" name="AutoShape 6"/>
          <p:cNvSpPr>
            <a:spLocks noChangeArrowheads="1"/>
          </p:cNvSpPr>
          <p:nvPr/>
        </p:nvSpPr>
        <p:spPr bwMode="auto">
          <a:xfrm>
            <a:off x="152400" y="1143000"/>
            <a:ext cx="8610600" cy="5427663"/>
          </a:xfrm>
          <a:prstGeom prst="flowChartAlternateProcess">
            <a:avLst/>
          </a:prstGeom>
          <a:noFill/>
          <a:ln w="25400">
            <a:solidFill>
              <a:srgbClr val="1F38ED"/>
            </a:solidFill>
            <a:miter lim="800000"/>
          </a:ln>
        </p:spPr>
        <p:txBody>
          <a:bodyPr wrap="none" anchor="ctr"/>
          <a:lstStyle/>
          <a:p>
            <a:pPr>
              <a:buFont typeface="Wingdings" panose="05000000000000000000" pitchFamily="2" charset="2"/>
              <a:buNone/>
            </a:pPr>
            <a:endParaRPr lang="zh-CN" altLang="en-US" sz="2000" b="1"/>
          </a:p>
        </p:txBody>
      </p:sp>
      <p:sp>
        <p:nvSpPr>
          <p:cNvPr id="62468" name="Rectangle 2"/>
          <p:cNvSpPr txBox="1">
            <a:spLocks noChangeArrowheads="1"/>
          </p:cNvSpPr>
          <p:nvPr/>
        </p:nvSpPr>
        <p:spPr bwMode="auto">
          <a:xfrm>
            <a:off x="457200" y="152400"/>
            <a:ext cx="8305800" cy="563563"/>
          </a:xfrm>
          <a:prstGeom prst="rect">
            <a:avLst/>
          </a:prstGeom>
          <a:noFill/>
          <a:ln w="9525">
            <a:noFill/>
            <a:miter lim="800000"/>
          </a:ln>
        </p:spPr>
        <p:txBody>
          <a:bodyPr anchor="ctr"/>
          <a:lstStyle/>
          <a:p>
            <a:pPr algn="ctr">
              <a:spcBef>
                <a:spcPct val="20000"/>
              </a:spcBef>
              <a:buFont typeface="Wingdings" panose="05000000000000000000" pitchFamily="2" charset="2"/>
              <a:buNone/>
            </a:pPr>
            <a:r>
              <a:rPr lang="en-US" altLang="zh-CN" sz="3200" b="1">
                <a:solidFill>
                  <a:schemeClr val="bg1"/>
                </a:solidFill>
              </a:rPr>
              <a:t>*1.5 </a:t>
            </a:r>
            <a:r>
              <a:rPr lang="zh-CN" altLang="en-US" sz="3200" b="1">
                <a:solidFill>
                  <a:schemeClr val="bg1"/>
                </a:solidFill>
              </a:rPr>
              <a:t> 实体安全与隔离技术</a:t>
            </a:r>
            <a:r>
              <a:rPr lang="zh-CN" altLang="en-US" b="1"/>
              <a:t> </a:t>
            </a:r>
            <a:endParaRPr lang="zh-CN" altLang="en-US" b="1"/>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内容占位符 2"/>
          <p:cNvSpPr>
            <a:spLocks noGrp="1" noChangeArrowheads="1"/>
          </p:cNvSpPr>
          <p:nvPr>
            <p:ph idx="4294967295"/>
          </p:nvPr>
        </p:nvSpPr>
        <p:spPr>
          <a:xfrm>
            <a:off x="457200" y="1082675"/>
            <a:ext cx="8153400" cy="1152525"/>
          </a:xfrm>
        </p:spPr>
        <p:txBody>
          <a:bodyPr/>
          <a:lstStyle/>
          <a:p>
            <a:pPr>
              <a:buFont typeface="Wingdings" panose="05000000000000000000" pitchFamily="2" charset="2"/>
              <a:buNone/>
            </a:pPr>
            <a:r>
              <a:rPr lang="en-US" altLang="zh-CN" smtClean="0">
                <a:solidFill>
                  <a:srgbClr val="FF0000"/>
                </a:solidFill>
              </a:rPr>
              <a:t> </a:t>
            </a:r>
            <a:r>
              <a:rPr lang="en-US" altLang="zh-CN" sz="2800" smtClean="0">
                <a:solidFill>
                  <a:srgbClr val="FF0000"/>
                </a:solidFill>
              </a:rPr>
              <a:t>1.5.2 </a:t>
            </a:r>
            <a:r>
              <a:rPr lang="zh-CN" altLang="en-US" sz="2800" smtClean="0">
                <a:solidFill>
                  <a:srgbClr val="FF0000"/>
                </a:solidFill>
              </a:rPr>
              <a:t>媒体安全与物理隔离技术</a:t>
            </a:r>
            <a:r>
              <a:rPr lang="zh-CN" altLang="en-US" sz="2800" smtClean="0"/>
              <a:t> </a:t>
            </a:r>
            <a:r>
              <a:rPr lang="en-US" altLang="zh-CN" sz="2800" smtClean="0"/>
              <a:t> </a:t>
            </a:r>
            <a:endParaRPr lang="en-US" altLang="zh-CN" sz="2800" smtClean="0"/>
          </a:p>
          <a:p>
            <a:pPr>
              <a:buFont typeface="Wingdings" panose="05000000000000000000" pitchFamily="2" charset="2"/>
              <a:buNone/>
            </a:pPr>
            <a:r>
              <a:rPr lang="en-US" altLang="zh-CN" sz="2800" smtClean="0">
                <a:solidFill>
                  <a:srgbClr val="009900"/>
                </a:solidFill>
              </a:rPr>
              <a:t>  </a:t>
            </a:r>
            <a:r>
              <a:rPr lang="en-US" altLang="zh-CN" sz="2800" smtClean="0">
                <a:solidFill>
                  <a:srgbClr val="CC0000"/>
                </a:solidFill>
              </a:rPr>
              <a:t>1. </a:t>
            </a:r>
            <a:r>
              <a:rPr lang="zh-CN" altLang="en-US" sz="2800" smtClean="0">
                <a:solidFill>
                  <a:srgbClr val="CC0000"/>
                </a:solidFill>
              </a:rPr>
              <a:t>媒体及其数据的安全保护</a:t>
            </a:r>
            <a:endParaRPr lang="zh-CN" altLang="en-US" sz="2800" smtClean="0">
              <a:solidFill>
                <a:srgbClr val="CC0000"/>
              </a:solidFill>
            </a:endParaRPr>
          </a:p>
        </p:txBody>
      </p:sp>
      <p:sp>
        <p:nvSpPr>
          <p:cNvPr id="63490" name="圆角矩形 4"/>
          <p:cNvSpPr>
            <a:spLocks noChangeArrowheads="1"/>
          </p:cNvSpPr>
          <p:nvPr/>
        </p:nvSpPr>
        <p:spPr bwMode="auto">
          <a:xfrm>
            <a:off x="358775" y="2235200"/>
            <a:ext cx="8532813" cy="4470400"/>
          </a:xfrm>
          <a:prstGeom prst="roundRect">
            <a:avLst>
              <a:gd name="adj" fmla="val 16667"/>
            </a:avLst>
          </a:prstGeom>
          <a:solidFill>
            <a:schemeClr val="bg1"/>
          </a:solidFill>
          <a:ln w="25400">
            <a:solidFill>
              <a:srgbClr val="1F38ED"/>
            </a:solidFill>
            <a:round/>
          </a:ln>
        </p:spPr>
        <p:txBody>
          <a:bodyPr anchor="ctr" anchorCtr="1"/>
          <a:lstStyle/>
          <a:p>
            <a:pPr indent="457200">
              <a:buFont typeface="Wingdings" panose="05000000000000000000" pitchFamily="2" charset="2"/>
              <a:buNone/>
            </a:pPr>
            <a:r>
              <a:rPr lang="zh-CN" altLang="en-US" sz="2000" b="1">
                <a:solidFill>
                  <a:srgbClr val="FF0000"/>
                </a:solidFill>
              </a:rPr>
              <a:t>1. 媒体及其数据的安全保护</a:t>
            </a:r>
            <a:endParaRPr lang="zh-CN" altLang="en-US" sz="2000" b="1">
              <a:solidFill>
                <a:srgbClr val="FF0000"/>
              </a:solidFill>
            </a:endParaRPr>
          </a:p>
          <a:p>
            <a:pPr indent="457200">
              <a:buFont typeface="Wingdings" panose="05000000000000000000" pitchFamily="2" charset="2"/>
              <a:buNone/>
            </a:pPr>
            <a:r>
              <a:rPr lang="zh-CN" altLang="en-US" sz="2000" b="1">
                <a:solidFill>
                  <a:schemeClr val="tx2"/>
                </a:solidFill>
              </a:rPr>
              <a:t>媒体及其数据安全保护, 是指对媒体数据和媒体本身的安全保护。</a:t>
            </a:r>
            <a:endParaRPr lang="zh-CN" altLang="en-US" sz="2000" b="1">
              <a:solidFill>
                <a:schemeClr val="tx2"/>
              </a:solidFill>
            </a:endParaRPr>
          </a:p>
          <a:p>
            <a:pPr indent="457200">
              <a:buFont typeface="Wingdings" panose="05000000000000000000" pitchFamily="2" charset="2"/>
              <a:buNone/>
            </a:pPr>
            <a:r>
              <a:rPr lang="zh-CN" altLang="en-US" sz="2000" b="1">
                <a:solidFill>
                  <a:schemeClr val="tx2"/>
                </a:solidFill>
              </a:rPr>
              <a:t>1) 媒体安全。</a:t>
            </a:r>
            <a:r>
              <a:rPr lang="zh-CN" altLang="en-US" sz="2000" b="1">
                <a:solidFill>
                  <a:srgbClr val="FF0000"/>
                </a:solidFill>
              </a:rPr>
              <a:t>媒体安全</a:t>
            </a:r>
            <a:r>
              <a:rPr lang="zh-CN" altLang="en-US" sz="2000" b="1">
                <a:solidFill>
                  <a:schemeClr val="tx2"/>
                </a:solidFill>
              </a:rPr>
              <a:t>主要指对媒体及其数据的安全保管，目的是保护存储在媒体上重要资料。</a:t>
            </a:r>
            <a:endParaRPr lang="zh-CN" altLang="en-US" sz="2000" b="1">
              <a:solidFill>
                <a:schemeClr val="tx2"/>
              </a:solidFill>
            </a:endParaRPr>
          </a:p>
          <a:p>
            <a:pPr indent="457200">
              <a:buFont typeface="Wingdings" panose="05000000000000000000" pitchFamily="2" charset="2"/>
              <a:buNone/>
            </a:pPr>
            <a:r>
              <a:rPr lang="zh-CN" altLang="en-US" sz="2000" b="1">
                <a:solidFill>
                  <a:srgbClr val="FF0000"/>
                </a:solidFill>
              </a:rPr>
              <a:t>保护媒体的安全措施</a:t>
            </a:r>
            <a:r>
              <a:rPr lang="zh-CN" altLang="en-US" sz="2000" b="1">
                <a:solidFill>
                  <a:schemeClr val="tx2"/>
                </a:solidFill>
              </a:rPr>
              <a:t>主要有两个方面：媒体的防盗与防毁，防毁指防霉和防砸及其他可能的破坏或影响。</a:t>
            </a:r>
            <a:endParaRPr lang="zh-CN" altLang="en-US" sz="2000" b="1">
              <a:solidFill>
                <a:schemeClr val="tx2"/>
              </a:solidFill>
            </a:endParaRPr>
          </a:p>
          <a:p>
            <a:pPr indent="457200">
              <a:buFont typeface="Wingdings" panose="05000000000000000000" pitchFamily="2" charset="2"/>
              <a:buNone/>
            </a:pPr>
            <a:r>
              <a:rPr lang="zh-CN" altLang="en-US" sz="2000" b="1">
                <a:solidFill>
                  <a:schemeClr val="tx2"/>
                </a:solidFill>
              </a:rPr>
              <a:t>2) 媒体数据安全</a:t>
            </a:r>
            <a:r>
              <a:rPr lang="en-US" altLang="zh-CN" sz="2000" b="1">
                <a:solidFill>
                  <a:schemeClr val="tx2"/>
                </a:solidFill>
              </a:rPr>
              <a:t>.</a:t>
            </a:r>
            <a:r>
              <a:rPr lang="zh-CN" altLang="en-US" sz="2000" b="1">
                <a:solidFill>
                  <a:srgbClr val="FF0000"/>
                </a:solidFill>
              </a:rPr>
              <a:t>媒体数据安全</a:t>
            </a:r>
            <a:r>
              <a:rPr lang="zh-CN" altLang="en-US" sz="2000" b="1">
                <a:solidFill>
                  <a:schemeClr val="tx2"/>
                </a:solidFill>
              </a:rPr>
              <a:t>主要指对媒体数据的保护</a:t>
            </a:r>
            <a:r>
              <a:rPr lang="en-US" altLang="zh-CN" sz="2000" b="1">
                <a:solidFill>
                  <a:schemeClr val="tx2"/>
                </a:solidFill>
              </a:rPr>
              <a:t>.</a:t>
            </a:r>
            <a:r>
              <a:rPr lang="zh-CN" altLang="en-US" sz="2000" b="1">
                <a:solidFill>
                  <a:schemeClr val="tx2"/>
                </a:solidFill>
              </a:rPr>
              <a:t>为了防止被删除或被销毁的敏感数据被他人恢复</a:t>
            </a:r>
            <a:r>
              <a:rPr lang="en-US" altLang="zh-CN" sz="2000" b="1">
                <a:solidFill>
                  <a:schemeClr val="tx2"/>
                </a:solidFill>
              </a:rPr>
              <a:t>,</a:t>
            </a:r>
            <a:r>
              <a:rPr lang="zh-CN" altLang="en-US" sz="2000" b="1">
                <a:solidFill>
                  <a:schemeClr val="tx2"/>
                </a:solidFill>
              </a:rPr>
              <a:t>必须对媒体机密数据进行安全删除或安全销毁</a:t>
            </a:r>
            <a:r>
              <a:rPr lang="en-US" altLang="zh-CN" sz="2000" b="1">
                <a:solidFill>
                  <a:schemeClr val="tx2"/>
                </a:solidFill>
              </a:rPr>
              <a:t>.</a:t>
            </a:r>
            <a:endParaRPr lang="zh-CN" altLang="en-US" sz="2000" b="1">
              <a:solidFill>
                <a:schemeClr val="tx2"/>
              </a:solidFill>
            </a:endParaRPr>
          </a:p>
          <a:p>
            <a:pPr indent="457200">
              <a:buFont typeface="Wingdings" panose="05000000000000000000" pitchFamily="2" charset="2"/>
              <a:buNone/>
            </a:pPr>
            <a:r>
              <a:rPr lang="zh-CN" altLang="en-US" sz="2000" b="1">
                <a:solidFill>
                  <a:srgbClr val="FF0000"/>
                </a:solidFill>
              </a:rPr>
              <a:t>保护媒体数据安全的措施</a:t>
            </a:r>
            <a:r>
              <a:rPr lang="zh-CN" altLang="en-US" sz="2000" b="1">
                <a:solidFill>
                  <a:schemeClr val="tx2"/>
                </a:solidFill>
              </a:rPr>
              <a:t>主要有三个方面：</a:t>
            </a:r>
            <a:endParaRPr lang="zh-CN" altLang="en-US" sz="2000" b="1">
              <a:solidFill>
                <a:schemeClr val="tx2"/>
              </a:solidFill>
            </a:endParaRPr>
          </a:p>
          <a:p>
            <a:pPr indent="457200">
              <a:buFont typeface="Wingdings" panose="05000000000000000000" pitchFamily="2" charset="2"/>
              <a:buNone/>
            </a:pPr>
            <a:r>
              <a:rPr lang="zh-CN" altLang="en-US" sz="2000" b="1">
                <a:solidFill>
                  <a:schemeClr val="tx2"/>
                </a:solidFill>
              </a:rPr>
              <a:t>1）媒体数据的防盗，如防止媒体数据被非法拷贝；</a:t>
            </a:r>
            <a:endParaRPr lang="zh-CN" altLang="en-US" sz="2000" b="1">
              <a:solidFill>
                <a:schemeClr val="tx2"/>
              </a:solidFill>
            </a:endParaRPr>
          </a:p>
          <a:p>
            <a:pPr indent="457200">
              <a:buFont typeface="Wingdings" panose="05000000000000000000" pitchFamily="2" charset="2"/>
              <a:buNone/>
            </a:pPr>
            <a:r>
              <a:rPr lang="zh-CN" altLang="en-US" sz="2000" b="1">
                <a:solidFill>
                  <a:schemeClr val="tx2"/>
                </a:solidFill>
              </a:rPr>
              <a:t> 2）媒体数据的销毁，包括媒体的物理销毁（如媒体粉碎等）和媒体数据的彻底销毁（如消磁等），防止媒体数据删除或销毁后被他人恢复而泄露信息；</a:t>
            </a:r>
            <a:endParaRPr lang="zh-CN" altLang="en-US" sz="2000" b="1">
              <a:solidFill>
                <a:schemeClr val="tx2"/>
              </a:solidFill>
            </a:endParaRPr>
          </a:p>
          <a:p>
            <a:pPr indent="457200">
              <a:buFont typeface="Wingdings" panose="05000000000000000000" pitchFamily="2" charset="2"/>
              <a:buNone/>
            </a:pPr>
            <a:r>
              <a:rPr lang="zh-CN" altLang="en-US" sz="2000" b="1">
                <a:solidFill>
                  <a:schemeClr val="tx2"/>
                </a:solidFill>
              </a:rPr>
              <a:t>3）媒体数据的防毁，防止媒体数据的损坏或丢失等。</a:t>
            </a:r>
            <a:endParaRPr lang="zh-CN" altLang="en-US" sz="2000" b="1">
              <a:solidFill>
                <a:schemeClr val="tx2"/>
              </a:solidFill>
            </a:endParaRPr>
          </a:p>
        </p:txBody>
      </p:sp>
      <p:pic>
        <p:nvPicPr>
          <p:cNvPr id="63491" name="Picture 5" descr="j0285750"/>
          <p:cNvPicPr>
            <a:picLocks noChangeAspect="1" noChangeArrowheads="1"/>
          </p:cNvPicPr>
          <p:nvPr/>
        </p:nvPicPr>
        <p:blipFill>
          <a:blip r:embed="rId1" cstate="print"/>
          <a:srcRect/>
          <a:stretch>
            <a:fillRect/>
          </a:stretch>
        </p:blipFill>
        <p:spPr bwMode="auto">
          <a:xfrm>
            <a:off x="6937375" y="1652588"/>
            <a:ext cx="1524000" cy="936625"/>
          </a:xfrm>
          <a:prstGeom prst="rect">
            <a:avLst/>
          </a:prstGeom>
          <a:noFill/>
          <a:ln w="9525">
            <a:noFill/>
            <a:miter lim="800000"/>
            <a:headEnd/>
            <a:tailEnd/>
          </a:ln>
        </p:spPr>
      </p:pic>
      <p:sp>
        <p:nvSpPr>
          <p:cNvPr id="63492" name="Rectangle 2"/>
          <p:cNvSpPr txBox="1">
            <a:spLocks noChangeArrowheads="1"/>
          </p:cNvSpPr>
          <p:nvPr/>
        </p:nvSpPr>
        <p:spPr bwMode="auto">
          <a:xfrm>
            <a:off x="457200" y="152400"/>
            <a:ext cx="8305800" cy="563563"/>
          </a:xfrm>
          <a:prstGeom prst="rect">
            <a:avLst/>
          </a:prstGeom>
          <a:noFill/>
          <a:ln w="9525">
            <a:noFill/>
            <a:miter lim="800000"/>
          </a:ln>
        </p:spPr>
        <p:txBody>
          <a:bodyPr anchor="ctr"/>
          <a:lstStyle/>
          <a:p>
            <a:pPr algn="ctr">
              <a:spcBef>
                <a:spcPct val="20000"/>
              </a:spcBef>
              <a:buFont typeface="Wingdings" panose="05000000000000000000" pitchFamily="2" charset="2"/>
              <a:buNone/>
            </a:pPr>
            <a:r>
              <a:rPr lang="en-US" altLang="zh-CN" sz="3200" b="1">
                <a:solidFill>
                  <a:schemeClr val="bg1"/>
                </a:solidFill>
              </a:rPr>
              <a:t>*1.5 </a:t>
            </a:r>
            <a:r>
              <a:rPr lang="zh-CN" altLang="en-US" sz="3200" b="1">
                <a:solidFill>
                  <a:schemeClr val="bg1"/>
                </a:solidFill>
              </a:rPr>
              <a:t> 实体安全与隔离技术</a:t>
            </a:r>
            <a:r>
              <a:rPr lang="zh-CN" altLang="en-US" b="1"/>
              <a:t> </a:t>
            </a:r>
            <a:endParaRPr lang="zh-CN" altLang="en-US" b="1"/>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内容占位符 2"/>
          <p:cNvSpPr>
            <a:spLocks noGrp="1" noChangeArrowheads="1"/>
          </p:cNvSpPr>
          <p:nvPr>
            <p:ph idx="4294967295"/>
          </p:nvPr>
        </p:nvSpPr>
        <p:spPr>
          <a:xfrm>
            <a:off x="354013" y="1143000"/>
            <a:ext cx="8789987" cy="647700"/>
          </a:xfrm>
        </p:spPr>
        <p:txBody>
          <a:bodyPr/>
          <a:lstStyle/>
          <a:p>
            <a:pPr>
              <a:buFont typeface="Wingdings" panose="05000000000000000000" pitchFamily="2" charset="2"/>
              <a:buNone/>
            </a:pPr>
            <a:r>
              <a:rPr lang="en-US" altLang="zh-CN" sz="2400" smtClean="0">
                <a:solidFill>
                  <a:srgbClr val="FF0000"/>
                </a:solidFill>
              </a:rPr>
              <a:t> 1.5.2 </a:t>
            </a:r>
            <a:r>
              <a:rPr lang="zh-CN" altLang="en-US" sz="2400" smtClean="0">
                <a:solidFill>
                  <a:srgbClr val="FF0000"/>
                </a:solidFill>
              </a:rPr>
              <a:t>媒体安全与物理隔离技术</a:t>
            </a:r>
            <a:r>
              <a:rPr lang="zh-CN" altLang="en-US" sz="2400" smtClean="0"/>
              <a:t> </a:t>
            </a:r>
            <a:endParaRPr lang="zh-CN" altLang="en-US" sz="2400" smtClean="0"/>
          </a:p>
        </p:txBody>
      </p:sp>
      <p:sp>
        <p:nvSpPr>
          <p:cNvPr id="5" name="圆角矩形 4"/>
          <p:cNvSpPr/>
          <p:nvPr/>
        </p:nvSpPr>
        <p:spPr bwMode="gray">
          <a:xfrm>
            <a:off x="457200" y="1676400"/>
            <a:ext cx="8534400" cy="4572000"/>
          </a:xfrm>
          <a:prstGeom prst="roundRect">
            <a:avLst/>
          </a:prstGeom>
        </p:spPr>
        <p:style>
          <a:lnRef idx="2">
            <a:schemeClr val="accent1"/>
          </a:lnRef>
          <a:fillRef idx="1">
            <a:schemeClr val="lt1"/>
          </a:fillRef>
          <a:effectRef idx="0">
            <a:schemeClr val="accent1"/>
          </a:effectRef>
          <a:fontRef idx="minor">
            <a:schemeClr val="dk1"/>
          </a:fontRef>
        </p:style>
        <p:txBody>
          <a:bodyPr anchor="ctr" anchorCtr="1"/>
          <a:lstStyle/>
          <a:p>
            <a:pPr indent="457200">
              <a:lnSpc>
                <a:spcPct val="90000"/>
              </a:lnSpc>
              <a:spcBef>
                <a:spcPct val="20000"/>
              </a:spcBef>
              <a:spcAft>
                <a:spcPct val="25000"/>
              </a:spcAft>
              <a:defRPr/>
            </a:pPr>
            <a:r>
              <a:rPr lang="en-US" altLang="zh-CN" sz="2200" b="1" dirty="0">
                <a:solidFill>
                  <a:srgbClr val="CC0000"/>
                </a:solidFill>
                <a:latin typeface="Arial" panose="020B0604020202020204" pitchFamily="34" charset="0"/>
              </a:rPr>
              <a:t>2. </a:t>
            </a:r>
            <a:r>
              <a:rPr lang="zh-CN" altLang="en-US" sz="2200" b="1" dirty="0">
                <a:solidFill>
                  <a:srgbClr val="CC0000"/>
                </a:solidFill>
                <a:latin typeface="Arial" panose="020B0604020202020204" pitchFamily="34" charset="0"/>
              </a:rPr>
              <a:t>物理隔离技术</a:t>
            </a:r>
            <a:endParaRPr lang="zh-CN" altLang="en-US" sz="2200" b="1" dirty="0">
              <a:solidFill>
                <a:srgbClr val="CC0000"/>
              </a:solidFill>
              <a:latin typeface="Arial" panose="020B0604020202020204" pitchFamily="34" charset="0"/>
            </a:endParaRPr>
          </a:p>
          <a:p>
            <a:pPr indent="457200">
              <a:lnSpc>
                <a:spcPct val="90000"/>
              </a:lnSpc>
              <a:spcBef>
                <a:spcPct val="20000"/>
              </a:spcBef>
              <a:defRPr/>
            </a:pPr>
            <a:r>
              <a:rPr lang="zh-CN" altLang="en-US" sz="2200" b="1" dirty="0">
                <a:solidFill>
                  <a:srgbClr val="FF0000"/>
                </a:solidFill>
                <a:latin typeface="Arial" panose="020B0604020202020204" pitchFamily="34" charset="0"/>
              </a:rPr>
              <a:t>物理隔离技术</a:t>
            </a:r>
            <a:r>
              <a:rPr lang="zh-CN" altLang="en-US" sz="2200" b="1" dirty="0">
                <a:solidFill>
                  <a:schemeClr val="tx2"/>
                </a:solidFill>
                <a:latin typeface="Arial" panose="020B0604020202020204" pitchFamily="34" charset="0"/>
              </a:rPr>
              <a:t>是一种以隔离方式进行防护的手段。</a:t>
            </a:r>
            <a:r>
              <a:rPr lang="zh-CN" altLang="en-US" sz="2200" b="1" dirty="0">
                <a:solidFill>
                  <a:srgbClr val="FF0000"/>
                </a:solidFill>
                <a:latin typeface="Arial" panose="020B0604020202020204" pitchFamily="34" charset="0"/>
              </a:rPr>
              <a:t>目的</a:t>
            </a:r>
            <a:r>
              <a:rPr lang="zh-CN" altLang="en-US" sz="2200" b="1" dirty="0">
                <a:solidFill>
                  <a:schemeClr val="tx2"/>
                </a:solidFill>
                <a:latin typeface="Arial" panose="020B0604020202020204" pitchFamily="34" charset="0"/>
              </a:rPr>
              <a:t>是在现有安全技术的基础上，将威胁隔离在可信网络之外，保证可信网络内部信息安全的前提下，完成内外网络数据的安全交换。</a:t>
            </a:r>
            <a:endParaRPr lang="zh-CN" altLang="en-US" sz="2200" b="1" dirty="0">
              <a:solidFill>
                <a:schemeClr val="tx2"/>
              </a:solidFill>
              <a:latin typeface="Arial" panose="020B0604020202020204" pitchFamily="34" charset="0"/>
            </a:endParaRPr>
          </a:p>
          <a:p>
            <a:pPr indent="457200">
              <a:lnSpc>
                <a:spcPct val="90000"/>
              </a:lnSpc>
              <a:spcBef>
                <a:spcPct val="20000"/>
              </a:spcBef>
              <a:defRPr/>
            </a:pPr>
            <a:r>
              <a:rPr lang="zh-CN" altLang="en-US" sz="2200" b="1" dirty="0">
                <a:solidFill>
                  <a:schemeClr val="tx2"/>
                </a:solidFill>
                <a:latin typeface="Arial" panose="020B0604020202020204" pitchFamily="34" charset="0"/>
              </a:rPr>
              <a:t>(1) 物理隔离的安全要求</a:t>
            </a:r>
            <a:endParaRPr lang="zh-CN" altLang="en-US" sz="2200" b="1" dirty="0">
              <a:solidFill>
                <a:schemeClr val="tx2"/>
              </a:solidFill>
              <a:latin typeface="Arial" panose="020B0604020202020204" pitchFamily="34" charset="0"/>
            </a:endParaRPr>
          </a:p>
          <a:p>
            <a:pPr indent="457200">
              <a:lnSpc>
                <a:spcPct val="90000"/>
              </a:lnSpc>
              <a:spcBef>
                <a:spcPct val="20000"/>
              </a:spcBef>
              <a:defRPr/>
            </a:pPr>
            <a:r>
              <a:rPr lang="zh-CN" altLang="en-US" sz="2200" b="1" dirty="0">
                <a:solidFill>
                  <a:srgbClr val="FF0000"/>
                </a:solidFill>
                <a:latin typeface="Arial" panose="020B0604020202020204" pitchFamily="34" charset="0"/>
              </a:rPr>
              <a:t>物理隔离的安全</a:t>
            </a:r>
            <a:r>
              <a:rPr lang="zh-CN" altLang="en-US" sz="2200" b="1" dirty="0">
                <a:solidFill>
                  <a:schemeClr val="tx2"/>
                </a:solidFill>
                <a:latin typeface="Arial" panose="020B0604020202020204" pitchFamily="34" charset="0"/>
              </a:rPr>
              <a:t>要求主要有3点：</a:t>
            </a:r>
            <a:endParaRPr lang="zh-CN" altLang="en-US" sz="2200" b="1" dirty="0">
              <a:solidFill>
                <a:schemeClr val="tx2"/>
              </a:solidFill>
              <a:latin typeface="Arial" panose="020B0604020202020204" pitchFamily="34" charset="0"/>
            </a:endParaRPr>
          </a:p>
          <a:p>
            <a:pPr indent="457200">
              <a:lnSpc>
                <a:spcPct val="90000"/>
              </a:lnSpc>
              <a:spcBef>
                <a:spcPct val="20000"/>
              </a:spcBef>
              <a:defRPr/>
            </a:pPr>
            <a:r>
              <a:rPr lang="zh-CN" altLang="en-US" sz="2200" b="1" dirty="0">
                <a:solidFill>
                  <a:schemeClr val="tx2"/>
                </a:solidFill>
                <a:latin typeface="Arial" panose="020B0604020202020204" pitchFamily="34" charset="0"/>
              </a:rPr>
              <a:t>1）隔断内外网络传导。在物理传导上使内外网络隔断，确保外部网不能通过网络连接而侵入内部网；同时防止内部网信息通过网络连接泄漏到外部网。</a:t>
            </a:r>
            <a:endParaRPr lang="zh-CN" altLang="en-US" sz="2200" b="1" dirty="0">
              <a:solidFill>
                <a:schemeClr val="tx2"/>
              </a:solidFill>
              <a:latin typeface="Arial" panose="020B0604020202020204" pitchFamily="34" charset="0"/>
            </a:endParaRPr>
          </a:p>
          <a:p>
            <a:pPr indent="457200">
              <a:lnSpc>
                <a:spcPct val="90000"/>
              </a:lnSpc>
              <a:spcBef>
                <a:spcPct val="20000"/>
              </a:spcBef>
              <a:defRPr/>
            </a:pPr>
            <a:r>
              <a:rPr lang="zh-CN" altLang="en-US" sz="2200" b="1" dirty="0">
                <a:solidFill>
                  <a:schemeClr val="tx2"/>
                </a:solidFill>
                <a:latin typeface="Arial" panose="020B0604020202020204" pitchFamily="34" charset="0"/>
              </a:rPr>
              <a:t>2）隔断内外网络辐射。在物理辐射上隔断内部网与外部网，确保内部网信息不会通过电磁辐射或耦合方式泄漏到外部网。</a:t>
            </a:r>
            <a:endParaRPr lang="zh-CN" altLang="en-US" sz="2200" b="1" dirty="0">
              <a:solidFill>
                <a:schemeClr val="tx2"/>
              </a:solidFill>
              <a:latin typeface="Arial" panose="020B0604020202020204" pitchFamily="34" charset="0"/>
            </a:endParaRPr>
          </a:p>
          <a:p>
            <a:pPr indent="457200">
              <a:lnSpc>
                <a:spcPct val="90000"/>
              </a:lnSpc>
              <a:spcBef>
                <a:spcPct val="20000"/>
              </a:spcBef>
              <a:defRPr/>
            </a:pPr>
            <a:r>
              <a:rPr lang="zh-CN" altLang="en-US" sz="2200" b="1" dirty="0">
                <a:solidFill>
                  <a:schemeClr val="tx2"/>
                </a:solidFill>
                <a:latin typeface="Arial" panose="020B0604020202020204" pitchFamily="34" charset="0"/>
              </a:rPr>
              <a:t>3）隔断不同存储环境。在物理存储上隔断两个网络环境，对于断电后会遗失信息的部件，如内存等。</a:t>
            </a:r>
            <a:endParaRPr lang="zh-CN" altLang="en-US" sz="2200" b="1" dirty="0">
              <a:solidFill>
                <a:schemeClr val="tx2"/>
              </a:solidFill>
              <a:latin typeface="Arial" panose="020B0604020202020204" pitchFamily="34" charset="0"/>
            </a:endParaRPr>
          </a:p>
        </p:txBody>
      </p:sp>
      <p:sp>
        <p:nvSpPr>
          <p:cNvPr id="64515" name="Rectangle 2"/>
          <p:cNvSpPr txBox="1">
            <a:spLocks noChangeArrowheads="1"/>
          </p:cNvSpPr>
          <p:nvPr/>
        </p:nvSpPr>
        <p:spPr bwMode="auto">
          <a:xfrm>
            <a:off x="457200" y="152400"/>
            <a:ext cx="8305800" cy="563563"/>
          </a:xfrm>
          <a:prstGeom prst="rect">
            <a:avLst/>
          </a:prstGeom>
          <a:noFill/>
          <a:ln w="9525">
            <a:noFill/>
            <a:miter lim="800000"/>
          </a:ln>
        </p:spPr>
        <p:txBody>
          <a:bodyPr anchor="ctr"/>
          <a:lstStyle/>
          <a:p>
            <a:pPr algn="ctr">
              <a:spcBef>
                <a:spcPct val="20000"/>
              </a:spcBef>
              <a:buFont typeface="Wingdings" panose="05000000000000000000" pitchFamily="2" charset="2"/>
              <a:buNone/>
            </a:pPr>
            <a:r>
              <a:rPr lang="en-US" altLang="zh-CN" sz="3200" b="1">
                <a:solidFill>
                  <a:schemeClr val="bg1"/>
                </a:solidFill>
              </a:rPr>
              <a:t>*1.5 </a:t>
            </a:r>
            <a:r>
              <a:rPr lang="zh-CN" altLang="en-US" sz="3200" b="1">
                <a:solidFill>
                  <a:schemeClr val="bg1"/>
                </a:solidFill>
              </a:rPr>
              <a:t> 实体安全与隔离技术</a:t>
            </a:r>
            <a:r>
              <a:rPr lang="zh-CN" altLang="en-US" b="1"/>
              <a:t> </a:t>
            </a:r>
            <a:endParaRPr lang="zh-CN" altLang="en-US" b="1"/>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内容占位符 2"/>
          <p:cNvSpPr>
            <a:spLocks noGrp="1" noChangeArrowheads="1"/>
          </p:cNvSpPr>
          <p:nvPr/>
        </p:nvSpPr>
        <p:spPr bwMode="auto">
          <a:xfrm>
            <a:off x="533400" y="1143000"/>
            <a:ext cx="8153400" cy="647700"/>
          </a:xfrm>
          <a:prstGeom prst="rect">
            <a:avLst/>
          </a:prstGeom>
          <a:noFill/>
          <a:ln w="9525">
            <a:noFill/>
            <a:miter lim="800000"/>
          </a:ln>
        </p:spPr>
        <p:txBody>
          <a:bodyPr/>
          <a:lstStyle/>
          <a:p>
            <a:pPr marL="342900" indent="-342900" eaLnBrk="0" hangingPunct="0">
              <a:buClr>
                <a:schemeClr val="hlink"/>
              </a:buClr>
              <a:buFont typeface="Wingdings" panose="05000000000000000000" pitchFamily="2" charset="2"/>
              <a:buNone/>
            </a:pPr>
            <a:r>
              <a:rPr lang="en-US" altLang="zh-CN" sz="2200" b="1">
                <a:solidFill>
                  <a:srgbClr val="FF0000"/>
                </a:solidFill>
                <a:latin typeface="宋体" panose="02010600030101010101" pitchFamily="2" charset="-122"/>
              </a:rPr>
              <a:t> </a:t>
            </a:r>
            <a:r>
              <a:rPr lang="en-US" altLang="zh-CN" sz="2800" b="1">
                <a:solidFill>
                  <a:srgbClr val="FF0000"/>
                </a:solidFill>
                <a:latin typeface="宋体" panose="02010600030101010101" pitchFamily="2" charset="-122"/>
              </a:rPr>
              <a:t>1.5.2 </a:t>
            </a:r>
            <a:r>
              <a:rPr lang="zh-CN" altLang="en-US" sz="2800" b="1">
                <a:solidFill>
                  <a:srgbClr val="FF0000"/>
                </a:solidFill>
              </a:rPr>
              <a:t>媒体安全与物理隔离技术</a:t>
            </a:r>
            <a:r>
              <a:rPr lang="zh-CN" altLang="en-US" sz="2800" b="1">
                <a:solidFill>
                  <a:schemeClr val="tx2"/>
                </a:solidFill>
              </a:rPr>
              <a:t> </a:t>
            </a:r>
            <a:endParaRPr lang="zh-CN" altLang="en-US" sz="2800" b="1">
              <a:solidFill>
                <a:schemeClr val="tx2"/>
              </a:solidFill>
            </a:endParaRPr>
          </a:p>
        </p:txBody>
      </p:sp>
      <p:sp>
        <p:nvSpPr>
          <p:cNvPr id="167" name=" 167"/>
          <p:cNvSpPr/>
          <p:nvPr/>
        </p:nvSpPr>
        <p:spPr>
          <a:xfrm>
            <a:off x="457200" y="1752599"/>
            <a:ext cx="8458200" cy="4952999"/>
          </a:xfrm>
          <a:prstGeom prst="roundRect">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buFont typeface="Wingdings" panose="05000000000000000000" pitchFamily="2" charset="2"/>
              <a:buNone/>
              <a:defRPr/>
            </a:pPr>
            <a:r>
              <a:rPr lang="zh-CN" altLang="en-US" sz="2200" b="1" noProof="1">
                <a:solidFill>
                  <a:schemeClr val="tx2"/>
                </a:solidFill>
              </a:rPr>
              <a:t>(2) 物理隔离技术的三个阶段</a:t>
            </a:r>
            <a:endParaRPr lang="zh-CN" altLang="en-US" sz="2200" b="1" noProof="1">
              <a:solidFill>
                <a:schemeClr val="tx2"/>
              </a:solidFill>
            </a:endParaRPr>
          </a:p>
          <a:p>
            <a:pPr indent="457200" eaLnBrk="1" fontAlgn="auto" hangingPunct="1">
              <a:spcBef>
                <a:spcPts val="0"/>
              </a:spcBef>
              <a:spcAft>
                <a:spcPts val="0"/>
              </a:spcAft>
              <a:buFont typeface="Wingdings" panose="05000000000000000000" pitchFamily="2" charset="2"/>
              <a:buNone/>
              <a:defRPr/>
            </a:pPr>
            <a:r>
              <a:rPr lang="zh-CN" altLang="en-US" sz="2200" b="1" noProof="1">
                <a:solidFill>
                  <a:schemeClr val="tx2"/>
                </a:solidFill>
              </a:rPr>
              <a:t>第一阶段：彻底物理隔离。利用物理隔离卡、安全隔离计算机和交换机使网络隔离，两个网络之间无信息交流，所以也就可以抵御所有的网络攻击</a:t>
            </a:r>
            <a:r>
              <a:rPr lang="zh-CN" altLang="en-US" sz="2200" b="1" noProof="1" smtClean="0">
                <a:solidFill>
                  <a:schemeClr val="tx2"/>
                </a:solidFill>
              </a:rPr>
              <a:t>，适</a:t>
            </a:r>
            <a:r>
              <a:rPr lang="zh-CN" altLang="en-US" sz="2200" b="1" noProof="1">
                <a:solidFill>
                  <a:schemeClr val="tx2"/>
                </a:solidFill>
              </a:rPr>
              <a:t>用于一台终端（或一个用户）需要分时访问两个不同的、物理隔离的网络的应用环境。  </a:t>
            </a:r>
            <a:endParaRPr lang="zh-CN" altLang="en-US" sz="2200" b="1" noProof="1">
              <a:solidFill>
                <a:schemeClr val="tx2"/>
              </a:solidFill>
            </a:endParaRPr>
          </a:p>
          <a:p>
            <a:pPr indent="457200" eaLnBrk="1" fontAlgn="auto" hangingPunct="1">
              <a:spcBef>
                <a:spcPts val="0"/>
              </a:spcBef>
              <a:spcAft>
                <a:spcPts val="0"/>
              </a:spcAft>
              <a:buFont typeface="Wingdings" panose="05000000000000000000" pitchFamily="2" charset="2"/>
              <a:buNone/>
              <a:defRPr/>
            </a:pPr>
            <a:r>
              <a:rPr lang="zh-CN" altLang="en-US" sz="2200" b="1" noProof="1">
                <a:solidFill>
                  <a:schemeClr val="tx2"/>
                </a:solidFill>
              </a:rPr>
              <a:t>第二阶段：协议隔离。协议隔离是采用专用协议（非公共协议）来对两个网络进行隔离，并在此基础上实现两个网络之间的信息交换。协议隔离技术由于存在直接的物理和逻辑连接，仍然是数据包的转发，一些攻击依然出现。 </a:t>
            </a:r>
            <a:endParaRPr lang="zh-CN" altLang="en-US" sz="2200" b="1" noProof="1">
              <a:solidFill>
                <a:schemeClr val="tx2"/>
              </a:solidFill>
            </a:endParaRPr>
          </a:p>
          <a:p>
            <a:pPr indent="457200" eaLnBrk="1" fontAlgn="auto" hangingPunct="1">
              <a:spcBef>
                <a:spcPts val="0"/>
              </a:spcBef>
              <a:spcAft>
                <a:spcPts val="0"/>
              </a:spcAft>
              <a:buFont typeface="Wingdings" panose="05000000000000000000" pitchFamily="2" charset="2"/>
              <a:buNone/>
              <a:defRPr/>
            </a:pPr>
            <a:r>
              <a:rPr lang="zh-CN" altLang="en-US" sz="2200" b="1" noProof="1">
                <a:solidFill>
                  <a:schemeClr val="tx2"/>
                </a:solidFill>
              </a:rPr>
              <a:t>第三阶段：网闸隔离技术。主要通过网闸等隔离技术对高速网络进行物理隔离，使高效的内外网数据仍然可以正常进行交换，而且控制网络的安全服务及应用。</a:t>
            </a:r>
            <a:endParaRPr lang="zh-CN" altLang="en-US" sz="2200" b="1" noProof="1">
              <a:solidFill>
                <a:schemeClr val="tx2"/>
              </a:solidFill>
            </a:endParaRPr>
          </a:p>
          <a:p>
            <a:pPr indent="457200" eaLnBrk="1" fontAlgn="auto" hangingPunct="1">
              <a:spcBef>
                <a:spcPts val="0"/>
              </a:spcBef>
              <a:spcAft>
                <a:spcPts val="0"/>
              </a:spcAft>
              <a:buFont typeface="Wingdings" panose="05000000000000000000" pitchFamily="2" charset="2"/>
              <a:buNone/>
              <a:defRPr/>
            </a:pPr>
            <a:r>
              <a:rPr lang="zh-CN" altLang="en-US" sz="2200" b="1" noProof="1">
                <a:solidFill>
                  <a:schemeClr val="tx2"/>
                </a:solidFill>
              </a:rPr>
              <a:t>(3) 物理隔离的性能要求</a:t>
            </a:r>
            <a:endParaRPr lang="zh-CN" altLang="en-US" sz="2200" b="1" noProof="1">
              <a:solidFill>
                <a:schemeClr val="tx2"/>
              </a:solidFill>
            </a:endParaRPr>
          </a:p>
          <a:p>
            <a:pPr indent="457200" eaLnBrk="1" fontAlgn="auto" hangingPunct="1">
              <a:spcBef>
                <a:spcPts val="0"/>
              </a:spcBef>
              <a:spcAft>
                <a:spcPts val="0"/>
              </a:spcAft>
              <a:buFont typeface="Wingdings" panose="05000000000000000000" pitchFamily="2" charset="2"/>
              <a:buNone/>
              <a:defRPr/>
            </a:pPr>
            <a:r>
              <a:rPr lang="zh-CN" altLang="en-US" sz="2200" b="1" noProof="1">
                <a:solidFill>
                  <a:schemeClr val="tx2"/>
                </a:solidFill>
              </a:rPr>
              <a:t>采取安全措施可能对性能产生一定影响，物理隔离将导致网络性能和内外数据交换不便。</a:t>
            </a:r>
            <a:endParaRPr lang="zh-CN" altLang="en-US" sz="2200" b="1" noProof="1">
              <a:solidFill>
                <a:schemeClr val="tx2"/>
              </a:solidFill>
            </a:endParaRPr>
          </a:p>
        </p:txBody>
      </p:sp>
      <p:sp>
        <p:nvSpPr>
          <p:cNvPr id="65539" name="Rectangle 2"/>
          <p:cNvSpPr txBox="1">
            <a:spLocks noChangeArrowheads="1"/>
          </p:cNvSpPr>
          <p:nvPr/>
        </p:nvSpPr>
        <p:spPr bwMode="auto">
          <a:xfrm>
            <a:off x="457200" y="152400"/>
            <a:ext cx="8305800" cy="563563"/>
          </a:xfrm>
          <a:prstGeom prst="rect">
            <a:avLst/>
          </a:prstGeom>
          <a:noFill/>
          <a:ln w="9525">
            <a:noFill/>
            <a:miter lim="800000"/>
          </a:ln>
        </p:spPr>
        <p:txBody>
          <a:bodyPr anchor="ctr"/>
          <a:lstStyle/>
          <a:p>
            <a:pPr algn="ctr">
              <a:spcBef>
                <a:spcPct val="20000"/>
              </a:spcBef>
              <a:buFont typeface="Wingdings" panose="05000000000000000000" pitchFamily="2" charset="2"/>
              <a:buNone/>
            </a:pPr>
            <a:r>
              <a:rPr lang="en-US" altLang="zh-CN" sz="3200" b="1">
                <a:solidFill>
                  <a:schemeClr val="bg1"/>
                </a:solidFill>
              </a:rPr>
              <a:t>*1.5 </a:t>
            </a:r>
            <a:r>
              <a:rPr lang="zh-CN" altLang="en-US" sz="3200" b="1">
                <a:solidFill>
                  <a:schemeClr val="bg1"/>
                </a:solidFill>
              </a:rPr>
              <a:t> 实体安全与隔离技术</a:t>
            </a:r>
            <a:r>
              <a:rPr lang="zh-CN" altLang="en-US" b="1"/>
              <a:t> </a:t>
            </a:r>
            <a:endParaRPr lang="zh-CN" altLang="en-US" b="1"/>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5283" name="Group 115"/>
          <p:cNvGraphicFramePr>
            <a:graphicFrameLocks noGrp="1"/>
          </p:cNvGraphicFramePr>
          <p:nvPr/>
        </p:nvGraphicFramePr>
        <p:xfrm>
          <a:off x="755650" y="1916113"/>
          <a:ext cx="7704138" cy="3168651"/>
        </p:xfrm>
        <a:graphic>
          <a:graphicData uri="http://schemas.openxmlformats.org/drawingml/2006/table">
            <a:tbl>
              <a:tblPr/>
              <a:tblGrid>
                <a:gridCol w="1062038"/>
                <a:gridCol w="2259012"/>
                <a:gridCol w="1214438"/>
                <a:gridCol w="3168650"/>
              </a:tblGrid>
              <a:tr h="36512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技术手段 </a:t>
                      </a:r>
                      <a:endParaRPr kumimoji="0" lang="zh-CN" altLang="en-US" sz="1600" b="1" i="0" u="none" strike="noStrike" cap="none" normalizeH="0" baseline="0" dirty="0" smtClean="0">
                        <a:ln>
                          <a:noFill/>
                        </a:ln>
                        <a:solidFill>
                          <a:schemeClr val="tx2"/>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优  点 </a:t>
                      </a:r>
                      <a:endParaRPr kumimoji="0" lang="zh-CN" altLang="en-US" sz="1600" b="1" i="0" u="none" strike="noStrike" cap="none" normalizeH="0" baseline="0" dirty="0" smtClean="0">
                        <a:ln>
                          <a:noFill/>
                        </a:ln>
                        <a:solidFill>
                          <a:schemeClr val="tx2"/>
                        </a:solidFill>
                        <a:effectLst/>
                        <a:latin typeface="宋体" panose="02010600030101010101" pitchFamily="2" charset="-122"/>
                        <a:ea typeface="宋体" panose="02010600030101010101" pitchFamily="2" charset="-122"/>
                      </a:endParaRPr>
                    </a:p>
                  </a:txBody>
                  <a:tcP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缺  点 </a:t>
                      </a:r>
                      <a:endParaRPr kumimoji="0" lang="zh-CN" altLang="en-US" sz="1600" b="1" i="0" u="none" strike="noStrike" cap="none" normalizeH="0" baseline="0" dirty="0" smtClean="0">
                        <a:ln>
                          <a:noFill/>
                        </a:ln>
                        <a:solidFill>
                          <a:schemeClr val="tx2"/>
                        </a:solidFill>
                        <a:effectLst/>
                        <a:latin typeface="宋体" panose="02010600030101010101" pitchFamily="2" charset="-122"/>
                        <a:ea typeface="宋体" panose="02010600030101010101" pitchFamily="2" charset="-122"/>
                      </a:endParaRPr>
                    </a:p>
                  </a:txBody>
                  <a:tcP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典型产品 </a:t>
                      </a:r>
                      <a:endParaRPr kumimoji="0" lang="zh-CN" altLang="en-US" sz="1600" b="1" i="0" u="none" strike="noStrike" cap="none" normalizeH="0" baseline="0" dirty="0" smtClean="0">
                        <a:ln>
                          <a:noFill/>
                        </a:ln>
                        <a:solidFill>
                          <a:schemeClr val="tx2"/>
                        </a:solidFill>
                        <a:effectLst/>
                        <a:latin typeface="宋体" panose="02010600030101010101" pitchFamily="2" charset="-122"/>
                        <a:ea typeface="宋体" panose="02010600030101010101" pitchFamily="2" charset="-122"/>
                      </a:endParaRPr>
                    </a:p>
                  </a:txBody>
                  <a:tcPr horzOverflow="overflow">
                    <a:lnL w="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solidFill>
                      <a:srgbClr val="CCFFFF"/>
                    </a:solidFill>
                  </a:tcPr>
                </a:tc>
              </a:tr>
              <a:tr h="85248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彻底的</a:t>
                      </a:r>
                      <a:endParaRPr kumimoji="0" lang="zh-CN" altLang="en-US" sz="1600" b="1" i="0" u="none" strike="noStrike" cap="none" normalizeH="0" baseline="0" dirty="0" smtClean="0">
                        <a:ln>
                          <a:noFill/>
                        </a:ln>
                        <a:solidFill>
                          <a:schemeClr val="tx2"/>
                        </a:solidFill>
                        <a:effectLst/>
                        <a:latin typeface="Times New Roman" panose="02020603050405020304" pitchFamily="18" charset="0"/>
                        <a:ea typeface="宋体" panose="02010600030101010101" pitchFamily="2" charset="-122"/>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物理隔离</a:t>
                      </a:r>
                      <a:endParaRPr kumimoji="0" lang="zh-CN" altLang="en-US" sz="1600" b="1" i="0" u="none" strike="noStrike" cap="none" normalizeH="0" baseline="0" dirty="0" smtClean="0">
                        <a:ln>
                          <a:noFill/>
                        </a:ln>
                        <a:solidFill>
                          <a:schemeClr val="tx2"/>
                        </a:solidFill>
                        <a:effectLst/>
                        <a:latin typeface="宋体" panose="02010600030101010101" pitchFamily="2" charset="-122"/>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能够抵御所有的网络攻击 </a:t>
                      </a:r>
                      <a:endParaRPr kumimoji="0" lang="zh-CN" altLang="en-US" sz="1600" b="1" i="0" u="none" strike="noStrike" cap="none" normalizeH="0" baseline="0" dirty="0" smtClean="0">
                        <a:ln>
                          <a:noFill/>
                        </a:ln>
                        <a:solidFill>
                          <a:schemeClr val="tx2"/>
                        </a:solidFill>
                        <a:effectLst/>
                        <a:latin typeface="宋体" panose="02010600030101010101" pitchFamily="2" charset="-122"/>
                        <a:ea typeface="宋体" panose="02010600030101010101" pitchFamily="2" charset="-122"/>
                      </a:endParaRPr>
                    </a:p>
                  </a:txBody>
                  <a:tcP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两网络间</a:t>
                      </a:r>
                      <a:endParaRPr kumimoji="0" lang="zh-CN" altLang="en-US" sz="16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无信息交流</a:t>
                      </a:r>
                      <a:endParaRPr kumimoji="0" lang="zh-CN" altLang="en-US" sz="16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endParaRPr>
                    </a:p>
                  </a:txBody>
                  <a:tcP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联想网御物理隔离卡、开天双网安全电脑、伟思网络安全隔离集线器 </a:t>
                      </a:r>
                      <a:endParaRPr kumimoji="0" lang="zh-CN" altLang="en-US" sz="16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endParaRPr>
                    </a:p>
                  </a:txBody>
                  <a:tcPr horzOverflow="overflow">
                    <a:lnL w="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85248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协议隔离</a:t>
                      </a:r>
                      <a:endParaRPr kumimoji="0" lang="zh-CN" altLang="en-US" sz="1600" b="1" i="0" u="none" strike="noStrike" cap="none" normalizeH="0" baseline="0" dirty="0" smtClean="0">
                        <a:ln>
                          <a:noFill/>
                        </a:ln>
                        <a:solidFill>
                          <a:schemeClr val="tx2"/>
                        </a:solidFill>
                        <a:effectLst/>
                        <a:latin typeface="宋体" panose="02010600030101010101" pitchFamily="2" charset="-122"/>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能抵御基于</a:t>
                      </a:r>
                      <a:r>
                        <a:rPr kumimoji="0" lang="en-US" altLang="zh-CN" sz="1600" b="1" i="0" u="none" strike="noStrike" cap="none" normalizeH="0" baseline="0" dirty="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TCP/IP</a:t>
                      </a:r>
                      <a:r>
                        <a:rPr kumimoji="0" lang="zh-CN" altLang="en-US" sz="1600" b="1" i="0" u="none" strike="noStrike" cap="none" normalizeH="0" baseline="0" dirty="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协议的网络扫描与攻击等行为 </a:t>
                      </a:r>
                      <a:endParaRPr kumimoji="0" lang="zh-CN" altLang="en-US" sz="1600" b="1" i="0" u="none" strike="noStrike" cap="none" normalizeH="0" baseline="0" dirty="0" smtClean="0">
                        <a:ln>
                          <a:noFill/>
                        </a:ln>
                        <a:solidFill>
                          <a:schemeClr val="tx2"/>
                        </a:solidFill>
                        <a:effectLst/>
                        <a:latin typeface="宋体" panose="02010600030101010101" pitchFamily="2" charset="-122"/>
                        <a:ea typeface="宋体" panose="02010600030101010101" pitchFamily="2" charset="-122"/>
                      </a:endParaRPr>
                    </a:p>
                  </a:txBody>
                  <a:tcP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有些攻击</a:t>
                      </a:r>
                      <a:endParaRPr kumimoji="0" lang="zh-CN" altLang="en-US" sz="16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可穿越网络</a:t>
                      </a:r>
                      <a:endParaRPr kumimoji="0" lang="zh-CN" altLang="en-US" sz="16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endParaRPr>
                    </a:p>
                  </a:txBody>
                  <a:tcP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京泰安全信息交流系统</a:t>
                      </a:r>
                      <a:r>
                        <a:rPr kumimoji="0" lang="en-US" altLang="zh-CN" sz="16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2.0</a:t>
                      </a:r>
                      <a:r>
                        <a:rPr kumimoji="0" lang="zh-CN" altLang="en-US" sz="16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、东方</a:t>
                      </a:r>
                      <a:r>
                        <a:rPr kumimoji="0" lang="en-US" altLang="zh-CN" sz="16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DF-NS310</a:t>
                      </a:r>
                      <a:r>
                        <a:rPr kumimoji="0" lang="zh-CN" altLang="en-US" sz="16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物理隔离网关 </a:t>
                      </a:r>
                      <a:endParaRPr kumimoji="0" lang="zh-CN" altLang="en-US" sz="16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endParaRPr>
                    </a:p>
                  </a:txBody>
                  <a:tcPr horzOverflow="overflow">
                    <a:lnL w="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109855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物理隔离</a:t>
                      </a:r>
                      <a:endParaRPr kumimoji="0" lang="zh-CN" altLang="en-US" sz="1600" b="1" i="0" u="none" strike="noStrike" cap="none" normalizeH="0" baseline="0" dirty="0" smtClean="0">
                        <a:ln>
                          <a:noFill/>
                        </a:ln>
                        <a:solidFill>
                          <a:schemeClr val="tx2"/>
                        </a:solidFill>
                        <a:effectLst/>
                        <a:latin typeface="Times New Roman" panose="02020603050405020304" pitchFamily="18" charset="0"/>
                        <a:ea typeface="宋体" panose="02010600030101010101" pitchFamily="2" charset="-122"/>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网闸</a:t>
                      </a:r>
                      <a:endParaRPr kumimoji="0" lang="zh-CN" altLang="en-US" sz="1600" b="1" i="0" u="none" strike="noStrike" cap="none" normalizeH="0" baseline="0" dirty="0" smtClean="0">
                        <a:ln>
                          <a:noFill/>
                        </a:ln>
                        <a:solidFill>
                          <a:schemeClr val="tx2"/>
                        </a:solidFill>
                        <a:effectLst/>
                        <a:latin typeface="宋体" panose="02010600030101010101" pitchFamily="2" charset="-122"/>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不但实现了高速的数据交换，还有效地杜绝了基于网络的攻击行为 </a:t>
                      </a:r>
                      <a:endParaRPr kumimoji="0" lang="zh-CN" altLang="en-US" sz="16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endParaRPr>
                    </a:p>
                  </a:txBody>
                  <a:tcP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应用种类</a:t>
                      </a:r>
                      <a:endParaRPr kumimoji="0" lang="zh-CN" altLang="en-US" sz="1600" b="1" i="0" u="none" strike="noStrike" cap="none" normalizeH="0" baseline="0" dirty="0" smtClean="0">
                        <a:ln>
                          <a:noFill/>
                        </a:ln>
                        <a:solidFill>
                          <a:schemeClr val="tx2"/>
                        </a:solidFill>
                        <a:effectLst/>
                        <a:latin typeface="Times New Roman" panose="02020603050405020304" pitchFamily="18" charset="0"/>
                        <a:ea typeface="宋体" panose="02010600030101010101" pitchFamily="2" charset="-122"/>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受到限制</a:t>
                      </a:r>
                      <a:endParaRPr kumimoji="0" lang="zh-CN" altLang="en-US" sz="1600" b="1" i="0" u="none" strike="noStrike" cap="none" normalizeH="0" baseline="0" dirty="0" smtClean="0">
                        <a:ln>
                          <a:noFill/>
                        </a:ln>
                        <a:solidFill>
                          <a:schemeClr val="tx2"/>
                        </a:solidFill>
                        <a:effectLst/>
                        <a:latin typeface="宋体" panose="02010600030101010101" pitchFamily="2" charset="-122"/>
                        <a:ea typeface="宋体" panose="02010600030101010101" pitchFamily="2" charset="-122"/>
                      </a:endParaRPr>
                    </a:p>
                  </a:txBody>
                  <a:tcP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伟思</a:t>
                      </a:r>
                      <a:r>
                        <a:rPr kumimoji="0" lang="en-US" altLang="zh-CN" sz="1600" b="1" i="0" u="none" strike="noStrike" cap="none" normalizeH="0" baseline="0" dirty="0" err="1"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ViGAP</a:t>
                      </a:r>
                      <a:r>
                        <a:rPr kumimoji="0" lang="zh-CN" altLang="en-US" sz="1600" b="1" i="0" u="none" strike="noStrike" cap="none" normalizeH="0" baseline="0" dirty="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、天行安全隔离网闸</a:t>
                      </a:r>
                      <a:r>
                        <a:rPr kumimoji="0" lang="en-US" altLang="zh-CN" sz="1600" b="1" i="0" u="none" strike="noStrike" cap="none" normalizeH="0" baseline="0" dirty="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600" b="1" i="0" u="none" strike="noStrike" cap="none" normalizeH="0" baseline="0" dirty="0" err="1"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TopWalk</a:t>
                      </a:r>
                      <a:r>
                        <a:rPr kumimoji="0" lang="en-US" altLang="zh-CN" sz="1600" b="1" i="0" u="none" strike="noStrike" cap="none" normalizeH="0" baseline="0" dirty="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-GAP)</a:t>
                      </a:r>
                      <a:r>
                        <a:rPr kumimoji="0" lang="zh-CN" altLang="en-US" sz="1600" b="1" i="0" u="none" strike="noStrike" cap="none" normalizeH="0" baseline="0" dirty="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和联想网御</a:t>
                      </a:r>
                      <a:r>
                        <a:rPr kumimoji="0" lang="en-US" altLang="zh-CN" sz="1600" b="1" i="0" u="none" strike="noStrike" cap="none" normalizeH="0" baseline="0" dirty="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SIS3000</a:t>
                      </a:r>
                      <a:r>
                        <a:rPr kumimoji="0" lang="zh-CN" altLang="en-US" sz="1600" b="1" i="0" u="none" strike="noStrike" cap="none" normalizeH="0" baseline="0" dirty="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系列安全隔离网闸 </a:t>
                      </a:r>
                      <a:endParaRPr kumimoji="0" lang="zh-CN" altLang="en-US" sz="1600" b="1" i="0" u="none" strike="noStrike" cap="none" normalizeH="0" baseline="0" dirty="0" smtClean="0">
                        <a:ln>
                          <a:noFill/>
                        </a:ln>
                        <a:solidFill>
                          <a:schemeClr val="tx2"/>
                        </a:solidFill>
                        <a:effectLst/>
                        <a:latin typeface="宋体" panose="02010600030101010101" pitchFamily="2" charset="-122"/>
                        <a:ea typeface="宋体" panose="02010600030101010101" pitchFamily="2" charset="-122"/>
                      </a:endParaRPr>
                    </a:p>
                  </a:txBody>
                  <a:tcPr horzOverflow="overflow">
                    <a:lnL w="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66589" name="Rectangle 112"/>
          <p:cNvSpPr>
            <a:spLocks noChangeArrowheads="1"/>
          </p:cNvSpPr>
          <p:nvPr/>
        </p:nvSpPr>
        <p:spPr bwMode="auto">
          <a:xfrm>
            <a:off x="2484438" y="1266825"/>
            <a:ext cx="4127500" cy="460375"/>
          </a:xfrm>
          <a:prstGeom prst="rect">
            <a:avLst/>
          </a:prstGeom>
          <a:noFill/>
          <a:ln w="9525">
            <a:noFill/>
            <a:miter lim="800000"/>
          </a:ln>
        </p:spPr>
        <p:txBody>
          <a:bodyPr anchor="ctr">
            <a:spAutoFit/>
          </a:bodyPr>
          <a:lstStyle/>
          <a:p>
            <a:pPr algn="dist">
              <a:spcBef>
                <a:spcPct val="20000"/>
              </a:spcBef>
              <a:buFont typeface="Wingdings" panose="05000000000000000000" pitchFamily="2" charset="2"/>
              <a:buNone/>
            </a:pPr>
            <a:r>
              <a:rPr lang="zh-CN" altLang="en-US" b="1">
                <a:solidFill>
                  <a:srgbClr val="FF0000"/>
                </a:solidFill>
              </a:rPr>
              <a:t>表</a:t>
            </a:r>
            <a:r>
              <a:rPr lang="en-US" altLang="zh-CN" b="1">
                <a:solidFill>
                  <a:srgbClr val="FF0000"/>
                </a:solidFill>
              </a:rPr>
              <a:t>1-5 </a:t>
            </a:r>
            <a:r>
              <a:rPr lang="zh-CN" altLang="en-US" b="1">
                <a:solidFill>
                  <a:srgbClr val="FF0000"/>
                </a:solidFill>
              </a:rPr>
              <a:t>物理隔离主要技术手段</a:t>
            </a:r>
            <a:r>
              <a:rPr lang="zh-CN" altLang="en-US"/>
              <a:t> </a:t>
            </a:r>
            <a:endParaRPr lang="zh-CN" altLang="en-US"/>
          </a:p>
        </p:txBody>
      </p:sp>
      <p:sp>
        <p:nvSpPr>
          <p:cNvPr id="66590" name="Rectangle 2"/>
          <p:cNvSpPr txBox="1">
            <a:spLocks noChangeArrowheads="1"/>
          </p:cNvSpPr>
          <p:nvPr/>
        </p:nvSpPr>
        <p:spPr bwMode="auto">
          <a:xfrm>
            <a:off x="457200" y="152400"/>
            <a:ext cx="8305800" cy="563563"/>
          </a:xfrm>
          <a:prstGeom prst="rect">
            <a:avLst/>
          </a:prstGeom>
          <a:noFill/>
          <a:ln w="9525">
            <a:noFill/>
            <a:miter lim="800000"/>
          </a:ln>
        </p:spPr>
        <p:txBody>
          <a:bodyPr anchor="ctr"/>
          <a:lstStyle/>
          <a:p>
            <a:pPr algn="ctr">
              <a:spcBef>
                <a:spcPct val="20000"/>
              </a:spcBef>
              <a:buFont typeface="Wingdings" panose="05000000000000000000" pitchFamily="2" charset="2"/>
              <a:buNone/>
            </a:pPr>
            <a:r>
              <a:rPr lang="en-US" altLang="zh-CN" sz="3200" b="1">
                <a:solidFill>
                  <a:schemeClr val="bg1"/>
                </a:solidFill>
              </a:rPr>
              <a:t>*1.5 </a:t>
            </a:r>
            <a:r>
              <a:rPr lang="zh-CN" altLang="en-US" sz="3200" b="1">
                <a:solidFill>
                  <a:schemeClr val="bg1"/>
                </a:solidFill>
              </a:rPr>
              <a:t> 实体安全与隔离技术</a:t>
            </a:r>
            <a:r>
              <a:rPr lang="zh-CN" altLang="en-US" b="1"/>
              <a:t> </a:t>
            </a:r>
            <a:endParaRPr lang="zh-CN" altLang="en-US" b="1"/>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标题 1"/>
          <p:cNvSpPr>
            <a:spLocks noGrp="1" noChangeArrowheads="1"/>
          </p:cNvSpPr>
          <p:nvPr>
            <p:ph type="title"/>
          </p:nvPr>
        </p:nvSpPr>
        <p:spPr/>
        <p:txBody>
          <a:bodyPr/>
          <a:lstStyle/>
          <a:p>
            <a:pPr eaLnBrk="1" hangingPunct="1"/>
            <a:r>
              <a:rPr lang="en-US" altLang="zh-CN" smtClean="0">
                <a:ea typeface="宋体" panose="02010600030101010101" pitchFamily="2" charset="-122"/>
              </a:rPr>
              <a:t>1.6 </a:t>
            </a:r>
            <a:r>
              <a:rPr lang="zh-CN" altLang="en-US" smtClean="0">
                <a:ea typeface="宋体" panose="02010600030101010101" pitchFamily="2" charset="-122"/>
              </a:rPr>
              <a:t>本章小结</a:t>
            </a:r>
            <a:endParaRPr lang="zh-CN" altLang="en-US" smtClean="0">
              <a:ea typeface="宋体" panose="02010600030101010101" pitchFamily="2" charset="-122"/>
            </a:endParaRPr>
          </a:p>
        </p:txBody>
      </p:sp>
      <p:sp>
        <p:nvSpPr>
          <p:cNvPr id="3" name="内容占位符 2"/>
          <p:cNvSpPr>
            <a:spLocks noGrp="1"/>
          </p:cNvSpPr>
          <p:nvPr>
            <p:ph idx="1"/>
          </p:nvPr>
        </p:nvSpPr>
        <p:spPr>
          <a:xfrm>
            <a:off x="325438" y="1098550"/>
            <a:ext cx="8569325" cy="5167313"/>
          </a:xfrm>
        </p:spPr>
        <p:txBody>
          <a:bodyPr anchor="ctr"/>
          <a:lstStyle/>
          <a:p>
            <a:pPr marL="0" indent="93980" algn="ctr">
              <a:lnSpc>
                <a:spcPct val="110000"/>
              </a:lnSpc>
              <a:spcBef>
                <a:spcPts val="0"/>
              </a:spcBef>
              <a:buFont typeface="Wingdings" panose="05000000000000000000" pitchFamily="2" charset="2"/>
              <a:buNone/>
              <a:defRPr/>
            </a:pPr>
            <a:r>
              <a:rPr lang="zh-CN" altLang="en-US" sz="2800" noProof="1" smtClean="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本章小</a:t>
            </a:r>
            <a:r>
              <a:rPr lang="zh-CN" altLang="en-US" sz="2800" noProof="1">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结</a:t>
            </a:r>
            <a:endParaRPr lang="zh-CN" altLang="en-US" sz="2800" noProof="1">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endParaRPr>
          </a:p>
          <a:p>
            <a:pPr marL="0" indent="457200">
              <a:lnSpc>
                <a:spcPct val="110000"/>
              </a:lnSpc>
              <a:spcBef>
                <a:spcPts val="0"/>
              </a:spcBef>
              <a:buFont typeface="Wingdings" panose="05000000000000000000" pitchFamily="2" charset="2"/>
              <a:buNone/>
              <a:defRPr/>
            </a:pPr>
            <a:r>
              <a:rPr lang="zh-CN" altLang="en-US" sz="2000" dirty="0" smtClean="0">
                <a:ea typeface="楷体" panose="02010609060101010101" charset="-122"/>
              </a:rPr>
              <a:t>主要结合典型案例</a:t>
            </a:r>
            <a:r>
              <a:rPr lang="zh-CN" altLang="en-US" sz="2000" dirty="0" smtClean="0">
                <a:solidFill>
                  <a:srgbClr val="3333FF"/>
                </a:solidFill>
                <a:ea typeface="楷体" panose="02010609060101010101" charset="-122"/>
              </a:rPr>
              <a:t>概述了</a:t>
            </a:r>
            <a:r>
              <a:rPr lang="zh-CN" altLang="en-US" sz="2000" dirty="0" smtClean="0">
                <a:solidFill>
                  <a:srgbClr val="C00000"/>
                </a:solidFill>
                <a:ea typeface="楷体" panose="02010609060101010101" charset="-122"/>
              </a:rPr>
              <a:t>网络空间安全</a:t>
            </a:r>
            <a:r>
              <a:rPr lang="zh-CN" altLang="en-US" sz="2000" dirty="0" smtClean="0">
                <a:ea typeface="楷体" panose="02010609060101010101" charset="-122"/>
              </a:rPr>
              <a:t>的</a:t>
            </a:r>
            <a:r>
              <a:rPr lang="zh-CN" altLang="en-US" sz="2000" dirty="0" smtClean="0">
                <a:solidFill>
                  <a:srgbClr val="C00000"/>
                </a:solidFill>
                <a:ea typeface="楷体" panose="02010609060101010101" charset="-122"/>
              </a:rPr>
              <a:t>威胁</a:t>
            </a:r>
            <a:r>
              <a:rPr lang="zh-CN" altLang="en-US" sz="2000" dirty="0" smtClean="0">
                <a:ea typeface="楷体" panose="02010609060101010101" charset="-122"/>
              </a:rPr>
              <a:t>及</a:t>
            </a:r>
            <a:r>
              <a:rPr lang="zh-CN" altLang="en-US" sz="2000" dirty="0" smtClean="0">
                <a:solidFill>
                  <a:srgbClr val="C00000"/>
                </a:solidFill>
                <a:ea typeface="楷体" panose="02010609060101010101" charset="-122"/>
              </a:rPr>
              <a:t>发展态势</a:t>
            </a:r>
            <a:r>
              <a:rPr lang="zh-CN" altLang="en-US" sz="2000" dirty="0" smtClean="0">
                <a:ea typeface="楷体" panose="02010609060101010101" charset="-122"/>
              </a:rPr>
              <a:t>、</a:t>
            </a:r>
            <a:r>
              <a:rPr lang="zh-CN" altLang="en-US" sz="2000" dirty="0" smtClean="0">
                <a:solidFill>
                  <a:srgbClr val="C00000"/>
                </a:solidFill>
                <a:ea typeface="楷体" panose="02010609060101010101" charset="-122"/>
              </a:rPr>
              <a:t>威胁途径及种类</a:t>
            </a:r>
            <a:r>
              <a:rPr lang="zh-CN" altLang="en-US" sz="2000" dirty="0" smtClean="0">
                <a:ea typeface="楷体" panose="02010609060101010101" charset="-122"/>
              </a:rPr>
              <a:t>并对</a:t>
            </a:r>
            <a:r>
              <a:rPr lang="zh-CN" altLang="en-US" sz="2000" dirty="0" smtClean="0">
                <a:solidFill>
                  <a:srgbClr val="C00000"/>
                </a:solidFill>
                <a:ea typeface="楷体" panose="02010609060101010101" charset="-122"/>
              </a:rPr>
              <a:t>产生网络安全的风险及隐患</a:t>
            </a:r>
            <a:r>
              <a:rPr lang="zh-CN" altLang="en-US" sz="2000" dirty="0" smtClean="0">
                <a:ea typeface="楷体" panose="02010609060101010101" charset="-122"/>
              </a:rPr>
              <a:t>的系统问题、操作系统漏洞、网络数据库问题、防火墙局限性、管理和其他</a:t>
            </a:r>
            <a:r>
              <a:rPr lang="zh-CN" altLang="en-US" sz="2000" dirty="0" smtClean="0">
                <a:solidFill>
                  <a:srgbClr val="C00000"/>
                </a:solidFill>
                <a:ea typeface="楷体" panose="02010609060101010101" charset="-122"/>
              </a:rPr>
              <a:t>各种因素</a:t>
            </a:r>
            <a:r>
              <a:rPr lang="zh-CN" altLang="en-US" sz="2000" dirty="0" smtClean="0">
                <a:ea typeface="楷体" panose="02010609060101010101" charset="-122"/>
              </a:rPr>
              <a:t>进行了</a:t>
            </a:r>
            <a:r>
              <a:rPr lang="zh-CN" altLang="en-US" sz="2000" dirty="0" smtClean="0">
                <a:solidFill>
                  <a:srgbClr val="3333FF"/>
                </a:solidFill>
                <a:ea typeface="楷体" panose="02010609060101010101" charset="-122"/>
              </a:rPr>
              <a:t>概要分析</a:t>
            </a:r>
            <a:r>
              <a:rPr lang="en-US" altLang="zh-CN" sz="2000" dirty="0" smtClean="0">
                <a:ea typeface="楷体" panose="02010609060101010101" charset="-122"/>
              </a:rPr>
              <a:t>.</a:t>
            </a:r>
            <a:r>
              <a:rPr lang="zh-CN" altLang="en-US" sz="2000" dirty="0" smtClean="0">
                <a:solidFill>
                  <a:srgbClr val="3333FF"/>
                </a:solidFill>
                <a:ea typeface="楷体" panose="02010609060101010101" charset="-122"/>
              </a:rPr>
              <a:t>着重介绍了</a:t>
            </a:r>
            <a:r>
              <a:rPr lang="zh-CN" altLang="en-US" sz="2000" dirty="0" smtClean="0">
                <a:solidFill>
                  <a:srgbClr val="FF0000"/>
                </a:solidFill>
                <a:ea typeface="楷体" panose="02010609060101010101" charset="-122"/>
              </a:rPr>
              <a:t>信息安全</a:t>
            </a:r>
            <a:r>
              <a:rPr lang="zh-CN" altLang="en-US" sz="2000" dirty="0" smtClean="0">
                <a:ea typeface="楷体" panose="02010609060101010101" charset="-122"/>
              </a:rPr>
              <a:t>概念和属性特征</a:t>
            </a:r>
            <a:r>
              <a:rPr lang="en-US" altLang="zh-CN" sz="2000" dirty="0" smtClean="0">
                <a:ea typeface="楷体" panose="02010609060101010101" charset="-122"/>
              </a:rPr>
              <a:t>,</a:t>
            </a:r>
            <a:r>
              <a:rPr lang="zh-CN" altLang="en-US" sz="2000" dirty="0" smtClean="0">
                <a:ea typeface="楷体" panose="02010609060101010101" charset="-122"/>
              </a:rPr>
              <a:t>以及</a:t>
            </a:r>
            <a:r>
              <a:rPr lang="zh-CN" altLang="en-US" sz="2000" dirty="0" smtClean="0">
                <a:solidFill>
                  <a:srgbClr val="FF0000"/>
                </a:solidFill>
                <a:ea typeface="楷体" panose="02010609060101010101" charset="-122"/>
              </a:rPr>
              <a:t>网络安全</a:t>
            </a:r>
            <a:r>
              <a:rPr lang="zh-CN" altLang="en-US" sz="2000" dirty="0" smtClean="0">
                <a:ea typeface="楷体" panose="02010609060101010101" charset="-122"/>
              </a:rPr>
              <a:t>的</a:t>
            </a:r>
            <a:r>
              <a:rPr lang="zh-CN" altLang="en-US" sz="2000" dirty="0" smtClean="0">
                <a:solidFill>
                  <a:srgbClr val="C00000"/>
                </a:solidFill>
                <a:ea typeface="楷体" panose="02010609060101010101" charset="-122"/>
              </a:rPr>
              <a:t>概念、目标、内容和侧重点</a:t>
            </a:r>
            <a:r>
              <a:rPr lang="en-US" altLang="zh-CN" sz="2000" dirty="0" smtClean="0"/>
              <a:t>.</a:t>
            </a:r>
            <a:endParaRPr lang="zh-CN" altLang="en-US" sz="2000" dirty="0" smtClean="0">
              <a:ea typeface="楷体" panose="02010609060101010101" charset="-122"/>
            </a:endParaRPr>
          </a:p>
          <a:p>
            <a:pPr marL="0" indent="457200">
              <a:lnSpc>
                <a:spcPct val="110000"/>
              </a:lnSpc>
              <a:spcBef>
                <a:spcPts val="0"/>
              </a:spcBef>
              <a:buFont typeface="Wingdings" panose="05000000000000000000" pitchFamily="2" charset="2"/>
              <a:buNone/>
              <a:defRPr/>
            </a:pPr>
            <a:r>
              <a:rPr lang="zh-CN" altLang="en-US" sz="2000" dirty="0" smtClean="0">
                <a:solidFill>
                  <a:srgbClr val="3333FF"/>
                </a:solidFill>
                <a:ea typeface="楷体" panose="02010609060101010101" charset="-122"/>
              </a:rPr>
              <a:t>重点概述了</a:t>
            </a:r>
            <a:r>
              <a:rPr lang="zh-CN" altLang="en-US" sz="2000" dirty="0" smtClean="0">
                <a:solidFill>
                  <a:srgbClr val="FF0000"/>
                </a:solidFill>
                <a:ea typeface="楷体" panose="02010609060101010101" charset="-122"/>
              </a:rPr>
              <a:t>网络安全技术</a:t>
            </a:r>
            <a:r>
              <a:rPr lang="zh-CN" altLang="en-US" sz="2000" dirty="0" smtClean="0">
                <a:ea typeface="楷体" panose="02010609060101010101" charset="-122"/>
              </a:rPr>
              <a:t>的概念、常用的网络安全技术（身份认证、访问管理、加密、防恶意代码、加固、监控、审核跟踪和备份恢复）和网络安全模型。</a:t>
            </a:r>
            <a:r>
              <a:rPr lang="zh-CN" altLang="en-US" sz="2000" dirty="0" smtClean="0">
                <a:solidFill>
                  <a:srgbClr val="3333FF"/>
                </a:solidFill>
                <a:ea typeface="楷体" panose="02010609060101010101" charset="-122"/>
              </a:rPr>
              <a:t>介绍了</a:t>
            </a:r>
            <a:r>
              <a:rPr lang="zh-CN" altLang="en-US" sz="2000" dirty="0" smtClean="0">
                <a:ea typeface="楷体" panose="02010609060101010101" charset="-122"/>
              </a:rPr>
              <a:t>国内外网络安全建设与发展的概况，概要分析了国际领先技术、国内存在的主要差距和网络安全技术的发展趋势。最后，</a:t>
            </a:r>
            <a:r>
              <a:rPr lang="zh-CN" altLang="en-US" sz="2000" dirty="0" smtClean="0">
                <a:solidFill>
                  <a:srgbClr val="3333FF"/>
                </a:solidFill>
                <a:ea typeface="楷体" panose="02010609060101010101" charset="-122"/>
              </a:rPr>
              <a:t>概述了</a:t>
            </a:r>
            <a:r>
              <a:rPr lang="zh-CN" altLang="en-US" sz="2000" dirty="0" smtClean="0">
                <a:ea typeface="楷体" panose="02010609060101010101" charset="-122"/>
              </a:rPr>
              <a:t>实体安全的概念、内容、媒体安全与物理隔离技术，以及网络安全实验前期准备所需的构建虚拟网的过程和主要方法等。</a:t>
            </a:r>
            <a:endParaRPr lang="zh-CN" altLang="en-US" sz="2000" dirty="0" smtClean="0">
              <a:ea typeface="楷体" panose="02010609060101010101" charset="-122"/>
            </a:endParaRPr>
          </a:p>
          <a:p>
            <a:pPr marL="0" indent="457200">
              <a:lnSpc>
                <a:spcPct val="110000"/>
              </a:lnSpc>
              <a:spcBef>
                <a:spcPts val="0"/>
              </a:spcBef>
              <a:buFont typeface="Wingdings" panose="05000000000000000000" pitchFamily="2" charset="2"/>
              <a:buNone/>
              <a:defRPr/>
            </a:pPr>
            <a:r>
              <a:rPr lang="zh-CN" altLang="en-US" sz="2000" dirty="0" smtClean="0">
                <a:solidFill>
                  <a:srgbClr val="FF0000"/>
                </a:solidFill>
                <a:ea typeface="楷体" panose="02010609060101010101" charset="-122"/>
              </a:rPr>
              <a:t>网络安全的最终目标和关键</a:t>
            </a:r>
            <a:r>
              <a:rPr lang="zh-CN" altLang="en-US" sz="2000" dirty="0" smtClean="0">
                <a:ea typeface="楷体" panose="02010609060101010101" charset="-122"/>
              </a:rPr>
              <a:t>是保护网络系统信息资源安全</a:t>
            </a:r>
            <a:r>
              <a:rPr lang="en-US" altLang="zh-CN" sz="2000" dirty="0" smtClean="0">
                <a:ea typeface="楷体" panose="02010609060101010101" charset="-122"/>
              </a:rPr>
              <a:t>,</a:t>
            </a:r>
            <a:r>
              <a:rPr lang="zh-CN" altLang="en-US" sz="2000" dirty="0" smtClean="0">
                <a:ea typeface="楷体" panose="02010609060101010101" charset="-122"/>
              </a:rPr>
              <a:t>做好预防“防患于未然”是确保网络安全的最好举措</a:t>
            </a:r>
            <a:r>
              <a:rPr lang="en-US" altLang="zh-CN" sz="2000" dirty="0" smtClean="0">
                <a:ea typeface="楷体" panose="02010609060101010101" charset="-122"/>
              </a:rPr>
              <a:t>.</a:t>
            </a:r>
            <a:r>
              <a:rPr lang="zh-CN" altLang="en-US" sz="2000" dirty="0" smtClean="0">
                <a:ea typeface="楷体" panose="02010609060101010101" charset="-122"/>
              </a:rPr>
              <a:t>世界上并没有绝对的安全</a:t>
            </a:r>
            <a:r>
              <a:rPr lang="en-US" altLang="zh-CN" sz="2000" dirty="0" smtClean="0">
                <a:ea typeface="楷体" panose="02010609060101010101" charset="-122"/>
              </a:rPr>
              <a:t>,</a:t>
            </a:r>
            <a:r>
              <a:rPr lang="zh-CN" altLang="en-US" sz="2000" dirty="0" smtClean="0">
                <a:ea typeface="楷体" panose="02010609060101010101" charset="-122"/>
              </a:rPr>
              <a:t>网络安全是个系统工程</a:t>
            </a:r>
            <a:r>
              <a:rPr lang="en-US" altLang="zh-CN" sz="2000" dirty="0" smtClean="0">
                <a:ea typeface="楷体" panose="02010609060101010101" charset="-122"/>
              </a:rPr>
              <a:t>,</a:t>
            </a:r>
            <a:r>
              <a:rPr lang="zh-CN" altLang="en-US" sz="2000" dirty="0" smtClean="0">
                <a:ea typeface="楷体" panose="02010609060101010101" charset="-122"/>
              </a:rPr>
              <a:t>需要多方面互相密切配合、综合防范才能收到实效。</a:t>
            </a:r>
            <a:endParaRPr lang="zh-CN" altLang="en-US" sz="2000" dirty="0" smtClean="0">
              <a:ea typeface="楷体" panose="02010609060101010101" charset="-122"/>
            </a:endParaRPr>
          </a:p>
        </p:txBody>
      </p:sp>
      <p:sp>
        <p:nvSpPr>
          <p:cNvPr id="67587" name="圆角矩形 1"/>
          <p:cNvSpPr>
            <a:spLocks noChangeArrowheads="1"/>
          </p:cNvSpPr>
          <p:nvPr/>
        </p:nvSpPr>
        <p:spPr bwMode="auto">
          <a:xfrm>
            <a:off x="357188" y="1270000"/>
            <a:ext cx="8499475" cy="5137150"/>
          </a:xfrm>
          <a:prstGeom prst="roundRect">
            <a:avLst>
              <a:gd name="adj" fmla="val 16667"/>
            </a:avLst>
          </a:prstGeom>
          <a:noFill/>
          <a:ln w="28575">
            <a:solidFill>
              <a:schemeClr val="accent1"/>
            </a:solidFill>
            <a:round/>
          </a:ln>
        </p:spPr>
        <p:txBody>
          <a:bodyPr/>
          <a:lstStyle/>
          <a:p>
            <a:pPr algn="dist">
              <a:spcBef>
                <a:spcPct val="20000"/>
              </a:spcBef>
            </a:pPr>
            <a:endParaRPr lang="en-US" alt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内容占位符 4"/>
          <p:cNvSpPr>
            <a:spLocks noGrp="1" noChangeArrowheads="1"/>
          </p:cNvSpPr>
          <p:nvPr>
            <p:ph idx="4294967295"/>
          </p:nvPr>
        </p:nvSpPr>
        <p:spPr>
          <a:xfrm>
            <a:off x="395288" y="1016000"/>
            <a:ext cx="8399462" cy="5543550"/>
          </a:xfrm>
        </p:spPr>
        <p:txBody>
          <a:bodyPr/>
          <a:lstStyle/>
          <a:p>
            <a:pPr eaLnBrk="1" hangingPunct="1">
              <a:lnSpc>
                <a:spcPct val="90000"/>
              </a:lnSpc>
              <a:spcAft>
                <a:spcPts val="600"/>
              </a:spcAft>
              <a:buFont typeface="Wingdings" panose="05000000000000000000" pitchFamily="2" charset="2"/>
              <a:buNone/>
            </a:pPr>
            <a:r>
              <a:rPr lang="zh-CN" altLang="en-US" sz="2000" noProof="1" smtClean="0">
                <a:solidFill>
                  <a:srgbClr val="FF0000"/>
                </a:solidFill>
                <a:latin typeface="Times New Roman" panose="02020603050405020304" pitchFamily="18" charset="0"/>
              </a:rPr>
              <a:t>    </a:t>
            </a:r>
            <a:r>
              <a:rPr lang="zh-CN" altLang="en-US" sz="2400" noProof="1" smtClean="0">
                <a:solidFill>
                  <a:srgbClr val="FF0000"/>
                </a:solidFill>
                <a:latin typeface="Times New Roman" panose="02020603050405020304" pitchFamily="18" charset="0"/>
              </a:rPr>
              <a:t>         </a:t>
            </a:r>
            <a:r>
              <a:rPr lang="zh-CN" altLang="zh-CN" sz="2000" noProof="1" smtClean="0">
                <a:solidFill>
                  <a:srgbClr val="FF0000"/>
                </a:solidFill>
                <a:latin typeface="Times New Roman" panose="02020603050405020304" pitchFamily="18" charset="0"/>
              </a:rPr>
              <a:t>虚拟局域网</a:t>
            </a:r>
            <a:r>
              <a:rPr lang="en-US" altLang="zh-CN" sz="2000" noProof="1" smtClean="0">
                <a:solidFill>
                  <a:srgbClr val="FF0000"/>
                </a:solidFill>
                <a:latin typeface="Times New Roman" panose="02020603050405020304" pitchFamily="18" charset="0"/>
              </a:rPr>
              <a:t> (VLAN)</a:t>
            </a:r>
            <a:r>
              <a:rPr lang="zh-CN" altLang="zh-CN" sz="2000" noProof="1" smtClean="0">
                <a:latin typeface="Times New Roman" panose="02020603050405020304" pitchFamily="18" charset="0"/>
              </a:rPr>
              <a:t>是一种将局域网设备从逻辑上划分成多个网段，从而实现虚拟工作组的数据交换技术。</a:t>
            </a:r>
            <a:r>
              <a:rPr lang="zh-CN" altLang="zh-CN" sz="2000" noProof="1" smtClean="0">
                <a:solidFill>
                  <a:srgbClr val="FF0000"/>
                </a:solidFill>
                <a:latin typeface="Times New Roman" panose="02020603050405020304" pitchFamily="18" charset="0"/>
              </a:rPr>
              <a:t>主要用于</a:t>
            </a:r>
            <a:r>
              <a:rPr lang="zh-CN" altLang="zh-CN" sz="2000" noProof="1" smtClean="0">
                <a:latin typeface="Times New Roman" panose="02020603050405020304" pitchFamily="18" charset="0"/>
              </a:rPr>
              <a:t>交换机和路由器。</a:t>
            </a:r>
            <a:r>
              <a:rPr lang="zh-CN" altLang="zh-CN" sz="2000" noProof="1" smtClean="0">
                <a:solidFill>
                  <a:srgbClr val="FF0000"/>
                </a:solidFill>
                <a:latin typeface="Times New Roman" panose="02020603050405020304" pitchFamily="18" charset="0"/>
              </a:rPr>
              <a:t>虚拟机（</a:t>
            </a:r>
            <a:r>
              <a:rPr lang="en-US" altLang="zh-CN" sz="2000" noProof="1" smtClean="0">
                <a:solidFill>
                  <a:srgbClr val="FF0000"/>
                </a:solidFill>
                <a:latin typeface="Times New Roman" panose="02020603050405020304" pitchFamily="18" charset="0"/>
              </a:rPr>
              <a:t>VM）</a:t>
            </a:r>
            <a:r>
              <a:rPr lang="zh-CN" altLang="zh-CN" sz="2000" noProof="1" smtClean="0">
                <a:latin typeface="Times New Roman" panose="02020603050405020304" pitchFamily="18" charset="0"/>
              </a:rPr>
              <a:t>是运行于主机系统中的虚拟系统。可以模拟物理计算机的硬件控制模式，具有系统运行的大部分功能和部分其他扩展功能。虚拟技术不仅经济，且可用于模拟具有一定风险的网络安全相关实验</a:t>
            </a:r>
            <a:endParaRPr lang="zh-CN" altLang="zh-CN" sz="2000" noProof="1" smtClean="0">
              <a:latin typeface="Times New Roman" panose="02020603050405020304" pitchFamily="18" charset="0"/>
            </a:endParaRPr>
          </a:p>
          <a:p>
            <a:pPr eaLnBrk="1" hangingPunct="1">
              <a:lnSpc>
                <a:spcPct val="95000"/>
              </a:lnSpc>
              <a:spcBef>
                <a:spcPct val="5000"/>
              </a:spcBef>
              <a:spcAft>
                <a:spcPts val="100"/>
              </a:spcAft>
            </a:pPr>
            <a:r>
              <a:rPr lang="zh-CN" altLang="en-US" sz="2800" noProof="1" smtClean="0">
                <a:solidFill>
                  <a:srgbClr val="C00000"/>
                </a:solidFill>
              </a:rPr>
              <a:t>1.</a:t>
            </a:r>
            <a:r>
              <a:rPr lang="zh-CN" altLang="zh-CN" sz="2800" noProof="1" smtClean="0">
                <a:solidFill>
                  <a:srgbClr val="C00000"/>
                </a:solidFill>
              </a:rPr>
              <a:t>5</a:t>
            </a:r>
            <a:r>
              <a:rPr lang="zh-CN" altLang="en-US" sz="2800" noProof="1" smtClean="0">
                <a:solidFill>
                  <a:srgbClr val="C00000"/>
                </a:solidFill>
              </a:rPr>
              <a:t>.1 实验目的</a:t>
            </a:r>
            <a:endParaRPr lang="zh-CN" altLang="en-US" sz="2800" noProof="1" smtClean="0">
              <a:solidFill>
                <a:srgbClr val="C00000"/>
              </a:solidFill>
            </a:endParaRPr>
          </a:p>
          <a:p>
            <a:pPr eaLnBrk="1" hangingPunct="1">
              <a:buFont typeface="Wingdings" panose="05000000000000000000" pitchFamily="2" charset="2"/>
              <a:buNone/>
            </a:pPr>
            <a:r>
              <a:rPr lang="zh-CN" altLang="en-US" sz="1800" noProof="1" smtClean="0"/>
              <a:t>       </a:t>
            </a:r>
            <a:r>
              <a:rPr lang="zh-CN" altLang="en-US" sz="2000" noProof="1" smtClean="0"/>
              <a:t>通过安装和配置</a:t>
            </a:r>
            <a:r>
              <a:rPr lang="zh-CN" altLang="en-US" sz="2000" noProof="1" smtClean="0">
                <a:solidFill>
                  <a:srgbClr val="3333FF"/>
                </a:solidFill>
              </a:rPr>
              <a:t>虚拟机</a:t>
            </a:r>
            <a:r>
              <a:rPr lang="zh-CN" altLang="zh-CN" sz="2000" noProof="1" smtClean="0">
                <a:solidFill>
                  <a:srgbClr val="3333FF"/>
                </a:solidFill>
              </a:rPr>
              <a:t>,</a:t>
            </a:r>
            <a:r>
              <a:rPr lang="zh-CN" altLang="en-US" sz="2000" noProof="1" smtClean="0"/>
              <a:t>并建立一个虚拟局域网</a:t>
            </a:r>
            <a:r>
              <a:rPr lang="zh-CN" altLang="zh-CN" sz="2000" noProof="1" smtClean="0"/>
              <a:t>,</a:t>
            </a:r>
            <a:r>
              <a:rPr lang="zh-CN" altLang="en-US" sz="2000" noProof="1" smtClean="0"/>
              <a:t>主要</a:t>
            </a:r>
            <a:r>
              <a:rPr lang="zh-CN" altLang="zh-CN" sz="2000" noProof="1" smtClean="0"/>
              <a:t>3</a:t>
            </a:r>
            <a:r>
              <a:rPr lang="zh-CN" altLang="en-US" sz="2000" noProof="1" smtClean="0"/>
              <a:t>个</a:t>
            </a:r>
            <a:r>
              <a:rPr lang="zh-CN" altLang="en-US" sz="2000" noProof="1" smtClean="0">
                <a:solidFill>
                  <a:srgbClr val="800000"/>
                </a:solidFill>
              </a:rPr>
              <a:t>目的</a:t>
            </a:r>
            <a:r>
              <a:rPr lang="zh-CN" altLang="en-US" sz="1800" noProof="1" smtClean="0"/>
              <a:t>：</a:t>
            </a:r>
            <a:endParaRPr lang="zh-CN" altLang="en-US" sz="1800" noProof="1" smtClean="0"/>
          </a:p>
          <a:p>
            <a:pPr eaLnBrk="1" hangingPunct="1">
              <a:buFont typeface="Wingdings" panose="05000000000000000000" pitchFamily="2" charset="2"/>
              <a:buNone/>
            </a:pPr>
            <a:endParaRPr lang="zh-CN" altLang="en-US" sz="2000" noProof="1" smtClean="0"/>
          </a:p>
          <a:p>
            <a:pPr eaLnBrk="1" hangingPunct="1">
              <a:buFont typeface="Wingdings" panose="05000000000000000000" pitchFamily="2" charset="2"/>
              <a:buNone/>
            </a:pPr>
            <a:endParaRPr lang="zh-CN" altLang="en-US" sz="2400" noProof="1" smtClean="0"/>
          </a:p>
          <a:p>
            <a:pPr eaLnBrk="1" hangingPunct="1"/>
            <a:endParaRPr lang="zh-CN" altLang="en-US" sz="2800" noProof="1" smtClean="0">
              <a:solidFill>
                <a:srgbClr val="C00000"/>
              </a:solidFill>
            </a:endParaRPr>
          </a:p>
          <a:p>
            <a:pPr eaLnBrk="1" hangingPunct="1"/>
            <a:endParaRPr lang="zh-CN" altLang="en-US" sz="3200" noProof="1" smtClean="0">
              <a:solidFill>
                <a:srgbClr val="C00000"/>
              </a:solidFill>
            </a:endParaRPr>
          </a:p>
          <a:p>
            <a:pPr eaLnBrk="1" hangingPunct="1"/>
            <a:endParaRPr lang="zh-CN" altLang="en-US" sz="3600" noProof="1" smtClean="0">
              <a:solidFill>
                <a:srgbClr val="C00000"/>
              </a:solidFill>
            </a:endParaRPr>
          </a:p>
          <a:p>
            <a:pPr eaLnBrk="1" hangingPunct="1">
              <a:lnSpc>
                <a:spcPct val="95000"/>
              </a:lnSpc>
              <a:spcBef>
                <a:spcPct val="0"/>
              </a:spcBef>
              <a:buFont typeface="Wingdings" panose="05000000000000000000" pitchFamily="2" charset="2"/>
              <a:buNone/>
            </a:pPr>
            <a:endParaRPr lang="zh-CN" altLang="en-US" sz="3600" noProof="1" smtClean="0">
              <a:solidFill>
                <a:srgbClr val="C00000"/>
              </a:solidFill>
            </a:endParaRPr>
          </a:p>
        </p:txBody>
      </p:sp>
      <p:sp>
        <p:nvSpPr>
          <p:cNvPr id="6" name="圆角矩形 5"/>
          <p:cNvSpPr/>
          <p:nvPr/>
        </p:nvSpPr>
        <p:spPr bwMode="gray">
          <a:xfrm>
            <a:off x="431800" y="3432175"/>
            <a:ext cx="8424863" cy="2879725"/>
          </a:xfrm>
          <a:prstGeom prst="roundRect">
            <a:avLst/>
          </a:prstGeom>
        </p:spPr>
        <p:style>
          <a:lnRef idx="2">
            <a:schemeClr val="accent1"/>
          </a:lnRef>
          <a:fillRef idx="1">
            <a:schemeClr val="lt1"/>
          </a:fillRef>
          <a:effectRef idx="0">
            <a:schemeClr val="accent1"/>
          </a:effectRef>
          <a:fontRef idx="minor">
            <a:schemeClr val="dk1"/>
          </a:fontRef>
        </p:style>
        <p:txBody>
          <a:bodyPr anchor="ctr"/>
          <a:lstStyle/>
          <a:p>
            <a:pPr>
              <a:spcBef>
                <a:spcPct val="20000"/>
              </a:spcBef>
              <a:defRPr/>
            </a:pPr>
            <a:r>
              <a:rPr lang="en-US" altLang="zh-CN" sz="2000" b="1" dirty="0">
                <a:solidFill>
                  <a:srgbClr val="29698D"/>
                </a:solidFill>
              </a:rPr>
              <a:t>   </a:t>
            </a:r>
            <a:r>
              <a:rPr lang="en-US" altLang="zh-CN" sz="2000" b="1" dirty="0">
                <a:solidFill>
                  <a:schemeClr val="tx2"/>
                </a:solidFill>
              </a:rPr>
              <a:t>1</a:t>
            </a:r>
            <a:r>
              <a:rPr lang="zh-CN" altLang="zh-CN" sz="2000" b="1" dirty="0">
                <a:solidFill>
                  <a:schemeClr val="tx2"/>
                </a:solidFill>
              </a:rPr>
              <a:t>）为网络安全试验做准备。利用虚拟机软件可以构建虚拟网，模拟复杂的网络环境，可以让用户在单机上实现多机协同作业，进行网络协议分析等功能。</a:t>
            </a:r>
            <a:endParaRPr lang="zh-CN" altLang="zh-CN" sz="2000" b="1" dirty="0">
              <a:solidFill>
                <a:schemeClr val="tx2"/>
              </a:solidFill>
            </a:endParaRPr>
          </a:p>
          <a:p>
            <a:pPr>
              <a:spcBef>
                <a:spcPct val="20000"/>
              </a:spcBef>
              <a:defRPr/>
            </a:pPr>
            <a:r>
              <a:rPr lang="en-US" altLang="zh-CN" sz="2000" b="1" dirty="0">
                <a:solidFill>
                  <a:schemeClr val="tx2"/>
                </a:solidFill>
              </a:rPr>
              <a:t>   2</a:t>
            </a:r>
            <a:r>
              <a:rPr lang="zh-CN" altLang="zh-CN" sz="2000" b="1" dirty="0">
                <a:solidFill>
                  <a:schemeClr val="tx2"/>
                </a:solidFill>
              </a:rPr>
              <a:t>）网络安全实验可能对系统具有一定破坏性，虚拟局域网可以保护物理主机和网络的安全。而且一旦虚拟系统瘫痪后，也可以在数秒内得到恢复。</a:t>
            </a:r>
            <a:endParaRPr lang="zh-CN" altLang="zh-CN" sz="2000" b="1" dirty="0">
              <a:solidFill>
                <a:schemeClr val="tx2"/>
              </a:solidFill>
            </a:endParaRPr>
          </a:p>
          <a:p>
            <a:pPr>
              <a:spcBef>
                <a:spcPct val="20000"/>
              </a:spcBef>
              <a:defRPr/>
            </a:pPr>
            <a:r>
              <a:rPr lang="en-US" altLang="zh-CN" sz="2000" b="1" dirty="0">
                <a:solidFill>
                  <a:schemeClr val="tx2"/>
                </a:solidFill>
              </a:rPr>
              <a:t>   3</a:t>
            </a:r>
            <a:r>
              <a:rPr lang="zh-CN" altLang="zh-CN" sz="2000" b="1" dirty="0">
                <a:solidFill>
                  <a:schemeClr val="tx2"/>
                </a:solidFill>
              </a:rPr>
              <a:t>）</a:t>
            </a:r>
            <a:r>
              <a:rPr altLang="zh-CN" sz="2000" b="1" dirty="0">
                <a:solidFill>
                  <a:schemeClr val="tx2"/>
                </a:solidFill>
              </a:rPr>
              <a:t>利用VMware Workstation Pro 12虚拟机安装Windows 10，可以实现在一台机器上同时运行多个操作系统，以及一些其他操作功能，例如屏幕捕捉、历史重现等。</a:t>
            </a:r>
            <a:endParaRPr altLang="zh-CN" sz="2000" b="1" dirty="0">
              <a:solidFill>
                <a:schemeClr val="tx2"/>
              </a:solidFill>
            </a:endParaRPr>
          </a:p>
        </p:txBody>
      </p:sp>
      <p:sp>
        <p:nvSpPr>
          <p:cNvPr id="68611" name="标题 1"/>
          <p:cNvSpPr>
            <a:spLocks noChangeArrowheads="1"/>
          </p:cNvSpPr>
          <p:nvPr/>
        </p:nvSpPr>
        <p:spPr bwMode="auto">
          <a:xfrm>
            <a:off x="431800" y="201613"/>
            <a:ext cx="8305800" cy="563562"/>
          </a:xfrm>
          <a:prstGeom prst="rect">
            <a:avLst/>
          </a:prstGeom>
          <a:noFill/>
          <a:ln w="9525">
            <a:noFill/>
            <a:miter lim="800000"/>
          </a:ln>
        </p:spPr>
        <p:txBody>
          <a:bodyPr anchor="ctr"/>
          <a:lstStyle/>
          <a:p>
            <a:pPr algn="ctr">
              <a:spcBef>
                <a:spcPct val="20000"/>
              </a:spcBef>
              <a:buFont typeface="Wingdings" panose="05000000000000000000" pitchFamily="2" charset="2"/>
              <a:buNone/>
            </a:pPr>
            <a:r>
              <a:rPr lang="en-US" altLang="zh-CN" sz="3200" b="1">
                <a:solidFill>
                  <a:schemeClr val="bg1"/>
                </a:solidFill>
                <a:latin typeface="Verdana" panose="020B0604030504040204" pitchFamily="34" charset="0"/>
              </a:rPr>
              <a:t>*1.7 </a:t>
            </a:r>
            <a:r>
              <a:rPr lang="zh-CN" altLang="en-US" sz="3200" b="1">
                <a:solidFill>
                  <a:schemeClr val="bg1"/>
                </a:solidFill>
                <a:latin typeface="Verdana" panose="020B0604030504040204" pitchFamily="34" charset="0"/>
              </a:rPr>
              <a:t>实验1 构建虚拟局域网实验</a:t>
            </a:r>
            <a:r>
              <a:rPr lang="en-US" altLang="zh-CN" sz="3200" b="1">
                <a:solidFill>
                  <a:schemeClr val="bg1"/>
                </a:solidFill>
                <a:latin typeface="Verdana" panose="020B0604030504040204" pitchFamily="34" charset="0"/>
              </a:rPr>
              <a:t>VLAN</a:t>
            </a:r>
            <a:endParaRPr lang="en-US" altLang="zh-CN" sz="3200" b="1">
              <a:solidFill>
                <a:schemeClr val="bg1"/>
              </a:solidFill>
              <a:latin typeface="Verdana" panose="020B0604030504040204" pitchFamily="34" charset="0"/>
            </a:endParaRPr>
          </a:p>
        </p:txBody>
      </p:sp>
      <p:sp>
        <p:nvSpPr>
          <p:cNvPr id="68612" name="圆角矩形 1"/>
          <p:cNvSpPr>
            <a:spLocks noChangeArrowheads="1"/>
          </p:cNvSpPr>
          <p:nvPr/>
        </p:nvSpPr>
        <p:spPr bwMode="auto">
          <a:xfrm>
            <a:off x="762000" y="1101725"/>
            <a:ext cx="8077200" cy="1427163"/>
          </a:xfrm>
          <a:prstGeom prst="roundRect">
            <a:avLst>
              <a:gd name="adj" fmla="val 16667"/>
            </a:avLst>
          </a:prstGeom>
          <a:noFill/>
          <a:ln w="28575">
            <a:solidFill>
              <a:schemeClr val="accent1"/>
            </a:solidFill>
            <a:round/>
          </a:ln>
        </p:spPr>
        <p:txBody>
          <a:bodyPr/>
          <a:lstStyle/>
          <a:p>
            <a:pPr algn="dist">
              <a:spcBef>
                <a:spcPct val="20000"/>
              </a:spcBef>
            </a:pPr>
            <a:endParaRPr lang="en-US" alt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文本框 99"/>
          <p:cNvSpPr txBox="1">
            <a:spLocks noChangeArrowheads="1"/>
          </p:cNvSpPr>
          <p:nvPr/>
        </p:nvSpPr>
        <p:spPr bwMode="auto">
          <a:xfrm>
            <a:off x="381000" y="1163638"/>
            <a:ext cx="8305800" cy="5692775"/>
          </a:xfrm>
          <a:prstGeom prst="rect">
            <a:avLst/>
          </a:prstGeom>
          <a:noFill/>
          <a:ln w="9525">
            <a:noFill/>
            <a:miter lim="800000"/>
          </a:ln>
        </p:spPr>
        <p:txBody>
          <a:bodyPr>
            <a:spAutoFit/>
          </a:bodyPr>
          <a:lstStyle/>
          <a:p>
            <a:pPr indent="457200">
              <a:buFont typeface="Wingdings" panose="05000000000000000000" pitchFamily="2" charset="2"/>
              <a:buNone/>
            </a:pPr>
            <a:r>
              <a:rPr lang="en-US" altLang="zh-CN" b="1">
                <a:solidFill>
                  <a:srgbClr val="FF0000"/>
                </a:solidFill>
                <a:latin typeface="黑体" panose="02010609060101010101" pitchFamily="49" charset="-122"/>
                <a:ea typeface="黑体" panose="02010609060101010101" pitchFamily="49" charset="-122"/>
              </a:rPr>
              <a:t>1.7.2 </a:t>
            </a:r>
            <a:r>
              <a:rPr lang="zh-CN" altLang="en-US" b="1">
                <a:solidFill>
                  <a:srgbClr val="FF0000"/>
                </a:solidFill>
                <a:latin typeface="黑体" panose="02010609060101010101" pitchFamily="49" charset="-122"/>
                <a:ea typeface="黑体" panose="02010609060101010101" pitchFamily="49" charset="-122"/>
              </a:rPr>
              <a:t>实验要求及方法</a:t>
            </a:r>
            <a:endParaRPr lang="zh-CN" altLang="en-US" b="1">
              <a:solidFill>
                <a:srgbClr val="FF0000"/>
              </a:solidFill>
              <a:latin typeface="黑体" panose="02010609060101010101" pitchFamily="49" charset="-122"/>
              <a:ea typeface="黑体" panose="02010609060101010101" pitchFamily="49" charset="-122"/>
            </a:endParaRPr>
          </a:p>
          <a:p>
            <a:pPr indent="457200">
              <a:buFont typeface="Wingdings" panose="05000000000000000000" pitchFamily="2" charset="2"/>
              <a:buNone/>
            </a:pPr>
            <a:r>
              <a:rPr lang="en-US" altLang="zh-CN" sz="2000" b="1">
                <a:solidFill>
                  <a:srgbClr val="FF0000"/>
                </a:solidFill>
                <a:latin typeface="Times New Roman" panose="02020603050405020304" pitchFamily="18" charset="0"/>
              </a:rPr>
              <a:t>1</a:t>
            </a:r>
            <a:r>
              <a:rPr lang="zh-CN" altLang="en-US" sz="2000" b="1">
                <a:solidFill>
                  <a:srgbClr val="FF0000"/>
                </a:solidFill>
                <a:latin typeface="黑体" panose="02010609060101010101" pitchFamily="49" charset="-122"/>
                <a:ea typeface="黑体" panose="02010609060101010101" pitchFamily="49" charset="-122"/>
              </a:rPr>
              <a:t>．实验要求</a:t>
            </a:r>
            <a:endParaRPr lang="zh-CN" altLang="en-US" sz="2000" b="1">
              <a:solidFill>
                <a:srgbClr val="FF0000"/>
              </a:solidFill>
              <a:latin typeface="黑体" panose="02010609060101010101" pitchFamily="49" charset="-122"/>
              <a:ea typeface="黑体" panose="02010609060101010101" pitchFamily="49" charset="-122"/>
            </a:endParaRPr>
          </a:p>
          <a:p>
            <a:pPr indent="457200">
              <a:buFont typeface="Wingdings" panose="05000000000000000000" pitchFamily="2" charset="2"/>
              <a:buNone/>
            </a:pPr>
            <a:r>
              <a:rPr lang="en-US" altLang="zh-CN" sz="2000" b="1">
                <a:solidFill>
                  <a:schemeClr val="tx2"/>
                </a:solidFill>
                <a:latin typeface="宋体" panose="02010600030101010101" pitchFamily="2" charset="-122"/>
              </a:rPr>
              <a:t>(</a:t>
            </a:r>
            <a:r>
              <a:rPr lang="en-US" altLang="zh-CN" sz="2000" b="1">
                <a:solidFill>
                  <a:schemeClr val="tx2"/>
                </a:solidFill>
                <a:latin typeface="Times New Roman" panose="02020603050405020304" pitchFamily="18" charset="0"/>
              </a:rPr>
              <a:t>1) </a:t>
            </a:r>
            <a:r>
              <a:rPr lang="zh-CN" altLang="en-US" sz="2000" b="1">
                <a:solidFill>
                  <a:schemeClr val="tx2"/>
                </a:solidFill>
                <a:latin typeface="宋体" panose="02010600030101010101" pitchFamily="2" charset="-122"/>
              </a:rPr>
              <a:t>预习准备</a:t>
            </a:r>
            <a:endParaRPr lang="zh-CN" altLang="en-US" sz="2000" b="1">
              <a:solidFill>
                <a:schemeClr val="tx2"/>
              </a:solidFill>
              <a:latin typeface="宋体" panose="02010600030101010101" pitchFamily="2" charset="-122"/>
            </a:endParaRPr>
          </a:p>
          <a:p>
            <a:pPr indent="457200">
              <a:buFont typeface="Wingdings" panose="05000000000000000000" pitchFamily="2" charset="2"/>
              <a:buNone/>
            </a:pPr>
            <a:r>
              <a:rPr lang="zh-CN" altLang="en-US" sz="2000" b="1">
                <a:solidFill>
                  <a:schemeClr val="tx2"/>
                </a:solidFill>
                <a:latin typeface="宋体" panose="02010600030101010101" pitchFamily="2" charset="-122"/>
              </a:rPr>
              <a:t>由于本实验内容是为了后续的网络安全实验做准备，因此，最好提前做好虚拟局域网</a:t>
            </a:r>
            <a:r>
              <a:rPr lang="zh-CN" altLang="en-US" sz="2000" b="1">
                <a:solidFill>
                  <a:schemeClr val="tx2"/>
                </a:solidFill>
                <a:latin typeface="Times New Roman" panose="02020603050405020304" pitchFamily="18" charset="0"/>
              </a:rPr>
              <a:t>“</a:t>
            </a:r>
            <a:r>
              <a:rPr lang="zh-CN" altLang="en-US" sz="2000" b="1">
                <a:solidFill>
                  <a:schemeClr val="tx2"/>
                </a:solidFill>
                <a:latin typeface="宋体" panose="02010600030101010101" pitchFamily="2" charset="-122"/>
              </a:rPr>
              <a:t>预习</a:t>
            </a:r>
            <a:r>
              <a:rPr lang="zh-CN" altLang="en-US" sz="2000" b="1">
                <a:solidFill>
                  <a:schemeClr val="tx2"/>
                </a:solidFill>
                <a:latin typeface="Times New Roman" panose="02020603050405020304" pitchFamily="18" charset="0"/>
              </a:rPr>
              <a:t>”</a:t>
            </a:r>
            <a:r>
              <a:rPr lang="zh-CN" altLang="en-US" sz="2000" b="1">
                <a:solidFill>
                  <a:schemeClr val="tx2"/>
                </a:solidFill>
                <a:latin typeface="宋体" panose="02010600030101010101" pitchFamily="2" charset="-122"/>
              </a:rPr>
              <a:t>或对有关内容进行一些了解。</a:t>
            </a:r>
            <a:endParaRPr lang="zh-CN" altLang="en-US" sz="2000" b="1">
              <a:solidFill>
                <a:schemeClr val="tx2"/>
              </a:solidFill>
              <a:latin typeface="宋体" panose="02010600030101010101" pitchFamily="2" charset="-122"/>
            </a:endParaRPr>
          </a:p>
          <a:p>
            <a:pPr indent="457200">
              <a:buFont typeface="Wingdings" panose="05000000000000000000" pitchFamily="2" charset="2"/>
              <a:buNone/>
            </a:pPr>
            <a:r>
              <a:rPr lang="en-US" altLang="zh-CN" sz="2000" b="1">
                <a:solidFill>
                  <a:schemeClr val="tx2"/>
                </a:solidFill>
                <a:latin typeface="Times New Roman" panose="02020603050405020304" pitchFamily="18" charset="0"/>
              </a:rPr>
              <a:t>1</a:t>
            </a:r>
            <a:r>
              <a:rPr lang="zh-CN" altLang="en-US" sz="2000" b="1">
                <a:solidFill>
                  <a:schemeClr val="tx2"/>
                </a:solidFill>
                <a:latin typeface="宋体" panose="02010600030101010101" pitchFamily="2" charset="-122"/>
              </a:rPr>
              <a:t>）</a:t>
            </a:r>
            <a:r>
              <a:rPr lang="en-US" altLang="zh-CN" sz="2000" b="1">
                <a:solidFill>
                  <a:schemeClr val="tx2"/>
                </a:solidFill>
                <a:latin typeface="Times New Roman" panose="02020603050405020304" pitchFamily="18" charset="0"/>
              </a:rPr>
              <a:t>Windows 10 </a:t>
            </a:r>
            <a:r>
              <a:rPr lang="zh-CN" altLang="en-US" sz="2000" b="1">
                <a:solidFill>
                  <a:schemeClr val="tx2"/>
                </a:solidFill>
                <a:latin typeface="宋体" panose="02010600030101010101" pitchFamily="2" charset="-122"/>
              </a:rPr>
              <a:t>原版光盘镜像：</a:t>
            </a:r>
            <a:r>
              <a:rPr lang="en-US" altLang="zh-CN" sz="2000" b="1">
                <a:solidFill>
                  <a:schemeClr val="tx2"/>
                </a:solidFill>
                <a:latin typeface="Times New Roman" panose="02020603050405020304" pitchFamily="18" charset="0"/>
              </a:rPr>
              <a:t>Windows 10 </a:t>
            </a:r>
            <a:r>
              <a:rPr lang="zh-CN" altLang="en-US" sz="2000" b="1">
                <a:solidFill>
                  <a:schemeClr val="tx2"/>
                </a:solidFill>
                <a:latin typeface="宋体" panose="02010600030101010101" pitchFamily="2" charset="-122"/>
              </a:rPr>
              <a:t>开发者预览版下载。</a:t>
            </a:r>
            <a:endParaRPr lang="zh-CN" altLang="en-US" sz="2000" b="1">
              <a:solidFill>
                <a:schemeClr val="tx2"/>
              </a:solidFill>
              <a:latin typeface="宋体" panose="02010600030101010101" pitchFamily="2" charset="-122"/>
            </a:endParaRPr>
          </a:p>
          <a:p>
            <a:pPr indent="457200">
              <a:buFont typeface="Wingdings" panose="05000000000000000000" pitchFamily="2" charset="2"/>
              <a:buNone/>
            </a:pPr>
            <a:r>
              <a:rPr lang="en-US" altLang="zh-CN" sz="2000" b="1">
                <a:solidFill>
                  <a:schemeClr val="tx2"/>
                </a:solidFill>
                <a:latin typeface="Times New Roman" panose="02020603050405020304" pitchFamily="18" charset="0"/>
              </a:rPr>
              <a:t>2</a:t>
            </a:r>
            <a:r>
              <a:rPr lang="zh-CN" altLang="en-US" sz="2000" b="1">
                <a:solidFill>
                  <a:schemeClr val="tx2"/>
                </a:solidFill>
                <a:latin typeface="宋体" panose="02010600030101010101" pitchFamily="2" charset="-122"/>
              </a:rPr>
              <a:t>）</a:t>
            </a:r>
            <a:r>
              <a:rPr lang="en-US" altLang="zh-CN" sz="2000" b="1" u="sng">
                <a:solidFill>
                  <a:schemeClr val="tx2"/>
                </a:solidFill>
                <a:latin typeface="Times New Roman" panose="02020603050405020304" pitchFamily="18" charset="0"/>
              </a:rPr>
              <a:t>VMware </a:t>
            </a:r>
            <a:r>
              <a:rPr lang="en-US" altLang="zh-CN" sz="2000" b="1">
                <a:solidFill>
                  <a:schemeClr val="tx2"/>
                </a:solidFill>
                <a:latin typeface="Times New Roman" panose="02020603050405020304" pitchFamily="18" charset="0"/>
              </a:rPr>
              <a:t>12</a:t>
            </a:r>
            <a:r>
              <a:rPr lang="zh-CN" altLang="en-US" sz="2000" b="1">
                <a:solidFill>
                  <a:schemeClr val="tx2"/>
                </a:solidFill>
                <a:latin typeface="宋体" panose="02010600030101010101" pitchFamily="2" charset="-122"/>
              </a:rPr>
              <a:t>虚拟机软件下载：</a:t>
            </a:r>
            <a:r>
              <a:rPr lang="en-US" altLang="zh-CN" sz="2000" b="1">
                <a:solidFill>
                  <a:schemeClr val="tx2"/>
                </a:solidFill>
                <a:latin typeface="Times New Roman" panose="02020603050405020304" pitchFamily="18" charset="0"/>
              </a:rPr>
              <a:t>VMware Workstation Pro 12 </a:t>
            </a:r>
            <a:r>
              <a:rPr lang="zh-CN" altLang="en-US" sz="2000" b="1">
                <a:solidFill>
                  <a:schemeClr val="tx2"/>
                </a:solidFill>
                <a:latin typeface="宋体" panose="02010600030101010101" pitchFamily="2" charset="-122"/>
              </a:rPr>
              <a:t>正式版发布下载（支持</a:t>
            </a:r>
            <a:r>
              <a:rPr lang="en-US" altLang="zh-CN" sz="2000" b="1">
                <a:solidFill>
                  <a:schemeClr val="tx2"/>
                </a:solidFill>
                <a:latin typeface="Times New Roman" panose="02020603050405020304" pitchFamily="18" charset="0"/>
              </a:rPr>
              <a:t>Win8</a:t>
            </a:r>
            <a:r>
              <a:rPr lang="zh-CN" altLang="en-US" sz="2000" b="1">
                <a:solidFill>
                  <a:schemeClr val="tx2"/>
                </a:solidFill>
                <a:latin typeface="宋体" panose="02010600030101010101" pitchFamily="2" charset="-122"/>
              </a:rPr>
              <a:t>，</a:t>
            </a:r>
            <a:r>
              <a:rPr lang="en-US" altLang="zh-CN" sz="2000" b="1">
                <a:solidFill>
                  <a:schemeClr val="tx2"/>
                </a:solidFill>
                <a:latin typeface="Times New Roman" panose="02020603050405020304" pitchFamily="18" charset="0"/>
              </a:rPr>
              <a:t>For Windows</a:t>
            </a:r>
            <a:r>
              <a:rPr lang="zh-CN" altLang="en-US" sz="2000" b="1">
                <a:solidFill>
                  <a:schemeClr val="tx2"/>
                </a:solidFill>
                <a:latin typeface="宋体" panose="02010600030101010101" pitchFamily="2" charset="-122"/>
              </a:rPr>
              <a:t>主机）</a:t>
            </a:r>
            <a:endParaRPr lang="zh-CN" altLang="en-US" sz="2000" b="1">
              <a:solidFill>
                <a:schemeClr val="tx2"/>
              </a:solidFill>
              <a:latin typeface="宋体" panose="02010600030101010101" pitchFamily="2" charset="-122"/>
            </a:endParaRPr>
          </a:p>
          <a:p>
            <a:pPr indent="457200">
              <a:buFont typeface="Wingdings" panose="05000000000000000000" pitchFamily="2" charset="2"/>
              <a:buNone/>
            </a:pPr>
            <a:r>
              <a:rPr lang="en-US" altLang="zh-CN" sz="2000" b="1">
                <a:solidFill>
                  <a:schemeClr val="tx2"/>
                </a:solidFill>
                <a:latin typeface="宋体" panose="02010600030101010101" pitchFamily="2" charset="-122"/>
              </a:rPr>
              <a:t>(</a:t>
            </a:r>
            <a:r>
              <a:rPr lang="en-US" altLang="zh-CN" sz="2000" b="1">
                <a:solidFill>
                  <a:schemeClr val="tx2"/>
                </a:solidFill>
                <a:latin typeface="Times New Roman" panose="02020603050405020304" pitchFamily="18" charset="0"/>
              </a:rPr>
              <a:t>2) </a:t>
            </a:r>
            <a:r>
              <a:rPr lang="zh-CN" altLang="en-US" sz="2000" b="1">
                <a:solidFill>
                  <a:schemeClr val="tx2"/>
                </a:solidFill>
                <a:latin typeface="宋体" panose="02010600030101010101" pitchFamily="2" charset="-122"/>
              </a:rPr>
              <a:t>注意事项及特别提醒</a:t>
            </a:r>
            <a:endParaRPr lang="zh-CN" altLang="en-US" sz="2000" b="1">
              <a:solidFill>
                <a:schemeClr val="tx2"/>
              </a:solidFill>
              <a:latin typeface="宋体" panose="02010600030101010101" pitchFamily="2" charset="-122"/>
            </a:endParaRPr>
          </a:p>
          <a:p>
            <a:pPr indent="457200">
              <a:buFont typeface="Wingdings" panose="05000000000000000000" pitchFamily="2" charset="2"/>
              <a:buNone/>
            </a:pPr>
            <a:r>
              <a:rPr lang="zh-CN" altLang="en-US" sz="2000" b="1">
                <a:solidFill>
                  <a:schemeClr val="tx2"/>
                </a:solidFill>
                <a:latin typeface="宋体" panose="02010600030101010101" pitchFamily="2" charset="-122"/>
              </a:rPr>
              <a:t>安装</a:t>
            </a:r>
            <a:r>
              <a:rPr lang="en-US" altLang="zh-CN" sz="2000" b="1">
                <a:solidFill>
                  <a:schemeClr val="tx2"/>
                </a:solidFill>
                <a:latin typeface="Times New Roman" panose="02020603050405020304" pitchFamily="18" charset="0"/>
              </a:rPr>
              <a:t>VMware</a:t>
            </a:r>
            <a:r>
              <a:rPr lang="zh-CN" altLang="en-US" sz="2000" b="1">
                <a:solidFill>
                  <a:schemeClr val="tx2"/>
                </a:solidFill>
                <a:latin typeface="宋体" panose="02010600030101010101" pitchFamily="2" charset="-122"/>
              </a:rPr>
              <a:t>时，需要将设置中的软盘移除，以免可能影响</a:t>
            </a:r>
            <a:r>
              <a:rPr lang="en-US" altLang="zh-CN" sz="2000" b="1">
                <a:solidFill>
                  <a:schemeClr val="tx2"/>
                </a:solidFill>
                <a:latin typeface="Times New Roman" panose="02020603050405020304" pitchFamily="18" charset="0"/>
              </a:rPr>
              <a:t>Windows 10</a:t>
            </a:r>
            <a:r>
              <a:rPr lang="zh-CN" altLang="en-US" sz="2000" b="1">
                <a:solidFill>
                  <a:schemeClr val="tx2"/>
                </a:solidFill>
                <a:latin typeface="宋体" panose="02010600030101010101" pitchFamily="2" charset="-122"/>
              </a:rPr>
              <a:t>声音或网络。</a:t>
            </a:r>
            <a:endParaRPr lang="zh-CN" altLang="en-US" sz="2000" b="1">
              <a:solidFill>
                <a:schemeClr val="tx2"/>
              </a:solidFill>
              <a:latin typeface="宋体" panose="02010600030101010101" pitchFamily="2" charset="-122"/>
            </a:endParaRPr>
          </a:p>
          <a:p>
            <a:pPr indent="457200">
              <a:buFont typeface="Wingdings" panose="05000000000000000000" pitchFamily="2" charset="2"/>
              <a:buNone/>
            </a:pPr>
            <a:r>
              <a:rPr lang="zh-CN" altLang="en-US" sz="2000" b="1">
                <a:solidFill>
                  <a:schemeClr val="tx2"/>
                </a:solidFill>
                <a:latin typeface="宋体" panose="02010600030101010101" pitchFamily="2" charset="-122"/>
              </a:rPr>
              <a:t>由于网络安全技术更新快、技术、方法和软硬件产品种类繁多，可能具体版本和界面等方面不尽一致或有所差异。特别是在具体实验步骤中更应当多注重关键的技术方法，做到</a:t>
            </a:r>
            <a:r>
              <a:rPr lang="zh-CN" altLang="en-US" sz="2000" b="1">
                <a:solidFill>
                  <a:schemeClr val="tx2"/>
                </a:solidFill>
                <a:latin typeface="Times New Roman" panose="02020603050405020304" pitchFamily="18" charset="0"/>
              </a:rPr>
              <a:t>“</a:t>
            </a:r>
            <a:r>
              <a:rPr lang="zh-CN" altLang="en-US" sz="2000" b="1">
                <a:solidFill>
                  <a:schemeClr val="tx2"/>
                </a:solidFill>
                <a:latin typeface="宋体" panose="02010600030101010101" pitchFamily="2" charset="-122"/>
              </a:rPr>
              <a:t>举一反三、触类旁通</a:t>
            </a:r>
            <a:r>
              <a:rPr lang="zh-CN" altLang="en-US" sz="2000" b="1">
                <a:solidFill>
                  <a:schemeClr val="tx2"/>
                </a:solidFill>
                <a:latin typeface="Times New Roman" panose="02020603050405020304" pitchFamily="18" charset="0"/>
              </a:rPr>
              <a:t>”</a:t>
            </a:r>
            <a:r>
              <a:rPr lang="zh-CN" altLang="en-US" sz="2000" b="1">
                <a:solidFill>
                  <a:schemeClr val="tx2"/>
                </a:solidFill>
                <a:latin typeface="宋体" panose="02010600030101010101" pitchFamily="2" charset="-122"/>
              </a:rPr>
              <a:t>，不要死钻</a:t>
            </a:r>
            <a:r>
              <a:rPr lang="zh-CN" altLang="en-US" sz="2000" b="1">
                <a:solidFill>
                  <a:schemeClr val="tx2"/>
                </a:solidFill>
                <a:latin typeface="Times New Roman" panose="02020603050405020304" pitchFamily="18" charset="0"/>
              </a:rPr>
              <a:t>“</a:t>
            </a:r>
            <a:r>
              <a:rPr lang="zh-CN" altLang="en-US" sz="2000" b="1">
                <a:solidFill>
                  <a:schemeClr val="tx2"/>
                </a:solidFill>
                <a:latin typeface="宋体" panose="02010600030101010101" pitchFamily="2" charset="-122"/>
              </a:rPr>
              <a:t>牛角尖</a:t>
            </a:r>
            <a:r>
              <a:rPr lang="zh-CN" altLang="en-US" sz="2000" b="1">
                <a:solidFill>
                  <a:schemeClr val="tx2"/>
                </a:solidFill>
                <a:latin typeface="Times New Roman" panose="02020603050405020304" pitchFamily="18" charset="0"/>
              </a:rPr>
              <a:t>”</a:t>
            </a:r>
            <a:r>
              <a:rPr lang="zh-CN" altLang="en-US" sz="2000" b="1">
                <a:solidFill>
                  <a:schemeClr val="tx2"/>
                </a:solidFill>
                <a:latin typeface="宋体" panose="02010600030101010101" pitchFamily="2" charset="-122"/>
              </a:rPr>
              <a:t>过分扣细节。</a:t>
            </a:r>
            <a:endParaRPr lang="zh-CN" altLang="en-US" sz="2000" b="1">
              <a:solidFill>
                <a:schemeClr val="tx2"/>
              </a:solidFill>
              <a:latin typeface="宋体" panose="02010600030101010101" pitchFamily="2" charset="-122"/>
            </a:endParaRPr>
          </a:p>
          <a:p>
            <a:pPr indent="457200">
              <a:buFont typeface="Wingdings" panose="05000000000000000000" pitchFamily="2" charset="2"/>
              <a:buNone/>
            </a:pPr>
            <a:r>
              <a:rPr lang="en-US" altLang="zh-CN" sz="2000" b="1">
                <a:solidFill>
                  <a:schemeClr val="tx2"/>
                </a:solidFill>
                <a:latin typeface="宋体" panose="02010600030101010101" pitchFamily="2" charset="-122"/>
              </a:rPr>
              <a:t>(</a:t>
            </a:r>
            <a:r>
              <a:rPr lang="en-US" altLang="zh-CN" sz="2000" b="1">
                <a:solidFill>
                  <a:schemeClr val="tx2"/>
                </a:solidFill>
                <a:latin typeface="Times New Roman" panose="02020603050405020304" pitchFamily="18" charset="0"/>
              </a:rPr>
              <a:t>3) </a:t>
            </a:r>
            <a:r>
              <a:rPr lang="zh-CN" altLang="en-US" sz="2000" b="1">
                <a:solidFill>
                  <a:schemeClr val="tx2"/>
                </a:solidFill>
                <a:latin typeface="宋体" panose="02010600030101010101" pitchFamily="2" charset="-122"/>
              </a:rPr>
              <a:t>注意实验步骤和要点</a:t>
            </a:r>
            <a:endParaRPr lang="zh-CN" altLang="en-US" sz="2000" b="1">
              <a:solidFill>
                <a:schemeClr val="tx2"/>
              </a:solidFill>
              <a:latin typeface="宋体" panose="02010600030101010101" pitchFamily="2" charset="-122"/>
            </a:endParaRPr>
          </a:p>
          <a:p>
            <a:pPr indent="457200">
              <a:buFont typeface="Wingdings" panose="05000000000000000000" pitchFamily="2" charset="2"/>
              <a:buNone/>
            </a:pPr>
            <a:r>
              <a:rPr lang="zh-CN" altLang="en-US" sz="2000" b="1">
                <a:solidFill>
                  <a:schemeClr val="tx2"/>
                </a:solidFill>
                <a:latin typeface="宋体" panose="02010600030101010101" pitchFamily="2" charset="-122"/>
              </a:rPr>
              <a:t>安装完成虚拟软件和设置以后，需要重新启动才可正常进行使用。</a:t>
            </a:r>
            <a:endParaRPr lang="zh-CN" altLang="en-US" sz="2000" b="1">
              <a:solidFill>
                <a:schemeClr val="tx2"/>
              </a:solidFill>
              <a:latin typeface="宋体" panose="02010600030101010101" pitchFamily="2" charset="-122"/>
            </a:endParaRPr>
          </a:p>
          <a:p>
            <a:pPr indent="457200">
              <a:buFont typeface="Wingdings" panose="05000000000000000000" pitchFamily="2" charset="2"/>
              <a:buNone/>
            </a:pPr>
            <a:r>
              <a:rPr lang="zh-CN" altLang="en-US" sz="2000" b="1">
                <a:solidFill>
                  <a:schemeClr val="tx2"/>
                </a:solidFill>
                <a:latin typeface="宋体" panose="02010600030101010101" pitchFamily="2" charset="-122"/>
              </a:rPr>
              <a:t>实验用时：</a:t>
            </a:r>
            <a:r>
              <a:rPr lang="en-US" altLang="zh-CN" sz="2000" b="1">
                <a:solidFill>
                  <a:schemeClr val="tx2"/>
                </a:solidFill>
                <a:latin typeface="Times New Roman" panose="02020603050405020304" pitchFamily="18" charset="0"/>
              </a:rPr>
              <a:t>2</a:t>
            </a:r>
            <a:r>
              <a:rPr lang="zh-CN" altLang="en-US" sz="2000" b="1">
                <a:solidFill>
                  <a:schemeClr val="tx2"/>
                </a:solidFill>
                <a:latin typeface="宋体" panose="02010600030101010101" pitchFamily="2" charset="-122"/>
              </a:rPr>
              <a:t>学时（</a:t>
            </a:r>
            <a:r>
              <a:rPr lang="en-US" altLang="zh-CN" sz="2000" b="1">
                <a:solidFill>
                  <a:schemeClr val="tx2"/>
                </a:solidFill>
                <a:latin typeface="Times New Roman" panose="02020603050405020304" pitchFamily="18" charset="0"/>
              </a:rPr>
              <a:t>90–120</a:t>
            </a:r>
            <a:r>
              <a:rPr lang="zh-CN" altLang="en-US" sz="2000" b="1">
                <a:solidFill>
                  <a:schemeClr val="tx2"/>
                </a:solidFill>
                <a:latin typeface="宋体" panose="02010600030101010101" pitchFamily="2" charset="-122"/>
              </a:rPr>
              <a:t>分钟）</a:t>
            </a:r>
            <a:endParaRPr lang="zh-CN" altLang="en-US" sz="2000" b="1">
              <a:solidFill>
                <a:schemeClr val="tx2"/>
              </a:solidFill>
              <a:latin typeface="宋体" panose="02010600030101010101" pitchFamily="2" charset="-122"/>
            </a:endParaRPr>
          </a:p>
        </p:txBody>
      </p:sp>
      <p:sp>
        <p:nvSpPr>
          <p:cNvPr id="69634" name="AutoShape 6"/>
          <p:cNvSpPr>
            <a:spLocks noChangeArrowheads="1"/>
          </p:cNvSpPr>
          <p:nvPr/>
        </p:nvSpPr>
        <p:spPr bwMode="auto">
          <a:xfrm>
            <a:off x="381000" y="1143000"/>
            <a:ext cx="8305800" cy="5562600"/>
          </a:xfrm>
          <a:prstGeom prst="flowChartAlternateProcess">
            <a:avLst/>
          </a:prstGeom>
          <a:noFill/>
          <a:ln w="25400">
            <a:solidFill>
              <a:srgbClr val="1F38ED"/>
            </a:solidFill>
            <a:miter lim="800000"/>
          </a:ln>
        </p:spPr>
        <p:txBody>
          <a:bodyPr wrap="none" anchor="ctr"/>
          <a:lstStyle/>
          <a:p>
            <a:pPr>
              <a:spcBef>
                <a:spcPct val="20000"/>
              </a:spcBef>
              <a:buFont typeface="Wingdings" panose="05000000000000000000" pitchFamily="2" charset="2"/>
              <a:buNone/>
            </a:pPr>
            <a:endParaRPr lang="zh-CN" altLang="en-US"/>
          </a:p>
        </p:txBody>
      </p:sp>
      <p:sp>
        <p:nvSpPr>
          <p:cNvPr id="69635" name="标题 1"/>
          <p:cNvSpPr>
            <a:spLocks noChangeArrowheads="1"/>
          </p:cNvSpPr>
          <p:nvPr/>
        </p:nvSpPr>
        <p:spPr bwMode="auto">
          <a:xfrm>
            <a:off x="431800" y="201613"/>
            <a:ext cx="8305800" cy="563562"/>
          </a:xfrm>
          <a:prstGeom prst="rect">
            <a:avLst/>
          </a:prstGeom>
          <a:noFill/>
          <a:ln w="9525">
            <a:noFill/>
            <a:miter lim="800000"/>
          </a:ln>
        </p:spPr>
        <p:txBody>
          <a:bodyPr anchor="ctr"/>
          <a:lstStyle/>
          <a:p>
            <a:pPr algn="ctr">
              <a:spcBef>
                <a:spcPct val="20000"/>
              </a:spcBef>
              <a:buFont typeface="Wingdings" panose="05000000000000000000" pitchFamily="2" charset="2"/>
              <a:buNone/>
            </a:pPr>
            <a:r>
              <a:rPr lang="en-US" altLang="zh-CN" sz="3200" b="1">
                <a:solidFill>
                  <a:schemeClr val="bg1"/>
                </a:solidFill>
                <a:latin typeface="Verdana" panose="020B0604030504040204" pitchFamily="34" charset="0"/>
              </a:rPr>
              <a:t>*1.7 </a:t>
            </a:r>
            <a:r>
              <a:rPr lang="zh-CN" altLang="en-US" sz="3200" b="1">
                <a:solidFill>
                  <a:schemeClr val="bg1"/>
                </a:solidFill>
                <a:latin typeface="Verdana" panose="020B0604030504040204" pitchFamily="34" charset="0"/>
              </a:rPr>
              <a:t>实验1 构建虚拟局域网实验</a:t>
            </a:r>
            <a:r>
              <a:rPr lang="en-US" altLang="zh-CN" sz="3200" b="1">
                <a:solidFill>
                  <a:schemeClr val="bg1"/>
                </a:solidFill>
                <a:latin typeface="Verdana" panose="020B0604030504040204" pitchFamily="34" charset="0"/>
              </a:rPr>
              <a:t>VLAN</a:t>
            </a:r>
            <a:endParaRPr lang="en-US" altLang="zh-CN" sz="3200" b="1">
              <a:solidFill>
                <a:schemeClr val="bg1"/>
              </a:solidFill>
              <a:latin typeface="Verdana" panose="020B0604030504040204" pitchFamily="34" charset="0"/>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AutoShape 2"/>
          <p:cNvSpPr>
            <a:spLocks noChangeArrowheads="1"/>
          </p:cNvSpPr>
          <p:nvPr/>
        </p:nvSpPr>
        <p:spPr bwMode="auto">
          <a:xfrm flipH="1">
            <a:off x="827088" y="4275138"/>
            <a:ext cx="7561262" cy="1398587"/>
          </a:xfrm>
          <a:prstGeom prst="cube">
            <a:avLst>
              <a:gd name="adj" fmla="val 93745"/>
            </a:avLst>
          </a:prstGeom>
          <a:solidFill>
            <a:schemeClr val="bg1"/>
          </a:solidFill>
          <a:ln w="9525">
            <a:solidFill>
              <a:schemeClr val="tx1"/>
            </a:solidFill>
            <a:miter lim="800000"/>
          </a:ln>
        </p:spPr>
        <p:txBody>
          <a:bodyPr wrap="none" anchor="ctr"/>
          <a:lstStyle/>
          <a:p>
            <a:pPr algn="dist">
              <a:spcBef>
                <a:spcPct val="20000"/>
              </a:spcBef>
              <a:buFont typeface="Wingdings" panose="05000000000000000000" pitchFamily="2" charset="2"/>
              <a:buNone/>
            </a:pPr>
            <a:endParaRPr lang="zh-CN" altLang="en-US" sz="1800"/>
          </a:p>
        </p:txBody>
      </p:sp>
      <p:sp>
        <p:nvSpPr>
          <p:cNvPr id="70658" name="Line 3"/>
          <p:cNvSpPr>
            <a:spLocks noChangeShapeType="1"/>
          </p:cNvSpPr>
          <p:nvPr/>
        </p:nvSpPr>
        <p:spPr bwMode="auto">
          <a:xfrm>
            <a:off x="2247900" y="6372225"/>
            <a:ext cx="1568450" cy="0"/>
          </a:xfrm>
          <a:prstGeom prst="line">
            <a:avLst/>
          </a:prstGeom>
          <a:noFill/>
          <a:ln w="76200">
            <a:solidFill>
              <a:srgbClr val="333399"/>
            </a:solidFill>
            <a:round/>
          </a:ln>
        </p:spPr>
        <p:txBody>
          <a:bodyPr/>
          <a:lstStyle/>
          <a:p>
            <a:endParaRPr lang="zh-CN" altLang="en-US"/>
          </a:p>
        </p:txBody>
      </p:sp>
      <p:sp>
        <p:nvSpPr>
          <p:cNvPr id="70659" name="AutoShape 4"/>
          <p:cNvSpPr>
            <a:spLocks noChangeArrowheads="1"/>
          </p:cNvSpPr>
          <p:nvPr/>
        </p:nvSpPr>
        <p:spPr bwMode="auto">
          <a:xfrm flipH="1">
            <a:off x="827088" y="2333625"/>
            <a:ext cx="7561262" cy="1397000"/>
          </a:xfrm>
          <a:prstGeom prst="cube">
            <a:avLst>
              <a:gd name="adj" fmla="val 93745"/>
            </a:avLst>
          </a:prstGeom>
          <a:solidFill>
            <a:schemeClr val="bg1"/>
          </a:solidFill>
          <a:ln w="9525">
            <a:solidFill>
              <a:schemeClr val="tx1"/>
            </a:solidFill>
            <a:miter lim="800000"/>
          </a:ln>
        </p:spPr>
        <p:txBody>
          <a:bodyPr wrap="none" anchor="ctr"/>
          <a:lstStyle/>
          <a:p>
            <a:pPr algn="dist">
              <a:spcBef>
                <a:spcPct val="20000"/>
              </a:spcBef>
              <a:buFont typeface="Wingdings" panose="05000000000000000000" pitchFamily="2" charset="2"/>
              <a:buNone/>
            </a:pPr>
            <a:endParaRPr lang="zh-CN" altLang="en-US" sz="1800"/>
          </a:p>
        </p:txBody>
      </p:sp>
      <p:sp>
        <p:nvSpPr>
          <p:cNvPr id="70660" name="AutoShape 5"/>
          <p:cNvSpPr>
            <a:spLocks noChangeArrowheads="1"/>
          </p:cNvSpPr>
          <p:nvPr/>
        </p:nvSpPr>
        <p:spPr bwMode="auto">
          <a:xfrm flipH="1">
            <a:off x="901700" y="468313"/>
            <a:ext cx="7412038" cy="1398587"/>
          </a:xfrm>
          <a:prstGeom prst="cube">
            <a:avLst>
              <a:gd name="adj" fmla="val 93745"/>
            </a:avLst>
          </a:prstGeom>
          <a:solidFill>
            <a:schemeClr val="bg1"/>
          </a:solidFill>
          <a:ln w="9525">
            <a:solidFill>
              <a:schemeClr val="tx1"/>
            </a:solidFill>
            <a:miter lim="800000"/>
          </a:ln>
        </p:spPr>
        <p:txBody>
          <a:bodyPr wrap="none" anchor="ctr"/>
          <a:lstStyle/>
          <a:p>
            <a:pPr algn="dist">
              <a:spcBef>
                <a:spcPct val="20000"/>
              </a:spcBef>
              <a:buFont typeface="Wingdings" panose="05000000000000000000" pitchFamily="2" charset="2"/>
              <a:buNone/>
            </a:pPr>
            <a:endParaRPr lang="zh-CN" altLang="en-US" sz="1800"/>
          </a:p>
        </p:txBody>
      </p:sp>
      <p:sp>
        <p:nvSpPr>
          <p:cNvPr id="70661" name="Line 6"/>
          <p:cNvSpPr>
            <a:spLocks noChangeShapeType="1"/>
          </p:cNvSpPr>
          <p:nvPr/>
        </p:nvSpPr>
        <p:spPr bwMode="auto">
          <a:xfrm>
            <a:off x="2679700" y="857250"/>
            <a:ext cx="3917950" cy="0"/>
          </a:xfrm>
          <a:prstGeom prst="line">
            <a:avLst/>
          </a:prstGeom>
          <a:noFill/>
          <a:ln w="28575">
            <a:solidFill>
              <a:srgbClr val="333399"/>
            </a:solidFill>
            <a:round/>
          </a:ln>
        </p:spPr>
        <p:txBody>
          <a:bodyPr/>
          <a:lstStyle/>
          <a:p>
            <a:endParaRPr lang="zh-CN" altLang="en-US"/>
          </a:p>
        </p:txBody>
      </p:sp>
      <p:sp>
        <p:nvSpPr>
          <p:cNvPr id="70662" name="Line 7"/>
          <p:cNvSpPr>
            <a:spLocks noChangeShapeType="1"/>
          </p:cNvSpPr>
          <p:nvPr/>
        </p:nvSpPr>
        <p:spPr bwMode="auto">
          <a:xfrm>
            <a:off x="2828925" y="1012825"/>
            <a:ext cx="2362200" cy="0"/>
          </a:xfrm>
          <a:prstGeom prst="line">
            <a:avLst/>
          </a:prstGeom>
          <a:noFill/>
          <a:ln w="28575">
            <a:solidFill>
              <a:srgbClr val="333399"/>
            </a:solidFill>
            <a:round/>
          </a:ln>
        </p:spPr>
        <p:txBody>
          <a:bodyPr/>
          <a:lstStyle/>
          <a:p>
            <a:endParaRPr lang="zh-CN" altLang="en-US"/>
          </a:p>
        </p:txBody>
      </p:sp>
      <p:sp>
        <p:nvSpPr>
          <p:cNvPr id="70663" name="Line 8"/>
          <p:cNvSpPr>
            <a:spLocks noChangeShapeType="1"/>
          </p:cNvSpPr>
          <p:nvPr/>
        </p:nvSpPr>
        <p:spPr bwMode="auto">
          <a:xfrm>
            <a:off x="2976563" y="1166813"/>
            <a:ext cx="519112" cy="0"/>
          </a:xfrm>
          <a:prstGeom prst="line">
            <a:avLst/>
          </a:prstGeom>
          <a:noFill/>
          <a:ln w="28575">
            <a:solidFill>
              <a:srgbClr val="333399"/>
            </a:solidFill>
            <a:round/>
          </a:ln>
        </p:spPr>
        <p:txBody>
          <a:bodyPr/>
          <a:lstStyle/>
          <a:p>
            <a:endParaRPr lang="zh-CN" altLang="en-US"/>
          </a:p>
        </p:txBody>
      </p:sp>
      <p:sp>
        <p:nvSpPr>
          <p:cNvPr id="70664" name="Line 9"/>
          <p:cNvSpPr>
            <a:spLocks noChangeShapeType="1"/>
          </p:cNvSpPr>
          <p:nvPr/>
        </p:nvSpPr>
        <p:spPr bwMode="auto">
          <a:xfrm>
            <a:off x="2976563" y="3109913"/>
            <a:ext cx="519112" cy="0"/>
          </a:xfrm>
          <a:prstGeom prst="line">
            <a:avLst/>
          </a:prstGeom>
          <a:noFill/>
          <a:ln w="28575">
            <a:solidFill>
              <a:srgbClr val="333399"/>
            </a:solidFill>
            <a:round/>
          </a:ln>
        </p:spPr>
        <p:txBody>
          <a:bodyPr/>
          <a:lstStyle/>
          <a:p>
            <a:endParaRPr lang="zh-CN" altLang="en-US"/>
          </a:p>
        </p:txBody>
      </p:sp>
      <p:sp>
        <p:nvSpPr>
          <p:cNvPr id="70665" name="Line 10"/>
          <p:cNvSpPr>
            <a:spLocks noChangeShapeType="1"/>
          </p:cNvSpPr>
          <p:nvPr/>
        </p:nvSpPr>
        <p:spPr bwMode="auto">
          <a:xfrm>
            <a:off x="2828925" y="2876550"/>
            <a:ext cx="2616200" cy="0"/>
          </a:xfrm>
          <a:prstGeom prst="line">
            <a:avLst/>
          </a:prstGeom>
          <a:noFill/>
          <a:ln w="28575">
            <a:solidFill>
              <a:srgbClr val="333399"/>
            </a:solidFill>
            <a:round/>
          </a:ln>
        </p:spPr>
        <p:txBody>
          <a:bodyPr/>
          <a:lstStyle/>
          <a:p>
            <a:endParaRPr lang="zh-CN" altLang="en-US"/>
          </a:p>
        </p:txBody>
      </p:sp>
      <p:sp>
        <p:nvSpPr>
          <p:cNvPr id="70666" name="Line 11"/>
          <p:cNvSpPr>
            <a:spLocks noChangeShapeType="1"/>
          </p:cNvSpPr>
          <p:nvPr/>
        </p:nvSpPr>
        <p:spPr bwMode="auto">
          <a:xfrm>
            <a:off x="2606675" y="2643188"/>
            <a:ext cx="3978275" cy="0"/>
          </a:xfrm>
          <a:prstGeom prst="line">
            <a:avLst/>
          </a:prstGeom>
          <a:noFill/>
          <a:ln w="28575">
            <a:solidFill>
              <a:srgbClr val="333399"/>
            </a:solidFill>
            <a:round/>
          </a:ln>
        </p:spPr>
        <p:txBody>
          <a:bodyPr/>
          <a:lstStyle/>
          <a:p>
            <a:endParaRPr lang="zh-CN" altLang="en-US"/>
          </a:p>
        </p:txBody>
      </p:sp>
      <p:sp>
        <p:nvSpPr>
          <p:cNvPr id="70667" name="Line 12"/>
          <p:cNvSpPr>
            <a:spLocks noChangeShapeType="1"/>
          </p:cNvSpPr>
          <p:nvPr/>
        </p:nvSpPr>
        <p:spPr bwMode="auto">
          <a:xfrm>
            <a:off x="2754313" y="4895850"/>
            <a:ext cx="1408112" cy="0"/>
          </a:xfrm>
          <a:prstGeom prst="line">
            <a:avLst/>
          </a:prstGeom>
          <a:noFill/>
          <a:ln w="28575">
            <a:solidFill>
              <a:srgbClr val="333399"/>
            </a:solidFill>
            <a:round/>
          </a:ln>
        </p:spPr>
        <p:txBody>
          <a:bodyPr/>
          <a:lstStyle/>
          <a:p>
            <a:endParaRPr lang="zh-CN" altLang="en-US"/>
          </a:p>
        </p:txBody>
      </p:sp>
      <p:sp>
        <p:nvSpPr>
          <p:cNvPr id="70668" name="Line 13"/>
          <p:cNvSpPr>
            <a:spLocks noChangeShapeType="1"/>
          </p:cNvSpPr>
          <p:nvPr/>
        </p:nvSpPr>
        <p:spPr bwMode="auto">
          <a:xfrm>
            <a:off x="2754313" y="5051425"/>
            <a:ext cx="746125" cy="0"/>
          </a:xfrm>
          <a:prstGeom prst="line">
            <a:avLst/>
          </a:prstGeom>
          <a:noFill/>
          <a:ln w="28575">
            <a:solidFill>
              <a:srgbClr val="333399"/>
            </a:solidFill>
            <a:round/>
          </a:ln>
        </p:spPr>
        <p:txBody>
          <a:bodyPr/>
          <a:lstStyle/>
          <a:p>
            <a:endParaRPr lang="zh-CN" altLang="en-US"/>
          </a:p>
        </p:txBody>
      </p:sp>
      <p:sp>
        <p:nvSpPr>
          <p:cNvPr id="70669" name="Line 14"/>
          <p:cNvSpPr>
            <a:spLocks noChangeShapeType="1"/>
          </p:cNvSpPr>
          <p:nvPr/>
        </p:nvSpPr>
        <p:spPr bwMode="auto">
          <a:xfrm>
            <a:off x="2405063" y="4586288"/>
            <a:ext cx="4241800" cy="0"/>
          </a:xfrm>
          <a:prstGeom prst="line">
            <a:avLst/>
          </a:prstGeom>
          <a:noFill/>
          <a:ln w="28575">
            <a:solidFill>
              <a:srgbClr val="333399"/>
            </a:solidFill>
            <a:round/>
          </a:ln>
        </p:spPr>
        <p:txBody>
          <a:bodyPr/>
          <a:lstStyle/>
          <a:p>
            <a:endParaRPr lang="zh-CN" altLang="en-US"/>
          </a:p>
        </p:txBody>
      </p:sp>
      <p:sp>
        <p:nvSpPr>
          <p:cNvPr id="70670" name="Line 15"/>
          <p:cNvSpPr>
            <a:spLocks noChangeShapeType="1"/>
          </p:cNvSpPr>
          <p:nvPr/>
        </p:nvSpPr>
        <p:spPr bwMode="auto">
          <a:xfrm>
            <a:off x="2606675" y="4741863"/>
            <a:ext cx="2643188" cy="0"/>
          </a:xfrm>
          <a:prstGeom prst="line">
            <a:avLst/>
          </a:prstGeom>
          <a:noFill/>
          <a:ln w="28575">
            <a:solidFill>
              <a:srgbClr val="333399"/>
            </a:solidFill>
            <a:round/>
          </a:ln>
        </p:spPr>
        <p:txBody>
          <a:bodyPr/>
          <a:lstStyle/>
          <a:p>
            <a:endParaRPr lang="zh-CN" altLang="en-US"/>
          </a:p>
        </p:txBody>
      </p:sp>
      <p:sp>
        <p:nvSpPr>
          <p:cNvPr id="70671" name="AutoShape 16"/>
          <p:cNvSpPr>
            <a:spLocks noChangeArrowheads="1"/>
          </p:cNvSpPr>
          <p:nvPr/>
        </p:nvSpPr>
        <p:spPr bwMode="auto">
          <a:xfrm flipH="1">
            <a:off x="1790700" y="4352925"/>
            <a:ext cx="1185863" cy="931863"/>
          </a:xfrm>
          <a:prstGeom prst="cube">
            <a:avLst>
              <a:gd name="adj" fmla="val 28329"/>
            </a:avLst>
          </a:prstGeom>
          <a:solidFill>
            <a:srgbClr val="99FFCC"/>
          </a:solidFill>
          <a:ln w="9525">
            <a:solidFill>
              <a:schemeClr val="tx1"/>
            </a:solidFill>
            <a:miter lim="800000"/>
          </a:ln>
        </p:spPr>
        <p:txBody>
          <a:bodyPr wrap="none" anchor="ctr"/>
          <a:lstStyle/>
          <a:p>
            <a:pPr algn="ctr">
              <a:spcBef>
                <a:spcPct val="20000"/>
              </a:spcBef>
              <a:buFont typeface="Wingdings" panose="05000000000000000000" pitchFamily="2" charset="2"/>
              <a:buNone/>
            </a:pPr>
            <a:r>
              <a:rPr lang="zh-CN" altLang="en-US" sz="1800">
                <a:solidFill>
                  <a:srgbClr val="333399"/>
                </a:solidFill>
                <a:ea typeface="黑体" panose="02010609060101010101" pitchFamily="49" charset="-122"/>
              </a:rPr>
              <a:t>以太网</a:t>
            </a:r>
            <a:endParaRPr lang="zh-CN" altLang="en-US" sz="1800">
              <a:solidFill>
                <a:srgbClr val="333399"/>
              </a:solidFill>
              <a:ea typeface="黑体" panose="02010609060101010101" pitchFamily="49" charset="-122"/>
            </a:endParaRPr>
          </a:p>
          <a:p>
            <a:pPr algn="ctr">
              <a:spcBef>
                <a:spcPct val="20000"/>
              </a:spcBef>
              <a:buFont typeface="Wingdings" panose="05000000000000000000" pitchFamily="2" charset="2"/>
              <a:buNone/>
            </a:pPr>
            <a:r>
              <a:rPr lang="zh-CN" altLang="en-US" sz="1800">
                <a:solidFill>
                  <a:srgbClr val="333399"/>
                </a:solidFill>
                <a:ea typeface="黑体" panose="02010609060101010101" pitchFamily="49" charset="-122"/>
              </a:rPr>
              <a:t>交换机</a:t>
            </a:r>
            <a:endParaRPr lang="zh-CN" altLang="en-US" sz="1800">
              <a:solidFill>
                <a:srgbClr val="333399"/>
              </a:solidFill>
              <a:ea typeface="黑体" panose="02010609060101010101" pitchFamily="49" charset="-122"/>
            </a:endParaRPr>
          </a:p>
        </p:txBody>
      </p:sp>
      <p:sp>
        <p:nvSpPr>
          <p:cNvPr id="70672" name="AutoShape 17"/>
          <p:cNvSpPr>
            <a:spLocks noChangeArrowheads="1"/>
          </p:cNvSpPr>
          <p:nvPr/>
        </p:nvSpPr>
        <p:spPr bwMode="auto">
          <a:xfrm>
            <a:off x="4978400" y="701675"/>
            <a:ext cx="1111250" cy="4583113"/>
          </a:xfrm>
          <a:prstGeom prst="roundRect">
            <a:avLst>
              <a:gd name="adj" fmla="val 50000"/>
            </a:avLst>
          </a:prstGeom>
          <a:solidFill>
            <a:srgbClr val="FFFF66">
              <a:alpha val="50195"/>
            </a:srgbClr>
          </a:solidFill>
          <a:ln w="19050">
            <a:solidFill>
              <a:schemeClr val="tx1"/>
            </a:solidFill>
            <a:prstDash val="dash"/>
            <a:round/>
          </a:ln>
        </p:spPr>
        <p:txBody>
          <a:bodyPr wrap="none" anchor="ctr"/>
          <a:lstStyle/>
          <a:p>
            <a:pPr algn="dist">
              <a:spcBef>
                <a:spcPct val="20000"/>
              </a:spcBef>
              <a:buFont typeface="Wingdings" panose="05000000000000000000" pitchFamily="2" charset="2"/>
              <a:buNone/>
            </a:pPr>
            <a:endParaRPr lang="zh-CN" altLang="en-US" sz="1800"/>
          </a:p>
        </p:txBody>
      </p:sp>
      <p:sp>
        <p:nvSpPr>
          <p:cNvPr id="70673" name="AutoShape 18"/>
          <p:cNvSpPr>
            <a:spLocks noChangeArrowheads="1"/>
          </p:cNvSpPr>
          <p:nvPr/>
        </p:nvSpPr>
        <p:spPr bwMode="auto">
          <a:xfrm>
            <a:off x="3273425" y="701675"/>
            <a:ext cx="1557338" cy="5127625"/>
          </a:xfrm>
          <a:prstGeom prst="roundRect">
            <a:avLst>
              <a:gd name="adj" fmla="val 50000"/>
            </a:avLst>
          </a:prstGeom>
          <a:solidFill>
            <a:srgbClr val="CCECFF">
              <a:alpha val="50195"/>
            </a:srgbClr>
          </a:solidFill>
          <a:ln w="19050">
            <a:solidFill>
              <a:schemeClr val="tx1"/>
            </a:solidFill>
            <a:prstDash val="dash"/>
            <a:round/>
          </a:ln>
        </p:spPr>
        <p:txBody>
          <a:bodyPr wrap="none" anchor="ctr"/>
          <a:lstStyle/>
          <a:p>
            <a:pPr algn="dist">
              <a:spcBef>
                <a:spcPct val="20000"/>
              </a:spcBef>
              <a:buFont typeface="Wingdings" panose="05000000000000000000" pitchFamily="2" charset="2"/>
              <a:buNone/>
            </a:pPr>
            <a:endParaRPr lang="zh-CN" altLang="en-US" sz="1800"/>
          </a:p>
        </p:txBody>
      </p:sp>
      <p:sp>
        <p:nvSpPr>
          <p:cNvPr id="70674" name="Text Box 19"/>
          <p:cNvSpPr txBox="1">
            <a:spLocks noChangeArrowheads="1"/>
          </p:cNvSpPr>
          <p:nvPr/>
        </p:nvSpPr>
        <p:spPr bwMode="auto">
          <a:xfrm>
            <a:off x="3843338" y="1022350"/>
            <a:ext cx="423862" cy="369888"/>
          </a:xfrm>
          <a:prstGeom prst="rect">
            <a:avLst/>
          </a:prstGeom>
          <a:noFill/>
          <a:ln w="9525">
            <a:noFill/>
            <a:miter lim="800000"/>
          </a:ln>
        </p:spPr>
        <p:txBody>
          <a:bodyPr wrap="none">
            <a:spAutoFit/>
          </a:bodyPr>
          <a:lstStyle/>
          <a:p>
            <a:pPr algn="dist">
              <a:spcBef>
                <a:spcPct val="20000"/>
              </a:spcBef>
              <a:buFont typeface="Wingdings" panose="05000000000000000000" pitchFamily="2" charset="2"/>
              <a:buNone/>
            </a:pPr>
            <a:r>
              <a:rPr lang="en-US" altLang="zh-CN" sz="1800">
                <a:solidFill>
                  <a:srgbClr val="333399"/>
                </a:solidFill>
                <a:ea typeface="黑体" panose="02010609060101010101" pitchFamily="49" charset="-122"/>
              </a:rPr>
              <a:t>A</a:t>
            </a:r>
            <a:r>
              <a:rPr lang="en-US" altLang="zh-CN" sz="1800" baseline="-25000">
                <a:solidFill>
                  <a:srgbClr val="333399"/>
                </a:solidFill>
                <a:ea typeface="黑体" panose="02010609060101010101" pitchFamily="49" charset="-122"/>
              </a:rPr>
              <a:t>4</a:t>
            </a:r>
            <a:endParaRPr lang="en-US" altLang="zh-CN" sz="1800">
              <a:solidFill>
                <a:srgbClr val="333399"/>
              </a:solidFill>
              <a:ea typeface="黑体" panose="02010609060101010101" pitchFamily="49" charset="-122"/>
            </a:endParaRPr>
          </a:p>
        </p:txBody>
      </p:sp>
      <p:sp>
        <p:nvSpPr>
          <p:cNvPr id="70675" name="Text Box 20"/>
          <p:cNvSpPr txBox="1">
            <a:spLocks noChangeArrowheads="1"/>
          </p:cNvSpPr>
          <p:nvPr/>
        </p:nvSpPr>
        <p:spPr bwMode="auto">
          <a:xfrm>
            <a:off x="5651500" y="4621213"/>
            <a:ext cx="423863" cy="369887"/>
          </a:xfrm>
          <a:prstGeom prst="rect">
            <a:avLst/>
          </a:prstGeom>
          <a:noFill/>
          <a:ln w="9525">
            <a:noFill/>
            <a:miter lim="800000"/>
          </a:ln>
        </p:spPr>
        <p:txBody>
          <a:bodyPr wrap="none">
            <a:spAutoFit/>
          </a:bodyPr>
          <a:lstStyle/>
          <a:p>
            <a:pPr algn="dist">
              <a:spcBef>
                <a:spcPct val="20000"/>
              </a:spcBef>
              <a:buFont typeface="Wingdings" panose="05000000000000000000" pitchFamily="2" charset="2"/>
              <a:buNone/>
            </a:pPr>
            <a:r>
              <a:rPr lang="en-US" altLang="zh-CN" sz="1800">
                <a:solidFill>
                  <a:srgbClr val="333399"/>
                </a:solidFill>
                <a:ea typeface="黑体" panose="02010609060101010101" pitchFamily="49" charset="-122"/>
              </a:rPr>
              <a:t>B</a:t>
            </a:r>
            <a:r>
              <a:rPr lang="en-US" altLang="zh-CN" sz="1800" baseline="-25000">
                <a:solidFill>
                  <a:srgbClr val="333399"/>
                </a:solidFill>
                <a:ea typeface="黑体" panose="02010609060101010101" pitchFamily="49" charset="-122"/>
              </a:rPr>
              <a:t>1</a:t>
            </a:r>
            <a:endParaRPr lang="en-US" altLang="zh-CN" sz="1800">
              <a:solidFill>
                <a:srgbClr val="333399"/>
              </a:solidFill>
              <a:ea typeface="黑体" panose="02010609060101010101" pitchFamily="49" charset="-122"/>
            </a:endParaRPr>
          </a:p>
        </p:txBody>
      </p:sp>
      <p:sp>
        <p:nvSpPr>
          <p:cNvPr id="70676" name="AutoShape 21"/>
          <p:cNvSpPr>
            <a:spLocks noChangeArrowheads="1"/>
          </p:cNvSpPr>
          <p:nvPr/>
        </p:nvSpPr>
        <p:spPr bwMode="auto">
          <a:xfrm>
            <a:off x="6313488" y="546100"/>
            <a:ext cx="1036637" cy="4583113"/>
          </a:xfrm>
          <a:prstGeom prst="roundRect">
            <a:avLst>
              <a:gd name="adj" fmla="val 50000"/>
            </a:avLst>
          </a:prstGeom>
          <a:solidFill>
            <a:srgbClr val="FF99CC">
              <a:alpha val="50195"/>
            </a:srgbClr>
          </a:solidFill>
          <a:ln w="19050">
            <a:solidFill>
              <a:schemeClr val="tx1"/>
            </a:solidFill>
            <a:prstDash val="dash"/>
            <a:round/>
          </a:ln>
        </p:spPr>
        <p:txBody>
          <a:bodyPr wrap="none" anchor="ctr"/>
          <a:lstStyle/>
          <a:p>
            <a:pPr algn="dist">
              <a:spcBef>
                <a:spcPct val="20000"/>
              </a:spcBef>
              <a:buFont typeface="Wingdings" panose="05000000000000000000" pitchFamily="2" charset="2"/>
              <a:buNone/>
            </a:pPr>
            <a:endParaRPr lang="zh-CN" altLang="en-US" sz="1800"/>
          </a:p>
        </p:txBody>
      </p:sp>
      <p:sp>
        <p:nvSpPr>
          <p:cNvPr id="70677" name="AutoShape 22"/>
          <p:cNvSpPr>
            <a:spLocks noChangeArrowheads="1"/>
          </p:cNvSpPr>
          <p:nvPr/>
        </p:nvSpPr>
        <p:spPr bwMode="auto">
          <a:xfrm flipH="1">
            <a:off x="1790700" y="546100"/>
            <a:ext cx="1185863" cy="931863"/>
          </a:xfrm>
          <a:prstGeom prst="cube">
            <a:avLst>
              <a:gd name="adj" fmla="val 28329"/>
            </a:avLst>
          </a:prstGeom>
          <a:solidFill>
            <a:srgbClr val="99FFCC"/>
          </a:solidFill>
          <a:ln w="9525">
            <a:solidFill>
              <a:schemeClr val="tx1"/>
            </a:solidFill>
            <a:miter lim="800000"/>
          </a:ln>
        </p:spPr>
        <p:txBody>
          <a:bodyPr wrap="none" anchor="ctr"/>
          <a:lstStyle/>
          <a:p>
            <a:pPr algn="ctr">
              <a:spcBef>
                <a:spcPct val="20000"/>
              </a:spcBef>
              <a:buFont typeface="Wingdings" panose="05000000000000000000" pitchFamily="2" charset="2"/>
              <a:buNone/>
            </a:pPr>
            <a:r>
              <a:rPr lang="zh-CN" altLang="en-US" sz="1800">
                <a:solidFill>
                  <a:srgbClr val="333399"/>
                </a:solidFill>
                <a:ea typeface="黑体" panose="02010609060101010101" pitchFamily="49" charset="-122"/>
              </a:rPr>
              <a:t>以太网</a:t>
            </a:r>
            <a:endParaRPr lang="zh-CN" altLang="en-US" sz="1800">
              <a:solidFill>
                <a:srgbClr val="333399"/>
              </a:solidFill>
              <a:ea typeface="黑体" panose="02010609060101010101" pitchFamily="49" charset="-122"/>
            </a:endParaRPr>
          </a:p>
          <a:p>
            <a:pPr algn="ctr">
              <a:spcBef>
                <a:spcPct val="20000"/>
              </a:spcBef>
              <a:buFont typeface="Wingdings" panose="05000000000000000000" pitchFamily="2" charset="2"/>
              <a:buNone/>
            </a:pPr>
            <a:r>
              <a:rPr lang="zh-CN" altLang="en-US" sz="1800">
                <a:solidFill>
                  <a:srgbClr val="333399"/>
                </a:solidFill>
                <a:ea typeface="黑体" panose="02010609060101010101" pitchFamily="49" charset="-122"/>
              </a:rPr>
              <a:t>交换机</a:t>
            </a:r>
            <a:endParaRPr lang="zh-CN" altLang="en-US" sz="1800">
              <a:solidFill>
                <a:srgbClr val="333399"/>
              </a:solidFill>
              <a:ea typeface="黑体" panose="02010609060101010101" pitchFamily="49" charset="-122"/>
            </a:endParaRPr>
          </a:p>
        </p:txBody>
      </p:sp>
      <p:sp>
        <p:nvSpPr>
          <p:cNvPr id="70678" name="Line 23"/>
          <p:cNvSpPr>
            <a:spLocks noChangeShapeType="1"/>
          </p:cNvSpPr>
          <p:nvPr/>
        </p:nvSpPr>
        <p:spPr bwMode="auto">
          <a:xfrm>
            <a:off x="1568450" y="1101725"/>
            <a:ext cx="1588" cy="5037138"/>
          </a:xfrm>
          <a:prstGeom prst="line">
            <a:avLst/>
          </a:prstGeom>
          <a:noFill/>
          <a:ln w="38100">
            <a:solidFill>
              <a:srgbClr val="333399"/>
            </a:solidFill>
            <a:round/>
          </a:ln>
        </p:spPr>
        <p:txBody>
          <a:bodyPr/>
          <a:lstStyle/>
          <a:p>
            <a:endParaRPr lang="zh-CN" altLang="en-US"/>
          </a:p>
        </p:txBody>
      </p:sp>
      <p:sp>
        <p:nvSpPr>
          <p:cNvPr id="70679" name="Line 24"/>
          <p:cNvSpPr>
            <a:spLocks noChangeShapeType="1"/>
          </p:cNvSpPr>
          <p:nvPr/>
        </p:nvSpPr>
        <p:spPr bwMode="auto">
          <a:xfrm>
            <a:off x="1554163" y="1090613"/>
            <a:ext cx="458787" cy="0"/>
          </a:xfrm>
          <a:prstGeom prst="line">
            <a:avLst/>
          </a:prstGeom>
          <a:noFill/>
          <a:ln w="38100">
            <a:solidFill>
              <a:srgbClr val="333399"/>
            </a:solidFill>
            <a:round/>
          </a:ln>
        </p:spPr>
        <p:txBody>
          <a:bodyPr/>
          <a:lstStyle/>
          <a:p>
            <a:endParaRPr lang="zh-CN" altLang="en-US"/>
          </a:p>
        </p:txBody>
      </p:sp>
      <p:sp>
        <p:nvSpPr>
          <p:cNvPr id="70680" name="Text Box 25"/>
          <p:cNvSpPr txBox="1">
            <a:spLocks noChangeArrowheads="1"/>
          </p:cNvSpPr>
          <p:nvPr/>
        </p:nvSpPr>
        <p:spPr bwMode="auto">
          <a:xfrm>
            <a:off x="6356350" y="1898650"/>
            <a:ext cx="871538" cy="369888"/>
          </a:xfrm>
          <a:prstGeom prst="rect">
            <a:avLst/>
          </a:prstGeom>
          <a:noFill/>
          <a:ln w="9525">
            <a:noFill/>
            <a:miter lim="800000"/>
          </a:ln>
        </p:spPr>
        <p:txBody>
          <a:bodyPr wrap="none">
            <a:spAutoFit/>
          </a:bodyPr>
          <a:lstStyle/>
          <a:p>
            <a:pPr algn="dist">
              <a:spcBef>
                <a:spcPct val="20000"/>
              </a:spcBef>
              <a:buFont typeface="Wingdings" panose="05000000000000000000" pitchFamily="2" charset="2"/>
              <a:buNone/>
            </a:pPr>
            <a:r>
              <a:rPr lang="en-US" altLang="zh-CN" sz="1800">
                <a:solidFill>
                  <a:srgbClr val="CC0000"/>
                </a:solidFill>
                <a:ea typeface="黑体" panose="02010609060101010101" pitchFamily="49" charset="-122"/>
              </a:rPr>
              <a:t>VLAN</a:t>
            </a:r>
            <a:r>
              <a:rPr lang="en-US" altLang="zh-CN" sz="1800" baseline="-25000">
                <a:solidFill>
                  <a:srgbClr val="CC0000"/>
                </a:solidFill>
                <a:ea typeface="黑体" panose="02010609060101010101" pitchFamily="49" charset="-122"/>
              </a:rPr>
              <a:t>3</a:t>
            </a:r>
            <a:endParaRPr lang="en-US" altLang="zh-CN" sz="1800">
              <a:solidFill>
                <a:srgbClr val="CC0000"/>
              </a:solidFill>
              <a:ea typeface="黑体" panose="02010609060101010101" pitchFamily="49" charset="-122"/>
            </a:endParaRPr>
          </a:p>
        </p:txBody>
      </p:sp>
      <p:sp>
        <p:nvSpPr>
          <p:cNvPr id="70681" name="Text Box 26"/>
          <p:cNvSpPr txBox="1">
            <a:spLocks noChangeArrowheads="1"/>
          </p:cNvSpPr>
          <p:nvPr/>
        </p:nvSpPr>
        <p:spPr bwMode="auto">
          <a:xfrm>
            <a:off x="6864350" y="619125"/>
            <a:ext cx="436563" cy="369888"/>
          </a:xfrm>
          <a:prstGeom prst="rect">
            <a:avLst/>
          </a:prstGeom>
          <a:noFill/>
          <a:ln w="9525">
            <a:noFill/>
            <a:miter lim="800000"/>
          </a:ln>
        </p:spPr>
        <p:txBody>
          <a:bodyPr wrap="none">
            <a:spAutoFit/>
          </a:bodyPr>
          <a:lstStyle/>
          <a:p>
            <a:pPr algn="dist">
              <a:spcBef>
                <a:spcPct val="20000"/>
              </a:spcBef>
              <a:buFont typeface="Wingdings" panose="05000000000000000000" pitchFamily="2" charset="2"/>
              <a:buNone/>
            </a:pPr>
            <a:r>
              <a:rPr lang="en-US" altLang="zh-CN" sz="1800">
                <a:solidFill>
                  <a:srgbClr val="333399"/>
                </a:solidFill>
                <a:ea typeface="黑体" panose="02010609060101010101" pitchFamily="49" charset="-122"/>
              </a:rPr>
              <a:t>C</a:t>
            </a:r>
            <a:r>
              <a:rPr lang="en-US" altLang="zh-CN" sz="1800" baseline="-25000">
                <a:solidFill>
                  <a:srgbClr val="333399"/>
                </a:solidFill>
                <a:ea typeface="黑体" panose="02010609060101010101" pitchFamily="49" charset="-122"/>
              </a:rPr>
              <a:t>3</a:t>
            </a:r>
            <a:endParaRPr lang="en-US" altLang="zh-CN" sz="1800">
              <a:solidFill>
                <a:srgbClr val="333399"/>
              </a:solidFill>
              <a:ea typeface="黑体" panose="02010609060101010101" pitchFamily="49" charset="-122"/>
            </a:endParaRPr>
          </a:p>
        </p:txBody>
      </p:sp>
      <p:sp>
        <p:nvSpPr>
          <p:cNvPr id="70682" name="Text Box 27"/>
          <p:cNvSpPr txBox="1">
            <a:spLocks noChangeArrowheads="1"/>
          </p:cNvSpPr>
          <p:nvPr/>
        </p:nvSpPr>
        <p:spPr bwMode="auto">
          <a:xfrm>
            <a:off x="5464175" y="898525"/>
            <a:ext cx="423863" cy="369888"/>
          </a:xfrm>
          <a:prstGeom prst="rect">
            <a:avLst/>
          </a:prstGeom>
          <a:noFill/>
          <a:ln w="9525">
            <a:noFill/>
            <a:miter lim="800000"/>
          </a:ln>
        </p:spPr>
        <p:txBody>
          <a:bodyPr wrap="none">
            <a:spAutoFit/>
          </a:bodyPr>
          <a:lstStyle/>
          <a:p>
            <a:pPr algn="dist">
              <a:spcBef>
                <a:spcPct val="20000"/>
              </a:spcBef>
              <a:buFont typeface="Wingdings" panose="05000000000000000000" pitchFamily="2" charset="2"/>
              <a:buNone/>
            </a:pPr>
            <a:r>
              <a:rPr lang="en-US" altLang="zh-CN" sz="1800">
                <a:solidFill>
                  <a:srgbClr val="333399"/>
                </a:solidFill>
                <a:ea typeface="黑体" panose="02010609060101010101" pitchFamily="49" charset="-122"/>
              </a:rPr>
              <a:t>B</a:t>
            </a:r>
            <a:r>
              <a:rPr lang="en-US" altLang="zh-CN" sz="1800" baseline="-25000">
                <a:solidFill>
                  <a:srgbClr val="333399"/>
                </a:solidFill>
                <a:ea typeface="黑体" panose="02010609060101010101" pitchFamily="49" charset="-122"/>
              </a:rPr>
              <a:t>3</a:t>
            </a:r>
            <a:endParaRPr lang="en-US" altLang="zh-CN" sz="1800">
              <a:solidFill>
                <a:srgbClr val="333399"/>
              </a:solidFill>
              <a:ea typeface="黑体" panose="02010609060101010101" pitchFamily="49" charset="-122"/>
            </a:endParaRPr>
          </a:p>
        </p:txBody>
      </p:sp>
      <p:sp>
        <p:nvSpPr>
          <p:cNvPr id="70683" name="Text Box 28"/>
          <p:cNvSpPr txBox="1">
            <a:spLocks noChangeArrowheads="1"/>
          </p:cNvSpPr>
          <p:nvPr/>
        </p:nvSpPr>
        <p:spPr bwMode="auto">
          <a:xfrm>
            <a:off x="3505200" y="1901825"/>
            <a:ext cx="871538" cy="369888"/>
          </a:xfrm>
          <a:prstGeom prst="rect">
            <a:avLst/>
          </a:prstGeom>
          <a:noFill/>
          <a:ln w="9525">
            <a:noFill/>
            <a:miter lim="800000"/>
          </a:ln>
        </p:spPr>
        <p:txBody>
          <a:bodyPr wrap="none">
            <a:spAutoFit/>
          </a:bodyPr>
          <a:lstStyle/>
          <a:p>
            <a:pPr algn="dist">
              <a:spcBef>
                <a:spcPct val="20000"/>
              </a:spcBef>
              <a:buFont typeface="Wingdings" panose="05000000000000000000" pitchFamily="2" charset="2"/>
              <a:buNone/>
            </a:pPr>
            <a:r>
              <a:rPr lang="en-US" altLang="zh-CN" sz="1800">
                <a:solidFill>
                  <a:srgbClr val="CC0000"/>
                </a:solidFill>
                <a:ea typeface="黑体" panose="02010609060101010101" pitchFamily="49" charset="-122"/>
              </a:rPr>
              <a:t>VLAN</a:t>
            </a:r>
            <a:r>
              <a:rPr lang="en-US" altLang="zh-CN" sz="1800" baseline="-25000">
                <a:solidFill>
                  <a:srgbClr val="CC0000"/>
                </a:solidFill>
                <a:ea typeface="黑体" panose="02010609060101010101" pitchFamily="49" charset="-122"/>
              </a:rPr>
              <a:t>1</a:t>
            </a:r>
            <a:endParaRPr lang="en-US" altLang="zh-CN" sz="1800">
              <a:solidFill>
                <a:srgbClr val="CC0000"/>
              </a:solidFill>
              <a:ea typeface="黑体" panose="02010609060101010101" pitchFamily="49" charset="-122"/>
            </a:endParaRPr>
          </a:p>
        </p:txBody>
      </p:sp>
      <p:sp>
        <p:nvSpPr>
          <p:cNvPr id="70684" name="Text Box 29"/>
          <p:cNvSpPr txBox="1">
            <a:spLocks noChangeArrowheads="1"/>
          </p:cNvSpPr>
          <p:nvPr/>
        </p:nvSpPr>
        <p:spPr bwMode="auto">
          <a:xfrm>
            <a:off x="5030788" y="1901825"/>
            <a:ext cx="871537" cy="369888"/>
          </a:xfrm>
          <a:prstGeom prst="rect">
            <a:avLst/>
          </a:prstGeom>
          <a:noFill/>
          <a:ln w="9525">
            <a:noFill/>
            <a:miter lim="800000"/>
          </a:ln>
        </p:spPr>
        <p:txBody>
          <a:bodyPr wrap="none">
            <a:spAutoFit/>
          </a:bodyPr>
          <a:lstStyle/>
          <a:p>
            <a:pPr algn="dist">
              <a:spcBef>
                <a:spcPct val="20000"/>
              </a:spcBef>
              <a:buFont typeface="Wingdings" panose="05000000000000000000" pitchFamily="2" charset="2"/>
              <a:buNone/>
            </a:pPr>
            <a:r>
              <a:rPr lang="en-US" altLang="zh-CN" sz="1800">
                <a:solidFill>
                  <a:srgbClr val="CC0000"/>
                </a:solidFill>
                <a:ea typeface="黑体" panose="02010609060101010101" pitchFamily="49" charset="-122"/>
              </a:rPr>
              <a:t>VLAN</a:t>
            </a:r>
            <a:r>
              <a:rPr lang="en-US" altLang="zh-CN" sz="1800" baseline="-25000">
                <a:solidFill>
                  <a:srgbClr val="CC0000"/>
                </a:solidFill>
                <a:ea typeface="黑体" panose="02010609060101010101" pitchFamily="49" charset="-122"/>
              </a:rPr>
              <a:t>2</a:t>
            </a:r>
            <a:endParaRPr lang="en-US" altLang="zh-CN" sz="1800">
              <a:solidFill>
                <a:srgbClr val="CC0000"/>
              </a:solidFill>
              <a:ea typeface="黑体" panose="02010609060101010101" pitchFamily="49" charset="-122"/>
            </a:endParaRPr>
          </a:p>
        </p:txBody>
      </p:sp>
      <p:sp>
        <p:nvSpPr>
          <p:cNvPr id="70685" name="Text Box 30"/>
          <p:cNvSpPr txBox="1">
            <a:spLocks noChangeArrowheads="1"/>
          </p:cNvSpPr>
          <p:nvPr/>
        </p:nvSpPr>
        <p:spPr bwMode="auto">
          <a:xfrm>
            <a:off x="6905625" y="4324350"/>
            <a:ext cx="436563" cy="369888"/>
          </a:xfrm>
          <a:prstGeom prst="rect">
            <a:avLst/>
          </a:prstGeom>
          <a:noFill/>
          <a:ln w="9525">
            <a:noFill/>
            <a:miter lim="800000"/>
          </a:ln>
        </p:spPr>
        <p:txBody>
          <a:bodyPr wrap="none">
            <a:spAutoFit/>
          </a:bodyPr>
          <a:lstStyle/>
          <a:p>
            <a:pPr algn="dist">
              <a:spcBef>
                <a:spcPct val="20000"/>
              </a:spcBef>
              <a:buFont typeface="Wingdings" panose="05000000000000000000" pitchFamily="2" charset="2"/>
              <a:buNone/>
            </a:pPr>
            <a:r>
              <a:rPr lang="en-US" altLang="zh-CN" sz="1800">
                <a:solidFill>
                  <a:srgbClr val="333399"/>
                </a:solidFill>
                <a:ea typeface="黑体" panose="02010609060101010101" pitchFamily="49" charset="-122"/>
              </a:rPr>
              <a:t>C</a:t>
            </a:r>
            <a:r>
              <a:rPr lang="en-US" altLang="zh-CN" sz="1800" baseline="-25000">
                <a:solidFill>
                  <a:srgbClr val="333399"/>
                </a:solidFill>
                <a:ea typeface="黑体" panose="02010609060101010101" pitchFamily="49" charset="-122"/>
              </a:rPr>
              <a:t>1</a:t>
            </a:r>
            <a:endParaRPr lang="en-US" altLang="zh-CN" sz="1800">
              <a:solidFill>
                <a:srgbClr val="333399"/>
              </a:solidFill>
              <a:ea typeface="黑体" panose="02010609060101010101" pitchFamily="49" charset="-122"/>
            </a:endParaRPr>
          </a:p>
        </p:txBody>
      </p:sp>
      <p:sp>
        <p:nvSpPr>
          <p:cNvPr id="70686" name="Text Box 31"/>
          <p:cNvSpPr txBox="1">
            <a:spLocks noChangeArrowheads="1"/>
          </p:cNvSpPr>
          <p:nvPr/>
        </p:nvSpPr>
        <p:spPr bwMode="auto">
          <a:xfrm>
            <a:off x="4438650" y="4737100"/>
            <a:ext cx="423863" cy="369888"/>
          </a:xfrm>
          <a:prstGeom prst="rect">
            <a:avLst/>
          </a:prstGeom>
          <a:noFill/>
          <a:ln w="9525">
            <a:noFill/>
            <a:miter lim="800000"/>
          </a:ln>
        </p:spPr>
        <p:txBody>
          <a:bodyPr wrap="none">
            <a:spAutoFit/>
          </a:bodyPr>
          <a:lstStyle/>
          <a:p>
            <a:pPr algn="dist">
              <a:spcBef>
                <a:spcPct val="20000"/>
              </a:spcBef>
              <a:buFont typeface="Wingdings" panose="05000000000000000000" pitchFamily="2" charset="2"/>
              <a:buNone/>
            </a:pPr>
            <a:r>
              <a:rPr lang="en-US" altLang="zh-CN" sz="1800">
                <a:solidFill>
                  <a:srgbClr val="333399"/>
                </a:solidFill>
                <a:ea typeface="黑体" panose="02010609060101010101" pitchFamily="49" charset="-122"/>
              </a:rPr>
              <a:t>A</a:t>
            </a:r>
            <a:r>
              <a:rPr lang="en-US" altLang="zh-CN" sz="1800" baseline="-25000">
                <a:solidFill>
                  <a:srgbClr val="333399"/>
                </a:solidFill>
                <a:ea typeface="黑体" panose="02010609060101010101" pitchFamily="49" charset="-122"/>
              </a:rPr>
              <a:t>2</a:t>
            </a:r>
            <a:endParaRPr lang="en-US" altLang="zh-CN" sz="1800">
              <a:solidFill>
                <a:srgbClr val="333399"/>
              </a:solidFill>
              <a:ea typeface="黑体" panose="02010609060101010101" pitchFamily="49" charset="-122"/>
            </a:endParaRPr>
          </a:p>
        </p:txBody>
      </p:sp>
      <p:sp>
        <p:nvSpPr>
          <p:cNvPr id="70687" name="Text Box 32"/>
          <p:cNvSpPr txBox="1">
            <a:spLocks noChangeArrowheads="1"/>
          </p:cNvSpPr>
          <p:nvPr/>
        </p:nvSpPr>
        <p:spPr bwMode="auto">
          <a:xfrm>
            <a:off x="3797300" y="5181600"/>
            <a:ext cx="423863" cy="369888"/>
          </a:xfrm>
          <a:prstGeom prst="rect">
            <a:avLst/>
          </a:prstGeom>
          <a:noFill/>
          <a:ln w="9525">
            <a:noFill/>
            <a:miter lim="800000"/>
          </a:ln>
        </p:spPr>
        <p:txBody>
          <a:bodyPr wrap="none">
            <a:spAutoFit/>
          </a:bodyPr>
          <a:lstStyle/>
          <a:p>
            <a:pPr algn="dist">
              <a:spcBef>
                <a:spcPct val="20000"/>
              </a:spcBef>
              <a:buFont typeface="Wingdings" panose="05000000000000000000" pitchFamily="2" charset="2"/>
              <a:buNone/>
            </a:pPr>
            <a:r>
              <a:rPr lang="en-US" altLang="zh-CN" sz="1800">
                <a:solidFill>
                  <a:srgbClr val="333399"/>
                </a:solidFill>
                <a:ea typeface="黑体" panose="02010609060101010101" pitchFamily="49" charset="-122"/>
              </a:rPr>
              <a:t>A</a:t>
            </a:r>
            <a:r>
              <a:rPr lang="en-US" altLang="zh-CN" sz="1800" baseline="-25000">
                <a:solidFill>
                  <a:srgbClr val="333399"/>
                </a:solidFill>
                <a:ea typeface="黑体" panose="02010609060101010101" pitchFamily="49" charset="-122"/>
              </a:rPr>
              <a:t>1</a:t>
            </a:r>
            <a:endParaRPr lang="en-US" altLang="zh-CN" sz="1800">
              <a:solidFill>
                <a:srgbClr val="333399"/>
              </a:solidFill>
              <a:ea typeface="黑体" panose="02010609060101010101" pitchFamily="49" charset="-122"/>
            </a:endParaRPr>
          </a:p>
        </p:txBody>
      </p:sp>
      <p:sp>
        <p:nvSpPr>
          <p:cNvPr id="70688" name="Text Box 33"/>
          <p:cNvSpPr txBox="1">
            <a:spLocks noChangeArrowheads="1"/>
          </p:cNvSpPr>
          <p:nvPr/>
        </p:nvSpPr>
        <p:spPr bwMode="auto">
          <a:xfrm>
            <a:off x="3827463" y="2979738"/>
            <a:ext cx="423862" cy="369887"/>
          </a:xfrm>
          <a:prstGeom prst="rect">
            <a:avLst/>
          </a:prstGeom>
          <a:noFill/>
          <a:ln w="9525">
            <a:noFill/>
            <a:miter lim="800000"/>
          </a:ln>
        </p:spPr>
        <p:txBody>
          <a:bodyPr wrap="none">
            <a:spAutoFit/>
          </a:bodyPr>
          <a:lstStyle/>
          <a:p>
            <a:pPr algn="dist">
              <a:spcBef>
                <a:spcPct val="20000"/>
              </a:spcBef>
              <a:buFont typeface="Wingdings" panose="05000000000000000000" pitchFamily="2" charset="2"/>
              <a:buNone/>
            </a:pPr>
            <a:r>
              <a:rPr lang="en-US" altLang="zh-CN" sz="1800">
                <a:solidFill>
                  <a:srgbClr val="333399"/>
                </a:solidFill>
                <a:ea typeface="黑体" panose="02010609060101010101" pitchFamily="49" charset="-122"/>
              </a:rPr>
              <a:t>A</a:t>
            </a:r>
            <a:r>
              <a:rPr lang="en-US" altLang="zh-CN" sz="1800" baseline="-25000">
                <a:solidFill>
                  <a:srgbClr val="333399"/>
                </a:solidFill>
                <a:ea typeface="黑体" panose="02010609060101010101" pitchFamily="49" charset="-122"/>
              </a:rPr>
              <a:t>3</a:t>
            </a:r>
            <a:endParaRPr lang="en-US" altLang="zh-CN" sz="1800">
              <a:solidFill>
                <a:srgbClr val="333399"/>
              </a:solidFill>
              <a:ea typeface="黑体" panose="02010609060101010101" pitchFamily="49" charset="-122"/>
            </a:endParaRPr>
          </a:p>
        </p:txBody>
      </p:sp>
      <p:sp>
        <p:nvSpPr>
          <p:cNvPr id="70689" name="Text Box 34"/>
          <p:cNvSpPr txBox="1">
            <a:spLocks noChangeArrowheads="1"/>
          </p:cNvSpPr>
          <p:nvPr/>
        </p:nvSpPr>
        <p:spPr bwMode="auto">
          <a:xfrm>
            <a:off x="6931025" y="2465388"/>
            <a:ext cx="436563" cy="369887"/>
          </a:xfrm>
          <a:prstGeom prst="rect">
            <a:avLst/>
          </a:prstGeom>
          <a:noFill/>
          <a:ln w="9525">
            <a:noFill/>
            <a:miter lim="800000"/>
          </a:ln>
        </p:spPr>
        <p:txBody>
          <a:bodyPr wrap="none">
            <a:spAutoFit/>
          </a:bodyPr>
          <a:lstStyle/>
          <a:p>
            <a:pPr algn="dist">
              <a:spcBef>
                <a:spcPct val="20000"/>
              </a:spcBef>
              <a:buFont typeface="Wingdings" panose="05000000000000000000" pitchFamily="2" charset="2"/>
              <a:buNone/>
            </a:pPr>
            <a:r>
              <a:rPr lang="en-US" altLang="zh-CN" sz="1800">
                <a:solidFill>
                  <a:srgbClr val="333399"/>
                </a:solidFill>
                <a:ea typeface="黑体" panose="02010609060101010101" pitchFamily="49" charset="-122"/>
              </a:rPr>
              <a:t>C</a:t>
            </a:r>
            <a:r>
              <a:rPr lang="en-US" altLang="zh-CN" sz="1800" baseline="-25000">
                <a:solidFill>
                  <a:srgbClr val="333399"/>
                </a:solidFill>
                <a:ea typeface="黑体" panose="02010609060101010101" pitchFamily="49" charset="-122"/>
              </a:rPr>
              <a:t>2</a:t>
            </a:r>
            <a:endParaRPr lang="en-US" altLang="zh-CN" sz="1800">
              <a:solidFill>
                <a:srgbClr val="333399"/>
              </a:solidFill>
              <a:ea typeface="黑体" panose="02010609060101010101" pitchFamily="49" charset="-122"/>
            </a:endParaRPr>
          </a:p>
        </p:txBody>
      </p:sp>
      <p:sp>
        <p:nvSpPr>
          <p:cNvPr id="70690" name="Text Box 35"/>
          <p:cNvSpPr txBox="1">
            <a:spLocks noChangeArrowheads="1"/>
          </p:cNvSpPr>
          <p:nvPr/>
        </p:nvSpPr>
        <p:spPr bwMode="auto">
          <a:xfrm>
            <a:off x="5692775" y="2617788"/>
            <a:ext cx="423863" cy="369887"/>
          </a:xfrm>
          <a:prstGeom prst="rect">
            <a:avLst/>
          </a:prstGeom>
          <a:noFill/>
          <a:ln w="9525">
            <a:noFill/>
            <a:miter lim="800000"/>
          </a:ln>
        </p:spPr>
        <p:txBody>
          <a:bodyPr wrap="none">
            <a:spAutoFit/>
          </a:bodyPr>
          <a:lstStyle/>
          <a:p>
            <a:pPr algn="dist">
              <a:spcBef>
                <a:spcPct val="20000"/>
              </a:spcBef>
              <a:buFont typeface="Wingdings" panose="05000000000000000000" pitchFamily="2" charset="2"/>
              <a:buNone/>
            </a:pPr>
            <a:r>
              <a:rPr lang="en-US" altLang="zh-CN" sz="1800">
                <a:solidFill>
                  <a:srgbClr val="333399"/>
                </a:solidFill>
                <a:ea typeface="黑体" panose="02010609060101010101" pitchFamily="49" charset="-122"/>
              </a:rPr>
              <a:t>B</a:t>
            </a:r>
            <a:r>
              <a:rPr lang="en-US" altLang="zh-CN" sz="1800" baseline="-25000">
                <a:solidFill>
                  <a:srgbClr val="333399"/>
                </a:solidFill>
                <a:ea typeface="黑体" panose="02010609060101010101" pitchFamily="49" charset="-122"/>
              </a:rPr>
              <a:t>2</a:t>
            </a:r>
            <a:endParaRPr lang="en-US" altLang="zh-CN" sz="1800">
              <a:solidFill>
                <a:srgbClr val="333399"/>
              </a:solidFill>
              <a:ea typeface="黑体" panose="02010609060101010101" pitchFamily="49" charset="-122"/>
            </a:endParaRPr>
          </a:p>
        </p:txBody>
      </p:sp>
      <p:pic>
        <p:nvPicPr>
          <p:cNvPr id="70691" name="Picture 36"/>
          <p:cNvPicPr>
            <a:picLocks noChangeArrowheads="1"/>
          </p:cNvPicPr>
          <p:nvPr/>
        </p:nvPicPr>
        <p:blipFill>
          <a:blip r:embed="rId1" cstate="print"/>
          <a:srcRect/>
          <a:stretch>
            <a:fillRect/>
          </a:stretch>
        </p:blipFill>
        <p:spPr bwMode="auto">
          <a:xfrm>
            <a:off x="3348038" y="1090613"/>
            <a:ext cx="509587" cy="536575"/>
          </a:xfrm>
          <a:prstGeom prst="rect">
            <a:avLst/>
          </a:prstGeom>
          <a:noFill/>
          <a:ln w="9525">
            <a:noFill/>
            <a:miter lim="800000"/>
            <a:headEnd/>
            <a:tailEnd/>
          </a:ln>
        </p:spPr>
      </p:pic>
      <p:pic>
        <p:nvPicPr>
          <p:cNvPr id="70692" name="Picture 37"/>
          <p:cNvPicPr>
            <a:picLocks noChangeArrowheads="1"/>
          </p:cNvPicPr>
          <p:nvPr/>
        </p:nvPicPr>
        <p:blipFill>
          <a:blip r:embed="rId1" cstate="print"/>
          <a:srcRect/>
          <a:stretch>
            <a:fillRect/>
          </a:stretch>
        </p:blipFill>
        <p:spPr bwMode="auto">
          <a:xfrm>
            <a:off x="6461125" y="701675"/>
            <a:ext cx="509588" cy="536575"/>
          </a:xfrm>
          <a:prstGeom prst="rect">
            <a:avLst/>
          </a:prstGeom>
          <a:noFill/>
          <a:ln w="9525">
            <a:noFill/>
            <a:miter lim="800000"/>
            <a:headEnd/>
            <a:tailEnd/>
          </a:ln>
        </p:spPr>
      </p:pic>
      <p:pic>
        <p:nvPicPr>
          <p:cNvPr id="70693" name="Picture 38"/>
          <p:cNvPicPr>
            <a:picLocks noChangeArrowheads="1"/>
          </p:cNvPicPr>
          <p:nvPr/>
        </p:nvPicPr>
        <p:blipFill>
          <a:blip r:embed="rId1" cstate="print"/>
          <a:srcRect/>
          <a:stretch>
            <a:fillRect/>
          </a:stretch>
        </p:blipFill>
        <p:spPr bwMode="auto">
          <a:xfrm>
            <a:off x="5053013" y="935038"/>
            <a:ext cx="509587" cy="536575"/>
          </a:xfrm>
          <a:prstGeom prst="rect">
            <a:avLst/>
          </a:prstGeom>
          <a:noFill/>
          <a:ln w="9525">
            <a:noFill/>
            <a:miter lim="800000"/>
            <a:headEnd/>
            <a:tailEnd/>
          </a:ln>
        </p:spPr>
      </p:pic>
      <p:pic>
        <p:nvPicPr>
          <p:cNvPr id="70694" name="Picture 39"/>
          <p:cNvPicPr>
            <a:picLocks noChangeArrowheads="1"/>
          </p:cNvPicPr>
          <p:nvPr/>
        </p:nvPicPr>
        <p:blipFill>
          <a:blip r:embed="rId1" cstate="print"/>
          <a:srcRect/>
          <a:stretch>
            <a:fillRect/>
          </a:stretch>
        </p:blipFill>
        <p:spPr bwMode="auto">
          <a:xfrm>
            <a:off x="6470650" y="2487613"/>
            <a:ext cx="509588" cy="538162"/>
          </a:xfrm>
          <a:prstGeom prst="rect">
            <a:avLst/>
          </a:prstGeom>
          <a:noFill/>
          <a:ln w="9525">
            <a:noFill/>
            <a:miter lim="800000"/>
            <a:headEnd/>
            <a:tailEnd/>
          </a:ln>
        </p:spPr>
      </p:pic>
      <p:pic>
        <p:nvPicPr>
          <p:cNvPr id="70695" name="Picture 40"/>
          <p:cNvPicPr>
            <a:picLocks noChangeArrowheads="1"/>
          </p:cNvPicPr>
          <p:nvPr/>
        </p:nvPicPr>
        <p:blipFill>
          <a:blip r:embed="rId1" cstate="print"/>
          <a:srcRect/>
          <a:stretch>
            <a:fillRect/>
          </a:stretch>
        </p:blipFill>
        <p:spPr bwMode="auto">
          <a:xfrm>
            <a:off x="5284788" y="2720975"/>
            <a:ext cx="509587" cy="538163"/>
          </a:xfrm>
          <a:prstGeom prst="rect">
            <a:avLst/>
          </a:prstGeom>
          <a:noFill/>
          <a:ln w="9525">
            <a:noFill/>
            <a:miter lim="800000"/>
            <a:headEnd/>
            <a:tailEnd/>
          </a:ln>
        </p:spPr>
      </p:pic>
      <p:pic>
        <p:nvPicPr>
          <p:cNvPr id="70696" name="Picture 41"/>
          <p:cNvPicPr>
            <a:picLocks noChangeArrowheads="1"/>
          </p:cNvPicPr>
          <p:nvPr/>
        </p:nvPicPr>
        <p:blipFill>
          <a:blip r:embed="rId1" cstate="print"/>
          <a:srcRect/>
          <a:stretch>
            <a:fillRect/>
          </a:stretch>
        </p:blipFill>
        <p:spPr bwMode="auto">
          <a:xfrm>
            <a:off x="3348038" y="2954338"/>
            <a:ext cx="509587" cy="538162"/>
          </a:xfrm>
          <a:prstGeom prst="rect">
            <a:avLst/>
          </a:prstGeom>
          <a:noFill/>
          <a:ln w="9525">
            <a:noFill/>
            <a:miter lim="800000"/>
            <a:headEnd/>
            <a:tailEnd/>
          </a:ln>
        </p:spPr>
      </p:pic>
      <p:pic>
        <p:nvPicPr>
          <p:cNvPr id="70697" name="Picture 42"/>
          <p:cNvPicPr>
            <a:picLocks noChangeArrowheads="1"/>
          </p:cNvPicPr>
          <p:nvPr/>
        </p:nvPicPr>
        <p:blipFill>
          <a:blip r:embed="rId1" cstate="print"/>
          <a:srcRect/>
          <a:stretch>
            <a:fillRect/>
          </a:stretch>
        </p:blipFill>
        <p:spPr bwMode="auto">
          <a:xfrm>
            <a:off x="3348038" y="4903788"/>
            <a:ext cx="509587" cy="536575"/>
          </a:xfrm>
          <a:prstGeom prst="rect">
            <a:avLst/>
          </a:prstGeom>
          <a:noFill/>
          <a:ln w="9525">
            <a:noFill/>
            <a:miter lim="800000"/>
            <a:headEnd/>
            <a:tailEnd/>
          </a:ln>
        </p:spPr>
      </p:pic>
      <p:pic>
        <p:nvPicPr>
          <p:cNvPr id="70698" name="Picture 43"/>
          <p:cNvPicPr>
            <a:picLocks noChangeArrowheads="1"/>
          </p:cNvPicPr>
          <p:nvPr/>
        </p:nvPicPr>
        <p:blipFill>
          <a:blip r:embed="rId1" cstate="print"/>
          <a:srcRect/>
          <a:stretch>
            <a:fillRect/>
          </a:stretch>
        </p:blipFill>
        <p:spPr bwMode="auto">
          <a:xfrm>
            <a:off x="4014788" y="4741863"/>
            <a:ext cx="509587" cy="536575"/>
          </a:xfrm>
          <a:prstGeom prst="rect">
            <a:avLst/>
          </a:prstGeom>
          <a:noFill/>
          <a:ln w="9525">
            <a:noFill/>
            <a:miter lim="800000"/>
            <a:headEnd/>
            <a:tailEnd/>
          </a:ln>
        </p:spPr>
      </p:pic>
      <p:pic>
        <p:nvPicPr>
          <p:cNvPr id="70699" name="Picture 44"/>
          <p:cNvPicPr>
            <a:picLocks noChangeArrowheads="1"/>
          </p:cNvPicPr>
          <p:nvPr/>
        </p:nvPicPr>
        <p:blipFill>
          <a:blip r:embed="rId1" cstate="print"/>
          <a:srcRect/>
          <a:stretch>
            <a:fillRect/>
          </a:stretch>
        </p:blipFill>
        <p:spPr bwMode="auto">
          <a:xfrm>
            <a:off x="5126038" y="4586288"/>
            <a:ext cx="509587" cy="536575"/>
          </a:xfrm>
          <a:prstGeom prst="rect">
            <a:avLst/>
          </a:prstGeom>
          <a:noFill/>
          <a:ln w="9525">
            <a:noFill/>
            <a:miter lim="800000"/>
            <a:headEnd/>
            <a:tailEnd/>
          </a:ln>
        </p:spPr>
      </p:pic>
      <p:pic>
        <p:nvPicPr>
          <p:cNvPr id="70700" name="Picture 45"/>
          <p:cNvPicPr>
            <a:picLocks noChangeArrowheads="1"/>
          </p:cNvPicPr>
          <p:nvPr/>
        </p:nvPicPr>
        <p:blipFill>
          <a:blip r:embed="rId1" cstate="print"/>
          <a:srcRect/>
          <a:stretch>
            <a:fillRect/>
          </a:stretch>
        </p:blipFill>
        <p:spPr bwMode="auto">
          <a:xfrm>
            <a:off x="6461125" y="4430713"/>
            <a:ext cx="509588" cy="536575"/>
          </a:xfrm>
          <a:prstGeom prst="rect">
            <a:avLst/>
          </a:prstGeom>
          <a:noFill/>
          <a:ln w="9525">
            <a:noFill/>
            <a:miter lim="800000"/>
            <a:headEnd/>
            <a:tailEnd/>
          </a:ln>
        </p:spPr>
      </p:pic>
      <p:sp>
        <p:nvSpPr>
          <p:cNvPr id="70701" name="AutoShape 46"/>
          <p:cNvSpPr>
            <a:spLocks noChangeArrowheads="1"/>
          </p:cNvSpPr>
          <p:nvPr/>
        </p:nvSpPr>
        <p:spPr bwMode="auto">
          <a:xfrm flipH="1">
            <a:off x="1790700" y="2409825"/>
            <a:ext cx="1185863" cy="933450"/>
          </a:xfrm>
          <a:prstGeom prst="cube">
            <a:avLst>
              <a:gd name="adj" fmla="val 28329"/>
            </a:avLst>
          </a:prstGeom>
          <a:solidFill>
            <a:srgbClr val="99FFCC"/>
          </a:solidFill>
          <a:ln w="9525">
            <a:solidFill>
              <a:schemeClr val="tx1"/>
            </a:solidFill>
            <a:miter lim="800000"/>
          </a:ln>
        </p:spPr>
        <p:txBody>
          <a:bodyPr wrap="none" anchor="ctr"/>
          <a:lstStyle/>
          <a:p>
            <a:pPr algn="ctr">
              <a:spcBef>
                <a:spcPct val="20000"/>
              </a:spcBef>
              <a:buFont typeface="Wingdings" panose="05000000000000000000" pitchFamily="2" charset="2"/>
              <a:buNone/>
            </a:pPr>
            <a:r>
              <a:rPr lang="zh-CN" altLang="en-US" sz="1800">
                <a:solidFill>
                  <a:srgbClr val="333399"/>
                </a:solidFill>
                <a:ea typeface="黑体" panose="02010609060101010101" pitchFamily="49" charset="-122"/>
              </a:rPr>
              <a:t>以太网</a:t>
            </a:r>
            <a:endParaRPr lang="zh-CN" altLang="en-US" sz="1800">
              <a:solidFill>
                <a:srgbClr val="333399"/>
              </a:solidFill>
              <a:ea typeface="黑体" panose="02010609060101010101" pitchFamily="49" charset="-122"/>
            </a:endParaRPr>
          </a:p>
          <a:p>
            <a:pPr algn="ctr">
              <a:spcBef>
                <a:spcPct val="20000"/>
              </a:spcBef>
              <a:buFont typeface="Wingdings" panose="05000000000000000000" pitchFamily="2" charset="2"/>
              <a:buNone/>
            </a:pPr>
            <a:r>
              <a:rPr lang="zh-CN" altLang="en-US" sz="1800">
                <a:solidFill>
                  <a:srgbClr val="333399"/>
                </a:solidFill>
                <a:ea typeface="黑体" panose="02010609060101010101" pitchFamily="49" charset="-122"/>
              </a:rPr>
              <a:t>交换机</a:t>
            </a:r>
            <a:endParaRPr lang="zh-CN" altLang="en-US" sz="1800">
              <a:solidFill>
                <a:srgbClr val="333399"/>
              </a:solidFill>
              <a:ea typeface="黑体" panose="02010609060101010101" pitchFamily="49" charset="-122"/>
            </a:endParaRPr>
          </a:p>
        </p:txBody>
      </p:sp>
      <p:sp>
        <p:nvSpPr>
          <p:cNvPr id="70702" name="Line 47"/>
          <p:cNvSpPr>
            <a:spLocks noChangeShapeType="1"/>
          </p:cNvSpPr>
          <p:nvPr/>
        </p:nvSpPr>
        <p:spPr bwMode="auto">
          <a:xfrm>
            <a:off x="1716088" y="2947988"/>
            <a:ext cx="1587" cy="3346450"/>
          </a:xfrm>
          <a:prstGeom prst="line">
            <a:avLst/>
          </a:prstGeom>
          <a:noFill/>
          <a:ln w="38100">
            <a:solidFill>
              <a:srgbClr val="333399"/>
            </a:solidFill>
            <a:round/>
          </a:ln>
        </p:spPr>
        <p:txBody>
          <a:bodyPr/>
          <a:lstStyle/>
          <a:p>
            <a:endParaRPr lang="zh-CN" altLang="en-US"/>
          </a:p>
        </p:txBody>
      </p:sp>
      <p:sp>
        <p:nvSpPr>
          <p:cNvPr id="70703" name="Line 48"/>
          <p:cNvSpPr>
            <a:spLocks noChangeShapeType="1"/>
          </p:cNvSpPr>
          <p:nvPr/>
        </p:nvSpPr>
        <p:spPr bwMode="auto">
          <a:xfrm>
            <a:off x="1703388" y="2954338"/>
            <a:ext cx="276225" cy="0"/>
          </a:xfrm>
          <a:prstGeom prst="line">
            <a:avLst/>
          </a:prstGeom>
          <a:noFill/>
          <a:ln w="38100">
            <a:solidFill>
              <a:srgbClr val="333399"/>
            </a:solidFill>
            <a:round/>
          </a:ln>
        </p:spPr>
        <p:txBody>
          <a:bodyPr/>
          <a:lstStyle/>
          <a:p>
            <a:endParaRPr lang="zh-CN" altLang="en-US"/>
          </a:p>
        </p:txBody>
      </p:sp>
      <p:sp>
        <p:nvSpPr>
          <p:cNvPr id="70704" name="Line 49"/>
          <p:cNvSpPr>
            <a:spLocks noChangeShapeType="1"/>
          </p:cNvSpPr>
          <p:nvPr/>
        </p:nvSpPr>
        <p:spPr bwMode="auto">
          <a:xfrm>
            <a:off x="1865313" y="4935538"/>
            <a:ext cx="1587" cy="1514475"/>
          </a:xfrm>
          <a:prstGeom prst="line">
            <a:avLst/>
          </a:prstGeom>
          <a:noFill/>
          <a:ln w="38100">
            <a:solidFill>
              <a:srgbClr val="333399"/>
            </a:solidFill>
            <a:round/>
          </a:ln>
        </p:spPr>
        <p:txBody>
          <a:bodyPr/>
          <a:lstStyle/>
          <a:p>
            <a:endParaRPr lang="zh-CN" altLang="en-US"/>
          </a:p>
        </p:txBody>
      </p:sp>
      <p:sp>
        <p:nvSpPr>
          <p:cNvPr id="70705" name="Line 50"/>
          <p:cNvSpPr>
            <a:spLocks noChangeShapeType="1"/>
          </p:cNvSpPr>
          <p:nvPr/>
        </p:nvSpPr>
        <p:spPr bwMode="auto">
          <a:xfrm>
            <a:off x="1851025" y="4935538"/>
            <a:ext cx="152400" cy="0"/>
          </a:xfrm>
          <a:prstGeom prst="line">
            <a:avLst/>
          </a:prstGeom>
          <a:noFill/>
          <a:ln w="38100">
            <a:solidFill>
              <a:srgbClr val="333399"/>
            </a:solidFill>
            <a:round/>
          </a:ln>
        </p:spPr>
        <p:txBody>
          <a:bodyPr/>
          <a:lstStyle/>
          <a:p>
            <a:endParaRPr lang="zh-CN" altLang="en-US"/>
          </a:p>
        </p:txBody>
      </p:sp>
      <p:sp>
        <p:nvSpPr>
          <p:cNvPr id="70706" name="AutoShape 51"/>
          <p:cNvSpPr>
            <a:spLocks noChangeArrowheads="1"/>
          </p:cNvSpPr>
          <p:nvPr/>
        </p:nvSpPr>
        <p:spPr bwMode="auto">
          <a:xfrm flipH="1">
            <a:off x="1196975" y="5829300"/>
            <a:ext cx="1187450" cy="931863"/>
          </a:xfrm>
          <a:prstGeom prst="cube">
            <a:avLst>
              <a:gd name="adj" fmla="val 28329"/>
            </a:avLst>
          </a:prstGeom>
          <a:solidFill>
            <a:srgbClr val="99FFCC"/>
          </a:solidFill>
          <a:ln w="9525">
            <a:solidFill>
              <a:schemeClr val="tx1"/>
            </a:solidFill>
            <a:miter lim="800000"/>
          </a:ln>
        </p:spPr>
        <p:txBody>
          <a:bodyPr wrap="none" anchor="ctr"/>
          <a:lstStyle/>
          <a:p>
            <a:pPr algn="ctr">
              <a:spcBef>
                <a:spcPct val="20000"/>
              </a:spcBef>
              <a:buFont typeface="Wingdings" panose="05000000000000000000" pitchFamily="2" charset="2"/>
              <a:buNone/>
            </a:pPr>
            <a:r>
              <a:rPr lang="zh-CN" altLang="en-US" sz="1800">
                <a:solidFill>
                  <a:srgbClr val="333399"/>
                </a:solidFill>
                <a:ea typeface="黑体" panose="02010609060101010101" pitchFamily="49" charset="-122"/>
              </a:rPr>
              <a:t>以太网</a:t>
            </a:r>
            <a:endParaRPr lang="zh-CN" altLang="en-US" sz="1800">
              <a:solidFill>
                <a:srgbClr val="333399"/>
              </a:solidFill>
              <a:ea typeface="黑体" panose="02010609060101010101" pitchFamily="49" charset="-122"/>
            </a:endParaRPr>
          </a:p>
          <a:p>
            <a:pPr algn="ctr">
              <a:spcBef>
                <a:spcPct val="20000"/>
              </a:spcBef>
              <a:buFont typeface="Wingdings" panose="05000000000000000000" pitchFamily="2" charset="2"/>
              <a:buNone/>
            </a:pPr>
            <a:r>
              <a:rPr lang="zh-CN" altLang="en-US" sz="1800">
                <a:solidFill>
                  <a:srgbClr val="333399"/>
                </a:solidFill>
                <a:ea typeface="黑体" panose="02010609060101010101" pitchFamily="49" charset="-122"/>
              </a:rPr>
              <a:t>交换机</a:t>
            </a:r>
            <a:endParaRPr lang="zh-CN" altLang="en-US" sz="1800">
              <a:solidFill>
                <a:srgbClr val="333399"/>
              </a:solidFill>
              <a:ea typeface="黑体" panose="02010609060101010101" pitchFamily="49" charset="-122"/>
            </a:endParaRPr>
          </a:p>
        </p:txBody>
      </p:sp>
      <p:sp>
        <p:nvSpPr>
          <p:cNvPr id="70707" name="Text Box 52"/>
          <p:cNvSpPr txBox="1">
            <a:spLocks noChangeArrowheads="1"/>
          </p:cNvSpPr>
          <p:nvPr/>
        </p:nvSpPr>
        <p:spPr bwMode="auto">
          <a:xfrm>
            <a:off x="4797425" y="5969000"/>
            <a:ext cx="3367088" cy="701675"/>
          </a:xfrm>
          <a:prstGeom prst="rect">
            <a:avLst/>
          </a:prstGeom>
          <a:noFill/>
          <a:ln w="9525">
            <a:noFill/>
            <a:miter lim="800000"/>
          </a:ln>
        </p:spPr>
        <p:txBody>
          <a:bodyPr wrap="none">
            <a:spAutoFit/>
          </a:bodyPr>
          <a:lstStyle/>
          <a:p>
            <a:pPr algn="ctr">
              <a:spcBef>
                <a:spcPct val="20000"/>
              </a:spcBef>
              <a:buFont typeface="Wingdings" panose="05000000000000000000" pitchFamily="2" charset="2"/>
              <a:buNone/>
            </a:pPr>
            <a:r>
              <a:rPr lang="zh-CN" altLang="en-US" sz="1800">
                <a:solidFill>
                  <a:srgbClr val="333399"/>
                </a:solidFill>
                <a:ea typeface="黑体" panose="02010609060101010101" pitchFamily="49" charset="-122"/>
              </a:rPr>
              <a:t>三个虚拟局域网 </a:t>
            </a:r>
            <a:r>
              <a:rPr lang="en-US" altLang="zh-CN" sz="1800">
                <a:solidFill>
                  <a:srgbClr val="333399"/>
                </a:solidFill>
                <a:ea typeface="黑体" panose="02010609060101010101" pitchFamily="49" charset="-122"/>
              </a:rPr>
              <a:t>VLAN</a:t>
            </a:r>
            <a:r>
              <a:rPr lang="en-US" altLang="zh-CN" sz="1800" baseline="-25000">
                <a:solidFill>
                  <a:srgbClr val="333399"/>
                </a:solidFill>
                <a:ea typeface="黑体" panose="02010609060101010101" pitchFamily="49" charset="-122"/>
              </a:rPr>
              <a:t>1</a:t>
            </a:r>
            <a:r>
              <a:rPr lang="en-US" altLang="zh-CN" sz="1800">
                <a:solidFill>
                  <a:srgbClr val="333399"/>
                </a:solidFill>
                <a:ea typeface="黑体" panose="02010609060101010101" pitchFamily="49" charset="-122"/>
              </a:rPr>
              <a:t>, VLAN</a:t>
            </a:r>
            <a:r>
              <a:rPr lang="en-US" altLang="zh-CN" sz="1800" baseline="-25000">
                <a:solidFill>
                  <a:srgbClr val="333399"/>
                </a:solidFill>
                <a:ea typeface="黑体" panose="02010609060101010101" pitchFamily="49" charset="-122"/>
              </a:rPr>
              <a:t>2</a:t>
            </a:r>
            <a:endParaRPr lang="en-US" altLang="zh-CN" sz="1800" baseline="-25000">
              <a:solidFill>
                <a:srgbClr val="333399"/>
              </a:solidFill>
              <a:ea typeface="黑体" panose="02010609060101010101" pitchFamily="49" charset="-122"/>
            </a:endParaRPr>
          </a:p>
          <a:p>
            <a:pPr algn="ctr">
              <a:spcBef>
                <a:spcPct val="20000"/>
              </a:spcBef>
              <a:buFont typeface="Wingdings" panose="05000000000000000000" pitchFamily="2" charset="2"/>
              <a:buNone/>
            </a:pPr>
            <a:r>
              <a:rPr lang="zh-CN" altLang="en-US" sz="1800">
                <a:solidFill>
                  <a:srgbClr val="333399"/>
                </a:solidFill>
                <a:ea typeface="黑体" panose="02010609060101010101" pitchFamily="49" charset="-122"/>
              </a:rPr>
              <a:t>和 </a:t>
            </a:r>
            <a:r>
              <a:rPr lang="en-US" altLang="zh-CN" sz="1800">
                <a:solidFill>
                  <a:srgbClr val="333399"/>
                </a:solidFill>
                <a:ea typeface="黑体" panose="02010609060101010101" pitchFamily="49" charset="-122"/>
              </a:rPr>
              <a:t>VLAN</a:t>
            </a:r>
            <a:r>
              <a:rPr lang="en-US" altLang="zh-CN" sz="1800" baseline="-25000">
                <a:solidFill>
                  <a:srgbClr val="333399"/>
                </a:solidFill>
                <a:ea typeface="黑体" panose="02010609060101010101" pitchFamily="49" charset="-122"/>
              </a:rPr>
              <a:t>3</a:t>
            </a:r>
            <a:r>
              <a:rPr lang="en-US" altLang="zh-CN" sz="1800">
                <a:solidFill>
                  <a:srgbClr val="333399"/>
                </a:solidFill>
                <a:ea typeface="黑体" panose="02010609060101010101" pitchFamily="49" charset="-122"/>
              </a:rPr>
              <a:t> </a:t>
            </a:r>
            <a:r>
              <a:rPr lang="zh-CN" altLang="en-US" sz="1800">
                <a:solidFill>
                  <a:srgbClr val="333399"/>
                </a:solidFill>
                <a:ea typeface="黑体" panose="02010609060101010101" pitchFamily="49" charset="-122"/>
              </a:rPr>
              <a:t>的构成 </a:t>
            </a:r>
            <a:endParaRPr lang="zh-CN" altLang="en-US" sz="1800">
              <a:solidFill>
                <a:srgbClr val="333399"/>
              </a:solidFill>
              <a:ea typeface="黑体" panose="02010609060101010101" pitchFamily="49" charset="-122"/>
            </a:endParaRPr>
          </a:p>
        </p:txBody>
      </p:sp>
      <p:sp>
        <p:nvSpPr>
          <p:cNvPr id="52277" name="Text Box 53"/>
          <p:cNvSpPr txBox="1">
            <a:spLocks noChangeArrowheads="1"/>
          </p:cNvSpPr>
          <p:nvPr/>
        </p:nvSpPr>
        <p:spPr bwMode="auto">
          <a:xfrm>
            <a:off x="2555875" y="5876925"/>
            <a:ext cx="6013450" cy="701675"/>
          </a:xfrm>
          <a:prstGeom prst="rect">
            <a:avLst/>
          </a:prstGeom>
          <a:solidFill>
            <a:srgbClr val="FFFF99"/>
          </a:solidFill>
          <a:ln w="9525">
            <a:solidFill>
              <a:srgbClr val="333399"/>
            </a:solidFill>
            <a:miter lim="800000"/>
          </a:ln>
        </p:spPr>
        <p:txBody>
          <a:bodyPr>
            <a:spAutoFit/>
          </a:bodyPr>
          <a:lstStyle/>
          <a:p>
            <a:pPr algn="ctr">
              <a:spcBef>
                <a:spcPct val="20000"/>
              </a:spcBef>
              <a:buFont typeface="Wingdings" panose="05000000000000000000" pitchFamily="2" charset="2"/>
              <a:buNone/>
            </a:pPr>
            <a:r>
              <a:rPr lang="zh-CN" altLang="en-US" sz="1800">
                <a:solidFill>
                  <a:srgbClr val="333399"/>
                </a:solidFill>
                <a:ea typeface="黑体" panose="02010609060101010101" pitchFamily="49" charset="-122"/>
              </a:rPr>
              <a:t>当 </a:t>
            </a:r>
            <a:r>
              <a:rPr lang="en-US" altLang="zh-CN" sz="1800">
                <a:solidFill>
                  <a:srgbClr val="333399"/>
                </a:solidFill>
                <a:ea typeface="黑体" panose="02010609060101010101" pitchFamily="49" charset="-122"/>
              </a:rPr>
              <a:t>B</a:t>
            </a:r>
            <a:r>
              <a:rPr lang="en-US" altLang="zh-CN" sz="1800" baseline="-25000">
                <a:solidFill>
                  <a:srgbClr val="333399"/>
                </a:solidFill>
                <a:ea typeface="黑体" panose="02010609060101010101" pitchFamily="49" charset="-122"/>
              </a:rPr>
              <a:t>1</a:t>
            </a:r>
            <a:r>
              <a:rPr lang="en-US" altLang="zh-CN" sz="1800">
                <a:solidFill>
                  <a:srgbClr val="333399"/>
                </a:solidFill>
                <a:ea typeface="黑体" panose="02010609060101010101" pitchFamily="49" charset="-122"/>
              </a:rPr>
              <a:t> </a:t>
            </a:r>
            <a:r>
              <a:rPr lang="zh-CN" altLang="en-US" sz="1800">
                <a:solidFill>
                  <a:srgbClr val="333399"/>
                </a:solidFill>
                <a:ea typeface="黑体" panose="02010609060101010101" pitchFamily="49" charset="-122"/>
              </a:rPr>
              <a:t>向 </a:t>
            </a:r>
            <a:r>
              <a:rPr lang="en-US" altLang="zh-CN" sz="1800">
                <a:solidFill>
                  <a:srgbClr val="333399"/>
                </a:solidFill>
                <a:ea typeface="黑体" panose="02010609060101010101" pitchFamily="49" charset="-122"/>
              </a:rPr>
              <a:t>VLAN</a:t>
            </a:r>
            <a:r>
              <a:rPr lang="en-US" altLang="zh-CN" sz="1800" baseline="-25000">
                <a:solidFill>
                  <a:srgbClr val="333399"/>
                </a:solidFill>
                <a:ea typeface="黑体" panose="02010609060101010101" pitchFamily="49" charset="-122"/>
              </a:rPr>
              <a:t>2</a:t>
            </a:r>
            <a:r>
              <a:rPr lang="en-US" altLang="zh-CN" sz="1800">
                <a:solidFill>
                  <a:srgbClr val="333399"/>
                </a:solidFill>
                <a:ea typeface="黑体" panose="02010609060101010101" pitchFamily="49" charset="-122"/>
              </a:rPr>
              <a:t> </a:t>
            </a:r>
            <a:r>
              <a:rPr lang="zh-CN" altLang="en-US" sz="1800">
                <a:solidFill>
                  <a:srgbClr val="333399"/>
                </a:solidFill>
                <a:ea typeface="黑体" panose="02010609060101010101" pitchFamily="49" charset="-122"/>
              </a:rPr>
              <a:t>工作组内成员发送数据时，</a:t>
            </a:r>
            <a:endParaRPr lang="zh-CN" altLang="en-US" sz="1800">
              <a:solidFill>
                <a:srgbClr val="333399"/>
              </a:solidFill>
              <a:ea typeface="黑体" panose="02010609060101010101" pitchFamily="49" charset="-122"/>
            </a:endParaRPr>
          </a:p>
          <a:p>
            <a:pPr algn="ctr">
              <a:spcBef>
                <a:spcPct val="20000"/>
              </a:spcBef>
              <a:buFont typeface="Wingdings" panose="05000000000000000000" pitchFamily="2" charset="2"/>
              <a:buNone/>
            </a:pPr>
            <a:r>
              <a:rPr lang="zh-CN" altLang="en-US" sz="1800">
                <a:solidFill>
                  <a:srgbClr val="333399"/>
                </a:solidFill>
                <a:ea typeface="黑体" panose="02010609060101010101" pitchFamily="49" charset="-122"/>
              </a:rPr>
              <a:t>工作站 </a:t>
            </a:r>
            <a:r>
              <a:rPr lang="en-US" altLang="zh-CN" sz="1800">
                <a:solidFill>
                  <a:srgbClr val="333399"/>
                </a:solidFill>
                <a:ea typeface="黑体" panose="02010609060101010101" pitchFamily="49" charset="-122"/>
              </a:rPr>
              <a:t>B</a:t>
            </a:r>
            <a:r>
              <a:rPr lang="en-US" altLang="zh-CN" sz="1800" baseline="-25000">
                <a:solidFill>
                  <a:srgbClr val="333399"/>
                </a:solidFill>
                <a:ea typeface="黑体" panose="02010609060101010101" pitchFamily="49" charset="-122"/>
              </a:rPr>
              <a:t>2 </a:t>
            </a:r>
            <a:r>
              <a:rPr lang="zh-CN" altLang="en-US" sz="1800">
                <a:solidFill>
                  <a:srgbClr val="333399"/>
                </a:solidFill>
                <a:ea typeface="黑体" panose="02010609060101010101" pitchFamily="49" charset="-122"/>
              </a:rPr>
              <a:t>和 </a:t>
            </a:r>
            <a:r>
              <a:rPr lang="en-US" altLang="zh-CN" sz="1800">
                <a:solidFill>
                  <a:srgbClr val="333399"/>
                </a:solidFill>
                <a:ea typeface="黑体" panose="02010609060101010101" pitchFamily="49" charset="-122"/>
              </a:rPr>
              <a:t>B</a:t>
            </a:r>
            <a:r>
              <a:rPr lang="en-US" altLang="zh-CN" sz="1800" baseline="-25000">
                <a:solidFill>
                  <a:srgbClr val="333399"/>
                </a:solidFill>
                <a:ea typeface="黑体" panose="02010609060101010101" pitchFamily="49" charset="-122"/>
              </a:rPr>
              <a:t>3 </a:t>
            </a:r>
            <a:r>
              <a:rPr lang="zh-CN" altLang="en-US" sz="1800">
                <a:solidFill>
                  <a:srgbClr val="333399"/>
                </a:solidFill>
                <a:ea typeface="黑体" panose="02010609060101010101" pitchFamily="49" charset="-122"/>
              </a:rPr>
              <a:t>将会收到广播的信息。</a:t>
            </a:r>
            <a:endParaRPr lang="zh-CN" altLang="en-US" sz="1800">
              <a:solidFill>
                <a:srgbClr val="333399"/>
              </a:solidFill>
              <a:ea typeface="黑体" panose="02010609060101010101" pitchFamily="49" charset="-122"/>
            </a:endParaRPr>
          </a:p>
        </p:txBody>
      </p:sp>
      <p:sp>
        <p:nvSpPr>
          <p:cNvPr id="70709" name="Rectangle 56"/>
          <p:cNvSpPr>
            <a:spLocks noChangeArrowheads="1"/>
          </p:cNvSpPr>
          <p:nvPr/>
        </p:nvSpPr>
        <p:spPr bwMode="auto">
          <a:xfrm>
            <a:off x="142875" y="1808163"/>
            <a:ext cx="1335088" cy="366712"/>
          </a:xfrm>
          <a:prstGeom prst="rect">
            <a:avLst/>
          </a:prstGeom>
          <a:noFill/>
          <a:ln w="9525">
            <a:noFill/>
            <a:miter lim="800000"/>
          </a:ln>
        </p:spPr>
        <p:txBody>
          <a:bodyPr wrap="none">
            <a:spAutoFit/>
          </a:bodyPr>
          <a:lstStyle/>
          <a:p>
            <a:pPr algn="dist">
              <a:spcBef>
                <a:spcPct val="20000"/>
              </a:spcBef>
              <a:buFont typeface="Wingdings" panose="05000000000000000000" pitchFamily="2" charset="2"/>
              <a:buNone/>
            </a:pPr>
            <a:r>
              <a:rPr lang="zh-CN" altLang="en-US">
                <a:solidFill>
                  <a:srgbClr val="FF0000"/>
                </a:solidFill>
              </a:rPr>
              <a:t>虚拟局域网</a:t>
            </a:r>
            <a:endParaRPr lang="zh-CN" altLang="en-US">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522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77"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bwMode="gray">
          <a:xfrm>
            <a:off x="468313" y="1196975"/>
            <a:ext cx="8388350" cy="5292725"/>
          </a:xfrm>
          <a:prstGeom prst="roundRect">
            <a:avLst/>
          </a:prstGeom>
        </p:spPr>
        <p:style>
          <a:lnRef idx="2">
            <a:schemeClr val="accent1"/>
          </a:lnRef>
          <a:fillRef idx="1">
            <a:schemeClr val="lt1"/>
          </a:fillRef>
          <a:effectRef idx="0">
            <a:schemeClr val="accent1"/>
          </a:effectRef>
          <a:fontRef idx="minor">
            <a:schemeClr val="dk1"/>
          </a:fontRef>
        </p:style>
        <p:txBody>
          <a:bodyPr anchor="ctr"/>
          <a:lstStyle/>
          <a:p>
            <a:pPr>
              <a:spcBef>
                <a:spcPct val="20000"/>
              </a:spcBef>
              <a:buFont typeface="Wingdings" panose="05000000000000000000" pitchFamily="2" charset="2"/>
              <a:buNone/>
              <a:defRPr/>
            </a:pPr>
            <a:r>
              <a:rPr lang="en-US" altLang="zh-CN" sz="2200" b="1" dirty="0">
                <a:solidFill>
                  <a:srgbClr val="CC0000"/>
                </a:solidFill>
              </a:rPr>
              <a:t>    2</a:t>
            </a:r>
            <a:r>
              <a:rPr lang="zh-CN" altLang="zh-CN" sz="2200" b="1" dirty="0">
                <a:solidFill>
                  <a:srgbClr val="CC0000"/>
                </a:solidFill>
              </a:rPr>
              <a:t>．实验方法</a:t>
            </a:r>
            <a:endParaRPr lang="zh-CN" altLang="zh-CN" sz="2200" b="1" dirty="0">
              <a:solidFill>
                <a:srgbClr val="CC0000"/>
              </a:solidFill>
            </a:endParaRPr>
          </a:p>
          <a:p>
            <a:pPr indent="457200">
              <a:spcBef>
                <a:spcPct val="20000"/>
              </a:spcBef>
              <a:defRPr/>
            </a:pPr>
            <a:r>
              <a:rPr altLang="zh-CN" sz="2200" b="1" dirty="0">
                <a:solidFill>
                  <a:schemeClr val="tx2"/>
                </a:solidFill>
              </a:rPr>
              <a:t>构建虚拟局域网VLAN方法很多。可用Windows自带的连接设置方式，通过“网上邻居”建立。也可在Windows Server 2016运行环境下，安装虚拟机软件。主要利用虚拟存储空间和操作系统提供的技术支持，使虚拟机上的操作系统通过网卡和实际操作系统进行通信。真实机和虚拟机可以通过以太网通信，形成小型的局域网环境。</a:t>
            </a:r>
            <a:endParaRPr altLang="zh-CN" sz="2200" b="1" dirty="0">
              <a:solidFill>
                <a:schemeClr val="tx2"/>
              </a:solidFill>
            </a:endParaRPr>
          </a:p>
          <a:p>
            <a:pPr indent="457200">
              <a:spcBef>
                <a:spcPct val="20000"/>
              </a:spcBef>
              <a:defRPr/>
            </a:pPr>
            <a:r>
              <a:rPr altLang="zh-CN" sz="2200" b="1" dirty="0">
                <a:solidFill>
                  <a:schemeClr val="tx2"/>
                </a:solidFill>
              </a:rPr>
              <a:t>1）利用虚拟机软件在一台计算机中安装多台虚拟主机，构建虚拟局域网，可以模拟复杂的真实网络环境，让用户在单机上实现多机协同作业。</a:t>
            </a:r>
            <a:endParaRPr altLang="zh-CN" sz="2200" b="1" dirty="0">
              <a:solidFill>
                <a:schemeClr val="tx2"/>
              </a:solidFill>
            </a:endParaRPr>
          </a:p>
          <a:p>
            <a:pPr indent="457200">
              <a:spcBef>
                <a:spcPct val="20000"/>
              </a:spcBef>
              <a:defRPr/>
            </a:pPr>
            <a:r>
              <a:rPr altLang="zh-CN" sz="2200" b="1" dirty="0">
                <a:solidFill>
                  <a:schemeClr val="tx2"/>
                </a:solidFill>
              </a:rPr>
              <a:t>2）由于虚拟局域网是个“虚拟系统”，所以一旦遇到网络攻击甚至造成系统瘫痪，实际的物理网络系统并没有受到影响和破坏，所以，虚拟局域网可在较短时间内得到恢复。</a:t>
            </a:r>
            <a:endParaRPr altLang="zh-CN" sz="2200" b="1" dirty="0">
              <a:solidFill>
                <a:schemeClr val="tx2"/>
              </a:solidFill>
            </a:endParaRPr>
          </a:p>
          <a:p>
            <a:pPr indent="457200">
              <a:spcBef>
                <a:spcPct val="20000"/>
              </a:spcBef>
              <a:defRPr/>
            </a:pPr>
            <a:r>
              <a:rPr altLang="zh-CN" sz="2200" b="1" dirty="0">
                <a:solidFill>
                  <a:schemeClr val="tx2"/>
                </a:solidFill>
              </a:rPr>
              <a:t>3）在虚拟局域网络上，可以实现在一台机器上同时运行多个操作系统。</a:t>
            </a:r>
            <a:endParaRPr altLang="zh-CN" sz="2200" b="1" dirty="0">
              <a:solidFill>
                <a:schemeClr val="tx2"/>
              </a:solidFill>
            </a:endParaRPr>
          </a:p>
        </p:txBody>
      </p:sp>
      <p:sp>
        <p:nvSpPr>
          <p:cNvPr id="72706" name="标题 1"/>
          <p:cNvSpPr>
            <a:spLocks noChangeArrowheads="1"/>
          </p:cNvSpPr>
          <p:nvPr/>
        </p:nvSpPr>
        <p:spPr bwMode="auto">
          <a:xfrm>
            <a:off x="431800" y="201613"/>
            <a:ext cx="8305800" cy="563562"/>
          </a:xfrm>
          <a:prstGeom prst="rect">
            <a:avLst/>
          </a:prstGeom>
          <a:noFill/>
          <a:ln w="9525">
            <a:noFill/>
            <a:miter lim="800000"/>
          </a:ln>
        </p:spPr>
        <p:txBody>
          <a:bodyPr anchor="ctr"/>
          <a:lstStyle/>
          <a:p>
            <a:pPr algn="ctr">
              <a:spcBef>
                <a:spcPct val="20000"/>
              </a:spcBef>
              <a:buFont typeface="Wingdings" panose="05000000000000000000" pitchFamily="2" charset="2"/>
              <a:buNone/>
            </a:pPr>
            <a:r>
              <a:rPr lang="en-US" altLang="zh-CN" sz="3200" b="1">
                <a:solidFill>
                  <a:schemeClr val="bg1"/>
                </a:solidFill>
                <a:latin typeface="Verdana" panose="020B0604030504040204" pitchFamily="34" charset="0"/>
              </a:rPr>
              <a:t>*1.7 </a:t>
            </a:r>
            <a:r>
              <a:rPr lang="zh-CN" altLang="en-US" sz="3200" b="1">
                <a:solidFill>
                  <a:schemeClr val="bg1"/>
                </a:solidFill>
                <a:latin typeface="Verdana" panose="020B0604030504040204" pitchFamily="34" charset="0"/>
              </a:rPr>
              <a:t>实验1 构建虚拟局域网实验</a:t>
            </a:r>
            <a:r>
              <a:rPr lang="en-US" altLang="zh-CN" sz="3200" b="1">
                <a:solidFill>
                  <a:schemeClr val="bg1"/>
                </a:solidFill>
                <a:latin typeface="Verdana" panose="020B0604030504040204" pitchFamily="34" charset="0"/>
              </a:rPr>
              <a:t>VLAN</a:t>
            </a:r>
            <a:endParaRPr lang="en-US" altLang="zh-CN" sz="3200" b="1">
              <a:solidFill>
                <a:schemeClr val="bg1"/>
              </a:solidFill>
              <a:latin typeface="Verdana" panose="020B0604030504040204" pitchFamily="34" charset="0"/>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内容占位符 2"/>
          <p:cNvSpPr>
            <a:spLocks noGrp="1" noChangeArrowheads="1"/>
          </p:cNvSpPr>
          <p:nvPr>
            <p:ph idx="4294967295"/>
          </p:nvPr>
        </p:nvSpPr>
        <p:spPr>
          <a:xfrm>
            <a:off x="495300" y="1009650"/>
            <a:ext cx="8153400" cy="550863"/>
          </a:xfrm>
        </p:spPr>
        <p:txBody>
          <a:bodyPr/>
          <a:lstStyle/>
          <a:p>
            <a:pPr marL="0" indent="0" eaLnBrk="1" hangingPunct="1">
              <a:spcBef>
                <a:spcPct val="0"/>
              </a:spcBef>
              <a:buFont typeface="Wingdings" panose="05000000000000000000" pitchFamily="2" charset="2"/>
              <a:buNone/>
            </a:pPr>
            <a:r>
              <a:rPr lang="en-US" altLang="en-US" sz="2400" smtClean="0">
                <a:solidFill>
                  <a:srgbClr val="C00000"/>
                </a:solidFill>
              </a:rPr>
              <a:t>1.7.3 </a:t>
            </a:r>
            <a:r>
              <a:rPr lang="zh-CN" altLang="en-US" sz="2400" smtClean="0">
                <a:solidFill>
                  <a:srgbClr val="C00000"/>
                </a:solidFill>
              </a:rPr>
              <a:t>实验内容及步骤</a:t>
            </a:r>
            <a:endParaRPr lang="zh-CN" altLang="en-US" sz="2400" smtClean="0">
              <a:solidFill>
                <a:srgbClr val="C00000"/>
              </a:solidFill>
            </a:endParaRPr>
          </a:p>
        </p:txBody>
      </p:sp>
      <p:sp>
        <p:nvSpPr>
          <p:cNvPr id="5" name="圆角矩形 4"/>
          <p:cNvSpPr/>
          <p:nvPr/>
        </p:nvSpPr>
        <p:spPr bwMode="gray">
          <a:xfrm>
            <a:off x="379413" y="1381125"/>
            <a:ext cx="8496300" cy="1933575"/>
          </a:xfrm>
          <a:prstGeom prst="roundRect">
            <a:avLst/>
          </a:prstGeom>
        </p:spPr>
        <p:style>
          <a:lnRef idx="2">
            <a:schemeClr val="accent1"/>
          </a:lnRef>
          <a:fillRef idx="1">
            <a:schemeClr val="lt1"/>
          </a:fillRef>
          <a:effectRef idx="0">
            <a:schemeClr val="accent1"/>
          </a:effectRef>
          <a:fontRef idx="minor">
            <a:schemeClr val="dk1"/>
          </a:fontRef>
        </p:style>
        <p:txBody>
          <a:bodyPr anchor="ctr"/>
          <a:lstStyle/>
          <a:p>
            <a:pPr indent="457200">
              <a:spcBef>
                <a:spcPts val="0"/>
              </a:spcBef>
              <a:defRPr/>
            </a:pPr>
            <a:r>
              <a:rPr lang="en-US" altLang="zh-CN" sz="1700" b="1" dirty="0">
                <a:solidFill>
                  <a:schemeClr val="tx2"/>
                </a:solidFill>
              </a:rPr>
              <a:t>VMware Workstation是一款功能强大桌面虚拟软件,可在安全、可移植的虚拟机中运行多种操作系统和应用软件,为用户提供同时运行不同操作系统和开发、测试、部署新的应用程序的最佳解决方案。每台虚拟机相当于包含网络地址的PC机建立VLAN。</a:t>
            </a:r>
            <a:endParaRPr lang="en-US" altLang="zh-CN" sz="1700" b="1" dirty="0">
              <a:solidFill>
                <a:schemeClr val="tx2"/>
              </a:solidFill>
            </a:endParaRPr>
          </a:p>
          <a:p>
            <a:pPr indent="457200">
              <a:spcBef>
                <a:spcPts val="0"/>
              </a:spcBef>
              <a:defRPr/>
            </a:pPr>
            <a:r>
              <a:rPr lang="en-US" altLang="zh-CN" sz="1700" b="1" dirty="0">
                <a:solidFill>
                  <a:schemeClr val="tx2"/>
                </a:solidFill>
              </a:rPr>
              <a:t>VMware基于VLAN，可为分布在不同范围、不同物理位置的计算机组建虚拟局域网，形成一个具有资源共享、数据传送、远程访问等功能的局域网。</a:t>
            </a:r>
            <a:endParaRPr lang="en-US" altLang="zh-CN" sz="1700" b="1" dirty="0">
              <a:solidFill>
                <a:schemeClr val="tx2"/>
              </a:solidFill>
            </a:endParaRPr>
          </a:p>
          <a:p>
            <a:pPr indent="457200">
              <a:spcBef>
                <a:spcPts val="0"/>
              </a:spcBef>
              <a:defRPr/>
            </a:pPr>
            <a:r>
              <a:rPr lang="en-US" altLang="zh-CN" sz="1700" b="1" dirty="0" err="1">
                <a:solidFill>
                  <a:schemeClr val="tx2"/>
                </a:solidFill>
              </a:rPr>
              <a:t>利用VMware</a:t>
            </a:r>
            <a:r>
              <a:rPr lang="en-US" altLang="zh-CN" sz="1700" b="1" dirty="0">
                <a:solidFill>
                  <a:schemeClr val="tx2"/>
                </a:solidFill>
              </a:rPr>
              <a:t> 12虚拟机安装Windows10，并可以建立虚拟局域网VLAN。</a:t>
            </a:r>
            <a:endParaRPr lang="en-US" altLang="zh-CN" sz="1700" b="1" dirty="0">
              <a:solidFill>
                <a:schemeClr val="tx2"/>
              </a:solidFill>
            </a:endParaRPr>
          </a:p>
          <a:p>
            <a:pPr indent="457200">
              <a:spcBef>
                <a:spcPts val="0"/>
              </a:spcBef>
              <a:defRPr/>
            </a:pPr>
            <a:r>
              <a:rPr lang="zh-CN" altLang="zh-CN" sz="1700" b="1" dirty="0">
                <a:solidFill>
                  <a:schemeClr val="tx2"/>
                </a:solidFill>
              </a:rPr>
              <a:t>（</a:t>
            </a:r>
            <a:r>
              <a:rPr lang="en-US" altLang="zh-CN" sz="1700" b="1" dirty="0">
                <a:solidFill>
                  <a:schemeClr val="tx2"/>
                </a:solidFill>
              </a:rPr>
              <a:t>1</a:t>
            </a:r>
            <a:r>
              <a:rPr lang="zh-CN" altLang="zh-CN" sz="1700" b="1" dirty="0">
                <a:solidFill>
                  <a:schemeClr val="tx2"/>
                </a:solidFill>
              </a:rPr>
              <a:t>）安装</a:t>
            </a:r>
            <a:r>
              <a:rPr lang="en-US" altLang="zh-CN" sz="1700" b="1" dirty="0">
                <a:solidFill>
                  <a:schemeClr val="tx2"/>
                </a:solidFill>
              </a:rPr>
              <a:t>VMware 12</a:t>
            </a:r>
            <a:r>
              <a:rPr lang="zh-CN" altLang="zh-CN" sz="1700" b="1" dirty="0">
                <a:solidFill>
                  <a:schemeClr val="tx2"/>
                </a:solidFill>
              </a:rPr>
              <a:t>。安装及使用虚拟机向导界面，如图</a:t>
            </a:r>
            <a:r>
              <a:rPr lang="en-US" altLang="zh-CN" sz="1700" b="1" dirty="0">
                <a:solidFill>
                  <a:schemeClr val="tx2"/>
                </a:solidFill>
              </a:rPr>
              <a:t>1-11</a:t>
            </a:r>
            <a:r>
              <a:rPr lang="zh-CN" altLang="zh-CN" sz="1700" b="1" dirty="0">
                <a:solidFill>
                  <a:schemeClr val="tx2"/>
                </a:solidFill>
              </a:rPr>
              <a:t>及</a:t>
            </a:r>
            <a:r>
              <a:rPr lang="en-US" altLang="zh-CN" sz="1700" b="1" dirty="0">
                <a:solidFill>
                  <a:schemeClr val="tx2"/>
                </a:solidFill>
              </a:rPr>
              <a:t>1-12</a:t>
            </a:r>
            <a:r>
              <a:rPr lang="zh-CN" altLang="en-US" sz="1700" b="1" dirty="0">
                <a:solidFill>
                  <a:schemeClr val="tx2"/>
                </a:solidFill>
              </a:rPr>
              <a:t>所示</a:t>
            </a:r>
            <a:r>
              <a:rPr lang="zh-CN" altLang="zh-CN" sz="1700" b="1" dirty="0">
                <a:solidFill>
                  <a:schemeClr val="tx2"/>
                </a:solidFill>
              </a:rPr>
              <a:t>。</a:t>
            </a:r>
            <a:endParaRPr lang="zh-CN" altLang="zh-CN" sz="1700" b="1" dirty="0">
              <a:solidFill>
                <a:schemeClr val="tx2"/>
              </a:solidFill>
            </a:endParaRPr>
          </a:p>
        </p:txBody>
      </p:sp>
      <p:pic>
        <p:nvPicPr>
          <p:cNvPr id="73731" name="图片 1"/>
          <p:cNvPicPr>
            <a:picLocks noChangeAspect="1" noChangeArrowheads="1"/>
          </p:cNvPicPr>
          <p:nvPr/>
        </p:nvPicPr>
        <p:blipFill>
          <a:blip r:embed="rId1" cstate="print"/>
          <a:srcRect/>
          <a:stretch>
            <a:fillRect/>
          </a:stretch>
        </p:blipFill>
        <p:spPr bwMode="auto">
          <a:xfrm>
            <a:off x="379413" y="3394075"/>
            <a:ext cx="3978275" cy="3135313"/>
          </a:xfrm>
          <a:prstGeom prst="rect">
            <a:avLst/>
          </a:prstGeom>
          <a:noFill/>
          <a:ln w="9525">
            <a:noFill/>
            <a:miter lim="800000"/>
            <a:headEnd/>
            <a:tailEnd/>
          </a:ln>
        </p:spPr>
      </p:pic>
      <p:pic>
        <p:nvPicPr>
          <p:cNvPr id="73732" name="Picture 7"/>
          <p:cNvPicPr>
            <a:picLocks noChangeAspect="1" noChangeArrowheads="1"/>
          </p:cNvPicPr>
          <p:nvPr/>
        </p:nvPicPr>
        <p:blipFill>
          <a:blip r:embed="rId2" cstate="print"/>
          <a:srcRect/>
          <a:stretch>
            <a:fillRect/>
          </a:stretch>
        </p:blipFill>
        <p:spPr bwMode="auto">
          <a:xfrm>
            <a:off x="4895850" y="3394075"/>
            <a:ext cx="3981450" cy="3121025"/>
          </a:xfrm>
          <a:prstGeom prst="rect">
            <a:avLst/>
          </a:prstGeom>
          <a:noFill/>
          <a:ln w="9525">
            <a:noFill/>
            <a:miter lim="800000"/>
            <a:headEnd/>
            <a:tailEnd/>
          </a:ln>
        </p:spPr>
      </p:pic>
      <p:sp>
        <p:nvSpPr>
          <p:cNvPr id="73733" name="Rectangle 9"/>
          <p:cNvSpPr>
            <a:spLocks noChangeArrowheads="1"/>
          </p:cNvSpPr>
          <p:nvPr/>
        </p:nvSpPr>
        <p:spPr bwMode="auto">
          <a:xfrm>
            <a:off x="0" y="0"/>
            <a:ext cx="9144000" cy="457200"/>
          </a:xfrm>
          <a:prstGeom prst="rect">
            <a:avLst/>
          </a:prstGeom>
          <a:noFill/>
          <a:ln w="9525">
            <a:noFill/>
            <a:miter lim="800000"/>
          </a:ln>
        </p:spPr>
        <p:txBody>
          <a:bodyPr wrap="none" anchor="ctr">
            <a:spAutoFit/>
          </a:bodyPr>
          <a:lstStyle/>
          <a:p>
            <a:pPr algn="dist">
              <a:spcBef>
                <a:spcPct val="20000"/>
              </a:spcBef>
              <a:buFont typeface="Wingdings" panose="05000000000000000000" pitchFamily="2" charset="2"/>
              <a:buNone/>
            </a:pPr>
            <a:endParaRPr lang="zh-CN" altLang="en-US"/>
          </a:p>
        </p:txBody>
      </p:sp>
      <p:sp>
        <p:nvSpPr>
          <p:cNvPr id="73734" name="Rectangle 10"/>
          <p:cNvSpPr>
            <a:spLocks noChangeArrowheads="1"/>
          </p:cNvSpPr>
          <p:nvPr/>
        </p:nvSpPr>
        <p:spPr bwMode="auto">
          <a:xfrm>
            <a:off x="0" y="2495550"/>
            <a:ext cx="9144000" cy="0"/>
          </a:xfrm>
          <a:prstGeom prst="rect">
            <a:avLst/>
          </a:prstGeom>
          <a:solidFill>
            <a:srgbClr val="FFFFFF"/>
          </a:solidFill>
          <a:ln w="9525">
            <a:noFill/>
            <a:miter lim="800000"/>
          </a:ln>
        </p:spPr>
        <p:txBody>
          <a:bodyPr wrap="none" anchor="ctr">
            <a:spAutoFit/>
          </a:bodyPr>
          <a:lstStyle/>
          <a:p>
            <a:pPr algn="ctr">
              <a:spcBef>
                <a:spcPct val="20000"/>
              </a:spcBef>
              <a:buFont typeface="Wingdings" panose="05000000000000000000" pitchFamily="2" charset="2"/>
              <a:buNone/>
            </a:pPr>
            <a:r>
              <a:rPr lang="en-US" altLang="zh-CN" sz="1000">
                <a:solidFill>
                  <a:srgbClr val="000000"/>
                </a:solidFill>
                <a:latin typeface="Times New Roman" panose="02020603050405020304" pitchFamily="18" charset="0"/>
              </a:rPr>
              <a:t> </a:t>
            </a:r>
            <a:endParaRPr lang="en-US" altLang="zh-CN">
              <a:latin typeface="宋体" panose="02010600030101010101" pitchFamily="2" charset="-122"/>
            </a:endParaRPr>
          </a:p>
        </p:txBody>
      </p:sp>
      <p:sp>
        <p:nvSpPr>
          <p:cNvPr id="73735" name="Rectangle 11"/>
          <p:cNvSpPr>
            <a:spLocks noChangeArrowheads="1"/>
          </p:cNvSpPr>
          <p:nvPr/>
        </p:nvSpPr>
        <p:spPr bwMode="auto">
          <a:xfrm>
            <a:off x="1114425" y="6529388"/>
            <a:ext cx="6985000" cy="304800"/>
          </a:xfrm>
          <a:prstGeom prst="rect">
            <a:avLst/>
          </a:prstGeom>
          <a:noFill/>
          <a:ln w="9525">
            <a:noFill/>
            <a:miter lim="800000"/>
          </a:ln>
        </p:spPr>
        <p:txBody>
          <a:bodyPr wrap="none" anchor="ctr">
            <a:spAutoFit/>
          </a:bodyPr>
          <a:lstStyle/>
          <a:p>
            <a:pPr algn="dist">
              <a:spcBef>
                <a:spcPct val="20000"/>
              </a:spcBef>
              <a:buFont typeface="Wingdings" panose="05000000000000000000" pitchFamily="2" charset="2"/>
              <a:buNone/>
            </a:pPr>
            <a:r>
              <a:rPr lang="zh-CN" altLang="en-US" sz="1400">
                <a:solidFill>
                  <a:srgbClr val="000000"/>
                </a:solidFill>
                <a:latin typeface="Times New Roman" panose="02020603050405020304" pitchFamily="18" charset="0"/>
              </a:rPr>
              <a:t>图</a:t>
            </a:r>
            <a:r>
              <a:rPr lang="en-US" altLang="zh-CN" sz="1400">
                <a:solidFill>
                  <a:srgbClr val="000000"/>
                </a:solidFill>
                <a:latin typeface="Times New Roman" panose="02020603050405020304" pitchFamily="18" charset="0"/>
              </a:rPr>
              <a:t>1-11 VMware 12</a:t>
            </a:r>
            <a:r>
              <a:rPr lang="zh-CN" altLang="en-US" sz="1400">
                <a:solidFill>
                  <a:srgbClr val="000000"/>
                </a:solidFill>
                <a:latin typeface="Times New Roman" panose="02020603050405020304" pitchFamily="18" charset="0"/>
              </a:rPr>
              <a:t>安装界面                                                  图</a:t>
            </a:r>
            <a:r>
              <a:rPr lang="en-US" altLang="zh-CN" sz="1400">
                <a:solidFill>
                  <a:srgbClr val="000000"/>
                </a:solidFill>
                <a:latin typeface="Times New Roman" panose="02020603050405020304" pitchFamily="18" charset="0"/>
              </a:rPr>
              <a:t>1-12 </a:t>
            </a:r>
            <a:r>
              <a:rPr lang="zh-CN" altLang="en-US" sz="1400">
                <a:solidFill>
                  <a:srgbClr val="000000"/>
                </a:solidFill>
                <a:latin typeface="Times New Roman" panose="02020603050405020304" pitchFamily="18" charset="0"/>
              </a:rPr>
              <a:t>使用新建虚拟机向导面</a:t>
            </a:r>
            <a:r>
              <a:rPr lang="zh-CN" altLang="en-US" sz="1400">
                <a:solidFill>
                  <a:srgbClr val="000000"/>
                </a:solidFill>
              </a:rPr>
              <a:t> </a:t>
            </a:r>
            <a:r>
              <a:rPr lang="zh-CN" altLang="en-US" sz="1400"/>
              <a:t> </a:t>
            </a:r>
            <a:endParaRPr lang="zh-CN" altLang="en-US" sz="1400">
              <a:latin typeface="宋体" panose="02010600030101010101" pitchFamily="2" charset="-122"/>
            </a:endParaRPr>
          </a:p>
        </p:txBody>
      </p:sp>
      <p:sp>
        <p:nvSpPr>
          <p:cNvPr id="73736" name="标题 1"/>
          <p:cNvSpPr>
            <a:spLocks noChangeArrowheads="1"/>
          </p:cNvSpPr>
          <p:nvPr/>
        </p:nvSpPr>
        <p:spPr bwMode="auto">
          <a:xfrm>
            <a:off x="431800" y="201613"/>
            <a:ext cx="8305800" cy="563562"/>
          </a:xfrm>
          <a:prstGeom prst="rect">
            <a:avLst/>
          </a:prstGeom>
          <a:noFill/>
          <a:ln w="9525">
            <a:noFill/>
            <a:miter lim="800000"/>
          </a:ln>
        </p:spPr>
        <p:txBody>
          <a:bodyPr anchor="ctr"/>
          <a:lstStyle/>
          <a:p>
            <a:pPr algn="ctr">
              <a:spcBef>
                <a:spcPct val="20000"/>
              </a:spcBef>
              <a:buFont typeface="Wingdings" panose="05000000000000000000" pitchFamily="2" charset="2"/>
              <a:buNone/>
            </a:pPr>
            <a:r>
              <a:rPr lang="en-US" altLang="zh-CN" sz="3200" b="1">
                <a:solidFill>
                  <a:schemeClr val="bg1"/>
                </a:solidFill>
                <a:latin typeface="Verdana" panose="020B0604030504040204" pitchFamily="34" charset="0"/>
              </a:rPr>
              <a:t>*1.7 </a:t>
            </a:r>
            <a:r>
              <a:rPr lang="zh-CN" altLang="en-US" sz="3200" b="1">
                <a:solidFill>
                  <a:schemeClr val="bg1"/>
                </a:solidFill>
                <a:latin typeface="Verdana" panose="020B0604030504040204" pitchFamily="34" charset="0"/>
              </a:rPr>
              <a:t>实验1 构建虚拟局域网实验</a:t>
            </a:r>
            <a:r>
              <a:rPr lang="en-US" altLang="zh-CN" sz="3200" b="1">
                <a:solidFill>
                  <a:schemeClr val="bg1"/>
                </a:solidFill>
                <a:latin typeface="Verdana" panose="020B0604030504040204" pitchFamily="34" charset="0"/>
              </a:rPr>
              <a:t>VLAN</a:t>
            </a:r>
            <a:endParaRPr lang="en-US" altLang="zh-CN" sz="3200" b="1">
              <a:solidFill>
                <a:schemeClr val="bg1"/>
              </a:solidFill>
              <a:latin typeface="Verdana" panose="020B0604030504040204" pitchFamily="34" charset="0"/>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7"/>
          <p:cNvSpPr>
            <a:spLocks noChangeArrowheads="1"/>
          </p:cNvSpPr>
          <p:nvPr/>
        </p:nvSpPr>
        <p:spPr bwMode="auto">
          <a:xfrm>
            <a:off x="0" y="0"/>
            <a:ext cx="9144000" cy="0"/>
          </a:xfrm>
          <a:prstGeom prst="rect">
            <a:avLst/>
          </a:prstGeom>
          <a:noFill/>
          <a:ln w="9525">
            <a:noFill/>
            <a:miter lim="800000"/>
          </a:ln>
        </p:spPr>
        <p:txBody>
          <a:bodyPr wrap="none" anchor="ctr">
            <a:spAutoFit/>
          </a:bodyPr>
          <a:lstStyle/>
          <a:p>
            <a:pPr algn="dist">
              <a:spcBef>
                <a:spcPct val="20000"/>
              </a:spcBef>
              <a:buFont typeface="Wingdings" panose="05000000000000000000" pitchFamily="2" charset="2"/>
              <a:buNone/>
            </a:pPr>
            <a:endParaRPr lang="zh-CN" altLang="en-US">
              <a:latin typeface="宋体" panose="02010600030101010101" pitchFamily="2" charset="-122"/>
            </a:endParaRPr>
          </a:p>
        </p:txBody>
      </p:sp>
      <p:sp>
        <p:nvSpPr>
          <p:cNvPr id="74754" name="矩形 1"/>
          <p:cNvSpPr>
            <a:spLocks noChangeArrowheads="1"/>
          </p:cNvSpPr>
          <p:nvPr/>
        </p:nvSpPr>
        <p:spPr bwMode="auto">
          <a:xfrm>
            <a:off x="250825" y="1233488"/>
            <a:ext cx="7850188" cy="762000"/>
          </a:xfrm>
          <a:prstGeom prst="rect">
            <a:avLst/>
          </a:prstGeom>
          <a:noFill/>
          <a:ln w="9525">
            <a:noFill/>
            <a:miter lim="800000"/>
          </a:ln>
        </p:spPr>
        <p:txBody>
          <a:bodyPr>
            <a:spAutoFit/>
          </a:bodyPr>
          <a:lstStyle/>
          <a:p>
            <a:pPr algn="dist">
              <a:spcBef>
                <a:spcPct val="20000"/>
              </a:spcBef>
              <a:buFont typeface="Wingdings" panose="05000000000000000000" pitchFamily="2" charset="2"/>
              <a:buNone/>
            </a:pPr>
            <a:r>
              <a:rPr lang="en-US" altLang="zh-CN" sz="2200" b="1">
                <a:solidFill>
                  <a:schemeClr val="tx2"/>
                </a:solidFill>
              </a:rPr>
              <a:t>    </a:t>
            </a:r>
            <a:r>
              <a:rPr lang="zh-CN" altLang="zh-CN" sz="2200" b="1">
                <a:solidFill>
                  <a:schemeClr val="tx2"/>
                </a:solidFill>
              </a:rPr>
              <a:t>（</a:t>
            </a:r>
            <a:r>
              <a:rPr lang="en-US" altLang="zh-CN" sz="2200" b="1">
                <a:solidFill>
                  <a:schemeClr val="tx2"/>
                </a:solidFill>
              </a:rPr>
              <a:t>2</a:t>
            </a:r>
            <a:r>
              <a:rPr lang="zh-CN" altLang="zh-CN" sz="2200" b="1">
                <a:solidFill>
                  <a:schemeClr val="tx2"/>
                </a:solidFill>
              </a:rPr>
              <a:t>）用</a:t>
            </a:r>
            <a:r>
              <a:rPr lang="en-US" altLang="zh-CN" sz="2200" b="1">
                <a:solidFill>
                  <a:schemeClr val="tx2"/>
                </a:solidFill>
              </a:rPr>
              <a:t> Workstation“</a:t>
            </a:r>
            <a:r>
              <a:rPr lang="zh-CN" altLang="zh-CN" sz="2200" b="1">
                <a:solidFill>
                  <a:schemeClr val="tx2"/>
                </a:solidFill>
              </a:rPr>
              <a:t>虚拟机向导</a:t>
            </a:r>
            <a:r>
              <a:rPr lang="en-US" altLang="zh-CN" sz="2200" b="1">
                <a:solidFill>
                  <a:schemeClr val="tx2"/>
                </a:solidFill>
              </a:rPr>
              <a:t>”</a:t>
            </a:r>
            <a:r>
              <a:rPr lang="zh-CN" altLang="zh-CN" sz="2200" b="1">
                <a:solidFill>
                  <a:schemeClr val="tx2"/>
                </a:solidFill>
              </a:rPr>
              <a:t>，从磁盘或ISO映像在虚拟机中安装Windows10，分别如图1-13及图1-14所示</a:t>
            </a:r>
            <a:r>
              <a:rPr lang="zh-CN" altLang="zh-CN" sz="2200">
                <a:solidFill>
                  <a:schemeClr val="tx2"/>
                </a:solidFill>
              </a:rPr>
              <a:t>。</a:t>
            </a:r>
            <a:endParaRPr lang="zh-CN" altLang="zh-CN" sz="2200">
              <a:solidFill>
                <a:schemeClr val="tx2"/>
              </a:solidFill>
            </a:endParaRPr>
          </a:p>
        </p:txBody>
      </p:sp>
      <p:pic>
        <p:nvPicPr>
          <p:cNvPr id="74755" name="图片 26" descr="说明: install-mac-osx-with-vmware-02"/>
          <p:cNvPicPr>
            <a:picLocks noChangeAspect="1" noChangeArrowheads="1"/>
          </p:cNvPicPr>
          <p:nvPr/>
        </p:nvPicPr>
        <p:blipFill>
          <a:blip r:embed="rId1" cstate="print"/>
          <a:srcRect/>
          <a:stretch>
            <a:fillRect/>
          </a:stretch>
        </p:blipFill>
        <p:spPr bwMode="auto">
          <a:xfrm>
            <a:off x="142875" y="2133600"/>
            <a:ext cx="4537075" cy="4032250"/>
          </a:xfrm>
          <a:prstGeom prst="rect">
            <a:avLst/>
          </a:prstGeom>
          <a:noFill/>
          <a:ln w="9525">
            <a:noFill/>
            <a:miter lim="800000"/>
            <a:headEnd/>
            <a:tailEnd/>
          </a:ln>
        </p:spPr>
      </p:pic>
      <p:pic>
        <p:nvPicPr>
          <p:cNvPr id="74756" name="Picture 12"/>
          <p:cNvPicPr>
            <a:picLocks noChangeAspect="1" noChangeArrowheads="1"/>
          </p:cNvPicPr>
          <p:nvPr/>
        </p:nvPicPr>
        <p:blipFill>
          <a:blip r:embed="rId2" cstate="print"/>
          <a:srcRect/>
          <a:stretch>
            <a:fillRect/>
          </a:stretch>
        </p:blipFill>
        <p:spPr bwMode="auto">
          <a:xfrm>
            <a:off x="4787900" y="2133600"/>
            <a:ext cx="4186238" cy="4032250"/>
          </a:xfrm>
          <a:prstGeom prst="rect">
            <a:avLst/>
          </a:prstGeom>
          <a:noFill/>
          <a:ln w="9525">
            <a:noFill/>
            <a:miter lim="800000"/>
            <a:headEnd/>
            <a:tailEnd/>
          </a:ln>
        </p:spPr>
      </p:pic>
      <p:sp>
        <p:nvSpPr>
          <p:cNvPr id="74757" name="Rectangle 14"/>
          <p:cNvSpPr>
            <a:spLocks noChangeArrowheads="1"/>
          </p:cNvSpPr>
          <p:nvPr/>
        </p:nvSpPr>
        <p:spPr bwMode="auto">
          <a:xfrm>
            <a:off x="0" y="0"/>
            <a:ext cx="9144000" cy="457200"/>
          </a:xfrm>
          <a:prstGeom prst="rect">
            <a:avLst/>
          </a:prstGeom>
          <a:noFill/>
          <a:ln w="9525">
            <a:noFill/>
            <a:miter lim="800000"/>
          </a:ln>
        </p:spPr>
        <p:txBody>
          <a:bodyPr wrap="none" anchor="ctr">
            <a:spAutoFit/>
          </a:bodyPr>
          <a:lstStyle/>
          <a:p>
            <a:pPr algn="dist">
              <a:spcBef>
                <a:spcPct val="20000"/>
              </a:spcBef>
              <a:buFont typeface="Wingdings" panose="05000000000000000000" pitchFamily="2" charset="2"/>
              <a:buNone/>
            </a:pPr>
            <a:endParaRPr lang="zh-CN" altLang="en-US"/>
          </a:p>
        </p:txBody>
      </p:sp>
      <p:sp>
        <p:nvSpPr>
          <p:cNvPr id="74758" name="Rectangle 15"/>
          <p:cNvSpPr>
            <a:spLocks noChangeArrowheads="1"/>
          </p:cNvSpPr>
          <p:nvPr/>
        </p:nvSpPr>
        <p:spPr bwMode="auto">
          <a:xfrm>
            <a:off x="0" y="2497138"/>
            <a:ext cx="9144000" cy="0"/>
          </a:xfrm>
          <a:prstGeom prst="rect">
            <a:avLst/>
          </a:prstGeom>
          <a:solidFill>
            <a:srgbClr val="FFFFFF"/>
          </a:solidFill>
          <a:ln w="9525">
            <a:noFill/>
            <a:miter lim="800000"/>
          </a:ln>
        </p:spPr>
        <p:txBody>
          <a:bodyPr wrap="none" anchor="ctr">
            <a:spAutoFit/>
          </a:bodyPr>
          <a:lstStyle/>
          <a:p>
            <a:pPr algn="ctr">
              <a:spcBef>
                <a:spcPct val="20000"/>
              </a:spcBef>
              <a:buFont typeface="Wingdings" panose="05000000000000000000" pitchFamily="2" charset="2"/>
              <a:buNone/>
            </a:pPr>
            <a:r>
              <a:rPr lang="en-US" altLang="zh-CN" sz="1000">
                <a:solidFill>
                  <a:srgbClr val="000000"/>
                </a:solidFill>
                <a:latin typeface="Times New Roman" panose="02020603050405020304" pitchFamily="18" charset="0"/>
              </a:rPr>
              <a:t> </a:t>
            </a:r>
            <a:endParaRPr lang="en-US" altLang="zh-CN">
              <a:latin typeface="宋体" panose="02010600030101010101" pitchFamily="2" charset="-122"/>
            </a:endParaRPr>
          </a:p>
        </p:txBody>
      </p:sp>
      <p:sp>
        <p:nvSpPr>
          <p:cNvPr id="74759" name="Rectangle 16"/>
          <p:cNvSpPr>
            <a:spLocks noChangeArrowheads="1"/>
          </p:cNvSpPr>
          <p:nvPr/>
        </p:nvSpPr>
        <p:spPr bwMode="auto">
          <a:xfrm>
            <a:off x="719138" y="6200775"/>
            <a:ext cx="7461250" cy="336550"/>
          </a:xfrm>
          <a:prstGeom prst="rect">
            <a:avLst/>
          </a:prstGeom>
          <a:noFill/>
          <a:ln w="9525">
            <a:noFill/>
            <a:miter lim="800000"/>
          </a:ln>
        </p:spPr>
        <p:txBody>
          <a:bodyPr wrap="none" anchor="ctr">
            <a:spAutoFit/>
          </a:bodyPr>
          <a:lstStyle/>
          <a:p>
            <a:pPr indent="571500" algn="dist">
              <a:spcBef>
                <a:spcPct val="20000"/>
              </a:spcBef>
              <a:buFont typeface="Wingdings" panose="05000000000000000000" pitchFamily="2" charset="2"/>
              <a:buNone/>
            </a:pPr>
            <a:r>
              <a:rPr lang="zh-CN" altLang="en-US" sz="1600">
                <a:solidFill>
                  <a:schemeClr val="tx2"/>
                </a:solidFill>
                <a:latin typeface="Times New Roman" panose="02020603050405020304" pitchFamily="18" charset="0"/>
              </a:rPr>
              <a:t>图</a:t>
            </a:r>
            <a:r>
              <a:rPr lang="en-US" altLang="zh-CN" sz="1600">
                <a:solidFill>
                  <a:schemeClr val="tx2"/>
                </a:solidFill>
                <a:latin typeface="Times New Roman" panose="02020603050405020304" pitchFamily="18" charset="0"/>
              </a:rPr>
              <a:t>1-13 </a:t>
            </a:r>
            <a:r>
              <a:rPr lang="zh-CN" altLang="en-US" sz="1600">
                <a:solidFill>
                  <a:schemeClr val="tx2"/>
                </a:solidFill>
                <a:latin typeface="Times New Roman" panose="02020603050405020304" pitchFamily="18" charset="0"/>
              </a:rPr>
              <a:t>使用新建虚拟机向导界面                               图</a:t>
            </a:r>
            <a:r>
              <a:rPr lang="en-US" altLang="zh-CN" sz="1600">
                <a:solidFill>
                  <a:schemeClr val="tx2"/>
                </a:solidFill>
                <a:latin typeface="Times New Roman" panose="02020603050405020304" pitchFamily="18" charset="0"/>
              </a:rPr>
              <a:t>1-14 </a:t>
            </a:r>
            <a:r>
              <a:rPr lang="zh-CN" altLang="en-US" sz="1600">
                <a:solidFill>
                  <a:schemeClr val="tx2"/>
                </a:solidFill>
                <a:latin typeface="Times New Roman" panose="02020603050405020304" pitchFamily="18" charset="0"/>
              </a:rPr>
              <a:t>选择</a:t>
            </a:r>
            <a:r>
              <a:rPr lang="en-US" altLang="zh-CN" sz="1600">
                <a:solidFill>
                  <a:schemeClr val="tx2"/>
                </a:solidFill>
                <a:latin typeface="Times New Roman" panose="02020603050405020304" pitchFamily="18" charset="0"/>
              </a:rPr>
              <a:t>Windows</a:t>
            </a:r>
            <a:r>
              <a:rPr lang="zh-CN" altLang="en-US" sz="1600">
                <a:solidFill>
                  <a:schemeClr val="tx2"/>
                </a:solidFill>
                <a:latin typeface="Times New Roman" panose="02020603050405020304" pitchFamily="18" charset="0"/>
              </a:rPr>
              <a:t>界面</a:t>
            </a:r>
            <a:endParaRPr lang="zh-CN" altLang="en-US" sz="1600">
              <a:solidFill>
                <a:schemeClr val="tx2"/>
              </a:solidFill>
              <a:latin typeface="Times New Roman" panose="02020603050405020304" pitchFamily="18" charset="0"/>
              <a:cs typeface="Times New Roman" panose="02020603050405020304" pitchFamily="18" charset="0"/>
            </a:endParaRPr>
          </a:p>
        </p:txBody>
      </p:sp>
      <p:sp>
        <p:nvSpPr>
          <p:cNvPr id="74760" name="标题 1"/>
          <p:cNvSpPr>
            <a:spLocks noChangeArrowheads="1"/>
          </p:cNvSpPr>
          <p:nvPr/>
        </p:nvSpPr>
        <p:spPr bwMode="auto">
          <a:xfrm>
            <a:off x="431800" y="201613"/>
            <a:ext cx="8305800" cy="563562"/>
          </a:xfrm>
          <a:prstGeom prst="rect">
            <a:avLst/>
          </a:prstGeom>
          <a:noFill/>
          <a:ln w="9525">
            <a:noFill/>
            <a:miter lim="800000"/>
          </a:ln>
        </p:spPr>
        <p:txBody>
          <a:bodyPr anchor="ctr"/>
          <a:lstStyle/>
          <a:p>
            <a:pPr algn="ctr">
              <a:spcBef>
                <a:spcPct val="20000"/>
              </a:spcBef>
              <a:buFont typeface="Wingdings" panose="05000000000000000000" pitchFamily="2" charset="2"/>
              <a:buNone/>
            </a:pPr>
            <a:r>
              <a:rPr lang="en-US" altLang="zh-CN" sz="3200" b="1">
                <a:solidFill>
                  <a:schemeClr val="bg1"/>
                </a:solidFill>
                <a:latin typeface="Verdana" panose="020B0604030504040204" pitchFamily="34" charset="0"/>
              </a:rPr>
              <a:t>*1.7 </a:t>
            </a:r>
            <a:r>
              <a:rPr lang="zh-CN" altLang="en-US" sz="3200" b="1">
                <a:solidFill>
                  <a:schemeClr val="bg1"/>
                </a:solidFill>
                <a:latin typeface="Verdana" panose="020B0604030504040204" pitchFamily="34" charset="0"/>
              </a:rPr>
              <a:t>实验1 构建虚拟局域网实验</a:t>
            </a:r>
            <a:r>
              <a:rPr lang="en-US" altLang="zh-CN" sz="3200" b="1">
                <a:solidFill>
                  <a:schemeClr val="bg1"/>
                </a:solidFill>
                <a:latin typeface="Verdana" panose="020B0604030504040204" pitchFamily="34" charset="0"/>
              </a:rPr>
              <a:t>VLAN</a:t>
            </a:r>
            <a:endParaRPr lang="en-US" altLang="zh-CN" sz="3200" b="1">
              <a:solidFill>
                <a:schemeClr val="bg1"/>
              </a:solidFill>
              <a:latin typeface="Verdana" panose="020B0604030504040204" pitchFamily="34" charset="0"/>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内容占位符 2"/>
          <p:cNvSpPr>
            <a:spLocks noGrp="1" noChangeArrowheads="1"/>
          </p:cNvSpPr>
          <p:nvPr>
            <p:ph idx="4294967295"/>
          </p:nvPr>
        </p:nvSpPr>
        <p:spPr>
          <a:xfrm>
            <a:off x="215900" y="1196975"/>
            <a:ext cx="8640763" cy="2195513"/>
          </a:xfrm>
        </p:spPr>
        <p:txBody>
          <a:bodyPr/>
          <a:lstStyle/>
          <a:p>
            <a:pPr eaLnBrk="1" hangingPunct="1">
              <a:spcBef>
                <a:spcPts val="1200"/>
              </a:spcBef>
            </a:pPr>
            <a:endParaRPr lang="zh-CN" altLang="zh-CN" sz="200" noProof="1" smtClean="0"/>
          </a:p>
          <a:p>
            <a:pPr>
              <a:spcBef>
                <a:spcPct val="0"/>
              </a:spcBef>
            </a:pPr>
            <a:r>
              <a:rPr lang="zh-CN" altLang="zh-CN" noProof="1" smtClean="0">
                <a:latin typeface="Times New Roman" panose="02020603050405020304" pitchFamily="18" charset="0"/>
              </a:rPr>
              <a:t>（3）借助</a:t>
            </a:r>
            <a:r>
              <a:rPr lang="en-US" altLang="zh-CN" noProof="1" smtClean="0">
                <a:latin typeface="Times New Roman" panose="02020603050405020304" pitchFamily="18" charset="0"/>
              </a:rPr>
              <a:t> Workstation 12 Pro</a:t>
            </a:r>
            <a:r>
              <a:rPr lang="zh-CN" altLang="zh-CN" noProof="1" smtClean="0">
                <a:latin typeface="Times New Roman" panose="02020603050405020304" pitchFamily="18" charset="0"/>
              </a:rPr>
              <a:t>，可以充分利用</a:t>
            </a:r>
            <a:r>
              <a:rPr lang="en-US" altLang="zh-CN" noProof="1" smtClean="0">
                <a:latin typeface="Times New Roman" panose="02020603050405020304" pitchFamily="18" charset="0"/>
              </a:rPr>
              <a:t> Windows 10 </a:t>
            </a:r>
            <a:r>
              <a:rPr lang="zh-CN" altLang="zh-CN" noProof="1" smtClean="0">
                <a:latin typeface="Times New Roman" panose="02020603050405020304" pitchFamily="18" charset="0"/>
              </a:rPr>
              <a:t>最新功能（如私人数字助理</a:t>
            </a:r>
            <a:r>
              <a:rPr lang="en-US" altLang="zh-CN" noProof="1" smtClean="0">
                <a:latin typeface="Times New Roman" panose="02020603050405020304" pitchFamily="18" charset="0"/>
              </a:rPr>
              <a:t> Cortana</a:t>
            </a:r>
            <a:r>
              <a:rPr lang="zh-CN" altLang="zh-CN" noProof="1" smtClean="0">
                <a:latin typeface="Times New Roman" panose="02020603050405020304" pitchFamily="18" charset="0"/>
              </a:rPr>
              <a:t>、新的</a:t>
            </a:r>
            <a:r>
              <a:rPr lang="en-US" altLang="zh-CN" noProof="1" smtClean="0">
                <a:latin typeface="Times New Roman" panose="02020603050405020304" pitchFamily="18" charset="0"/>
              </a:rPr>
              <a:t> Edge </a:t>
            </a:r>
            <a:r>
              <a:rPr lang="zh-CN" altLang="zh-CN" noProof="1" smtClean="0">
                <a:latin typeface="Times New Roman" panose="02020603050405020304" pitchFamily="18" charset="0"/>
              </a:rPr>
              <a:t>网络浏览器中的墨迹书写功能），还可开始为</a:t>
            </a:r>
            <a:r>
              <a:rPr lang="en-US" altLang="zh-CN" noProof="1" smtClean="0">
                <a:latin typeface="Times New Roman" panose="02020603050405020304" pitchFamily="18" charset="0"/>
              </a:rPr>
              <a:t> Windows 10 </a:t>
            </a:r>
            <a:r>
              <a:rPr lang="zh-CN" altLang="zh-CN" noProof="1" smtClean="0">
                <a:latin typeface="Times New Roman" panose="02020603050405020304" pitchFamily="18" charset="0"/>
              </a:rPr>
              <a:t>设备构建通用应用。甚至可要求</a:t>
            </a:r>
            <a:r>
              <a:rPr lang="en-US" altLang="zh-CN" noProof="1" smtClean="0">
                <a:latin typeface="Times New Roman" panose="02020603050405020304" pitchFamily="18" charset="0"/>
              </a:rPr>
              <a:t> Cortana</a:t>
            </a:r>
            <a:r>
              <a:rPr lang="zh-CN" altLang="zh-CN" noProof="1" smtClean="0">
                <a:latin typeface="Times New Roman" panose="02020603050405020304" pitchFamily="18" charset="0"/>
              </a:rPr>
              <a:t>直接从</a:t>
            </a:r>
            <a:r>
              <a:rPr lang="en-US" altLang="zh-CN" noProof="1" smtClean="0">
                <a:latin typeface="Times New Roman" panose="02020603050405020304" pitchFamily="18" charset="0"/>
              </a:rPr>
              <a:t> Windows 10 </a:t>
            </a:r>
            <a:r>
              <a:rPr lang="zh-CN" altLang="zh-CN" noProof="1" smtClean="0">
                <a:latin typeface="Times New Roman" panose="02020603050405020304" pitchFamily="18" charset="0"/>
              </a:rPr>
              <a:t>启动</a:t>
            </a:r>
            <a:r>
              <a:rPr lang="en-US" altLang="zh-CN" noProof="1" smtClean="0">
                <a:latin typeface="Times New Roman" panose="02020603050405020304" pitchFamily="18" charset="0"/>
              </a:rPr>
              <a:t> VMware Workstation。</a:t>
            </a:r>
            <a:endParaRPr lang="en-US" altLang="zh-CN" noProof="1" smtClean="0">
              <a:latin typeface="Times New Roman" panose="02020603050405020304" pitchFamily="18" charset="0"/>
            </a:endParaRPr>
          </a:p>
          <a:p>
            <a:pPr>
              <a:spcBef>
                <a:spcPct val="0"/>
              </a:spcBef>
            </a:pPr>
            <a:r>
              <a:rPr lang="en-US" altLang="zh-CN" b="0" noProof="1" smtClean="0">
                <a:latin typeface="Times New Roman" panose="02020603050405020304" pitchFamily="18" charset="0"/>
              </a:rPr>
              <a:t>（4）</a:t>
            </a:r>
            <a:r>
              <a:rPr lang="zh-CN" altLang="zh-CN" noProof="1" smtClean="0">
                <a:latin typeface="Times New Roman" panose="02020603050405020304" pitchFamily="18" charset="0"/>
              </a:rPr>
              <a:t>设置虚拟机名称及虚拟机放置位置，具体如图1-15所示。</a:t>
            </a:r>
            <a:endParaRPr lang="zh-CN" altLang="zh-CN" noProof="1" smtClean="0">
              <a:latin typeface="Times New Roman" panose="02020603050405020304" pitchFamily="18" charset="0"/>
              <a:cs typeface="Times New Roman" panose="02020603050405020304" pitchFamily="18" charset="0"/>
            </a:endParaRPr>
          </a:p>
        </p:txBody>
      </p:sp>
      <p:pic>
        <p:nvPicPr>
          <p:cNvPr id="75778" name="图片 23" descr="说明: install-mac-osx-with-vmware-05"/>
          <p:cNvPicPr>
            <a:picLocks noChangeAspect="1" noChangeArrowheads="1"/>
          </p:cNvPicPr>
          <p:nvPr/>
        </p:nvPicPr>
        <p:blipFill>
          <a:blip r:embed="rId1" cstate="print"/>
          <a:srcRect/>
          <a:stretch>
            <a:fillRect/>
          </a:stretch>
        </p:blipFill>
        <p:spPr bwMode="auto">
          <a:xfrm>
            <a:off x="287338" y="3392488"/>
            <a:ext cx="3960812" cy="3138487"/>
          </a:xfrm>
          <a:prstGeom prst="rect">
            <a:avLst/>
          </a:prstGeom>
          <a:noFill/>
          <a:ln w="9525">
            <a:noFill/>
            <a:miter lim="800000"/>
            <a:headEnd/>
            <a:tailEnd/>
          </a:ln>
        </p:spPr>
      </p:pic>
      <p:pic>
        <p:nvPicPr>
          <p:cNvPr id="75779" name="图片 22" descr="说明: install-mac-osx-with-vmware-06"/>
          <p:cNvPicPr>
            <a:picLocks noChangeAspect="1" noChangeArrowheads="1"/>
          </p:cNvPicPr>
          <p:nvPr/>
        </p:nvPicPr>
        <p:blipFill>
          <a:blip r:embed="rId2" cstate="print"/>
          <a:srcRect/>
          <a:stretch>
            <a:fillRect/>
          </a:stretch>
        </p:blipFill>
        <p:spPr bwMode="auto">
          <a:xfrm>
            <a:off x="4408488" y="3394075"/>
            <a:ext cx="4535487" cy="3133725"/>
          </a:xfrm>
          <a:prstGeom prst="rect">
            <a:avLst/>
          </a:prstGeom>
          <a:noFill/>
          <a:ln w="9525">
            <a:noFill/>
            <a:miter lim="800000"/>
            <a:headEnd/>
            <a:tailEnd/>
          </a:ln>
        </p:spPr>
      </p:pic>
      <p:sp>
        <p:nvSpPr>
          <p:cNvPr id="75780" name="Rectangle 14"/>
          <p:cNvSpPr>
            <a:spLocks noChangeArrowheads="1"/>
          </p:cNvSpPr>
          <p:nvPr/>
        </p:nvSpPr>
        <p:spPr bwMode="auto">
          <a:xfrm>
            <a:off x="0" y="0"/>
            <a:ext cx="9144000" cy="457200"/>
          </a:xfrm>
          <a:prstGeom prst="rect">
            <a:avLst/>
          </a:prstGeom>
          <a:noFill/>
          <a:ln w="9525">
            <a:noFill/>
            <a:miter lim="800000"/>
          </a:ln>
        </p:spPr>
        <p:txBody>
          <a:bodyPr wrap="none" anchor="ctr">
            <a:spAutoFit/>
          </a:bodyPr>
          <a:lstStyle/>
          <a:p>
            <a:pPr algn="dist">
              <a:spcBef>
                <a:spcPct val="20000"/>
              </a:spcBef>
              <a:buFont typeface="Wingdings" panose="05000000000000000000" pitchFamily="2" charset="2"/>
              <a:buNone/>
            </a:pPr>
            <a:endParaRPr lang="zh-CN" altLang="en-US"/>
          </a:p>
        </p:txBody>
      </p:sp>
      <p:sp>
        <p:nvSpPr>
          <p:cNvPr id="75781" name="Rectangle 15"/>
          <p:cNvSpPr>
            <a:spLocks noChangeArrowheads="1"/>
          </p:cNvSpPr>
          <p:nvPr/>
        </p:nvSpPr>
        <p:spPr bwMode="auto">
          <a:xfrm>
            <a:off x="38100" y="2727325"/>
            <a:ext cx="9144000" cy="0"/>
          </a:xfrm>
          <a:prstGeom prst="rect">
            <a:avLst/>
          </a:prstGeom>
          <a:solidFill>
            <a:srgbClr val="FFFFFF"/>
          </a:solidFill>
          <a:ln w="9525">
            <a:noFill/>
            <a:miter lim="800000"/>
          </a:ln>
        </p:spPr>
        <p:txBody>
          <a:bodyPr wrap="none" anchor="ctr">
            <a:spAutoFit/>
          </a:bodyPr>
          <a:lstStyle/>
          <a:p>
            <a:pPr algn="dist">
              <a:spcBef>
                <a:spcPct val="20000"/>
              </a:spcBef>
              <a:buFont typeface="Wingdings" panose="05000000000000000000" pitchFamily="2" charset="2"/>
              <a:buNone/>
            </a:pPr>
            <a:r>
              <a:rPr lang="en-US" altLang="zh-CN" sz="1000">
                <a:solidFill>
                  <a:srgbClr val="35383D"/>
                </a:solidFill>
                <a:latin typeface="Times New Roman" panose="02020603050405020304" pitchFamily="18" charset="0"/>
              </a:rPr>
              <a:t> </a:t>
            </a:r>
            <a:endParaRPr lang="en-US" altLang="zh-CN">
              <a:latin typeface="宋体" panose="02010600030101010101" pitchFamily="2" charset="-122"/>
            </a:endParaRPr>
          </a:p>
        </p:txBody>
      </p:sp>
      <p:sp>
        <p:nvSpPr>
          <p:cNvPr id="75782" name="Rectangle 16"/>
          <p:cNvSpPr>
            <a:spLocks noChangeArrowheads="1"/>
          </p:cNvSpPr>
          <p:nvPr/>
        </p:nvSpPr>
        <p:spPr bwMode="auto">
          <a:xfrm>
            <a:off x="287338" y="6515100"/>
            <a:ext cx="8243887" cy="304800"/>
          </a:xfrm>
          <a:prstGeom prst="rect">
            <a:avLst/>
          </a:prstGeom>
          <a:noFill/>
          <a:ln w="9525">
            <a:noFill/>
            <a:miter lim="800000"/>
          </a:ln>
        </p:spPr>
        <p:txBody>
          <a:bodyPr anchor="ctr">
            <a:spAutoFit/>
          </a:bodyPr>
          <a:lstStyle/>
          <a:p>
            <a:pPr indent="352425" algn="dist">
              <a:spcBef>
                <a:spcPct val="20000"/>
              </a:spcBef>
              <a:buFont typeface="Wingdings" panose="05000000000000000000" pitchFamily="2" charset="2"/>
              <a:buNone/>
            </a:pPr>
            <a:r>
              <a:rPr lang="zh-CN" altLang="en-US" sz="1400">
                <a:solidFill>
                  <a:srgbClr val="35383D"/>
                </a:solidFill>
                <a:latin typeface="Times New Roman" panose="02020603050405020304" pitchFamily="18" charset="0"/>
              </a:rPr>
              <a:t>图</a:t>
            </a:r>
            <a:r>
              <a:rPr lang="en-US" altLang="zh-CN" sz="1400">
                <a:solidFill>
                  <a:srgbClr val="35383D"/>
                </a:solidFill>
                <a:latin typeface="Times New Roman" panose="02020603050405020304" pitchFamily="18" charset="0"/>
              </a:rPr>
              <a:t>1-15</a:t>
            </a:r>
            <a:r>
              <a:rPr lang="zh-CN" altLang="en-US" sz="1400">
                <a:solidFill>
                  <a:srgbClr val="35383D"/>
                </a:solidFill>
                <a:latin typeface="Times New Roman" panose="02020603050405020304" pitchFamily="18" charset="0"/>
              </a:rPr>
              <a:t>设置虚拟机名称及放置位置                                                图</a:t>
            </a:r>
            <a:r>
              <a:rPr lang="en-US" altLang="zh-CN" sz="1400">
                <a:solidFill>
                  <a:srgbClr val="35383D"/>
                </a:solidFill>
                <a:latin typeface="Times New Roman" panose="02020603050405020304" pitchFamily="18" charset="0"/>
              </a:rPr>
              <a:t>1-16</a:t>
            </a:r>
            <a:r>
              <a:rPr lang="zh-CN" altLang="en-US" sz="1400">
                <a:solidFill>
                  <a:srgbClr val="35383D"/>
                </a:solidFill>
                <a:latin typeface="Times New Roman" panose="02020603050405020304" pitchFamily="18" charset="0"/>
              </a:rPr>
              <a:t>配置虚拟机大小界面</a:t>
            </a:r>
            <a:endParaRPr lang="zh-CN" altLang="en-US" sz="1400">
              <a:latin typeface="宋体" panose="02010600030101010101" pitchFamily="2" charset="-122"/>
            </a:endParaRPr>
          </a:p>
        </p:txBody>
      </p:sp>
      <p:sp>
        <p:nvSpPr>
          <p:cNvPr id="75783" name="标题 1"/>
          <p:cNvSpPr>
            <a:spLocks noChangeArrowheads="1"/>
          </p:cNvSpPr>
          <p:nvPr/>
        </p:nvSpPr>
        <p:spPr bwMode="auto">
          <a:xfrm>
            <a:off x="431800" y="201613"/>
            <a:ext cx="8305800" cy="563562"/>
          </a:xfrm>
          <a:prstGeom prst="rect">
            <a:avLst/>
          </a:prstGeom>
          <a:noFill/>
          <a:ln w="9525">
            <a:noFill/>
            <a:miter lim="800000"/>
          </a:ln>
        </p:spPr>
        <p:txBody>
          <a:bodyPr anchor="ctr"/>
          <a:lstStyle/>
          <a:p>
            <a:pPr algn="ctr">
              <a:spcBef>
                <a:spcPct val="20000"/>
              </a:spcBef>
              <a:buFont typeface="Wingdings" panose="05000000000000000000" pitchFamily="2" charset="2"/>
              <a:buNone/>
            </a:pPr>
            <a:r>
              <a:rPr lang="en-US" altLang="zh-CN" sz="3200" b="1">
                <a:solidFill>
                  <a:schemeClr val="bg1"/>
                </a:solidFill>
                <a:latin typeface="Verdana" panose="020B0604030504040204" pitchFamily="34" charset="0"/>
              </a:rPr>
              <a:t>*1.7 </a:t>
            </a:r>
            <a:r>
              <a:rPr lang="zh-CN" altLang="en-US" sz="3200" b="1">
                <a:solidFill>
                  <a:schemeClr val="bg1"/>
                </a:solidFill>
                <a:latin typeface="Verdana" panose="020B0604030504040204" pitchFamily="34" charset="0"/>
              </a:rPr>
              <a:t>实验1 构建虚拟局域网实验</a:t>
            </a:r>
            <a:r>
              <a:rPr lang="en-US" altLang="zh-CN" sz="3200" b="1">
                <a:solidFill>
                  <a:schemeClr val="bg1"/>
                </a:solidFill>
                <a:latin typeface="Verdana" panose="020B0604030504040204" pitchFamily="34" charset="0"/>
              </a:rPr>
              <a:t>VLAN</a:t>
            </a:r>
            <a:endParaRPr lang="en-US" altLang="zh-CN" sz="3200" b="1">
              <a:solidFill>
                <a:schemeClr val="bg1"/>
              </a:solidFill>
              <a:latin typeface="Verdana" panose="020B0604030504040204" pitchFamily="34" charset="0"/>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内容占位符 2"/>
          <p:cNvSpPr>
            <a:spLocks noGrp="1" noChangeArrowheads="1"/>
          </p:cNvSpPr>
          <p:nvPr>
            <p:ph idx="4294967295"/>
          </p:nvPr>
        </p:nvSpPr>
        <p:spPr>
          <a:xfrm>
            <a:off x="374650" y="1089025"/>
            <a:ext cx="8394700" cy="2195513"/>
          </a:xfrm>
        </p:spPr>
        <p:txBody>
          <a:bodyPr/>
          <a:lstStyle/>
          <a:p>
            <a:pPr indent="342900">
              <a:spcBef>
                <a:spcPts val="300"/>
              </a:spcBef>
            </a:pPr>
            <a:r>
              <a:rPr lang="zh-CN" altLang="zh-CN" b="0" smtClean="0">
                <a:latin typeface="Times New Roman" panose="02020603050405020304" pitchFamily="18" charset="0"/>
              </a:rPr>
              <a:t>（</a:t>
            </a:r>
            <a:r>
              <a:rPr lang="en-US" altLang="zh-CN" b="0" smtClean="0">
                <a:latin typeface="Times New Roman" panose="02020603050405020304" pitchFamily="18" charset="0"/>
              </a:rPr>
              <a:t>5</a:t>
            </a:r>
            <a:r>
              <a:rPr lang="zh-CN" altLang="zh-CN" b="0" smtClean="0">
                <a:latin typeface="Times New Roman" panose="02020603050405020304" pitchFamily="18" charset="0"/>
              </a:rPr>
              <a:t>）</a:t>
            </a:r>
            <a:r>
              <a:rPr lang="zh-CN" altLang="zh-CN" smtClean="0">
                <a:latin typeface="Times New Roman" panose="02020603050405020304" pitchFamily="18" charset="0"/>
              </a:rPr>
              <a:t>配置虚拟机大小，确定创建（磁盘空间需留有余地），如图1-16所示。</a:t>
            </a:r>
            <a:endParaRPr lang="zh-CN" altLang="zh-CN" smtClean="0">
              <a:latin typeface="Times New Roman" panose="02020603050405020304" pitchFamily="18" charset="0"/>
            </a:endParaRPr>
          </a:p>
          <a:p>
            <a:pPr indent="342900">
              <a:spcBef>
                <a:spcPts val="300"/>
              </a:spcBef>
            </a:pPr>
            <a:r>
              <a:rPr lang="zh-CN" altLang="zh-CN" b="0" smtClean="0">
                <a:latin typeface="Times New Roman" panose="02020603050405020304" pitchFamily="18" charset="0"/>
              </a:rPr>
              <a:t>（</a:t>
            </a:r>
            <a:r>
              <a:rPr lang="en-US" altLang="zh-CN" b="0" smtClean="0">
                <a:latin typeface="Times New Roman" panose="02020603050405020304" pitchFamily="18" charset="0"/>
              </a:rPr>
              <a:t>6</a:t>
            </a:r>
            <a:r>
              <a:rPr lang="zh-CN" altLang="zh-CN" b="0" smtClean="0">
                <a:latin typeface="Times New Roman" panose="02020603050405020304" pitchFamily="18" charset="0"/>
              </a:rPr>
              <a:t>）</a:t>
            </a:r>
            <a:r>
              <a:rPr lang="zh-CN" altLang="zh-CN" smtClean="0">
                <a:latin typeface="Times New Roman" panose="02020603050405020304" pitchFamily="18" charset="0"/>
              </a:rPr>
              <a:t>完成虚拟机创建，启动虚拟机，如图1-17所示，可查看有关信息，并解决出现的问题：进入放置虚拟机的文件夹，找到后缀.vmx文件，以记事本打开，如图1-18所示，然后保存再重新启动。</a:t>
            </a:r>
            <a:endParaRPr lang="zh-CN" altLang="zh-CN" smtClean="0">
              <a:latin typeface="Times New Roman" panose="02020603050405020304" pitchFamily="18" charset="0"/>
              <a:cs typeface="Times New Roman" panose="02020603050405020304" pitchFamily="18" charset="0"/>
            </a:endParaRPr>
          </a:p>
        </p:txBody>
      </p:sp>
      <p:sp>
        <p:nvSpPr>
          <p:cNvPr id="76802" name="Rectangle 6"/>
          <p:cNvSpPr>
            <a:spLocks noChangeArrowheads="1"/>
          </p:cNvSpPr>
          <p:nvPr/>
        </p:nvSpPr>
        <p:spPr bwMode="auto">
          <a:xfrm>
            <a:off x="0" y="0"/>
            <a:ext cx="9144000" cy="0"/>
          </a:xfrm>
          <a:prstGeom prst="rect">
            <a:avLst/>
          </a:prstGeom>
          <a:noFill/>
          <a:ln w="9525">
            <a:noFill/>
            <a:miter lim="800000"/>
          </a:ln>
        </p:spPr>
        <p:txBody>
          <a:bodyPr wrap="none" anchor="ctr">
            <a:spAutoFit/>
          </a:bodyPr>
          <a:lstStyle/>
          <a:p>
            <a:pPr algn="dist">
              <a:spcBef>
                <a:spcPct val="20000"/>
              </a:spcBef>
              <a:buFont typeface="Wingdings" panose="05000000000000000000" pitchFamily="2" charset="2"/>
              <a:buNone/>
            </a:pPr>
            <a:endParaRPr lang="zh-CN" altLang="en-US">
              <a:latin typeface="宋体" panose="02010600030101010101" pitchFamily="2" charset="-122"/>
            </a:endParaRPr>
          </a:p>
        </p:txBody>
      </p:sp>
      <p:pic>
        <p:nvPicPr>
          <p:cNvPr id="76803" name="图片 21" descr="说明: install-mac-osx-with-vmware-07"/>
          <p:cNvPicPr>
            <a:picLocks noChangeAspect="1" noChangeArrowheads="1"/>
          </p:cNvPicPr>
          <p:nvPr/>
        </p:nvPicPr>
        <p:blipFill>
          <a:blip r:embed="rId1" cstate="print"/>
          <a:srcRect/>
          <a:stretch>
            <a:fillRect/>
          </a:stretch>
        </p:blipFill>
        <p:spPr bwMode="auto">
          <a:xfrm>
            <a:off x="647700" y="3438525"/>
            <a:ext cx="3455988" cy="3013075"/>
          </a:xfrm>
          <a:prstGeom prst="rect">
            <a:avLst/>
          </a:prstGeom>
          <a:noFill/>
          <a:ln w="9525">
            <a:noFill/>
            <a:miter lim="800000"/>
            <a:headEnd/>
            <a:tailEnd/>
          </a:ln>
        </p:spPr>
      </p:pic>
      <p:pic>
        <p:nvPicPr>
          <p:cNvPr id="76804" name="图片 20" descr="说明: install-mac-osx-with-vmware-08"/>
          <p:cNvPicPr>
            <a:picLocks noChangeAspect="1" noChangeArrowheads="1"/>
          </p:cNvPicPr>
          <p:nvPr/>
        </p:nvPicPr>
        <p:blipFill>
          <a:blip r:embed="rId2" cstate="print"/>
          <a:srcRect/>
          <a:stretch>
            <a:fillRect/>
          </a:stretch>
        </p:blipFill>
        <p:spPr bwMode="auto">
          <a:xfrm>
            <a:off x="4284663" y="3438525"/>
            <a:ext cx="4211637" cy="3014663"/>
          </a:xfrm>
          <a:prstGeom prst="rect">
            <a:avLst/>
          </a:prstGeom>
          <a:noFill/>
          <a:ln w="9525">
            <a:noFill/>
            <a:miter lim="800000"/>
            <a:headEnd/>
            <a:tailEnd/>
          </a:ln>
        </p:spPr>
      </p:pic>
      <p:sp>
        <p:nvSpPr>
          <p:cNvPr id="76805" name="Rectangle 14"/>
          <p:cNvSpPr>
            <a:spLocks noChangeArrowheads="1"/>
          </p:cNvSpPr>
          <p:nvPr/>
        </p:nvSpPr>
        <p:spPr bwMode="auto">
          <a:xfrm>
            <a:off x="0" y="2638425"/>
            <a:ext cx="9144000" cy="0"/>
          </a:xfrm>
          <a:prstGeom prst="rect">
            <a:avLst/>
          </a:prstGeom>
          <a:solidFill>
            <a:srgbClr val="FFFFFF"/>
          </a:solidFill>
          <a:ln w="9525">
            <a:noFill/>
            <a:miter lim="800000"/>
          </a:ln>
        </p:spPr>
        <p:txBody>
          <a:bodyPr wrap="none" anchor="ctr">
            <a:spAutoFit/>
          </a:bodyPr>
          <a:lstStyle/>
          <a:p>
            <a:pPr algn="dist">
              <a:spcBef>
                <a:spcPct val="20000"/>
              </a:spcBef>
              <a:buFont typeface="Wingdings" panose="05000000000000000000" pitchFamily="2" charset="2"/>
              <a:buNone/>
            </a:pPr>
            <a:r>
              <a:rPr lang="en-US" altLang="zh-CN" sz="1000">
                <a:solidFill>
                  <a:srgbClr val="35383D"/>
                </a:solidFill>
                <a:latin typeface="Times New Roman" panose="02020603050405020304" pitchFamily="18" charset="0"/>
              </a:rPr>
              <a:t> </a:t>
            </a:r>
            <a:endParaRPr lang="en-US" altLang="zh-CN">
              <a:latin typeface="宋体" panose="02010600030101010101" pitchFamily="2" charset="-122"/>
            </a:endParaRPr>
          </a:p>
        </p:txBody>
      </p:sp>
      <p:sp>
        <p:nvSpPr>
          <p:cNvPr id="76806" name="Rectangle 15"/>
          <p:cNvSpPr>
            <a:spLocks noChangeArrowheads="1"/>
          </p:cNvSpPr>
          <p:nvPr/>
        </p:nvSpPr>
        <p:spPr bwMode="auto">
          <a:xfrm>
            <a:off x="1120775" y="6453188"/>
            <a:ext cx="6667500" cy="304800"/>
          </a:xfrm>
          <a:prstGeom prst="rect">
            <a:avLst/>
          </a:prstGeom>
          <a:solidFill>
            <a:srgbClr val="FFFFFF"/>
          </a:solidFill>
          <a:ln w="9525">
            <a:noFill/>
            <a:miter lim="800000"/>
          </a:ln>
        </p:spPr>
        <p:txBody>
          <a:bodyPr wrap="none" anchor="ctr">
            <a:spAutoFit/>
          </a:bodyPr>
          <a:lstStyle/>
          <a:p>
            <a:pPr indent="695325" algn="dist">
              <a:spcBef>
                <a:spcPct val="20000"/>
              </a:spcBef>
              <a:buFont typeface="Wingdings" panose="05000000000000000000" pitchFamily="2" charset="2"/>
              <a:buNone/>
            </a:pPr>
            <a:r>
              <a:rPr lang="zh-CN" altLang="en-US" sz="1400">
                <a:solidFill>
                  <a:srgbClr val="35383D"/>
                </a:solidFill>
                <a:latin typeface="Times New Roman" panose="02020603050405020304" pitchFamily="18" charset="0"/>
              </a:rPr>
              <a:t>图</a:t>
            </a:r>
            <a:r>
              <a:rPr lang="en-US" altLang="zh-CN" sz="1400">
                <a:solidFill>
                  <a:srgbClr val="35383D"/>
                </a:solidFill>
                <a:latin typeface="Times New Roman" panose="02020603050405020304" pitchFamily="18" charset="0"/>
              </a:rPr>
              <a:t>1-17 </a:t>
            </a:r>
            <a:r>
              <a:rPr lang="zh-CN" altLang="en-US" sz="1400">
                <a:solidFill>
                  <a:srgbClr val="35383D"/>
                </a:solidFill>
                <a:latin typeface="Times New Roman" panose="02020603050405020304" pitchFamily="18" charset="0"/>
              </a:rPr>
              <a:t>完成虚拟机配置                             图</a:t>
            </a:r>
            <a:r>
              <a:rPr lang="en-US" altLang="zh-CN" sz="1400">
                <a:solidFill>
                  <a:srgbClr val="35383D"/>
                </a:solidFill>
                <a:latin typeface="Times New Roman" panose="02020603050405020304" pitchFamily="18" charset="0"/>
              </a:rPr>
              <a:t>1-18 </a:t>
            </a:r>
            <a:r>
              <a:rPr lang="zh-CN" altLang="en-US" sz="1400">
                <a:solidFill>
                  <a:srgbClr val="35383D"/>
                </a:solidFill>
                <a:latin typeface="Times New Roman" panose="02020603050405020304" pitchFamily="18" charset="0"/>
              </a:rPr>
              <a:t>查看有关信息并处理有问题</a:t>
            </a:r>
            <a:endParaRPr lang="zh-CN" altLang="en-US" sz="1400">
              <a:latin typeface="宋体" panose="02010600030101010101" pitchFamily="2" charset="-122"/>
            </a:endParaRPr>
          </a:p>
        </p:txBody>
      </p:sp>
      <p:sp>
        <p:nvSpPr>
          <p:cNvPr id="76807" name="标题 1"/>
          <p:cNvSpPr>
            <a:spLocks noChangeArrowheads="1"/>
          </p:cNvSpPr>
          <p:nvPr/>
        </p:nvSpPr>
        <p:spPr bwMode="auto">
          <a:xfrm>
            <a:off x="431800" y="201613"/>
            <a:ext cx="8305800" cy="563562"/>
          </a:xfrm>
          <a:prstGeom prst="rect">
            <a:avLst/>
          </a:prstGeom>
          <a:noFill/>
          <a:ln w="9525">
            <a:noFill/>
            <a:miter lim="800000"/>
          </a:ln>
        </p:spPr>
        <p:txBody>
          <a:bodyPr anchor="ctr"/>
          <a:lstStyle/>
          <a:p>
            <a:pPr algn="ctr">
              <a:spcBef>
                <a:spcPct val="20000"/>
              </a:spcBef>
              <a:buFont typeface="Wingdings" panose="05000000000000000000" pitchFamily="2" charset="2"/>
              <a:buNone/>
            </a:pPr>
            <a:r>
              <a:rPr lang="en-US" altLang="zh-CN" sz="3200" b="1">
                <a:solidFill>
                  <a:schemeClr val="bg1"/>
                </a:solidFill>
                <a:latin typeface="Verdana" panose="020B0604030504040204" pitchFamily="34" charset="0"/>
              </a:rPr>
              <a:t>*1.7 </a:t>
            </a:r>
            <a:r>
              <a:rPr lang="zh-CN" altLang="en-US" sz="3200" b="1">
                <a:solidFill>
                  <a:schemeClr val="bg1"/>
                </a:solidFill>
                <a:latin typeface="Verdana" panose="020B0604030504040204" pitchFamily="34" charset="0"/>
              </a:rPr>
              <a:t>实验1 构建虚拟局域网实验</a:t>
            </a:r>
            <a:r>
              <a:rPr lang="en-US" altLang="zh-CN" sz="3200" b="1">
                <a:solidFill>
                  <a:schemeClr val="bg1"/>
                </a:solidFill>
                <a:latin typeface="Verdana" panose="020B0604030504040204" pitchFamily="34" charset="0"/>
              </a:rPr>
              <a:t>VLAN</a:t>
            </a:r>
            <a:endParaRPr lang="en-US" altLang="zh-CN" sz="3200" b="1">
              <a:solidFill>
                <a:schemeClr val="bg1"/>
              </a:solidFill>
              <a:latin typeface="Verdana" panose="020B0604030504040204" pitchFamily="34" charset="0"/>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内容占位符 2"/>
          <p:cNvSpPr>
            <a:spLocks noGrp="1" noChangeArrowheads="1"/>
          </p:cNvSpPr>
          <p:nvPr>
            <p:ph idx="4294967295"/>
          </p:nvPr>
        </p:nvSpPr>
        <p:spPr>
          <a:xfrm>
            <a:off x="381000" y="1143000"/>
            <a:ext cx="8399463" cy="3352800"/>
          </a:xfrm>
        </p:spPr>
        <p:txBody>
          <a:bodyPr/>
          <a:lstStyle/>
          <a:p>
            <a:pPr eaLnBrk="1" hangingPunct="1"/>
            <a:r>
              <a:rPr lang="en-US" altLang="en-US" sz="2600" smtClean="0">
                <a:solidFill>
                  <a:srgbClr val="C00000"/>
                </a:solidFill>
              </a:rPr>
              <a:t>1.6.1 </a:t>
            </a:r>
            <a:r>
              <a:rPr lang="zh-CN" altLang="en-US" sz="2600" smtClean="0">
                <a:solidFill>
                  <a:srgbClr val="C00000"/>
                </a:solidFill>
              </a:rPr>
              <a:t>实验目的</a:t>
            </a:r>
            <a:endParaRPr lang="zh-CN" altLang="en-US" sz="2600" smtClean="0">
              <a:solidFill>
                <a:srgbClr val="C00000"/>
              </a:solidFill>
            </a:endParaRPr>
          </a:p>
          <a:p>
            <a:r>
              <a:rPr lang="en-US" altLang="zh-CN" smtClean="0"/>
              <a:t>1</a:t>
            </a:r>
            <a:r>
              <a:rPr lang="zh-CN" altLang="en-US" smtClean="0"/>
              <a:t>）进一步理解虚拟局域网</a:t>
            </a:r>
            <a:r>
              <a:rPr lang="en-US" altLang="zh-CN" smtClean="0"/>
              <a:t>VLAN</a:t>
            </a:r>
            <a:r>
              <a:rPr lang="zh-CN" altLang="en-US" smtClean="0"/>
              <a:t>的应用</a:t>
            </a:r>
            <a:endParaRPr lang="zh-CN" altLang="en-US" smtClean="0"/>
          </a:p>
          <a:p>
            <a:r>
              <a:rPr lang="en-US" altLang="zh-CN" smtClean="0"/>
              <a:t>2</a:t>
            </a:r>
            <a:r>
              <a:rPr lang="zh-CN" altLang="en-US" smtClean="0"/>
              <a:t>）掌握虚拟局域网</a:t>
            </a:r>
            <a:r>
              <a:rPr lang="en-US" altLang="zh-CN" smtClean="0"/>
              <a:t>VLAN</a:t>
            </a:r>
            <a:r>
              <a:rPr lang="zh-CN" altLang="en-US" smtClean="0"/>
              <a:t>的基本配置方法</a:t>
            </a:r>
            <a:endParaRPr lang="zh-CN" altLang="en-US" smtClean="0"/>
          </a:p>
          <a:p>
            <a:r>
              <a:rPr lang="en-US" altLang="zh-CN" smtClean="0"/>
              <a:t>3</a:t>
            </a:r>
            <a:r>
              <a:rPr lang="zh-CN" altLang="en-US" smtClean="0"/>
              <a:t>）了解</a:t>
            </a:r>
            <a:r>
              <a:rPr lang="en-US" altLang="zh-CN" smtClean="0"/>
              <a:t>VLAN</a:t>
            </a:r>
            <a:r>
              <a:rPr lang="zh-CN" altLang="en-US" smtClean="0"/>
              <a:t>中继协议</a:t>
            </a:r>
            <a:r>
              <a:rPr lang="en-US" altLang="zh-CN" smtClean="0"/>
              <a:t>VTP</a:t>
            </a:r>
            <a:r>
              <a:rPr lang="zh-CN" altLang="en-US" smtClean="0"/>
              <a:t>的应用</a:t>
            </a:r>
            <a:endParaRPr lang="zh-CN" altLang="en-US" smtClean="0"/>
          </a:p>
          <a:p>
            <a:r>
              <a:rPr lang="en-US" altLang="zh-CN" sz="2600" smtClean="0">
                <a:solidFill>
                  <a:srgbClr val="C00000"/>
                </a:solidFill>
              </a:rPr>
              <a:t>1.6.2 </a:t>
            </a:r>
            <a:r>
              <a:rPr lang="zh-CN" altLang="en-US" sz="2600" smtClean="0">
                <a:solidFill>
                  <a:srgbClr val="C00000"/>
                </a:solidFill>
              </a:rPr>
              <a:t>预备知识</a:t>
            </a:r>
            <a:endParaRPr lang="zh-CN" altLang="en-US" sz="2600" smtClean="0">
              <a:solidFill>
                <a:srgbClr val="C00000"/>
              </a:solidFill>
            </a:endParaRPr>
          </a:p>
          <a:p>
            <a:r>
              <a:rPr lang="en-US" altLang="zh-CN" smtClean="0"/>
              <a:t>VLAN</a:t>
            </a:r>
            <a:r>
              <a:rPr lang="zh-CN" altLang="en-US" smtClean="0"/>
              <a:t>技术是交换技术的重要组成部分，也是交换机的重要技术进步部分。将物理上直接相连的网络从逻辑上划分成多个子网，如图</a:t>
            </a:r>
            <a:r>
              <a:rPr lang="en-US" altLang="zh-CN" smtClean="0"/>
              <a:t>1-30</a:t>
            </a:r>
            <a:r>
              <a:rPr lang="zh-CN" altLang="en-US" smtClean="0"/>
              <a:t>所示。 </a:t>
            </a:r>
            <a:endParaRPr lang="zh-CN" altLang="en-US" smtClean="0"/>
          </a:p>
        </p:txBody>
      </p:sp>
      <p:sp>
        <p:nvSpPr>
          <p:cNvPr id="77826" name="Rectangle 3"/>
          <p:cNvSpPr>
            <a:spLocks noChangeArrowheads="1"/>
          </p:cNvSpPr>
          <p:nvPr/>
        </p:nvSpPr>
        <p:spPr bwMode="auto">
          <a:xfrm>
            <a:off x="0" y="1146175"/>
            <a:ext cx="9144000" cy="0"/>
          </a:xfrm>
          <a:prstGeom prst="rect">
            <a:avLst/>
          </a:prstGeom>
          <a:noFill/>
          <a:ln w="9525">
            <a:noFill/>
            <a:miter lim="800000"/>
          </a:ln>
        </p:spPr>
        <p:txBody>
          <a:bodyPr wrap="none" anchor="ctr">
            <a:spAutoFit/>
          </a:bodyPr>
          <a:lstStyle/>
          <a:p>
            <a:pPr algn="dist">
              <a:spcBef>
                <a:spcPct val="20000"/>
              </a:spcBef>
              <a:buFont typeface="Wingdings" panose="05000000000000000000" pitchFamily="2" charset="2"/>
              <a:buNone/>
            </a:pPr>
            <a:endParaRPr lang="zh-CN" altLang="en-US"/>
          </a:p>
        </p:txBody>
      </p:sp>
      <p:sp>
        <p:nvSpPr>
          <p:cNvPr id="77827" name="Rectangle 4"/>
          <p:cNvSpPr>
            <a:spLocks noChangeArrowheads="1"/>
          </p:cNvSpPr>
          <p:nvPr/>
        </p:nvSpPr>
        <p:spPr bwMode="auto">
          <a:xfrm>
            <a:off x="0" y="3184525"/>
            <a:ext cx="215900" cy="244475"/>
          </a:xfrm>
          <a:prstGeom prst="rect">
            <a:avLst/>
          </a:prstGeom>
          <a:noFill/>
          <a:ln w="9525">
            <a:noFill/>
            <a:miter lim="800000"/>
          </a:ln>
        </p:spPr>
        <p:txBody>
          <a:bodyPr wrap="none" anchor="ctr">
            <a:spAutoFit/>
          </a:bodyPr>
          <a:lstStyle/>
          <a:p>
            <a:r>
              <a:rPr lang="zh-CN" altLang="en-US" sz="1000">
                <a:solidFill>
                  <a:srgbClr val="000000"/>
                </a:solidFill>
                <a:latin typeface="Times New Roman" panose="02020603050405020304" pitchFamily="18" charset="0"/>
              </a:rPr>
              <a:t> </a:t>
            </a:r>
            <a:endParaRPr lang="zh-CN" altLang="en-US" sz="1800">
              <a:latin typeface="宋体" panose="02010600030101010101" pitchFamily="2" charset="-122"/>
            </a:endParaRPr>
          </a:p>
        </p:txBody>
      </p:sp>
      <p:sp>
        <p:nvSpPr>
          <p:cNvPr id="77828" name="Rectangle 5"/>
          <p:cNvSpPr>
            <a:spLocks noChangeArrowheads="1"/>
          </p:cNvSpPr>
          <p:nvPr/>
        </p:nvSpPr>
        <p:spPr bwMode="auto">
          <a:xfrm>
            <a:off x="0" y="1220788"/>
            <a:ext cx="9144000" cy="0"/>
          </a:xfrm>
          <a:prstGeom prst="rect">
            <a:avLst/>
          </a:prstGeom>
          <a:noFill/>
          <a:ln w="9525">
            <a:noFill/>
            <a:miter lim="800000"/>
          </a:ln>
        </p:spPr>
        <p:txBody>
          <a:bodyPr wrap="none" anchor="ctr">
            <a:spAutoFit/>
          </a:bodyPr>
          <a:lstStyle/>
          <a:p>
            <a:pPr algn="dist">
              <a:spcBef>
                <a:spcPct val="20000"/>
              </a:spcBef>
              <a:buFont typeface="Wingdings" panose="05000000000000000000" pitchFamily="2" charset="2"/>
              <a:buNone/>
            </a:pPr>
            <a:endParaRPr lang="zh-CN" altLang="en-US"/>
          </a:p>
        </p:txBody>
      </p:sp>
      <p:sp>
        <p:nvSpPr>
          <p:cNvPr id="77829" name="Rectangle 6"/>
          <p:cNvSpPr>
            <a:spLocks noChangeArrowheads="1"/>
          </p:cNvSpPr>
          <p:nvPr/>
        </p:nvSpPr>
        <p:spPr bwMode="auto">
          <a:xfrm>
            <a:off x="0" y="3222625"/>
            <a:ext cx="215900" cy="244475"/>
          </a:xfrm>
          <a:prstGeom prst="rect">
            <a:avLst/>
          </a:prstGeom>
          <a:noFill/>
          <a:ln w="9525">
            <a:noFill/>
            <a:miter lim="800000"/>
          </a:ln>
        </p:spPr>
        <p:txBody>
          <a:bodyPr wrap="none" anchor="ctr">
            <a:spAutoFit/>
          </a:bodyPr>
          <a:lstStyle/>
          <a:p>
            <a:r>
              <a:rPr lang="zh-CN" altLang="en-US" sz="1000">
                <a:solidFill>
                  <a:srgbClr val="000000"/>
                </a:solidFill>
                <a:latin typeface="Times New Roman" panose="02020603050405020304" pitchFamily="18" charset="0"/>
              </a:rPr>
              <a:t> </a:t>
            </a:r>
            <a:endParaRPr lang="zh-CN" altLang="en-US" sz="1800">
              <a:latin typeface="宋体" panose="02010600030101010101" pitchFamily="2" charset="-122"/>
            </a:endParaRPr>
          </a:p>
        </p:txBody>
      </p:sp>
      <p:sp>
        <p:nvSpPr>
          <p:cNvPr id="77830" name="标题 1"/>
          <p:cNvSpPr>
            <a:spLocks noChangeArrowheads="1"/>
          </p:cNvSpPr>
          <p:nvPr/>
        </p:nvSpPr>
        <p:spPr bwMode="auto">
          <a:xfrm>
            <a:off x="457200" y="152400"/>
            <a:ext cx="8305800" cy="563563"/>
          </a:xfrm>
          <a:prstGeom prst="rect">
            <a:avLst/>
          </a:prstGeom>
          <a:noFill/>
          <a:ln w="9525">
            <a:noFill/>
            <a:miter lim="800000"/>
          </a:ln>
        </p:spPr>
        <p:txBody>
          <a:bodyPr anchor="ctr"/>
          <a:lstStyle/>
          <a:p>
            <a:pPr algn="ctr"/>
            <a:r>
              <a:rPr lang="zh-CN" altLang="en-US" sz="3200" b="1">
                <a:solidFill>
                  <a:schemeClr val="bg1"/>
                </a:solidFill>
                <a:latin typeface="微软雅黑" panose="020B0503020204020204" charset="-122"/>
                <a:ea typeface="微软雅黑" panose="020B0503020204020204" charset="-122"/>
              </a:rPr>
              <a:t>*</a:t>
            </a:r>
            <a:r>
              <a:rPr lang="en-US" altLang="zh-CN" sz="3200" b="1">
                <a:solidFill>
                  <a:schemeClr val="bg1"/>
                </a:solidFill>
                <a:latin typeface="微软雅黑" panose="020B0503020204020204" charset="-122"/>
                <a:ea typeface="微软雅黑" panose="020B0503020204020204" charset="-122"/>
              </a:rPr>
              <a:t>1.6 </a:t>
            </a:r>
            <a:r>
              <a:rPr lang="zh-CN" altLang="en-US" sz="3200" b="1">
                <a:solidFill>
                  <a:schemeClr val="bg1"/>
                </a:solidFill>
                <a:latin typeface="微软雅黑" panose="020B0503020204020204" charset="-122"/>
                <a:ea typeface="微软雅黑" panose="020B0503020204020204" charset="-122"/>
              </a:rPr>
              <a:t>选做实验 配置虚拟局域网</a:t>
            </a:r>
            <a:r>
              <a:rPr lang="en-US" altLang="zh-CN" sz="3200" b="1">
                <a:solidFill>
                  <a:schemeClr val="bg1"/>
                </a:solidFill>
                <a:latin typeface="Verdana" panose="020B0604030504040204" pitchFamily="34" charset="0"/>
              </a:rPr>
              <a:t>VLAN </a:t>
            </a:r>
            <a:endParaRPr lang="zh-CN" altLang="en-US" sz="3200" b="1">
              <a:solidFill>
                <a:schemeClr val="bg1"/>
              </a:solidFill>
              <a:latin typeface="Verdana" panose="020B0604030504040204" pitchFamily="34" charset="0"/>
            </a:endParaRPr>
          </a:p>
        </p:txBody>
      </p:sp>
      <p:pic>
        <p:nvPicPr>
          <p:cNvPr id="77831" name="Picture 8" descr="MC900436992[1]"/>
          <p:cNvPicPr>
            <a:picLocks noChangeAspect="1" noChangeArrowheads="1"/>
          </p:cNvPicPr>
          <p:nvPr/>
        </p:nvPicPr>
        <p:blipFill>
          <a:blip r:embed="rId1" cstate="print"/>
          <a:srcRect/>
          <a:stretch>
            <a:fillRect/>
          </a:stretch>
        </p:blipFill>
        <p:spPr bwMode="auto">
          <a:xfrm>
            <a:off x="6400800" y="1524000"/>
            <a:ext cx="1930400" cy="1317625"/>
          </a:xfrm>
          <a:prstGeom prst="rect">
            <a:avLst/>
          </a:prstGeom>
          <a:noFill/>
          <a:ln w="9525">
            <a:noFill/>
            <a:miter lim="800000"/>
            <a:headEnd/>
            <a:tailEnd/>
          </a:ln>
        </p:spPr>
      </p:pic>
      <p:sp>
        <p:nvSpPr>
          <p:cNvPr id="77832" name="Rectangle 10"/>
          <p:cNvSpPr>
            <a:spLocks noChangeArrowheads="1"/>
          </p:cNvSpPr>
          <p:nvPr/>
        </p:nvSpPr>
        <p:spPr bwMode="auto">
          <a:xfrm>
            <a:off x="0" y="2487613"/>
            <a:ext cx="9144000" cy="0"/>
          </a:xfrm>
          <a:prstGeom prst="rect">
            <a:avLst/>
          </a:prstGeom>
          <a:noFill/>
          <a:ln w="9525">
            <a:noFill/>
            <a:miter lim="800000"/>
          </a:ln>
        </p:spPr>
        <p:txBody>
          <a:bodyPr wrap="none" anchor="ctr">
            <a:spAutoFit/>
          </a:bodyPr>
          <a:lstStyle/>
          <a:p>
            <a:pPr algn="dist">
              <a:spcBef>
                <a:spcPct val="20000"/>
              </a:spcBef>
              <a:buFont typeface="Wingdings" panose="05000000000000000000" pitchFamily="2" charset="2"/>
              <a:buNone/>
            </a:pPr>
            <a:endParaRPr lang="zh-CN" altLang="en-US"/>
          </a:p>
        </p:txBody>
      </p:sp>
      <p:pic>
        <p:nvPicPr>
          <p:cNvPr id="77833" name="Picture 9"/>
          <p:cNvPicPr>
            <a:picLocks noChangeAspect="1" noChangeArrowheads="1"/>
          </p:cNvPicPr>
          <p:nvPr/>
        </p:nvPicPr>
        <p:blipFill>
          <a:blip r:embed="rId2" cstate="print"/>
          <a:srcRect/>
          <a:stretch>
            <a:fillRect/>
          </a:stretch>
        </p:blipFill>
        <p:spPr bwMode="auto">
          <a:xfrm>
            <a:off x="2362200" y="4267200"/>
            <a:ext cx="4495800" cy="2159000"/>
          </a:xfrm>
          <a:prstGeom prst="rect">
            <a:avLst/>
          </a:prstGeom>
          <a:noFill/>
          <a:ln w="9525">
            <a:noFill/>
            <a:miter lim="800000"/>
            <a:headEnd/>
            <a:tailEnd/>
          </a:ln>
        </p:spPr>
      </p:pic>
      <p:sp>
        <p:nvSpPr>
          <p:cNvPr id="77834" name="Rectangle 11"/>
          <p:cNvSpPr>
            <a:spLocks noChangeArrowheads="1"/>
          </p:cNvSpPr>
          <p:nvPr/>
        </p:nvSpPr>
        <p:spPr bwMode="auto">
          <a:xfrm>
            <a:off x="2817813" y="6438900"/>
            <a:ext cx="3371850" cy="304800"/>
          </a:xfrm>
          <a:prstGeom prst="rect">
            <a:avLst/>
          </a:prstGeom>
          <a:noFill/>
          <a:ln w="9525">
            <a:noFill/>
            <a:miter lim="800000"/>
          </a:ln>
        </p:spPr>
        <p:txBody>
          <a:bodyPr wrap="none" anchor="ctr">
            <a:spAutoFit/>
          </a:bodyPr>
          <a:lstStyle/>
          <a:p>
            <a:pPr algn="ctr" eaLnBrk="0" hangingPunct="0">
              <a:spcBef>
                <a:spcPct val="20000"/>
              </a:spcBef>
              <a:buFont typeface="Wingdings" panose="05000000000000000000" pitchFamily="2" charset="2"/>
              <a:buNone/>
            </a:pPr>
            <a:r>
              <a:rPr lang="zh-CN" altLang="en-US" sz="1400" b="1">
                <a:latin typeface="Times New Roman" panose="02020603050405020304" pitchFamily="18" charset="0"/>
              </a:rPr>
              <a:t>图</a:t>
            </a:r>
            <a:r>
              <a:rPr lang="en-US" altLang="zh-CN" sz="1400" b="1">
                <a:latin typeface="Calibri" panose="020F0502020204030204" pitchFamily="34" charset="0"/>
              </a:rPr>
              <a:t>1-30</a:t>
            </a:r>
            <a:r>
              <a:rPr lang="zh-CN" altLang="en-US" sz="1400" b="1">
                <a:latin typeface="Times New Roman" panose="02020603050405020304" pitchFamily="18" charset="0"/>
              </a:rPr>
              <a:t>将网络从逻辑上划分成多个子网</a:t>
            </a:r>
            <a:endParaRPr lang="zh-CN" altLang="en-US" sz="1400" b="1"/>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内容占位符 2"/>
          <p:cNvSpPr>
            <a:spLocks noGrp="1" noChangeArrowheads="1"/>
          </p:cNvSpPr>
          <p:nvPr>
            <p:ph idx="4294967295"/>
          </p:nvPr>
        </p:nvSpPr>
        <p:spPr>
          <a:xfrm>
            <a:off x="381000" y="1143000"/>
            <a:ext cx="8458200" cy="5105400"/>
          </a:xfrm>
        </p:spPr>
        <p:txBody>
          <a:bodyPr/>
          <a:lstStyle/>
          <a:p>
            <a:pPr eaLnBrk="1" hangingPunct="1"/>
            <a:r>
              <a:rPr lang="en-US" altLang="zh-CN" smtClean="0">
                <a:solidFill>
                  <a:srgbClr val="C00000"/>
                </a:solidFill>
              </a:rPr>
              <a:t>1. VLAN</a:t>
            </a:r>
            <a:r>
              <a:rPr lang="zh-CN" altLang="en-US" smtClean="0">
                <a:solidFill>
                  <a:srgbClr val="C00000"/>
                </a:solidFill>
              </a:rPr>
              <a:t>的特点优势</a:t>
            </a:r>
            <a:endParaRPr lang="zh-CN" altLang="en-US" smtClean="0">
              <a:solidFill>
                <a:srgbClr val="C00000"/>
              </a:solidFill>
            </a:endParaRPr>
          </a:p>
          <a:p>
            <a:r>
              <a:rPr lang="en-US" altLang="zh-CN" smtClean="0"/>
              <a:t>(1)</a:t>
            </a:r>
            <a:r>
              <a:rPr lang="zh-CN" altLang="en-US" smtClean="0"/>
              <a:t>广播控制</a:t>
            </a:r>
            <a:endParaRPr lang="zh-CN" altLang="en-US" smtClean="0"/>
          </a:p>
          <a:p>
            <a:r>
              <a:rPr lang="en-US" altLang="zh-CN" smtClean="0"/>
              <a:t>(2)</a:t>
            </a:r>
            <a:r>
              <a:rPr lang="zh-CN" altLang="en-US" smtClean="0"/>
              <a:t>安全控制</a:t>
            </a:r>
            <a:endParaRPr lang="zh-CN" altLang="en-US" smtClean="0"/>
          </a:p>
          <a:p>
            <a:r>
              <a:rPr lang="zh-CN" altLang="en-US" smtClean="0"/>
              <a:t>同一</a:t>
            </a:r>
            <a:r>
              <a:rPr lang="en-US" altLang="zh-CN" smtClean="0"/>
              <a:t>VLAN</a:t>
            </a:r>
            <a:r>
              <a:rPr lang="zh-CN" altLang="en-US" smtClean="0"/>
              <a:t>中的主机才可以直接互相通信的特性，可以在不用关心设备的位置的前提下，控制非授权用户访问</a:t>
            </a:r>
            <a:r>
              <a:rPr lang="en-US" altLang="zh-CN" smtClean="0"/>
              <a:t>VLAN</a:t>
            </a:r>
            <a:r>
              <a:rPr lang="zh-CN" altLang="en-US" smtClean="0"/>
              <a:t>。</a:t>
            </a:r>
            <a:endParaRPr lang="zh-CN" altLang="en-US" smtClean="0"/>
          </a:p>
          <a:p>
            <a:r>
              <a:rPr lang="en-US" altLang="zh-CN" smtClean="0"/>
              <a:t>(3)</a:t>
            </a:r>
            <a:r>
              <a:rPr lang="zh-CN" altLang="en-US" smtClean="0"/>
              <a:t>灵活性与可扩展性</a:t>
            </a:r>
            <a:endParaRPr lang="zh-CN" altLang="en-US" smtClean="0"/>
          </a:p>
          <a:p>
            <a:r>
              <a:rPr lang="en-US" altLang="zh-CN" smtClean="0">
                <a:solidFill>
                  <a:srgbClr val="C00000"/>
                </a:solidFill>
              </a:rPr>
              <a:t>2</a:t>
            </a:r>
            <a:r>
              <a:rPr lang="zh-CN" altLang="en-US" smtClean="0">
                <a:solidFill>
                  <a:srgbClr val="C00000"/>
                </a:solidFill>
              </a:rPr>
              <a:t>．</a:t>
            </a:r>
            <a:r>
              <a:rPr lang="en-US" altLang="zh-CN" smtClean="0">
                <a:solidFill>
                  <a:srgbClr val="C00000"/>
                </a:solidFill>
              </a:rPr>
              <a:t>VLAN</a:t>
            </a:r>
            <a:r>
              <a:rPr lang="zh-CN" altLang="en-US" smtClean="0">
                <a:solidFill>
                  <a:srgbClr val="C00000"/>
                </a:solidFill>
              </a:rPr>
              <a:t>的配置方式</a:t>
            </a:r>
            <a:endParaRPr lang="zh-CN" altLang="en-US" smtClean="0">
              <a:solidFill>
                <a:srgbClr val="C00000"/>
              </a:solidFill>
            </a:endParaRPr>
          </a:p>
          <a:p>
            <a:r>
              <a:rPr lang="en-US" altLang="zh-CN" smtClean="0"/>
              <a:t>1)</a:t>
            </a:r>
            <a:r>
              <a:rPr lang="zh-CN" altLang="en-US" smtClean="0"/>
              <a:t>静态</a:t>
            </a:r>
            <a:r>
              <a:rPr lang="en-US" altLang="zh-CN" smtClean="0"/>
              <a:t>VLAN</a:t>
            </a:r>
            <a:r>
              <a:rPr lang="zh-CN" altLang="en-US" smtClean="0"/>
              <a:t>：由网络管理人员使用网络管理软件或直接设置交换机的端口中，使其直接从属某个</a:t>
            </a:r>
            <a:r>
              <a:rPr lang="en-US" altLang="zh-CN" smtClean="0"/>
              <a:t>VLAN</a:t>
            </a:r>
            <a:r>
              <a:rPr lang="zh-CN" altLang="en-US" smtClean="0"/>
              <a:t>。</a:t>
            </a:r>
            <a:endParaRPr lang="zh-CN" altLang="en-US" smtClean="0"/>
          </a:p>
          <a:p>
            <a:r>
              <a:rPr lang="en-US" altLang="zh-CN" smtClean="0"/>
              <a:t>2)</a:t>
            </a:r>
            <a:r>
              <a:rPr lang="zh-CN" altLang="en-US" smtClean="0"/>
              <a:t>动态</a:t>
            </a:r>
            <a:r>
              <a:rPr lang="en-US" altLang="zh-CN" smtClean="0"/>
              <a:t>VLAN</a:t>
            </a:r>
            <a:endParaRPr lang="en-US" altLang="zh-CN" smtClean="0"/>
          </a:p>
          <a:p>
            <a:r>
              <a:rPr lang="en-US" altLang="zh-CN" smtClean="0">
                <a:solidFill>
                  <a:srgbClr val="C00000"/>
                </a:solidFill>
              </a:rPr>
              <a:t>3)</a:t>
            </a:r>
            <a:r>
              <a:rPr lang="zh-CN" altLang="en-US" smtClean="0">
                <a:solidFill>
                  <a:srgbClr val="C00000"/>
                </a:solidFill>
              </a:rPr>
              <a:t>多</a:t>
            </a:r>
            <a:r>
              <a:rPr lang="en-US" altLang="zh-CN" smtClean="0">
                <a:solidFill>
                  <a:srgbClr val="C00000"/>
                </a:solidFill>
              </a:rPr>
              <a:t>VLAN</a:t>
            </a:r>
            <a:r>
              <a:rPr lang="zh-CN" altLang="en-US" smtClean="0">
                <a:solidFill>
                  <a:srgbClr val="C00000"/>
                </a:solidFill>
              </a:rPr>
              <a:t>端口</a:t>
            </a:r>
            <a:endParaRPr lang="zh-CN" altLang="en-US" smtClean="0">
              <a:solidFill>
                <a:srgbClr val="C00000"/>
              </a:solidFill>
            </a:endParaRPr>
          </a:p>
          <a:p>
            <a:r>
              <a:rPr lang="en-US" altLang="zh-CN" smtClean="0"/>
              <a:t>3</a:t>
            </a:r>
            <a:r>
              <a:rPr lang="zh-CN" altLang="en-US" smtClean="0"/>
              <a:t>．</a:t>
            </a:r>
            <a:r>
              <a:rPr lang="en-US" altLang="zh-CN" smtClean="0"/>
              <a:t>VLAN</a:t>
            </a:r>
            <a:r>
              <a:rPr lang="zh-CN" altLang="en-US" smtClean="0"/>
              <a:t>的识别方法</a:t>
            </a:r>
            <a:endParaRPr lang="zh-CN" altLang="en-US" smtClean="0"/>
          </a:p>
        </p:txBody>
      </p:sp>
      <p:sp>
        <p:nvSpPr>
          <p:cNvPr id="78850" name="Rectangle 3"/>
          <p:cNvSpPr>
            <a:spLocks noChangeArrowheads="1"/>
          </p:cNvSpPr>
          <p:nvPr/>
        </p:nvSpPr>
        <p:spPr bwMode="auto">
          <a:xfrm>
            <a:off x="0" y="1146175"/>
            <a:ext cx="9144000" cy="0"/>
          </a:xfrm>
          <a:prstGeom prst="rect">
            <a:avLst/>
          </a:prstGeom>
          <a:noFill/>
          <a:ln w="9525">
            <a:noFill/>
            <a:miter lim="800000"/>
          </a:ln>
        </p:spPr>
        <p:txBody>
          <a:bodyPr wrap="none" anchor="ctr">
            <a:spAutoFit/>
          </a:bodyPr>
          <a:lstStyle/>
          <a:p>
            <a:pPr algn="dist">
              <a:spcBef>
                <a:spcPct val="20000"/>
              </a:spcBef>
              <a:buFont typeface="Wingdings" panose="05000000000000000000" pitchFamily="2" charset="2"/>
              <a:buNone/>
            </a:pPr>
            <a:endParaRPr lang="zh-CN" altLang="en-US"/>
          </a:p>
        </p:txBody>
      </p:sp>
      <p:sp>
        <p:nvSpPr>
          <p:cNvPr id="78851" name="Rectangle 4"/>
          <p:cNvSpPr>
            <a:spLocks noChangeArrowheads="1"/>
          </p:cNvSpPr>
          <p:nvPr/>
        </p:nvSpPr>
        <p:spPr bwMode="auto">
          <a:xfrm>
            <a:off x="0" y="3184525"/>
            <a:ext cx="215900" cy="244475"/>
          </a:xfrm>
          <a:prstGeom prst="rect">
            <a:avLst/>
          </a:prstGeom>
          <a:noFill/>
          <a:ln w="9525">
            <a:noFill/>
            <a:miter lim="800000"/>
          </a:ln>
        </p:spPr>
        <p:txBody>
          <a:bodyPr wrap="none" anchor="ctr">
            <a:spAutoFit/>
          </a:bodyPr>
          <a:lstStyle/>
          <a:p>
            <a:r>
              <a:rPr lang="zh-CN" altLang="en-US" sz="1000">
                <a:solidFill>
                  <a:srgbClr val="000000"/>
                </a:solidFill>
                <a:latin typeface="Times New Roman" panose="02020603050405020304" pitchFamily="18" charset="0"/>
              </a:rPr>
              <a:t> </a:t>
            </a:r>
            <a:endParaRPr lang="zh-CN" altLang="en-US" sz="1800">
              <a:latin typeface="宋体" panose="02010600030101010101" pitchFamily="2" charset="-122"/>
            </a:endParaRPr>
          </a:p>
        </p:txBody>
      </p:sp>
      <p:sp>
        <p:nvSpPr>
          <p:cNvPr id="78852" name="Rectangle 5"/>
          <p:cNvSpPr>
            <a:spLocks noChangeArrowheads="1"/>
          </p:cNvSpPr>
          <p:nvPr/>
        </p:nvSpPr>
        <p:spPr bwMode="auto">
          <a:xfrm>
            <a:off x="0" y="1220788"/>
            <a:ext cx="9144000" cy="0"/>
          </a:xfrm>
          <a:prstGeom prst="rect">
            <a:avLst/>
          </a:prstGeom>
          <a:noFill/>
          <a:ln w="9525">
            <a:noFill/>
            <a:miter lim="800000"/>
          </a:ln>
        </p:spPr>
        <p:txBody>
          <a:bodyPr wrap="none" anchor="ctr">
            <a:spAutoFit/>
          </a:bodyPr>
          <a:lstStyle/>
          <a:p>
            <a:pPr algn="dist">
              <a:spcBef>
                <a:spcPct val="20000"/>
              </a:spcBef>
              <a:buFont typeface="Wingdings" panose="05000000000000000000" pitchFamily="2" charset="2"/>
              <a:buNone/>
            </a:pPr>
            <a:endParaRPr lang="zh-CN" altLang="en-US"/>
          </a:p>
        </p:txBody>
      </p:sp>
      <p:sp>
        <p:nvSpPr>
          <p:cNvPr id="78853" name="Rectangle 6"/>
          <p:cNvSpPr>
            <a:spLocks noChangeArrowheads="1"/>
          </p:cNvSpPr>
          <p:nvPr/>
        </p:nvSpPr>
        <p:spPr bwMode="auto">
          <a:xfrm>
            <a:off x="0" y="3222625"/>
            <a:ext cx="215900" cy="244475"/>
          </a:xfrm>
          <a:prstGeom prst="rect">
            <a:avLst/>
          </a:prstGeom>
          <a:noFill/>
          <a:ln w="9525">
            <a:noFill/>
            <a:miter lim="800000"/>
          </a:ln>
        </p:spPr>
        <p:txBody>
          <a:bodyPr wrap="none" anchor="ctr">
            <a:spAutoFit/>
          </a:bodyPr>
          <a:lstStyle/>
          <a:p>
            <a:r>
              <a:rPr lang="zh-CN" altLang="en-US" sz="1000">
                <a:solidFill>
                  <a:srgbClr val="000000"/>
                </a:solidFill>
                <a:latin typeface="Times New Roman" panose="02020603050405020304" pitchFamily="18" charset="0"/>
              </a:rPr>
              <a:t> </a:t>
            </a:r>
            <a:endParaRPr lang="zh-CN" altLang="en-US" sz="1800">
              <a:latin typeface="宋体" panose="02010600030101010101" pitchFamily="2" charset="-122"/>
            </a:endParaRPr>
          </a:p>
        </p:txBody>
      </p:sp>
      <p:sp>
        <p:nvSpPr>
          <p:cNvPr id="78854" name="标题 1"/>
          <p:cNvSpPr>
            <a:spLocks noChangeArrowheads="1"/>
          </p:cNvSpPr>
          <p:nvPr/>
        </p:nvSpPr>
        <p:spPr bwMode="auto">
          <a:xfrm>
            <a:off x="457200" y="152400"/>
            <a:ext cx="8305800" cy="563563"/>
          </a:xfrm>
          <a:prstGeom prst="rect">
            <a:avLst/>
          </a:prstGeom>
          <a:noFill/>
          <a:ln w="9525">
            <a:noFill/>
            <a:miter lim="800000"/>
          </a:ln>
        </p:spPr>
        <p:txBody>
          <a:bodyPr anchor="ctr"/>
          <a:lstStyle/>
          <a:p>
            <a:pPr algn="ctr"/>
            <a:r>
              <a:rPr lang="zh-CN" altLang="en-US" sz="3200" b="1">
                <a:solidFill>
                  <a:schemeClr val="bg1"/>
                </a:solidFill>
                <a:latin typeface="微软雅黑" panose="020B0503020204020204" charset="-122"/>
                <a:ea typeface="微软雅黑" panose="020B0503020204020204" charset="-122"/>
              </a:rPr>
              <a:t>*</a:t>
            </a:r>
            <a:r>
              <a:rPr lang="en-US" altLang="zh-CN" sz="3200" b="1">
                <a:solidFill>
                  <a:schemeClr val="bg1"/>
                </a:solidFill>
                <a:latin typeface="微软雅黑" panose="020B0503020204020204" charset="-122"/>
                <a:ea typeface="微软雅黑" panose="020B0503020204020204" charset="-122"/>
              </a:rPr>
              <a:t>1.6</a:t>
            </a:r>
            <a:r>
              <a:rPr lang="zh-CN" altLang="en-US" sz="3200" b="1">
                <a:solidFill>
                  <a:schemeClr val="bg1"/>
                </a:solidFill>
                <a:latin typeface="微软雅黑" panose="020B0503020204020204" charset="-122"/>
                <a:ea typeface="微软雅黑" panose="020B0503020204020204" charset="-122"/>
              </a:rPr>
              <a:t>选做实验 配置虚拟局域网</a:t>
            </a:r>
            <a:r>
              <a:rPr lang="en-US" altLang="zh-CN" sz="3200" b="1">
                <a:solidFill>
                  <a:schemeClr val="bg1"/>
                </a:solidFill>
                <a:latin typeface="Verdana" panose="020B0604030504040204" pitchFamily="34" charset="0"/>
              </a:rPr>
              <a:t>VLAN </a:t>
            </a:r>
            <a:endParaRPr lang="zh-CN" altLang="en-US" sz="3200" b="1">
              <a:solidFill>
                <a:schemeClr val="bg1"/>
              </a:solidFill>
              <a:latin typeface="Verdana" panose="020B0604030504040204" pitchFamily="34" charset="0"/>
            </a:endParaRPr>
          </a:p>
        </p:txBody>
      </p:sp>
      <p:pic>
        <p:nvPicPr>
          <p:cNvPr id="78855" name="Picture 8" descr="MC900436992[1]"/>
          <p:cNvPicPr>
            <a:picLocks noChangeAspect="1" noChangeArrowheads="1"/>
          </p:cNvPicPr>
          <p:nvPr/>
        </p:nvPicPr>
        <p:blipFill>
          <a:blip r:embed="rId1" cstate="print"/>
          <a:srcRect/>
          <a:stretch>
            <a:fillRect/>
          </a:stretch>
        </p:blipFill>
        <p:spPr bwMode="auto">
          <a:xfrm>
            <a:off x="6019800" y="4648200"/>
            <a:ext cx="1930400" cy="1317625"/>
          </a:xfrm>
          <a:prstGeom prst="rect">
            <a:avLst/>
          </a:prstGeom>
          <a:noFill/>
          <a:ln w="9525">
            <a:noFill/>
            <a:miter lim="800000"/>
            <a:headEnd/>
            <a:tailEnd/>
          </a:ln>
        </p:spPr>
      </p:pic>
      <p:sp>
        <p:nvSpPr>
          <p:cNvPr id="78856" name="Rectangle 9"/>
          <p:cNvSpPr>
            <a:spLocks noChangeArrowheads="1"/>
          </p:cNvSpPr>
          <p:nvPr/>
        </p:nvSpPr>
        <p:spPr bwMode="auto">
          <a:xfrm>
            <a:off x="0" y="2487613"/>
            <a:ext cx="9144000" cy="0"/>
          </a:xfrm>
          <a:prstGeom prst="rect">
            <a:avLst/>
          </a:prstGeom>
          <a:noFill/>
          <a:ln w="9525">
            <a:noFill/>
            <a:miter lim="800000"/>
          </a:ln>
        </p:spPr>
        <p:txBody>
          <a:bodyPr wrap="none" anchor="ctr">
            <a:spAutoFit/>
          </a:bodyPr>
          <a:lstStyle/>
          <a:p>
            <a:pPr algn="dist">
              <a:spcBef>
                <a:spcPct val="20000"/>
              </a:spcBef>
              <a:buFont typeface="Wingdings" panose="05000000000000000000" pitchFamily="2" charset="2"/>
              <a:buNone/>
            </a:pPr>
            <a:endParaRPr lang="zh-CN" alt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内容占位符 2"/>
          <p:cNvSpPr>
            <a:spLocks noGrp="1" noChangeArrowheads="1"/>
          </p:cNvSpPr>
          <p:nvPr>
            <p:ph idx="4294967295"/>
          </p:nvPr>
        </p:nvSpPr>
        <p:spPr>
          <a:xfrm>
            <a:off x="381000" y="1143000"/>
            <a:ext cx="8534400" cy="5334000"/>
          </a:xfrm>
        </p:spPr>
        <p:txBody>
          <a:bodyPr/>
          <a:lstStyle/>
          <a:p>
            <a:pPr eaLnBrk="1" hangingPunct="1"/>
            <a:r>
              <a:rPr lang="en-US" altLang="zh-CN" smtClean="0">
                <a:solidFill>
                  <a:srgbClr val="C00000"/>
                </a:solidFill>
              </a:rPr>
              <a:t>4</a:t>
            </a:r>
            <a:r>
              <a:rPr lang="zh-CN" altLang="en-US" smtClean="0">
                <a:solidFill>
                  <a:srgbClr val="C00000"/>
                </a:solidFill>
              </a:rPr>
              <a:t>．</a:t>
            </a:r>
            <a:r>
              <a:rPr lang="en-US" altLang="zh-CN" smtClean="0">
                <a:solidFill>
                  <a:srgbClr val="C00000"/>
                </a:solidFill>
              </a:rPr>
              <a:t>VLAN</a:t>
            </a:r>
            <a:r>
              <a:rPr lang="zh-CN" altLang="en-US" smtClean="0">
                <a:solidFill>
                  <a:srgbClr val="C00000"/>
                </a:solidFill>
              </a:rPr>
              <a:t>中继协议</a:t>
            </a:r>
            <a:endParaRPr lang="zh-CN" altLang="en-US" smtClean="0">
              <a:solidFill>
                <a:srgbClr val="C00000"/>
              </a:solidFill>
            </a:endParaRPr>
          </a:p>
          <a:p>
            <a:r>
              <a:rPr lang="zh-CN" altLang="en-US" smtClean="0"/>
              <a:t>在</a:t>
            </a:r>
            <a:r>
              <a:rPr lang="en-US" altLang="zh-CN" smtClean="0"/>
              <a:t>VTP</a:t>
            </a:r>
            <a:r>
              <a:rPr lang="zh-CN" altLang="en-US" smtClean="0"/>
              <a:t>域中的交换机有三种操作模式：</a:t>
            </a:r>
            <a:endParaRPr lang="zh-CN" altLang="en-US" smtClean="0"/>
          </a:p>
          <a:p>
            <a:r>
              <a:rPr lang="en-US" altLang="zh-CN" smtClean="0"/>
              <a:t>1)</a:t>
            </a:r>
            <a:r>
              <a:rPr lang="zh-CN" altLang="en-US" smtClean="0"/>
              <a:t>服务器模式（</a:t>
            </a:r>
            <a:r>
              <a:rPr lang="en-US" altLang="zh-CN" smtClean="0"/>
              <a:t>Server</a:t>
            </a:r>
            <a:r>
              <a:rPr lang="zh-CN" altLang="en-US" smtClean="0"/>
              <a:t>）。对大部分交换机这是默认的模式。在</a:t>
            </a:r>
            <a:r>
              <a:rPr lang="en-US" altLang="zh-CN" smtClean="0"/>
              <a:t>VTP</a:t>
            </a:r>
            <a:r>
              <a:rPr lang="zh-CN" altLang="en-US" smtClean="0"/>
              <a:t>域中，至少需要一台服务器模式的交换机，以便在整个域中传播</a:t>
            </a:r>
            <a:r>
              <a:rPr lang="en-US" altLang="zh-CN" smtClean="0"/>
              <a:t>VLAN</a:t>
            </a:r>
            <a:r>
              <a:rPr lang="zh-CN" altLang="en-US" smtClean="0"/>
              <a:t>信息。</a:t>
            </a:r>
            <a:endParaRPr lang="zh-CN" altLang="en-US" smtClean="0"/>
          </a:p>
          <a:p>
            <a:r>
              <a:rPr lang="en-US" altLang="zh-CN" smtClean="0"/>
              <a:t>2)</a:t>
            </a:r>
            <a:r>
              <a:rPr lang="zh-CN" altLang="en-US" smtClean="0"/>
              <a:t>客户机模式</a:t>
            </a:r>
            <a:r>
              <a:rPr lang="en-US" altLang="zh-CN" smtClean="0"/>
              <a:t>(Client)</a:t>
            </a:r>
            <a:r>
              <a:rPr lang="zh-CN" altLang="en-US" smtClean="0"/>
              <a:t>。在客户机模式下，交换机不能创建、添加、改动或删除</a:t>
            </a:r>
            <a:r>
              <a:rPr lang="en-US" altLang="zh-CN" smtClean="0"/>
              <a:t>VLAN</a:t>
            </a:r>
            <a:r>
              <a:rPr lang="zh-CN" altLang="en-US" smtClean="0"/>
              <a:t>。只能接收</a:t>
            </a:r>
            <a:r>
              <a:rPr lang="en-US" altLang="zh-CN" smtClean="0"/>
              <a:t>VLAN</a:t>
            </a:r>
            <a:r>
              <a:rPr lang="zh-CN" altLang="en-US" smtClean="0"/>
              <a:t>信息更新。如果想让一台交换机到服务器模式，可以先让其成为客户机模式，以便它接收所有</a:t>
            </a:r>
            <a:r>
              <a:rPr lang="en-US" altLang="zh-CN" smtClean="0"/>
              <a:t>VLAN</a:t>
            </a:r>
            <a:r>
              <a:rPr lang="zh-CN" altLang="en-US" smtClean="0"/>
              <a:t>的正确信息并自我更新后，然后再改到服务器模式。</a:t>
            </a:r>
            <a:endParaRPr lang="zh-CN" altLang="en-US" smtClean="0"/>
          </a:p>
          <a:p>
            <a:r>
              <a:rPr lang="en-US" altLang="zh-CN" smtClean="0"/>
              <a:t>3)</a:t>
            </a:r>
            <a:r>
              <a:rPr lang="zh-CN" altLang="en-US" smtClean="0"/>
              <a:t>透明模式</a:t>
            </a:r>
            <a:r>
              <a:rPr lang="en-US" altLang="zh-CN" smtClean="0"/>
              <a:t>(Transparent)</a:t>
            </a:r>
            <a:r>
              <a:rPr lang="zh-CN" altLang="en-US" smtClean="0"/>
              <a:t>。 </a:t>
            </a:r>
            <a:endParaRPr lang="zh-CN" altLang="en-US" smtClean="0"/>
          </a:p>
          <a:p>
            <a:r>
              <a:rPr lang="en-US" altLang="zh-CN" smtClean="0">
                <a:solidFill>
                  <a:srgbClr val="C00000"/>
                </a:solidFill>
              </a:rPr>
              <a:t>5</a:t>
            </a:r>
            <a:r>
              <a:rPr lang="zh-CN" altLang="en-US" smtClean="0">
                <a:solidFill>
                  <a:srgbClr val="C00000"/>
                </a:solidFill>
              </a:rPr>
              <a:t>．</a:t>
            </a:r>
            <a:r>
              <a:rPr lang="en-US" altLang="zh-CN" smtClean="0">
                <a:solidFill>
                  <a:srgbClr val="C00000"/>
                </a:solidFill>
              </a:rPr>
              <a:t>VLAN</a:t>
            </a:r>
            <a:r>
              <a:rPr lang="zh-CN" altLang="en-US" smtClean="0">
                <a:solidFill>
                  <a:srgbClr val="C00000"/>
                </a:solidFill>
              </a:rPr>
              <a:t>之间的通信</a:t>
            </a:r>
            <a:endParaRPr lang="zh-CN" altLang="en-US" smtClean="0">
              <a:solidFill>
                <a:srgbClr val="C00000"/>
              </a:solidFill>
            </a:endParaRPr>
          </a:p>
          <a:p>
            <a:r>
              <a:rPr lang="en-US" altLang="zh-CN" smtClean="0"/>
              <a:t>VLAN</a:t>
            </a:r>
            <a:r>
              <a:rPr lang="zh-CN" altLang="en-US" smtClean="0"/>
              <a:t>在</a:t>
            </a:r>
            <a:r>
              <a:rPr lang="en-US" altLang="zh-CN" smtClean="0"/>
              <a:t>OSI</a:t>
            </a:r>
            <a:r>
              <a:rPr lang="zh-CN" altLang="en-US" smtClean="0"/>
              <a:t>模型的第</a:t>
            </a:r>
            <a:r>
              <a:rPr lang="en-US" altLang="zh-CN" smtClean="0"/>
              <a:t>2</a:t>
            </a:r>
            <a:r>
              <a:rPr lang="zh-CN" altLang="en-US" smtClean="0"/>
              <a:t>层创建网络分段，并分隔数据流，如果要在</a:t>
            </a:r>
            <a:r>
              <a:rPr lang="en-US" altLang="zh-CN" smtClean="0"/>
              <a:t>VLAN</a:t>
            </a:r>
            <a:r>
              <a:rPr lang="zh-CN" altLang="en-US" smtClean="0"/>
              <a:t>之间进行通信，则必须使用第</a:t>
            </a:r>
            <a:r>
              <a:rPr lang="en-US" altLang="zh-CN" smtClean="0"/>
              <a:t>3</a:t>
            </a:r>
            <a:r>
              <a:rPr lang="zh-CN" altLang="en-US" smtClean="0"/>
              <a:t>层设备，如使用路由器或三层交换机。</a:t>
            </a:r>
            <a:endParaRPr lang="zh-CN" altLang="en-US" smtClean="0"/>
          </a:p>
          <a:p>
            <a:endParaRPr lang="zh-CN" altLang="en-US" smtClean="0"/>
          </a:p>
        </p:txBody>
      </p:sp>
      <p:sp>
        <p:nvSpPr>
          <p:cNvPr id="79874" name="Rectangle 3"/>
          <p:cNvSpPr>
            <a:spLocks noChangeArrowheads="1"/>
          </p:cNvSpPr>
          <p:nvPr/>
        </p:nvSpPr>
        <p:spPr bwMode="auto">
          <a:xfrm>
            <a:off x="0" y="1146175"/>
            <a:ext cx="9144000" cy="0"/>
          </a:xfrm>
          <a:prstGeom prst="rect">
            <a:avLst/>
          </a:prstGeom>
          <a:noFill/>
          <a:ln w="9525">
            <a:noFill/>
            <a:miter lim="800000"/>
          </a:ln>
        </p:spPr>
        <p:txBody>
          <a:bodyPr wrap="none" anchor="ctr">
            <a:spAutoFit/>
          </a:bodyPr>
          <a:lstStyle/>
          <a:p>
            <a:pPr algn="dist">
              <a:spcBef>
                <a:spcPct val="20000"/>
              </a:spcBef>
              <a:buFont typeface="Wingdings" panose="05000000000000000000" pitchFamily="2" charset="2"/>
              <a:buNone/>
            </a:pPr>
            <a:endParaRPr lang="zh-CN" altLang="en-US"/>
          </a:p>
        </p:txBody>
      </p:sp>
      <p:sp>
        <p:nvSpPr>
          <p:cNvPr id="79875" name="Rectangle 4"/>
          <p:cNvSpPr>
            <a:spLocks noChangeArrowheads="1"/>
          </p:cNvSpPr>
          <p:nvPr/>
        </p:nvSpPr>
        <p:spPr bwMode="auto">
          <a:xfrm>
            <a:off x="0" y="3184525"/>
            <a:ext cx="215900" cy="244475"/>
          </a:xfrm>
          <a:prstGeom prst="rect">
            <a:avLst/>
          </a:prstGeom>
          <a:noFill/>
          <a:ln w="9525">
            <a:noFill/>
            <a:miter lim="800000"/>
          </a:ln>
        </p:spPr>
        <p:txBody>
          <a:bodyPr wrap="none" anchor="ctr">
            <a:spAutoFit/>
          </a:bodyPr>
          <a:lstStyle/>
          <a:p>
            <a:r>
              <a:rPr lang="zh-CN" altLang="en-US" sz="1000">
                <a:solidFill>
                  <a:srgbClr val="000000"/>
                </a:solidFill>
                <a:latin typeface="Times New Roman" panose="02020603050405020304" pitchFamily="18" charset="0"/>
              </a:rPr>
              <a:t> </a:t>
            </a:r>
            <a:endParaRPr lang="zh-CN" altLang="en-US" sz="1800">
              <a:latin typeface="宋体" panose="02010600030101010101" pitchFamily="2" charset="-122"/>
            </a:endParaRPr>
          </a:p>
        </p:txBody>
      </p:sp>
      <p:sp>
        <p:nvSpPr>
          <p:cNvPr id="79876" name="Rectangle 5"/>
          <p:cNvSpPr>
            <a:spLocks noChangeArrowheads="1"/>
          </p:cNvSpPr>
          <p:nvPr/>
        </p:nvSpPr>
        <p:spPr bwMode="auto">
          <a:xfrm>
            <a:off x="0" y="1220788"/>
            <a:ext cx="9144000" cy="0"/>
          </a:xfrm>
          <a:prstGeom prst="rect">
            <a:avLst/>
          </a:prstGeom>
          <a:noFill/>
          <a:ln w="9525">
            <a:noFill/>
            <a:miter lim="800000"/>
          </a:ln>
        </p:spPr>
        <p:txBody>
          <a:bodyPr wrap="none" anchor="ctr">
            <a:spAutoFit/>
          </a:bodyPr>
          <a:lstStyle/>
          <a:p>
            <a:pPr algn="dist">
              <a:spcBef>
                <a:spcPct val="20000"/>
              </a:spcBef>
              <a:buFont typeface="Wingdings" panose="05000000000000000000" pitchFamily="2" charset="2"/>
              <a:buNone/>
            </a:pPr>
            <a:endParaRPr lang="zh-CN" altLang="en-US"/>
          </a:p>
        </p:txBody>
      </p:sp>
      <p:sp>
        <p:nvSpPr>
          <p:cNvPr id="79877" name="Rectangle 6"/>
          <p:cNvSpPr>
            <a:spLocks noChangeArrowheads="1"/>
          </p:cNvSpPr>
          <p:nvPr/>
        </p:nvSpPr>
        <p:spPr bwMode="auto">
          <a:xfrm>
            <a:off x="0" y="3222625"/>
            <a:ext cx="215900" cy="244475"/>
          </a:xfrm>
          <a:prstGeom prst="rect">
            <a:avLst/>
          </a:prstGeom>
          <a:noFill/>
          <a:ln w="9525">
            <a:noFill/>
            <a:miter lim="800000"/>
          </a:ln>
        </p:spPr>
        <p:txBody>
          <a:bodyPr wrap="none" anchor="ctr">
            <a:spAutoFit/>
          </a:bodyPr>
          <a:lstStyle/>
          <a:p>
            <a:r>
              <a:rPr lang="zh-CN" altLang="en-US" sz="1000">
                <a:solidFill>
                  <a:srgbClr val="000000"/>
                </a:solidFill>
                <a:latin typeface="Times New Roman" panose="02020603050405020304" pitchFamily="18" charset="0"/>
              </a:rPr>
              <a:t> </a:t>
            </a:r>
            <a:endParaRPr lang="zh-CN" altLang="en-US" sz="1800">
              <a:latin typeface="宋体" panose="02010600030101010101" pitchFamily="2" charset="-122"/>
            </a:endParaRPr>
          </a:p>
        </p:txBody>
      </p:sp>
      <p:sp>
        <p:nvSpPr>
          <p:cNvPr id="79878" name="标题 1"/>
          <p:cNvSpPr>
            <a:spLocks noChangeArrowheads="1"/>
          </p:cNvSpPr>
          <p:nvPr/>
        </p:nvSpPr>
        <p:spPr bwMode="auto">
          <a:xfrm>
            <a:off x="457200" y="152400"/>
            <a:ext cx="8305800" cy="563563"/>
          </a:xfrm>
          <a:prstGeom prst="rect">
            <a:avLst/>
          </a:prstGeom>
          <a:noFill/>
          <a:ln w="9525">
            <a:noFill/>
            <a:miter lim="800000"/>
          </a:ln>
        </p:spPr>
        <p:txBody>
          <a:bodyPr anchor="ctr"/>
          <a:lstStyle/>
          <a:p>
            <a:pPr algn="ctr"/>
            <a:r>
              <a:rPr lang="zh-CN" altLang="en-US" sz="3200" b="1">
                <a:solidFill>
                  <a:schemeClr val="bg1"/>
                </a:solidFill>
                <a:latin typeface="微软雅黑" panose="020B0503020204020204" charset="-122"/>
                <a:ea typeface="微软雅黑" panose="020B0503020204020204" charset="-122"/>
              </a:rPr>
              <a:t>*</a:t>
            </a:r>
            <a:r>
              <a:rPr lang="en-US" altLang="zh-CN" sz="3200" b="1">
                <a:solidFill>
                  <a:schemeClr val="bg1"/>
                </a:solidFill>
                <a:latin typeface="微软雅黑" panose="020B0503020204020204" charset="-122"/>
                <a:ea typeface="微软雅黑" panose="020B0503020204020204" charset="-122"/>
              </a:rPr>
              <a:t>1.6</a:t>
            </a:r>
            <a:r>
              <a:rPr lang="zh-CN" altLang="en-US" sz="3200" b="1">
                <a:solidFill>
                  <a:schemeClr val="bg1"/>
                </a:solidFill>
                <a:latin typeface="微软雅黑" panose="020B0503020204020204" charset="-122"/>
                <a:ea typeface="微软雅黑" panose="020B0503020204020204" charset="-122"/>
              </a:rPr>
              <a:t>选做实验 配置虚拟局域网</a:t>
            </a:r>
            <a:r>
              <a:rPr lang="en-US" altLang="zh-CN" sz="3200" b="1">
                <a:solidFill>
                  <a:schemeClr val="bg1"/>
                </a:solidFill>
                <a:latin typeface="Verdana" panose="020B0604030504040204" pitchFamily="34" charset="0"/>
              </a:rPr>
              <a:t>VLAN </a:t>
            </a:r>
            <a:endParaRPr lang="zh-CN" altLang="en-US" sz="3200" b="1">
              <a:solidFill>
                <a:schemeClr val="bg1"/>
              </a:solidFill>
              <a:latin typeface="Verdana" panose="020B0604030504040204" pitchFamily="34" charset="0"/>
            </a:endParaRPr>
          </a:p>
        </p:txBody>
      </p:sp>
      <p:sp>
        <p:nvSpPr>
          <p:cNvPr id="79879" name="Rectangle 9"/>
          <p:cNvSpPr>
            <a:spLocks noChangeArrowheads="1"/>
          </p:cNvSpPr>
          <p:nvPr/>
        </p:nvSpPr>
        <p:spPr bwMode="auto">
          <a:xfrm>
            <a:off x="0" y="2487613"/>
            <a:ext cx="9144000" cy="0"/>
          </a:xfrm>
          <a:prstGeom prst="rect">
            <a:avLst/>
          </a:prstGeom>
          <a:noFill/>
          <a:ln w="9525">
            <a:noFill/>
            <a:miter lim="800000"/>
          </a:ln>
        </p:spPr>
        <p:txBody>
          <a:bodyPr wrap="none" anchor="ctr">
            <a:spAutoFit/>
          </a:bodyPr>
          <a:lstStyle/>
          <a:p>
            <a:pPr algn="dist">
              <a:spcBef>
                <a:spcPct val="20000"/>
              </a:spcBef>
              <a:buFont typeface="Wingdings" panose="05000000000000000000" pitchFamily="2" charset="2"/>
              <a:buNone/>
            </a:pPr>
            <a:endParaRPr lang="zh-CN" alt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内容占位符 2"/>
          <p:cNvSpPr>
            <a:spLocks noGrp="1" noChangeArrowheads="1"/>
          </p:cNvSpPr>
          <p:nvPr>
            <p:ph idx="4294967295"/>
          </p:nvPr>
        </p:nvSpPr>
        <p:spPr>
          <a:xfrm>
            <a:off x="381000" y="1143000"/>
            <a:ext cx="8399463" cy="3352800"/>
          </a:xfrm>
        </p:spPr>
        <p:txBody>
          <a:bodyPr/>
          <a:lstStyle/>
          <a:p>
            <a:r>
              <a:rPr lang="en-US" altLang="zh-CN" smtClean="0">
                <a:solidFill>
                  <a:srgbClr val="FF0000"/>
                </a:solidFill>
              </a:rPr>
              <a:t>1.6.3 </a:t>
            </a:r>
            <a:r>
              <a:rPr lang="zh-CN" altLang="en-US" smtClean="0">
                <a:solidFill>
                  <a:srgbClr val="FF0000"/>
                </a:solidFill>
              </a:rPr>
              <a:t>实验要求及配置</a:t>
            </a:r>
            <a:endParaRPr lang="zh-CN" altLang="en-US" smtClean="0">
              <a:solidFill>
                <a:srgbClr val="FF0000"/>
              </a:solidFill>
            </a:endParaRPr>
          </a:p>
          <a:p>
            <a:r>
              <a:rPr lang="zh-CN" altLang="en-US" smtClean="0"/>
              <a:t>  </a:t>
            </a:r>
            <a:r>
              <a:rPr lang="en-US" altLang="zh-CN" smtClean="0"/>
              <a:t>Cisco 3750</a:t>
            </a:r>
            <a:r>
              <a:rPr lang="zh-CN" altLang="en-US" smtClean="0"/>
              <a:t>交换机、</a:t>
            </a:r>
            <a:r>
              <a:rPr lang="en-US" altLang="zh-CN" smtClean="0"/>
              <a:t>PC</a:t>
            </a:r>
            <a:r>
              <a:rPr lang="zh-CN" altLang="en-US" smtClean="0"/>
              <a:t>、串口线、交叉线等。</a:t>
            </a:r>
            <a:endParaRPr lang="zh-CN" altLang="en-US" smtClean="0"/>
          </a:p>
          <a:p>
            <a:r>
              <a:rPr lang="en-US" altLang="zh-CN" smtClean="0">
                <a:solidFill>
                  <a:srgbClr val="C00000"/>
                </a:solidFill>
              </a:rPr>
              <a:t>1</a:t>
            </a:r>
            <a:r>
              <a:rPr lang="zh-CN" altLang="en-US" smtClean="0">
                <a:solidFill>
                  <a:srgbClr val="C00000"/>
                </a:solidFill>
              </a:rPr>
              <a:t>．单一交换机上</a:t>
            </a:r>
            <a:r>
              <a:rPr lang="en-US" altLang="zh-CN" smtClean="0">
                <a:solidFill>
                  <a:srgbClr val="C00000"/>
                </a:solidFill>
              </a:rPr>
              <a:t>VLAN</a:t>
            </a:r>
            <a:r>
              <a:rPr lang="zh-CN" altLang="en-US" smtClean="0">
                <a:solidFill>
                  <a:srgbClr val="C00000"/>
                </a:solidFill>
              </a:rPr>
              <a:t>的配置 </a:t>
            </a:r>
            <a:endParaRPr lang="zh-CN" altLang="en-US" smtClean="0">
              <a:solidFill>
                <a:srgbClr val="C00000"/>
              </a:solidFill>
            </a:endParaRPr>
          </a:p>
          <a:p>
            <a:endParaRPr lang="zh-CN" altLang="en-US" smtClean="0"/>
          </a:p>
        </p:txBody>
      </p:sp>
      <p:sp>
        <p:nvSpPr>
          <p:cNvPr id="80898" name="Rectangle 3"/>
          <p:cNvSpPr>
            <a:spLocks noChangeArrowheads="1"/>
          </p:cNvSpPr>
          <p:nvPr/>
        </p:nvSpPr>
        <p:spPr bwMode="auto">
          <a:xfrm>
            <a:off x="0" y="1146175"/>
            <a:ext cx="9144000" cy="0"/>
          </a:xfrm>
          <a:prstGeom prst="rect">
            <a:avLst/>
          </a:prstGeom>
          <a:noFill/>
          <a:ln w="9525">
            <a:noFill/>
            <a:miter lim="800000"/>
          </a:ln>
        </p:spPr>
        <p:txBody>
          <a:bodyPr wrap="none" anchor="ctr">
            <a:spAutoFit/>
          </a:bodyPr>
          <a:lstStyle/>
          <a:p>
            <a:pPr algn="dist">
              <a:spcBef>
                <a:spcPct val="20000"/>
              </a:spcBef>
              <a:buFont typeface="Wingdings" panose="05000000000000000000" pitchFamily="2" charset="2"/>
              <a:buNone/>
            </a:pPr>
            <a:endParaRPr lang="zh-CN" altLang="en-US"/>
          </a:p>
        </p:txBody>
      </p:sp>
      <p:sp>
        <p:nvSpPr>
          <p:cNvPr id="80899" name="Rectangle 4"/>
          <p:cNvSpPr>
            <a:spLocks noChangeArrowheads="1"/>
          </p:cNvSpPr>
          <p:nvPr/>
        </p:nvSpPr>
        <p:spPr bwMode="auto">
          <a:xfrm>
            <a:off x="0" y="3184525"/>
            <a:ext cx="215900" cy="244475"/>
          </a:xfrm>
          <a:prstGeom prst="rect">
            <a:avLst/>
          </a:prstGeom>
          <a:noFill/>
          <a:ln w="9525">
            <a:noFill/>
            <a:miter lim="800000"/>
          </a:ln>
        </p:spPr>
        <p:txBody>
          <a:bodyPr wrap="none" anchor="ctr">
            <a:spAutoFit/>
          </a:bodyPr>
          <a:lstStyle/>
          <a:p>
            <a:r>
              <a:rPr lang="zh-CN" altLang="en-US" sz="1000">
                <a:solidFill>
                  <a:srgbClr val="000000"/>
                </a:solidFill>
                <a:latin typeface="Times New Roman" panose="02020603050405020304" pitchFamily="18" charset="0"/>
              </a:rPr>
              <a:t> </a:t>
            </a:r>
            <a:endParaRPr lang="zh-CN" altLang="en-US" sz="1800">
              <a:latin typeface="宋体" panose="02010600030101010101" pitchFamily="2" charset="-122"/>
            </a:endParaRPr>
          </a:p>
        </p:txBody>
      </p:sp>
      <p:sp>
        <p:nvSpPr>
          <p:cNvPr id="80900" name="Rectangle 5"/>
          <p:cNvSpPr>
            <a:spLocks noChangeArrowheads="1"/>
          </p:cNvSpPr>
          <p:nvPr/>
        </p:nvSpPr>
        <p:spPr bwMode="auto">
          <a:xfrm>
            <a:off x="0" y="1220788"/>
            <a:ext cx="9144000" cy="0"/>
          </a:xfrm>
          <a:prstGeom prst="rect">
            <a:avLst/>
          </a:prstGeom>
          <a:noFill/>
          <a:ln w="9525">
            <a:noFill/>
            <a:miter lim="800000"/>
          </a:ln>
        </p:spPr>
        <p:txBody>
          <a:bodyPr wrap="none" anchor="ctr">
            <a:spAutoFit/>
          </a:bodyPr>
          <a:lstStyle/>
          <a:p>
            <a:pPr algn="dist">
              <a:spcBef>
                <a:spcPct val="20000"/>
              </a:spcBef>
              <a:buFont typeface="Wingdings" panose="05000000000000000000" pitchFamily="2" charset="2"/>
              <a:buNone/>
            </a:pPr>
            <a:endParaRPr lang="zh-CN" altLang="en-US"/>
          </a:p>
        </p:txBody>
      </p:sp>
      <p:sp>
        <p:nvSpPr>
          <p:cNvPr id="80901" name="Rectangle 6"/>
          <p:cNvSpPr>
            <a:spLocks noChangeArrowheads="1"/>
          </p:cNvSpPr>
          <p:nvPr/>
        </p:nvSpPr>
        <p:spPr bwMode="auto">
          <a:xfrm>
            <a:off x="0" y="3222625"/>
            <a:ext cx="215900" cy="244475"/>
          </a:xfrm>
          <a:prstGeom prst="rect">
            <a:avLst/>
          </a:prstGeom>
          <a:noFill/>
          <a:ln w="9525">
            <a:noFill/>
            <a:miter lim="800000"/>
          </a:ln>
        </p:spPr>
        <p:txBody>
          <a:bodyPr wrap="none" anchor="ctr">
            <a:spAutoFit/>
          </a:bodyPr>
          <a:lstStyle/>
          <a:p>
            <a:r>
              <a:rPr lang="zh-CN" altLang="en-US" sz="1000">
                <a:solidFill>
                  <a:srgbClr val="000000"/>
                </a:solidFill>
                <a:latin typeface="Times New Roman" panose="02020603050405020304" pitchFamily="18" charset="0"/>
              </a:rPr>
              <a:t> </a:t>
            </a:r>
            <a:endParaRPr lang="zh-CN" altLang="en-US" sz="1800">
              <a:latin typeface="宋体" panose="02010600030101010101" pitchFamily="2" charset="-122"/>
            </a:endParaRPr>
          </a:p>
        </p:txBody>
      </p:sp>
      <p:sp>
        <p:nvSpPr>
          <p:cNvPr id="80902" name="标题 1"/>
          <p:cNvSpPr>
            <a:spLocks noChangeArrowheads="1"/>
          </p:cNvSpPr>
          <p:nvPr/>
        </p:nvSpPr>
        <p:spPr bwMode="auto">
          <a:xfrm>
            <a:off x="457200" y="152400"/>
            <a:ext cx="8305800" cy="563563"/>
          </a:xfrm>
          <a:prstGeom prst="rect">
            <a:avLst/>
          </a:prstGeom>
          <a:noFill/>
          <a:ln w="9525">
            <a:noFill/>
            <a:miter lim="800000"/>
          </a:ln>
        </p:spPr>
        <p:txBody>
          <a:bodyPr anchor="ctr"/>
          <a:lstStyle/>
          <a:p>
            <a:pPr algn="ctr"/>
            <a:r>
              <a:rPr lang="zh-CN" altLang="en-US" sz="3200" b="1">
                <a:solidFill>
                  <a:schemeClr val="bg1"/>
                </a:solidFill>
                <a:latin typeface="微软雅黑" panose="020B0503020204020204" charset="-122"/>
                <a:ea typeface="微软雅黑" panose="020B0503020204020204" charset="-122"/>
              </a:rPr>
              <a:t>*</a:t>
            </a:r>
            <a:r>
              <a:rPr lang="en-US" altLang="zh-CN" sz="3200" b="1">
                <a:solidFill>
                  <a:schemeClr val="bg1"/>
                </a:solidFill>
                <a:latin typeface="微软雅黑" panose="020B0503020204020204" charset="-122"/>
                <a:ea typeface="微软雅黑" panose="020B0503020204020204" charset="-122"/>
              </a:rPr>
              <a:t>1.6</a:t>
            </a:r>
            <a:r>
              <a:rPr lang="zh-CN" altLang="en-US" sz="3200" b="1">
                <a:solidFill>
                  <a:schemeClr val="bg1"/>
                </a:solidFill>
                <a:latin typeface="微软雅黑" panose="020B0503020204020204" charset="-122"/>
                <a:ea typeface="微软雅黑" panose="020B0503020204020204" charset="-122"/>
              </a:rPr>
              <a:t>选做实验 配置虚拟局域网</a:t>
            </a:r>
            <a:r>
              <a:rPr lang="en-US" altLang="zh-CN" sz="3200" b="1">
                <a:solidFill>
                  <a:schemeClr val="bg1"/>
                </a:solidFill>
                <a:latin typeface="Verdana" panose="020B0604030504040204" pitchFamily="34" charset="0"/>
              </a:rPr>
              <a:t>VLAN </a:t>
            </a:r>
            <a:endParaRPr lang="zh-CN" altLang="en-US" sz="3200" b="1">
              <a:solidFill>
                <a:schemeClr val="bg1"/>
              </a:solidFill>
              <a:latin typeface="Verdana" panose="020B0604030504040204" pitchFamily="34" charset="0"/>
            </a:endParaRPr>
          </a:p>
        </p:txBody>
      </p:sp>
      <p:sp>
        <p:nvSpPr>
          <p:cNvPr id="80903" name="Rectangle 9"/>
          <p:cNvSpPr>
            <a:spLocks noChangeArrowheads="1"/>
          </p:cNvSpPr>
          <p:nvPr/>
        </p:nvSpPr>
        <p:spPr bwMode="auto">
          <a:xfrm>
            <a:off x="0" y="2487613"/>
            <a:ext cx="9144000" cy="0"/>
          </a:xfrm>
          <a:prstGeom prst="rect">
            <a:avLst/>
          </a:prstGeom>
          <a:noFill/>
          <a:ln w="9525">
            <a:noFill/>
            <a:miter lim="800000"/>
          </a:ln>
        </p:spPr>
        <p:txBody>
          <a:bodyPr wrap="none" anchor="ctr">
            <a:spAutoFit/>
          </a:bodyPr>
          <a:lstStyle/>
          <a:p>
            <a:pPr algn="dist">
              <a:spcBef>
                <a:spcPct val="20000"/>
              </a:spcBef>
              <a:buFont typeface="Wingdings" panose="05000000000000000000" pitchFamily="2" charset="2"/>
              <a:buNone/>
            </a:pPr>
            <a:endParaRPr lang="zh-CN" altLang="en-US"/>
          </a:p>
        </p:txBody>
      </p:sp>
      <p:pic>
        <p:nvPicPr>
          <p:cNvPr id="80904" name="Picture 10" descr="绘图4"/>
          <p:cNvPicPr>
            <a:picLocks noChangeAspect="1" noChangeArrowheads="1"/>
          </p:cNvPicPr>
          <p:nvPr/>
        </p:nvPicPr>
        <p:blipFill>
          <a:blip r:embed="rId1" cstate="print"/>
          <a:srcRect/>
          <a:stretch>
            <a:fillRect/>
          </a:stretch>
        </p:blipFill>
        <p:spPr bwMode="auto">
          <a:xfrm>
            <a:off x="990600" y="2819400"/>
            <a:ext cx="7086600" cy="2654300"/>
          </a:xfrm>
          <a:prstGeom prst="rect">
            <a:avLst/>
          </a:prstGeom>
          <a:noFill/>
          <a:ln w="9525">
            <a:noFill/>
            <a:miter lim="800000"/>
            <a:headEnd/>
            <a:tailEnd/>
          </a:ln>
        </p:spPr>
      </p:pic>
      <p:sp>
        <p:nvSpPr>
          <p:cNvPr id="80905" name="Rectangle 12"/>
          <p:cNvSpPr>
            <a:spLocks noChangeArrowheads="1"/>
          </p:cNvSpPr>
          <p:nvPr/>
        </p:nvSpPr>
        <p:spPr bwMode="auto">
          <a:xfrm>
            <a:off x="2743200" y="5715000"/>
            <a:ext cx="3403600" cy="304800"/>
          </a:xfrm>
          <a:prstGeom prst="rect">
            <a:avLst/>
          </a:prstGeom>
          <a:noFill/>
          <a:ln w="9525">
            <a:noFill/>
            <a:miter lim="800000"/>
          </a:ln>
        </p:spPr>
        <p:txBody>
          <a:bodyPr wrap="none" anchor="ctr">
            <a:spAutoFit/>
          </a:bodyPr>
          <a:lstStyle/>
          <a:p>
            <a:pPr algn="ctr" eaLnBrk="0" hangingPunct="0">
              <a:spcBef>
                <a:spcPct val="20000"/>
              </a:spcBef>
              <a:buFont typeface="Wingdings" panose="05000000000000000000" pitchFamily="2" charset="2"/>
              <a:buNone/>
            </a:pPr>
            <a:r>
              <a:rPr lang="zh-CN" altLang="en-US" sz="1400" b="1">
                <a:latin typeface="Times New Roman" panose="02020603050405020304" pitchFamily="18" charset="0"/>
              </a:rPr>
              <a:t>图</a:t>
            </a:r>
            <a:r>
              <a:rPr lang="en-US" altLang="zh-CN" sz="1400" b="1">
                <a:latin typeface="Calibri" panose="020F0502020204030204" pitchFamily="34" charset="0"/>
              </a:rPr>
              <a:t>1-31</a:t>
            </a:r>
            <a:r>
              <a:rPr lang="zh-CN" altLang="en-US" sz="1400" b="1">
                <a:latin typeface="Times New Roman" panose="02020603050405020304" pitchFamily="18" charset="0"/>
              </a:rPr>
              <a:t>单一交换机上</a:t>
            </a:r>
            <a:r>
              <a:rPr lang="en-US" altLang="zh-CN" sz="1400" b="1">
                <a:latin typeface="Calibri" panose="020F0502020204030204" pitchFamily="34" charset="0"/>
              </a:rPr>
              <a:t>VLAN</a:t>
            </a:r>
            <a:r>
              <a:rPr lang="zh-CN" altLang="en-US" sz="1400" b="1">
                <a:latin typeface="Times New Roman" panose="02020603050405020304" pitchFamily="18" charset="0"/>
              </a:rPr>
              <a:t>配置实现拓扑图</a:t>
            </a:r>
            <a:endParaRPr lang="zh-CN" altLang="en-US" sz="1400" b="1"/>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内容占位符 2"/>
          <p:cNvSpPr>
            <a:spLocks noGrp="1" noChangeArrowheads="1"/>
          </p:cNvSpPr>
          <p:nvPr>
            <p:ph idx="4294967295"/>
          </p:nvPr>
        </p:nvSpPr>
        <p:spPr>
          <a:xfrm>
            <a:off x="381000" y="1143000"/>
            <a:ext cx="8399463" cy="2362200"/>
          </a:xfrm>
        </p:spPr>
        <p:txBody>
          <a:bodyPr/>
          <a:lstStyle/>
          <a:p>
            <a:pPr eaLnBrk="1" hangingPunct="1"/>
            <a:r>
              <a:rPr lang="en-US" altLang="zh-CN" smtClean="0">
                <a:solidFill>
                  <a:srgbClr val="C00000"/>
                </a:solidFill>
              </a:rPr>
              <a:t>2</a:t>
            </a:r>
            <a:r>
              <a:rPr lang="zh-CN" altLang="en-US" smtClean="0">
                <a:solidFill>
                  <a:srgbClr val="C00000"/>
                </a:solidFill>
              </a:rPr>
              <a:t>．跨交换机</a:t>
            </a:r>
            <a:r>
              <a:rPr lang="en-US" altLang="zh-CN" smtClean="0">
                <a:solidFill>
                  <a:srgbClr val="C00000"/>
                </a:solidFill>
              </a:rPr>
              <a:t>VLAN</a:t>
            </a:r>
            <a:r>
              <a:rPr lang="zh-CN" altLang="en-US" smtClean="0">
                <a:solidFill>
                  <a:srgbClr val="C00000"/>
                </a:solidFill>
              </a:rPr>
              <a:t>的配置</a:t>
            </a:r>
            <a:endParaRPr lang="zh-CN" altLang="en-US" smtClean="0">
              <a:solidFill>
                <a:srgbClr val="C00000"/>
              </a:solidFill>
            </a:endParaRPr>
          </a:p>
          <a:p>
            <a:r>
              <a:rPr lang="en-US" altLang="zh-CN" smtClean="0"/>
              <a:t>1</a:t>
            </a:r>
            <a:r>
              <a:rPr lang="zh-CN" altLang="en-US" smtClean="0"/>
              <a:t>）实现拓扑图如图</a:t>
            </a:r>
            <a:r>
              <a:rPr lang="en-US" altLang="zh-CN" smtClean="0"/>
              <a:t>1-32</a:t>
            </a:r>
            <a:r>
              <a:rPr lang="zh-CN" altLang="en-US" smtClean="0"/>
              <a:t>所示，三组交换机使用交叉线互联后，配置</a:t>
            </a:r>
            <a:r>
              <a:rPr lang="en-US" altLang="zh-CN" smtClean="0"/>
              <a:t>Trunk</a:t>
            </a:r>
            <a:r>
              <a:rPr lang="zh-CN" altLang="en-US" smtClean="0"/>
              <a:t>链路。</a:t>
            </a:r>
            <a:endParaRPr lang="zh-CN" altLang="en-US" smtClean="0"/>
          </a:p>
          <a:p>
            <a:r>
              <a:rPr lang="en-US" altLang="zh-CN" smtClean="0"/>
              <a:t>2</a:t>
            </a:r>
            <a:r>
              <a:rPr lang="zh-CN" altLang="en-US" smtClean="0"/>
              <a:t>）测试相同</a:t>
            </a:r>
            <a:r>
              <a:rPr lang="en-US" altLang="zh-CN" smtClean="0"/>
              <a:t>VLAN</a:t>
            </a:r>
            <a:r>
              <a:rPr lang="zh-CN" altLang="en-US" smtClean="0"/>
              <a:t>主机间的连通性，并测试不同</a:t>
            </a:r>
            <a:r>
              <a:rPr lang="en-US" altLang="zh-CN" smtClean="0"/>
              <a:t>VLAN</a:t>
            </a:r>
            <a:r>
              <a:rPr lang="zh-CN" altLang="en-US" smtClean="0"/>
              <a:t>间的主机的连通性，分别记录测试结果。</a:t>
            </a:r>
            <a:endParaRPr lang="zh-CN" altLang="en-US" smtClean="0"/>
          </a:p>
          <a:p>
            <a:r>
              <a:rPr lang="en-US" altLang="zh-CN" smtClean="0"/>
              <a:t>3</a:t>
            </a:r>
            <a:r>
              <a:rPr lang="zh-CN" altLang="en-US" smtClean="0"/>
              <a:t>）删除建立的</a:t>
            </a:r>
            <a:r>
              <a:rPr lang="en-US" altLang="zh-CN" smtClean="0"/>
              <a:t>VLAN</a:t>
            </a:r>
            <a:r>
              <a:rPr lang="zh-CN" altLang="en-US" smtClean="0"/>
              <a:t>和端口</a:t>
            </a:r>
            <a:r>
              <a:rPr lang="en-US" altLang="zh-CN" smtClean="0"/>
              <a:t>VLAN</a:t>
            </a:r>
            <a:r>
              <a:rPr lang="zh-CN" altLang="en-US" smtClean="0"/>
              <a:t>划分，恢复设备配置原状。</a:t>
            </a:r>
            <a:endParaRPr lang="zh-CN" altLang="en-US" smtClean="0"/>
          </a:p>
        </p:txBody>
      </p:sp>
      <p:sp>
        <p:nvSpPr>
          <p:cNvPr id="81922" name="Rectangle 3"/>
          <p:cNvSpPr>
            <a:spLocks noChangeArrowheads="1"/>
          </p:cNvSpPr>
          <p:nvPr/>
        </p:nvSpPr>
        <p:spPr bwMode="auto">
          <a:xfrm>
            <a:off x="0" y="1146175"/>
            <a:ext cx="9144000" cy="0"/>
          </a:xfrm>
          <a:prstGeom prst="rect">
            <a:avLst/>
          </a:prstGeom>
          <a:noFill/>
          <a:ln w="9525">
            <a:noFill/>
            <a:miter lim="800000"/>
          </a:ln>
        </p:spPr>
        <p:txBody>
          <a:bodyPr wrap="none" anchor="ctr">
            <a:spAutoFit/>
          </a:bodyPr>
          <a:lstStyle/>
          <a:p>
            <a:pPr algn="dist">
              <a:spcBef>
                <a:spcPct val="20000"/>
              </a:spcBef>
              <a:buFont typeface="Wingdings" panose="05000000000000000000" pitchFamily="2" charset="2"/>
              <a:buNone/>
            </a:pPr>
            <a:endParaRPr lang="zh-CN" altLang="en-US"/>
          </a:p>
        </p:txBody>
      </p:sp>
      <p:sp>
        <p:nvSpPr>
          <p:cNvPr id="81923" name="Rectangle 4"/>
          <p:cNvSpPr>
            <a:spLocks noChangeArrowheads="1"/>
          </p:cNvSpPr>
          <p:nvPr/>
        </p:nvSpPr>
        <p:spPr bwMode="auto">
          <a:xfrm>
            <a:off x="0" y="3184525"/>
            <a:ext cx="215900" cy="244475"/>
          </a:xfrm>
          <a:prstGeom prst="rect">
            <a:avLst/>
          </a:prstGeom>
          <a:noFill/>
          <a:ln w="9525">
            <a:noFill/>
            <a:miter lim="800000"/>
          </a:ln>
        </p:spPr>
        <p:txBody>
          <a:bodyPr wrap="none" anchor="ctr">
            <a:spAutoFit/>
          </a:bodyPr>
          <a:lstStyle/>
          <a:p>
            <a:r>
              <a:rPr lang="zh-CN" altLang="en-US" sz="1000">
                <a:solidFill>
                  <a:srgbClr val="000000"/>
                </a:solidFill>
                <a:latin typeface="Times New Roman" panose="02020603050405020304" pitchFamily="18" charset="0"/>
              </a:rPr>
              <a:t> </a:t>
            </a:r>
            <a:endParaRPr lang="zh-CN" altLang="en-US" sz="1800">
              <a:latin typeface="宋体" panose="02010600030101010101" pitchFamily="2" charset="-122"/>
            </a:endParaRPr>
          </a:p>
        </p:txBody>
      </p:sp>
      <p:sp>
        <p:nvSpPr>
          <p:cNvPr id="81924" name="Rectangle 5"/>
          <p:cNvSpPr>
            <a:spLocks noChangeArrowheads="1"/>
          </p:cNvSpPr>
          <p:nvPr/>
        </p:nvSpPr>
        <p:spPr bwMode="auto">
          <a:xfrm>
            <a:off x="0" y="1220788"/>
            <a:ext cx="9144000" cy="0"/>
          </a:xfrm>
          <a:prstGeom prst="rect">
            <a:avLst/>
          </a:prstGeom>
          <a:noFill/>
          <a:ln w="9525">
            <a:noFill/>
            <a:miter lim="800000"/>
          </a:ln>
        </p:spPr>
        <p:txBody>
          <a:bodyPr wrap="none" anchor="ctr">
            <a:spAutoFit/>
          </a:bodyPr>
          <a:lstStyle/>
          <a:p>
            <a:pPr algn="dist">
              <a:spcBef>
                <a:spcPct val="20000"/>
              </a:spcBef>
              <a:buFont typeface="Wingdings" panose="05000000000000000000" pitchFamily="2" charset="2"/>
              <a:buNone/>
            </a:pPr>
            <a:endParaRPr lang="zh-CN" altLang="en-US"/>
          </a:p>
        </p:txBody>
      </p:sp>
      <p:sp>
        <p:nvSpPr>
          <p:cNvPr id="81925" name="Rectangle 6"/>
          <p:cNvSpPr>
            <a:spLocks noChangeArrowheads="1"/>
          </p:cNvSpPr>
          <p:nvPr/>
        </p:nvSpPr>
        <p:spPr bwMode="auto">
          <a:xfrm>
            <a:off x="0" y="3222625"/>
            <a:ext cx="215900" cy="244475"/>
          </a:xfrm>
          <a:prstGeom prst="rect">
            <a:avLst/>
          </a:prstGeom>
          <a:noFill/>
          <a:ln w="9525">
            <a:noFill/>
            <a:miter lim="800000"/>
          </a:ln>
        </p:spPr>
        <p:txBody>
          <a:bodyPr wrap="none" anchor="ctr">
            <a:spAutoFit/>
          </a:bodyPr>
          <a:lstStyle/>
          <a:p>
            <a:r>
              <a:rPr lang="zh-CN" altLang="en-US" sz="1000">
                <a:solidFill>
                  <a:srgbClr val="000000"/>
                </a:solidFill>
                <a:latin typeface="Times New Roman" panose="02020603050405020304" pitchFamily="18" charset="0"/>
              </a:rPr>
              <a:t> </a:t>
            </a:r>
            <a:endParaRPr lang="zh-CN" altLang="en-US" sz="1800">
              <a:latin typeface="宋体" panose="02010600030101010101" pitchFamily="2" charset="-122"/>
            </a:endParaRPr>
          </a:p>
        </p:txBody>
      </p:sp>
      <p:sp>
        <p:nvSpPr>
          <p:cNvPr id="81926" name="标题 1"/>
          <p:cNvSpPr>
            <a:spLocks noChangeArrowheads="1"/>
          </p:cNvSpPr>
          <p:nvPr/>
        </p:nvSpPr>
        <p:spPr bwMode="auto">
          <a:xfrm>
            <a:off x="457200" y="152400"/>
            <a:ext cx="8305800" cy="563563"/>
          </a:xfrm>
          <a:prstGeom prst="rect">
            <a:avLst/>
          </a:prstGeom>
          <a:noFill/>
          <a:ln w="9525">
            <a:noFill/>
            <a:miter lim="800000"/>
          </a:ln>
        </p:spPr>
        <p:txBody>
          <a:bodyPr anchor="ctr"/>
          <a:lstStyle/>
          <a:p>
            <a:pPr algn="ctr"/>
            <a:r>
              <a:rPr lang="zh-CN" altLang="en-US" sz="3200" b="1">
                <a:solidFill>
                  <a:schemeClr val="bg1"/>
                </a:solidFill>
                <a:latin typeface="微软雅黑" panose="020B0503020204020204" charset="-122"/>
                <a:ea typeface="微软雅黑" panose="020B0503020204020204" charset="-122"/>
              </a:rPr>
              <a:t>*</a:t>
            </a:r>
            <a:r>
              <a:rPr lang="en-US" altLang="zh-CN" sz="3200" b="1">
                <a:solidFill>
                  <a:schemeClr val="bg1"/>
                </a:solidFill>
                <a:latin typeface="微软雅黑" panose="020B0503020204020204" charset="-122"/>
                <a:ea typeface="微软雅黑" panose="020B0503020204020204" charset="-122"/>
              </a:rPr>
              <a:t>1.6</a:t>
            </a:r>
            <a:r>
              <a:rPr lang="zh-CN" altLang="en-US" sz="3200" b="1">
                <a:solidFill>
                  <a:schemeClr val="bg1"/>
                </a:solidFill>
                <a:latin typeface="微软雅黑" panose="020B0503020204020204" charset="-122"/>
                <a:ea typeface="微软雅黑" panose="020B0503020204020204" charset="-122"/>
              </a:rPr>
              <a:t>选做实验 配置虚拟局域网</a:t>
            </a:r>
            <a:r>
              <a:rPr lang="en-US" altLang="zh-CN" sz="3200" b="1">
                <a:solidFill>
                  <a:schemeClr val="bg1"/>
                </a:solidFill>
                <a:latin typeface="Verdana" panose="020B0604030504040204" pitchFamily="34" charset="0"/>
              </a:rPr>
              <a:t>VLAN </a:t>
            </a:r>
            <a:endParaRPr lang="zh-CN" altLang="en-US" sz="3200" b="1">
              <a:solidFill>
                <a:schemeClr val="bg1"/>
              </a:solidFill>
              <a:latin typeface="Verdana" panose="020B0604030504040204" pitchFamily="34" charset="0"/>
            </a:endParaRPr>
          </a:p>
        </p:txBody>
      </p:sp>
      <p:sp>
        <p:nvSpPr>
          <p:cNvPr id="81927" name="Rectangle 11"/>
          <p:cNvSpPr>
            <a:spLocks noChangeArrowheads="1"/>
          </p:cNvSpPr>
          <p:nvPr/>
        </p:nvSpPr>
        <p:spPr bwMode="auto">
          <a:xfrm>
            <a:off x="0" y="2590800"/>
            <a:ext cx="9144000" cy="0"/>
          </a:xfrm>
          <a:prstGeom prst="rect">
            <a:avLst/>
          </a:prstGeom>
          <a:noFill/>
          <a:ln w="9525">
            <a:noFill/>
            <a:miter lim="800000"/>
          </a:ln>
        </p:spPr>
        <p:txBody>
          <a:bodyPr wrap="none" anchor="ctr">
            <a:spAutoFit/>
          </a:bodyPr>
          <a:lstStyle/>
          <a:p>
            <a:pPr algn="dist">
              <a:spcBef>
                <a:spcPct val="20000"/>
              </a:spcBef>
              <a:buFont typeface="Wingdings" panose="05000000000000000000" pitchFamily="2" charset="2"/>
              <a:buNone/>
            </a:pPr>
            <a:endParaRPr lang="zh-CN" altLang="en-US"/>
          </a:p>
        </p:txBody>
      </p:sp>
      <p:pic>
        <p:nvPicPr>
          <p:cNvPr id="81928" name="Picture 10" descr="跨交换机"/>
          <p:cNvPicPr>
            <a:picLocks noChangeAspect="1" noChangeArrowheads="1"/>
          </p:cNvPicPr>
          <p:nvPr/>
        </p:nvPicPr>
        <p:blipFill>
          <a:blip r:embed="rId1" cstate="print"/>
          <a:srcRect/>
          <a:stretch>
            <a:fillRect/>
          </a:stretch>
        </p:blipFill>
        <p:spPr bwMode="auto">
          <a:xfrm>
            <a:off x="1371600" y="3657600"/>
            <a:ext cx="6629400" cy="2362200"/>
          </a:xfrm>
          <a:prstGeom prst="rect">
            <a:avLst/>
          </a:prstGeom>
          <a:noFill/>
          <a:ln w="9525">
            <a:noFill/>
            <a:miter lim="800000"/>
            <a:headEnd/>
            <a:tailEnd/>
          </a:ln>
        </p:spPr>
      </p:pic>
      <p:sp>
        <p:nvSpPr>
          <p:cNvPr id="81929" name="Rectangle 12"/>
          <p:cNvSpPr>
            <a:spLocks noChangeArrowheads="1"/>
          </p:cNvSpPr>
          <p:nvPr/>
        </p:nvSpPr>
        <p:spPr bwMode="auto">
          <a:xfrm>
            <a:off x="2819400" y="6172200"/>
            <a:ext cx="3421063" cy="304800"/>
          </a:xfrm>
          <a:prstGeom prst="rect">
            <a:avLst/>
          </a:prstGeom>
          <a:noFill/>
          <a:ln w="9525">
            <a:noFill/>
            <a:miter lim="800000"/>
          </a:ln>
        </p:spPr>
        <p:txBody>
          <a:bodyPr wrap="none" anchor="ctr">
            <a:spAutoFit/>
          </a:bodyPr>
          <a:lstStyle/>
          <a:p>
            <a:pPr algn="ctr" eaLnBrk="0" hangingPunct="0">
              <a:spcBef>
                <a:spcPct val="20000"/>
              </a:spcBef>
              <a:buFont typeface="Wingdings" panose="05000000000000000000" pitchFamily="2" charset="2"/>
              <a:buNone/>
            </a:pPr>
            <a:r>
              <a:rPr lang="zh-CN" altLang="en-US" sz="1400" b="1">
                <a:latin typeface="Times New Roman" panose="02020603050405020304" pitchFamily="18" charset="0"/>
              </a:rPr>
              <a:t>图</a:t>
            </a:r>
            <a:r>
              <a:rPr lang="en-US" altLang="zh-CN" sz="1400" b="1">
                <a:latin typeface="Calibri" panose="020F0502020204030204" pitchFamily="34" charset="0"/>
              </a:rPr>
              <a:t>1-32</a:t>
            </a:r>
            <a:r>
              <a:rPr lang="zh-CN" altLang="en-US" sz="1400" b="1">
                <a:latin typeface="Times New Roman" panose="02020603050405020304" pitchFamily="18" charset="0"/>
              </a:rPr>
              <a:t>跨交换机</a:t>
            </a:r>
            <a:r>
              <a:rPr lang="en-US" altLang="zh-CN" sz="1400" b="1">
                <a:latin typeface="Calibri" panose="020F0502020204030204" pitchFamily="34" charset="0"/>
              </a:rPr>
              <a:t>VLAN</a:t>
            </a:r>
            <a:r>
              <a:rPr lang="zh-CN" altLang="en-US" sz="1400" b="1">
                <a:latin typeface="Times New Roman" panose="02020603050405020304" pitchFamily="18" charset="0"/>
              </a:rPr>
              <a:t>的配置实现拓扑图</a:t>
            </a:r>
            <a:endParaRPr lang="zh-CN" altLang="en-US" sz="1400" b="1"/>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内容占位符 2"/>
          <p:cNvSpPr>
            <a:spLocks noGrp="1" noChangeArrowheads="1"/>
          </p:cNvSpPr>
          <p:nvPr>
            <p:ph idx="4294967295"/>
          </p:nvPr>
        </p:nvSpPr>
        <p:spPr>
          <a:xfrm>
            <a:off x="381000" y="1143000"/>
            <a:ext cx="8382000" cy="2209800"/>
          </a:xfrm>
        </p:spPr>
        <p:txBody>
          <a:bodyPr/>
          <a:lstStyle/>
          <a:p>
            <a:r>
              <a:rPr lang="en-US" altLang="zh-CN" sz="2600" smtClean="0">
                <a:solidFill>
                  <a:srgbClr val="C00000"/>
                </a:solidFill>
              </a:rPr>
              <a:t>1.6.4 </a:t>
            </a:r>
            <a:r>
              <a:rPr lang="zh-CN" altLang="en-US" sz="2600" smtClean="0">
                <a:solidFill>
                  <a:srgbClr val="C00000"/>
                </a:solidFill>
              </a:rPr>
              <a:t>实验步骤</a:t>
            </a:r>
            <a:endParaRPr lang="zh-CN" altLang="en-US" sz="2600" smtClean="0">
              <a:solidFill>
                <a:srgbClr val="C00000"/>
              </a:solidFill>
            </a:endParaRPr>
          </a:p>
          <a:p>
            <a:r>
              <a:rPr lang="zh-CN" altLang="en-US" smtClean="0"/>
              <a:t>主要介绍单一交换机上</a:t>
            </a:r>
            <a:r>
              <a:rPr lang="en-US" altLang="zh-CN" smtClean="0"/>
              <a:t>VLAN</a:t>
            </a:r>
            <a:r>
              <a:rPr lang="zh-CN" altLang="en-US" smtClean="0"/>
              <a:t>的配置操作：</a:t>
            </a:r>
            <a:endParaRPr lang="zh-CN" altLang="en-US" smtClean="0"/>
          </a:p>
          <a:p>
            <a:r>
              <a:rPr lang="en-US" altLang="zh-CN" smtClean="0">
                <a:solidFill>
                  <a:srgbClr val="CC0000"/>
                </a:solidFill>
              </a:rPr>
              <a:t>1.</a:t>
            </a:r>
            <a:r>
              <a:rPr lang="zh-CN" altLang="en-US" smtClean="0">
                <a:solidFill>
                  <a:srgbClr val="CC0000"/>
                </a:solidFill>
              </a:rPr>
              <a:t>测试两台电脑连通性</a:t>
            </a:r>
            <a:endParaRPr lang="zh-CN" altLang="en-US" smtClean="0">
              <a:solidFill>
                <a:srgbClr val="CC0000"/>
              </a:solidFill>
            </a:endParaRPr>
          </a:p>
          <a:p>
            <a:r>
              <a:rPr lang="zh-CN" altLang="en-US" smtClean="0"/>
              <a:t>在</a:t>
            </a:r>
            <a:r>
              <a:rPr lang="en-US" altLang="zh-CN" smtClean="0"/>
              <a:t>windows</a:t>
            </a:r>
            <a:r>
              <a:rPr lang="zh-CN" altLang="en-US" smtClean="0"/>
              <a:t>里点击开始，输入</a:t>
            </a:r>
            <a:r>
              <a:rPr lang="en-US" altLang="zh-CN" smtClean="0"/>
              <a:t>cmd</a:t>
            </a:r>
            <a:r>
              <a:rPr lang="zh-CN" altLang="en-US" smtClean="0"/>
              <a:t>进入命令提示符界面，如图</a:t>
            </a:r>
            <a:r>
              <a:rPr lang="en-US" altLang="zh-CN" smtClean="0"/>
              <a:t>1-33</a:t>
            </a:r>
            <a:r>
              <a:rPr lang="zh-CN" altLang="en-US" smtClean="0"/>
              <a:t>所示。</a:t>
            </a:r>
            <a:endParaRPr lang="zh-CN" altLang="en-US" smtClean="0"/>
          </a:p>
        </p:txBody>
      </p:sp>
      <p:sp>
        <p:nvSpPr>
          <p:cNvPr id="82946" name="Rectangle 3"/>
          <p:cNvSpPr>
            <a:spLocks noChangeArrowheads="1"/>
          </p:cNvSpPr>
          <p:nvPr/>
        </p:nvSpPr>
        <p:spPr bwMode="auto">
          <a:xfrm>
            <a:off x="0" y="1146175"/>
            <a:ext cx="9144000" cy="0"/>
          </a:xfrm>
          <a:prstGeom prst="rect">
            <a:avLst/>
          </a:prstGeom>
          <a:noFill/>
          <a:ln w="9525">
            <a:noFill/>
            <a:miter lim="800000"/>
          </a:ln>
        </p:spPr>
        <p:txBody>
          <a:bodyPr wrap="none" anchor="ctr">
            <a:spAutoFit/>
          </a:bodyPr>
          <a:lstStyle/>
          <a:p>
            <a:pPr algn="dist">
              <a:spcBef>
                <a:spcPct val="20000"/>
              </a:spcBef>
              <a:buFont typeface="Wingdings" panose="05000000000000000000" pitchFamily="2" charset="2"/>
              <a:buNone/>
            </a:pPr>
            <a:endParaRPr lang="zh-CN" altLang="en-US"/>
          </a:p>
        </p:txBody>
      </p:sp>
      <p:sp>
        <p:nvSpPr>
          <p:cNvPr id="82947" name="Rectangle 4"/>
          <p:cNvSpPr>
            <a:spLocks noChangeArrowheads="1"/>
          </p:cNvSpPr>
          <p:nvPr/>
        </p:nvSpPr>
        <p:spPr bwMode="auto">
          <a:xfrm>
            <a:off x="0" y="3184525"/>
            <a:ext cx="215900" cy="244475"/>
          </a:xfrm>
          <a:prstGeom prst="rect">
            <a:avLst/>
          </a:prstGeom>
          <a:noFill/>
          <a:ln w="9525">
            <a:noFill/>
            <a:miter lim="800000"/>
          </a:ln>
        </p:spPr>
        <p:txBody>
          <a:bodyPr wrap="none" anchor="ctr">
            <a:spAutoFit/>
          </a:bodyPr>
          <a:lstStyle/>
          <a:p>
            <a:r>
              <a:rPr lang="zh-CN" altLang="en-US" sz="1000">
                <a:solidFill>
                  <a:srgbClr val="000000"/>
                </a:solidFill>
                <a:latin typeface="Times New Roman" panose="02020603050405020304" pitchFamily="18" charset="0"/>
              </a:rPr>
              <a:t> </a:t>
            </a:r>
            <a:endParaRPr lang="zh-CN" altLang="en-US" sz="1800">
              <a:latin typeface="宋体" panose="02010600030101010101" pitchFamily="2" charset="-122"/>
            </a:endParaRPr>
          </a:p>
        </p:txBody>
      </p:sp>
      <p:sp>
        <p:nvSpPr>
          <p:cNvPr id="82948" name="Rectangle 5"/>
          <p:cNvSpPr>
            <a:spLocks noChangeArrowheads="1"/>
          </p:cNvSpPr>
          <p:nvPr/>
        </p:nvSpPr>
        <p:spPr bwMode="auto">
          <a:xfrm>
            <a:off x="0" y="1220788"/>
            <a:ext cx="9144000" cy="0"/>
          </a:xfrm>
          <a:prstGeom prst="rect">
            <a:avLst/>
          </a:prstGeom>
          <a:noFill/>
          <a:ln w="9525">
            <a:noFill/>
            <a:miter lim="800000"/>
          </a:ln>
        </p:spPr>
        <p:txBody>
          <a:bodyPr wrap="none" anchor="ctr">
            <a:spAutoFit/>
          </a:bodyPr>
          <a:lstStyle/>
          <a:p>
            <a:pPr algn="dist">
              <a:spcBef>
                <a:spcPct val="20000"/>
              </a:spcBef>
              <a:buFont typeface="Wingdings" panose="05000000000000000000" pitchFamily="2" charset="2"/>
              <a:buNone/>
            </a:pPr>
            <a:endParaRPr lang="zh-CN" altLang="en-US"/>
          </a:p>
        </p:txBody>
      </p:sp>
      <p:sp>
        <p:nvSpPr>
          <p:cNvPr id="82949" name="Rectangle 6"/>
          <p:cNvSpPr>
            <a:spLocks noChangeArrowheads="1"/>
          </p:cNvSpPr>
          <p:nvPr/>
        </p:nvSpPr>
        <p:spPr bwMode="auto">
          <a:xfrm>
            <a:off x="0" y="3222625"/>
            <a:ext cx="215900" cy="244475"/>
          </a:xfrm>
          <a:prstGeom prst="rect">
            <a:avLst/>
          </a:prstGeom>
          <a:noFill/>
          <a:ln w="9525">
            <a:noFill/>
            <a:miter lim="800000"/>
          </a:ln>
        </p:spPr>
        <p:txBody>
          <a:bodyPr wrap="none" anchor="ctr">
            <a:spAutoFit/>
          </a:bodyPr>
          <a:lstStyle/>
          <a:p>
            <a:r>
              <a:rPr lang="zh-CN" altLang="en-US" sz="1000">
                <a:solidFill>
                  <a:srgbClr val="000000"/>
                </a:solidFill>
                <a:latin typeface="Times New Roman" panose="02020603050405020304" pitchFamily="18" charset="0"/>
              </a:rPr>
              <a:t> </a:t>
            </a:r>
            <a:endParaRPr lang="zh-CN" altLang="en-US" sz="1800">
              <a:latin typeface="宋体" panose="02010600030101010101" pitchFamily="2" charset="-122"/>
            </a:endParaRPr>
          </a:p>
        </p:txBody>
      </p:sp>
      <p:sp>
        <p:nvSpPr>
          <p:cNvPr id="82950" name="标题 1"/>
          <p:cNvSpPr>
            <a:spLocks noChangeArrowheads="1"/>
          </p:cNvSpPr>
          <p:nvPr/>
        </p:nvSpPr>
        <p:spPr bwMode="auto">
          <a:xfrm>
            <a:off x="457200" y="152400"/>
            <a:ext cx="8305800" cy="563563"/>
          </a:xfrm>
          <a:prstGeom prst="rect">
            <a:avLst/>
          </a:prstGeom>
          <a:noFill/>
          <a:ln w="9525">
            <a:noFill/>
            <a:miter lim="800000"/>
          </a:ln>
        </p:spPr>
        <p:txBody>
          <a:bodyPr anchor="ctr"/>
          <a:lstStyle/>
          <a:p>
            <a:pPr algn="ctr"/>
            <a:r>
              <a:rPr lang="zh-CN" altLang="en-US" sz="3200" b="1">
                <a:solidFill>
                  <a:schemeClr val="bg1"/>
                </a:solidFill>
                <a:latin typeface="微软雅黑" panose="020B0503020204020204" charset="-122"/>
                <a:ea typeface="微软雅黑" panose="020B0503020204020204" charset="-122"/>
              </a:rPr>
              <a:t>*</a:t>
            </a:r>
            <a:r>
              <a:rPr lang="en-US" altLang="zh-CN" sz="3200" b="1">
                <a:solidFill>
                  <a:schemeClr val="bg1"/>
                </a:solidFill>
                <a:latin typeface="微软雅黑" panose="020B0503020204020204" charset="-122"/>
                <a:ea typeface="微软雅黑" panose="020B0503020204020204" charset="-122"/>
              </a:rPr>
              <a:t>1.6</a:t>
            </a:r>
            <a:r>
              <a:rPr lang="zh-CN" altLang="en-US" sz="3200" b="1">
                <a:solidFill>
                  <a:schemeClr val="bg1"/>
                </a:solidFill>
                <a:latin typeface="微软雅黑" panose="020B0503020204020204" charset="-122"/>
                <a:ea typeface="微软雅黑" panose="020B0503020204020204" charset="-122"/>
              </a:rPr>
              <a:t>选做实验 配置虚拟局域网</a:t>
            </a:r>
            <a:r>
              <a:rPr lang="en-US" altLang="zh-CN" sz="3200" b="1">
                <a:solidFill>
                  <a:schemeClr val="bg1"/>
                </a:solidFill>
                <a:latin typeface="Verdana" panose="020B0604030504040204" pitchFamily="34" charset="0"/>
              </a:rPr>
              <a:t>VLAN </a:t>
            </a:r>
            <a:endParaRPr lang="zh-CN" altLang="en-US" sz="3200" b="1">
              <a:solidFill>
                <a:schemeClr val="bg1"/>
              </a:solidFill>
              <a:latin typeface="Verdana" panose="020B0604030504040204" pitchFamily="34" charset="0"/>
            </a:endParaRPr>
          </a:p>
        </p:txBody>
      </p:sp>
      <p:pic>
        <p:nvPicPr>
          <p:cNvPr id="82951" name="Picture 8" descr="MC900436992[1]"/>
          <p:cNvPicPr>
            <a:picLocks noChangeAspect="1" noChangeArrowheads="1"/>
          </p:cNvPicPr>
          <p:nvPr/>
        </p:nvPicPr>
        <p:blipFill>
          <a:blip r:embed="rId1" cstate="print"/>
          <a:srcRect/>
          <a:stretch>
            <a:fillRect/>
          </a:stretch>
        </p:blipFill>
        <p:spPr bwMode="auto">
          <a:xfrm>
            <a:off x="6477000" y="1219200"/>
            <a:ext cx="1930400" cy="1219200"/>
          </a:xfrm>
          <a:prstGeom prst="rect">
            <a:avLst/>
          </a:prstGeom>
          <a:noFill/>
          <a:ln w="9525">
            <a:noFill/>
            <a:miter lim="800000"/>
            <a:headEnd/>
            <a:tailEnd/>
          </a:ln>
        </p:spPr>
      </p:pic>
      <p:sp>
        <p:nvSpPr>
          <p:cNvPr id="82952" name="Rectangle 9"/>
          <p:cNvSpPr>
            <a:spLocks noChangeArrowheads="1"/>
          </p:cNvSpPr>
          <p:nvPr/>
        </p:nvSpPr>
        <p:spPr bwMode="auto">
          <a:xfrm>
            <a:off x="0" y="2487613"/>
            <a:ext cx="9144000" cy="0"/>
          </a:xfrm>
          <a:prstGeom prst="rect">
            <a:avLst/>
          </a:prstGeom>
          <a:noFill/>
          <a:ln w="9525">
            <a:noFill/>
            <a:miter lim="800000"/>
          </a:ln>
        </p:spPr>
        <p:txBody>
          <a:bodyPr wrap="none" anchor="ctr">
            <a:spAutoFit/>
          </a:bodyPr>
          <a:lstStyle/>
          <a:p>
            <a:pPr algn="dist">
              <a:spcBef>
                <a:spcPct val="20000"/>
              </a:spcBef>
              <a:buFont typeface="Wingdings" panose="05000000000000000000" pitchFamily="2" charset="2"/>
              <a:buNone/>
            </a:pPr>
            <a:endParaRPr lang="zh-CN" altLang="en-US"/>
          </a:p>
        </p:txBody>
      </p:sp>
      <p:sp>
        <p:nvSpPr>
          <p:cNvPr id="82953" name="Rectangle 11"/>
          <p:cNvSpPr>
            <a:spLocks noChangeArrowheads="1"/>
          </p:cNvSpPr>
          <p:nvPr/>
        </p:nvSpPr>
        <p:spPr bwMode="auto">
          <a:xfrm>
            <a:off x="0" y="2119313"/>
            <a:ext cx="9144000" cy="0"/>
          </a:xfrm>
          <a:prstGeom prst="rect">
            <a:avLst/>
          </a:prstGeom>
          <a:noFill/>
          <a:ln w="9525">
            <a:noFill/>
            <a:miter lim="800000"/>
          </a:ln>
        </p:spPr>
        <p:txBody>
          <a:bodyPr wrap="none" anchor="ctr">
            <a:spAutoFit/>
          </a:bodyPr>
          <a:lstStyle/>
          <a:p>
            <a:pPr algn="dist">
              <a:spcBef>
                <a:spcPct val="20000"/>
              </a:spcBef>
              <a:buFont typeface="Wingdings" panose="05000000000000000000" pitchFamily="2" charset="2"/>
              <a:buNone/>
            </a:pPr>
            <a:endParaRPr lang="zh-CN" altLang="en-US"/>
          </a:p>
        </p:txBody>
      </p:sp>
      <p:pic>
        <p:nvPicPr>
          <p:cNvPr id="82954" name="Picture 10"/>
          <p:cNvPicPr>
            <a:picLocks noChangeAspect="1" noChangeArrowheads="1"/>
          </p:cNvPicPr>
          <p:nvPr/>
        </p:nvPicPr>
        <p:blipFill>
          <a:blip r:embed="rId2" cstate="print"/>
          <a:srcRect/>
          <a:stretch>
            <a:fillRect/>
          </a:stretch>
        </p:blipFill>
        <p:spPr bwMode="auto">
          <a:xfrm>
            <a:off x="1981200" y="2971800"/>
            <a:ext cx="5181600" cy="3375025"/>
          </a:xfrm>
          <a:prstGeom prst="rect">
            <a:avLst/>
          </a:prstGeom>
          <a:noFill/>
          <a:ln w="9525">
            <a:noFill/>
            <a:miter lim="800000"/>
            <a:headEnd/>
            <a:tailEnd/>
          </a:ln>
        </p:spPr>
      </p:pic>
      <p:sp>
        <p:nvSpPr>
          <p:cNvPr id="82955" name="Rectangle 12"/>
          <p:cNvSpPr>
            <a:spLocks noChangeArrowheads="1"/>
          </p:cNvSpPr>
          <p:nvPr/>
        </p:nvSpPr>
        <p:spPr bwMode="auto">
          <a:xfrm>
            <a:off x="2973388" y="6438900"/>
            <a:ext cx="3530600" cy="304800"/>
          </a:xfrm>
          <a:prstGeom prst="rect">
            <a:avLst/>
          </a:prstGeom>
          <a:noFill/>
          <a:ln w="9525">
            <a:noFill/>
            <a:miter lim="800000"/>
          </a:ln>
        </p:spPr>
        <p:txBody>
          <a:bodyPr wrap="none" anchor="ctr">
            <a:spAutoFit/>
          </a:bodyPr>
          <a:lstStyle/>
          <a:p>
            <a:pPr indent="5080" algn="ctr" eaLnBrk="0" hangingPunct="0">
              <a:spcBef>
                <a:spcPct val="20000"/>
              </a:spcBef>
              <a:buFont typeface="Wingdings" panose="05000000000000000000" pitchFamily="2" charset="2"/>
              <a:buNone/>
            </a:pPr>
            <a:r>
              <a:rPr lang="zh-CN" altLang="en-US" sz="1400" b="1">
                <a:latin typeface="Times New Roman" panose="02020603050405020304" pitchFamily="18" charset="0"/>
              </a:rPr>
              <a:t>图</a:t>
            </a:r>
            <a:r>
              <a:rPr lang="en-US" altLang="zh-CN" sz="1400" b="1">
                <a:latin typeface="Times New Roman" panose="02020603050405020304" pitchFamily="18" charset="0"/>
              </a:rPr>
              <a:t>1-33 </a:t>
            </a:r>
            <a:r>
              <a:rPr lang="zh-CN" altLang="en-US" sz="1400" b="1">
                <a:latin typeface="Times New Roman" panose="02020603050405020304" pitchFamily="18" charset="0"/>
              </a:rPr>
              <a:t>输入</a:t>
            </a:r>
            <a:r>
              <a:rPr lang="en-US" altLang="zh-CN" sz="1400" b="1">
                <a:latin typeface="Times New Roman" panose="02020603050405020304" pitchFamily="18" charset="0"/>
              </a:rPr>
              <a:t>cmd</a:t>
            </a:r>
            <a:r>
              <a:rPr lang="zh-CN" altLang="en-US" sz="1400" b="1">
                <a:latin typeface="Times New Roman" panose="02020603050405020304" pitchFamily="18" charset="0"/>
              </a:rPr>
              <a:t>进入提示符的</a:t>
            </a:r>
            <a:r>
              <a:rPr lang="en-US" altLang="zh-CN" sz="1400" b="1">
                <a:latin typeface="Times New Roman" panose="02020603050405020304" pitchFamily="18" charset="0"/>
              </a:rPr>
              <a:t>ping</a:t>
            </a:r>
            <a:r>
              <a:rPr lang="zh-CN" altLang="en-US" sz="1400" b="1">
                <a:latin typeface="Times New Roman" panose="02020603050405020304" pitchFamily="18" charset="0"/>
              </a:rPr>
              <a:t>命令界面</a:t>
            </a:r>
            <a:endParaRPr lang="zh-CN" altLang="en-US" sz="1400" b="1"/>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内容占位符 2"/>
          <p:cNvSpPr>
            <a:spLocks noGrp="1" noChangeArrowheads="1"/>
          </p:cNvSpPr>
          <p:nvPr>
            <p:ph idx="4294967295"/>
          </p:nvPr>
        </p:nvSpPr>
        <p:spPr>
          <a:xfrm>
            <a:off x="381000" y="1143000"/>
            <a:ext cx="8399463" cy="1371600"/>
          </a:xfrm>
        </p:spPr>
        <p:txBody>
          <a:bodyPr/>
          <a:lstStyle/>
          <a:p>
            <a:r>
              <a:rPr lang="en-US" altLang="zh-CN" smtClean="0">
                <a:solidFill>
                  <a:srgbClr val="CC0000"/>
                </a:solidFill>
              </a:rPr>
              <a:t>2.</a:t>
            </a:r>
            <a:r>
              <a:rPr lang="zh-CN" altLang="en-US" smtClean="0">
                <a:solidFill>
                  <a:srgbClr val="CC0000"/>
                </a:solidFill>
              </a:rPr>
              <a:t>配置</a:t>
            </a:r>
            <a:r>
              <a:rPr lang="en-US" altLang="zh-CN" smtClean="0">
                <a:solidFill>
                  <a:srgbClr val="CC0000"/>
                </a:solidFill>
              </a:rPr>
              <a:t>VLAN</a:t>
            </a:r>
            <a:r>
              <a:rPr lang="zh-CN" altLang="en-US" smtClean="0">
                <a:solidFill>
                  <a:srgbClr val="CC0000"/>
                </a:solidFill>
              </a:rPr>
              <a:t>的具体方法</a:t>
            </a:r>
            <a:endParaRPr lang="zh-CN" altLang="en-US" smtClean="0">
              <a:solidFill>
                <a:srgbClr val="CC0000"/>
              </a:solidFill>
            </a:endParaRPr>
          </a:p>
          <a:p>
            <a:r>
              <a:rPr lang="zh-CN" altLang="en-US" smtClean="0"/>
              <a:t>下面以第一组、第一行操作为例介绍配置</a:t>
            </a:r>
            <a:r>
              <a:rPr lang="en-US" altLang="zh-CN" smtClean="0"/>
              <a:t>VLAN</a:t>
            </a:r>
            <a:r>
              <a:rPr lang="zh-CN" altLang="en-US" smtClean="0"/>
              <a:t>方法。</a:t>
            </a:r>
            <a:endParaRPr lang="zh-CN" altLang="en-US" smtClean="0"/>
          </a:p>
          <a:p>
            <a:r>
              <a:rPr lang="zh-CN" altLang="en-US" smtClean="0"/>
              <a:t>（</a:t>
            </a:r>
            <a:r>
              <a:rPr lang="en-US" altLang="zh-CN" smtClean="0"/>
              <a:t>1</a:t>
            </a:r>
            <a:r>
              <a:rPr lang="zh-CN" altLang="en-US" smtClean="0"/>
              <a:t>）添加第一个</a:t>
            </a:r>
            <a:r>
              <a:rPr lang="en-US" altLang="zh-CN" smtClean="0"/>
              <a:t>VLAN</a:t>
            </a:r>
            <a:r>
              <a:rPr lang="zh-CN" altLang="en-US" smtClean="0"/>
              <a:t>并端口划入</a:t>
            </a:r>
            <a:r>
              <a:rPr lang="en-US" altLang="zh-CN" smtClean="0"/>
              <a:t>VLAN</a:t>
            </a:r>
            <a:r>
              <a:rPr lang="zh-CN" altLang="en-US" smtClean="0"/>
              <a:t>，如图</a:t>
            </a:r>
            <a:r>
              <a:rPr lang="en-US" altLang="zh-CN" smtClean="0"/>
              <a:t>1-34</a:t>
            </a:r>
            <a:r>
              <a:rPr lang="zh-CN" altLang="en-US" smtClean="0"/>
              <a:t>和图</a:t>
            </a:r>
            <a:r>
              <a:rPr lang="en-US" altLang="zh-CN" smtClean="0"/>
              <a:t>1-35</a:t>
            </a:r>
            <a:r>
              <a:rPr lang="zh-CN" altLang="en-US" smtClean="0"/>
              <a:t>所示 </a:t>
            </a:r>
            <a:endParaRPr lang="zh-CN" altLang="en-US" smtClean="0"/>
          </a:p>
        </p:txBody>
      </p:sp>
      <p:sp>
        <p:nvSpPr>
          <p:cNvPr id="83970" name="Rectangle 3"/>
          <p:cNvSpPr>
            <a:spLocks noChangeArrowheads="1"/>
          </p:cNvSpPr>
          <p:nvPr/>
        </p:nvSpPr>
        <p:spPr bwMode="auto">
          <a:xfrm>
            <a:off x="0" y="1146175"/>
            <a:ext cx="9144000" cy="0"/>
          </a:xfrm>
          <a:prstGeom prst="rect">
            <a:avLst/>
          </a:prstGeom>
          <a:noFill/>
          <a:ln w="9525">
            <a:noFill/>
            <a:miter lim="800000"/>
          </a:ln>
        </p:spPr>
        <p:txBody>
          <a:bodyPr wrap="none" anchor="ctr">
            <a:spAutoFit/>
          </a:bodyPr>
          <a:lstStyle/>
          <a:p>
            <a:pPr algn="dist">
              <a:spcBef>
                <a:spcPct val="20000"/>
              </a:spcBef>
              <a:buFont typeface="Wingdings" panose="05000000000000000000" pitchFamily="2" charset="2"/>
              <a:buNone/>
            </a:pPr>
            <a:endParaRPr lang="zh-CN" altLang="en-US"/>
          </a:p>
        </p:txBody>
      </p:sp>
      <p:sp>
        <p:nvSpPr>
          <p:cNvPr id="83971" name="Rectangle 4"/>
          <p:cNvSpPr>
            <a:spLocks noChangeArrowheads="1"/>
          </p:cNvSpPr>
          <p:nvPr/>
        </p:nvSpPr>
        <p:spPr bwMode="auto">
          <a:xfrm>
            <a:off x="0" y="3184525"/>
            <a:ext cx="215900" cy="244475"/>
          </a:xfrm>
          <a:prstGeom prst="rect">
            <a:avLst/>
          </a:prstGeom>
          <a:noFill/>
          <a:ln w="9525">
            <a:noFill/>
            <a:miter lim="800000"/>
          </a:ln>
        </p:spPr>
        <p:txBody>
          <a:bodyPr wrap="none" anchor="ctr">
            <a:spAutoFit/>
          </a:bodyPr>
          <a:lstStyle/>
          <a:p>
            <a:r>
              <a:rPr lang="zh-CN" altLang="en-US" sz="1000">
                <a:solidFill>
                  <a:srgbClr val="000000"/>
                </a:solidFill>
                <a:latin typeface="Times New Roman" panose="02020603050405020304" pitchFamily="18" charset="0"/>
              </a:rPr>
              <a:t> </a:t>
            </a:r>
            <a:endParaRPr lang="zh-CN" altLang="en-US" sz="1800">
              <a:latin typeface="宋体" panose="02010600030101010101" pitchFamily="2" charset="-122"/>
            </a:endParaRPr>
          </a:p>
        </p:txBody>
      </p:sp>
      <p:sp>
        <p:nvSpPr>
          <p:cNvPr id="83972" name="Rectangle 5"/>
          <p:cNvSpPr>
            <a:spLocks noChangeArrowheads="1"/>
          </p:cNvSpPr>
          <p:nvPr/>
        </p:nvSpPr>
        <p:spPr bwMode="auto">
          <a:xfrm>
            <a:off x="0" y="1220788"/>
            <a:ext cx="9144000" cy="0"/>
          </a:xfrm>
          <a:prstGeom prst="rect">
            <a:avLst/>
          </a:prstGeom>
          <a:noFill/>
          <a:ln w="9525">
            <a:noFill/>
            <a:miter lim="800000"/>
          </a:ln>
        </p:spPr>
        <p:txBody>
          <a:bodyPr wrap="none" anchor="ctr">
            <a:spAutoFit/>
          </a:bodyPr>
          <a:lstStyle/>
          <a:p>
            <a:pPr algn="dist">
              <a:spcBef>
                <a:spcPct val="20000"/>
              </a:spcBef>
              <a:buFont typeface="Wingdings" panose="05000000000000000000" pitchFamily="2" charset="2"/>
              <a:buNone/>
            </a:pPr>
            <a:endParaRPr lang="zh-CN" altLang="en-US"/>
          </a:p>
        </p:txBody>
      </p:sp>
      <p:sp>
        <p:nvSpPr>
          <p:cNvPr id="83973" name="Rectangle 6"/>
          <p:cNvSpPr>
            <a:spLocks noChangeArrowheads="1"/>
          </p:cNvSpPr>
          <p:nvPr/>
        </p:nvSpPr>
        <p:spPr bwMode="auto">
          <a:xfrm>
            <a:off x="0" y="3222625"/>
            <a:ext cx="215900" cy="244475"/>
          </a:xfrm>
          <a:prstGeom prst="rect">
            <a:avLst/>
          </a:prstGeom>
          <a:noFill/>
          <a:ln w="9525">
            <a:noFill/>
            <a:miter lim="800000"/>
          </a:ln>
        </p:spPr>
        <p:txBody>
          <a:bodyPr wrap="none" anchor="ctr">
            <a:spAutoFit/>
          </a:bodyPr>
          <a:lstStyle/>
          <a:p>
            <a:r>
              <a:rPr lang="zh-CN" altLang="en-US" sz="1000">
                <a:solidFill>
                  <a:srgbClr val="000000"/>
                </a:solidFill>
                <a:latin typeface="Times New Roman" panose="02020603050405020304" pitchFamily="18" charset="0"/>
              </a:rPr>
              <a:t> </a:t>
            </a:r>
            <a:endParaRPr lang="zh-CN" altLang="en-US" sz="1800">
              <a:latin typeface="宋体" panose="02010600030101010101" pitchFamily="2" charset="-122"/>
            </a:endParaRPr>
          </a:p>
        </p:txBody>
      </p:sp>
      <p:sp>
        <p:nvSpPr>
          <p:cNvPr id="83974" name="标题 1"/>
          <p:cNvSpPr>
            <a:spLocks noChangeArrowheads="1"/>
          </p:cNvSpPr>
          <p:nvPr/>
        </p:nvSpPr>
        <p:spPr bwMode="auto">
          <a:xfrm>
            <a:off x="457200" y="152400"/>
            <a:ext cx="8305800" cy="563563"/>
          </a:xfrm>
          <a:prstGeom prst="rect">
            <a:avLst/>
          </a:prstGeom>
          <a:noFill/>
          <a:ln w="9525">
            <a:noFill/>
            <a:miter lim="800000"/>
          </a:ln>
        </p:spPr>
        <p:txBody>
          <a:bodyPr anchor="ctr"/>
          <a:lstStyle/>
          <a:p>
            <a:pPr algn="ctr"/>
            <a:r>
              <a:rPr lang="zh-CN" altLang="en-US" sz="3200" b="1">
                <a:solidFill>
                  <a:schemeClr val="bg1"/>
                </a:solidFill>
                <a:latin typeface="微软雅黑" panose="020B0503020204020204" charset="-122"/>
                <a:ea typeface="微软雅黑" panose="020B0503020204020204" charset="-122"/>
              </a:rPr>
              <a:t>*</a:t>
            </a:r>
            <a:r>
              <a:rPr lang="en-US" altLang="zh-CN" sz="3200" b="1">
                <a:solidFill>
                  <a:schemeClr val="bg1"/>
                </a:solidFill>
                <a:latin typeface="微软雅黑" panose="020B0503020204020204" charset="-122"/>
                <a:ea typeface="微软雅黑" panose="020B0503020204020204" charset="-122"/>
              </a:rPr>
              <a:t>1.6</a:t>
            </a:r>
            <a:r>
              <a:rPr lang="zh-CN" altLang="en-US" sz="3200" b="1">
                <a:solidFill>
                  <a:schemeClr val="bg1"/>
                </a:solidFill>
                <a:latin typeface="微软雅黑" panose="020B0503020204020204" charset="-122"/>
                <a:ea typeface="微软雅黑" panose="020B0503020204020204" charset="-122"/>
              </a:rPr>
              <a:t>选做实验 配置虚拟局域网</a:t>
            </a:r>
            <a:r>
              <a:rPr lang="en-US" altLang="zh-CN" sz="3200" b="1">
                <a:solidFill>
                  <a:schemeClr val="bg1"/>
                </a:solidFill>
                <a:latin typeface="Verdana" panose="020B0604030504040204" pitchFamily="34" charset="0"/>
              </a:rPr>
              <a:t>VLAN </a:t>
            </a:r>
            <a:endParaRPr lang="zh-CN" altLang="en-US" sz="3200" b="1">
              <a:solidFill>
                <a:schemeClr val="bg1"/>
              </a:solidFill>
              <a:latin typeface="Verdana" panose="020B0604030504040204" pitchFamily="34" charset="0"/>
            </a:endParaRPr>
          </a:p>
        </p:txBody>
      </p:sp>
      <p:sp>
        <p:nvSpPr>
          <p:cNvPr id="83975" name="Rectangle 9"/>
          <p:cNvSpPr>
            <a:spLocks noChangeArrowheads="1"/>
          </p:cNvSpPr>
          <p:nvPr/>
        </p:nvSpPr>
        <p:spPr bwMode="auto">
          <a:xfrm>
            <a:off x="0" y="2487613"/>
            <a:ext cx="9144000" cy="0"/>
          </a:xfrm>
          <a:prstGeom prst="rect">
            <a:avLst/>
          </a:prstGeom>
          <a:noFill/>
          <a:ln w="9525">
            <a:noFill/>
            <a:miter lim="800000"/>
          </a:ln>
        </p:spPr>
        <p:txBody>
          <a:bodyPr wrap="none" anchor="ctr">
            <a:spAutoFit/>
          </a:bodyPr>
          <a:lstStyle/>
          <a:p>
            <a:pPr algn="dist">
              <a:spcBef>
                <a:spcPct val="20000"/>
              </a:spcBef>
              <a:buFont typeface="Wingdings" panose="05000000000000000000" pitchFamily="2" charset="2"/>
              <a:buNone/>
            </a:pPr>
            <a:endParaRPr lang="zh-CN" altLang="en-US"/>
          </a:p>
        </p:txBody>
      </p:sp>
      <p:pic>
        <p:nvPicPr>
          <p:cNvPr id="83976" name="Picture 11"/>
          <p:cNvPicPr>
            <a:picLocks noChangeAspect="1" noChangeArrowheads="1"/>
          </p:cNvPicPr>
          <p:nvPr/>
        </p:nvPicPr>
        <p:blipFill>
          <a:blip r:embed="rId1" cstate="print"/>
          <a:srcRect/>
          <a:stretch>
            <a:fillRect/>
          </a:stretch>
        </p:blipFill>
        <p:spPr bwMode="auto">
          <a:xfrm>
            <a:off x="457200" y="2514600"/>
            <a:ext cx="4191000" cy="3436938"/>
          </a:xfrm>
          <a:prstGeom prst="rect">
            <a:avLst/>
          </a:prstGeom>
          <a:noFill/>
          <a:ln w="9525">
            <a:noFill/>
            <a:miter lim="800000"/>
            <a:headEnd/>
            <a:tailEnd/>
          </a:ln>
        </p:spPr>
      </p:pic>
      <p:pic>
        <p:nvPicPr>
          <p:cNvPr id="83977" name="Picture 10"/>
          <p:cNvPicPr>
            <a:picLocks noChangeAspect="1" noChangeArrowheads="1"/>
          </p:cNvPicPr>
          <p:nvPr/>
        </p:nvPicPr>
        <p:blipFill>
          <a:blip r:embed="rId2" cstate="print"/>
          <a:srcRect/>
          <a:stretch>
            <a:fillRect/>
          </a:stretch>
        </p:blipFill>
        <p:spPr bwMode="auto">
          <a:xfrm>
            <a:off x="4800600" y="2514600"/>
            <a:ext cx="4191000" cy="3386138"/>
          </a:xfrm>
          <a:prstGeom prst="rect">
            <a:avLst/>
          </a:prstGeom>
          <a:noFill/>
          <a:ln w="9525">
            <a:noFill/>
            <a:miter lim="800000"/>
            <a:headEnd/>
            <a:tailEnd/>
          </a:ln>
        </p:spPr>
      </p:pic>
      <p:sp>
        <p:nvSpPr>
          <p:cNvPr id="83978" name="Rectangle 12"/>
          <p:cNvSpPr>
            <a:spLocks noChangeArrowheads="1"/>
          </p:cNvSpPr>
          <p:nvPr/>
        </p:nvSpPr>
        <p:spPr bwMode="auto">
          <a:xfrm>
            <a:off x="0" y="1074738"/>
            <a:ext cx="9144000" cy="0"/>
          </a:xfrm>
          <a:prstGeom prst="rect">
            <a:avLst/>
          </a:prstGeom>
          <a:noFill/>
          <a:ln w="9525">
            <a:noFill/>
            <a:miter lim="800000"/>
          </a:ln>
        </p:spPr>
        <p:txBody>
          <a:bodyPr wrap="none" anchor="ctr">
            <a:spAutoFit/>
          </a:bodyPr>
          <a:lstStyle/>
          <a:p>
            <a:pPr algn="dist">
              <a:spcBef>
                <a:spcPct val="20000"/>
              </a:spcBef>
              <a:buFont typeface="Wingdings" panose="05000000000000000000" pitchFamily="2" charset="2"/>
              <a:buNone/>
            </a:pPr>
            <a:endParaRPr lang="zh-CN" altLang="en-US"/>
          </a:p>
        </p:txBody>
      </p:sp>
      <p:sp>
        <p:nvSpPr>
          <p:cNvPr id="83979" name="Rectangle 13"/>
          <p:cNvSpPr>
            <a:spLocks noChangeArrowheads="1"/>
          </p:cNvSpPr>
          <p:nvPr/>
        </p:nvSpPr>
        <p:spPr bwMode="auto">
          <a:xfrm>
            <a:off x="0" y="3192463"/>
            <a:ext cx="215900" cy="244475"/>
          </a:xfrm>
          <a:prstGeom prst="rect">
            <a:avLst/>
          </a:prstGeom>
          <a:noFill/>
          <a:ln w="9525">
            <a:noFill/>
            <a:miter lim="800000"/>
          </a:ln>
        </p:spPr>
        <p:txBody>
          <a:bodyPr wrap="none" anchor="ctr">
            <a:spAutoFit/>
          </a:bodyPr>
          <a:lstStyle/>
          <a:p>
            <a:pPr algn="dist" eaLnBrk="0" hangingPunct="0">
              <a:spcBef>
                <a:spcPct val="20000"/>
              </a:spcBef>
              <a:buFont typeface="Wingdings" panose="05000000000000000000" pitchFamily="2" charset="2"/>
              <a:buNone/>
            </a:pPr>
            <a:r>
              <a:rPr lang="zh-CN" altLang="en-US" sz="1000">
                <a:latin typeface="Times New Roman" panose="02020603050405020304" pitchFamily="18" charset="0"/>
              </a:rPr>
              <a:t> </a:t>
            </a:r>
            <a:endParaRPr lang="zh-CN" altLang="en-US"/>
          </a:p>
        </p:txBody>
      </p:sp>
      <p:sp>
        <p:nvSpPr>
          <p:cNvPr id="83980" name="Rectangle 14"/>
          <p:cNvSpPr>
            <a:spLocks noChangeArrowheads="1"/>
          </p:cNvSpPr>
          <p:nvPr/>
        </p:nvSpPr>
        <p:spPr bwMode="auto">
          <a:xfrm>
            <a:off x="1600200" y="6019800"/>
            <a:ext cx="6562725" cy="304800"/>
          </a:xfrm>
          <a:prstGeom prst="rect">
            <a:avLst/>
          </a:prstGeom>
          <a:noFill/>
          <a:ln w="9525">
            <a:noFill/>
            <a:miter lim="800000"/>
          </a:ln>
        </p:spPr>
        <p:txBody>
          <a:bodyPr wrap="none" anchor="ctr">
            <a:spAutoFit/>
          </a:bodyPr>
          <a:lstStyle/>
          <a:p>
            <a:pPr eaLnBrk="0" hangingPunct="0">
              <a:spcBef>
                <a:spcPct val="20000"/>
              </a:spcBef>
              <a:buFont typeface="Wingdings" panose="05000000000000000000" pitchFamily="2" charset="2"/>
              <a:buNone/>
            </a:pPr>
            <a:r>
              <a:rPr lang="zh-CN" altLang="en-US" sz="1400" b="1">
                <a:latin typeface="Times New Roman" panose="02020603050405020304" pitchFamily="18" charset="0"/>
              </a:rPr>
              <a:t>图</a:t>
            </a:r>
            <a:r>
              <a:rPr lang="en-US" altLang="zh-CN" sz="1400" b="1">
                <a:latin typeface="Times New Roman" panose="02020603050405020304" pitchFamily="18" charset="0"/>
              </a:rPr>
              <a:t>1-34 </a:t>
            </a:r>
            <a:r>
              <a:rPr lang="zh-CN" altLang="en-US" sz="1400" b="1">
                <a:latin typeface="Times New Roman" panose="02020603050405020304" pitchFamily="18" charset="0"/>
              </a:rPr>
              <a:t>添加第一个</a:t>
            </a:r>
            <a:r>
              <a:rPr lang="en-US" altLang="zh-CN" sz="1400" b="1">
                <a:latin typeface="Times New Roman" panose="02020603050405020304" pitchFamily="18" charset="0"/>
              </a:rPr>
              <a:t>VLAN</a:t>
            </a:r>
            <a:r>
              <a:rPr lang="zh-CN" altLang="en-US" sz="1400" b="1">
                <a:latin typeface="Times New Roman" panose="02020603050405020304" pitchFamily="18" charset="0"/>
              </a:rPr>
              <a:t>显示界面              图</a:t>
            </a:r>
            <a:r>
              <a:rPr lang="en-US" altLang="zh-CN" sz="1400" b="1">
                <a:latin typeface="Times New Roman" panose="02020603050405020304" pitchFamily="18" charset="0"/>
              </a:rPr>
              <a:t>1-35 </a:t>
            </a:r>
            <a:r>
              <a:rPr lang="zh-CN" altLang="en-US" sz="1400" b="1">
                <a:latin typeface="Times New Roman" panose="02020603050405020304" pitchFamily="18" charset="0"/>
              </a:rPr>
              <a:t>在端口划入</a:t>
            </a:r>
            <a:r>
              <a:rPr lang="en-US" altLang="zh-CN" sz="1400" b="1">
                <a:latin typeface="Times New Roman" panose="02020603050405020304" pitchFamily="18" charset="0"/>
              </a:rPr>
              <a:t>VLAN</a:t>
            </a:r>
            <a:r>
              <a:rPr lang="zh-CN" altLang="en-US" sz="1400" b="1">
                <a:latin typeface="Times New Roman" panose="02020603050405020304" pitchFamily="18" charset="0"/>
              </a:rPr>
              <a:t>显示界面</a:t>
            </a:r>
            <a:endParaRPr lang="zh-CN" altLang="en-US" sz="1400" b="1"/>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内容占位符 2"/>
          <p:cNvSpPr>
            <a:spLocks noGrp="1" noChangeArrowheads="1"/>
          </p:cNvSpPr>
          <p:nvPr>
            <p:ph idx="4294967295"/>
          </p:nvPr>
        </p:nvSpPr>
        <p:spPr>
          <a:xfrm>
            <a:off x="381000" y="1066800"/>
            <a:ext cx="8399463" cy="1295400"/>
          </a:xfrm>
        </p:spPr>
        <p:txBody>
          <a:bodyPr/>
          <a:lstStyle/>
          <a:p>
            <a:r>
              <a:rPr lang="zh-CN" altLang="en-US" sz="2100" smtClean="0"/>
              <a:t>在</a:t>
            </a:r>
            <a:r>
              <a:rPr lang="en-US" altLang="zh-CN" sz="2100" smtClean="0"/>
              <a:t>DOS</a:t>
            </a:r>
            <a:r>
              <a:rPr lang="zh-CN" altLang="en-US" sz="2100" smtClean="0"/>
              <a:t>下使用</a:t>
            </a:r>
            <a:r>
              <a:rPr lang="en-US" altLang="zh-CN" sz="2100" smtClean="0"/>
              <a:t>ping</a:t>
            </a:r>
            <a:r>
              <a:rPr lang="zh-CN" altLang="en-US" sz="2100" smtClean="0"/>
              <a:t>命令测试两台电脑的连通性，并且记录结果，如图</a:t>
            </a:r>
            <a:r>
              <a:rPr lang="en-US" altLang="zh-CN" sz="2100" smtClean="0"/>
              <a:t>1-36</a:t>
            </a:r>
            <a:r>
              <a:rPr lang="zh-CN" altLang="en-US" sz="2100" smtClean="0"/>
              <a:t>所示。</a:t>
            </a:r>
            <a:endParaRPr lang="zh-CN" altLang="en-US" sz="2100" smtClean="0"/>
          </a:p>
          <a:p>
            <a:r>
              <a:rPr lang="zh-CN" altLang="en-US" sz="2100" smtClean="0"/>
              <a:t>（</a:t>
            </a:r>
            <a:r>
              <a:rPr lang="en-US" altLang="zh-CN" sz="2100" smtClean="0"/>
              <a:t>2</a:t>
            </a:r>
            <a:r>
              <a:rPr lang="zh-CN" altLang="en-US" sz="2100" smtClean="0"/>
              <a:t>）添加第二个</a:t>
            </a:r>
            <a:r>
              <a:rPr lang="en-US" altLang="zh-CN" sz="2100" smtClean="0"/>
              <a:t>vlan</a:t>
            </a:r>
            <a:r>
              <a:rPr lang="zh-CN" altLang="en-US" sz="2100" smtClean="0"/>
              <a:t>，并把端口划入</a:t>
            </a:r>
            <a:r>
              <a:rPr lang="en-US" altLang="zh-CN" sz="2100" smtClean="0"/>
              <a:t>vlan</a:t>
            </a:r>
            <a:r>
              <a:rPr lang="zh-CN" altLang="en-US" sz="2100" smtClean="0"/>
              <a:t>。在</a:t>
            </a:r>
            <a:r>
              <a:rPr lang="en-US" altLang="zh-CN" sz="2100" smtClean="0"/>
              <a:t>DOS</a:t>
            </a:r>
            <a:r>
              <a:rPr lang="zh-CN" altLang="en-US" sz="2100" smtClean="0"/>
              <a:t>下使用</a:t>
            </a:r>
            <a:r>
              <a:rPr lang="en-US" altLang="zh-CN" sz="2100" smtClean="0"/>
              <a:t>ping</a:t>
            </a:r>
            <a:r>
              <a:rPr lang="zh-CN" altLang="en-US" sz="2100" smtClean="0"/>
              <a:t>命令测试两台电脑的连通性，并且记录结果，如图</a:t>
            </a:r>
            <a:r>
              <a:rPr lang="en-US" altLang="zh-CN" sz="2100" smtClean="0"/>
              <a:t>1-37</a:t>
            </a:r>
            <a:r>
              <a:rPr lang="zh-CN" altLang="en-US" sz="2100" smtClean="0"/>
              <a:t>所示。</a:t>
            </a:r>
            <a:endParaRPr lang="zh-CN" altLang="en-US" sz="2100" smtClean="0"/>
          </a:p>
        </p:txBody>
      </p:sp>
      <p:sp>
        <p:nvSpPr>
          <p:cNvPr id="84994" name="Rectangle 3"/>
          <p:cNvSpPr>
            <a:spLocks noChangeArrowheads="1"/>
          </p:cNvSpPr>
          <p:nvPr/>
        </p:nvSpPr>
        <p:spPr bwMode="auto">
          <a:xfrm>
            <a:off x="0" y="1146175"/>
            <a:ext cx="9144000" cy="0"/>
          </a:xfrm>
          <a:prstGeom prst="rect">
            <a:avLst/>
          </a:prstGeom>
          <a:noFill/>
          <a:ln w="9525">
            <a:noFill/>
            <a:miter lim="800000"/>
          </a:ln>
        </p:spPr>
        <p:txBody>
          <a:bodyPr wrap="none" anchor="ctr">
            <a:spAutoFit/>
          </a:bodyPr>
          <a:lstStyle/>
          <a:p>
            <a:pPr algn="dist">
              <a:spcBef>
                <a:spcPct val="20000"/>
              </a:spcBef>
              <a:buFont typeface="Wingdings" panose="05000000000000000000" pitchFamily="2" charset="2"/>
              <a:buNone/>
            </a:pPr>
            <a:endParaRPr lang="zh-CN" altLang="en-US"/>
          </a:p>
        </p:txBody>
      </p:sp>
      <p:sp>
        <p:nvSpPr>
          <p:cNvPr id="84995" name="Rectangle 5"/>
          <p:cNvSpPr>
            <a:spLocks noChangeArrowheads="1"/>
          </p:cNvSpPr>
          <p:nvPr/>
        </p:nvSpPr>
        <p:spPr bwMode="auto">
          <a:xfrm>
            <a:off x="0" y="1220788"/>
            <a:ext cx="9144000" cy="0"/>
          </a:xfrm>
          <a:prstGeom prst="rect">
            <a:avLst/>
          </a:prstGeom>
          <a:noFill/>
          <a:ln w="9525">
            <a:noFill/>
            <a:miter lim="800000"/>
          </a:ln>
        </p:spPr>
        <p:txBody>
          <a:bodyPr wrap="none" anchor="ctr">
            <a:spAutoFit/>
          </a:bodyPr>
          <a:lstStyle/>
          <a:p>
            <a:pPr algn="dist">
              <a:spcBef>
                <a:spcPct val="20000"/>
              </a:spcBef>
              <a:buFont typeface="Wingdings" panose="05000000000000000000" pitchFamily="2" charset="2"/>
              <a:buNone/>
            </a:pPr>
            <a:endParaRPr lang="zh-CN" altLang="en-US"/>
          </a:p>
        </p:txBody>
      </p:sp>
      <p:sp>
        <p:nvSpPr>
          <p:cNvPr id="84996" name="标题 1"/>
          <p:cNvSpPr>
            <a:spLocks noChangeArrowheads="1"/>
          </p:cNvSpPr>
          <p:nvPr/>
        </p:nvSpPr>
        <p:spPr bwMode="auto">
          <a:xfrm>
            <a:off x="457200" y="152400"/>
            <a:ext cx="8305800" cy="563563"/>
          </a:xfrm>
          <a:prstGeom prst="rect">
            <a:avLst/>
          </a:prstGeom>
          <a:noFill/>
          <a:ln w="9525">
            <a:noFill/>
            <a:miter lim="800000"/>
          </a:ln>
        </p:spPr>
        <p:txBody>
          <a:bodyPr anchor="ctr"/>
          <a:lstStyle/>
          <a:p>
            <a:pPr algn="ctr"/>
            <a:r>
              <a:rPr lang="zh-CN" altLang="en-US" sz="3200" b="1">
                <a:solidFill>
                  <a:schemeClr val="bg1"/>
                </a:solidFill>
                <a:latin typeface="微软雅黑" panose="020B0503020204020204" charset="-122"/>
                <a:ea typeface="微软雅黑" panose="020B0503020204020204" charset="-122"/>
              </a:rPr>
              <a:t>*</a:t>
            </a:r>
            <a:r>
              <a:rPr lang="en-US" altLang="zh-CN" sz="3200" b="1">
                <a:solidFill>
                  <a:schemeClr val="bg1"/>
                </a:solidFill>
                <a:latin typeface="微软雅黑" panose="020B0503020204020204" charset="-122"/>
                <a:ea typeface="微软雅黑" panose="020B0503020204020204" charset="-122"/>
              </a:rPr>
              <a:t>1.6</a:t>
            </a:r>
            <a:r>
              <a:rPr lang="zh-CN" altLang="en-US" sz="3200" b="1">
                <a:solidFill>
                  <a:schemeClr val="bg1"/>
                </a:solidFill>
                <a:latin typeface="微软雅黑" panose="020B0503020204020204" charset="-122"/>
                <a:ea typeface="微软雅黑" panose="020B0503020204020204" charset="-122"/>
              </a:rPr>
              <a:t>选做实验 配置虚拟局域网</a:t>
            </a:r>
            <a:r>
              <a:rPr lang="en-US" altLang="zh-CN" sz="3200" b="1">
                <a:solidFill>
                  <a:schemeClr val="bg1"/>
                </a:solidFill>
                <a:latin typeface="Verdana" panose="020B0604030504040204" pitchFamily="34" charset="0"/>
              </a:rPr>
              <a:t>VLAN </a:t>
            </a:r>
            <a:endParaRPr lang="zh-CN" altLang="en-US" sz="3200" b="1">
              <a:solidFill>
                <a:schemeClr val="bg1"/>
              </a:solidFill>
              <a:latin typeface="Verdana" panose="020B0604030504040204" pitchFamily="34" charset="0"/>
            </a:endParaRPr>
          </a:p>
        </p:txBody>
      </p:sp>
      <p:sp>
        <p:nvSpPr>
          <p:cNvPr id="84997" name="Rectangle 8"/>
          <p:cNvSpPr>
            <a:spLocks noChangeArrowheads="1"/>
          </p:cNvSpPr>
          <p:nvPr/>
        </p:nvSpPr>
        <p:spPr bwMode="auto">
          <a:xfrm>
            <a:off x="0" y="2487613"/>
            <a:ext cx="9144000" cy="0"/>
          </a:xfrm>
          <a:prstGeom prst="rect">
            <a:avLst/>
          </a:prstGeom>
          <a:noFill/>
          <a:ln w="9525">
            <a:noFill/>
            <a:miter lim="800000"/>
          </a:ln>
        </p:spPr>
        <p:txBody>
          <a:bodyPr wrap="none" anchor="ctr">
            <a:spAutoFit/>
          </a:bodyPr>
          <a:lstStyle/>
          <a:p>
            <a:pPr algn="dist">
              <a:spcBef>
                <a:spcPct val="20000"/>
              </a:spcBef>
              <a:buFont typeface="Wingdings" panose="05000000000000000000" pitchFamily="2" charset="2"/>
              <a:buNone/>
            </a:pPr>
            <a:endParaRPr lang="zh-CN" altLang="en-US"/>
          </a:p>
        </p:txBody>
      </p:sp>
      <p:sp>
        <p:nvSpPr>
          <p:cNvPr id="84998" name="Rectangle 11"/>
          <p:cNvSpPr>
            <a:spLocks noChangeArrowheads="1"/>
          </p:cNvSpPr>
          <p:nvPr/>
        </p:nvSpPr>
        <p:spPr bwMode="auto">
          <a:xfrm>
            <a:off x="0" y="1074738"/>
            <a:ext cx="9144000" cy="0"/>
          </a:xfrm>
          <a:prstGeom prst="rect">
            <a:avLst/>
          </a:prstGeom>
          <a:noFill/>
          <a:ln w="9525">
            <a:noFill/>
            <a:miter lim="800000"/>
          </a:ln>
        </p:spPr>
        <p:txBody>
          <a:bodyPr wrap="none" anchor="ctr">
            <a:spAutoFit/>
          </a:bodyPr>
          <a:lstStyle/>
          <a:p>
            <a:pPr algn="dist">
              <a:spcBef>
                <a:spcPct val="20000"/>
              </a:spcBef>
              <a:buFont typeface="Wingdings" panose="05000000000000000000" pitchFamily="2" charset="2"/>
              <a:buNone/>
            </a:pPr>
            <a:endParaRPr lang="zh-CN" altLang="en-US"/>
          </a:p>
        </p:txBody>
      </p:sp>
      <p:pic>
        <p:nvPicPr>
          <p:cNvPr id="84999" name="Picture 15"/>
          <p:cNvPicPr>
            <a:picLocks noChangeAspect="1" noChangeArrowheads="1"/>
          </p:cNvPicPr>
          <p:nvPr/>
        </p:nvPicPr>
        <p:blipFill>
          <a:blip r:embed="rId1" cstate="print"/>
          <a:srcRect/>
          <a:stretch>
            <a:fillRect/>
          </a:stretch>
        </p:blipFill>
        <p:spPr bwMode="auto">
          <a:xfrm>
            <a:off x="304800" y="2438400"/>
            <a:ext cx="4038600" cy="3505200"/>
          </a:xfrm>
          <a:prstGeom prst="rect">
            <a:avLst/>
          </a:prstGeom>
          <a:noFill/>
          <a:ln w="9525">
            <a:noFill/>
            <a:miter lim="800000"/>
            <a:headEnd/>
            <a:tailEnd/>
          </a:ln>
        </p:spPr>
      </p:pic>
      <p:pic>
        <p:nvPicPr>
          <p:cNvPr id="85000" name="Picture 14"/>
          <p:cNvPicPr>
            <a:picLocks noChangeAspect="1" noChangeArrowheads="1"/>
          </p:cNvPicPr>
          <p:nvPr/>
        </p:nvPicPr>
        <p:blipFill>
          <a:blip r:embed="rId2" cstate="print"/>
          <a:srcRect/>
          <a:stretch>
            <a:fillRect/>
          </a:stretch>
        </p:blipFill>
        <p:spPr bwMode="auto">
          <a:xfrm>
            <a:off x="4419600" y="2438400"/>
            <a:ext cx="4419600" cy="3505200"/>
          </a:xfrm>
          <a:prstGeom prst="rect">
            <a:avLst/>
          </a:prstGeom>
          <a:noFill/>
          <a:ln w="9525">
            <a:noFill/>
            <a:miter lim="800000"/>
            <a:headEnd/>
            <a:tailEnd/>
          </a:ln>
        </p:spPr>
      </p:pic>
      <p:sp>
        <p:nvSpPr>
          <p:cNvPr id="85001" name="Rectangle 16"/>
          <p:cNvSpPr>
            <a:spLocks noChangeArrowheads="1"/>
          </p:cNvSpPr>
          <p:nvPr/>
        </p:nvSpPr>
        <p:spPr bwMode="auto">
          <a:xfrm>
            <a:off x="0" y="1127125"/>
            <a:ext cx="9144000" cy="0"/>
          </a:xfrm>
          <a:prstGeom prst="rect">
            <a:avLst/>
          </a:prstGeom>
          <a:noFill/>
          <a:ln w="9525">
            <a:noFill/>
            <a:miter lim="800000"/>
          </a:ln>
        </p:spPr>
        <p:txBody>
          <a:bodyPr wrap="none" anchor="ctr">
            <a:spAutoFit/>
          </a:bodyPr>
          <a:lstStyle/>
          <a:p>
            <a:pPr algn="dist">
              <a:spcBef>
                <a:spcPct val="20000"/>
              </a:spcBef>
              <a:buFont typeface="Wingdings" panose="05000000000000000000" pitchFamily="2" charset="2"/>
              <a:buNone/>
            </a:pPr>
            <a:endParaRPr lang="zh-CN" altLang="en-US"/>
          </a:p>
        </p:txBody>
      </p:sp>
      <p:sp>
        <p:nvSpPr>
          <p:cNvPr id="85002" name="Rectangle 17"/>
          <p:cNvSpPr>
            <a:spLocks noChangeArrowheads="1"/>
          </p:cNvSpPr>
          <p:nvPr/>
        </p:nvSpPr>
        <p:spPr bwMode="auto">
          <a:xfrm>
            <a:off x="4464050" y="3192463"/>
            <a:ext cx="215900" cy="244475"/>
          </a:xfrm>
          <a:prstGeom prst="rect">
            <a:avLst/>
          </a:prstGeom>
          <a:noFill/>
          <a:ln w="9525">
            <a:noFill/>
            <a:miter lim="800000"/>
          </a:ln>
        </p:spPr>
        <p:txBody>
          <a:bodyPr wrap="none" anchor="ctr">
            <a:spAutoFit/>
          </a:bodyPr>
          <a:lstStyle/>
          <a:p>
            <a:pPr algn="ctr" eaLnBrk="0" hangingPunct="0">
              <a:spcBef>
                <a:spcPct val="20000"/>
              </a:spcBef>
              <a:buFont typeface="Wingdings" panose="05000000000000000000" pitchFamily="2" charset="2"/>
              <a:buNone/>
            </a:pPr>
            <a:r>
              <a:rPr lang="zh-CN" altLang="en-US" sz="1000" b="1">
                <a:solidFill>
                  <a:srgbClr val="FF0000"/>
                </a:solidFill>
                <a:latin typeface="Times New Roman" panose="02020603050405020304" pitchFamily="18" charset="0"/>
              </a:rPr>
              <a:t> </a:t>
            </a:r>
            <a:endParaRPr lang="zh-CN" altLang="en-US"/>
          </a:p>
        </p:txBody>
      </p:sp>
      <p:sp>
        <p:nvSpPr>
          <p:cNvPr id="85003" name="Rectangle 18"/>
          <p:cNvSpPr>
            <a:spLocks noChangeArrowheads="1"/>
          </p:cNvSpPr>
          <p:nvPr/>
        </p:nvSpPr>
        <p:spPr bwMode="auto">
          <a:xfrm>
            <a:off x="1143000" y="5943600"/>
            <a:ext cx="7086600" cy="304800"/>
          </a:xfrm>
          <a:prstGeom prst="rect">
            <a:avLst/>
          </a:prstGeom>
          <a:noFill/>
          <a:ln w="9525">
            <a:noFill/>
            <a:miter lim="800000"/>
          </a:ln>
        </p:spPr>
        <p:txBody>
          <a:bodyPr wrap="none" anchor="ctr">
            <a:spAutoFit/>
          </a:bodyPr>
          <a:lstStyle/>
          <a:p>
            <a:pPr algn="ctr" eaLnBrk="0" hangingPunct="0">
              <a:spcBef>
                <a:spcPct val="20000"/>
              </a:spcBef>
              <a:buFont typeface="Wingdings" panose="05000000000000000000" pitchFamily="2" charset="2"/>
              <a:buNone/>
            </a:pPr>
            <a:r>
              <a:rPr lang="zh-CN" altLang="en-US" sz="1400" b="1">
                <a:latin typeface="Times New Roman" panose="02020603050405020304" pitchFamily="18" charset="0"/>
              </a:rPr>
              <a:t>图</a:t>
            </a:r>
            <a:r>
              <a:rPr lang="en-US" altLang="zh-CN" sz="1400" b="1">
                <a:latin typeface="Times New Roman" panose="02020603050405020304" pitchFamily="18" charset="0"/>
              </a:rPr>
              <a:t>1-36</a:t>
            </a:r>
            <a:r>
              <a:rPr lang="zh-CN" altLang="en-US" sz="1400" b="1">
                <a:latin typeface="Times New Roman" panose="02020603050405020304" pitchFamily="18" charset="0"/>
              </a:rPr>
              <a:t>添加第一个</a:t>
            </a:r>
            <a:r>
              <a:rPr lang="en-US" altLang="zh-CN" sz="1400" b="1">
                <a:latin typeface="Times New Roman" panose="02020603050405020304" pitchFamily="18" charset="0"/>
              </a:rPr>
              <a:t>vlan</a:t>
            </a:r>
            <a:r>
              <a:rPr lang="zh-CN" altLang="en-US" sz="1400" b="1">
                <a:latin typeface="Times New Roman" panose="02020603050405020304" pitchFamily="18" charset="0"/>
              </a:rPr>
              <a:t>后测试两电脑连通性      图</a:t>
            </a:r>
            <a:r>
              <a:rPr lang="en-US" altLang="zh-CN" sz="1400" b="1">
                <a:latin typeface="Times New Roman" panose="02020603050405020304" pitchFamily="18" charset="0"/>
              </a:rPr>
              <a:t>1-37</a:t>
            </a:r>
            <a:r>
              <a:rPr lang="zh-CN" altLang="en-US" sz="1400" b="1">
                <a:latin typeface="Times New Roman" panose="02020603050405020304" pitchFamily="18" charset="0"/>
              </a:rPr>
              <a:t>添加第二个</a:t>
            </a:r>
            <a:r>
              <a:rPr lang="en-US" altLang="zh-CN" sz="1400" b="1">
                <a:latin typeface="Times New Roman" panose="02020603050405020304" pitchFamily="18" charset="0"/>
              </a:rPr>
              <a:t>vlan</a:t>
            </a:r>
            <a:r>
              <a:rPr lang="zh-CN" altLang="en-US" sz="1400" b="1">
                <a:latin typeface="Times New Roman" panose="02020603050405020304" pitchFamily="18" charset="0"/>
              </a:rPr>
              <a:t>后测试两电脑连通性</a:t>
            </a:r>
            <a:endParaRPr lang="zh-CN" altLang="en-US" sz="1400" b="1"/>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内容占位符 2"/>
          <p:cNvSpPr>
            <a:spLocks noGrp="1" noChangeArrowheads="1"/>
          </p:cNvSpPr>
          <p:nvPr>
            <p:ph idx="4294967295"/>
          </p:nvPr>
        </p:nvSpPr>
        <p:spPr>
          <a:xfrm>
            <a:off x="381000" y="1143000"/>
            <a:ext cx="8382000" cy="1676400"/>
          </a:xfrm>
        </p:spPr>
        <p:txBody>
          <a:bodyPr/>
          <a:lstStyle/>
          <a:p>
            <a:r>
              <a:rPr lang="zh-CN" altLang="en-US" smtClean="0"/>
              <a:t>（</a:t>
            </a:r>
            <a:r>
              <a:rPr lang="en-US" altLang="zh-CN" smtClean="0"/>
              <a:t>3</a:t>
            </a:r>
            <a:r>
              <a:rPr lang="zh-CN" altLang="en-US" smtClean="0"/>
              <a:t>）检查配置</a:t>
            </a:r>
            <a:endParaRPr lang="zh-CN" altLang="en-US" smtClean="0"/>
          </a:p>
          <a:p>
            <a:r>
              <a:rPr lang="zh-CN" altLang="en-US" smtClean="0"/>
              <a:t>查看当前交换机上已配上的端口，如图</a:t>
            </a:r>
            <a:r>
              <a:rPr lang="en-US" altLang="zh-CN" smtClean="0"/>
              <a:t>1-38</a:t>
            </a:r>
            <a:r>
              <a:rPr lang="zh-CN" altLang="en-US" smtClean="0"/>
              <a:t>所示。</a:t>
            </a:r>
            <a:endParaRPr lang="zh-CN" altLang="en-US" smtClean="0"/>
          </a:p>
          <a:p>
            <a:r>
              <a:rPr lang="en-US" altLang="zh-CN" smtClean="0">
                <a:solidFill>
                  <a:srgbClr val="CC0000"/>
                </a:solidFill>
              </a:rPr>
              <a:t>3.</a:t>
            </a:r>
            <a:r>
              <a:rPr lang="zh-CN" altLang="en-US" smtClean="0">
                <a:solidFill>
                  <a:srgbClr val="CC0000"/>
                </a:solidFill>
              </a:rPr>
              <a:t>删除</a:t>
            </a:r>
            <a:r>
              <a:rPr lang="en-US" altLang="zh-CN" smtClean="0">
                <a:solidFill>
                  <a:srgbClr val="CC0000"/>
                </a:solidFill>
              </a:rPr>
              <a:t>VLAN</a:t>
            </a:r>
            <a:r>
              <a:rPr lang="en-US" altLang="zh-CN" smtClean="0"/>
              <a:t> </a:t>
            </a:r>
            <a:endParaRPr lang="en-US" altLang="zh-CN" smtClean="0">
              <a:sym typeface="Wingdings" panose="05000000000000000000" pitchFamily="2" charset="2"/>
            </a:endParaRPr>
          </a:p>
          <a:p>
            <a:r>
              <a:rPr lang="en-US" altLang="zh-CN" smtClean="0">
                <a:solidFill>
                  <a:srgbClr val="FF0000"/>
                </a:solidFill>
                <a:sym typeface="Wingdings" panose="05000000000000000000" pitchFamily="2" charset="2"/>
              </a:rPr>
              <a:t></a:t>
            </a:r>
            <a:r>
              <a:rPr lang="en-US" altLang="zh-CN" smtClean="0">
                <a:solidFill>
                  <a:srgbClr val="FF0000"/>
                </a:solidFill>
              </a:rPr>
              <a:t> </a:t>
            </a:r>
            <a:r>
              <a:rPr lang="zh-CN" altLang="en-US" smtClean="0">
                <a:solidFill>
                  <a:srgbClr val="FF0000"/>
                </a:solidFill>
              </a:rPr>
              <a:t>注意</a:t>
            </a:r>
            <a:r>
              <a:rPr lang="zh-CN" altLang="en-US" smtClean="0"/>
              <a:t>：两个交换机相连的端口分别配置</a:t>
            </a:r>
            <a:r>
              <a:rPr lang="en-US" altLang="zh-CN" smtClean="0"/>
              <a:t>TRUNK</a:t>
            </a:r>
            <a:r>
              <a:rPr lang="zh-CN" altLang="en-US" smtClean="0"/>
              <a:t>封装。</a:t>
            </a:r>
            <a:endParaRPr lang="zh-CN" altLang="en-US" smtClean="0"/>
          </a:p>
        </p:txBody>
      </p:sp>
      <p:sp>
        <p:nvSpPr>
          <p:cNvPr id="86018" name="Rectangle 3"/>
          <p:cNvSpPr>
            <a:spLocks noChangeArrowheads="1"/>
          </p:cNvSpPr>
          <p:nvPr/>
        </p:nvSpPr>
        <p:spPr bwMode="auto">
          <a:xfrm>
            <a:off x="0" y="1146175"/>
            <a:ext cx="9144000" cy="0"/>
          </a:xfrm>
          <a:prstGeom prst="rect">
            <a:avLst/>
          </a:prstGeom>
          <a:noFill/>
          <a:ln w="9525">
            <a:noFill/>
            <a:miter lim="800000"/>
          </a:ln>
        </p:spPr>
        <p:txBody>
          <a:bodyPr wrap="none" anchor="ctr">
            <a:spAutoFit/>
          </a:bodyPr>
          <a:lstStyle/>
          <a:p>
            <a:pPr algn="dist">
              <a:spcBef>
                <a:spcPct val="20000"/>
              </a:spcBef>
              <a:buFont typeface="Wingdings" panose="05000000000000000000" pitchFamily="2" charset="2"/>
              <a:buNone/>
            </a:pPr>
            <a:endParaRPr lang="zh-CN" altLang="en-US"/>
          </a:p>
        </p:txBody>
      </p:sp>
      <p:sp>
        <p:nvSpPr>
          <p:cNvPr id="86019" name="Rectangle 4"/>
          <p:cNvSpPr>
            <a:spLocks noChangeArrowheads="1"/>
          </p:cNvSpPr>
          <p:nvPr/>
        </p:nvSpPr>
        <p:spPr bwMode="auto">
          <a:xfrm>
            <a:off x="0" y="1220788"/>
            <a:ext cx="9144000" cy="0"/>
          </a:xfrm>
          <a:prstGeom prst="rect">
            <a:avLst/>
          </a:prstGeom>
          <a:noFill/>
          <a:ln w="9525">
            <a:noFill/>
            <a:miter lim="800000"/>
          </a:ln>
        </p:spPr>
        <p:txBody>
          <a:bodyPr wrap="none" anchor="ctr">
            <a:spAutoFit/>
          </a:bodyPr>
          <a:lstStyle/>
          <a:p>
            <a:pPr algn="dist">
              <a:spcBef>
                <a:spcPct val="20000"/>
              </a:spcBef>
              <a:buFont typeface="Wingdings" panose="05000000000000000000" pitchFamily="2" charset="2"/>
              <a:buNone/>
            </a:pPr>
            <a:endParaRPr lang="zh-CN" altLang="en-US"/>
          </a:p>
        </p:txBody>
      </p:sp>
      <p:sp>
        <p:nvSpPr>
          <p:cNvPr id="86020" name="标题 1"/>
          <p:cNvSpPr>
            <a:spLocks noChangeArrowheads="1"/>
          </p:cNvSpPr>
          <p:nvPr/>
        </p:nvSpPr>
        <p:spPr bwMode="auto">
          <a:xfrm>
            <a:off x="457200" y="152400"/>
            <a:ext cx="8305800" cy="563563"/>
          </a:xfrm>
          <a:prstGeom prst="rect">
            <a:avLst/>
          </a:prstGeom>
          <a:noFill/>
          <a:ln w="9525">
            <a:noFill/>
            <a:miter lim="800000"/>
          </a:ln>
        </p:spPr>
        <p:txBody>
          <a:bodyPr anchor="ctr"/>
          <a:lstStyle/>
          <a:p>
            <a:pPr algn="ctr"/>
            <a:r>
              <a:rPr lang="zh-CN" altLang="en-US" sz="3200" b="1">
                <a:solidFill>
                  <a:schemeClr val="bg1"/>
                </a:solidFill>
                <a:latin typeface="微软雅黑" panose="020B0503020204020204" charset="-122"/>
                <a:ea typeface="微软雅黑" panose="020B0503020204020204" charset="-122"/>
              </a:rPr>
              <a:t>*</a:t>
            </a:r>
            <a:r>
              <a:rPr lang="en-US" altLang="zh-CN" sz="3200" b="1">
                <a:solidFill>
                  <a:schemeClr val="bg1"/>
                </a:solidFill>
                <a:latin typeface="微软雅黑" panose="020B0503020204020204" charset="-122"/>
                <a:ea typeface="微软雅黑" panose="020B0503020204020204" charset="-122"/>
              </a:rPr>
              <a:t>1.6</a:t>
            </a:r>
            <a:r>
              <a:rPr lang="zh-CN" altLang="en-US" sz="3200" b="1">
                <a:solidFill>
                  <a:schemeClr val="bg1"/>
                </a:solidFill>
                <a:latin typeface="微软雅黑" panose="020B0503020204020204" charset="-122"/>
                <a:ea typeface="微软雅黑" panose="020B0503020204020204" charset="-122"/>
              </a:rPr>
              <a:t>选做实验 配置虚拟局域网</a:t>
            </a:r>
            <a:r>
              <a:rPr lang="en-US" altLang="zh-CN" sz="3200" b="1">
                <a:solidFill>
                  <a:schemeClr val="bg1"/>
                </a:solidFill>
                <a:latin typeface="Verdana" panose="020B0604030504040204" pitchFamily="34" charset="0"/>
              </a:rPr>
              <a:t>VLAN </a:t>
            </a:r>
            <a:endParaRPr lang="zh-CN" altLang="en-US" sz="3200" b="1">
              <a:solidFill>
                <a:schemeClr val="bg1"/>
              </a:solidFill>
              <a:latin typeface="Verdana" panose="020B0604030504040204" pitchFamily="34" charset="0"/>
            </a:endParaRPr>
          </a:p>
        </p:txBody>
      </p:sp>
      <p:sp>
        <p:nvSpPr>
          <p:cNvPr id="86021" name="Rectangle 6"/>
          <p:cNvSpPr>
            <a:spLocks noChangeArrowheads="1"/>
          </p:cNvSpPr>
          <p:nvPr/>
        </p:nvSpPr>
        <p:spPr bwMode="auto">
          <a:xfrm>
            <a:off x="0" y="2487613"/>
            <a:ext cx="9144000" cy="0"/>
          </a:xfrm>
          <a:prstGeom prst="rect">
            <a:avLst/>
          </a:prstGeom>
          <a:noFill/>
          <a:ln w="9525">
            <a:noFill/>
            <a:miter lim="800000"/>
          </a:ln>
        </p:spPr>
        <p:txBody>
          <a:bodyPr wrap="none" anchor="ctr">
            <a:spAutoFit/>
          </a:bodyPr>
          <a:lstStyle/>
          <a:p>
            <a:pPr algn="dist">
              <a:spcBef>
                <a:spcPct val="20000"/>
              </a:spcBef>
              <a:buFont typeface="Wingdings" panose="05000000000000000000" pitchFamily="2" charset="2"/>
              <a:buNone/>
            </a:pPr>
            <a:endParaRPr lang="zh-CN" altLang="en-US"/>
          </a:p>
        </p:txBody>
      </p:sp>
      <p:sp>
        <p:nvSpPr>
          <p:cNvPr id="86022" name="Rectangle 7"/>
          <p:cNvSpPr>
            <a:spLocks noChangeArrowheads="1"/>
          </p:cNvSpPr>
          <p:nvPr/>
        </p:nvSpPr>
        <p:spPr bwMode="auto">
          <a:xfrm>
            <a:off x="0" y="1074738"/>
            <a:ext cx="9144000" cy="0"/>
          </a:xfrm>
          <a:prstGeom prst="rect">
            <a:avLst/>
          </a:prstGeom>
          <a:noFill/>
          <a:ln w="9525">
            <a:noFill/>
            <a:miter lim="800000"/>
          </a:ln>
        </p:spPr>
        <p:txBody>
          <a:bodyPr wrap="none" anchor="ctr">
            <a:spAutoFit/>
          </a:bodyPr>
          <a:lstStyle/>
          <a:p>
            <a:pPr algn="dist">
              <a:spcBef>
                <a:spcPct val="20000"/>
              </a:spcBef>
              <a:buFont typeface="Wingdings" panose="05000000000000000000" pitchFamily="2" charset="2"/>
              <a:buNone/>
            </a:pPr>
            <a:endParaRPr lang="zh-CN" altLang="en-US"/>
          </a:p>
        </p:txBody>
      </p:sp>
      <p:sp>
        <p:nvSpPr>
          <p:cNvPr id="86023" name="Rectangle 9"/>
          <p:cNvSpPr>
            <a:spLocks noChangeArrowheads="1"/>
          </p:cNvSpPr>
          <p:nvPr/>
        </p:nvSpPr>
        <p:spPr bwMode="auto">
          <a:xfrm>
            <a:off x="0" y="2057400"/>
            <a:ext cx="9144000" cy="0"/>
          </a:xfrm>
          <a:prstGeom prst="rect">
            <a:avLst/>
          </a:prstGeom>
          <a:noFill/>
          <a:ln w="9525">
            <a:noFill/>
            <a:miter lim="800000"/>
          </a:ln>
        </p:spPr>
        <p:txBody>
          <a:bodyPr wrap="none" anchor="ctr">
            <a:spAutoFit/>
          </a:bodyPr>
          <a:lstStyle/>
          <a:p>
            <a:pPr algn="dist">
              <a:spcBef>
                <a:spcPct val="20000"/>
              </a:spcBef>
              <a:buFont typeface="Wingdings" panose="05000000000000000000" pitchFamily="2" charset="2"/>
              <a:buNone/>
            </a:pPr>
            <a:endParaRPr lang="zh-CN" altLang="en-US"/>
          </a:p>
        </p:txBody>
      </p:sp>
      <p:pic>
        <p:nvPicPr>
          <p:cNvPr id="86024" name="Picture 8"/>
          <p:cNvPicPr>
            <a:picLocks noChangeAspect="1" noChangeArrowheads="1"/>
          </p:cNvPicPr>
          <p:nvPr/>
        </p:nvPicPr>
        <p:blipFill>
          <a:blip r:embed="rId1" cstate="print"/>
          <a:srcRect/>
          <a:stretch>
            <a:fillRect/>
          </a:stretch>
        </p:blipFill>
        <p:spPr bwMode="auto">
          <a:xfrm>
            <a:off x="1905000" y="2865438"/>
            <a:ext cx="4876800" cy="3581400"/>
          </a:xfrm>
          <a:prstGeom prst="rect">
            <a:avLst/>
          </a:prstGeom>
          <a:noFill/>
          <a:ln w="9525">
            <a:noFill/>
            <a:miter lim="800000"/>
            <a:headEnd/>
            <a:tailEnd/>
          </a:ln>
        </p:spPr>
      </p:pic>
      <p:sp>
        <p:nvSpPr>
          <p:cNvPr id="86025" name="Rectangle 10"/>
          <p:cNvSpPr>
            <a:spLocks noChangeArrowheads="1"/>
          </p:cNvSpPr>
          <p:nvPr/>
        </p:nvSpPr>
        <p:spPr bwMode="auto">
          <a:xfrm>
            <a:off x="3048000" y="6400800"/>
            <a:ext cx="3206750" cy="304800"/>
          </a:xfrm>
          <a:prstGeom prst="rect">
            <a:avLst/>
          </a:prstGeom>
          <a:noFill/>
          <a:ln w="9525">
            <a:noFill/>
            <a:miter lim="800000"/>
          </a:ln>
        </p:spPr>
        <p:txBody>
          <a:bodyPr wrap="none" anchor="ctr">
            <a:spAutoFit/>
          </a:bodyPr>
          <a:lstStyle/>
          <a:p>
            <a:pPr algn="ctr" eaLnBrk="0" hangingPunct="0">
              <a:spcBef>
                <a:spcPct val="20000"/>
              </a:spcBef>
              <a:buFont typeface="Wingdings" panose="05000000000000000000" pitchFamily="2" charset="2"/>
              <a:buNone/>
            </a:pPr>
            <a:r>
              <a:rPr lang="zh-CN" altLang="en-US" sz="1400" b="1">
                <a:latin typeface="Times New Roman" panose="02020603050405020304" pitchFamily="18" charset="0"/>
              </a:rPr>
              <a:t>图</a:t>
            </a:r>
            <a:r>
              <a:rPr lang="en-US" altLang="zh-CN" sz="1400" b="1">
                <a:latin typeface="宋体" panose="02010600030101010101" pitchFamily="2" charset="-122"/>
              </a:rPr>
              <a:t>1-38</a:t>
            </a:r>
            <a:r>
              <a:rPr lang="zh-CN" altLang="en-US" sz="1400" b="1">
                <a:latin typeface="宋体" panose="02010600030101010101" pitchFamily="2" charset="-122"/>
              </a:rPr>
              <a:t>查看当前交换机上已配上的端口</a:t>
            </a:r>
            <a:endParaRPr lang="zh-CN" altLang="en-US" sz="1400" b="1"/>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内容占位符 2"/>
          <p:cNvSpPr>
            <a:spLocks noGrp="1" noChangeArrowheads="1"/>
          </p:cNvSpPr>
          <p:nvPr>
            <p:ph idx="4294967295"/>
          </p:nvPr>
        </p:nvSpPr>
        <p:spPr/>
        <p:txBody>
          <a:bodyPr/>
          <a:lstStyle/>
          <a:p>
            <a:pPr eaLnBrk="1" hangingPunct="1"/>
            <a:r>
              <a:rPr lang="en-US" altLang="zh-CN" sz="2600" smtClean="0">
                <a:solidFill>
                  <a:srgbClr val="C00000"/>
                </a:solidFill>
              </a:rPr>
              <a:t> </a:t>
            </a:r>
            <a:r>
              <a:rPr lang="en-US" altLang="en-US" sz="2600" smtClean="0">
                <a:solidFill>
                  <a:srgbClr val="C00000"/>
                </a:solidFill>
              </a:rPr>
              <a:t>1.</a:t>
            </a:r>
            <a:r>
              <a:rPr lang="zh-CN" altLang="en-US" sz="2600" smtClean="0">
                <a:solidFill>
                  <a:srgbClr val="C00000"/>
                </a:solidFill>
              </a:rPr>
              <a:t>实验目的</a:t>
            </a:r>
            <a:endParaRPr lang="zh-CN" altLang="en-US" sz="2600" smtClean="0">
              <a:solidFill>
                <a:srgbClr val="C00000"/>
              </a:solidFill>
            </a:endParaRPr>
          </a:p>
          <a:p>
            <a:r>
              <a:rPr lang="zh-CN" altLang="en-US" smtClean="0"/>
              <a:t>（</a:t>
            </a:r>
            <a:r>
              <a:rPr lang="en-US" altLang="zh-CN" smtClean="0"/>
              <a:t>1</a:t>
            </a:r>
            <a:r>
              <a:rPr lang="zh-CN" altLang="en-US" smtClean="0"/>
              <a:t>）了解端口漏洞扫描和远程监控方式。</a:t>
            </a:r>
            <a:endParaRPr lang="zh-CN" altLang="en-US" smtClean="0"/>
          </a:p>
          <a:p>
            <a:r>
              <a:rPr lang="zh-CN" altLang="en-US" smtClean="0"/>
              <a:t>（</a:t>
            </a:r>
            <a:r>
              <a:rPr lang="en-US" altLang="zh-CN" smtClean="0"/>
              <a:t>2</a:t>
            </a:r>
            <a:r>
              <a:rPr lang="zh-CN" altLang="en-US" smtClean="0"/>
              <a:t>）熟练掌握</a:t>
            </a:r>
            <a:r>
              <a:rPr lang="en-US" altLang="zh-CN" smtClean="0"/>
              <a:t>X-Scan</a:t>
            </a:r>
            <a:r>
              <a:rPr lang="zh-CN" altLang="en-US" smtClean="0"/>
              <a:t>漏洞扫描器的使用方法。</a:t>
            </a:r>
            <a:endParaRPr lang="zh-CN" altLang="en-US" smtClean="0"/>
          </a:p>
          <a:p>
            <a:r>
              <a:rPr lang="zh-CN" altLang="en-US" smtClean="0"/>
              <a:t>（</a:t>
            </a:r>
            <a:r>
              <a:rPr lang="en-US" altLang="zh-CN" smtClean="0"/>
              <a:t>3</a:t>
            </a:r>
            <a:r>
              <a:rPr lang="zh-CN" altLang="en-US" smtClean="0"/>
              <a:t>）理解操作系统漏洞，提高网络安全隐患意识。</a:t>
            </a:r>
            <a:endParaRPr lang="zh-CN" altLang="en-US" smtClean="0"/>
          </a:p>
          <a:p>
            <a:endParaRPr lang="zh-CN" altLang="en-US" sz="1600" smtClean="0">
              <a:solidFill>
                <a:srgbClr val="C00000"/>
              </a:solidFill>
            </a:endParaRPr>
          </a:p>
          <a:p>
            <a:pPr eaLnBrk="1" hangingPunct="1"/>
            <a:r>
              <a:rPr lang="en-US" altLang="zh-CN" sz="2600" smtClean="0">
                <a:solidFill>
                  <a:srgbClr val="C00000"/>
                </a:solidFill>
              </a:rPr>
              <a:t> 2</a:t>
            </a:r>
            <a:r>
              <a:rPr lang="en-US" altLang="en-US" sz="2600" smtClean="0">
                <a:solidFill>
                  <a:srgbClr val="C00000"/>
                </a:solidFill>
              </a:rPr>
              <a:t>.</a:t>
            </a:r>
            <a:r>
              <a:rPr lang="zh-CN" altLang="en-US" sz="2600" smtClean="0">
                <a:solidFill>
                  <a:srgbClr val="C00000"/>
                </a:solidFill>
              </a:rPr>
              <a:t>实验要求及方法</a:t>
            </a:r>
            <a:endParaRPr lang="zh-CN" altLang="en-US" sz="2600" smtClean="0">
              <a:solidFill>
                <a:srgbClr val="C00000"/>
              </a:solidFill>
            </a:endParaRPr>
          </a:p>
          <a:p>
            <a:r>
              <a:rPr lang="zh-CN" altLang="en-US" smtClean="0"/>
              <a:t>（</a:t>
            </a:r>
            <a:r>
              <a:rPr lang="en-US" altLang="zh-CN" smtClean="0"/>
              <a:t>1</a:t>
            </a:r>
            <a:r>
              <a:rPr lang="zh-CN" altLang="en-US" smtClean="0"/>
              <a:t>）连通的局域网及学生每人一台的计算机设备。</a:t>
            </a:r>
            <a:endParaRPr lang="zh-CN" altLang="en-US" smtClean="0"/>
          </a:p>
          <a:p>
            <a:r>
              <a:rPr lang="zh-CN" altLang="en-US" smtClean="0"/>
              <a:t>（</a:t>
            </a:r>
            <a:r>
              <a:rPr lang="en-US" altLang="zh-CN" smtClean="0"/>
              <a:t>2</a:t>
            </a:r>
            <a:r>
              <a:rPr lang="zh-CN" altLang="en-US" smtClean="0"/>
              <a:t>）下载、安装并可以使用的</a:t>
            </a:r>
            <a:r>
              <a:rPr lang="en-US" altLang="zh-CN" smtClean="0"/>
              <a:t>X-Scan</a:t>
            </a:r>
            <a:r>
              <a:rPr lang="zh-CN" altLang="en-US" smtClean="0"/>
              <a:t>扫描器。</a:t>
            </a:r>
            <a:endParaRPr lang="zh-CN" altLang="en-US" smtClean="0"/>
          </a:p>
          <a:p>
            <a:r>
              <a:rPr lang="zh-CN" altLang="en-US" smtClean="0"/>
              <a:t>建议实验学时：</a:t>
            </a:r>
            <a:r>
              <a:rPr lang="en-US" altLang="zh-CN" smtClean="0"/>
              <a:t>2</a:t>
            </a:r>
            <a:r>
              <a:rPr lang="zh-CN" altLang="en-US" smtClean="0"/>
              <a:t>学时。 </a:t>
            </a:r>
            <a:endParaRPr lang="zh-CN" altLang="en-US" smtClean="0"/>
          </a:p>
        </p:txBody>
      </p:sp>
      <p:sp>
        <p:nvSpPr>
          <p:cNvPr id="87042" name="Rectangle 3"/>
          <p:cNvSpPr>
            <a:spLocks noChangeArrowheads="1"/>
          </p:cNvSpPr>
          <p:nvPr/>
        </p:nvSpPr>
        <p:spPr bwMode="auto">
          <a:xfrm>
            <a:off x="0" y="1146175"/>
            <a:ext cx="9144000" cy="0"/>
          </a:xfrm>
          <a:prstGeom prst="rect">
            <a:avLst/>
          </a:prstGeom>
          <a:noFill/>
          <a:ln w="9525">
            <a:noFill/>
            <a:miter lim="800000"/>
          </a:ln>
        </p:spPr>
        <p:txBody>
          <a:bodyPr wrap="none" anchor="ctr">
            <a:spAutoFit/>
          </a:bodyPr>
          <a:lstStyle/>
          <a:p>
            <a:pPr algn="dist">
              <a:spcBef>
                <a:spcPct val="20000"/>
              </a:spcBef>
              <a:buFont typeface="Wingdings" panose="05000000000000000000" pitchFamily="2" charset="2"/>
              <a:buNone/>
            </a:pPr>
            <a:endParaRPr lang="zh-CN" altLang="en-US"/>
          </a:p>
        </p:txBody>
      </p:sp>
      <p:sp>
        <p:nvSpPr>
          <p:cNvPr id="87043" name="Rectangle 4"/>
          <p:cNvSpPr>
            <a:spLocks noChangeArrowheads="1"/>
          </p:cNvSpPr>
          <p:nvPr/>
        </p:nvSpPr>
        <p:spPr bwMode="auto">
          <a:xfrm>
            <a:off x="0" y="3184525"/>
            <a:ext cx="215900" cy="244475"/>
          </a:xfrm>
          <a:prstGeom prst="rect">
            <a:avLst/>
          </a:prstGeom>
          <a:noFill/>
          <a:ln w="9525">
            <a:noFill/>
            <a:miter lim="800000"/>
          </a:ln>
        </p:spPr>
        <p:txBody>
          <a:bodyPr wrap="none" anchor="ctr">
            <a:spAutoFit/>
          </a:bodyPr>
          <a:lstStyle/>
          <a:p>
            <a:r>
              <a:rPr lang="zh-CN" altLang="en-US" sz="1000">
                <a:solidFill>
                  <a:srgbClr val="000000"/>
                </a:solidFill>
                <a:latin typeface="Times New Roman" panose="02020603050405020304" pitchFamily="18" charset="0"/>
              </a:rPr>
              <a:t> </a:t>
            </a:r>
            <a:endParaRPr lang="zh-CN" altLang="en-US" sz="1800">
              <a:latin typeface="宋体" panose="02010600030101010101" pitchFamily="2" charset="-122"/>
            </a:endParaRPr>
          </a:p>
        </p:txBody>
      </p:sp>
      <p:sp>
        <p:nvSpPr>
          <p:cNvPr id="87044" name="Rectangle 7"/>
          <p:cNvSpPr>
            <a:spLocks noChangeArrowheads="1"/>
          </p:cNvSpPr>
          <p:nvPr/>
        </p:nvSpPr>
        <p:spPr bwMode="auto">
          <a:xfrm>
            <a:off x="0" y="1220788"/>
            <a:ext cx="9144000" cy="0"/>
          </a:xfrm>
          <a:prstGeom prst="rect">
            <a:avLst/>
          </a:prstGeom>
          <a:noFill/>
          <a:ln w="9525">
            <a:noFill/>
            <a:miter lim="800000"/>
          </a:ln>
        </p:spPr>
        <p:txBody>
          <a:bodyPr wrap="none" anchor="ctr">
            <a:spAutoFit/>
          </a:bodyPr>
          <a:lstStyle/>
          <a:p>
            <a:pPr algn="dist">
              <a:spcBef>
                <a:spcPct val="20000"/>
              </a:spcBef>
              <a:buFont typeface="Wingdings" panose="05000000000000000000" pitchFamily="2" charset="2"/>
              <a:buNone/>
            </a:pPr>
            <a:endParaRPr lang="zh-CN" altLang="en-US"/>
          </a:p>
        </p:txBody>
      </p:sp>
      <p:sp>
        <p:nvSpPr>
          <p:cNvPr id="87045" name="Rectangle 8"/>
          <p:cNvSpPr>
            <a:spLocks noChangeArrowheads="1"/>
          </p:cNvSpPr>
          <p:nvPr/>
        </p:nvSpPr>
        <p:spPr bwMode="auto">
          <a:xfrm>
            <a:off x="0" y="3222625"/>
            <a:ext cx="215900" cy="244475"/>
          </a:xfrm>
          <a:prstGeom prst="rect">
            <a:avLst/>
          </a:prstGeom>
          <a:noFill/>
          <a:ln w="9525">
            <a:noFill/>
            <a:miter lim="800000"/>
          </a:ln>
        </p:spPr>
        <p:txBody>
          <a:bodyPr wrap="none" anchor="ctr">
            <a:spAutoFit/>
          </a:bodyPr>
          <a:lstStyle/>
          <a:p>
            <a:r>
              <a:rPr lang="zh-CN" altLang="en-US" sz="1000">
                <a:solidFill>
                  <a:srgbClr val="000000"/>
                </a:solidFill>
                <a:latin typeface="Times New Roman" panose="02020603050405020304" pitchFamily="18" charset="0"/>
              </a:rPr>
              <a:t> </a:t>
            </a:r>
            <a:endParaRPr lang="zh-CN" altLang="en-US" sz="1800">
              <a:latin typeface="宋体" panose="02010600030101010101" pitchFamily="2" charset="-122"/>
            </a:endParaRPr>
          </a:p>
        </p:txBody>
      </p:sp>
      <p:sp>
        <p:nvSpPr>
          <p:cNvPr id="87046" name="标题 1"/>
          <p:cNvSpPr>
            <a:spLocks noChangeArrowheads="1"/>
          </p:cNvSpPr>
          <p:nvPr/>
        </p:nvSpPr>
        <p:spPr bwMode="auto">
          <a:xfrm>
            <a:off x="838200" y="152400"/>
            <a:ext cx="8305800" cy="563563"/>
          </a:xfrm>
          <a:prstGeom prst="rect">
            <a:avLst/>
          </a:prstGeom>
          <a:noFill/>
          <a:ln w="9525">
            <a:noFill/>
            <a:miter lim="800000"/>
          </a:ln>
        </p:spPr>
        <p:txBody>
          <a:bodyPr anchor="ctr"/>
          <a:lstStyle/>
          <a:p>
            <a:pPr algn="ctr"/>
            <a:r>
              <a:rPr lang="zh-CN" altLang="en-US" sz="3000" b="1">
                <a:solidFill>
                  <a:schemeClr val="bg1"/>
                </a:solidFill>
                <a:latin typeface="微软雅黑" panose="020B0503020204020204" charset="-122"/>
                <a:ea typeface="微软雅黑" panose="020B0503020204020204" charset="-122"/>
              </a:rPr>
              <a:t>*选做补充实验 网络漏洞扫描器</a:t>
            </a:r>
            <a:r>
              <a:rPr lang="en-US" altLang="zh-CN" sz="3000" b="1">
                <a:solidFill>
                  <a:schemeClr val="bg1"/>
                </a:solidFill>
                <a:latin typeface="微软雅黑" panose="020B0503020204020204" charset="-122"/>
                <a:ea typeface="微软雅黑" panose="020B0503020204020204" charset="-122"/>
              </a:rPr>
              <a:t>X-Scan</a:t>
            </a:r>
            <a:r>
              <a:rPr lang="zh-CN" altLang="en-US" sz="3000" b="1">
                <a:solidFill>
                  <a:schemeClr val="bg1"/>
                </a:solidFill>
                <a:latin typeface="微软雅黑" panose="020B0503020204020204" charset="-122"/>
                <a:ea typeface="微软雅黑" panose="020B0503020204020204" charset="-122"/>
              </a:rPr>
              <a:t>应用</a:t>
            </a:r>
            <a:r>
              <a:rPr lang="zh-CN" altLang="en-US" sz="3000" b="1">
                <a:solidFill>
                  <a:schemeClr val="bg1"/>
                </a:solidFill>
                <a:latin typeface="Verdana" panose="020B0604030504040204" pitchFamily="34" charset="0"/>
              </a:rPr>
              <a:t> </a:t>
            </a:r>
            <a:endParaRPr lang="zh-CN" altLang="en-US" sz="3000" b="1">
              <a:solidFill>
                <a:schemeClr val="bg1"/>
              </a:solidFill>
              <a:latin typeface="Verdana" panose="020B0604030504040204" pitchFamily="34" charset="0"/>
            </a:endParaRPr>
          </a:p>
        </p:txBody>
      </p:sp>
      <p:pic>
        <p:nvPicPr>
          <p:cNvPr id="87047" name="Picture 11" descr="MC900436992[1]"/>
          <p:cNvPicPr>
            <a:picLocks noChangeAspect="1" noChangeArrowheads="1"/>
          </p:cNvPicPr>
          <p:nvPr/>
        </p:nvPicPr>
        <p:blipFill>
          <a:blip r:embed="rId1" cstate="print"/>
          <a:srcRect/>
          <a:stretch>
            <a:fillRect/>
          </a:stretch>
        </p:blipFill>
        <p:spPr bwMode="auto">
          <a:xfrm>
            <a:off x="5943600" y="5029200"/>
            <a:ext cx="1930400" cy="1317625"/>
          </a:xfrm>
          <a:prstGeom prst="rect">
            <a:avLst/>
          </a:prstGeom>
          <a:noFill/>
          <a:ln w="9525">
            <a:noFill/>
            <a:miter lim="800000"/>
            <a:headEnd/>
            <a:tailEnd/>
          </a:ln>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内容占位符 2"/>
          <p:cNvSpPr>
            <a:spLocks noGrp="1" noChangeArrowheads="1"/>
          </p:cNvSpPr>
          <p:nvPr>
            <p:ph idx="4294967295"/>
          </p:nvPr>
        </p:nvSpPr>
        <p:spPr/>
        <p:txBody>
          <a:bodyPr/>
          <a:lstStyle/>
          <a:p>
            <a:pPr eaLnBrk="1" hangingPunct="1"/>
            <a:r>
              <a:rPr lang="en-US" altLang="zh-CN" sz="2600" smtClean="0">
                <a:solidFill>
                  <a:srgbClr val="C00000"/>
                </a:solidFill>
              </a:rPr>
              <a:t>3</a:t>
            </a:r>
            <a:r>
              <a:rPr lang="en-US" altLang="en-US" sz="2600" smtClean="0">
                <a:solidFill>
                  <a:srgbClr val="C00000"/>
                </a:solidFill>
              </a:rPr>
              <a:t>.</a:t>
            </a:r>
            <a:r>
              <a:rPr lang="zh-CN" altLang="en-US" sz="2600" smtClean="0">
                <a:solidFill>
                  <a:srgbClr val="C00000"/>
                </a:solidFill>
              </a:rPr>
              <a:t>实验原理</a:t>
            </a:r>
            <a:endParaRPr lang="zh-CN" altLang="en-US" sz="2600" smtClean="0">
              <a:solidFill>
                <a:srgbClr val="C00000"/>
              </a:solidFill>
            </a:endParaRPr>
          </a:p>
          <a:p>
            <a:r>
              <a:rPr lang="en-US" altLang="zh-CN" smtClean="0"/>
              <a:t>    X-Scan</a:t>
            </a:r>
            <a:r>
              <a:rPr lang="zh-CN" altLang="en-US" smtClean="0"/>
              <a:t>采用多线程方式对指定</a:t>
            </a:r>
            <a:r>
              <a:rPr lang="en-US" altLang="zh-CN" smtClean="0"/>
              <a:t>IP</a:t>
            </a:r>
            <a:r>
              <a:rPr lang="zh-CN" altLang="en-US" smtClean="0"/>
              <a:t>地址段（或单机）进行安全漏洞检测，支持插件功能。扫描内容包括：远程服务类型、操作系统类型及版本</a:t>
            </a:r>
            <a:r>
              <a:rPr lang="en-US" altLang="zh-CN" smtClean="0"/>
              <a:t>,</a:t>
            </a:r>
            <a:r>
              <a:rPr lang="zh-CN" altLang="en-US" smtClean="0"/>
              <a:t>各种弱口令漏洞、后门、应用服务漏洞、网络设备漏洞、拒绝服务漏洞等</a:t>
            </a:r>
            <a:r>
              <a:rPr lang="en-US" altLang="zh-CN" smtClean="0"/>
              <a:t>20</a:t>
            </a:r>
            <a:r>
              <a:rPr lang="zh-CN" altLang="en-US" smtClean="0"/>
              <a:t>多个大类。对于多数已知漏洞，给出了相应的漏洞描述、解决方案及详细描述链接。</a:t>
            </a:r>
            <a:endParaRPr lang="zh-CN" altLang="en-US" smtClean="0"/>
          </a:p>
          <a:p>
            <a:r>
              <a:rPr lang="en-US" altLang="zh-CN" sz="2600" smtClean="0">
                <a:solidFill>
                  <a:srgbClr val="C00000"/>
                </a:solidFill>
              </a:rPr>
              <a:t>4.</a:t>
            </a:r>
            <a:r>
              <a:rPr lang="zh-CN" altLang="en-US" sz="2600" smtClean="0">
                <a:solidFill>
                  <a:srgbClr val="C00000"/>
                </a:solidFill>
              </a:rPr>
              <a:t>实验内容和步骤</a:t>
            </a:r>
            <a:endParaRPr lang="zh-CN" altLang="en-US" sz="2600" smtClean="0">
              <a:solidFill>
                <a:srgbClr val="C00000"/>
              </a:solidFill>
            </a:endParaRPr>
          </a:p>
          <a:p>
            <a:r>
              <a:rPr lang="zh-CN" altLang="en-US" smtClean="0"/>
              <a:t>（</a:t>
            </a:r>
            <a:r>
              <a:rPr lang="en-US" altLang="zh-CN" smtClean="0"/>
              <a:t>1</a:t>
            </a:r>
            <a:r>
              <a:rPr lang="zh-CN" altLang="en-US" smtClean="0"/>
              <a:t>）</a:t>
            </a:r>
            <a:r>
              <a:rPr lang="en-US" altLang="zh-CN" smtClean="0"/>
              <a:t>X-scan v3.3</a:t>
            </a:r>
            <a:r>
              <a:rPr lang="zh-CN" altLang="en-US" smtClean="0"/>
              <a:t>采用多线程方式对指定</a:t>
            </a:r>
            <a:r>
              <a:rPr lang="en-US" altLang="zh-CN" smtClean="0"/>
              <a:t>IP</a:t>
            </a:r>
            <a:r>
              <a:rPr lang="zh-CN" altLang="en-US" smtClean="0"/>
              <a:t>地址段（或单机）进行安全漏洞扫描检测，</a:t>
            </a:r>
            <a:r>
              <a:rPr lang="en-US" altLang="zh-CN" smtClean="0"/>
              <a:t>SNMP</a:t>
            </a:r>
            <a:r>
              <a:rPr lang="zh-CN" altLang="en-US" smtClean="0"/>
              <a:t>信息，</a:t>
            </a:r>
            <a:r>
              <a:rPr lang="en-US" altLang="zh-CN" smtClean="0"/>
              <a:t>CGI</a:t>
            </a:r>
            <a:r>
              <a:rPr lang="zh-CN" altLang="en-US" smtClean="0"/>
              <a:t>漏洞，</a:t>
            </a:r>
            <a:r>
              <a:rPr lang="en-US" altLang="zh-CN" smtClean="0"/>
              <a:t>IIS</a:t>
            </a:r>
            <a:r>
              <a:rPr lang="zh-CN" altLang="en-US" smtClean="0"/>
              <a:t>漏洞，</a:t>
            </a:r>
            <a:r>
              <a:rPr lang="en-US" altLang="zh-CN" smtClean="0"/>
              <a:t>RPC</a:t>
            </a:r>
            <a:r>
              <a:rPr lang="zh-CN" altLang="en-US" smtClean="0"/>
              <a:t>漏洞，</a:t>
            </a:r>
            <a:r>
              <a:rPr lang="en-US" altLang="zh-CN" smtClean="0"/>
              <a:t>SSL</a:t>
            </a:r>
            <a:r>
              <a:rPr lang="zh-CN" altLang="en-US" smtClean="0"/>
              <a:t>漏洞，</a:t>
            </a:r>
            <a:r>
              <a:rPr lang="en-US" altLang="zh-CN" smtClean="0"/>
              <a:t>SQL-SERVER</a:t>
            </a:r>
            <a:r>
              <a:rPr lang="zh-CN" altLang="en-US" smtClean="0"/>
              <a:t>、</a:t>
            </a:r>
            <a:r>
              <a:rPr lang="en-US" altLang="zh-CN" smtClean="0"/>
              <a:t>SMTP-SERVER</a:t>
            </a:r>
            <a:r>
              <a:rPr lang="zh-CN" altLang="en-US" smtClean="0"/>
              <a:t>、弱口令用户等。对于多数已知漏洞，给出相应的漏洞描述、解决方案及详细描述链接</a:t>
            </a:r>
            <a:r>
              <a:rPr lang="en-US" altLang="zh-CN" smtClean="0"/>
              <a:t>.</a:t>
            </a:r>
            <a:r>
              <a:rPr lang="zh-CN" altLang="en-US" smtClean="0"/>
              <a:t>扫描结果保存在</a:t>
            </a:r>
            <a:r>
              <a:rPr lang="en-US" altLang="zh-CN" smtClean="0"/>
              <a:t>/log/</a:t>
            </a:r>
            <a:r>
              <a:rPr lang="zh-CN" altLang="en-US" smtClean="0"/>
              <a:t>目录中</a:t>
            </a:r>
            <a:r>
              <a:rPr lang="en-US" altLang="zh-CN" smtClean="0"/>
              <a:t>.</a:t>
            </a:r>
            <a:r>
              <a:rPr lang="zh-CN" altLang="en-US" smtClean="0"/>
              <a:t>其主界面如图</a:t>
            </a:r>
            <a:r>
              <a:rPr lang="en-US" altLang="zh-CN" smtClean="0"/>
              <a:t>1-13</a:t>
            </a:r>
            <a:r>
              <a:rPr lang="zh-CN" altLang="en-US" smtClean="0"/>
              <a:t>所示。 </a:t>
            </a:r>
            <a:endParaRPr lang="zh-CN" altLang="en-US" smtClean="0"/>
          </a:p>
        </p:txBody>
      </p:sp>
      <p:sp>
        <p:nvSpPr>
          <p:cNvPr id="88066" name="Rectangle 3"/>
          <p:cNvSpPr>
            <a:spLocks noChangeArrowheads="1"/>
          </p:cNvSpPr>
          <p:nvPr/>
        </p:nvSpPr>
        <p:spPr bwMode="auto">
          <a:xfrm>
            <a:off x="0" y="1146175"/>
            <a:ext cx="9144000" cy="0"/>
          </a:xfrm>
          <a:prstGeom prst="rect">
            <a:avLst/>
          </a:prstGeom>
          <a:noFill/>
          <a:ln w="9525">
            <a:noFill/>
            <a:miter lim="800000"/>
          </a:ln>
        </p:spPr>
        <p:txBody>
          <a:bodyPr wrap="none" anchor="ctr">
            <a:spAutoFit/>
          </a:bodyPr>
          <a:lstStyle/>
          <a:p>
            <a:pPr algn="dist">
              <a:spcBef>
                <a:spcPct val="20000"/>
              </a:spcBef>
              <a:buFont typeface="Wingdings" panose="05000000000000000000" pitchFamily="2" charset="2"/>
              <a:buNone/>
            </a:pPr>
            <a:endParaRPr lang="zh-CN" altLang="en-US"/>
          </a:p>
        </p:txBody>
      </p:sp>
      <p:sp>
        <p:nvSpPr>
          <p:cNvPr id="88067" name="Rectangle 4"/>
          <p:cNvSpPr>
            <a:spLocks noChangeArrowheads="1"/>
          </p:cNvSpPr>
          <p:nvPr/>
        </p:nvSpPr>
        <p:spPr bwMode="auto">
          <a:xfrm>
            <a:off x="0" y="3184525"/>
            <a:ext cx="215900" cy="244475"/>
          </a:xfrm>
          <a:prstGeom prst="rect">
            <a:avLst/>
          </a:prstGeom>
          <a:noFill/>
          <a:ln w="9525">
            <a:noFill/>
            <a:miter lim="800000"/>
          </a:ln>
        </p:spPr>
        <p:txBody>
          <a:bodyPr wrap="none" anchor="ctr">
            <a:spAutoFit/>
          </a:bodyPr>
          <a:lstStyle/>
          <a:p>
            <a:r>
              <a:rPr lang="zh-CN" altLang="en-US" sz="1000">
                <a:solidFill>
                  <a:srgbClr val="000000"/>
                </a:solidFill>
                <a:latin typeface="Times New Roman" panose="02020603050405020304" pitchFamily="18" charset="0"/>
              </a:rPr>
              <a:t> </a:t>
            </a:r>
            <a:endParaRPr lang="zh-CN" altLang="en-US" sz="1800">
              <a:latin typeface="宋体" panose="02010600030101010101" pitchFamily="2" charset="-122"/>
            </a:endParaRPr>
          </a:p>
        </p:txBody>
      </p:sp>
      <p:sp>
        <p:nvSpPr>
          <p:cNvPr id="88068" name="Rectangle 5"/>
          <p:cNvSpPr>
            <a:spLocks noChangeArrowheads="1"/>
          </p:cNvSpPr>
          <p:nvPr/>
        </p:nvSpPr>
        <p:spPr bwMode="auto">
          <a:xfrm>
            <a:off x="0" y="1220788"/>
            <a:ext cx="9144000" cy="0"/>
          </a:xfrm>
          <a:prstGeom prst="rect">
            <a:avLst/>
          </a:prstGeom>
          <a:noFill/>
          <a:ln w="9525">
            <a:noFill/>
            <a:miter lim="800000"/>
          </a:ln>
        </p:spPr>
        <p:txBody>
          <a:bodyPr wrap="none" anchor="ctr">
            <a:spAutoFit/>
          </a:bodyPr>
          <a:lstStyle/>
          <a:p>
            <a:pPr algn="dist">
              <a:spcBef>
                <a:spcPct val="20000"/>
              </a:spcBef>
              <a:buFont typeface="Wingdings" panose="05000000000000000000" pitchFamily="2" charset="2"/>
              <a:buNone/>
            </a:pPr>
            <a:endParaRPr lang="zh-CN" altLang="en-US"/>
          </a:p>
        </p:txBody>
      </p:sp>
      <p:sp>
        <p:nvSpPr>
          <p:cNvPr id="88069" name="Rectangle 6"/>
          <p:cNvSpPr>
            <a:spLocks noChangeArrowheads="1"/>
          </p:cNvSpPr>
          <p:nvPr/>
        </p:nvSpPr>
        <p:spPr bwMode="auto">
          <a:xfrm>
            <a:off x="0" y="3222625"/>
            <a:ext cx="215900" cy="244475"/>
          </a:xfrm>
          <a:prstGeom prst="rect">
            <a:avLst/>
          </a:prstGeom>
          <a:noFill/>
          <a:ln w="9525">
            <a:noFill/>
            <a:miter lim="800000"/>
          </a:ln>
        </p:spPr>
        <p:txBody>
          <a:bodyPr wrap="none" anchor="ctr">
            <a:spAutoFit/>
          </a:bodyPr>
          <a:lstStyle/>
          <a:p>
            <a:r>
              <a:rPr lang="zh-CN" altLang="en-US" sz="1000">
                <a:solidFill>
                  <a:srgbClr val="000000"/>
                </a:solidFill>
                <a:latin typeface="Times New Roman" panose="02020603050405020304" pitchFamily="18" charset="0"/>
              </a:rPr>
              <a:t> </a:t>
            </a:r>
            <a:endParaRPr lang="zh-CN" altLang="en-US" sz="1800">
              <a:latin typeface="宋体" panose="02010600030101010101" pitchFamily="2" charset="-122"/>
            </a:endParaRPr>
          </a:p>
        </p:txBody>
      </p:sp>
      <p:sp>
        <p:nvSpPr>
          <p:cNvPr id="88070" name="标题 1"/>
          <p:cNvSpPr>
            <a:spLocks noChangeArrowheads="1"/>
          </p:cNvSpPr>
          <p:nvPr/>
        </p:nvSpPr>
        <p:spPr bwMode="auto">
          <a:xfrm>
            <a:off x="838200" y="152400"/>
            <a:ext cx="8305800" cy="563563"/>
          </a:xfrm>
          <a:prstGeom prst="rect">
            <a:avLst/>
          </a:prstGeom>
          <a:noFill/>
          <a:ln w="9525">
            <a:noFill/>
            <a:miter lim="800000"/>
          </a:ln>
        </p:spPr>
        <p:txBody>
          <a:bodyPr anchor="ctr"/>
          <a:lstStyle/>
          <a:p>
            <a:pPr algn="ctr"/>
            <a:r>
              <a:rPr lang="zh-CN" altLang="en-US" sz="3000" b="1">
                <a:solidFill>
                  <a:schemeClr val="bg1"/>
                </a:solidFill>
                <a:latin typeface="微软雅黑" panose="020B0503020204020204" charset="-122"/>
                <a:ea typeface="微软雅黑" panose="020B0503020204020204" charset="-122"/>
              </a:rPr>
              <a:t>*选做补充实验 网络漏洞扫描器</a:t>
            </a:r>
            <a:r>
              <a:rPr lang="en-US" altLang="zh-CN" sz="3000" b="1">
                <a:solidFill>
                  <a:schemeClr val="bg1"/>
                </a:solidFill>
                <a:latin typeface="微软雅黑" panose="020B0503020204020204" charset="-122"/>
                <a:ea typeface="微软雅黑" panose="020B0503020204020204" charset="-122"/>
              </a:rPr>
              <a:t>X-Scan</a:t>
            </a:r>
            <a:r>
              <a:rPr lang="zh-CN" altLang="en-US" sz="3000" b="1">
                <a:solidFill>
                  <a:schemeClr val="bg1"/>
                </a:solidFill>
                <a:latin typeface="微软雅黑" panose="020B0503020204020204" charset="-122"/>
                <a:ea typeface="微软雅黑" panose="020B0503020204020204" charset="-122"/>
              </a:rPr>
              <a:t>应用</a:t>
            </a:r>
            <a:r>
              <a:rPr lang="zh-CN" altLang="en-US" sz="3000" b="1">
                <a:solidFill>
                  <a:schemeClr val="bg1"/>
                </a:solidFill>
                <a:latin typeface="Verdana" panose="020B0604030504040204" pitchFamily="34" charset="0"/>
              </a:rPr>
              <a:t> </a:t>
            </a:r>
            <a:endParaRPr lang="zh-CN" altLang="en-US" sz="3000" b="1">
              <a:solidFill>
                <a:schemeClr val="bg1"/>
              </a:solidFill>
              <a:latin typeface="Verdana" panose="020B0604030504040204" pitchFamily="34" charset="0"/>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3"/>
          <p:cNvSpPr>
            <a:spLocks noChangeArrowheads="1"/>
          </p:cNvSpPr>
          <p:nvPr/>
        </p:nvSpPr>
        <p:spPr bwMode="auto">
          <a:xfrm>
            <a:off x="0" y="1146175"/>
            <a:ext cx="9144000" cy="0"/>
          </a:xfrm>
          <a:prstGeom prst="rect">
            <a:avLst/>
          </a:prstGeom>
          <a:noFill/>
          <a:ln w="9525">
            <a:noFill/>
            <a:miter lim="800000"/>
          </a:ln>
        </p:spPr>
        <p:txBody>
          <a:bodyPr wrap="none" anchor="ctr">
            <a:spAutoFit/>
          </a:bodyPr>
          <a:lstStyle/>
          <a:p>
            <a:pPr algn="dist">
              <a:spcBef>
                <a:spcPct val="20000"/>
              </a:spcBef>
              <a:buFont typeface="Wingdings" panose="05000000000000000000" pitchFamily="2" charset="2"/>
              <a:buNone/>
            </a:pPr>
            <a:endParaRPr lang="zh-CN" altLang="en-US"/>
          </a:p>
        </p:txBody>
      </p:sp>
      <p:sp>
        <p:nvSpPr>
          <p:cNvPr id="89090" name="Rectangle 4"/>
          <p:cNvSpPr>
            <a:spLocks noChangeArrowheads="1"/>
          </p:cNvSpPr>
          <p:nvPr/>
        </p:nvSpPr>
        <p:spPr bwMode="auto">
          <a:xfrm>
            <a:off x="0" y="3184525"/>
            <a:ext cx="215900" cy="244475"/>
          </a:xfrm>
          <a:prstGeom prst="rect">
            <a:avLst/>
          </a:prstGeom>
          <a:noFill/>
          <a:ln w="9525">
            <a:noFill/>
            <a:miter lim="800000"/>
          </a:ln>
        </p:spPr>
        <p:txBody>
          <a:bodyPr wrap="none" anchor="ctr">
            <a:spAutoFit/>
          </a:bodyPr>
          <a:lstStyle/>
          <a:p>
            <a:r>
              <a:rPr lang="zh-CN" altLang="en-US" sz="1000">
                <a:solidFill>
                  <a:srgbClr val="000000"/>
                </a:solidFill>
                <a:latin typeface="Times New Roman" panose="02020603050405020304" pitchFamily="18" charset="0"/>
              </a:rPr>
              <a:t> </a:t>
            </a:r>
            <a:endParaRPr lang="zh-CN" altLang="en-US" sz="1800">
              <a:latin typeface="宋体" panose="02010600030101010101" pitchFamily="2" charset="-122"/>
            </a:endParaRPr>
          </a:p>
        </p:txBody>
      </p:sp>
      <p:sp>
        <p:nvSpPr>
          <p:cNvPr id="89091" name="Rectangle 5"/>
          <p:cNvSpPr>
            <a:spLocks noChangeArrowheads="1"/>
          </p:cNvSpPr>
          <p:nvPr/>
        </p:nvSpPr>
        <p:spPr bwMode="auto">
          <a:xfrm>
            <a:off x="0" y="1220788"/>
            <a:ext cx="9144000" cy="0"/>
          </a:xfrm>
          <a:prstGeom prst="rect">
            <a:avLst/>
          </a:prstGeom>
          <a:noFill/>
          <a:ln w="9525">
            <a:noFill/>
            <a:miter lim="800000"/>
          </a:ln>
        </p:spPr>
        <p:txBody>
          <a:bodyPr wrap="none" anchor="ctr">
            <a:spAutoFit/>
          </a:bodyPr>
          <a:lstStyle/>
          <a:p>
            <a:pPr algn="dist">
              <a:spcBef>
                <a:spcPct val="20000"/>
              </a:spcBef>
              <a:buFont typeface="Wingdings" panose="05000000000000000000" pitchFamily="2" charset="2"/>
              <a:buNone/>
            </a:pPr>
            <a:endParaRPr lang="zh-CN" altLang="en-US"/>
          </a:p>
        </p:txBody>
      </p:sp>
      <p:sp>
        <p:nvSpPr>
          <p:cNvPr id="89092" name="Rectangle 6"/>
          <p:cNvSpPr>
            <a:spLocks noChangeArrowheads="1"/>
          </p:cNvSpPr>
          <p:nvPr/>
        </p:nvSpPr>
        <p:spPr bwMode="auto">
          <a:xfrm>
            <a:off x="0" y="3222625"/>
            <a:ext cx="215900" cy="244475"/>
          </a:xfrm>
          <a:prstGeom prst="rect">
            <a:avLst/>
          </a:prstGeom>
          <a:noFill/>
          <a:ln w="9525">
            <a:noFill/>
            <a:miter lim="800000"/>
          </a:ln>
        </p:spPr>
        <p:txBody>
          <a:bodyPr wrap="none" anchor="ctr">
            <a:spAutoFit/>
          </a:bodyPr>
          <a:lstStyle/>
          <a:p>
            <a:r>
              <a:rPr lang="zh-CN" altLang="en-US" sz="1000">
                <a:solidFill>
                  <a:srgbClr val="000000"/>
                </a:solidFill>
                <a:latin typeface="Times New Roman" panose="02020603050405020304" pitchFamily="18" charset="0"/>
              </a:rPr>
              <a:t> </a:t>
            </a:r>
            <a:endParaRPr lang="zh-CN" altLang="en-US" sz="1800">
              <a:latin typeface="宋体" panose="02010600030101010101" pitchFamily="2" charset="-122"/>
            </a:endParaRPr>
          </a:p>
        </p:txBody>
      </p:sp>
      <p:pic>
        <p:nvPicPr>
          <p:cNvPr id="89093" name="Picture 9"/>
          <p:cNvPicPr>
            <a:picLocks noChangeAspect="1" noChangeArrowheads="1"/>
          </p:cNvPicPr>
          <p:nvPr/>
        </p:nvPicPr>
        <p:blipFill>
          <a:blip r:embed="rId1" cstate="print"/>
          <a:srcRect/>
          <a:stretch>
            <a:fillRect/>
          </a:stretch>
        </p:blipFill>
        <p:spPr bwMode="auto">
          <a:xfrm>
            <a:off x="304800" y="1828800"/>
            <a:ext cx="4419600" cy="3556000"/>
          </a:xfrm>
          <a:prstGeom prst="rect">
            <a:avLst/>
          </a:prstGeom>
          <a:noFill/>
          <a:ln w="9525">
            <a:noFill/>
            <a:miter lim="800000"/>
            <a:headEnd/>
            <a:tailEnd/>
          </a:ln>
        </p:spPr>
      </p:pic>
      <p:pic>
        <p:nvPicPr>
          <p:cNvPr id="89094" name="Picture 8"/>
          <p:cNvPicPr>
            <a:picLocks noChangeAspect="1" noChangeArrowheads="1"/>
          </p:cNvPicPr>
          <p:nvPr/>
        </p:nvPicPr>
        <p:blipFill>
          <a:blip r:embed="rId2" cstate="print"/>
          <a:srcRect/>
          <a:stretch>
            <a:fillRect/>
          </a:stretch>
        </p:blipFill>
        <p:spPr bwMode="auto">
          <a:xfrm>
            <a:off x="4876800" y="1828800"/>
            <a:ext cx="4114800" cy="3471863"/>
          </a:xfrm>
          <a:prstGeom prst="rect">
            <a:avLst/>
          </a:prstGeom>
          <a:noFill/>
          <a:ln w="9525">
            <a:noFill/>
            <a:miter lim="800000"/>
            <a:headEnd/>
            <a:tailEnd/>
          </a:ln>
        </p:spPr>
      </p:pic>
      <p:sp>
        <p:nvSpPr>
          <p:cNvPr id="89095" name="Rectangle 10"/>
          <p:cNvSpPr>
            <a:spLocks noChangeArrowheads="1"/>
          </p:cNvSpPr>
          <p:nvPr/>
        </p:nvSpPr>
        <p:spPr bwMode="auto">
          <a:xfrm>
            <a:off x="0" y="1125538"/>
            <a:ext cx="9144000" cy="0"/>
          </a:xfrm>
          <a:prstGeom prst="rect">
            <a:avLst/>
          </a:prstGeom>
          <a:noFill/>
          <a:ln w="9525">
            <a:noFill/>
            <a:miter lim="800000"/>
          </a:ln>
        </p:spPr>
        <p:txBody>
          <a:bodyPr wrap="none" anchor="ctr">
            <a:spAutoFit/>
          </a:bodyPr>
          <a:lstStyle/>
          <a:p>
            <a:pPr algn="dist">
              <a:spcBef>
                <a:spcPct val="20000"/>
              </a:spcBef>
              <a:buFont typeface="Wingdings" panose="05000000000000000000" pitchFamily="2" charset="2"/>
              <a:buNone/>
            </a:pPr>
            <a:endParaRPr lang="zh-CN" altLang="en-US"/>
          </a:p>
        </p:txBody>
      </p:sp>
      <p:sp>
        <p:nvSpPr>
          <p:cNvPr id="89096" name="Rectangle 11"/>
          <p:cNvSpPr>
            <a:spLocks noChangeArrowheads="1"/>
          </p:cNvSpPr>
          <p:nvPr/>
        </p:nvSpPr>
        <p:spPr bwMode="auto">
          <a:xfrm>
            <a:off x="4448175" y="3201988"/>
            <a:ext cx="247650" cy="244475"/>
          </a:xfrm>
          <a:prstGeom prst="rect">
            <a:avLst/>
          </a:prstGeom>
          <a:noFill/>
          <a:ln w="9525">
            <a:noFill/>
            <a:miter lim="800000"/>
          </a:ln>
        </p:spPr>
        <p:txBody>
          <a:bodyPr wrap="none" anchor="ctr">
            <a:spAutoFit/>
          </a:bodyPr>
          <a:lstStyle/>
          <a:p>
            <a:pPr algn="ctr" eaLnBrk="0" hangingPunct="0">
              <a:spcBef>
                <a:spcPct val="20000"/>
              </a:spcBef>
              <a:buFont typeface="Wingdings" panose="05000000000000000000" pitchFamily="2" charset="2"/>
              <a:buNone/>
            </a:pPr>
            <a:r>
              <a:rPr lang="zh-CN" altLang="en-US" sz="1000">
                <a:latin typeface="宋体" panose="02010600030101010101" pitchFamily="2" charset="-122"/>
              </a:rPr>
              <a:t> </a:t>
            </a:r>
            <a:endParaRPr lang="zh-CN" altLang="en-US"/>
          </a:p>
        </p:txBody>
      </p:sp>
      <p:sp>
        <p:nvSpPr>
          <p:cNvPr id="89097" name="Rectangle 12"/>
          <p:cNvSpPr>
            <a:spLocks noChangeArrowheads="1"/>
          </p:cNvSpPr>
          <p:nvPr/>
        </p:nvSpPr>
        <p:spPr bwMode="auto">
          <a:xfrm>
            <a:off x="1063625" y="5435600"/>
            <a:ext cx="7004050" cy="366713"/>
          </a:xfrm>
          <a:prstGeom prst="rect">
            <a:avLst/>
          </a:prstGeom>
          <a:noFill/>
          <a:ln w="9525">
            <a:noFill/>
            <a:miter lim="800000"/>
          </a:ln>
        </p:spPr>
        <p:txBody>
          <a:bodyPr wrap="none" anchor="ctr">
            <a:spAutoFit/>
          </a:bodyPr>
          <a:lstStyle/>
          <a:p>
            <a:pPr algn="ctr" eaLnBrk="0" hangingPunct="0">
              <a:spcBef>
                <a:spcPct val="20000"/>
              </a:spcBef>
              <a:buFont typeface="Wingdings" panose="05000000000000000000" pitchFamily="2" charset="2"/>
              <a:buNone/>
            </a:pPr>
            <a:r>
              <a:rPr lang="zh-CN" altLang="en-US" sz="1800" b="1">
                <a:latin typeface="宋体" panose="02010600030101010101" pitchFamily="2" charset="-122"/>
              </a:rPr>
              <a:t>图</a:t>
            </a:r>
            <a:r>
              <a:rPr lang="en-US" altLang="zh-CN" sz="1800" b="1">
                <a:latin typeface="宋体" panose="02010600030101010101" pitchFamily="2" charset="-122"/>
              </a:rPr>
              <a:t>1-13 X-scan</a:t>
            </a:r>
            <a:r>
              <a:rPr lang="zh-CN" altLang="en-US" sz="1800" b="1">
                <a:latin typeface="宋体" panose="02010600030101010101" pitchFamily="2" charset="-122"/>
              </a:rPr>
              <a:t>主界面                   图</a:t>
            </a:r>
            <a:r>
              <a:rPr lang="en-US" altLang="zh-CN" sz="1800" b="1">
                <a:latin typeface="宋体" panose="02010600030101010101" pitchFamily="2" charset="-122"/>
              </a:rPr>
              <a:t>1-14 </a:t>
            </a:r>
            <a:r>
              <a:rPr lang="zh-CN" altLang="en-US" sz="1800" b="1">
                <a:latin typeface="宋体" panose="02010600030101010101" pitchFamily="2" charset="-122"/>
              </a:rPr>
              <a:t>扫描参数设定</a:t>
            </a:r>
            <a:endParaRPr lang="zh-CN" altLang="en-US" sz="1800" b="1"/>
          </a:p>
        </p:txBody>
      </p:sp>
      <p:sp>
        <p:nvSpPr>
          <p:cNvPr id="89098" name="Rectangle 14"/>
          <p:cNvSpPr>
            <a:spLocks noChangeArrowheads="1"/>
          </p:cNvSpPr>
          <p:nvPr/>
        </p:nvSpPr>
        <p:spPr bwMode="auto">
          <a:xfrm>
            <a:off x="457200" y="1219200"/>
            <a:ext cx="2582863" cy="457200"/>
          </a:xfrm>
          <a:prstGeom prst="rect">
            <a:avLst/>
          </a:prstGeom>
          <a:noFill/>
          <a:ln w="9525">
            <a:noFill/>
            <a:miter lim="800000"/>
          </a:ln>
        </p:spPr>
        <p:txBody>
          <a:bodyPr wrap="none">
            <a:spAutoFit/>
          </a:bodyPr>
          <a:lstStyle/>
          <a:p>
            <a:pPr algn="dist">
              <a:spcBef>
                <a:spcPct val="20000"/>
              </a:spcBef>
              <a:buFont typeface="Wingdings" panose="05000000000000000000" pitchFamily="2" charset="2"/>
              <a:buNone/>
            </a:pPr>
            <a:r>
              <a:rPr lang="en-US" altLang="zh-CN" b="1">
                <a:solidFill>
                  <a:srgbClr val="C00000"/>
                </a:solidFill>
              </a:rPr>
              <a:t>4.</a:t>
            </a:r>
            <a:r>
              <a:rPr lang="zh-CN" altLang="en-US" b="1">
                <a:solidFill>
                  <a:srgbClr val="C00000"/>
                </a:solidFill>
              </a:rPr>
              <a:t>实验内容和步骤</a:t>
            </a:r>
            <a:endParaRPr lang="zh-CN" altLang="en-US" b="1">
              <a:solidFill>
                <a:srgbClr val="C00000"/>
              </a:solidFill>
            </a:endParaRPr>
          </a:p>
        </p:txBody>
      </p:sp>
      <p:sp>
        <p:nvSpPr>
          <p:cNvPr id="89099" name="标题 1"/>
          <p:cNvSpPr>
            <a:spLocks noChangeArrowheads="1"/>
          </p:cNvSpPr>
          <p:nvPr/>
        </p:nvSpPr>
        <p:spPr bwMode="auto">
          <a:xfrm>
            <a:off x="838200" y="152400"/>
            <a:ext cx="8305800" cy="563563"/>
          </a:xfrm>
          <a:prstGeom prst="rect">
            <a:avLst/>
          </a:prstGeom>
          <a:noFill/>
          <a:ln w="9525">
            <a:noFill/>
            <a:miter lim="800000"/>
          </a:ln>
        </p:spPr>
        <p:txBody>
          <a:bodyPr anchor="ctr"/>
          <a:lstStyle/>
          <a:p>
            <a:pPr algn="ctr"/>
            <a:r>
              <a:rPr lang="zh-CN" altLang="en-US" sz="3000" b="1">
                <a:solidFill>
                  <a:schemeClr val="bg1"/>
                </a:solidFill>
                <a:latin typeface="微软雅黑" panose="020B0503020204020204" charset="-122"/>
                <a:ea typeface="微软雅黑" panose="020B0503020204020204" charset="-122"/>
              </a:rPr>
              <a:t>*选做补充实验 网络漏洞扫描器</a:t>
            </a:r>
            <a:r>
              <a:rPr lang="en-US" altLang="zh-CN" sz="3000" b="1">
                <a:solidFill>
                  <a:schemeClr val="bg1"/>
                </a:solidFill>
                <a:latin typeface="微软雅黑" panose="020B0503020204020204" charset="-122"/>
                <a:ea typeface="微软雅黑" panose="020B0503020204020204" charset="-122"/>
              </a:rPr>
              <a:t>X-Scan</a:t>
            </a:r>
            <a:r>
              <a:rPr lang="zh-CN" altLang="en-US" sz="3000" b="1">
                <a:solidFill>
                  <a:schemeClr val="bg1"/>
                </a:solidFill>
                <a:latin typeface="微软雅黑" panose="020B0503020204020204" charset="-122"/>
                <a:ea typeface="微软雅黑" panose="020B0503020204020204" charset="-122"/>
              </a:rPr>
              <a:t>应用</a:t>
            </a:r>
            <a:r>
              <a:rPr lang="zh-CN" altLang="en-US" sz="3000" b="1">
                <a:solidFill>
                  <a:schemeClr val="bg1"/>
                </a:solidFill>
                <a:latin typeface="Verdana" panose="020B0604030504040204" pitchFamily="34" charset="0"/>
              </a:rPr>
              <a:t> </a:t>
            </a:r>
            <a:endParaRPr lang="zh-CN" altLang="en-US" sz="3000" b="1">
              <a:solidFill>
                <a:schemeClr val="bg1"/>
              </a:solidFill>
              <a:latin typeface="Verdana" panose="020B0604030504040204" pitchFamily="34" charset="0"/>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p:txBody>
          <a:bodyPr/>
          <a:lstStyle/>
          <a:p>
            <a:r>
              <a:rPr lang="zh-CN" altLang="zh-CN" smtClean="0">
                <a:effectLst>
                  <a:outerShdw blurRad="38100" dist="38100" dir="2700000" algn="tl">
                    <a:srgbClr val="C0C0C0"/>
                  </a:outerShdw>
                </a:effectLst>
              </a:rPr>
              <a:t>（</a:t>
            </a:r>
            <a:r>
              <a:rPr lang="en-US" altLang="zh-CN" smtClean="0">
                <a:effectLst>
                  <a:outerShdw blurRad="38100" dist="38100" dir="2700000" algn="tl">
                    <a:srgbClr val="C0C0C0"/>
                  </a:outerShdw>
                </a:effectLst>
              </a:rPr>
              <a:t>2</a:t>
            </a:r>
            <a:r>
              <a:rPr lang="zh-CN" altLang="en-US" smtClean="0">
                <a:effectLst>
                  <a:outerShdw blurRad="38100" dist="38100" dir="2700000" algn="tl">
                    <a:srgbClr val="C0C0C0"/>
                  </a:outerShdw>
                </a:effectLst>
              </a:rPr>
              <a:t>）进行扫描检测</a:t>
            </a:r>
            <a:endParaRPr lang="zh-CN" altLang="en-US" smtClean="0">
              <a:effectLst>
                <a:outerShdw blurRad="38100" dist="38100" dir="2700000" algn="tl">
                  <a:srgbClr val="C0C0C0"/>
                </a:outerShdw>
              </a:effectLst>
            </a:endParaRPr>
          </a:p>
          <a:p>
            <a:r>
              <a:rPr lang="zh-CN" altLang="en-US" sz="2000" smtClean="0">
                <a:effectLst>
                  <a:outerShdw blurRad="38100" dist="38100" dir="2700000" algn="tl">
                    <a:srgbClr val="C0C0C0"/>
                  </a:outerShdw>
                </a:effectLst>
              </a:rPr>
              <a:t>第一步：配置扫描参数。在如图</a:t>
            </a:r>
            <a:r>
              <a:rPr lang="en-US" altLang="zh-CN" sz="2000" smtClean="0">
                <a:effectLst>
                  <a:outerShdw blurRad="38100" dist="38100" dir="2700000" algn="tl">
                    <a:srgbClr val="C0C0C0"/>
                  </a:outerShdw>
                </a:effectLst>
              </a:rPr>
              <a:t>1-14</a:t>
            </a:r>
            <a:r>
              <a:rPr lang="zh-CN" altLang="en-US" sz="2000" smtClean="0">
                <a:effectLst>
                  <a:outerShdw blurRad="38100" dist="38100" dir="2700000" algn="tl">
                    <a:srgbClr val="C0C0C0"/>
                  </a:outerShdw>
                </a:effectLst>
              </a:rPr>
              <a:t>所示“扫描参数”界面中</a:t>
            </a:r>
            <a:r>
              <a:rPr lang="en-US" altLang="zh-CN" sz="2000" smtClean="0">
                <a:effectLst>
                  <a:outerShdw blurRad="38100" dist="38100" dir="2700000" algn="tl">
                    <a:srgbClr val="C0C0C0"/>
                  </a:outerShdw>
                </a:effectLst>
              </a:rPr>
              <a:t>,</a:t>
            </a:r>
            <a:r>
              <a:rPr lang="zh-CN" altLang="en-US" sz="2000" smtClean="0">
                <a:effectLst>
                  <a:outerShdw blurRad="38100" dist="38100" dir="2700000" algn="tl">
                    <a:srgbClr val="C0C0C0"/>
                  </a:outerShdw>
                </a:effectLst>
              </a:rPr>
              <a:t>先进行扫描参数设定</a:t>
            </a:r>
            <a:r>
              <a:rPr lang="en-US" altLang="zh-CN" sz="2000" smtClean="0">
                <a:effectLst>
                  <a:outerShdw blurRad="38100" dist="38100" dir="2700000" algn="tl">
                    <a:srgbClr val="C0C0C0"/>
                  </a:outerShdw>
                </a:effectLst>
              </a:rPr>
              <a:t>,</a:t>
            </a:r>
            <a:r>
              <a:rPr lang="zh-CN" altLang="en-US" sz="2000" smtClean="0">
                <a:effectLst>
                  <a:outerShdw blurRad="38100" dist="38100" dir="2700000" algn="tl">
                    <a:srgbClr val="C0C0C0"/>
                  </a:outerShdw>
                </a:effectLst>
              </a:rPr>
              <a:t>在指定</a:t>
            </a:r>
            <a:r>
              <a:rPr lang="en-US" altLang="zh-CN" sz="2000" smtClean="0">
                <a:effectLst>
                  <a:outerShdw blurRad="38100" dist="38100" dir="2700000" algn="tl">
                    <a:srgbClr val="C0C0C0"/>
                  </a:outerShdw>
                </a:effectLst>
              </a:rPr>
              <a:t>IP</a:t>
            </a:r>
            <a:r>
              <a:rPr lang="zh-CN" altLang="en-US" sz="2000" smtClean="0">
                <a:effectLst>
                  <a:outerShdw blurRad="38100" dist="38100" dir="2700000" algn="tl">
                    <a:srgbClr val="C0C0C0"/>
                  </a:outerShdw>
                </a:effectLst>
              </a:rPr>
              <a:t>范围中内输入要扫描主机</a:t>
            </a:r>
            <a:r>
              <a:rPr lang="en-US" altLang="zh-CN" sz="2000" smtClean="0">
                <a:effectLst>
                  <a:outerShdw blurRad="38100" dist="38100" dir="2700000" algn="tl">
                    <a:srgbClr val="C0C0C0"/>
                  </a:outerShdw>
                </a:effectLst>
              </a:rPr>
              <a:t>ip</a:t>
            </a:r>
            <a:r>
              <a:rPr lang="zh-CN" altLang="en-US" sz="2000" smtClean="0">
                <a:effectLst>
                  <a:outerShdw blurRad="38100" dist="38100" dir="2700000" algn="tl">
                    <a:srgbClr val="C0C0C0"/>
                  </a:outerShdw>
                </a:effectLst>
              </a:rPr>
              <a:t>地址（或是一范围）</a:t>
            </a:r>
            <a:r>
              <a:rPr lang="en-US" altLang="zh-CN" sz="2000" smtClean="0">
                <a:effectLst>
                  <a:outerShdw blurRad="38100" dist="38100" dir="2700000" algn="tl">
                    <a:srgbClr val="C0C0C0"/>
                  </a:outerShdw>
                </a:effectLst>
              </a:rPr>
              <a:t>,</a:t>
            </a:r>
            <a:r>
              <a:rPr lang="zh-CN" altLang="en-US" sz="2000" smtClean="0">
                <a:effectLst>
                  <a:outerShdw blurRad="38100" dist="38100" dir="2700000" algn="tl">
                    <a:srgbClr val="C0C0C0"/>
                  </a:outerShdw>
                </a:effectLst>
              </a:rPr>
              <a:t>设置为目标机服务器的</a:t>
            </a:r>
            <a:r>
              <a:rPr lang="en-US" altLang="zh-CN" sz="2000" smtClean="0">
                <a:effectLst>
                  <a:outerShdw blurRad="38100" dist="38100" dir="2700000" algn="tl">
                    <a:srgbClr val="C0C0C0"/>
                  </a:outerShdw>
                </a:effectLst>
              </a:rPr>
              <a:t>IP</a:t>
            </a:r>
            <a:r>
              <a:rPr lang="zh-CN" altLang="en-US" sz="2000" smtClean="0">
                <a:effectLst>
                  <a:outerShdw blurRad="38100" dist="38100" dir="2700000" algn="tl">
                    <a:srgbClr val="C0C0C0"/>
                  </a:outerShdw>
                </a:effectLst>
              </a:rPr>
              <a:t>地址</a:t>
            </a:r>
            <a:r>
              <a:rPr lang="en-US" altLang="zh-CN" sz="2000" smtClean="0">
                <a:effectLst>
                  <a:outerShdw blurRad="38100" dist="38100" dir="2700000" algn="tl">
                    <a:srgbClr val="C0C0C0"/>
                  </a:outerShdw>
                </a:effectLst>
              </a:rPr>
              <a:t>,172.16.167.195,</a:t>
            </a:r>
            <a:r>
              <a:rPr lang="zh-CN" altLang="en-US" sz="2000" smtClean="0">
                <a:effectLst>
                  <a:outerShdw blurRad="38100" dist="38100" dir="2700000" algn="tl">
                    <a:srgbClr val="C0C0C0"/>
                  </a:outerShdw>
                </a:effectLst>
              </a:rPr>
              <a:t>点击“确定”进入如图</a:t>
            </a:r>
            <a:r>
              <a:rPr lang="en-US" altLang="zh-CN" sz="2000" smtClean="0">
                <a:effectLst>
                  <a:outerShdw blurRad="38100" dist="38100" dir="2700000" algn="tl">
                    <a:srgbClr val="C0C0C0"/>
                  </a:outerShdw>
                </a:effectLst>
              </a:rPr>
              <a:t>1-15</a:t>
            </a:r>
            <a:r>
              <a:rPr lang="zh-CN" altLang="en-US" sz="2000" smtClean="0">
                <a:effectLst>
                  <a:outerShdw blurRad="38100" dist="38100" dir="2700000" algn="tl">
                    <a:srgbClr val="C0C0C0"/>
                  </a:outerShdw>
                </a:effectLst>
              </a:rPr>
              <a:t>所示界面继续设置</a:t>
            </a:r>
            <a:r>
              <a:rPr lang="en-US" altLang="zh-CN" sz="2000" smtClean="0">
                <a:effectLst>
                  <a:outerShdw blurRad="38100" dist="38100" dir="2700000" algn="tl">
                    <a:srgbClr val="C0C0C0"/>
                  </a:outerShdw>
                </a:effectLst>
              </a:rPr>
              <a:t>.</a:t>
            </a:r>
            <a:endParaRPr lang="en-US" altLang="zh-CN" sz="2000" smtClean="0">
              <a:effectLst>
                <a:outerShdw blurRad="38100" dist="38100" dir="2700000" algn="tl">
                  <a:srgbClr val="C0C0C0"/>
                </a:outerShdw>
              </a:effectLst>
            </a:endParaRPr>
          </a:p>
          <a:p>
            <a:r>
              <a:rPr lang="zh-CN" altLang="en-US" sz="2000" smtClean="0">
                <a:effectLst>
                  <a:outerShdw blurRad="38100" dist="38100" dir="2700000" algn="tl">
                    <a:srgbClr val="C0C0C0"/>
                  </a:outerShdw>
                </a:effectLst>
              </a:rPr>
              <a:t>为了提高扫描效率，选择跳过</a:t>
            </a:r>
            <a:r>
              <a:rPr lang="en-US" altLang="zh-CN" sz="2000" smtClean="0">
                <a:effectLst>
                  <a:outerShdw blurRad="38100" dist="38100" dir="2700000" algn="tl">
                    <a:srgbClr val="C0C0C0"/>
                  </a:outerShdw>
                </a:effectLst>
              </a:rPr>
              <a:t>Ping</a:t>
            </a:r>
            <a:r>
              <a:rPr lang="zh-CN" altLang="en-US" sz="2000" smtClean="0">
                <a:effectLst>
                  <a:outerShdw blurRad="38100" dist="38100" dir="2700000" algn="tl">
                    <a:srgbClr val="C0C0C0"/>
                  </a:outerShdw>
                </a:effectLst>
              </a:rPr>
              <a:t>不通的主机，跳过没有开放端口的主机。其他的如“端口相关设置”等可以进行扫描，如扫描某一特定端口等特殊操作（</a:t>
            </a:r>
            <a:r>
              <a:rPr lang="en-US" altLang="zh-CN" sz="2000" smtClean="0">
                <a:effectLst>
                  <a:outerShdw blurRad="38100" dist="38100" dir="2700000" algn="tl">
                    <a:srgbClr val="C0C0C0"/>
                  </a:outerShdw>
                </a:effectLst>
              </a:rPr>
              <a:t>X-scan</a:t>
            </a:r>
            <a:r>
              <a:rPr lang="zh-CN" altLang="en-US" sz="2000" smtClean="0">
                <a:effectLst>
                  <a:outerShdw blurRad="38100" dist="38100" dir="2700000" algn="tl">
                    <a:srgbClr val="C0C0C0"/>
                  </a:outerShdw>
                </a:effectLst>
              </a:rPr>
              <a:t>默认只扫描一些常用端口，如图</a:t>
            </a:r>
            <a:r>
              <a:rPr lang="en-US" altLang="zh-CN" sz="2000" smtClean="0">
                <a:effectLst>
                  <a:outerShdw blurRad="38100" dist="38100" dir="2700000" algn="tl">
                    <a:srgbClr val="C0C0C0"/>
                  </a:outerShdw>
                </a:effectLst>
              </a:rPr>
              <a:t>1-16</a:t>
            </a:r>
            <a:r>
              <a:rPr lang="zh-CN" altLang="en-US" sz="2000" smtClean="0">
                <a:effectLst>
                  <a:outerShdw blurRad="38100" dist="38100" dir="2700000" algn="tl">
                    <a:srgbClr val="C0C0C0"/>
                  </a:outerShdw>
                </a:effectLst>
              </a:rPr>
              <a:t>所示。</a:t>
            </a:r>
            <a:endParaRPr lang="zh-CN" altLang="en-US" sz="2000" smtClean="0">
              <a:effectLst>
                <a:outerShdw blurRad="38100" dist="38100" dir="2700000" algn="tl">
                  <a:srgbClr val="C0C0C0"/>
                </a:outerShdw>
              </a:effectLst>
            </a:endParaRPr>
          </a:p>
        </p:txBody>
      </p:sp>
      <p:sp>
        <p:nvSpPr>
          <p:cNvPr id="90114" name="Rectangle 3"/>
          <p:cNvSpPr>
            <a:spLocks noChangeArrowheads="1"/>
          </p:cNvSpPr>
          <p:nvPr/>
        </p:nvSpPr>
        <p:spPr bwMode="auto">
          <a:xfrm>
            <a:off x="0" y="1146175"/>
            <a:ext cx="9144000" cy="0"/>
          </a:xfrm>
          <a:prstGeom prst="rect">
            <a:avLst/>
          </a:prstGeom>
          <a:noFill/>
          <a:ln w="9525">
            <a:noFill/>
            <a:miter lim="800000"/>
          </a:ln>
        </p:spPr>
        <p:txBody>
          <a:bodyPr wrap="none" anchor="ctr">
            <a:spAutoFit/>
          </a:bodyPr>
          <a:lstStyle/>
          <a:p>
            <a:pPr algn="dist">
              <a:spcBef>
                <a:spcPct val="20000"/>
              </a:spcBef>
              <a:buFont typeface="Wingdings" panose="05000000000000000000" pitchFamily="2" charset="2"/>
              <a:buNone/>
            </a:pPr>
            <a:endParaRPr lang="zh-CN" altLang="en-US"/>
          </a:p>
        </p:txBody>
      </p:sp>
      <p:sp>
        <p:nvSpPr>
          <p:cNvPr id="90115" name="Rectangle 4"/>
          <p:cNvSpPr>
            <a:spLocks noChangeArrowheads="1"/>
          </p:cNvSpPr>
          <p:nvPr/>
        </p:nvSpPr>
        <p:spPr bwMode="auto">
          <a:xfrm>
            <a:off x="0" y="3184525"/>
            <a:ext cx="215900" cy="244475"/>
          </a:xfrm>
          <a:prstGeom prst="rect">
            <a:avLst/>
          </a:prstGeom>
          <a:noFill/>
          <a:ln w="9525">
            <a:noFill/>
            <a:miter lim="800000"/>
          </a:ln>
        </p:spPr>
        <p:txBody>
          <a:bodyPr wrap="none" anchor="ctr">
            <a:spAutoFit/>
          </a:bodyPr>
          <a:lstStyle/>
          <a:p>
            <a:r>
              <a:rPr lang="zh-CN" altLang="en-US" sz="1000">
                <a:solidFill>
                  <a:srgbClr val="000000"/>
                </a:solidFill>
                <a:latin typeface="Times New Roman" panose="02020603050405020304" pitchFamily="18" charset="0"/>
              </a:rPr>
              <a:t> </a:t>
            </a:r>
            <a:endParaRPr lang="zh-CN" altLang="en-US" sz="1800">
              <a:latin typeface="宋体" panose="02010600030101010101" pitchFamily="2" charset="-122"/>
            </a:endParaRPr>
          </a:p>
        </p:txBody>
      </p:sp>
      <p:sp>
        <p:nvSpPr>
          <p:cNvPr id="90116" name="Rectangle 5"/>
          <p:cNvSpPr>
            <a:spLocks noChangeArrowheads="1"/>
          </p:cNvSpPr>
          <p:nvPr/>
        </p:nvSpPr>
        <p:spPr bwMode="auto">
          <a:xfrm>
            <a:off x="0" y="1220788"/>
            <a:ext cx="9144000" cy="0"/>
          </a:xfrm>
          <a:prstGeom prst="rect">
            <a:avLst/>
          </a:prstGeom>
          <a:noFill/>
          <a:ln w="9525">
            <a:noFill/>
            <a:miter lim="800000"/>
          </a:ln>
        </p:spPr>
        <p:txBody>
          <a:bodyPr wrap="none" anchor="ctr">
            <a:spAutoFit/>
          </a:bodyPr>
          <a:lstStyle/>
          <a:p>
            <a:pPr algn="dist">
              <a:spcBef>
                <a:spcPct val="20000"/>
              </a:spcBef>
              <a:buFont typeface="Wingdings" panose="05000000000000000000" pitchFamily="2" charset="2"/>
              <a:buNone/>
            </a:pPr>
            <a:endParaRPr lang="zh-CN" altLang="en-US"/>
          </a:p>
        </p:txBody>
      </p:sp>
      <p:sp>
        <p:nvSpPr>
          <p:cNvPr id="90117" name="Rectangle 6"/>
          <p:cNvSpPr>
            <a:spLocks noChangeArrowheads="1"/>
          </p:cNvSpPr>
          <p:nvPr/>
        </p:nvSpPr>
        <p:spPr bwMode="auto">
          <a:xfrm>
            <a:off x="0" y="3222625"/>
            <a:ext cx="215900" cy="244475"/>
          </a:xfrm>
          <a:prstGeom prst="rect">
            <a:avLst/>
          </a:prstGeom>
          <a:noFill/>
          <a:ln w="9525">
            <a:noFill/>
            <a:miter lim="800000"/>
          </a:ln>
        </p:spPr>
        <p:txBody>
          <a:bodyPr wrap="none" anchor="ctr">
            <a:spAutoFit/>
          </a:bodyPr>
          <a:lstStyle/>
          <a:p>
            <a:r>
              <a:rPr lang="zh-CN" altLang="en-US" sz="1000">
                <a:solidFill>
                  <a:srgbClr val="000000"/>
                </a:solidFill>
                <a:latin typeface="Times New Roman" panose="02020603050405020304" pitchFamily="18" charset="0"/>
              </a:rPr>
              <a:t> </a:t>
            </a:r>
            <a:endParaRPr lang="zh-CN" altLang="en-US" sz="1800">
              <a:latin typeface="宋体" panose="02010600030101010101" pitchFamily="2" charset="-122"/>
            </a:endParaRPr>
          </a:p>
        </p:txBody>
      </p:sp>
      <p:pic>
        <p:nvPicPr>
          <p:cNvPr id="90118" name="Picture 10"/>
          <p:cNvPicPr>
            <a:picLocks noChangeAspect="1" noChangeArrowheads="1"/>
          </p:cNvPicPr>
          <p:nvPr/>
        </p:nvPicPr>
        <p:blipFill>
          <a:blip r:embed="rId1" cstate="print"/>
          <a:srcRect/>
          <a:stretch>
            <a:fillRect/>
          </a:stretch>
        </p:blipFill>
        <p:spPr bwMode="auto">
          <a:xfrm>
            <a:off x="762000" y="3733800"/>
            <a:ext cx="3733800" cy="2895600"/>
          </a:xfrm>
          <a:prstGeom prst="rect">
            <a:avLst/>
          </a:prstGeom>
          <a:noFill/>
          <a:ln w="9525">
            <a:noFill/>
            <a:miter lim="800000"/>
            <a:headEnd/>
            <a:tailEnd/>
          </a:ln>
        </p:spPr>
      </p:pic>
      <p:pic>
        <p:nvPicPr>
          <p:cNvPr id="90119" name="Picture 9"/>
          <p:cNvPicPr>
            <a:picLocks noChangeAspect="1" noChangeArrowheads="1"/>
          </p:cNvPicPr>
          <p:nvPr/>
        </p:nvPicPr>
        <p:blipFill>
          <a:blip r:embed="rId2" cstate="print"/>
          <a:srcRect/>
          <a:stretch>
            <a:fillRect/>
          </a:stretch>
        </p:blipFill>
        <p:spPr bwMode="auto">
          <a:xfrm>
            <a:off x="4572000" y="3733800"/>
            <a:ext cx="3886200" cy="2895600"/>
          </a:xfrm>
          <a:prstGeom prst="rect">
            <a:avLst/>
          </a:prstGeom>
          <a:noFill/>
          <a:ln w="9525">
            <a:noFill/>
            <a:miter lim="800000"/>
            <a:headEnd/>
            <a:tailEnd/>
          </a:ln>
        </p:spPr>
      </p:pic>
      <p:sp>
        <p:nvSpPr>
          <p:cNvPr id="90120" name="Rectangle 11"/>
          <p:cNvSpPr>
            <a:spLocks noChangeArrowheads="1"/>
          </p:cNvSpPr>
          <p:nvPr/>
        </p:nvSpPr>
        <p:spPr bwMode="auto">
          <a:xfrm>
            <a:off x="0" y="1139825"/>
            <a:ext cx="9144000" cy="0"/>
          </a:xfrm>
          <a:prstGeom prst="rect">
            <a:avLst/>
          </a:prstGeom>
          <a:noFill/>
          <a:ln w="9525">
            <a:noFill/>
            <a:miter lim="800000"/>
          </a:ln>
        </p:spPr>
        <p:txBody>
          <a:bodyPr wrap="none" anchor="ctr">
            <a:spAutoFit/>
          </a:bodyPr>
          <a:lstStyle/>
          <a:p>
            <a:pPr algn="dist">
              <a:spcBef>
                <a:spcPct val="20000"/>
              </a:spcBef>
              <a:buFont typeface="Wingdings" panose="05000000000000000000" pitchFamily="2" charset="2"/>
              <a:buNone/>
            </a:pPr>
            <a:endParaRPr lang="zh-CN" altLang="en-US"/>
          </a:p>
        </p:txBody>
      </p:sp>
      <p:sp>
        <p:nvSpPr>
          <p:cNvPr id="90121" name="Rectangle 12"/>
          <p:cNvSpPr>
            <a:spLocks noChangeArrowheads="1"/>
          </p:cNvSpPr>
          <p:nvPr/>
        </p:nvSpPr>
        <p:spPr bwMode="auto">
          <a:xfrm>
            <a:off x="4448175" y="3197225"/>
            <a:ext cx="247650" cy="244475"/>
          </a:xfrm>
          <a:prstGeom prst="rect">
            <a:avLst/>
          </a:prstGeom>
          <a:noFill/>
          <a:ln w="9525">
            <a:noFill/>
            <a:miter lim="800000"/>
          </a:ln>
        </p:spPr>
        <p:txBody>
          <a:bodyPr wrap="none" anchor="ctr">
            <a:spAutoFit/>
          </a:bodyPr>
          <a:lstStyle/>
          <a:p>
            <a:pPr algn="ctr" eaLnBrk="0" hangingPunct="0">
              <a:spcBef>
                <a:spcPct val="20000"/>
              </a:spcBef>
              <a:buFont typeface="Wingdings" panose="05000000000000000000" pitchFamily="2" charset="2"/>
              <a:buNone/>
            </a:pPr>
            <a:r>
              <a:rPr lang="zh-CN" altLang="en-US" sz="1000">
                <a:latin typeface="宋体" panose="02010600030101010101" pitchFamily="2" charset="-122"/>
              </a:rPr>
              <a:t> </a:t>
            </a:r>
            <a:endParaRPr lang="zh-CN" altLang="en-US"/>
          </a:p>
        </p:txBody>
      </p:sp>
      <p:sp>
        <p:nvSpPr>
          <p:cNvPr id="90122" name="Rectangle 13"/>
          <p:cNvSpPr>
            <a:spLocks noChangeArrowheads="1"/>
          </p:cNvSpPr>
          <p:nvPr/>
        </p:nvSpPr>
        <p:spPr bwMode="auto">
          <a:xfrm>
            <a:off x="987425" y="6575425"/>
            <a:ext cx="7069138" cy="336550"/>
          </a:xfrm>
          <a:prstGeom prst="rect">
            <a:avLst/>
          </a:prstGeom>
          <a:noFill/>
          <a:ln w="9525">
            <a:noFill/>
            <a:miter lim="800000"/>
          </a:ln>
        </p:spPr>
        <p:txBody>
          <a:bodyPr wrap="none" anchor="ctr">
            <a:spAutoFit/>
          </a:bodyPr>
          <a:lstStyle/>
          <a:p>
            <a:pPr algn="ctr" eaLnBrk="0" hangingPunct="0">
              <a:spcBef>
                <a:spcPct val="20000"/>
              </a:spcBef>
              <a:buFont typeface="Wingdings" panose="05000000000000000000" pitchFamily="2" charset="2"/>
              <a:buNone/>
            </a:pPr>
            <a:r>
              <a:rPr lang="zh-CN" altLang="en-US" sz="1600" b="1">
                <a:latin typeface="宋体" panose="02010600030101010101" pitchFamily="2" charset="-122"/>
              </a:rPr>
              <a:t>图</a:t>
            </a:r>
            <a:r>
              <a:rPr lang="en-US" altLang="zh-CN" sz="1600" b="1">
                <a:latin typeface="宋体" panose="02010600030101010101" pitchFamily="2" charset="-122"/>
              </a:rPr>
              <a:t>1-15 </a:t>
            </a:r>
            <a:r>
              <a:rPr lang="zh-CN" altLang="en-US" sz="1600" b="1">
                <a:latin typeface="宋体" panose="02010600030101010101" pitchFamily="2" charset="-122"/>
              </a:rPr>
              <a:t>扫描参数设定（</a:t>
            </a:r>
            <a:r>
              <a:rPr lang="en-US" altLang="zh-CN" sz="1600" b="1">
                <a:latin typeface="宋体" panose="02010600030101010101" pitchFamily="2" charset="-122"/>
              </a:rPr>
              <a:t>1</a:t>
            </a:r>
            <a:r>
              <a:rPr lang="zh-CN" altLang="en-US" sz="1600" b="1">
                <a:latin typeface="宋体" panose="02010600030101010101" pitchFamily="2" charset="-122"/>
              </a:rPr>
              <a:t>）                 图</a:t>
            </a:r>
            <a:r>
              <a:rPr lang="en-US" altLang="zh-CN" sz="1600" b="1">
                <a:latin typeface="宋体" panose="02010600030101010101" pitchFamily="2" charset="-122"/>
              </a:rPr>
              <a:t>1-16 </a:t>
            </a:r>
            <a:r>
              <a:rPr lang="zh-CN" altLang="en-US" sz="1600" b="1">
                <a:latin typeface="宋体" panose="02010600030101010101" pitchFamily="2" charset="-122"/>
              </a:rPr>
              <a:t>扫描参数设定（</a:t>
            </a:r>
            <a:r>
              <a:rPr lang="en-US" altLang="zh-CN" sz="1600" b="1">
                <a:latin typeface="宋体" panose="02010600030101010101" pitchFamily="2" charset="-122"/>
              </a:rPr>
              <a:t>2</a:t>
            </a:r>
            <a:r>
              <a:rPr lang="zh-CN" altLang="en-US" sz="1600" b="1">
                <a:latin typeface="宋体" panose="02010600030101010101" pitchFamily="2" charset="-122"/>
              </a:rPr>
              <a:t>）</a:t>
            </a:r>
            <a:endParaRPr lang="zh-CN" altLang="en-US" sz="1600" b="1"/>
          </a:p>
        </p:txBody>
      </p:sp>
      <p:sp>
        <p:nvSpPr>
          <p:cNvPr id="90123" name="标题 1"/>
          <p:cNvSpPr>
            <a:spLocks noChangeArrowheads="1"/>
          </p:cNvSpPr>
          <p:nvPr/>
        </p:nvSpPr>
        <p:spPr bwMode="auto">
          <a:xfrm>
            <a:off x="838200" y="152400"/>
            <a:ext cx="8305800" cy="563563"/>
          </a:xfrm>
          <a:prstGeom prst="rect">
            <a:avLst/>
          </a:prstGeom>
          <a:noFill/>
          <a:ln w="9525">
            <a:noFill/>
            <a:miter lim="800000"/>
          </a:ln>
        </p:spPr>
        <p:txBody>
          <a:bodyPr anchor="ctr"/>
          <a:lstStyle/>
          <a:p>
            <a:pPr algn="ctr"/>
            <a:r>
              <a:rPr lang="zh-CN" altLang="en-US" sz="3000" b="1">
                <a:solidFill>
                  <a:schemeClr val="bg1"/>
                </a:solidFill>
                <a:latin typeface="微软雅黑" panose="020B0503020204020204" charset="-122"/>
                <a:ea typeface="微软雅黑" panose="020B0503020204020204" charset="-122"/>
              </a:rPr>
              <a:t>*选做补充实验 网络漏洞扫描器</a:t>
            </a:r>
            <a:r>
              <a:rPr lang="en-US" altLang="zh-CN" sz="3000" b="1">
                <a:solidFill>
                  <a:schemeClr val="bg1"/>
                </a:solidFill>
                <a:latin typeface="微软雅黑" panose="020B0503020204020204" charset="-122"/>
                <a:ea typeface="微软雅黑" panose="020B0503020204020204" charset="-122"/>
              </a:rPr>
              <a:t>X-Scan</a:t>
            </a:r>
            <a:r>
              <a:rPr lang="zh-CN" altLang="en-US" sz="3000" b="1">
                <a:solidFill>
                  <a:schemeClr val="bg1"/>
                </a:solidFill>
                <a:latin typeface="微软雅黑" panose="020B0503020204020204" charset="-122"/>
                <a:ea typeface="微软雅黑" panose="020B0503020204020204" charset="-122"/>
              </a:rPr>
              <a:t>应用</a:t>
            </a:r>
            <a:r>
              <a:rPr lang="zh-CN" altLang="en-US" sz="3000" b="1">
                <a:solidFill>
                  <a:schemeClr val="bg1"/>
                </a:solidFill>
                <a:latin typeface="Verdana" panose="020B0604030504040204" pitchFamily="34" charset="0"/>
              </a:rPr>
              <a:t> </a:t>
            </a:r>
            <a:endParaRPr lang="zh-CN" altLang="en-US" sz="3000" b="1">
              <a:solidFill>
                <a:schemeClr val="bg1"/>
              </a:solidFill>
              <a:latin typeface="Verdana" panose="020B0604030504040204" pitchFamily="34" charset="0"/>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p:txBody>
          <a:bodyPr/>
          <a:lstStyle/>
          <a:p>
            <a:pPr algn="just" eaLnBrk="1" hangingPunct="1">
              <a:defRPr/>
            </a:pPr>
            <a:r>
              <a:rPr lang="zh-CN" altLang="zh-CN" dirty="0" smtClean="0">
                <a:effectLst>
                  <a:outerShdw blurRad="38100" dist="38100" dir="2700000" algn="tl">
                    <a:srgbClr val="C0C0C0"/>
                  </a:outerShdw>
                </a:effectLst>
              </a:rPr>
              <a:t>第二步，选择需要扫描的项目，点击扫描模块可以选择扫描的项目，如</a:t>
            </a:r>
            <a:r>
              <a:rPr lang="zh-CN" altLang="en-US" dirty="0" smtClean="0">
                <a:effectLst>
                  <a:outerShdw blurRad="38100" dist="38100" dir="2700000" algn="tl">
                    <a:srgbClr val="C0C0C0"/>
                  </a:outerShdw>
                </a:effectLst>
              </a:rPr>
              <a:t>图</a:t>
            </a:r>
            <a:r>
              <a:rPr lang="en-US" altLang="zh-CN" dirty="0" smtClean="0">
                <a:effectLst>
                  <a:outerShdw blurRad="38100" dist="38100" dir="2700000" algn="tl">
                    <a:srgbClr val="C0C0C0"/>
                  </a:outerShdw>
                </a:effectLst>
              </a:rPr>
              <a:t>1-17</a:t>
            </a:r>
            <a:r>
              <a:rPr lang="zh-CN" altLang="en-US" dirty="0" smtClean="0">
                <a:effectLst>
                  <a:outerShdw blurRad="38100" dist="38100" dir="2700000" algn="tl">
                    <a:srgbClr val="C0C0C0"/>
                  </a:outerShdw>
                </a:effectLst>
              </a:rPr>
              <a:t>所示：</a:t>
            </a:r>
            <a:endParaRPr lang="zh-CN" altLang="en-US" dirty="0" smtClean="0">
              <a:effectLst>
                <a:outerShdw blurRad="38100" dist="38100" dir="2700000" algn="tl">
                  <a:srgbClr val="C0C0C0"/>
                </a:outerShdw>
              </a:effectLst>
            </a:endParaRPr>
          </a:p>
        </p:txBody>
      </p:sp>
      <p:sp>
        <p:nvSpPr>
          <p:cNvPr id="91138" name="Rectangle 3"/>
          <p:cNvSpPr>
            <a:spLocks noChangeArrowheads="1"/>
          </p:cNvSpPr>
          <p:nvPr/>
        </p:nvSpPr>
        <p:spPr bwMode="auto">
          <a:xfrm>
            <a:off x="0" y="1146175"/>
            <a:ext cx="9144000" cy="0"/>
          </a:xfrm>
          <a:prstGeom prst="rect">
            <a:avLst/>
          </a:prstGeom>
          <a:noFill/>
          <a:ln w="9525">
            <a:noFill/>
            <a:miter lim="800000"/>
          </a:ln>
        </p:spPr>
        <p:txBody>
          <a:bodyPr wrap="none" anchor="ctr">
            <a:spAutoFit/>
          </a:bodyPr>
          <a:lstStyle/>
          <a:p>
            <a:pPr algn="dist">
              <a:spcBef>
                <a:spcPct val="20000"/>
              </a:spcBef>
              <a:buFont typeface="Wingdings" panose="05000000000000000000" pitchFamily="2" charset="2"/>
              <a:buNone/>
            </a:pPr>
            <a:endParaRPr lang="zh-CN" altLang="en-US"/>
          </a:p>
        </p:txBody>
      </p:sp>
      <p:sp>
        <p:nvSpPr>
          <p:cNvPr id="91139" name="Rectangle 4"/>
          <p:cNvSpPr>
            <a:spLocks noChangeArrowheads="1"/>
          </p:cNvSpPr>
          <p:nvPr/>
        </p:nvSpPr>
        <p:spPr bwMode="auto">
          <a:xfrm>
            <a:off x="0" y="3184525"/>
            <a:ext cx="215900" cy="244475"/>
          </a:xfrm>
          <a:prstGeom prst="rect">
            <a:avLst/>
          </a:prstGeom>
          <a:noFill/>
          <a:ln w="9525">
            <a:noFill/>
            <a:miter lim="800000"/>
          </a:ln>
        </p:spPr>
        <p:txBody>
          <a:bodyPr wrap="none" anchor="ctr">
            <a:spAutoFit/>
          </a:bodyPr>
          <a:lstStyle/>
          <a:p>
            <a:r>
              <a:rPr lang="zh-CN" altLang="en-US" sz="1000">
                <a:solidFill>
                  <a:srgbClr val="000000"/>
                </a:solidFill>
                <a:latin typeface="Times New Roman" panose="02020603050405020304" pitchFamily="18" charset="0"/>
              </a:rPr>
              <a:t> </a:t>
            </a:r>
            <a:endParaRPr lang="zh-CN" altLang="en-US" sz="1800">
              <a:latin typeface="宋体" panose="02010600030101010101" pitchFamily="2" charset="-122"/>
            </a:endParaRPr>
          </a:p>
        </p:txBody>
      </p:sp>
      <p:sp>
        <p:nvSpPr>
          <p:cNvPr id="91140" name="Rectangle 5"/>
          <p:cNvSpPr>
            <a:spLocks noChangeArrowheads="1"/>
          </p:cNvSpPr>
          <p:nvPr/>
        </p:nvSpPr>
        <p:spPr bwMode="auto">
          <a:xfrm>
            <a:off x="0" y="1220788"/>
            <a:ext cx="9144000" cy="0"/>
          </a:xfrm>
          <a:prstGeom prst="rect">
            <a:avLst/>
          </a:prstGeom>
          <a:noFill/>
          <a:ln w="9525">
            <a:noFill/>
            <a:miter lim="800000"/>
          </a:ln>
        </p:spPr>
        <p:txBody>
          <a:bodyPr wrap="none" anchor="ctr">
            <a:spAutoFit/>
          </a:bodyPr>
          <a:lstStyle/>
          <a:p>
            <a:pPr algn="dist">
              <a:spcBef>
                <a:spcPct val="20000"/>
              </a:spcBef>
              <a:buFont typeface="Wingdings" panose="05000000000000000000" pitchFamily="2" charset="2"/>
              <a:buNone/>
            </a:pPr>
            <a:endParaRPr lang="zh-CN" altLang="en-US"/>
          </a:p>
        </p:txBody>
      </p:sp>
      <p:sp>
        <p:nvSpPr>
          <p:cNvPr id="91141" name="Rectangle 6"/>
          <p:cNvSpPr>
            <a:spLocks noChangeArrowheads="1"/>
          </p:cNvSpPr>
          <p:nvPr/>
        </p:nvSpPr>
        <p:spPr bwMode="auto">
          <a:xfrm>
            <a:off x="0" y="3222625"/>
            <a:ext cx="215900" cy="244475"/>
          </a:xfrm>
          <a:prstGeom prst="rect">
            <a:avLst/>
          </a:prstGeom>
          <a:noFill/>
          <a:ln w="9525">
            <a:noFill/>
            <a:miter lim="800000"/>
          </a:ln>
        </p:spPr>
        <p:txBody>
          <a:bodyPr wrap="none" anchor="ctr">
            <a:spAutoFit/>
          </a:bodyPr>
          <a:lstStyle/>
          <a:p>
            <a:r>
              <a:rPr lang="zh-CN" altLang="en-US" sz="1000">
                <a:solidFill>
                  <a:srgbClr val="000000"/>
                </a:solidFill>
                <a:latin typeface="Times New Roman" panose="02020603050405020304" pitchFamily="18" charset="0"/>
              </a:rPr>
              <a:t> </a:t>
            </a:r>
            <a:endParaRPr lang="zh-CN" altLang="en-US" sz="1800">
              <a:latin typeface="宋体" panose="02010600030101010101" pitchFamily="2" charset="-122"/>
            </a:endParaRPr>
          </a:p>
        </p:txBody>
      </p:sp>
      <p:pic>
        <p:nvPicPr>
          <p:cNvPr id="91142" name="Picture 9"/>
          <p:cNvPicPr>
            <a:picLocks noChangeAspect="1" noChangeArrowheads="1"/>
          </p:cNvPicPr>
          <p:nvPr/>
        </p:nvPicPr>
        <p:blipFill>
          <a:blip r:embed="rId1" cstate="print"/>
          <a:srcRect/>
          <a:stretch>
            <a:fillRect/>
          </a:stretch>
        </p:blipFill>
        <p:spPr bwMode="auto">
          <a:xfrm>
            <a:off x="304800" y="2209800"/>
            <a:ext cx="4419600" cy="3897313"/>
          </a:xfrm>
          <a:prstGeom prst="rect">
            <a:avLst/>
          </a:prstGeom>
          <a:noFill/>
          <a:ln w="9525">
            <a:noFill/>
            <a:miter lim="800000"/>
            <a:headEnd/>
            <a:tailEnd/>
          </a:ln>
        </p:spPr>
      </p:pic>
      <p:pic>
        <p:nvPicPr>
          <p:cNvPr id="91143" name="Picture 8"/>
          <p:cNvPicPr>
            <a:picLocks noChangeAspect="1" noChangeArrowheads="1"/>
          </p:cNvPicPr>
          <p:nvPr/>
        </p:nvPicPr>
        <p:blipFill>
          <a:blip r:embed="rId2" cstate="print"/>
          <a:srcRect/>
          <a:stretch>
            <a:fillRect/>
          </a:stretch>
        </p:blipFill>
        <p:spPr bwMode="auto">
          <a:xfrm>
            <a:off x="4953000" y="2209800"/>
            <a:ext cx="4038600" cy="3873500"/>
          </a:xfrm>
          <a:prstGeom prst="rect">
            <a:avLst/>
          </a:prstGeom>
          <a:noFill/>
          <a:ln w="9525">
            <a:noFill/>
            <a:miter lim="800000"/>
            <a:headEnd/>
            <a:tailEnd/>
          </a:ln>
        </p:spPr>
      </p:pic>
      <p:sp>
        <p:nvSpPr>
          <p:cNvPr id="91144" name="Rectangle 10"/>
          <p:cNvSpPr>
            <a:spLocks noChangeArrowheads="1"/>
          </p:cNvSpPr>
          <p:nvPr/>
        </p:nvSpPr>
        <p:spPr bwMode="auto">
          <a:xfrm>
            <a:off x="0" y="1096963"/>
            <a:ext cx="9144000" cy="0"/>
          </a:xfrm>
          <a:prstGeom prst="rect">
            <a:avLst/>
          </a:prstGeom>
          <a:noFill/>
          <a:ln w="9525">
            <a:noFill/>
            <a:miter lim="800000"/>
          </a:ln>
        </p:spPr>
        <p:txBody>
          <a:bodyPr wrap="none" anchor="ctr">
            <a:spAutoFit/>
          </a:bodyPr>
          <a:lstStyle/>
          <a:p>
            <a:pPr algn="dist">
              <a:spcBef>
                <a:spcPct val="20000"/>
              </a:spcBef>
              <a:buFont typeface="Wingdings" panose="05000000000000000000" pitchFamily="2" charset="2"/>
              <a:buNone/>
            </a:pPr>
            <a:endParaRPr lang="zh-CN" altLang="en-US"/>
          </a:p>
        </p:txBody>
      </p:sp>
      <p:sp>
        <p:nvSpPr>
          <p:cNvPr id="91145" name="Rectangle 11"/>
          <p:cNvSpPr>
            <a:spLocks noChangeArrowheads="1"/>
          </p:cNvSpPr>
          <p:nvPr/>
        </p:nvSpPr>
        <p:spPr bwMode="auto">
          <a:xfrm>
            <a:off x="4448175" y="3192463"/>
            <a:ext cx="247650" cy="244475"/>
          </a:xfrm>
          <a:prstGeom prst="rect">
            <a:avLst/>
          </a:prstGeom>
          <a:noFill/>
          <a:ln w="9525">
            <a:noFill/>
            <a:miter lim="800000"/>
          </a:ln>
        </p:spPr>
        <p:txBody>
          <a:bodyPr wrap="none" anchor="ctr">
            <a:spAutoFit/>
          </a:bodyPr>
          <a:lstStyle/>
          <a:p>
            <a:pPr algn="ctr" eaLnBrk="0" hangingPunct="0">
              <a:spcBef>
                <a:spcPct val="20000"/>
              </a:spcBef>
              <a:buFont typeface="Wingdings" panose="05000000000000000000" pitchFamily="2" charset="2"/>
              <a:buNone/>
            </a:pPr>
            <a:r>
              <a:rPr lang="zh-CN" altLang="en-US" sz="1000">
                <a:latin typeface="宋体" panose="02010600030101010101" pitchFamily="2" charset="-122"/>
              </a:rPr>
              <a:t> </a:t>
            </a:r>
            <a:endParaRPr lang="zh-CN" altLang="en-US"/>
          </a:p>
        </p:txBody>
      </p:sp>
      <p:sp>
        <p:nvSpPr>
          <p:cNvPr id="91146" name="Rectangle 12"/>
          <p:cNvSpPr>
            <a:spLocks noChangeArrowheads="1"/>
          </p:cNvSpPr>
          <p:nvPr/>
        </p:nvSpPr>
        <p:spPr bwMode="auto">
          <a:xfrm>
            <a:off x="1185863" y="6408738"/>
            <a:ext cx="6767512" cy="366712"/>
          </a:xfrm>
          <a:prstGeom prst="rect">
            <a:avLst/>
          </a:prstGeom>
          <a:noFill/>
          <a:ln w="9525">
            <a:noFill/>
            <a:miter lim="800000"/>
          </a:ln>
        </p:spPr>
        <p:txBody>
          <a:bodyPr wrap="none" anchor="ctr">
            <a:spAutoFit/>
          </a:bodyPr>
          <a:lstStyle/>
          <a:p>
            <a:pPr algn="ctr" eaLnBrk="0" hangingPunct="0">
              <a:spcBef>
                <a:spcPct val="20000"/>
              </a:spcBef>
              <a:buFont typeface="Wingdings" panose="05000000000000000000" pitchFamily="2" charset="2"/>
              <a:buNone/>
            </a:pPr>
            <a:r>
              <a:rPr lang="zh-CN" altLang="en-US" sz="1800" b="1">
                <a:latin typeface="宋体" panose="02010600030101010101" pitchFamily="2" charset="-122"/>
              </a:rPr>
              <a:t>图</a:t>
            </a:r>
            <a:r>
              <a:rPr lang="en-US" altLang="zh-CN" sz="1800" b="1">
                <a:latin typeface="宋体" panose="02010600030101010101" pitchFamily="2" charset="-122"/>
              </a:rPr>
              <a:t>1-17 </a:t>
            </a:r>
            <a:r>
              <a:rPr lang="zh-CN" altLang="en-US" sz="1800" b="1">
                <a:latin typeface="宋体" panose="02010600030101010101" pitchFamily="2" charset="-122"/>
              </a:rPr>
              <a:t>选择扫描项目                 图</a:t>
            </a:r>
            <a:r>
              <a:rPr lang="en-US" altLang="zh-CN" sz="1800" b="1">
                <a:latin typeface="宋体" panose="02010600030101010101" pitchFamily="2" charset="-122"/>
              </a:rPr>
              <a:t>1-18 </a:t>
            </a:r>
            <a:r>
              <a:rPr lang="zh-CN" altLang="en-US" sz="1800" b="1">
                <a:latin typeface="宋体" panose="02010600030101010101" pitchFamily="2" charset="-122"/>
              </a:rPr>
              <a:t>开始扫描界面</a:t>
            </a:r>
            <a:endParaRPr lang="zh-CN" altLang="en-US" sz="1800" b="1"/>
          </a:p>
        </p:txBody>
      </p:sp>
      <p:sp>
        <p:nvSpPr>
          <p:cNvPr id="91147" name="标题 1"/>
          <p:cNvSpPr>
            <a:spLocks noChangeArrowheads="1"/>
          </p:cNvSpPr>
          <p:nvPr/>
        </p:nvSpPr>
        <p:spPr bwMode="auto">
          <a:xfrm>
            <a:off x="838200" y="152400"/>
            <a:ext cx="8305800" cy="563563"/>
          </a:xfrm>
          <a:prstGeom prst="rect">
            <a:avLst/>
          </a:prstGeom>
          <a:noFill/>
          <a:ln w="9525">
            <a:noFill/>
            <a:miter lim="800000"/>
          </a:ln>
        </p:spPr>
        <p:txBody>
          <a:bodyPr anchor="ctr"/>
          <a:lstStyle/>
          <a:p>
            <a:pPr algn="ctr"/>
            <a:r>
              <a:rPr lang="zh-CN" altLang="en-US" sz="3000" b="1">
                <a:solidFill>
                  <a:schemeClr val="bg1"/>
                </a:solidFill>
                <a:latin typeface="微软雅黑" panose="020B0503020204020204" charset="-122"/>
                <a:ea typeface="微软雅黑" panose="020B0503020204020204" charset="-122"/>
              </a:rPr>
              <a:t>*选做补充实验 网络漏洞扫描器</a:t>
            </a:r>
            <a:r>
              <a:rPr lang="en-US" altLang="zh-CN" sz="3000" b="1">
                <a:solidFill>
                  <a:schemeClr val="bg1"/>
                </a:solidFill>
                <a:latin typeface="微软雅黑" panose="020B0503020204020204" charset="-122"/>
                <a:ea typeface="微软雅黑" panose="020B0503020204020204" charset="-122"/>
              </a:rPr>
              <a:t>X-Scan</a:t>
            </a:r>
            <a:r>
              <a:rPr lang="zh-CN" altLang="en-US" sz="3000" b="1">
                <a:solidFill>
                  <a:schemeClr val="bg1"/>
                </a:solidFill>
                <a:latin typeface="微软雅黑" panose="020B0503020204020204" charset="-122"/>
                <a:ea typeface="微软雅黑" panose="020B0503020204020204" charset="-122"/>
              </a:rPr>
              <a:t>应用</a:t>
            </a:r>
            <a:r>
              <a:rPr lang="zh-CN" altLang="en-US" sz="3000" b="1">
                <a:solidFill>
                  <a:schemeClr val="bg1"/>
                </a:solidFill>
                <a:latin typeface="Verdana" panose="020B0604030504040204" pitchFamily="34" charset="0"/>
              </a:rPr>
              <a:t> </a:t>
            </a:r>
            <a:endParaRPr lang="zh-CN" altLang="en-US" sz="3000" b="1">
              <a:solidFill>
                <a:schemeClr val="bg1"/>
              </a:solidFill>
              <a:latin typeface="Verdana" panose="020B0604030504040204" pitchFamily="34" charset="0"/>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p:txBody>
          <a:bodyPr/>
          <a:lstStyle/>
          <a:p>
            <a:pPr algn="just" eaLnBrk="1" hangingPunct="1">
              <a:defRPr/>
            </a:pPr>
            <a:r>
              <a:rPr lang="zh-CN" altLang="zh-CN" dirty="0" smtClean="0">
                <a:effectLst>
                  <a:outerShdw blurRad="38100" dist="38100" dir="2700000" algn="tl">
                    <a:srgbClr val="C0C0C0"/>
                  </a:outerShdw>
                </a:effectLst>
              </a:rPr>
              <a:t>第三步，开始扫描，如</a:t>
            </a:r>
            <a:r>
              <a:rPr lang="zh-CN" altLang="en-US" dirty="0" smtClean="0">
                <a:effectLst>
                  <a:outerShdw blurRad="38100" dist="38100" dir="2700000" algn="tl">
                    <a:srgbClr val="C0C0C0"/>
                  </a:outerShdw>
                </a:effectLst>
              </a:rPr>
              <a:t>图</a:t>
            </a:r>
            <a:r>
              <a:rPr lang="en-US" altLang="zh-CN" dirty="0" smtClean="0">
                <a:effectLst>
                  <a:outerShdw blurRad="38100" dist="38100" dir="2700000" algn="tl">
                    <a:srgbClr val="C0C0C0"/>
                  </a:outerShdw>
                </a:effectLst>
              </a:rPr>
              <a:t>1-18</a:t>
            </a:r>
            <a:r>
              <a:rPr lang="zh-CN" altLang="en-US" dirty="0" smtClean="0">
                <a:effectLst>
                  <a:outerShdw blurRad="38100" dist="38100" dir="2700000" algn="tl">
                    <a:srgbClr val="C0C0C0"/>
                  </a:outerShdw>
                </a:effectLst>
              </a:rPr>
              <a:t>。该扫描过程会比较长，需要耐心等待，并思考各种漏洞的含义。扫描结束后自动生成检测报告，点击“查看”，选择检测报表为</a:t>
            </a:r>
            <a:r>
              <a:rPr lang="en-US" altLang="zh-CN" dirty="0" smtClean="0">
                <a:effectLst>
                  <a:outerShdw blurRad="38100" dist="38100" dir="2700000" algn="tl">
                    <a:srgbClr val="C0C0C0"/>
                  </a:outerShdw>
                </a:effectLst>
              </a:rPr>
              <a:t>HTML</a:t>
            </a:r>
            <a:r>
              <a:rPr lang="zh-CN" altLang="en-US" dirty="0" smtClean="0">
                <a:effectLst>
                  <a:outerShdw blurRad="38100" dist="38100" dir="2700000" algn="tl">
                    <a:srgbClr val="C0C0C0"/>
                  </a:outerShdw>
                </a:effectLst>
              </a:rPr>
              <a:t>格式，如图</a:t>
            </a:r>
            <a:r>
              <a:rPr lang="en-US" altLang="zh-CN" dirty="0" smtClean="0">
                <a:effectLst>
                  <a:outerShdw blurRad="38100" dist="38100" dir="2700000" algn="tl">
                    <a:srgbClr val="C0C0C0"/>
                  </a:outerShdw>
                </a:effectLst>
              </a:rPr>
              <a:t>1-19</a:t>
            </a:r>
            <a:r>
              <a:rPr lang="zh-CN" altLang="en-US" dirty="0" smtClean="0">
                <a:effectLst>
                  <a:outerShdw blurRad="38100" dist="38100" dir="2700000" algn="tl">
                    <a:srgbClr val="C0C0C0"/>
                  </a:outerShdw>
                </a:effectLst>
              </a:rPr>
              <a:t>。</a:t>
            </a:r>
            <a:endParaRPr lang="zh-CN" altLang="en-US" dirty="0" smtClean="0">
              <a:effectLst>
                <a:outerShdw blurRad="38100" dist="38100" dir="2700000" algn="tl">
                  <a:srgbClr val="C0C0C0"/>
                </a:outerShdw>
              </a:effectLst>
            </a:endParaRPr>
          </a:p>
        </p:txBody>
      </p:sp>
      <p:sp>
        <p:nvSpPr>
          <p:cNvPr id="92162" name="Rectangle 3"/>
          <p:cNvSpPr>
            <a:spLocks noChangeArrowheads="1"/>
          </p:cNvSpPr>
          <p:nvPr/>
        </p:nvSpPr>
        <p:spPr bwMode="auto">
          <a:xfrm>
            <a:off x="0" y="1146175"/>
            <a:ext cx="9144000" cy="0"/>
          </a:xfrm>
          <a:prstGeom prst="rect">
            <a:avLst/>
          </a:prstGeom>
          <a:noFill/>
          <a:ln w="9525">
            <a:noFill/>
            <a:miter lim="800000"/>
          </a:ln>
        </p:spPr>
        <p:txBody>
          <a:bodyPr wrap="none" anchor="ctr">
            <a:spAutoFit/>
          </a:bodyPr>
          <a:lstStyle/>
          <a:p>
            <a:pPr algn="dist">
              <a:spcBef>
                <a:spcPct val="20000"/>
              </a:spcBef>
              <a:buFont typeface="Wingdings" panose="05000000000000000000" pitchFamily="2" charset="2"/>
              <a:buNone/>
            </a:pPr>
            <a:endParaRPr lang="zh-CN" altLang="en-US"/>
          </a:p>
        </p:txBody>
      </p:sp>
      <p:sp>
        <p:nvSpPr>
          <p:cNvPr id="92163" name="Rectangle 4"/>
          <p:cNvSpPr>
            <a:spLocks noChangeArrowheads="1"/>
          </p:cNvSpPr>
          <p:nvPr/>
        </p:nvSpPr>
        <p:spPr bwMode="auto">
          <a:xfrm>
            <a:off x="0" y="3184525"/>
            <a:ext cx="215900" cy="244475"/>
          </a:xfrm>
          <a:prstGeom prst="rect">
            <a:avLst/>
          </a:prstGeom>
          <a:noFill/>
          <a:ln w="9525">
            <a:noFill/>
            <a:miter lim="800000"/>
          </a:ln>
        </p:spPr>
        <p:txBody>
          <a:bodyPr wrap="none" anchor="ctr">
            <a:spAutoFit/>
          </a:bodyPr>
          <a:lstStyle/>
          <a:p>
            <a:r>
              <a:rPr lang="zh-CN" altLang="en-US" sz="1000">
                <a:solidFill>
                  <a:srgbClr val="000000"/>
                </a:solidFill>
                <a:latin typeface="Times New Roman" panose="02020603050405020304" pitchFamily="18" charset="0"/>
              </a:rPr>
              <a:t> </a:t>
            </a:r>
            <a:endParaRPr lang="zh-CN" altLang="en-US" sz="1800">
              <a:latin typeface="宋体" panose="02010600030101010101" pitchFamily="2" charset="-122"/>
            </a:endParaRPr>
          </a:p>
        </p:txBody>
      </p:sp>
      <p:sp>
        <p:nvSpPr>
          <p:cNvPr id="92164" name="Rectangle 5"/>
          <p:cNvSpPr>
            <a:spLocks noChangeArrowheads="1"/>
          </p:cNvSpPr>
          <p:nvPr/>
        </p:nvSpPr>
        <p:spPr bwMode="auto">
          <a:xfrm>
            <a:off x="0" y="1220788"/>
            <a:ext cx="9144000" cy="0"/>
          </a:xfrm>
          <a:prstGeom prst="rect">
            <a:avLst/>
          </a:prstGeom>
          <a:noFill/>
          <a:ln w="9525">
            <a:noFill/>
            <a:miter lim="800000"/>
          </a:ln>
        </p:spPr>
        <p:txBody>
          <a:bodyPr wrap="none" anchor="ctr">
            <a:spAutoFit/>
          </a:bodyPr>
          <a:lstStyle/>
          <a:p>
            <a:pPr algn="dist">
              <a:spcBef>
                <a:spcPct val="20000"/>
              </a:spcBef>
              <a:buFont typeface="Wingdings" panose="05000000000000000000" pitchFamily="2" charset="2"/>
              <a:buNone/>
            </a:pPr>
            <a:endParaRPr lang="zh-CN" altLang="en-US"/>
          </a:p>
        </p:txBody>
      </p:sp>
      <p:sp>
        <p:nvSpPr>
          <p:cNvPr id="92165" name="Rectangle 6"/>
          <p:cNvSpPr>
            <a:spLocks noChangeArrowheads="1"/>
          </p:cNvSpPr>
          <p:nvPr/>
        </p:nvSpPr>
        <p:spPr bwMode="auto">
          <a:xfrm>
            <a:off x="0" y="3222625"/>
            <a:ext cx="215900" cy="244475"/>
          </a:xfrm>
          <a:prstGeom prst="rect">
            <a:avLst/>
          </a:prstGeom>
          <a:noFill/>
          <a:ln w="9525">
            <a:noFill/>
            <a:miter lim="800000"/>
          </a:ln>
        </p:spPr>
        <p:txBody>
          <a:bodyPr wrap="none" anchor="ctr">
            <a:spAutoFit/>
          </a:bodyPr>
          <a:lstStyle/>
          <a:p>
            <a:r>
              <a:rPr lang="zh-CN" altLang="en-US" sz="1000">
                <a:solidFill>
                  <a:srgbClr val="000000"/>
                </a:solidFill>
                <a:latin typeface="Times New Roman" panose="02020603050405020304" pitchFamily="18" charset="0"/>
              </a:rPr>
              <a:t> </a:t>
            </a:r>
            <a:endParaRPr lang="zh-CN" altLang="en-US" sz="1800">
              <a:latin typeface="宋体" panose="02010600030101010101" pitchFamily="2" charset="-122"/>
            </a:endParaRPr>
          </a:p>
        </p:txBody>
      </p:sp>
      <p:pic>
        <p:nvPicPr>
          <p:cNvPr id="92166" name="Picture 9"/>
          <p:cNvPicPr>
            <a:picLocks noChangeAspect="1" noChangeArrowheads="1"/>
          </p:cNvPicPr>
          <p:nvPr/>
        </p:nvPicPr>
        <p:blipFill>
          <a:blip r:embed="rId1" cstate="print"/>
          <a:srcRect/>
          <a:stretch>
            <a:fillRect/>
          </a:stretch>
        </p:blipFill>
        <p:spPr bwMode="auto">
          <a:xfrm>
            <a:off x="228600" y="2362200"/>
            <a:ext cx="4267200" cy="3886200"/>
          </a:xfrm>
          <a:prstGeom prst="rect">
            <a:avLst/>
          </a:prstGeom>
          <a:noFill/>
          <a:ln w="9525">
            <a:noFill/>
            <a:miter lim="800000"/>
            <a:headEnd/>
            <a:tailEnd/>
          </a:ln>
        </p:spPr>
      </p:pic>
      <p:pic>
        <p:nvPicPr>
          <p:cNvPr id="92167" name="Picture 8"/>
          <p:cNvPicPr>
            <a:picLocks noChangeAspect="1" noChangeArrowheads="1"/>
          </p:cNvPicPr>
          <p:nvPr/>
        </p:nvPicPr>
        <p:blipFill>
          <a:blip r:embed="rId2" cstate="print"/>
          <a:srcRect/>
          <a:stretch>
            <a:fillRect/>
          </a:stretch>
        </p:blipFill>
        <p:spPr bwMode="auto">
          <a:xfrm>
            <a:off x="4648200" y="2286000"/>
            <a:ext cx="4495800" cy="3997325"/>
          </a:xfrm>
          <a:prstGeom prst="rect">
            <a:avLst/>
          </a:prstGeom>
          <a:noFill/>
          <a:ln w="9525">
            <a:noFill/>
            <a:miter lim="800000"/>
            <a:headEnd/>
            <a:tailEnd/>
          </a:ln>
        </p:spPr>
      </p:pic>
      <p:sp>
        <p:nvSpPr>
          <p:cNvPr id="92168" name="Rectangle 10"/>
          <p:cNvSpPr>
            <a:spLocks noChangeArrowheads="1"/>
          </p:cNvSpPr>
          <p:nvPr/>
        </p:nvSpPr>
        <p:spPr bwMode="auto">
          <a:xfrm>
            <a:off x="0" y="1201738"/>
            <a:ext cx="9144000" cy="0"/>
          </a:xfrm>
          <a:prstGeom prst="rect">
            <a:avLst/>
          </a:prstGeom>
          <a:noFill/>
          <a:ln w="9525">
            <a:noFill/>
            <a:miter lim="800000"/>
          </a:ln>
        </p:spPr>
        <p:txBody>
          <a:bodyPr wrap="none" anchor="ctr">
            <a:spAutoFit/>
          </a:bodyPr>
          <a:lstStyle/>
          <a:p>
            <a:pPr algn="dist">
              <a:spcBef>
                <a:spcPct val="20000"/>
              </a:spcBef>
              <a:buFont typeface="Wingdings" panose="05000000000000000000" pitchFamily="2" charset="2"/>
              <a:buNone/>
            </a:pPr>
            <a:endParaRPr lang="zh-CN" altLang="en-US"/>
          </a:p>
        </p:txBody>
      </p:sp>
      <p:sp>
        <p:nvSpPr>
          <p:cNvPr id="92169" name="Rectangle 11"/>
          <p:cNvSpPr>
            <a:spLocks noChangeArrowheads="1"/>
          </p:cNvSpPr>
          <p:nvPr/>
        </p:nvSpPr>
        <p:spPr bwMode="auto">
          <a:xfrm>
            <a:off x="4448175" y="3192463"/>
            <a:ext cx="247650" cy="244475"/>
          </a:xfrm>
          <a:prstGeom prst="rect">
            <a:avLst/>
          </a:prstGeom>
          <a:noFill/>
          <a:ln w="9525">
            <a:noFill/>
            <a:miter lim="800000"/>
          </a:ln>
        </p:spPr>
        <p:txBody>
          <a:bodyPr wrap="none" anchor="ctr">
            <a:spAutoFit/>
          </a:bodyPr>
          <a:lstStyle/>
          <a:p>
            <a:pPr algn="ctr" eaLnBrk="0" hangingPunct="0">
              <a:spcBef>
                <a:spcPct val="20000"/>
              </a:spcBef>
              <a:buFont typeface="Wingdings" panose="05000000000000000000" pitchFamily="2" charset="2"/>
              <a:buNone/>
            </a:pPr>
            <a:r>
              <a:rPr lang="zh-CN" altLang="en-US" sz="1000">
                <a:latin typeface="宋体" panose="02010600030101010101" pitchFamily="2" charset="-122"/>
              </a:rPr>
              <a:t> </a:t>
            </a:r>
            <a:endParaRPr lang="zh-CN" altLang="en-US"/>
          </a:p>
        </p:txBody>
      </p:sp>
      <p:sp>
        <p:nvSpPr>
          <p:cNvPr id="92170" name="Rectangle 12"/>
          <p:cNvSpPr>
            <a:spLocks noChangeArrowheads="1"/>
          </p:cNvSpPr>
          <p:nvPr/>
        </p:nvSpPr>
        <p:spPr bwMode="auto">
          <a:xfrm>
            <a:off x="693738" y="6332538"/>
            <a:ext cx="7694612" cy="366712"/>
          </a:xfrm>
          <a:prstGeom prst="rect">
            <a:avLst/>
          </a:prstGeom>
          <a:noFill/>
          <a:ln w="9525">
            <a:noFill/>
            <a:miter lim="800000"/>
          </a:ln>
        </p:spPr>
        <p:txBody>
          <a:bodyPr wrap="none" anchor="ctr">
            <a:spAutoFit/>
          </a:bodyPr>
          <a:lstStyle/>
          <a:p>
            <a:pPr algn="ctr" eaLnBrk="0" hangingPunct="0">
              <a:spcBef>
                <a:spcPct val="20000"/>
              </a:spcBef>
              <a:buFont typeface="Wingdings" panose="05000000000000000000" pitchFamily="2" charset="2"/>
              <a:buNone/>
            </a:pPr>
            <a:r>
              <a:rPr lang="zh-CN" altLang="en-US" sz="1800" b="1">
                <a:latin typeface="宋体" panose="02010600030101010101" pitchFamily="2" charset="-122"/>
              </a:rPr>
              <a:t>图</a:t>
            </a:r>
            <a:r>
              <a:rPr lang="en-US" altLang="zh-CN" sz="1800" b="1">
                <a:latin typeface="宋体" panose="02010600030101010101" pitchFamily="2" charset="-122"/>
              </a:rPr>
              <a:t>1-19</a:t>
            </a:r>
            <a:r>
              <a:rPr lang="zh-CN" altLang="en-US" sz="1800" b="1">
                <a:latin typeface="宋体" panose="02010600030101010101" pitchFamily="2" charset="-122"/>
              </a:rPr>
              <a:t>扫描报表内容                          图</a:t>
            </a:r>
            <a:r>
              <a:rPr lang="en-US" altLang="zh-CN" sz="1800" b="1">
                <a:latin typeface="宋体" panose="02010600030101010101" pitchFamily="2" charset="-122"/>
              </a:rPr>
              <a:t>1-20 </a:t>
            </a:r>
            <a:r>
              <a:rPr lang="zh-CN" altLang="en-US" sz="1800" b="1">
                <a:latin typeface="宋体" panose="02010600030101010101" pitchFamily="2" charset="-122"/>
              </a:rPr>
              <a:t>选择报表类型</a:t>
            </a:r>
            <a:endParaRPr lang="zh-CN" altLang="en-US" sz="1800" b="1"/>
          </a:p>
        </p:txBody>
      </p:sp>
      <p:sp>
        <p:nvSpPr>
          <p:cNvPr id="92171" name="标题 1"/>
          <p:cNvSpPr>
            <a:spLocks noChangeArrowheads="1"/>
          </p:cNvSpPr>
          <p:nvPr/>
        </p:nvSpPr>
        <p:spPr bwMode="auto">
          <a:xfrm>
            <a:off x="838200" y="152400"/>
            <a:ext cx="8305800" cy="563563"/>
          </a:xfrm>
          <a:prstGeom prst="rect">
            <a:avLst/>
          </a:prstGeom>
          <a:noFill/>
          <a:ln w="9525">
            <a:noFill/>
            <a:miter lim="800000"/>
          </a:ln>
        </p:spPr>
        <p:txBody>
          <a:bodyPr anchor="ctr"/>
          <a:lstStyle/>
          <a:p>
            <a:pPr algn="ctr"/>
            <a:r>
              <a:rPr lang="zh-CN" altLang="en-US" sz="3000" b="1">
                <a:solidFill>
                  <a:schemeClr val="bg1"/>
                </a:solidFill>
                <a:latin typeface="微软雅黑" panose="020B0503020204020204" charset="-122"/>
                <a:ea typeface="微软雅黑" panose="020B0503020204020204" charset="-122"/>
              </a:rPr>
              <a:t>*选做补充实验 网络漏洞扫描器</a:t>
            </a:r>
            <a:r>
              <a:rPr lang="en-US" altLang="zh-CN" sz="3000" b="1">
                <a:solidFill>
                  <a:schemeClr val="bg1"/>
                </a:solidFill>
                <a:latin typeface="微软雅黑" panose="020B0503020204020204" charset="-122"/>
                <a:ea typeface="微软雅黑" panose="020B0503020204020204" charset="-122"/>
              </a:rPr>
              <a:t>X-Scan</a:t>
            </a:r>
            <a:r>
              <a:rPr lang="zh-CN" altLang="en-US" sz="3000" b="1">
                <a:solidFill>
                  <a:schemeClr val="bg1"/>
                </a:solidFill>
                <a:latin typeface="微软雅黑" panose="020B0503020204020204" charset="-122"/>
                <a:ea typeface="微软雅黑" panose="020B0503020204020204" charset="-122"/>
              </a:rPr>
              <a:t>应用</a:t>
            </a:r>
            <a:r>
              <a:rPr lang="zh-CN" altLang="en-US" sz="3000" b="1">
                <a:solidFill>
                  <a:schemeClr val="bg1"/>
                </a:solidFill>
                <a:latin typeface="Verdana" panose="020B0604030504040204" pitchFamily="34" charset="0"/>
              </a:rPr>
              <a:t> </a:t>
            </a:r>
            <a:endParaRPr lang="zh-CN" altLang="en-US" sz="3000" b="1">
              <a:solidFill>
                <a:schemeClr val="bg1"/>
              </a:solidFill>
              <a:latin typeface="Verdana" panose="020B0604030504040204" pitchFamily="34" charset="0"/>
            </a:endParaRPr>
          </a:p>
        </p:txBody>
      </p:sp>
    </p:spTree>
  </p:cSld>
  <p:clrMapOvr>
    <a:masterClrMapping/>
  </p:clrMapOvr>
</p:sld>
</file>

<file path=ppt/tags/tag1.xml><?xml version="1.0" encoding="utf-8"?>
<p:tagLst xmlns:p="http://schemas.openxmlformats.org/presentationml/2006/main">
  <p:tag name="COMMONDATA" val="eyJoZGlkIjoiYTkyNzU5YmZhNjU4MzM5ZTNjNzVhNGQwZGQwZWI1YzYifQ=="/>
</p:tagLst>
</file>

<file path=ppt/theme/theme1.xml><?xml version="1.0" encoding="utf-8"?>
<a:theme xmlns:a="http://schemas.openxmlformats.org/drawingml/2006/main" name="Ch1 网络安全基础">
  <a:themeElements>
    <a:clrScheme name="Default Design 3">
      <a:dk1>
        <a:srgbClr val="29698D"/>
      </a:dk1>
      <a:lt1>
        <a:srgbClr val="FFFFFF"/>
      </a:lt1>
      <a:dk2>
        <a:srgbClr val="000000"/>
      </a:dk2>
      <a:lt2>
        <a:srgbClr val="D6E1E2"/>
      </a:lt2>
      <a:accent1>
        <a:srgbClr val="0099CC"/>
      </a:accent1>
      <a:accent2>
        <a:srgbClr val="FF9900"/>
      </a:accent2>
      <a:accent3>
        <a:srgbClr val="FFFFFF"/>
      </a:accent3>
      <a:accent4>
        <a:srgbClr val="215978"/>
      </a:accent4>
      <a:accent5>
        <a:srgbClr val="AACAE2"/>
      </a:accent5>
      <a:accent6>
        <a:srgbClr val="E78A00"/>
      </a:accent6>
      <a:hlink>
        <a:srgbClr val="669900"/>
      </a:hlink>
      <a:folHlink>
        <a:srgbClr val="83A6A7"/>
      </a:folHlink>
    </a:clrScheme>
    <a:fontScheme name="Default Design">
      <a:majorFont>
        <a:latin typeface="Verdana"/>
        <a:ea typeface=""/>
        <a:cs typeface=""/>
      </a:majorFont>
      <a:minorFont>
        <a:latin typeface="宋体"/>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dist" defTabSz="914400" rtl="0" eaLnBrk="1" fontAlgn="base" latinLnBrk="0" hangingPunct="1">
          <a:lnSpc>
            <a:spcPct val="100000"/>
          </a:lnSpc>
          <a:spcBef>
            <a:spcPct val="20000"/>
          </a:spcBef>
          <a:spcAft>
            <a:spcPct val="0"/>
          </a:spcAft>
          <a:buClrTx/>
          <a:buSzTx/>
          <a:buFont typeface="Wingdings" panose="05000000000000000000" pitchFamily="2" charset="2"/>
          <a:buNone/>
          <a:defRPr kumimoji="0" lang="en-US" sz="24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dist" defTabSz="914400" rtl="0" eaLnBrk="1" fontAlgn="base" latinLnBrk="0" hangingPunct="1">
          <a:lnSpc>
            <a:spcPct val="100000"/>
          </a:lnSpc>
          <a:spcBef>
            <a:spcPct val="20000"/>
          </a:spcBef>
          <a:spcAft>
            <a:spcPct val="0"/>
          </a:spcAft>
          <a:buClrTx/>
          <a:buSzTx/>
          <a:buFont typeface="Wingdings" panose="05000000000000000000" pitchFamily="2" charset="2"/>
          <a:buNone/>
          <a:defRPr kumimoji="0" lang="en-US" sz="24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Default Design 1">
        <a:dk1>
          <a:srgbClr val="29698D"/>
        </a:dk1>
        <a:lt1>
          <a:srgbClr val="FFFFFF"/>
        </a:lt1>
        <a:dk2>
          <a:srgbClr val="000000"/>
        </a:dk2>
        <a:lt2>
          <a:srgbClr val="D6E1E2"/>
        </a:lt2>
        <a:accent1>
          <a:srgbClr val="FF5050"/>
        </a:accent1>
        <a:accent2>
          <a:srgbClr val="FF9933"/>
        </a:accent2>
        <a:accent3>
          <a:srgbClr val="FFFFFF"/>
        </a:accent3>
        <a:accent4>
          <a:srgbClr val="215978"/>
        </a:accent4>
        <a:accent5>
          <a:srgbClr val="FFB3B3"/>
        </a:accent5>
        <a:accent6>
          <a:srgbClr val="E78A2D"/>
        </a:accent6>
        <a:hlink>
          <a:srgbClr val="00CC99"/>
        </a:hlink>
        <a:folHlink>
          <a:srgbClr val="83A6A7"/>
        </a:folHlink>
      </a:clrScheme>
      <a:clrMap bg1="lt1" tx1="dk1" bg2="lt2" tx2="dk2" accent1="accent1" accent2="accent2" accent3="accent3" accent4="accent4" accent5="accent5" accent6="accent6" hlink="hlink" folHlink="folHlink"/>
    </a:extraClrScheme>
    <a:extraClrScheme>
      <a:clrScheme name="Default Design 2">
        <a:dk1>
          <a:srgbClr val="666699"/>
        </a:dk1>
        <a:lt1>
          <a:srgbClr val="FFFFFF"/>
        </a:lt1>
        <a:dk2>
          <a:srgbClr val="000000"/>
        </a:dk2>
        <a:lt2>
          <a:srgbClr val="F7F4D5"/>
        </a:lt2>
        <a:accent1>
          <a:srgbClr val="72B88E"/>
        </a:accent1>
        <a:accent2>
          <a:srgbClr val="917FC9"/>
        </a:accent2>
        <a:accent3>
          <a:srgbClr val="FFFFFF"/>
        </a:accent3>
        <a:accent4>
          <a:srgbClr val="565682"/>
        </a:accent4>
        <a:accent5>
          <a:srgbClr val="BCD8C6"/>
        </a:accent5>
        <a:accent6>
          <a:srgbClr val="8372B6"/>
        </a:accent6>
        <a:hlink>
          <a:srgbClr val="3197BB"/>
        </a:hlink>
        <a:folHlink>
          <a:srgbClr val="878FA5"/>
        </a:folHlink>
      </a:clrScheme>
      <a:clrMap bg1="lt1" tx1="dk1" bg2="lt2" tx2="dk2" accent1="accent1" accent2="accent2" accent3="accent3" accent4="accent4" accent5="accent5" accent6="accent6" hlink="hlink" folHlink="folHlink"/>
    </a:extraClrScheme>
    <a:extraClrScheme>
      <a:clrScheme name="Default Design 3">
        <a:dk1>
          <a:srgbClr val="29698D"/>
        </a:dk1>
        <a:lt1>
          <a:srgbClr val="FFFFFF"/>
        </a:lt1>
        <a:dk2>
          <a:srgbClr val="000000"/>
        </a:dk2>
        <a:lt2>
          <a:srgbClr val="D6E1E2"/>
        </a:lt2>
        <a:accent1>
          <a:srgbClr val="0099CC"/>
        </a:accent1>
        <a:accent2>
          <a:srgbClr val="FF9900"/>
        </a:accent2>
        <a:accent3>
          <a:srgbClr val="FFFFFF"/>
        </a:accent3>
        <a:accent4>
          <a:srgbClr val="215978"/>
        </a:accent4>
        <a:accent5>
          <a:srgbClr val="AACAE2"/>
        </a:accent5>
        <a:accent6>
          <a:srgbClr val="E78A00"/>
        </a:accent6>
        <a:hlink>
          <a:srgbClr val="669900"/>
        </a:hlink>
        <a:folHlink>
          <a:srgbClr val="83A6A7"/>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Default Design">
  <a:themeElements>
    <a:clrScheme name="Default Design 3">
      <a:dk1>
        <a:srgbClr val="29698D"/>
      </a:dk1>
      <a:lt1>
        <a:srgbClr val="FFFFFF"/>
      </a:lt1>
      <a:dk2>
        <a:srgbClr val="000000"/>
      </a:dk2>
      <a:lt2>
        <a:srgbClr val="D6E1E2"/>
      </a:lt2>
      <a:accent1>
        <a:srgbClr val="0099CC"/>
      </a:accent1>
      <a:accent2>
        <a:srgbClr val="FF9900"/>
      </a:accent2>
      <a:accent3>
        <a:srgbClr val="FFFFFF"/>
      </a:accent3>
      <a:accent4>
        <a:srgbClr val="215978"/>
      </a:accent4>
      <a:accent5>
        <a:srgbClr val="AACAE2"/>
      </a:accent5>
      <a:accent6>
        <a:srgbClr val="E78A00"/>
      </a:accent6>
      <a:hlink>
        <a:srgbClr val="669900"/>
      </a:hlink>
      <a:folHlink>
        <a:srgbClr val="83A6A7"/>
      </a:folHlink>
    </a:clrScheme>
    <a:fontScheme name="Default Design">
      <a:majorFont>
        <a:latin typeface="Verdana"/>
        <a:ea typeface=""/>
        <a:cs typeface=""/>
      </a:majorFont>
      <a:minorFont>
        <a:latin typeface="宋体"/>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dist" defTabSz="914400" rtl="0" eaLnBrk="1" fontAlgn="base" latinLnBrk="0" hangingPunct="1">
          <a:lnSpc>
            <a:spcPct val="100000"/>
          </a:lnSpc>
          <a:spcBef>
            <a:spcPct val="20000"/>
          </a:spcBef>
          <a:spcAft>
            <a:spcPct val="0"/>
          </a:spcAft>
          <a:buClrTx/>
          <a:buSzTx/>
          <a:buFont typeface="Wingdings" panose="05000000000000000000" pitchFamily="2" charset="2"/>
          <a:buNone/>
          <a:defRPr kumimoji="0" lang="en-US" sz="24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dist" defTabSz="914400" rtl="0" eaLnBrk="1" fontAlgn="base" latinLnBrk="0" hangingPunct="1">
          <a:lnSpc>
            <a:spcPct val="100000"/>
          </a:lnSpc>
          <a:spcBef>
            <a:spcPct val="20000"/>
          </a:spcBef>
          <a:spcAft>
            <a:spcPct val="0"/>
          </a:spcAft>
          <a:buClrTx/>
          <a:buSzTx/>
          <a:buFont typeface="Wingdings" panose="05000000000000000000" pitchFamily="2" charset="2"/>
          <a:buNone/>
          <a:defRPr kumimoji="0" lang="en-US" sz="24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Default Design 1">
        <a:dk1>
          <a:srgbClr val="29698D"/>
        </a:dk1>
        <a:lt1>
          <a:srgbClr val="FFFFFF"/>
        </a:lt1>
        <a:dk2>
          <a:srgbClr val="000000"/>
        </a:dk2>
        <a:lt2>
          <a:srgbClr val="D6E1E2"/>
        </a:lt2>
        <a:accent1>
          <a:srgbClr val="FF5050"/>
        </a:accent1>
        <a:accent2>
          <a:srgbClr val="FF9933"/>
        </a:accent2>
        <a:accent3>
          <a:srgbClr val="FFFFFF"/>
        </a:accent3>
        <a:accent4>
          <a:srgbClr val="215978"/>
        </a:accent4>
        <a:accent5>
          <a:srgbClr val="FFB3B3"/>
        </a:accent5>
        <a:accent6>
          <a:srgbClr val="E78A2D"/>
        </a:accent6>
        <a:hlink>
          <a:srgbClr val="00CC99"/>
        </a:hlink>
        <a:folHlink>
          <a:srgbClr val="83A6A7"/>
        </a:folHlink>
      </a:clrScheme>
      <a:clrMap bg1="lt1" tx1="dk1" bg2="lt2" tx2="dk2" accent1="accent1" accent2="accent2" accent3="accent3" accent4="accent4" accent5="accent5" accent6="accent6" hlink="hlink" folHlink="folHlink"/>
    </a:extraClrScheme>
    <a:extraClrScheme>
      <a:clrScheme name="Default Design 2">
        <a:dk1>
          <a:srgbClr val="666699"/>
        </a:dk1>
        <a:lt1>
          <a:srgbClr val="FFFFFF"/>
        </a:lt1>
        <a:dk2>
          <a:srgbClr val="000000"/>
        </a:dk2>
        <a:lt2>
          <a:srgbClr val="F7F4D5"/>
        </a:lt2>
        <a:accent1>
          <a:srgbClr val="72B88E"/>
        </a:accent1>
        <a:accent2>
          <a:srgbClr val="917FC9"/>
        </a:accent2>
        <a:accent3>
          <a:srgbClr val="FFFFFF"/>
        </a:accent3>
        <a:accent4>
          <a:srgbClr val="565682"/>
        </a:accent4>
        <a:accent5>
          <a:srgbClr val="BCD8C6"/>
        </a:accent5>
        <a:accent6>
          <a:srgbClr val="8372B6"/>
        </a:accent6>
        <a:hlink>
          <a:srgbClr val="3197BB"/>
        </a:hlink>
        <a:folHlink>
          <a:srgbClr val="878FA5"/>
        </a:folHlink>
      </a:clrScheme>
      <a:clrMap bg1="lt1" tx1="dk1" bg2="lt2" tx2="dk2" accent1="accent1" accent2="accent2" accent3="accent3" accent4="accent4" accent5="accent5" accent6="accent6" hlink="hlink" folHlink="folHlink"/>
    </a:extraClrScheme>
    <a:extraClrScheme>
      <a:clrScheme name="Default Design 3">
        <a:dk1>
          <a:srgbClr val="29698D"/>
        </a:dk1>
        <a:lt1>
          <a:srgbClr val="FFFFFF"/>
        </a:lt1>
        <a:dk2>
          <a:srgbClr val="000000"/>
        </a:dk2>
        <a:lt2>
          <a:srgbClr val="D6E1E2"/>
        </a:lt2>
        <a:accent1>
          <a:srgbClr val="0099CC"/>
        </a:accent1>
        <a:accent2>
          <a:srgbClr val="FF9900"/>
        </a:accent2>
        <a:accent3>
          <a:srgbClr val="FFFFFF"/>
        </a:accent3>
        <a:accent4>
          <a:srgbClr val="215978"/>
        </a:accent4>
        <a:accent5>
          <a:srgbClr val="AACAE2"/>
        </a:accent5>
        <a:accent6>
          <a:srgbClr val="E78A00"/>
        </a:accent6>
        <a:hlink>
          <a:srgbClr val="669900"/>
        </a:hlink>
        <a:folHlink>
          <a:srgbClr val="83A6A7"/>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Ch1 网络安全基础</Template>
  <TotalTime>0</TotalTime>
  <Words>31032</Words>
  <Application>WPS 演示</Application>
  <PresentationFormat>全屏显示(4:3)</PresentationFormat>
  <Paragraphs>1366</Paragraphs>
  <Slides>109</Slides>
  <Notes>2</Notes>
  <HiddenSlides>0</HiddenSlides>
  <MMClips>0</MMClips>
  <ScaleCrop>false</ScaleCrop>
  <HeadingPairs>
    <vt:vector size="6" baseType="variant">
      <vt:variant>
        <vt:lpstr>已用的字体</vt:lpstr>
      </vt:variant>
      <vt:variant>
        <vt:i4>22</vt:i4>
      </vt:variant>
      <vt:variant>
        <vt:lpstr>主题</vt:lpstr>
      </vt:variant>
      <vt:variant>
        <vt:i4>2</vt:i4>
      </vt:variant>
      <vt:variant>
        <vt:lpstr>幻灯片标题</vt:lpstr>
      </vt:variant>
      <vt:variant>
        <vt:i4>109</vt:i4>
      </vt:variant>
    </vt:vector>
  </HeadingPairs>
  <TitlesOfParts>
    <vt:vector size="133" baseType="lpstr">
      <vt:lpstr>Arial</vt:lpstr>
      <vt:lpstr>宋体</vt:lpstr>
      <vt:lpstr>Wingdings</vt:lpstr>
      <vt:lpstr>Verdana</vt:lpstr>
      <vt:lpstr>Calibri</vt:lpstr>
      <vt:lpstr>微软雅黑</vt:lpstr>
      <vt:lpstr>黑体</vt:lpstr>
      <vt:lpstr>Times New Roman</vt:lpstr>
      <vt:lpstr>Wingdings</vt:lpstr>
      <vt:lpstr>Arial Unicode MS</vt:lpstr>
      <vt:lpstr>楷体_GB2312</vt:lpstr>
      <vt:lpstr>新宋体</vt:lpstr>
      <vt:lpstr>Arial Black</vt:lpstr>
      <vt:lpstr>楷体</vt:lpstr>
      <vt:lpstr>隶书</vt:lpstr>
      <vt:lpstr>等线</vt:lpstr>
      <vt:lpstr>等线 Light</vt:lpstr>
      <vt:lpstr>微软雅黑 Light</vt:lpstr>
      <vt:lpstr>华文细黑</vt:lpstr>
      <vt:lpstr>华文新魏</vt:lpstr>
      <vt:lpstr>华文彩云</vt:lpstr>
      <vt:lpstr>华文中宋</vt:lpstr>
      <vt:lpstr>Ch1 网络安全基础</vt:lpstr>
      <vt:lpstr>1_Default Design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全  书  目  录</vt:lpstr>
      <vt:lpstr>PowerPoint 演示文稿</vt:lpstr>
      <vt:lpstr>PowerPoint 演示文稿</vt:lpstr>
      <vt:lpstr>第1章 网络安全基础</vt:lpstr>
      <vt:lpstr>PowerPoint 演示文稿</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1.6 本章小结</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GuildDesign Inc.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dreamsummit</dc:creator>
  <cp:lastModifiedBy>Stronger Dady</cp:lastModifiedBy>
  <cp:revision>98</cp:revision>
  <dcterms:created xsi:type="dcterms:W3CDTF">2020-07-17T06:44:00Z</dcterms:created>
  <dcterms:modified xsi:type="dcterms:W3CDTF">2022-09-06T03:34:39Z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2052-11.1.0.12313</vt:lpwstr>
  </property>
  <property fmtid="{D5CDD505-2E9C-101B-9397-08002B2CF9AE}" pid="3" name="ICV">
    <vt:lpwstr>70F4998BD5DB4405AD803EB16B15F8A2</vt:lpwstr>
  </property>
</Properties>
</file>