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543" r:id="rId5"/>
    <p:sldId id="544" r:id="rId7"/>
    <p:sldId id="260" r:id="rId8"/>
    <p:sldId id="482" r:id="rId9"/>
    <p:sldId id="506" r:id="rId10"/>
    <p:sldId id="439" r:id="rId11"/>
    <p:sldId id="497" r:id="rId12"/>
    <p:sldId id="498" r:id="rId13"/>
    <p:sldId id="256" r:id="rId14"/>
    <p:sldId id="397" r:id="rId15"/>
    <p:sldId id="441" r:id="rId16"/>
    <p:sldId id="399" r:id="rId17"/>
    <p:sldId id="499" r:id="rId18"/>
    <p:sldId id="547" r:id="rId19"/>
    <p:sldId id="548" r:id="rId20"/>
    <p:sldId id="549" r:id="rId21"/>
    <p:sldId id="550" r:id="rId22"/>
    <p:sldId id="551" r:id="rId23"/>
    <p:sldId id="552" r:id="rId24"/>
    <p:sldId id="505" r:id="rId25"/>
    <p:sldId id="494" r:id="rId26"/>
    <p:sldId id="500" r:id="rId27"/>
    <p:sldId id="495" r:id="rId28"/>
    <p:sldId id="404" r:id="rId29"/>
    <p:sldId id="501" r:id="rId30"/>
    <p:sldId id="405" r:id="rId31"/>
    <p:sldId id="442" r:id="rId32"/>
    <p:sldId id="502" r:id="rId33"/>
    <p:sldId id="680" r:id="rId34"/>
    <p:sldId id="408" r:id="rId35"/>
    <p:sldId id="545" r:id="rId36"/>
    <p:sldId id="546" r:id="rId37"/>
    <p:sldId id="503" r:id="rId38"/>
    <p:sldId id="496" r:id="rId39"/>
    <p:sldId id="450" r:id="rId40"/>
    <p:sldId id="451" r:id="rId41"/>
    <p:sldId id="504" r:id="rId42"/>
    <p:sldId id="449" r:id="rId43"/>
    <p:sldId id="508" r:id="rId44"/>
    <p:sldId id="367" r:id="rId45"/>
    <p:sldId id="509" r:id="rId46"/>
    <p:sldId id="452" r:id="rId47"/>
    <p:sldId id="453" r:id="rId48"/>
    <p:sldId id="553" r:id="rId49"/>
    <p:sldId id="511" r:id="rId50"/>
    <p:sldId id="512" r:id="rId51"/>
    <p:sldId id="554" r:id="rId52"/>
    <p:sldId id="555" r:id="rId53"/>
    <p:sldId id="510" r:id="rId54"/>
    <p:sldId id="513" r:id="rId55"/>
    <p:sldId id="514" r:id="rId56"/>
    <p:sldId id="518" r:id="rId57"/>
    <p:sldId id="557" r:id="rId58"/>
    <p:sldId id="556" r:id="rId59"/>
    <p:sldId id="515" r:id="rId60"/>
    <p:sldId id="520" r:id="rId61"/>
    <p:sldId id="517" r:id="rId62"/>
    <p:sldId id="516" r:id="rId63"/>
    <p:sldId id="558" r:id="rId64"/>
    <p:sldId id="456" r:id="rId65"/>
    <p:sldId id="431" r:id="rId66"/>
    <p:sldId id="377" r:id="rId67"/>
    <p:sldId id="457" r:id="rId68"/>
    <p:sldId id="521" r:id="rId69"/>
    <p:sldId id="522" r:id="rId70"/>
    <p:sldId id="523" r:id="rId71"/>
    <p:sldId id="524" r:id="rId72"/>
    <p:sldId id="525" r:id="rId73"/>
    <p:sldId id="526" r:id="rId74"/>
    <p:sldId id="527" r:id="rId75"/>
    <p:sldId id="528" r:id="rId76"/>
    <p:sldId id="529" r:id="rId77"/>
    <p:sldId id="382" r:id="rId78"/>
    <p:sldId id="643" r:id="rId79"/>
    <p:sldId id="644" r:id="rId80"/>
    <p:sldId id="645" r:id="rId81"/>
    <p:sldId id="646" r:id="rId82"/>
    <p:sldId id="641" r:id="rId83"/>
    <p:sldId id="412" r:id="rId84"/>
    <p:sldId id="648" r:id="rId85"/>
    <p:sldId id="649" r:id="rId86"/>
    <p:sldId id="650" r:id="rId87"/>
    <p:sldId id="651" r:id="rId88"/>
    <p:sldId id="652" r:id="rId89"/>
    <p:sldId id="458" r:id="rId90"/>
    <p:sldId id="415" r:id="rId91"/>
    <p:sldId id="426" r:id="rId92"/>
    <p:sldId id="654" r:id="rId93"/>
    <p:sldId id="656" r:id="rId94"/>
    <p:sldId id="653" r:id="rId95"/>
    <p:sldId id="416" r:id="rId96"/>
    <p:sldId id="417" r:id="rId97"/>
    <p:sldId id="530" r:id="rId98"/>
    <p:sldId id="531" r:id="rId99"/>
    <p:sldId id="532" r:id="rId100"/>
    <p:sldId id="533" r:id="rId101"/>
    <p:sldId id="460" r:id="rId102"/>
    <p:sldId id="461" r:id="rId103"/>
    <p:sldId id="534" r:id="rId104"/>
    <p:sldId id="535" r:id="rId105"/>
    <p:sldId id="536" r:id="rId106"/>
    <p:sldId id="537" r:id="rId107"/>
    <p:sldId id="538" r:id="rId108"/>
    <p:sldId id="539" r:id="rId109"/>
    <p:sldId id="541" r:id="rId110"/>
    <p:sldId id="542" r:id="rId111"/>
    <p:sldId id="540" r:id="rId112"/>
    <p:sldId id="418" r:id="rId113"/>
  </p:sldIdLst>
  <p:sldSz cx="9144000" cy="6858000" type="screen4x3"/>
  <p:notesSz cx="6858000" cy="9144000"/>
  <p:custDataLst>
    <p:tags r:id="rId11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D60093"/>
    <a:srgbClr val="FFFF99"/>
    <a:srgbClr val="800000"/>
    <a:srgbClr val="6600FF"/>
    <a:srgbClr val="3F14B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17" autoAdjust="0"/>
    <p:restoredTop sz="94660" autoAdjust="0"/>
  </p:normalViewPr>
  <p:slideViewPr>
    <p:cSldViewPr>
      <p:cViewPr varScale="1">
        <p:scale>
          <a:sx n="115" d="100"/>
          <a:sy n="115" d="100"/>
        </p:scale>
        <p:origin x="1488" y="102"/>
      </p:cViewPr>
      <p:guideLst>
        <p:guide orient="horz" pos="2160"/>
        <p:guide pos="28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7" Type="http://schemas.openxmlformats.org/officeDocument/2006/relationships/tags" Target="tags/tag3.xml"/><Relationship Id="rId116" Type="http://schemas.openxmlformats.org/officeDocument/2006/relationships/tableStyles" Target="tableStyles.xml"/><Relationship Id="rId115" Type="http://schemas.openxmlformats.org/officeDocument/2006/relationships/viewProps" Target="viewProps.xml"/><Relationship Id="rId114" Type="http://schemas.openxmlformats.org/officeDocument/2006/relationships/presProps" Target="presProps.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image" Target="../media/image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endParaRPr lang="zh-CN" altLang="en-US"/>
          </a:p>
        </p:txBody>
      </p:sp>
      <p:sp>
        <p:nvSpPr>
          <p:cNvPr id="4100"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759A0F2A-9457-446C-A019-17FEC1E11FD3}"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r>
              <a:rPr lang="zh-CN" altLang="en-US"/>
              <a:t>签名：私钥签名，公钥验证，所以就算私钥遗失了，以前签名的数据仍然有效，所以私钥一般只有一份</a:t>
            </a:r>
            <a:endParaRPr lang="zh-CN" altLang="en-US"/>
          </a:p>
          <a:p>
            <a:r>
              <a:rPr lang="zh-CN" altLang="en-US"/>
              <a:t>加密：公钥加密，私钥解密，一旦私钥遗失，则数据就无法还原了，所以CA一般会备份加密证书</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ChangeArrowheads="1" noTextEdit="1"/>
          </p:cNvSpPr>
          <p:nvPr>
            <p:ph type="sldImg" idx="4294967295"/>
          </p:nvPr>
        </p:nvSpPr>
        <p:spPr>
          <a:ln>
            <a:miter lim="800000"/>
          </a:ln>
        </p:spPr>
      </p:sp>
      <p:sp>
        <p:nvSpPr>
          <p:cNvPr id="26626"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ChangeArrowheads="1" noTextEdit="1"/>
          </p:cNvSpPr>
          <p:nvPr>
            <p:ph type="sldImg" idx="4294967295"/>
          </p:nvPr>
        </p:nvSpPr>
        <p:spPr>
          <a:ln>
            <a:miter lim="800000"/>
          </a:ln>
        </p:spPr>
      </p:sp>
      <p:sp>
        <p:nvSpPr>
          <p:cNvPr id="28674"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r>
              <a:rPr lang="zh-CN" altLang="en-US"/>
              <a:t>（1）发方A将原文信息进行哈希运算，得一哈希值即数字摘要MD；</a:t>
            </a:r>
            <a:endParaRPr lang="zh-CN" altLang="en-US"/>
          </a:p>
          <a:p>
            <a:r>
              <a:rPr lang="zh-CN" altLang="en-US"/>
              <a:t>（2）发方A用自己的私钥PVA，采用非对称RSA算法，对数字摘要MD进行加密，即得数字签名DS；</a:t>
            </a:r>
            <a:endParaRPr lang="zh-CN" altLang="en-US"/>
          </a:p>
          <a:p>
            <a:r>
              <a:rPr lang="zh-CN" altLang="en-US"/>
              <a:t>（3）发方A用对称算法DES的对称密钥SK对原文信息、数字签名SD及发方A证书的公钥PBA采用对称算法加密，得加密信息E；</a:t>
            </a:r>
            <a:endParaRPr lang="zh-CN" altLang="en-US"/>
          </a:p>
          <a:p>
            <a:r>
              <a:rPr lang="zh-CN" altLang="en-US"/>
              <a:t>（4）发方用收方B的公钥PBB，采用RSA算法对对称密钥SK加密，形成数字信封DE，就好像将对称密钥SK装到了一个用收方公钥加密的信封里；</a:t>
            </a:r>
            <a:endParaRPr lang="zh-CN" altLang="en-US"/>
          </a:p>
          <a:p>
            <a:r>
              <a:rPr lang="zh-CN" altLang="en-US"/>
              <a:t>（5）发方A将加密信息E和数字信封DE一起发送给收方B；</a:t>
            </a:r>
            <a:endParaRPr lang="zh-CN" altLang="en-US"/>
          </a:p>
          <a:p>
            <a:r>
              <a:rPr lang="zh-CN" altLang="en-US"/>
              <a:t>（6）收方B接受到数字信封DE后，首先用自己的私钥PVB解密数字信封，取出对称密钥SK；</a:t>
            </a:r>
            <a:endParaRPr lang="zh-CN" altLang="en-US"/>
          </a:p>
          <a:p>
            <a:r>
              <a:rPr lang="zh-CN" altLang="en-US"/>
              <a:t>（7）收方B用对称密钥SK通过DES算法解密加密信息E，还原出原文信息、数字签名SD及发方A证书的公钥PBA；</a:t>
            </a:r>
            <a:endParaRPr lang="zh-CN" altLang="en-US"/>
          </a:p>
          <a:p>
            <a:r>
              <a:rPr lang="zh-CN" altLang="en-US"/>
              <a:t>（8）收方B验证数字签名，先用发方A的公钥解密数字签名得数字摘要MD；</a:t>
            </a:r>
            <a:endParaRPr lang="zh-CN" altLang="en-US"/>
          </a:p>
          <a:p>
            <a:r>
              <a:rPr lang="zh-CN" altLang="en-US"/>
              <a:t>（9）收方B同时将原文信息用同样的哈希运算，求得一个新的数字摘要MD’；</a:t>
            </a:r>
            <a:endParaRPr lang="zh-CN" altLang="en-US"/>
          </a:p>
          <a:p>
            <a:r>
              <a:rPr lang="zh-CN" altLang="en-US"/>
              <a:t>（10）将两个数字摘要MD和MD’进行比较，验证原文是否被修改。如果二者相等，说明数据没有被篡改，是保密传输的，签名是真实的；否则拒绝该签名。</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ChangeArrowheads="1" noTextEdit="1"/>
          </p:cNvSpPr>
          <p:nvPr>
            <p:ph type="sldImg" idx="4294967295"/>
          </p:nvPr>
        </p:nvSpPr>
        <p:spPr>
          <a:ln>
            <a:miter lim="800000"/>
          </a:ln>
        </p:spPr>
      </p:sp>
      <p:sp>
        <p:nvSpPr>
          <p:cNvPr id="44034"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9"/>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noChangeArrowheads="1" noTextEdit="1"/>
          </p:cNvSpPr>
          <p:nvPr>
            <p:ph type="sldImg" idx="4294967295"/>
          </p:nvPr>
        </p:nvSpPr>
        <p:spPr>
          <a:ln>
            <a:miter lim="800000"/>
          </a:ln>
        </p:spPr>
      </p:sp>
      <p:sp>
        <p:nvSpPr>
          <p:cNvPr id="80898"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56B4C93B-032D-488C-A713-644350081A25}"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B788190-2191-48D5-A3B8-CA4C80F48910}"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EE0343D9-91EE-462A-895F-CCF3FD294DD3}"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DFD66C15-030B-4BF5-9E91-E803BAF32B23}"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7DEB0CB1-5C94-4C72-A025-11ABCFDD863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45999631-DE00-4DE5-81A7-6F3B0DB3324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575A2F5E-9822-479C-814A-1C530684714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10B4C05A-425D-442F-A8FB-27FA52360D2D}"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0E284F49-2BBF-4AE7-9C9E-ABB18A41E2C7}"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7B680350-9A76-421D-8BC4-DD05972F5035}"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C04AB521-D4E3-4650-A124-21FFD4E29427}"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19E5D33-B938-47F7-85C5-CF0933989ED4}"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38BDC933-B3BB-4C30-95F5-6A618709A688}"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D2623495-5373-4318-B731-BCD902DA7DCE}"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F64C7D48-618C-417E-B1AA-41F558E44D53}"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79034888-B483-44B1-BC86-B5525E137762}"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CF5D2D75-831D-4934-9ECD-D7E9084CB65F}"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8661D122-A1EC-4FFC-9BE5-5FA8A622C5E8}"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2357486E-8960-4257-8C03-178A077C4B57}"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896D623B-FDA5-4FA5-B288-3986ED7D80F2}"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F35DB887-C580-44E7-839B-7048AAB50BC0}"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69E7C77A-0C9C-46A2-9DCB-3452CBAAAEA7}"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2.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5F24F3A0-5E93-4A3A-8AA7-84A7E01C336D}" type="slidenum">
              <a:rPr lang="zh-CN" altLang="en-US"/>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43" descr="e_11p"/>
          <p:cNvPicPr>
            <a:picLocks noChangeAspect="1" noChangeArrowheads="1"/>
          </p:cNvPicPr>
          <p:nvPr/>
        </p:nvPicPr>
        <p:blipFill>
          <a:blip r:embed="rId12" cstate="print"/>
          <a:srcRect/>
          <a:stretch>
            <a:fillRect/>
          </a:stretch>
        </p:blipFill>
        <p:spPr bwMode="auto">
          <a:xfrm>
            <a:off x="0" y="0"/>
            <a:ext cx="9144000" cy="939800"/>
          </a:xfrm>
          <a:prstGeom prst="rect">
            <a:avLst/>
          </a:prstGeom>
          <a:noFill/>
          <a:ln w="9525">
            <a:noFill/>
            <a:miter lim="800000"/>
            <a:headEnd/>
            <a:tailEnd/>
          </a:ln>
        </p:spPr>
      </p:pic>
      <p:sp>
        <p:nvSpPr>
          <p:cNvPr id="2051"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AD0E1A83-4D5D-402F-BD0A-DBBFDB6C2163}" type="slidenum">
              <a:rPr lang="zh-CN" altLang="en-US"/>
            </a:fld>
            <a:endParaRPr lang="zh-CN" altLang="en-US"/>
          </a:p>
        </p:txBody>
      </p:sp>
      <p:sp>
        <p:nvSpPr>
          <p:cNvPr id="2053" name="Rectangle 2"/>
          <p:cNvSpPr>
            <a:spLocks noGrp="1" noChangeArrowheads="1"/>
          </p:cNvSpPr>
          <p:nvPr>
            <p:ph type="title" idx="9"/>
          </p:nvPr>
        </p:nvSpPr>
        <p:spPr bwMode="auto">
          <a:xfrm>
            <a:off x="474663" y="84138"/>
            <a:ext cx="8305800" cy="563562"/>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70" name="Text Box 46"/>
          <p:cNvSpPr txBox="1">
            <a:spLocks noChangeArrowheads="1"/>
          </p:cNvSpPr>
          <p:nvPr/>
        </p:nvSpPr>
        <p:spPr bwMode="auto">
          <a:xfrm>
            <a:off x="0" y="6583363"/>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b="1">
              <a:solidFill>
                <a:schemeClr val="bg1"/>
              </a:solidFill>
              <a:latin typeface="Verdana" panose="020B0604030504040204" pitchFamily="34" charset="0"/>
            </a:endParaRPr>
          </a:p>
        </p:txBody>
      </p:sp>
      <p:pic>
        <p:nvPicPr>
          <p:cNvPr id="2055" name="Picture 44" descr="e_12"/>
          <p:cNvPicPr>
            <a:picLocks noChangeAspect="1" noChangeArrowheads="1"/>
          </p:cNvPicPr>
          <p:nvPr/>
        </p:nvPicPr>
        <p:blipFill>
          <a:blip r:embed="rId13" cstate="print">
            <a:lum bright="70000" contrast="-70000"/>
          </a:blip>
          <a:srcRect r="14461"/>
          <a:stretch>
            <a:fillRect/>
          </a:stretch>
        </p:blipFill>
        <p:spPr bwMode="auto">
          <a:xfrm>
            <a:off x="0" y="906463"/>
            <a:ext cx="9144000" cy="58658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Picture 44" descr="e_12"/>
          <p:cNvPicPr>
            <a:picLocks noChangeAspect="1" noChangeArrowheads="1"/>
          </p:cNvPicPr>
          <p:nvPr/>
        </p:nvPicPr>
        <p:blipFill>
          <a:blip r:embed="rId12" cstate="print"/>
          <a:srcRect r="14461"/>
          <a:stretch>
            <a:fillRect/>
          </a:stretch>
        </p:blipFill>
        <p:spPr bwMode="auto">
          <a:xfrm>
            <a:off x="0" y="0"/>
            <a:ext cx="9144000" cy="5157788"/>
          </a:xfrm>
          <a:prstGeom prst="rect">
            <a:avLst/>
          </a:prstGeom>
          <a:noFill/>
          <a:ln w="9525">
            <a:noFill/>
            <a:miter lim="800000"/>
            <a:headEnd/>
            <a:tailEnd/>
          </a:ln>
        </p:spPr>
      </p:pic>
      <p:sp>
        <p:nvSpPr>
          <p:cNvPr id="8"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en-US" sz="2400">
              <a:latin typeface="+mn-lt"/>
              <a:ea typeface="+mn-ea"/>
            </a:endParaRPr>
          </a:p>
        </p:txBody>
      </p:sp>
      <p:sp>
        <p:nvSpPr>
          <p:cNvPr id="3076"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3077"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blog.csdn.net/andycode/article/details/660536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5.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oleObject" Target="../embeddings/oleObject2.bin"/><Relationship Id="rId2" Type="http://schemas.openxmlformats.org/officeDocument/2006/relationships/image" Target="../media/image19.png"/><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21.emf"/><Relationship Id="rId2" Type="http://schemas.openxmlformats.org/officeDocument/2006/relationships/image" Target="../media/image19.png"/><Relationship Id="rId1"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24.png"/><Relationship Id="rId3" Type="http://schemas.openxmlformats.org/officeDocument/2006/relationships/oleObject" Target="../embeddings/oleObject5.bin"/><Relationship Id="rId2" Type="http://schemas.openxmlformats.org/officeDocument/2006/relationships/image" Target="../media/image23.png"/><Relationship Id="rId1"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emf"/></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GIF"/><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blog.51cto.com/u_214994/578099" TargetMode="External"/><Relationship Id="rId1" Type="http://schemas.openxmlformats.org/officeDocument/2006/relationships/hyperlink" Target="https://blog.csdn.net/sinat_36082782/article/details/104506721" TargetMode="Externa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6.png"/><Relationship Id="rId2" Type="http://schemas.openxmlformats.org/officeDocument/2006/relationships/hyperlink" Target="https://blog.csdn.net/mlynb/article/details/118157973" TargetMode="External"/><Relationship Id="rId1" Type="http://schemas.openxmlformats.org/officeDocument/2006/relationships/hyperlink" Target="https://blog.csdn.net/Enlink_Young/article/details/119911198" TargetMode="Externa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w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wmf"/></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GIF"/></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w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GI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tags" Target="../tags/tag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wmf"/></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image" Target="../media/image5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jpe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5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60.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62.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64.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7.png"/><Relationship Id="rId1" Type="http://schemas.openxmlformats.org/officeDocument/2006/relationships/image" Target="../media/image66.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68.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2.png"/><Relationship Id="rId1" Type="http://schemas.openxmlformats.org/officeDocument/2006/relationships/image" Target="../media/image7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endPar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身份认证和访问控制</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zh-CN" altLang="en-US" sz="3200" b="1" dirty="0" smtClean="0">
                <a:solidFill>
                  <a:schemeClr val="bg1"/>
                </a:solidFill>
              </a:rPr>
              <a:t>本章前言</a:t>
            </a:r>
            <a:endParaRPr lang="zh-CN" altLang="en-US" dirty="0"/>
          </a:p>
        </p:txBody>
      </p:sp>
      <p:sp>
        <p:nvSpPr>
          <p:cNvPr id="19" name="圆角矩形 18"/>
          <p:cNvSpPr/>
          <p:nvPr/>
        </p:nvSpPr>
        <p:spPr bwMode="gray">
          <a:xfrm>
            <a:off x="827584" y="1052736"/>
            <a:ext cx="7777480" cy="568863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身份认证和访问控制是网络安全的最基本要素。</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身份认证（</a:t>
            </a:r>
            <a:r>
              <a:rPr lang="en-US" altLang="zh-CN" sz="2000" b="1" dirty="0">
                <a:solidFill>
                  <a:schemeClr val="tx1"/>
                </a:solidFill>
                <a:latin typeface="Arial" panose="020B0604020202020204" pitchFamily="34" charset="0"/>
                <a:ea typeface="黑体" panose="02010609060101010101" pitchFamily="49" charset="-122"/>
              </a:rPr>
              <a:t>Identity Authentication</a:t>
            </a:r>
            <a:r>
              <a:rPr lang="zh-CN" altLang="en-US" sz="2000" b="1" dirty="0" smtClean="0">
                <a:solidFill>
                  <a:schemeClr val="tx1"/>
                </a:solidFill>
                <a:latin typeface="Arial" panose="020B0604020202020204" pitchFamily="34" charset="0"/>
                <a:ea typeface="黑体" panose="02010609060101010101" pitchFamily="49" charset="-122"/>
              </a:rPr>
              <a:t>）是安全系统中的“第一道关卡”，是实施访问控制、审计等一系列信息安全措施的</a:t>
            </a:r>
            <a:r>
              <a:rPr lang="zh-CN" altLang="en-US" sz="2000" b="1" dirty="0">
                <a:solidFill>
                  <a:schemeClr val="tx1"/>
                </a:solidFill>
                <a:latin typeface="Arial" panose="020B0604020202020204" pitchFamily="34" charset="0"/>
                <a:ea typeface="黑体" panose="02010609060101010101" pitchFamily="49" charset="-122"/>
              </a:rPr>
              <a:t>前提。一旦身份认证系统被攻破，那么系统的所有安全措施将形同虚设</a:t>
            </a:r>
            <a:r>
              <a:rPr lang="zh-CN" altLang="en-US" sz="2000" b="1" dirty="0" smtClean="0">
                <a:solidFill>
                  <a:schemeClr val="tx1"/>
                </a:solidFill>
                <a:latin typeface="Arial" panose="020B0604020202020204" pitchFamily="34" charset="0"/>
                <a:ea typeface="黑体" panose="02010609060101010101" pitchFamily="49" charset="-122"/>
              </a:rPr>
              <a:t>。</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a:solidFill>
                  <a:schemeClr val="tx1"/>
                </a:solidFill>
                <a:latin typeface="Arial" panose="020B0604020202020204" pitchFamily="34" charset="0"/>
                <a:ea typeface="黑体" panose="02010609060101010101" pitchFamily="49" charset="-122"/>
              </a:rPr>
              <a:t>身份认证指的是对实体身份的证实，用以识别合法或者非法的实体，阻止非法实体假冒合法实体窃取或者访问网络</a:t>
            </a:r>
            <a:r>
              <a:rPr lang="zh-CN" altLang="en-US" sz="2000" b="1" dirty="0" smtClean="0">
                <a:solidFill>
                  <a:schemeClr val="tx1"/>
                </a:solidFill>
                <a:latin typeface="Arial" panose="020B0604020202020204" pitchFamily="34" charset="0"/>
                <a:ea typeface="黑体" panose="02010609060101010101" pitchFamily="49" charset="-122"/>
              </a:rPr>
              <a:t>资源。</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a:solidFill>
                  <a:schemeClr val="tx1"/>
                </a:solidFill>
                <a:latin typeface="Arial" panose="020B0604020202020204" pitchFamily="34" charset="0"/>
                <a:ea typeface="黑体" panose="02010609060101010101" pitchFamily="49" charset="-122"/>
              </a:rPr>
              <a:t>访问控制（</a:t>
            </a:r>
            <a:r>
              <a:rPr lang="en-US" altLang="zh-CN" sz="2000" b="1" dirty="0">
                <a:solidFill>
                  <a:schemeClr val="tx1"/>
                </a:solidFill>
                <a:latin typeface="Arial" panose="020B0604020202020204" pitchFamily="34" charset="0"/>
                <a:ea typeface="黑体" panose="02010609060101010101" pitchFamily="49" charset="-122"/>
              </a:rPr>
              <a:t>Access Control</a:t>
            </a:r>
            <a:r>
              <a:rPr lang="zh-CN" altLang="en-US" sz="2000" b="1" dirty="0">
                <a:solidFill>
                  <a:schemeClr val="tx1"/>
                </a:solidFill>
                <a:latin typeface="Arial" panose="020B0604020202020204" pitchFamily="34" charset="0"/>
                <a:ea typeface="黑体" panose="02010609060101010101" pitchFamily="49" charset="-122"/>
              </a:rPr>
              <a:t>）指针对越权使用资源的防御措施，即判断使用者是否有权限使用或更改某一项资源，并防止非授权使用者滥用资源。目的是限制访问主体对访问客体的访问权限</a:t>
            </a:r>
            <a:r>
              <a:rPr lang="zh-CN" altLang="en-US" sz="2000" b="1" dirty="0" smtClean="0">
                <a:solidFill>
                  <a:schemeClr val="tx1"/>
                </a:solidFill>
                <a:latin typeface="Arial" panose="020B0604020202020204" pitchFamily="34" charset="0"/>
                <a:ea typeface="黑体" panose="02010609060101010101" pitchFamily="49" charset="-122"/>
              </a:rPr>
              <a:t>。</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在各种网络应用中，都需要验证访问用户的身份并对其访问及权限进行控制，同时用户在整个访问过程中的活动都应当被识别、记录和存储，以确保可审查。</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2386012" y="4581128"/>
            <a:ext cx="4448175" cy="809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defRPr/>
            </a:pPr>
            <a:r>
              <a:rPr lang="zh-CN" altLang="en-US" dirty="0">
                <a:effectLst>
                  <a:outerShdw blurRad="38100" dist="38100" dir="2700000" algn="tl">
                    <a:srgbClr val="C0C0C0"/>
                  </a:outerShdw>
                </a:effectLst>
              </a:rPr>
              <a:t>目    录</a:t>
            </a:r>
            <a:endParaRPr lang="zh-CN" altLang="en-US" dirty="0">
              <a:effectLst>
                <a:outerShdw blurRad="38100" dist="38100" dir="2700000" algn="tl">
                  <a:srgbClr val="C0C0C0"/>
                </a:outerShdw>
              </a:effectLst>
            </a:endParaRPr>
          </a:p>
        </p:txBody>
      </p:sp>
      <p:sp>
        <p:nvSpPr>
          <p:cNvPr id="7170"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grpSp>
        <p:nvGrpSpPr>
          <p:cNvPr id="7171" name="Group 9"/>
          <p:cNvGrpSpPr/>
          <p:nvPr/>
        </p:nvGrpSpPr>
        <p:grpSpPr bwMode="auto">
          <a:xfrm>
            <a:off x="1835150" y="2781300"/>
            <a:ext cx="4724400" cy="619125"/>
            <a:chOff x="1296" y="1824"/>
            <a:chExt cx="2976" cy="432"/>
          </a:xfrm>
        </p:grpSpPr>
        <p:sp>
          <p:nvSpPr>
            <p:cNvPr id="6"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73"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74" name="Text Box 12"/>
            <p:cNvSpPr txBox="1">
              <a:spLocks noChangeArrowheads="1"/>
            </p:cNvSpPr>
            <p:nvPr/>
          </p:nvSpPr>
          <p:spPr bwMode="auto">
            <a:xfrm>
              <a:off x="1680" y="1934"/>
              <a:ext cx="2160" cy="258"/>
            </a:xfrm>
            <a:prstGeom prst="rect">
              <a:avLst/>
            </a:prstGeom>
            <a:noFill/>
            <a:ln w="9525">
              <a:noFill/>
              <a:miter lim="800000"/>
            </a:ln>
          </p:spPr>
          <p:txBody>
            <a:bodyPr>
              <a:spAutoFit/>
            </a:bodyPr>
            <a:lstStyle/>
            <a:p>
              <a:r>
                <a:rPr lang="zh-CN" altLang="en-US" b="1">
                  <a:solidFill>
                    <a:schemeClr val="tx2"/>
                  </a:solidFill>
                </a:rPr>
                <a:t> 访问控制技术 </a:t>
              </a:r>
              <a:endParaRPr lang="zh-CN" altLang="en-US" b="1">
                <a:solidFill>
                  <a:schemeClr val="tx2"/>
                </a:solidFill>
              </a:endParaRPr>
            </a:p>
          </p:txBody>
        </p:sp>
        <p:sp>
          <p:nvSpPr>
            <p:cNvPr id="7175" name="Text Box 13"/>
            <p:cNvSpPr txBox="1">
              <a:spLocks noChangeArrowheads="1"/>
            </p:cNvSpPr>
            <p:nvPr/>
          </p:nvSpPr>
          <p:spPr bwMode="auto">
            <a:xfrm>
              <a:off x="1296" y="1886"/>
              <a:ext cx="431" cy="322"/>
            </a:xfrm>
            <a:prstGeom prst="rect">
              <a:avLst/>
            </a:prstGeom>
            <a:noFill/>
            <a:ln w="9525">
              <a:noFill/>
              <a:miter lim="800000"/>
            </a:ln>
          </p:spPr>
          <p:txBody>
            <a:bodyPr>
              <a:spAutoFit/>
            </a:bodyPr>
            <a:lstStyle/>
            <a:p>
              <a:pPr algn="ctr" eaLnBrk="0" hangingPunct="0"/>
              <a:r>
                <a:rPr lang="en-US" altLang="zh-CN" sz="2400" b="1">
                  <a:solidFill>
                    <a:schemeClr val="tx2"/>
                  </a:solidFill>
                </a:rPr>
                <a:t>6.3</a:t>
              </a:r>
              <a:endParaRPr lang="en-US" altLang="zh-CN" sz="2400">
                <a:solidFill>
                  <a:schemeClr val="tx2"/>
                </a:solidFill>
                <a:latin typeface="宋体" panose="02010600030101010101" pitchFamily="2" charset="-122"/>
              </a:endParaRPr>
            </a:p>
          </p:txBody>
        </p:sp>
      </p:grpSp>
      <p:grpSp>
        <p:nvGrpSpPr>
          <p:cNvPr id="7176" name="Group 14"/>
          <p:cNvGrpSpPr/>
          <p:nvPr/>
        </p:nvGrpSpPr>
        <p:grpSpPr bwMode="auto">
          <a:xfrm>
            <a:off x="1835150" y="3429000"/>
            <a:ext cx="4886325" cy="668338"/>
            <a:chOff x="1296" y="1824"/>
            <a:chExt cx="3078" cy="432"/>
          </a:xfrm>
        </p:grpSpPr>
        <p:sp>
          <p:nvSpPr>
            <p:cNvPr id="4"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7178"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79" name="Text Box 17"/>
            <p:cNvSpPr txBox="1">
              <a:spLocks noChangeArrowheads="1"/>
            </p:cNvSpPr>
            <p:nvPr/>
          </p:nvSpPr>
          <p:spPr bwMode="auto">
            <a:xfrm>
              <a:off x="1743" y="1936"/>
              <a:ext cx="2631" cy="239"/>
            </a:xfrm>
            <a:prstGeom prst="rect">
              <a:avLst/>
            </a:prstGeom>
            <a:noFill/>
            <a:ln w="9525">
              <a:noFill/>
              <a:miter lim="800000"/>
            </a:ln>
          </p:spPr>
          <p:txBody>
            <a:bodyPr>
              <a:spAutoFit/>
            </a:bodyPr>
            <a:lstStyle/>
            <a:p>
              <a:pPr eaLnBrk="0" hangingPunct="0"/>
              <a:r>
                <a:rPr lang="zh-CN" altLang="en-US" b="1">
                  <a:solidFill>
                    <a:schemeClr val="tx2"/>
                  </a:solidFill>
                </a:rPr>
                <a:t>安全审计与电子证据</a:t>
              </a:r>
              <a:endParaRPr lang="zh-CN" altLang="en-US" b="1">
                <a:solidFill>
                  <a:schemeClr val="tx2"/>
                </a:solidFill>
              </a:endParaRPr>
            </a:p>
          </p:txBody>
        </p:sp>
        <p:sp>
          <p:nvSpPr>
            <p:cNvPr id="7180" name="Text Box 18"/>
            <p:cNvSpPr txBox="1">
              <a:spLocks noChangeArrowheads="1"/>
            </p:cNvSpPr>
            <p:nvPr/>
          </p:nvSpPr>
          <p:spPr bwMode="auto">
            <a:xfrm>
              <a:off x="1311" y="1891"/>
              <a:ext cx="386" cy="298"/>
            </a:xfrm>
            <a:prstGeom prst="rect">
              <a:avLst/>
            </a:prstGeom>
            <a:noFill/>
            <a:ln w="9525">
              <a:noFill/>
              <a:miter lim="800000"/>
            </a:ln>
          </p:spPr>
          <p:txBody>
            <a:bodyPr wrap="none">
              <a:spAutoFit/>
            </a:bodyPr>
            <a:lstStyle/>
            <a:p>
              <a:pPr algn="ctr" eaLnBrk="0" hangingPunct="0"/>
              <a:r>
                <a:rPr lang="en-US" altLang="zh-CN" sz="2400" b="1">
                  <a:solidFill>
                    <a:schemeClr val="tx2"/>
                  </a:solidFill>
                </a:rPr>
                <a:t>6.4</a:t>
              </a:r>
              <a:endParaRPr lang="en-US" altLang="zh-CN" sz="2400">
                <a:solidFill>
                  <a:schemeClr val="tx2"/>
                </a:solidFill>
                <a:latin typeface="宋体" panose="02010600030101010101" pitchFamily="2" charset="-122"/>
              </a:endParaRPr>
            </a:p>
          </p:txBody>
        </p:sp>
      </p:grpSp>
      <p:grpSp>
        <p:nvGrpSpPr>
          <p:cNvPr id="7181" name="Group 19"/>
          <p:cNvGrpSpPr/>
          <p:nvPr/>
        </p:nvGrpSpPr>
        <p:grpSpPr bwMode="auto">
          <a:xfrm>
            <a:off x="1835150" y="4652963"/>
            <a:ext cx="4714875" cy="685800"/>
            <a:chOff x="1296" y="1824"/>
            <a:chExt cx="2976" cy="432"/>
          </a:xfrm>
        </p:grpSpPr>
        <p:sp>
          <p:nvSpPr>
            <p:cNvPr id="7"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83"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84" name="Text Box 22"/>
            <p:cNvSpPr txBox="1">
              <a:spLocks noChangeArrowheads="1"/>
            </p:cNvSpPr>
            <p:nvPr/>
          </p:nvSpPr>
          <p:spPr bwMode="auto">
            <a:xfrm>
              <a:off x="1660" y="1934"/>
              <a:ext cx="2440" cy="233"/>
            </a:xfrm>
            <a:prstGeom prst="rect">
              <a:avLst/>
            </a:prstGeom>
            <a:noFill/>
            <a:ln w="9525">
              <a:noFill/>
              <a:miter lim="800000"/>
            </a:ln>
          </p:spPr>
          <p:txBody>
            <a:bodyPr>
              <a:spAutoFit/>
            </a:bodyPr>
            <a:lstStyle/>
            <a:p>
              <a:pPr eaLnBrk="0" hangingPunct="0"/>
              <a:r>
                <a:rPr lang="zh-CN" altLang="en-US" b="1">
                  <a:solidFill>
                    <a:schemeClr val="tx2"/>
                  </a:solidFill>
                </a:rPr>
                <a:t>  本章小结</a:t>
              </a:r>
              <a:r>
                <a:rPr lang="zh-CN" altLang="en-US">
                  <a:solidFill>
                    <a:schemeClr val="tx2"/>
                  </a:solidFill>
                  <a:latin typeface="Times New Roman" panose="02020603050405020304" pitchFamily="18" charset="0"/>
                </a:rPr>
                <a:t> </a:t>
              </a:r>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7185" name="Text Box 23"/>
            <p:cNvSpPr txBox="1">
              <a:spLocks noChangeArrowheads="1"/>
            </p:cNvSpPr>
            <p:nvPr/>
          </p:nvSpPr>
          <p:spPr bwMode="auto">
            <a:xfrm>
              <a:off x="1296" y="1915"/>
              <a:ext cx="422" cy="291"/>
            </a:xfrm>
            <a:prstGeom prst="rect">
              <a:avLst/>
            </a:prstGeom>
            <a:noFill/>
            <a:ln w="9525">
              <a:noFill/>
              <a:miter lim="800000"/>
            </a:ln>
          </p:spPr>
          <p:txBody>
            <a:bodyPr>
              <a:spAutoFit/>
            </a:bodyPr>
            <a:lstStyle/>
            <a:p>
              <a:pPr algn="ctr" eaLnBrk="0" hangingPunct="0"/>
              <a:r>
                <a:rPr lang="en-US" altLang="zh-CN" sz="2400" b="1">
                  <a:solidFill>
                    <a:schemeClr val="tx2"/>
                  </a:solidFill>
                </a:rPr>
                <a:t>6.6</a:t>
              </a:r>
              <a:endParaRPr lang="en-US" altLang="zh-CN" sz="2400">
                <a:solidFill>
                  <a:schemeClr val="tx2"/>
                </a:solidFill>
                <a:latin typeface="宋体" panose="02010600030101010101" pitchFamily="2" charset="-122"/>
              </a:endParaRPr>
            </a:p>
          </p:txBody>
        </p:sp>
      </p:grpSp>
      <p:sp>
        <p:nvSpPr>
          <p:cNvPr id="7186" name="Rectangle 52"/>
          <p:cNvSpPr>
            <a:spLocks noChangeArrowheads="1"/>
          </p:cNvSpPr>
          <p:nvPr/>
        </p:nvSpPr>
        <p:spPr bwMode="auto">
          <a:xfrm>
            <a:off x="4273550" y="3386138"/>
            <a:ext cx="336550" cy="457200"/>
          </a:xfrm>
          <a:prstGeom prst="rect">
            <a:avLst/>
          </a:prstGeom>
          <a:noFill/>
          <a:ln w="9525">
            <a:noFill/>
            <a:miter lim="800000"/>
          </a:ln>
        </p:spPr>
        <p:txBody>
          <a:bodyPr wrap="none">
            <a:spAutoFit/>
          </a:bodyPr>
          <a:lstStyle/>
          <a:p>
            <a:pPr algn="dist">
              <a:spcBef>
                <a:spcPct val="20000"/>
              </a:spcBef>
            </a:pPr>
            <a:r>
              <a:rPr lang="en-US" altLang="zh-CN" sz="2400">
                <a:solidFill>
                  <a:schemeClr val="tx2"/>
                </a:solidFill>
                <a:latin typeface="宋体" panose="02010600030101010101" pitchFamily="2" charset="-122"/>
              </a:rPr>
              <a:t> </a:t>
            </a:r>
            <a:endParaRPr lang="en-US" altLang="zh-CN" sz="2400">
              <a:solidFill>
                <a:schemeClr val="tx2"/>
              </a:solidFill>
              <a:latin typeface="宋体" panose="02010600030101010101" pitchFamily="2" charset="-122"/>
            </a:endParaRPr>
          </a:p>
        </p:txBody>
      </p:sp>
      <p:grpSp>
        <p:nvGrpSpPr>
          <p:cNvPr id="7187" name="Group 4"/>
          <p:cNvGrpSpPr/>
          <p:nvPr/>
        </p:nvGrpSpPr>
        <p:grpSpPr bwMode="auto">
          <a:xfrm>
            <a:off x="1835150" y="1412875"/>
            <a:ext cx="4714875" cy="642938"/>
            <a:chOff x="1296" y="1824"/>
            <a:chExt cx="2970" cy="432"/>
          </a:xfrm>
        </p:grpSpPr>
        <p:sp>
          <p:nvSpPr>
            <p:cNvPr id="2"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89"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90" name="Text Box 7"/>
            <p:cNvSpPr txBox="1">
              <a:spLocks noChangeArrowheads="1"/>
            </p:cNvSpPr>
            <p:nvPr/>
          </p:nvSpPr>
          <p:spPr bwMode="auto">
            <a:xfrm>
              <a:off x="1746" y="1934"/>
              <a:ext cx="2160" cy="246"/>
            </a:xfrm>
            <a:prstGeom prst="rect">
              <a:avLst/>
            </a:prstGeom>
            <a:noFill/>
            <a:ln w="9525">
              <a:noFill/>
              <a:miter lim="800000"/>
            </a:ln>
          </p:spPr>
          <p:txBody>
            <a:bodyPr>
              <a:spAutoFit/>
            </a:bodyPr>
            <a:lstStyle/>
            <a:p>
              <a:pPr eaLnBrk="0" hangingPunct="0"/>
              <a:r>
                <a:rPr lang="zh-CN" altLang="en-US" b="1">
                  <a:solidFill>
                    <a:schemeClr val="tx2"/>
                  </a:solidFill>
                </a:rPr>
                <a:t>身份认证基础</a:t>
              </a:r>
              <a:endParaRPr lang="zh-CN" altLang="en-US" b="1">
                <a:solidFill>
                  <a:schemeClr val="tx2"/>
                </a:solidFill>
              </a:endParaRPr>
            </a:p>
          </p:txBody>
        </p:sp>
        <p:sp>
          <p:nvSpPr>
            <p:cNvPr id="7191" name="Text Box 8"/>
            <p:cNvSpPr txBox="1">
              <a:spLocks noChangeArrowheads="1"/>
            </p:cNvSpPr>
            <p:nvPr/>
          </p:nvSpPr>
          <p:spPr bwMode="auto">
            <a:xfrm>
              <a:off x="1311" y="1886"/>
              <a:ext cx="386" cy="310"/>
            </a:xfrm>
            <a:prstGeom prst="rect">
              <a:avLst/>
            </a:prstGeom>
            <a:noFill/>
            <a:ln w="9525">
              <a:noFill/>
              <a:miter lim="800000"/>
            </a:ln>
          </p:spPr>
          <p:txBody>
            <a:bodyPr wrap="none">
              <a:spAutoFit/>
            </a:bodyPr>
            <a:lstStyle/>
            <a:p>
              <a:pPr algn="ctr" eaLnBrk="0" hangingPunct="0"/>
              <a:r>
                <a:rPr lang="en-US" altLang="zh-CN" sz="2400" b="1">
                  <a:solidFill>
                    <a:schemeClr val="tx2"/>
                  </a:solidFill>
                </a:rPr>
                <a:t>6.1</a:t>
              </a:r>
              <a:endParaRPr lang="en-US" altLang="zh-CN" sz="2400">
                <a:solidFill>
                  <a:schemeClr val="tx2"/>
                </a:solidFill>
                <a:latin typeface="宋体" panose="02010600030101010101" pitchFamily="2" charset="-122"/>
              </a:endParaRPr>
            </a:p>
          </p:txBody>
        </p:sp>
      </p:grpSp>
      <p:sp>
        <p:nvSpPr>
          <p:cNvPr id="7192" name="Rectangle 182"/>
          <p:cNvSpPr>
            <a:spLocks noChangeArrowheads="1"/>
          </p:cNvSpPr>
          <p:nvPr/>
        </p:nvSpPr>
        <p:spPr bwMode="auto">
          <a:xfrm>
            <a:off x="4314825" y="3386138"/>
            <a:ext cx="184150" cy="457200"/>
          </a:xfrm>
          <a:prstGeom prst="rect">
            <a:avLst/>
          </a:prstGeom>
          <a:noFill/>
          <a:ln w="9525">
            <a:noFill/>
            <a:miter lim="800000"/>
          </a:ln>
        </p:spPr>
        <p:txBody>
          <a:bodyPr wrap="none">
            <a:spAutoFit/>
          </a:bodyPr>
          <a:lstStyle/>
          <a:p>
            <a:pPr algn="dist" eaLnBrk="0" hangingPunct="0"/>
            <a:endParaRPr lang="zh-CN" altLang="zh-CN" sz="2400">
              <a:solidFill>
                <a:schemeClr val="tx2"/>
              </a:solidFill>
              <a:latin typeface="宋体" panose="02010600030101010101" pitchFamily="2" charset="-122"/>
            </a:endParaRPr>
          </a:p>
        </p:txBody>
      </p:sp>
      <p:pic>
        <p:nvPicPr>
          <p:cNvPr id="7193" name="Picture 25"/>
          <p:cNvPicPr>
            <a:picLocks noChangeAspect="1" noChangeArrowheads="1"/>
          </p:cNvPicPr>
          <p:nvPr/>
        </p:nvPicPr>
        <p:blipFill>
          <a:blip r:embed="rId1" cstate="print"/>
          <a:srcRect/>
          <a:stretch>
            <a:fillRect/>
          </a:stretch>
        </p:blipFill>
        <p:spPr bwMode="auto">
          <a:xfrm flipH="1">
            <a:off x="6634163" y="4652963"/>
            <a:ext cx="1600200" cy="1466850"/>
          </a:xfrm>
          <a:prstGeom prst="rect">
            <a:avLst/>
          </a:prstGeom>
          <a:noFill/>
          <a:ln w="9525">
            <a:noFill/>
            <a:miter lim="800000"/>
            <a:headEnd/>
            <a:tailEnd/>
          </a:ln>
        </p:spPr>
      </p:pic>
      <p:grpSp>
        <p:nvGrpSpPr>
          <p:cNvPr id="7194" name="Group 4"/>
          <p:cNvGrpSpPr/>
          <p:nvPr/>
        </p:nvGrpSpPr>
        <p:grpSpPr bwMode="auto">
          <a:xfrm>
            <a:off x="1835150" y="4076700"/>
            <a:ext cx="4752975" cy="642938"/>
            <a:chOff x="1296" y="1824"/>
            <a:chExt cx="2994"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196"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197" name="Text Box 7"/>
            <p:cNvSpPr txBox="1">
              <a:spLocks noChangeArrowheads="1"/>
            </p:cNvSpPr>
            <p:nvPr/>
          </p:nvSpPr>
          <p:spPr bwMode="auto">
            <a:xfrm>
              <a:off x="1764" y="1921"/>
              <a:ext cx="2526" cy="246"/>
            </a:xfrm>
            <a:prstGeom prst="rect">
              <a:avLst/>
            </a:prstGeom>
            <a:noFill/>
            <a:ln w="9525">
              <a:noFill/>
              <a:miter lim="800000"/>
            </a:ln>
          </p:spPr>
          <p:txBody>
            <a:bodyPr>
              <a:spAutoFit/>
            </a:bodyPr>
            <a:lstStyle/>
            <a:p>
              <a:pPr eaLnBrk="0" hangingPunct="0"/>
              <a:r>
                <a:rPr lang="en-US" altLang="zh-CN" b="1">
                  <a:solidFill>
                    <a:schemeClr val="tx2"/>
                  </a:solidFill>
                </a:rPr>
                <a:t>实验6 </a:t>
              </a:r>
              <a:r>
                <a:rPr lang="zh-CN" altLang="en-US" b="1">
                  <a:solidFill>
                    <a:schemeClr val="tx2"/>
                  </a:solidFill>
                </a:rPr>
                <a:t>数字签名与访问控制实验</a:t>
              </a:r>
              <a:endParaRPr lang="en-US" altLang="zh-CN" b="1">
                <a:solidFill>
                  <a:schemeClr val="tx2"/>
                </a:solidFill>
              </a:endParaRPr>
            </a:p>
          </p:txBody>
        </p:sp>
        <p:sp>
          <p:nvSpPr>
            <p:cNvPr id="7198" name="Text Box 8"/>
            <p:cNvSpPr txBox="1">
              <a:spLocks noChangeArrowheads="1"/>
            </p:cNvSpPr>
            <p:nvPr/>
          </p:nvSpPr>
          <p:spPr bwMode="auto">
            <a:xfrm>
              <a:off x="1311" y="1886"/>
              <a:ext cx="386" cy="310"/>
            </a:xfrm>
            <a:prstGeom prst="rect">
              <a:avLst/>
            </a:prstGeom>
            <a:noFill/>
            <a:ln w="9525">
              <a:noFill/>
              <a:miter lim="800000"/>
            </a:ln>
          </p:spPr>
          <p:txBody>
            <a:bodyPr wrap="none">
              <a:spAutoFit/>
            </a:bodyPr>
            <a:lstStyle/>
            <a:p>
              <a:pPr algn="ctr" eaLnBrk="0" hangingPunct="0"/>
              <a:r>
                <a:rPr lang="en-US" altLang="zh-CN" sz="2400" b="1">
                  <a:solidFill>
                    <a:schemeClr val="tx2"/>
                  </a:solidFill>
                </a:rPr>
                <a:t>6.5</a:t>
              </a:r>
              <a:endParaRPr lang="en-US" altLang="zh-CN" sz="2400">
                <a:solidFill>
                  <a:schemeClr val="tx2"/>
                </a:solidFill>
                <a:latin typeface="宋体" panose="02010600030101010101" pitchFamily="2" charset="-122"/>
              </a:endParaRPr>
            </a:p>
          </p:txBody>
        </p:sp>
      </p:grpSp>
      <p:grpSp>
        <p:nvGrpSpPr>
          <p:cNvPr id="7199" name="Group 19"/>
          <p:cNvGrpSpPr/>
          <p:nvPr/>
        </p:nvGrpSpPr>
        <p:grpSpPr bwMode="auto">
          <a:xfrm>
            <a:off x="1835150" y="2060575"/>
            <a:ext cx="4714875" cy="685800"/>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7201"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7202" name="Text Box 22"/>
            <p:cNvSpPr txBox="1">
              <a:spLocks noChangeArrowheads="1"/>
            </p:cNvSpPr>
            <p:nvPr/>
          </p:nvSpPr>
          <p:spPr bwMode="auto">
            <a:xfrm>
              <a:off x="1742" y="1934"/>
              <a:ext cx="2440" cy="233"/>
            </a:xfrm>
            <a:prstGeom prst="rect">
              <a:avLst/>
            </a:prstGeom>
            <a:noFill/>
            <a:ln w="9525">
              <a:noFill/>
              <a:miter lim="800000"/>
            </a:ln>
          </p:spPr>
          <p:txBody>
            <a:bodyPr>
              <a:spAutoFit/>
            </a:bodyPr>
            <a:lstStyle/>
            <a:p>
              <a:pPr eaLnBrk="0" hangingPunct="0"/>
              <a:r>
                <a:rPr lang="zh-CN" altLang="en-US" b="1">
                  <a:solidFill>
                    <a:schemeClr val="tx2"/>
                  </a:solidFill>
                </a:rPr>
                <a:t>认证系统与数字签名</a:t>
              </a:r>
              <a:r>
                <a:rPr lang="zh-CN" altLang="en-US">
                  <a:solidFill>
                    <a:schemeClr val="tx2"/>
                  </a:solidFill>
                </a:rPr>
                <a:t> </a:t>
              </a:r>
              <a:endParaRPr lang="zh-CN" altLang="en-US">
                <a:solidFill>
                  <a:schemeClr val="tx2"/>
                </a:solidFill>
              </a:endParaRPr>
            </a:p>
          </p:txBody>
        </p:sp>
        <p:sp>
          <p:nvSpPr>
            <p:cNvPr id="7203" name="Text Box 23"/>
            <p:cNvSpPr txBox="1">
              <a:spLocks noChangeArrowheads="1"/>
            </p:cNvSpPr>
            <p:nvPr/>
          </p:nvSpPr>
          <p:spPr bwMode="auto">
            <a:xfrm>
              <a:off x="1296" y="1886"/>
              <a:ext cx="432" cy="291"/>
            </a:xfrm>
            <a:prstGeom prst="rect">
              <a:avLst/>
            </a:prstGeom>
            <a:noFill/>
            <a:ln w="9525">
              <a:noFill/>
              <a:miter lim="800000"/>
            </a:ln>
          </p:spPr>
          <p:txBody>
            <a:bodyPr>
              <a:spAutoFit/>
            </a:bodyPr>
            <a:lstStyle/>
            <a:p>
              <a:pPr algn="ctr" eaLnBrk="0" hangingPunct="0"/>
              <a:r>
                <a:rPr lang="en-US" altLang="zh-CN" sz="2400" b="1">
                  <a:solidFill>
                    <a:schemeClr val="tx2"/>
                  </a:solidFill>
                </a:rPr>
                <a:t>6.2</a:t>
              </a:r>
              <a:endParaRPr lang="en-US" altLang="zh-CN" sz="2400">
                <a:solidFill>
                  <a:schemeClr val="tx2"/>
                </a:solidFill>
                <a:latin typeface="宋体" panose="02010600030101010101" pitchFamily="2"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a:xfrm>
            <a:off x="428625" y="161925"/>
            <a:ext cx="8178800" cy="533400"/>
          </a:xfrm>
        </p:spPr>
        <p:txBody>
          <a:bodyPr/>
          <a:lstStyle/>
          <a:p>
            <a:pPr eaLnBrk="1" hangingPunct="1"/>
            <a:r>
              <a:rPr lang="zh-CN" altLang="en-US" smtClean="0"/>
              <a:t>教 学 目 标</a:t>
            </a:r>
            <a:endParaRPr lang="zh-CN" altLang="en-US" smtClean="0">
              <a:solidFill>
                <a:schemeClr val="accent1"/>
              </a:solidFill>
            </a:endParaRPr>
          </a:p>
        </p:txBody>
      </p:sp>
      <p:sp>
        <p:nvSpPr>
          <p:cNvPr id="8194"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sp>
        <p:nvSpPr>
          <p:cNvPr id="12292" name="Text Box 7"/>
          <p:cNvSpPr txBox="1">
            <a:spLocks noChangeArrowheads="1"/>
          </p:cNvSpPr>
          <p:nvPr/>
        </p:nvSpPr>
        <p:spPr bwMode="gray">
          <a:xfrm>
            <a:off x="860425" y="1223963"/>
            <a:ext cx="8208963" cy="1247775"/>
          </a:xfrm>
          <a:prstGeom prst="rect">
            <a:avLst/>
          </a:prstGeom>
          <a:noFill/>
          <a:ln w="9525" algn="ctr">
            <a:no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5000"/>
              </a:spcBef>
              <a:defRPr/>
            </a:pPr>
            <a:r>
              <a:rPr lang="zh-CN" altLang="en-US" sz="36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36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r>
              <a:rPr lang="zh-CN" altLang="en-US" sz="2600" b="1" dirty="0">
                <a:effectLst>
                  <a:outerShdw blurRad="38100" dist="38100" dir="2700000" algn="tl">
                    <a:srgbClr val="C0C0C0"/>
                  </a:outerShdw>
                </a:effectLst>
              </a:rPr>
              <a:t>	</a:t>
            </a:r>
            <a:endParaRPr lang="zh-CN" altLang="en-US" sz="2600" b="1" dirty="0">
              <a:effectLst>
                <a:outerShdw blurRad="38100" dist="38100" dir="2700000" algn="tl">
                  <a:srgbClr val="C0C0C0"/>
                </a:outerShdw>
              </a:effectLst>
            </a:endParaRPr>
          </a:p>
          <a:p>
            <a:pPr eaLnBrk="1" hangingPunct="1">
              <a:lnSpc>
                <a:spcPct val="120000"/>
              </a:lnSpc>
              <a:spcBef>
                <a:spcPct val="25000"/>
              </a:spcBef>
              <a:defRPr/>
            </a:pPr>
            <a:endParaRPr lang="zh-CN" altLang="en-US" sz="2400" b="1" dirty="0">
              <a:solidFill>
                <a:srgbClr val="800000"/>
              </a:solidFill>
              <a:effectLst>
                <a:outerShdw blurRad="38100" dist="38100" dir="2700000" algn="tl">
                  <a:srgbClr val="C0C0C0"/>
                </a:outerShdw>
              </a:effectLst>
            </a:endParaRPr>
          </a:p>
        </p:txBody>
      </p:sp>
      <p:pic>
        <p:nvPicPr>
          <p:cNvPr id="8196" name="Picture 8" descr="j0195384"/>
          <p:cNvPicPr>
            <a:picLocks noChangeAspect="1" noChangeArrowheads="1"/>
          </p:cNvPicPr>
          <p:nvPr/>
        </p:nvPicPr>
        <p:blipFill>
          <a:blip r:embed="rId1" cstate="print"/>
          <a:srcRect/>
          <a:stretch>
            <a:fillRect/>
          </a:stretch>
        </p:blipFill>
        <p:spPr bwMode="auto">
          <a:xfrm>
            <a:off x="6359525" y="5065713"/>
            <a:ext cx="838200" cy="887412"/>
          </a:xfrm>
          <a:prstGeom prst="rect">
            <a:avLst/>
          </a:prstGeom>
          <a:noFill/>
          <a:ln w="9525">
            <a:noFill/>
            <a:miter lim="800000"/>
            <a:headEnd/>
            <a:tailEnd/>
          </a:ln>
        </p:spPr>
      </p:pic>
      <p:sp>
        <p:nvSpPr>
          <p:cNvPr id="2" name="AutoShape 5"/>
          <p:cNvSpPr>
            <a:spLocks noChangeArrowheads="1"/>
          </p:cNvSpPr>
          <p:nvPr/>
        </p:nvSpPr>
        <p:spPr bwMode="auto">
          <a:xfrm>
            <a:off x="7997825" y="2471738"/>
            <a:ext cx="949325" cy="388937"/>
          </a:xfrm>
          <a:prstGeom prst="wedgeRoundRectCallout">
            <a:avLst>
              <a:gd name="adj1" fmla="val -61770"/>
              <a:gd name="adj2" fmla="val 26244"/>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b="1">
                <a:solidFill>
                  <a:srgbClr val="FF0000"/>
                </a:solidFill>
                <a:effectLst>
                  <a:outerShdw blurRad="38100" dist="38100" dir="2700000" algn="tl">
                    <a:srgbClr val="000000"/>
                  </a:outerShdw>
                </a:effectLst>
                <a:latin typeface="Arial Black" panose="020B0A04020102020204" pitchFamily="34" charset="0"/>
              </a:rPr>
              <a:t>重点</a:t>
            </a:r>
            <a:endParaRPr lang="zh-CN" altLang="en-US" sz="2000" b="1">
              <a:solidFill>
                <a:srgbClr val="FF0000"/>
              </a:solidFill>
              <a:effectLst>
                <a:outerShdw blurRad="38100" dist="38100" dir="2700000" algn="tl">
                  <a:srgbClr val="000000"/>
                </a:outerShdw>
              </a:effectLst>
              <a:latin typeface="Arial Black" panose="020B0A04020102020204" pitchFamily="34" charset="0"/>
            </a:endParaRPr>
          </a:p>
        </p:txBody>
      </p:sp>
      <p:sp>
        <p:nvSpPr>
          <p:cNvPr id="3" name="AutoShape 5"/>
          <p:cNvSpPr>
            <a:spLocks noChangeArrowheads="1"/>
          </p:cNvSpPr>
          <p:nvPr/>
        </p:nvSpPr>
        <p:spPr bwMode="auto">
          <a:xfrm>
            <a:off x="8139113" y="3752850"/>
            <a:ext cx="930275" cy="388938"/>
          </a:xfrm>
          <a:prstGeom prst="wedgeRoundRectCallout">
            <a:avLst>
              <a:gd name="adj1" fmla="val -66928"/>
              <a:gd name="adj2" fmla="val 20146"/>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2000" b="1" dirty="0">
                <a:solidFill>
                  <a:srgbClr val="FF0000"/>
                </a:solidFill>
                <a:effectLst>
                  <a:outerShdw blurRad="38100" dist="38100" dir="2700000" algn="tl">
                    <a:srgbClr val="000000"/>
                  </a:outerShdw>
                </a:effectLst>
                <a:latin typeface="Arial Black" panose="020B0A04020102020204" pitchFamily="34" charset="0"/>
              </a:rPr>
              <a:t>关键</a:t>
            </a:r>
            <a:endParaRPr lang="zh-CN" altLang="en-US" sz="2000" b="1" dirty="0">
              <a:solidFill>
                <a:srgbClr val="FF0000"/>
              </a:solidFill>
              <a:effectLst>
                <a:outerShdw blurRad="38100" dist="38100" dir="2700000" algn="tl">
                  <a:srgbClr val="000000"/>
                </a:outerShdw>
              </a:effectLst>
              <a:latin typeface="Arial Black" panose="020B0A04020102020204" pitchFamily="34" charset="0"/>
            </a:endParaRPr>
          </a:p>
        </p:txBody>
      </p:sp>
      <p:graphicFrame>
        <p:nvGraphicFramePr>
          <p:cNvPr id="4" name="表格 3"/>
          <p:cNvGraphicFramePr>
            <a:graphicFrameLocks noGrp="1"/>
          </p:cNvGraphicFramePr>
          <p:nvPr/>
        </p:nvGraphicFramePr>
        <p:xfrm>
          <a:off x="1042988" y="1992313"/>
          <a:ext cx="7056437" cy="3048000"/>
        </p:xfrm>
        <a:graphic>
          <a:graphicData uri="http://schemas.openxmlformats.org/drawingml/2006/table">
            <a:tbl>
              <a:tblPr firstRow="1" firstCol="1" bandRow="1">
                <a:tableStyleId>{5C22544A-7EE6-4342-B048-85BDC9FD1C3A}</a:tableStyleId>
              </a:tblPr>
              <a:tblGrid>
                <a:gridCol w="7056437"/>
              </a:tblGrid>
              <a:tr h="895985">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教学重点</a:t>
                      </a:r>
                      <a:r>
                        <a:rPr lang="zh-CN" sz="1050" b="1" kern="100" dirty="0">
                          <a:effectLst/>
                        </a:rPr>
                        <a:t>：</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身份认证的概念、常用方法；数字签名的概念、功能及过程；访问控制的概念、模型、安全策略；安全审计的概念、类型、跟踪与实施；电子证据的概念、类型、取证技术。</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教学难点</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：身份认证的常用方法，数字签名过程，访问控制模型及安全策略，安全审计跟踪与实施。</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教学关键</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：身份认证、访问控制、安全审计、电子取证的概念。</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just" fontAlgn="ctr">
                        <a:lnSpc>
                          <a:spcPct val="100000"/>
                        </a:lnSpc>
                        <a:spcAft>
                          <a:spcPts val="0"/>
                        </a:spcAft>
                      </a:pPr>
                      <a:r>
                        <a:rPr kumimoji="0" lang="zh-CN" altLang="en-US" sz="2000" b="1" i="0" u="none" strike="noStrike" kern="1200" cap="none" normalizeH="0" baseline="0" dirty="0">
                          <a:ln>
                            <a:noFill/>
                          </a:ln>
                          <a:solidFill>
                            <a:srgbClr val="FF0000"/>
                          </a:solidFill>
                          <a:effectLst/>
                          <a:latin typeface="黑体" panose="02010609060101010101" pitchFamily="49" charset="-122"/>
                          <a:ea typeface="黑体" panose="02010609060101010101" pitchFamily="49" charset="-122"/>
                          <a:cs typeface="+mn-cs"/>
                        </a:rPr>
                        <a:t>教学目标</a:t>
                      </a:r>
                      <a:r>
                        <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rPr>
                        <a:t>：掌握身份认证的概念、作用和常用方式；理解数字签名的概念、功能、原理和过程；掌握访问控制的概念、类型、机制和策略；理解安全审计的概念、类型、跟踪与实施；了解电子证据的概念、特点和电子数据取证技术。</a:t>
                      </a:r>
                      <a:endParaRPr kumimoji="0" lang="zh-CN" altLang="en-US" sz="2000" b="1" i="0" u="none" strike="noStrike" kern="1200" cap="none" normalizeH="0" baseline="0" dirty="0">
                        <a:ln>
                          <a:noFill/>
                        </a:ln>
                        <a:solidFill>
                          <a:schemeClr val="tx1"/>
                        </a:solidFill>
                        <a:effectLst/>
                        <a:latin typeface="楷体" panose="02010609060101010101" charset="-122"/>
                        <a:ea typeface="楷体" panose="02010609060101010101" charset="-122"/>
                        <a:cs typeface="+mn-cs"/>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7" name="Group 4"/>
          <p:cNvGrpSpPr/>
          <p:nvPr/>
        </p:nvGrpSpPr>
        <p:grpSpPr bwMode="auto">
          <a:xfrm>
            <a:off x="1619250" y="2603500"/>
            <a:ext cx="5075238" cy="898525"/>
            <a:chOff x="1256" y="1885"/>
            <a:chExt cx="3010" cy="456"/>
          </a:xfrm>
        </p:grpSpPr>
        <p:sp>
          <p:nvSpPr>
            <p:cNvPr id="7" name="AutoShape 5"/>
            <p:cNvSpPr>
              <a:spLocks noChangeArrowheads="1"/>
            </p:cNvSpPr>
            <p:nvPr/>
          </p:nvSpPr>
          <p:spPr bwMode="gray">
            <a:xfrm>
              <a:off x="1530" y="1899"/>
              <a:ext cx="2736" cy="419"/>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3600">
                <a:solidFill>
                  <a:schemeClr val="tx2"/>
                </a:solidFill>
                <a:latin typeface="宋体" panose="02010600030101010101" pitchFamily="2" charset="-122"/>
              </a:endParaRPr>
            </a:p>
          </p:txBody>
        </p:sp>
        <p:sp>
          <p:nvSpPr>
            <p:cNvPr id="9219" name="AutoShape 6"/>
            <p:cNvSpPr>
              <a:spLocks noChangeArrowheads="1"/>
            </p:cNvSpPr>
            <p:nvPr/>
          </p:nvSpPr>
          <p:spPr bwMode="auto">
            <a:xfrm>
              <a:off x="1296" y="1885"/>
              <a:ext cx="515"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9220" name="Text Box 7"/>
            <p:cNvSpPr txBox="1">
              <a:spLocks noChangeArrowheads="1"/>
            </p:cNvSpPr>
            <p:nvPr/>
          </p:nvSpPr>
          <p:spPr bwMode="auto">
            <a:xfrm>
              <a:off x="1829" y="1989"/>
              <a:ext cx="2160" cy="352"/>
            </a:xfrm>
            <a:prstGeom prst="rect">
              <a:avLst/>
            </a:prstGeom>
            <a:noFill/>
            <a:ln w="9525">
              <a:noFill/>
              <a:miter lim="800000"/>
            </a:ln>
          </p:spPr>
          <p:txBody>
            <a:bodyPr>
              <a:spAutoFit/>
            </a:bodyPr>
            <a:lstStyle/>
            <a:p>
              <a:pPr eaLnBrk="0" hangingPunct="0"/>
              <a:r>
                <a:rPr lang="zh-CN" altLang="en-US" sz="2800" b="1">
                  <a:solidFill>
                    <a:schemeClr val="tx2"/>
                  </a:solidFill>
                </a:rPr>
                <a:t>身份认证基础</a:t>
              </a:r>
              <a:endParaRPr lang="zh-CN" altLang="en-US" sz="2800" b="1">
                <a:solidFill>
                  <a:schemeClr val="tx2"/>
                </a:solidFill>
              </a:endParaRPr>
            </a:p>
          </p:txBody>
        </p:sp>
        <p:sp>
          <p:nvSpPr>
            <p:cNvPr id="9221" name="Text Box 8"/>
            <p:cNvSpPr txBox="1">
              <a:spLocks noChangeArrowheads="1"/>
            </p:cNvSpPr>
            <p:nvPr/>
          </p:nvSpPr>
          <p:spPr bwMode="auto">
            <a:xfrm>
              <a:off x="1256" y="1939"/>
              <a:ext cx="555" cy="328"/>
            </a:xfrm>
            <a:prstGeom prst="rect">
              <a:avLst/>
            </a:prstGeom>
            <a:noFill/>
            <a:ln w="9525">
              <a:noFill/>
              <a:miter lim="800000"/>
            </a:ln>
          </p:spPr>
          <p:txBody>
            <a:bodyPr>
              <a:spAutoFit/>
            </a:bodyPr>
            <a:lstStyle/>
            <a:p>
              <a:pPr algn="ctr" eaLnBrk="0" hangingPunct="0"/>
              <a:r>
                <a:rPr lang="en-US" altLang="zh-CN" sz="3600" b="1">
                  <a:solidFill>
                    <a:schemeClr val="tx2"/>
                  </a:solidFill>
                </a:rPr>
                <a:t>6.1</a:t>
              </a:r>
              <a:endParaRPr lang="en-US" altLang="zh-CN" sz="3600">
                <a:solidFill>
                  <a:schemeClr val="tx2"/>
                </a:solidFill>
                <a:latin typeface="宋体" panose="02010600030101010101" pitchFamily="2" charset="-122"/>
              </a:endParaRPr>
            </a:p>
          </p:txBody>
        </p:sp>
      </p:grpSp>
      <p:pic>
        <p:nvPicPr>
          <p:cNvPr id="9222" name="Picture 5" descr="j0300520"/>
          <p:cNvPicPr>
            <a:picLocks noChangeAspect="1" noChangeArrowheads="1"/>
          </p:cNvPicPr>
          <p:nvPr/>
        </p:nvPicPr>
        <p:blipFill>
          <a:blip r:embed="rId1"/>
          <a:srcRect/>
          <a:stretch>
            <a:fillRect/>
          </a:stretch>
        </p:blipFill>
        <p:spPr bwMode="auto">
          <a:xfrm>
            <a:off x="3757613" y="3995738"/>
            <a:ext cx="1295400" cy="11144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身份认证基础</a:t>
            </a:r>
            <a:endParaRPr lang="zh-CN" altLang="en-US"/>
          </a:p>
        </p:txBody>
      </p:sp>
      <p:sp>
        <p:nvSpPr>
          <p:cNvPr id="10242" name="AutoShape 9"/>
          <p:cNvSpPr>
            <a:spLocks noChangeArrowheads="1"/>
          </p:cNvSpPr>
          <p:nvPr/>
        </p:nvSpPr>
        <p:spPr bwMode="auto">
          <a:xfrm>
            <a:off x="755650" y="1435100"/>
            <a:ext cx="7704138" cy="2443163"/>
          </a:xfrm>
          <a:prstGeom prst="flowChartAlternateProcess">
            <a:avLst/>
          </a:prstGeom>
          <a:noFill/>
          <a:ln w="22225">
            <a:solidFill>
              <a:srgbClr val="3366FF"/>
            </a:solidFill>
            <a:miter lim="800000"/>
          </a:ln>
        </p:spPr>
        <p:txBody>
          <a:bodyPr wrap="none" anchor="ctr"/>
          <a:lstStyle/>
          <a:p>
            <a:endParaRPr lang="zh-CN" altLang="en-US"/>
          </a:p>
        </p:txBody>
      </p:sp>
      <p:sp>
        <p:nvSpPr>
          <p:cNvPr id="10243" name="Rectangle 10"/>
          <p:cNvSpPr>
            <a:spLocks noChangeArrowheads="1"/>
          </p:cNvSpPr>
          <p:nvPr/>
        </p:nvSpPr>
        <p:spPr bwMode="auto">
          <a:xfrm>
            <a:off x="971550" y="1435100"/>
            <a:ext cx="7488238" cy="2306638"/>
          </a:xfrm>
          <a:prstGeom prst="rect">
            <a:avLst/>
          </a:prstGeom>
          <a:noFill/>
          <a:ln w="9525">
            <a:noFill/>
            <a:miter lim="800000"/>
          </a:ln>
        </p:spPr>
        <p:txBody>
          <a:bodyPr anchor="ctr">
            <a:spAutoFit/>
          </a:bodyPr>
          <a:lstStyle/>
          <a:p>
            <a:pPr indent="457200" algn="just" eaLnBrk="0" hangingPunct="0"/>
            <a:r>
              <a:rPr lang="en-US" altLang="zh-CN" sz="2400" b="1" dirty="0"/>
              <a:t>             </a:t>
            </a:r>
            <a:r>
              <a:rPr lang="zh-CN" altLang="en-US" sz="2400" b="1" dirty="0">
                <a:solidFill>
                  <a:srgbClr val="FF0000"/>
                </a:solidFill>
              </a:rPr>
              <a:t>多数银行的网银服务</a:t>
            </a:r>
            <a:r>
              <a:rPr lang="zh-CN" altLang="en-US" sz="2400" b="1" dirty="0"/>
              <a:t>，逐渐从提供</a:t>
            </a:r>
            <a:r>
              <a:rPr lang="en-US" altLang="zh-CN" sz="2400" b="1" dirty="0"/>
              <a:t>U</a:t>
            </a:r>
            <a:r>
              <a:rPr lang="zh-CN" altLang="en-US" sz="2400" b="1" dirty="0"/>
              <a:t>盾证书的保护模式过渡到了使用一次性动态口令的方式，可免除携带</a:t>
            </a:r>
            <a:r>
              <a:rPr lang="en-US" altLang="zh-CN" sz="2400" b="1" dirty="0"/>
              <a:t>U</a:t>
            </a:r>
            <a:r>
              <a:rPr lang="zh-CN" altLang="en-US" sz="2400" b="1" dirty="0"/>
              <a:t>盾的不便。</a:t>
            </a:r>
            <a:r>
              <a:rPr lang="zh-CN" altLang="en-US" sz="2400" b="1" dirty="0">
                <a:solidFill>
                  <a:srgbClr val="C00000"/>
                </a:solidFill>
              </a:rPr>
              <a:t>动态口令</a:t>
            </a:r>
            <a:r>
              <a:rPr lang="zh-CN" altLang="en-US" sz="2400" b="1" dirty="0"/>
              <a:t>是一种动态密码技术，在使用网银和大多需要验证身份信息的应用过程中，输入用户名后，即可通过绑定的手机一次性收到本次操作的密码，非常安全快捷方便。</a:t>
            </a:r>
            <a:endParaRPr lang="zh-CN" altLang="en-US" sz="2300" b="1" dirty="0"/>
          </a:p>
        </p:txBody>
      </p:sp>
      <p:sp>
        <p:nvSpPr>
          <p:cNvPr id="13" name="圆角矩形 12"/>
          <p:cNvSpPr/>
          <p:nvPr/>
        </p:nvSpPr>
        <p:spPr bwMode="gray">
          <a:xfrm>
            <a:off x="1285875" y="1341438"/>
            <a:ext cx="1176338" cy="4508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Wingdings" panose="05000000000000000000" pitchFamily="2" charset="2"/>
              <a:buNone/>
              <a:defRPr/>
            </a:pPr>
            <a:r>
              <a:rPr lang="zh-CN" altLang="en-US" b="1" dirty="0">
                <a:solidFill>
                  <a:srgbClr val="002060"/>
                </a:solidFill>
                <a:latin typeface="宋体" panose="02010600030101010101" pitchFamily="2" charset="-122"/>
              </a:rPr>
              <a:t>引导案例</a:t>
            </a:r>
            <a:endParaRPr lang="zh-CN" altLang="en-US" b="1" dirty="0">
              <a:solidFill>
                <a:srgbClr val="002060"/>
              </a:solidFill>
              <a:latin typeface="宋体" panose="02010600030101010101" pitchFamily="2" charset="-122"/>
            </a:endParaRPr>
          </a:p>
        </p:txBody>
      </p:sp>
      <p:pic>
        <p:nvPicPr>
          <p:cNvPr id="10245" name="图片 2"/>
          <p:cNvPicPr>
            <a:picLocks noChangeAspect="1" noChangeArrowheads="1"/>
          </p:cNvPicPr>
          <p:nvPr/>
        </p:nvPicPr>
        <p:blipFill>
          <a:blip r:embed="rId1"/>
          <a:srcRect/>
          <a:stretch>
            <a:fillRect/>
          </a:stretch>
        </p:blipFill>
        <p:spPr bwMode="auto">
          <a:xfrm>
            <a:off x="1958975" y="3960813"/>
            <a:ext cx="5257800" cy="24606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身份认证基础</a:t>
            </a:r>
            <a:endParaRPr lang="zh-CN" altLang="en-US"/>
          </a:p>
        </p:txBody>
      </p:sp>
      <p:sp>
        <p:nvSpPr>
          <p:cNvPr id="14" name="内容占位符 13"/>
          <p:cNvSpPr>
            <a:spLocks noGrp="1"/>
          </p:cNvSpPr>
          <p:nvPr>
            <p:ph idx="4294967295"/>
          </p:nvPr>
        </p:nvSpPr>
        <p:spPr>
          <a:xfrm>
            <a:off x="468313" y="1125538"/>
            <a:ext cx="4311650" cy="504825"/>
          </a:xfrm>
        </p:spPr>
        <p:txBody>
          <a:bodyPr/>
          <a:lstStyle/>
          <a:p>
            <a:pPr eaLnBrk="1" hangingPunct="1">
              <a:spcBef>
                <a:spcPct val="0"/>
              </a:spcBef>
              <a:buClrTx/>
              <a:buFontTx/>
              <a:buNone/>
              <a:defRPr/>
            </a:pPr>
            <a:r>
              <a:rPr lang="en-US" altLang="zh-CN" sz="2500" dirty="0">
                <a:solidFill>
                  <a:srgbClr val="FF0000"/>
                </a:solidFill>
                <a:effectLst>
                  <a:outerShdw blurRad="38100" dist="38100" dir="2700000" algn="tl">
                    <a:srgbClr val="C0C0C0"/>
                  </a:outerShdw>
                </a:effectLst>
              </a:rPr>
              <a:t>6.1.1</a:t>
            </a:r>
            <a:r>
              <a:rPr lang="zh-CN" altLang="en-US" sz="2500" dirty="0">
                <a:solidFill>
                  <a:srgbClr val="FF0000"/>
                </a:solidFill>
                <a:effectLst>
                  <a:outerShdw blurRad="38100" dist="38100" dir="2700000" algn="tl">
                    <a:srgbClr val="C0C0C0"/>
                  </a:outerShdw>
                </a:effectLst>
              </a:rPr>
              <a:t>身份认证的概念</a:t>
            </a:r>
            <a:endParaRPr lang="en-US" altLang="zh-CN" sz="2500" dirty="0">
              <a:solidFill>
                <a:srgbClr val="FF0000"/>
              </a:solidFill>
              <a:effectLst>
                <a:outerShdw blurRad="38100" dist="38100" dir="2700000" algn="tl">
                  <a:srgbClr val="C0C0C0"/>
                </a:outerShdw>
              </a:effectLst>
            </a:endParaRPr>
          </a:p>
        </p:txBody>
      </p:sp>
      <p:sp>
        <p:nvSpPr>
          <p:cNvPr id="11267" name="Rectangle 12"/>
          <p:cNvSpPr>
            <a:spLocks noChangeArrowheads="1"/>
          </p:cNvSpPr>
          <p:nvPr/>
        </p:nvSpPr>
        <p:spPr bwMode="auto">
          <a:xfrm>
            <a:off x="1065213" y="1538923"/>
            <a:ext cx="3395662" cy="461962"/>
          </a:xfrm>
          <a:prstGeom prst="rect">
            <a:avLst/>
          </a:prstGeom>
          <a:noFill/>
          <a:ln w="9525">
            <a:noFill/>
            <a:miter lim="800000"/>
          </a:ln>
        </p:spPr>
        <p:txBody>
          <a:bodyPr wrap="none">
            <a:spAutoFit/>
          </a:bodyPr>
          <a:lstStyle/>
          <a:p>
            <a:r>
              <a:rPr lang="en-US" altLang="zh-CN" sz="2400" b="1">
                <a:solidFill>
                  <a:srgbClr val="FF0000"/>
                </a:solidFill>
              </a:rPr>
              <a:t> </a:t>
            </a:r>
            <a:r>
              <a:rPr lang="en-US" altLang="zh-CN" sz="2400" b="1">
                <a:solidFill>
                  <a:srgbClr val="CC0000"/>
                </a:solidFill>
              </a:rPr>
              <a:t>1. </a:t>
            </a:r>
            <a:r>
              <a:rPr lang="zh-CN" altLang="en-US" sz="2400" b="1">
                <a:solidFill>
                  <a:srgbClr val="CC0000"/>
                </a:solidFill>
              </a:rPr>
              <a:t>认证技术的基本概念</a:t>
            </a:r>
            <a:endParaRPr lang="zh-CN" altLang="en-US" sz="2400" b="1">
              <a:solidFill>
                <a:srgbClr val="CC0000"/>
              </a:solidFill>
            </a:endParaRPr>
          </a:p>
        </p:txBody>
      </p:sp>
      <p:sp>
        <p:nvSpPr>
          <p:cNvPr id="19" name="圆角矩形 18"/>
          <p:cNvSpPr/>
          <p:nvPr/>
        </p:nvSpPr>
        <p:spPr bwMode="gray">
          <a:xfrm>
            <a:off x="890905" y="2000885"/>
            <a:ext cx="7777480" cy="15849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r>
              <a:rPr lang="zh-CN" altLang="en-US"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认证</a:t>
            </a:r>
            <a:r>
              <a:rPr lang="en-US" altLang="zh-CN" sz="2000" b="1" dirty="0">
                <a:solidFill>
                  <a:schemeClr val="tx2"/>
                </a:solidFill>
                <a:latin typeface="Times New Roman" panose="02020603050405020304" pitchFamily="18" charset="0"/>
                <a:cs typeface="Times New Roman" panose="02020603050405020304" pitchFamily="18" charset="0"/>
              </a:rPr>
              <a:t>(Authentication)</a:t>
            </a:r>
            <a:r>
              <a:rPr lang="zh-CN" altLang="en-US" sz="2000" b="1" dirty="0">
                <a:solidFill>
                  <a:schemeClr val="tx2"/>
                </a:solidFill>
                <a:latin typeface="Arial" panose="020B0604020202020204" pitchFamily="34" charset="0"/>
              </a:rPr>
              <a:t>是指对</a:t>
            </a:r>
            <a:r>
              <a:rPr lang="zh-CN" altLang="en-US" sz="2000" b="1" dirty="0">
                <a:solidFill>
                  <a:srgbClr val="C00000"/>
                </a:solidFill>
                <a:latin typeface="Arial" panose="020B0604020202020204" pitchFamily="34" charset="0"/>
              </a:rPr>
              <a:t>主客体</a:t>
            </a:r>
            <a:r>
              <a:rPr lang="zh-CN" altLang="en-US" sz="2000" b="1" dirty="0">
                <a:solidFill>
                  <a:srgbClr val="0000FF"/>
                </a:solidFill>
                <a:latin typeface="Arial" panose="020B0604020202020204" pitchFamily="34" charset="0"/>
              </a:rPr>
              <a:t>进行</a:t>
            </a:r>
            <a:r>
              <a:rPr lang="zh-CN" altLang="en-US" sz="2000" b="1" u="sng" dirty="0">
                <a:solidFill>
                  <a:srgbClr val="0000FF"/>
                </a:solidFill>
                <a:latin typeface="Arial" panose="020B0604020202020204" pitchFamily="34" charset="0"/>
              </a:rPr>
              <a:t>确认及验证</a:t>
            </a:r>
            <a:r>
              <a:rPr lang="zh-CN" altLang="en-US" sz="2000" b="1" dirty="0">
                <a:solidFill>
                  <a:schemeClr val="tx2"/>
                </a:solidFill>
                <a:latin typeface="Arial" panose="020B0604020202020204" pitchFamily="34" charset="0"/>
              </a:rPr>
              <a:t>的过程。 </a:t>
            </a:r>
            <a:endParaRPr lang="zh-CN" altLang="en-US" sz="2000" b="1" dirty="0">
              <a:solidFill>
                <a:schemeClr val="tx2"/>
              </a:solidFill>
              <a:latin typeface="Arial" panose="020B0604020202020204" pitchFamily="34" charset="0"/>
            </a:endParaRPr>
          </a:p>
          <a:p>
            <a:pPr indent="457200" algn="just">
              <a:spcBef>
                <a:spcPct val="15000"/>
              </a:spcBef>
              <a:defRPr/>
            </a:pPr>
            <a:r>
              <a:rPr lang="zh-CN" altLang="en-US" sz="2000" b="1" dirty="0">
                <a:solidFill>
                  <a:srgbClr val="C00000"/>
                </a:solidFill>
                <a:latin typeface="Arial" panose="020B0604020202020204" pitchFamily="34" charset="0"/>
              </a:rPr>
              <a:t>认证</a:t>
            </a:r>
            <a:r>
              <a:rPr lang="zh-CN" altLang="en-US" sz="2000" b="1" dirty="0">
                <a:solidFill>
                  <a:schemeClr val="tx2"/>
                </a:solidFill>
                <a:latin typeface="Arial" panose="020B0604020202020204" pitchFamily="34" charset="0"/>
              </a:rPr>
              <a:t>可以解决主体本身的</a:t>
            </a:r>
            <a:r>
              <a:rPr lang="zh-CN" altLang="en-US" sz="2000" b="1" dirty="0">
                <a:solidFill>
                  <a:srgbClr val="0000FF"/>
                </a:solidFill>
                <a:latin typeface="Arial" panose="020B0604020202020204" pitchFamily="34" charset="0"/>
              </a:rPr>
              <a:t>信用问题</a:t>
            </a:r>
            <a:r>
              <a:rPr lang="zh-CN" altLang="en-US" sz="2000" b="1" dirty="0">
                <a:solidFill>
                  <a:schemeClr val="tx2"/>
                </a:solidFill>
                <a:latin typeface="Arial" panose="020B0604020202020204" pitchFamily="34" charset="0"/>
              </a:rPr>
              <a:t>和客体对主体访问的</a:t>
            </a:r>
            <a:r>
              <a:rPr lang="zh-CN" altLang="en-US" sz="2000" b="1" dirty="0">
                <a:solidFill>
                  <a:srgbClr val="0000FF"/>
                </a:solidFill>
                <a:latin typeface="Arial" panose="020B0604020202020204" pitchFamily="34" charset="0"/>
              </a:rPr>
              <a:t>信任问题</a:t>
            </a:r>
            <a:r>
              <a:rPr lang="zh-CN" altLang="en-US" sz="2000" b="1" dirty="0">
                <a:solidFill>
                  <a:schemeClr val="tx2"/>
                </a:solidFill>
                <a:latin typeface="Arial" panose="020B0604020202020204" pitchFamily="34" charset="0"/>
              </a:rPr>
              <a:t>，认证可以为下一步的</a:t>
            </a:r>
            <a:r>
              <a:rPr lang="zh-CN" altLang="en-US" sz="2000" b="1" dirty="0">
                <a:solidFill>
                  <a:srgbClr val="C00000"/>
                </a:solidFill>
                <a:latin typeface="Arial" panose="020B0604020202020204" pitchFamily="34" charset="0"/>
              </a:rPr>
              <a:t>授权</a:t>
            </a:r>
            <a:r>
              <a:rPr lang="zh-CN" altLang="en-US" sz="2000" b="1" dirty="0">
                <a:solidFill>
                  <a:schemeClr val="tx2"/>
                </a:solidFill>
                <a:latin typeface="Arial" panose="020B0604020202020204" pitchFamily="34" charset="0"/>
              </a:rPr>
              <a:t>奠定基础，是对用户身份和认证信息的生成、存储、同步、验证和维护的全生命周期的管理。       </a:t>
            </a:r>
            <a:endParaRPr lang="en-US" altLang="zh-CN" sz="2000" dirty="0">
              <a:solidFill>
                <a:schemeClr val="tx2"/>
              </a:solidFill>
              <a:latin typeface="Arial" panose="020B0604020202020204" pitchFamily="34" charset="0"/>
            </a:endParaRPr>
          </a:p>
        </p:txBody>
      </p:sp>
      <p:sp>
        <p:nvSpPr>
          <p:cNvPr id="16" name="圆角矩形 18"/>
          <p:cNvSpPr/>
          <p:nvPr/>
        </p:nvSpPr>
        <p:spPr bwMode="gray">
          <a:xfrm>
            <a:off x="889318" y="3705860"/>
            <a:ext cx="7778750" cy="26638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eaLnBrk="0" hangingPunct="0">
              <a:defRPr/>
            </a:pPr>
            <a:r>
              <a:rPr lang="zh-CN" altLang="zh-CN"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认证技术的主要作用</a:t>
            </a:r>
            <a:r>
              <a:rPr lang="zh-CN" altLang="zh-CN" sz="2000" b="1" dirty="0">
                <a:solidFill>
                  <a:schemeClr val="tx2"/>
                </a:solidFill>
                <a:latin typeface="Arial" panose="020B0604020202020204" pitchFamily="34" charset="0"/>
              </a:rPr>
              <a:t>是进行信息认证。</a:t>
            </a:r>
            <a:r>
              <a:rPr lang="zh-CN" altLang="zh-CN" sz="2000" b="1" dirty="0">
                <a:solidFill>
                  <a:srgbClr val="C00000"/>
                </a:solidFill>
                <a:latin typeface="Arial" panose="020B0604020202020204" pitchFamily="34" charset="0"/>
              </a:rPr>
              <a:t>信息认证</a:t>
            </a:r>
            <a:r>
              <a:rPr lang="zh-CN" altLang="zh-CN" sz="2000" b="1" dirty="0">
                <a:solidFill>
                  <a:srgbClr val="0000FF"/>
                </a:solidFill>
                <a:latin typeface="Arial" panose="020B0604020202020204" pitchFamily="34" charset="0"/>
              </a:rPr>
              <a:t>的</a:t>
            </a:r>
            <a:r>
              <a:rPr lang="zh-CN" altLang="zh-CN" sz="2000" b="1" dirty="0">
                <a:solidFill>
                  <a:srgbClr val="C00000"/>
                </a:solidFill>
                <a:latin typeface="Arial" panose="020B0604020202020204" pitchFamily="34" charset="0"/>
              </a:rPr>
              <a:t>目的</a:t>
            </a:r>
            <a:r>
              <a:rPr lang="zh-CN" altLang="zh-CN" sz="2000" b="1" dirty="0">
                <a:solidFill>
                  <a:schemeClr val="tx2"/>
                </a:solidFill>
                <a:latin typeface="Arial" panose="020B0604020202020204" pitchFamily="34" charset="0"/>
              </a:rPr>
              <a:t>，一是确认信息发送者的身份，二是验证信息的完整性，即确认信息在传送或存储中未被篡改过。</a:t>
            </a:r>
            <a:endParaRPr lang="en-US" altLang="zh-CN" sz="2000" b="1" dirty="0">
              <a:solidFill>
                <a:schemeClr val="tx2"/>
              </a:solidFill>
              <a:latin typeface="Arial" panose="020B0604020202020204" pitchFamily="34" charset="0"/>
            </a:endParaRPr>
          </a:p>
          <a:p>
            <a:pPr indent="457200" algn="just" eaLnBrk="0" hangingPunct="0">
              <a:defRPr/>
            </a:pPr>
            <a:r>
              <a:rPr lang="zh-CN" altLang="zh-CN"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从鉴别对象上可以分为两种</a:t>
            </a:r>
            <a:r>
              <a:rPr lang="zh-CN" altLang="zh-CN" dirty="0"/>
              <a:t>：</a:t>
            </a:r>
            <a:endParaRPr lang="en-US" altLang="zh-CN" dirty="0"/>
          </a:p>
          <a:p>
            <a:pPr indent="457200" algn="just" eaLnBrk="0" hangingPunct="0">
              <a:defRPr/>
            </a:pPr>
            <a:r>
              <a:rPr lang="en-US" altLang="zh-CN" sz="2000" b="1" dirty="0">
                <a:solidFill>
                  <a:schemeClr val="tx2"/>
                </a:solidFill>
                <a:latin typeface="Arial" panose="020B0604020202020204" pitchFamily="34" charset="0"/>
              </a:rPr>
              <a:t>1</a:t>
            </a:r>
            <a:r>
              <a:rPr lang="zh-CN" altLang="zh-CN" sz="2000" b="1" dirty="0">
                <a:solidFill>
                  <a:schemeClr val="tx2"/>
                </a:solidFill>
                <a:latin typeface="Arial" panose="020B0604020202020204" pitchFamily="34" charset="0"/>
              </a:rPr>
              <a:t>）</a:t>
            </a:r>
            <a:r>
              <a:rPr lang="zh-CN" altLang="zh-CN" sz="2000" b="1" dirty="0">
                <a:solidFill>
                  <a:srgbClr val="0000FF"/>
                </a:solidFill>
                <a:latin typeface="Arial" panose="020B0604020202020204" pitchFamily="34" charset="0"/>
              </a:rPr>
              <a:t>身份认证</a:t>
            </a:r>
            <a:r>
              <a:rPr lang="zh-CN" altLang="zh-CN" sz="2000" b="1" dirty="0">
                <a:solidFill>
                  <a:schemeClr val="tx2"/>
                </a:solidFill>
                <a:latin typeface="Arial" panose="020B0604020202020204" pitchFamily="34" charset="0"/>
              </a:rPr>
              <a:t>：用于鉴别用户身份。包括识别和验证两部分。</a:t>
            </a:r>
            <a:endParaRPr lang="zh-CN" altLang="zh-CN" sz="2000" b="1" dirty="0">
              <a:solidFill>
                <a:schemeClr val="tx2"/>
              </a:solidFill>
              <a:latin typeface="Arial" panose="020B0604020202020204" pitchFamily="34" charset="0"/>
            </a:endParaRPr>
          </a:p>
          <a:p>
            <a:pPr indent="457200" algn="just" eaLnBrk="0" hangingPunct="0">
              <a:defRPr/>
            </a:pPr>
            <a:r>
              <a:rPr lang="en-US" altLang="zh-CN" sz="2000" b="1" dirty="0">
                <a:solidFill>
                  <a:schemeClr val="tx2"/>
                </a:solidFill>
                <a:latin typeface="Arial" panose="020B0604020202020204" pitchFamily="34" charset="0"/>
              </a:rPr>
              <a:t>2</a:t>
            </a:r>
            <a:r>
              <a:rPr lang="zh-CN" altLang="zh-CN" sz="2000" b="1" dirty="0">
                <a:solidFill>
                  <a:schemeClr val="tx2"/>
                </a:solidFill>
                <a:latin typeface="Arial" panose="020B0604020202020204" pitchFamily="34" charset="0"/>
              </a:rPr>
              <a:t>）</a:t>
            </a:r>
            <a:r>
              <a:rPr lang="zh-CN" altLang="zh-CN" sz="2000" b="1" dirty="0">
                <a:solidFill>
                  <a:srgbClr val="0000FF"/>
                </a:solidFill>
                <a:latin typeface="Arial" panose="020B0604020202020204" pitchFamily="34" charset="0"/>
              </a:rPr>
              <a:t>消息认证</a:t>
            </a:r>
            <a:r>
              <a:rPr lang="zh-CN" altLang="zh-CN" sz="2000" b="1" dirty="0">
                <a:solidFill>
                  <a:schemeClr val="tx2"/>
                </a:solidFill>
                <a:latin typeface="Arial" panose="020B0604020202020204" pitchFamily="34" charset="0"/>
              </a:rPr>
              <a:t>：用于保证信息的完整性和不可否认性。通常用来检测主机收到的信息是否完整，以及检测信息在传递过程中是否被修改或</a:t>
            </a:r>
            <a:r>
              <a:rPr lang="zh-CN" altLang="zh-CN" sz="2000" b="1" dirty="0" smtClean="0">
                <a:solidFill>
                  <a:schemeClr val="tx2"/>
                </a:solidFill>
                <a:latin typeface="Arial" panose="020B0604020202020204" pitchFamily="34" charset="0"/>
              </a:rPr>
              <a:t>伪造。</a:t>
            </a:r>
            <a:endParaRPr lang="zh-CN" altLang="zh-CN" sz="2000" b="1" dirty="0">
              <a:solidFill>
                <a:schemeClr val="tx2"/>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dirty="0"/>
          </a:p>
        </p:txBody>
      </p:sp>
      <p:sp>
        <p:nvSpPr>
          <p:cNvPr id="14" name="内容占位符 13"/>
          <p:cNvSpPr>
            <a:spLocks noGrp="1"/>
          </p:cNvSpPr>
          <p:nvPr>
            <p:ph idx="4294967295"/>
          </p:nvPr>
        </p:nvSpPr>
        <p:spPr>
          <a:xfrm>
            <a:off x="468313" y="1125538"/>
            <a:ext cx="4311650" cy="504825"/>
          </a:xfrm>
        </p:spPr>
        <p:txBody>
          <a:bodyPr/>
          <a:lstStyle/>
          <a:p>
            <a:pPr eaLnBrk="1" hangingPunct="1">
              <a:spcBef>
                <a:spcPct val="0"/>
              </a:spcBef>
              <a:buClrTx/>
              <a:buFontTx/>
              <a:buNone/>
              <a:defRPr/>
            </a:pPr>
            <a:r>
              <a:rPr lang="en-US" altLang="zh-CN" sz="2500" dirty="0">
                <a:solidFill>
                  <a:srgbClr val="FF0000"/>
                </a:solidFill>
                <a:effectLst>
                  <a:outerShdw blurRad="38100" dist="38100" dir="2700000" algn="tl">
                    <a:srgbClr val="C0C0C0"/>
                  </a:outerShdw>
                </a:effectLst>
              </a:rPr>
              <a:t>6.1.1</a:t>
            </a:r>
            <a:r>
              <a:rPr lang="zh-CN" altLang="en-US" sz="2500" dirty="0">
                <a:solidFill>
                  <a:srgbClr val="FF0000"/>
                </a:solidFill>
                <a:effectLst>
                  <a:outerShdw blurRad="38100" dist="38100" dir="2700000" algn="tl">
                    <a:srgbClr val="C0C0C0"/>
                  </a:outerShdw>
                </a:effectLst>
              </a:rPr>
              <a:t>身份认证的概念</a:t>
            </a:r>
            <a:endParaRPr lang="en-US" altLang="zh-CN" sz="2500" dirty="0">
              <a:solidFill>
                <a:srgbClr val="FF0000"/>
              </a:solidFill>
              <a:effectLst>
                <a:outerShdw blurRad="38100" dist="38100" dir="2700000" algn="tl">
                  <a:srgbClr val="C0C0C0"/>
                </a:outerShdw>
              </a:effectLst>
            </a:endParaRPr>
          </a:p>
        </p:txBody>
      </p:sp>
      <p:sp>
        <p:nvSpPr>
          <p:cNvPr id="12291" name="Rectangle 12"/>
          <p:cNvSpPr>
            <a:spLocks noChangeArrowheads="1"/>
          </p:cNvSpPr>
          <p:nvPr/>
        </p:nvSpPr>
        <p:spPr bwMode="auto">
          <a:xfrm>
            <a:off x="1074738" y="1700213"/>
            <a:ext cx="3395662" cy="461962"/>
          </a:xfrm>
          <a:prstGeom prst="rect">
            <a:avLst/>
          </a:prstGeom>
          <a:noFill/>
          <a:ln w="9525">
            <a:noFill/>
            <a:miter lim="800000"/>
          </a:ln>
        </p:spPr>
        <p:txBody>
          <a:bodyPr wrap="none">
            <a:spAutoFit/>
          </a:bodyPr>
          <a:lstStyle/>
          <a:p>
            <a:r>
              <a:rPr lang="en-US" altLang="zh-CN" sz="2400" b="1">
                <a:solidFill>
                  <a:srgbClr val="FF0000"/>
                </a:solidFill>
              </a:rPr>
              <a:t> </a:t>
            </a:r>
            <a:r>
              <a:rPr lang="en-US" altLang="zh-CN" sz="2400" b="1">
                <a:solidFill>
                  <a:srgbClr val="CC0000"/>
                </a:solidFill>
              </a:rPr>
              <a:t>2. </a:t>
            </a:r>
            <a:r>
              <a:rPr lang="zh-CN" altLang="en-US" sz="2400" b="1">
                <a:solidFill>
                  <a:srgbClr val="CC0000"/>
                </a:solidFill>
              </a:rPr>
              <a:t>身份认证的基本概念</a:t>
            </a:r>
            <a:endParaRPr lang="zh-CN" altLang="en-US" sz="2400" b="1">
              <a:solidFill>
                <a:srgbClr val="CC0000"/>
              </a:solidFill>
            </a:endParaRPr>
          </a:p>
        </p:txBody>
      </p:sp>
      <p:grpSp>
        <p:nvGrpSpPr>
          <p:cNvPr id="12292" name="组合 1"/>
          <p:cNvGrpSpPr/>
          <p:nvPr/>
        </p:nvGrpSpPr>
        <p:grpSpPr bwMode="auto">
          <a:xfrm>
            <a:off x="649288" y="2178050"/>
            <a:ext cx="7921625" cy="4208463"/>
            <a:chOff x="531020" y="4622298"/>
            <a:chExt cx="7921030" cy="2432879"/>
          </a:xfrm>
        </p:grpSpPr>
        <p:sp>
          <p:nvSpPr>
            <p:cNvPr id="19" name="圆角矩形 18"/>
            <p:cNvSpPr/>
            <p:nvPr/>
          </p:nvSpPr>
          <p:spPr bwMode="gray">
            <a:xfrm>
              <a:off x="531020" y="4622298"/>
              <a:ext cx="7921030" cy="2432879"/>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r>
                <a:rPr lang="zh-CN" altLang="en-US" sz="24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身份认证</a:t>
              </a:r>
              <a:r>
                <a:rPr lang="en-US" altLang="zh-CN"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(Identity and Authentication Management)</a:t>
              </a:r>
              <a:r>
                <a:rPr lang="zh-CN" altLang="en-US"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chemeClr val="tx2"/>
                  </a:solidFill>
                  <a:latin typeface="Arial" panose="020B0604020202020204" pitchFamily="34" charset="0"/>
                </a:rPr>
                <a:t>是网络系统的用户在</a:t>
              </a:r>
              <a:r>
                <a:rPr lang="zh-CN" altLang="en-US" sz="2400" b="1" dirty="0">
                  <a:solidFill>
                    <a:srgbClr val="0000FF"/>
                  </a:solidFill>
                  <a:latin typeface="Arial" panose="020B0604020202020204" pitchFamily="34" charset="0"/>
                </a:rPr>
                <a:t>进入系统或访问不同保护级别的系统资源</a:t>
              </a:r>
              <a:r>
                <a:rPr lang="zh-CN" altLang="en-US" sz="2400" b="1" dirty="0">
                  <a:solidFill>
                    <a:schemeClr val="tx2"/>
                  </a:solidFill>
                  <a:latin typeface="Arial" panose="020B0604020202020204" pitchFamily="34" charset="0"/>
                </a:rPr>
                <a:t>时，系统</a:t>
              </a:r>
              <a:r>
                <a:rPr lang="zh-CN" altLang="en-US" sz="2400" b="1" dirty="0">
                  <a:solidFill>
                    <a:srgbClr val="0000FF"/>
                  </a:solidFill>
                  <a:latin typeface="Arial" panose="020B0604020202020204" pitchFamily="34" charset="0"/>
                </a:rPr>
                <a:t>确认验证</a:t>
              </a:r>
              <a:r>
                <a:rPr lang="zh-CN" altLang="en-US" sz="2400" b="1" dirty="0">
                  <a:solidFill>
                    <a:schemeClr val="tx2"/>
                  </a:solidFill>
                  <a:latin typeface="Arial" panose="020B0604020202020204" pitchFamily="34" charset="0"/>
                </a:rPr>
                <a:t>用户身份真实、合法和唯一的过程，即系统</a:t>
              </a:r>
              <a:r>
                <a:rPr lang="zh-CN" altLang="en-US" sz="2400" b="1" dirty="0">
                  <a:solidFill>
                    <a:srgbClr val="C00000"/>
                  </a:solidFill>
                  <a:latin typeface="Arial" panose="020B0604020202020204" pitchFamily="34" charset="0"/>
                </a:rPr>
                <a:t>对用户身份</a:t>
              </a:r>
              <a:r>
                <a:rPr lang="zh-CN" altLang="en-US" sz="2400" b="1" dirty="0">
                  <a:solidFill>
                    <a:schemeClr val="tx2"/>
                  </a:solidFill>
                  <a:latin typeface="Arial" panose="020B0604020202020204" pitchFamily="34" charset="0"/>
                </a:rPr>
                <a:t>的</a:t>
              </a:r>
              <a:r>
                <a:rPr lang="zh-CN" altLang="en-US" sz="2400" b="1" dirty="0">
                  <a:solidFill>
                    <a:srgbClr val="0000FF"/>
                  </a:solidFill>
                  <a:latin typeface="Arial" panose="020B0604020202020204" pitchFamily="34" charset="0"/>
                  <a:sym typeface="+mn-ea"/>
                </a:rPr>
                <a:t>识别和验证</a:t>
              </a:r>
              <a:r>
                <a:rPr lang="zh-CN" altLang="en-US" sz="2400" b="1" dirty="0">
                  <a:solidFill>
                    <a:schemeClr val="tx2"/>
                  </a:solidFill>
                  <a:latin typeface="Arial" panose="020B0604020202020204" pitchFamily="34" charset="0"/>
                </a:rPr>
                <a:t>过程</a:t>
              </a:r>
              <a:r>
                <a:rPr lang="en-US" altLang="zh-CN"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a:p>
              <a:pPr indent="457200" algn="just">
                <a:spcBef>
                  <a:spcPct val="15000"/>
                </a:spcBef>
                <a:defRPr/>
              </a:pPr>
              <a:r>
                <a:rPr lang="zh-CN" altLang="en-US" sz="2400" b="1" dirty="0">
                  <a:solidFill>
                    <a:srgbClr val="990033"/>
                  </a:solidFill>
                  <a:latin typeface="Arial" panose="020B0604020202020204" pitchFamily="34" charset="0"/>
                </a:rPr>
                <a:t>通常，</a:t>
              </a:r>
              <a:r>
                <a:rPr lang="zh-CN" altLang="en-US" sz="2400" b="1" dirty="0">
                  <a:solidFill>
                    <a:srgbClr val="CC0000"/>
                  </a:solidFill>
                  <a:latin typeface="Arial" panose="020B0604020202020204" pitchFamily="34" charset="0"/>
                </a:rPr>
                <a:t>身份</a:t>
              </a:r>
              <a:r>
                <a:rPr lang="zh-CN" altLang="en-US" sz="2400" b="1" dirty="0">
                  <a:solidFill>
                    <a:srgbClr val="0000FF"/>
                  </a:solidFill>
                  <a:latin typeface="Arial" panose="020B0604020202020204" pitchFamily="34" charset="0"/>
                </a:rPr>
                <a:t>认证</a:t>
              </a:r>
              <a:r>
                <a:rPr lang="zh-CN" altLang="en-US" sz="2400" b="1" dirty="0">
                  <a:solidFill>
                    <a:srgbClr val="CC0000"/>
                  </a:solidFill>
                  <a:latin typeface="Arial" panose="020B0604020202020204" pitchFamily="34" charset="0"/>
                </a:rPr>
                <a:t>基本方法</a:t>
              </a:r>
              <a:r>
                <a:rPr lang="zh-CN" altLang="en-US" sz="2400" b="1" dirty="0">
                  <a:solidFill>
                    <a:schemeClr val="tx2"/>
                  </a:solidFill>
                  <a:latin typeface="Arial" panose="020B0604020202020204" pitchFamily="34" charset="0"/>
                </a:rPr>
                <a:t>有</a:t>
              </a:r>
              <a:r>
                <a:rPr lang="zh-CN" altLang="en-US" sz="2400" b="1" u="sng" dirty="0">
                  <a:solidFill>
                    <a:srgbClr val="D60093"/>
                  </a:solidFill>
                  <a:effectLst>
                    <a:outerShdw blurRad="38100" dist="38100" dir="2700000" algn="tl">
                      <a:srgbClr val="C0C0C0"/>
                    </a:outerShdw>
                  </a:effectLst>
                  <a:latin typeface="Arial" panose="020B0604020202020204" pitchFamily="34" charset="0"/>
                </a:rPr>
                <a:t>三种</a:t>
              </a:r>
              <a:r>
                <a:rPr lang="zh-CN" altLang="en-US"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）用户所知道的</a:t>
              </a:r>
              <a:r>
                <a:rPr lang="zh-CN" altLang="en-US" sz="2000" b="1" dirty="0" smtClean="0">
                  <a:solidFill>
                    <a:schemeClr val="tx2"/>
                  </a:solidFill>
                  <a:latin typeface="Arial" panose="020B0604020202020204" pitchFamily="34" charset="0"/>
                </a:rPr>
                <a:t>事物（基于信息秘密），</a:t>
              </a:r>
              <a:r>
                <a:rPr lang="zh-CN" altLang="en-US" sz="2000" b="1" dirty="0">
                  <a:solidFill>
                    <a:schemeClr val="tx2"/>
                  </a:solidFill>
                  <a:latin typeface="Arial" panose="020B0604020202020204" pitchFamily="34" charset="0"/>
                </a:rPr>
                <a:t>如口令、密码等。</a:t>
              </a:r>
              <a:endParaRPr lang="zh-CN" altLang="en-US" sz="20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）用户拥有的</a:t>
              </a:r>
              <a:r>
                <a:rPr lang="zh-CN" altLang="en-US" sz="2000" b="1" dirty="0" smtClean="0">
                  <a:solidFill>
                    <a:schemeClr val="tx2"/>
                  </a:solidFill>
                  <a:latin typeface="Arial" panose="020B0604020202020204" pitchFamily="34" charset="0"/>
                </a:rPr>
                <a:t>物品（基于信任物体），</a:t>
              </a:r>
              <a:r>
                <a:rPr lang="zh-CN" altLang="en-US" sz="2000" b="1" dirty="0">
                  <a:solidFill>
                    <a:schemeClr val="tx2"/>
                  </a:solidFill>
                  <a:latin typeface="Arial" panose="020B0604020202020204" pitchFamily="34" charset="0"/>
                </a:rPr>
                <a:t>如身份证、智能卡（如信用卡）、</a:t>
              </a:r>
              <a:r>
                <a:rPr lang="en-US" altLang="zh-CN" sz="2000" b="1" dirty="0">
                  <a:solidFill>
                    <a:schemeClr val="tx2"/>
                  </a:solidFill>
                  <a:latin typeface="Arial" panose="020B0604020202020204" pitchFamily="34" charset="0"/>
                </a:rPr>
                <a:t>USB Key</a:t>
              </a:r>
              <a:r>
                <a:rPr lang="zh-CN" altLang="en-US" sz="2000" b="1" dirty="0">
                  <a:solidFill>
                    <a:schemeClr val="tx2"/>
                  </a:solidFill>
                  <a:latin typeface="Arial" panose="020B0604020202020204" pitchFamily="34" charset="0"/>
                </a:rPr>
                <a:t>等。</a:t>
              </a:r>
              <a:endParaRPr lang="zh-CN" altLang="en-US" sz="2000" b="1" dirty="0">
                <a:solidFill>
                  <a:schemeClr val="tx2"/>
                </a:solidFill>
                <a:latin typeface="Arial" panose="020B0604020202020204" pitchFamily="34" charset="0"/>
              </a:endParaRPr>
            </a:p>
            <a:p>
              <a:pPr indent="457200" algn="just">
                <a:spcBef>
                  <a:spcPct val="15000"/>
                </a:spcBef>
                <a:defRPr/>
              </a:pP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）用户所具有的生物</a:t>
              </a:r>
              <a:r>
                <a:rPr lang="zh-CN" altLang="en-US" sz="2000" b="1" dirty="0" smtClean="0">
                  <a:solidFill>
                    <a:schemeClr val="tx2"/>
                  </a:solidFill>
                  <a:latin typeface="Arial" panose="020B0604020202020204" pitchFamily="34" charset="0"/>
                </a:rPr>
                <a:t>特征（基于生物特征），</a:t>
              </a:r>
              <a:r>
                <a:rPr lang="zh-CN" altLang="en-US" sz="2000" b="1" dirty="0">
                  <a:solidFill>
                    <a:schemeClr val="tx2"/>
                  </a:solidFill>
                  <a:latin typeface="Arial" panose="020B0604020202020204" pitchFamily="34" charset="0"/>
                </a:rPr>
                <a:t>如指纹、虹膜、视网膜、声纹、笔迹、</a:t>
              </a:r>
              <a:r>
                <a:rPr lang="en-US" altLang="zh-CN" sz="2000" b="1" dirty="0">
                  <a:solidFill>
                    <a:schemeClr val="tx2"/>
                  </a:solidFill>
                  <a:latin typeface="Arial" panose="020B0604020202020204" pitchFamily="34" charset="0"/>
                </a:rPr>
                <a:t>DNA</a:t>
              </a:r>
              <a:r>
                <a:rPr lang="zh-CN" altLang="en-US" sz="2000" b="1" dirty="0">
                  <a:solidFill>
                    <a:schemeClr val="tx2"/>
                  </a:solidFill>
                  <a:latin typeface="Arial" panose="020B0604020202020204" pitchFamily="34" charset="0"/>
                </a:rPr>
                <a:t>、人脸信息等。</a:t>
              </a:r>
              <a:endParaRPr lang="zh-CN" altLang="en-US" sz="2000" b="1" dirty="0">
                <a:solidFill>
                  <a:schemeClr val="tx2"/>
                </a:solidFill>
                <a:latin typeface="Arial" panose="020B0604020202020204" pitchFamily="34" charset="0"/>
              </a:endParaRPr>
            </a:p>
            <a:p>
              <a:pPr indent="457200" algn="just">
                <a:spcBef>
                  <a:spcPct val="15000"/>
                </a:spcBef>
                <a:defRPr/>
              </a:pPr>
              <a:endParaRPr lang="en-US" altLang="zh-CN" sz="2100" b="1" dirty="0">
                <a:solidFill>
                  <a:schemeClr val="tx2"/>
                </a:solidFill>
                <a:latin typeface="Arial" panose="020B0604020202020204" pitchFamily="34" charset="0"/>
              </a:endParaRPr>
            </a:p>
          </p:txBody>
        </p:sp>
        <p:sp>
          <p:nvSpPr>
            <p:cNvPr id="71688" name="AutoShape 8"/>
            <p:cNvSpPr>
              <a:spLocks noChangeArrowheads="1"/>
            </p:cNvSpPr>
            <p:nvPr/>
          </p:nvSpPr>
          <p:spPr bwMode="auto">
            <a:xfrm>
              <a:off x="5777631" y="5550665"/>
              <a:ext cx="2196300" cy="309456"/>
            </a:xfrm>
            <a:prstGeom prst="wedgeRectCallout">
              <a:avLst>
                <a:gd name="adj1" fmla="val -53428"/>
                <a:gd name="adj2" fmla="val -10000"/>
              </a:avLst>
            </a:prstGeom>
            <a:solidFill>
              <a:srgbClr val="FFFF66"/>
            </a:solidFill>
            <a:ln w="9525">
              <a:solidFill>
                <a:schemeClr val="tx1"/>
              </a:solidFill>
              <a:miter lim="800000"/>
            </a:ln>
            <a:effectLst/>
          </p:spPr>
          <p:txBody>
            <a:bodyPr/>
            <a:lstStyle/>
            <a:p>
              <a:pPr algn="ctr">
                <a:lnSpc>
                  <a:spcPct val="80000"/>
                </a:lnSpc>
                <a:defRPr/>
              </a:pPr>
              <a:r>
                <a:rPr lang="zh-CN" altLang="en-US" sz="2000" b="1" dirty="0">
                  <a:solidFill>
                    <a:srgbClr val="CC3399"/>
                  </a:solidFill>
                  <a:effectLst>
                    <a:outerShdw blurRad="38100" dist="38100" dir="2700000" algn="tl">
                      <a:srgbClr val="000000"/>
                    </a:outerShdw>
                  </a:effectLst>
                </a:rPr>
                <a:t>你有什么？你知道什么？你是谁？</a:t>
              </a:r>
              <a:endParaRPr lang="zh-CN" altLang="en-US" sz="2000" b="1" dirty="0">
                <a:solidFill>
                  <a:srgbClr val="CC3399"/>
                </a:solidFill>
                <a:effectLst>
                  <a:outerShdw blurRad="38100" dist="38100" dir="2700000" algn="tl">
                    <a:srgbClr val="000000"/>
                  </a:outerShdw>
                </a:effectLs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r>
              <a:rPr lang="zh-CN" altLang="en-US"/>
              <a:t> </a:t>
            </a:r>
            <a:endParaRPr lang="zh-CN" altLang="en-US"/>
          </a:p>
        </p:txBody>
      </p:sp>
      <p:sp>
        <p:nvSpPr>
          <p:cNvPr id="14" name="内容占位符 13"/>
          <p:cNvSpPr>
            <a:spLocks noGrp="1"/>
          </p:cNvSpPr>
          <p:nvPr>
            <p:ph idx="1"/>
          </p:nvPr>
        </p:nvSpPr>
        <p:spPr>
          <a:xfrm>
            <a:off x="457200" y="1131888"/>
            <a:ext cx="4870450" cy="504825"/>
          </a:xfrm>
        </p:spPr>
        <p:txBody>
          <a:bodyPr/>
          <a:lstStyle/>
          <a:p>
            <a:pPr eaLnBrk="1" hangingPunct="1">
              <a:spcBef>
                <a:spcPct val="0"/>
              </a:spcBef>
              <a:buClrTx/>
              <a:buFontTx/>
              <a:buNone/>
              <a:defRPr/>
            </a:pPr>
            <a:r>
              <a:rPr lang="en-US" altLang="zh-CN" sz="2600" dirty="0">
                <a:solidFill>
                  <a:srgbClr val="FF0000"/>
                </a:solidFill>
                <a:effectLst>
                  <a:outerShdw blurRad="38100" dist="38100" dir="2700000" algn="tl">
                    <a:srgbClr val="C0C0C0"/>
                  </a:outerShdw>
                </a:effectLst>
              </a:rPr>
              <a:t>6.1.1</a:t>
            </a:r>
            <a:r>
              <a:rPr lang="zh-CN" altLang="en-US" sz="2600" dirty="0">
                <a:solidFill>
                  <a:srgbClr val="FF0000"/>
                </a:solidFill>
                <a:effectLst>
                  <a:outerShdw blurRad="38100" dist="38100" dir="2700000" algn="tl">
                    <a:srgbClr val="C0C0C0"/>
                  </a:outerShdw>
                </a:effectLst>
              </a:rPr>
              <a:t>身份认证的概念和方法</a:t>
            </a:r>
            <a:endParaRPr lang="en-US" altLang="zh-CN" sz="2600" dirty="0">
              <a:solidFill>
                <a:srgbClr val="FF0000"/>
              </a:solidFill>
              <a:effectLst>
                <a:outerShdw blurRad="38100" dist="38100" dir="2700000" algn="tl">
                  <a:srgbClr val="C0C0C0"/>
                </a:outerShdw>
              </a:effectLst>
            </a:endParaRPr>
          </a:p>
        </p:txBody>
      </p:sp>
      <p:sp>
        <p:nvSpPr>
          <p:cNvPr id="19" name="圆角矩形 18"/>
          <p:cNvSpPr/>
          <p:nvPr/>
        </p:nvSpPr>
        <p:spPr bwMode="gray">
          <a:xfrm>
            <a:off x="935038" y="2014538"/>
            <a:ext cx="7721600" cy="2003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b="1" dirty="0">
                <a:solidFill>
                  <a:schemeClr val="tx1"/>
                </a:solidFill>
                <a:latin typeface="Arial" panose="020B0604020202020204" pitchFamily="34" charset="0"/>
              </a:rPr>
              <a:t>     </a:t>
            </a:r>
            <a:r>
              <a:rPr lang="zh-CN" altLang="en-US" sz="2000" b="1" dirty="0">
                <a:solidFill>
                  <a:srgbClr val="CC0000"/>
                </a:solidFill>
                <a:latin typeface="Arial" panose="020B0604020202020204" pitchFamily="34" charset="0"/>
              </a:rPr>
              <a:t>身份认证与鉴别</a:t>
            </a:r>
            <a:r>
              <a:rPr lang="zh-CN" altLang="en-US" sz="2000" b="1" dirty="0">
                <a:solidFill>
                  <a:schemeClr val="tx2"/>
                </a:solidFill>
                <a:latin typeface="Arial" panose="020B0604020202020204" pitchFamily="34" charset="0"/>
              </a:rPr>
              <a:t>是信息安全中的</a:t>
            </a:r>
            <a:r>
              <a:rPr lang="zh-CN" altLang="en-US" sz="2000" b="1" dirty="0">
                <a:solidFill>
                  <a:srgbClr val="0000FF"/>
                </a:solidFill>
                <a:latin typeface="Arial" panose="020B0604020202020204" pitchFamily="34" charset="0"/>
              </a:rPr>
              <a:t>第一道防线</a:t>
            </a:r>
            <a:r>
              <a:rPr lang="zh-CN" altLang="en-US" sz="2000" b="1" dirty="0">
                <a:solidFill>
                  <a:schemeClr val="tx2"/>
                </a:solidFill>
                <a:latin typeface="Arial" panose="020B0604020202020204" pitchFamily="34" charset="0"/>
              </a:rPr>
              <a:t>，对信息系统的安全有着</a:t>
            </a:r>
            <a:r>
              <a:rPr lang="zh-CN" altLang="en-US" sz="2000" b="1" dirty="0">
                <a:solidFill>
                  <a:srgbClr val="CC0000"/>
                </a:solidFill>
                <a:latin typeface="Arial" panose="020B0604020202020204" pitchFamily="34" charset="0"/>
              </a:rPr>
              <a:t>重要意义</a:t>
            </a:r>
            <a:r>
              <a:rPr lang="zh-CN" altLang="en-US" sz="2000" b="1" dirty="0">
                <a:solidFill>
                  <a:schemeClr val="tx2"/>
                </a:solidFill>
                <a:latin typeface="Arial" panose="020B0604020202020204" pitchFamily="34" charset="0"/>
              </a:rPr>
              <a:t>。可以确保用户身份的真实、合法和唯一性，可以防止非法人员进入系统，通过各种违法操作获取不正当利益、非法访问受控信息、恶意破坏系统数据的完整性等情况的发生，严防“病从口入”关口。</a:t>
            </a:r>
            <a:r>
              <a:rPr lang="zh-CN" altLang="en-US" sz="2000" b="1" dirty="0">
                <a:solidFill>
                  <a:srgbClr val="0000FF"/>
                </a:solidFill>
                <a:latin typeface="Arial" panose="020B0604020202020204" pitchFamily="34" charset="0"/>
              </a:rPr>
              <a:t>访问控制和审计系统</a:t>
            </a:r>
            <a:r>
              <a:rPr lang="zh-CN" altLang="en-US" sz="2000" b="1" dirty="0">
                <a:solidFill>
                  <a:schemeClr val="tx2"/>
                </a:solidFill>
                <a:latin typeface="Arial" panose="020B0604020202020204" pitchFamily="34" charset="0"/>
              </a:rPr>
              <a:t>都依赖于身份认证系统提供的“认证信息”鉴别和审计，如图</a:t>
            </a:r>
            <a:r>
              <a:rPr lang="en-US" altLang="zh-CN" sz="2000" b="1" dirty="0">
                <a:solidFill>
                  <a:schemeClr val="tx2"/>
                </a:solidFill>
                <a:latin typeface="Arial" panose="020B0604020202020204" pitchFamily="34" charset="0"/>
              </a:rPr>
              <a:t>6-1</a:t>
            </a:r>
            <a:r>
              <a:rPr lang="zh-CN" altLang="en-US" sz="2000" b="1" dirty="0">
                <a:solidFill>
                  <a:schemeClr val="tx2"/>
                </a:solidFill>
                <a:latin typeface="Arial" panose="020B0604020202020204" pitchFamily="34" charset="0"/>
              </a:rPr>
              <a:t>所示。</a:t>
            </a:r>
            <a:endParaRPr lang="en-US" altLang="zh-CN" sz="2000" b="1" dirty="0">
              <a:solidFill>
                <a:schemeClr val="tx2"/>
              </a:solidFill>
              <a:latin typeface="Arial" panose="020B0604020202020204" pitchFamily="34" charset="0"/>
            </a:endParaRPr>
          </a:p>
        </p:txBody>
      </p:sp>
      <p:sp>
        <p:nvSpPr>
          <p:cNvPr id="13316" name="Rectangle 12"/>
          <p:cNvSpPr>
            <a:spLocks noChangeArrowheads="1"/>
          </p:cNvSpPr>
          <p:nvPr/>
        </p:nvSpPr>
        <p:spPr bwMode="auto">
          <a:xfrm>
            <a:off x="1062038" y="1587500"/>
            <a:ext cx="2484437" cy="430213"/>
          </a:xfrm>
          <a:prstGeom prst="rect">
            <a:avLst/>
          </a:prstGeom>
          <a:noFill/>
          <a:ln w="9525">
            <a:noFill/>
            <a:miter lim="800000"/>
          </a:ln>
        </p:spPr>
        <p:txBody>
          <a:bodyPr wrap="none">
            <a:spAutoFit/>
          </a:bodyPr>
          <a:lstStyle/>
          <a:p>
            <a:r>
              <a:rPr lang="en-US" altLang="zh-CN" sz="2200" b="1">
                <a:solidFill>
                  <a:srgbClr val="CC0000"/>
                </a:solidFill>
              </a:rPr>
              <a:t>3. </a:t>
            </a:r>
            <a:r>
              <a:rPr lang="zh-CN" altLang="en-US" sz="2200" b="1">
                <a:solidFill>
                  <a:srgbClr val="CC0000"/>
                </a:solidFill>
              </a:rPr>
              <a:t>身份认证的作用</a:t>
            </a:r>
            <a:endParaRPr lang="zh-CN" altLang="en-US" sz="2200" b="1">
              <a:solidFill>
                <a:srgbClr val="CC0000"/>
              </a:solidFill>
            </a:endParaRPr>
          </a:p>
        </p:txBody>
      </p:sp>
      <p:pic>
        <p:nvPicPr>
          <p:cNvPr id="13317" name="Picture 11"/>
          <p:cNvPicPr>
            <a:picLocks noChangeAspect="1" noChangeArrowheads="1"/>
          </p:cNvPicPr>
          <p:nvPr/>
        </p:nvPicPr>
        <p:blipFill>
          <a:blip r:embed="rId1" cstate="print"/>
          <a:srcRect/>
          <a:stretch>
            <a:fillRect/>
          </a:stretch>
        </p:blipFill>
        <p:spPr bwMode="auto">
          <a:xfrm>
            <a:off x="3024188" y="4024313"/>
            <a:ext cx="3887787" cy="2657475"/>
          </a:xfrm>
          <a:prstGeom prst="rect">
            <a:avLst/>
          </a:prstGeom>
          <a:noFill/>
          <a:ln w="9525">
            <a:noFill/>
            <a:miter lim="800000"/>
            <a:headEnd/>
            <a:tailEnd/>
          </a:ln>
        </p:spPr>
      </p:pic>
      <p:sp>
        <p:nvSpPr>
          <p:cNvPr id="13318" name="Rectangle 12"/>
          <p:cNvSpPr>
            <a:spLocks noChangeArrowheads="1"/>
          </p:cNvSpPr>
          <p:nvPr/>
        </p:nvSpPr>
        <p:spPr bwMode="auto">
          <a:xfrm>
            <a:off x="3935413" y="6615113"/>
            <a:ext cx="2065337" cy="292100"/>
          </a:xfrm>
          <a:prstGeom prst="rect">
            <a:avLst/>
          </a:prstGeom>
          <a:noFill/>
          <a:ln w="9525">
            <a:noFill/>
            <a:miter lim="800000"/>
          </a:ln>
        </p:spPr>
        <p:txBody>
          <a:bodyPr wrap="none" anchor="ctr">
            <a:spAutoFit/>
          </a:bodyPr>
          <a:lstStyle/>
          <a:p>
            <a:pPr eaLnBrk="0" hangingPunct="0"/>
            <a:r>
              <a:rPr lang="zh-CN" altLang="en-US" sz="1300" b="1">
                <a:solidFill>
                  <a:srgbClr val="C00000"/>
                </a:solidFill>
              </a:rPr>
              <a:t>身份认证和访问控制过程 </a:t>
            </a:r>
            <a:endParaRPr lang="zh-CN" altLang="en-US" sz="1300" b="1">
              <a:solidFill>
                <a:srgbClr val="C00000"/>
              </a:solidFill>
            </a:endParaRPr>
          </a:p>
        </p:txBody>
      </p:sp>
      <p:sp>
        <p:nvSpPr>
          <p:cNvPr id="13319" name="矩形 1"/>
          <p:cNvSpPr>
            <a:spLocks noChangeArrowheads="1"/>
          </p:cNvSpPr>
          <p:nvPr/>
        </p:nvSpPr>
        <p:spPr bwMode="auto">
          <a:xfrm>
            <a:off x="4857750" y="5105400"/>
            <a:ext cx="574675" cy="676275"/>
          </a:xfrm>
          <a:prstGeom prst="rect">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txBox="1">
            <a:spLocks noChangeArrowheads="1"/>
          </p:cNvSpPr>
          <p:nvPr/>
        </p:nvSpPr>
        <p:spPr bwMode="auto">
          <a:xfrm>
            <a:off x="468313" y="115888"/>
            <a:ext cx="8305800" cy="563562"/>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sz="3200" dirty="0"/>
          </a:p>
        </p:txBody>
      </p:sp>
      <p:sp>
        <p:nvSpPr>
          <p:cNvPr id="14" name="内容占位符 13"/>
          <p:cNvSpPr>
            <a:spLocks noGrp="1"/>
          </p:cNvSpPr>
          <p:nvPr>
            <p:ph idx="4294967295"/>
          </p:nvPr>
        </p:nvSpPr>
        <p:spPr>
          <a:xfrm>
            <a:off x="538163" y="1204913"/>
            <a:ext cx="5329237" cy="587375"/>
          </a:xfrm>
        </p:spPr>
        <p:txBody>
          <a:bodyPr/>
          <a:lstStyle/>
          <a:p>
            <a:pPr>
              <a:buFont typeface="Wingdings" panose="05000000000000000000" pitchFamily="2" charset="2"/>
              <a:buNone/>
              <a:defRPr/>
            </a:pPr>
            <a:r>
              <a:rPr lang="en-US" altLang="zh-CN" sz="2800" dirty="0" smtClean="0">
                <a:solidFill>
                  <a:srgbClr val="FF0000"/>
                </a:solidFill>
                <a:effectLst>
                  <a:outerShdw blurRad="38100" dist="38100" dir="2700000" algn="tl">
                    <a:srgbClr val="C0C0C0"/>
                  </a:outerShdw>
                </a:effectLst>
              </a:rPr>
              <a:t>6.2.1 </a:t>
            </a:r>
            <a:r>
              <a:rPr lang="zh-CN" altLang="en-US" sz="2800" dirty="0">
                <a:solidFill>
                  <a:srgbClr val="FF0000"/>
                </a:solidFill>
                <a:effectLst>
                  <a:outerShdw blurRad="38100" dist="38100" dir="2700000" algn="tl">
                    <a:srgbClr val="C0C0C0"/>
                  </a:outerShdw>
                </a:effectLst>
              </a:rPr>
              <a:t>身份认证常用方式</a:t>
            </a:r>
            <a:endParaRPr lang="en-US" altLang="zh-CN" sz="1800" dirty="0">
              <a:effectLst>
                <a:outerShdw blurRad="38100" dist="38100" dir="2700000" algn="tl">
                  <a:srgbClr val="C0C0C0"/>
                </a:outerShdw>
              </a:effectLst>
            </a:endParaRPr>
          </a:p>
        </p:txBody>
      </p:sp>
      <p:sp>
        <p:nvSpPr>
          <p:cNvPr id="19" name="圆角矩形 18"/>
          <p:cNvSpPr/>
          <p:nvPr/>
        </p:nvSpPr>
        <p:spPr bwMode="gray">
          <a:xfrm>
            <a:off x="468313" y="1700808"/>
            <a:ext cx="8064500" cy="49809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lnSpc>
                <a:spcPct val="90000"/>
              </a:lnSpc>
              <a:spcBef>
                <a:spcPts val="600"/>
              </a:spcBef>
              <a:defRPr/>
            </a:pPr>
            <a:r>
              <a:rPr lang="en-US" altLang="zh-CN" sz="2300" b="1" dirty="0">
                <a:solidFill>
                  <a:srgbClr val="CC0000"/>
                </a:solidFill>
                <a:latin typeface="Arial" panose="020B0604020202020204" pitchFamily="34" charset="0"/>
              </a:rPr>
              <a:t>  1. </a:t>
            </a:r>
            <a:r>
              <a:rPr lang="zh-CN" altLang="en-US" sz="2300" b="1" dirty="0">
                <a:solidFill>
                  <a:srgbClr val="CC0000"/>
                </a:solidFill>
                <a:latin typeface="Arial" panose="020B0604020202020204" pitchFamily="34" charset="0"/>
              </a:rPr>
              <a:t>静态密码方式</a:t>
            </a:r>
            <a:endParaRPr lang="en-US" altLang="zh-CN" sz="2300" b="1" dirty="0">
              <a:solidFill>
                <a:srgbClr val="CC0000"/>
              </a:solidFill>
              <a:latin typeface="Arial" panose="020B0604020202020204" pitchFamily="34" charset="0"/>
            </a:endParaRPr>
          </a:p>
          <a:p>
            <a:pPr algn="just">
              <a:lnSpc>
                <a:spcPct val="90000"/>
              </a:lnSpc>
              <a:spcBef>
                <a:spcPts val="600"/>
              </a:spcBef>
              <a:spcAft>
                <a:spcPts val="600"/>
              </a:spcAft>
              <a:defRPr/>
            </a:pPr>
            <a:r>
              <a:rPr lang="zh-CN" altLang="en-US" sz="2300" b="1" dirty="0">
                <a:solidFill>
                  <a:schemeClr val="tx2"/>
                </a:solidFill>
                <a:latin typeface="Arial" panose="020B0604020202020204" pitchFamily="34" charset="0"/>
              </a:rPr>
              <a:t>       </a:t>
            </a:r>
            <a:r>
              <a:rPr lang="zh-CN" altLang="en-US" sz="2000" b="1" dirty="0">
                <a:solidFill>
                  <a:srgbClr val="FF0000"/>
                </a:solidFill>
                <a:latin typeface="Arial" panose="020B0604020202020204" pitchFamily="34" charset="0"/>
              </a:rPr>
              <a:t>静态密码方式</a:t>
            </a:r>
            <a:r>
              <a:rPr lang="zh-CN" altLang="en-US" sz="2000" b="1" dirty="0">
                <a:solidFill>
                  <a:schemeClr val="tx2"/>
                </a:solidFill>
                <a:latin typeface="Arial" panose="020B0604020202020204" pitchFamily="34" charset="0"/>
              </a:rPr>
              <a:t>是指以用户名及密码认证的方式，用户名</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密码方式是最简单、最常用的身份认证方法，是基于“你知道什么”的验证手段。</a:t>
            </a:r>
            <a:endParaRPr lang="en-US" altLang="zh-CN" sz="2000" b="1" dirty="0">
              <a:solidFill>
                <a:schemeClr val="tx2"/>
              </a:solidFill>
              <a:latin typeface="Arial" panose="020B0604020202020204" pitchFamily="34" charset="0"/>
            </a:endParaRPr>
          </a:p>
          <a:p>
            <a:pPr indent="457200" algn="just">
              <a:lnSpc>
                <a:spcPct val="90000"/>
              </a:lnSpc>
              <a:spcBef>
                <a:spcPts val="600"/>
              </a:spcBef>
              <a:defRPr/>
            </a:pPr>
            <a:r>
              <a:rPr lang="en-US" altLang="zh-CN" sz="2300" b="1" dirty="0">
                <a:solidFill>
                  <a:srgbClr val="CC0000"/>
                </a:solidFill>
                <a:latin typeface="Arial" panose="020B0604020202020204" pitchFamily="34" charset="0"/>
              </a:rPr>
              <a:t>  2.</a:t>
            </a:r>
            <a:r>
              <a:rPr lang="zh-CN" altLang="en-US" sz="2300" b="1" dirty="0">
                <a:solidFill>
                  <a:srgbClr val="CC0000"/>
                </a:solidFill>
                <a:latin typeface="Arial" panose="020B0604020202020204" pitchFamily="34" charset="0"/>
              </a:rPr>
              <a:t>动态口令认证</a:t>
            </a:r>
            <a:endParaRPr lang="en-US" altLang="zh-CN" sz="2300" b="1" dirty="0">
              <a:solidFill>
                <a:srgbClr val="CC0000"/>
              </a:solidFill>
              <a:latin typeface="Arial" panose="020B0604020202020204" pitchFamily="34" charset="0"/>
            </a:endParaRPr>
          </a:p>
          <a:p>
            <a:pPr algn="just">
              <a:lnSpc>
                <a:spcPct val="90000"/>
              </a:lnSpc>
              <a:spcBef>
                <a:spcPts val="600"/>
              </a:spcBef>
              <a:defRPr/>
            </a:pPr>
            <a:r>
              <a:rPr lang="zh-CN" altLang="en-US" sz="2000" b="1" dirty="0">
                <a:solidFill>
                  <a:srgbClr val="CC0000"/>
                </a:solidFill>
                <a:latin typeface="Arial" panose="020B0604020202020204" pitchFamily="34" charset="0"/>
              </a:rPr>
              <a:t>        </a:t>
            </a:r>
            <a:r>
              <a:rPr lang="zh-CN" altLang="en-US" sz="2000" b="1" dirty="0">
                <a:solidFill>
                  <a:srgbClr val="FF0000"/>
                </a:solidFill>
                <a:latin typeface="Arial" panose="020B0604020202020204" pitchFamily="34" charset="0"/>
              </a:rPr>
              <a:t>动态口令</a:t>
            </a:r>
            <a:r>
              <a:rPr lang="zh-CN" altLang="en-US" sz="2000" b="1" dirty="0">
                <a:solidFill>
                  <a:schemeClr val="tx2"/>
                </a:solidFill>
                <a:latin typeface="Arial" panose="020B0604020202020204" pitchFamily="34" charset="0"/>
              </a:rPr>
              <a:t>是应用最广的一种身份识别方式，主要有动态短信密码和动态口令牌（卡）</a:t>
            </a:r>
            <a:r>
              <a:rPr lang="zh-CN" altLang="en-US" sz="2000" b="1" dirty="0">
                <a:solidFill>
                  <a:srgbClr val="800000"/>
                </a:solidFill>
                <a:latin typeface="Arial" panose="020B0604020202020204" pitchFamily="34" charset="0"/>
              </a:rPr>
              <a:t>两种方式</a:t>
            </a:r>
            <a:r>
              <a:rPr lang="zh-CN" altLang="en-US" sz="2000" b="1" dirty="0">
                <a:solidFill>
                  <a:schemeClr val="tx2"/>
                </a:solidFill>
                <a:latin typeface="Arial" panose="020B0604020202020204" pitchFamily="34" charset="0"/>
              </a:rPr>
              <a:t>，口令一次一密。前者是将系统发给用户注册手机的动态短信密码进行身份认证。后者则以发给</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机构</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用户动态口令牌进行认证。</a:t>
            </a:r>
            <a:endParaRPr lang="en-US" altLang="zh-CN" sz="2000" b="1" dirty="0">
              <a:solidFill>
                <a:schemeClr val="tx2"/>
              </a:solidFill>
              <a:latin typeface="Arial" panose="020B0604020202020204" pitchFamily="34" charset="0"/>
            </a:endParaRPr>
          </a:p>
          <a:p>
            <a:pPr indent="457200" algn="just">
              <a:lnSpc>
                <a:spcPct val="90000"/>
              </a:lnSpc>
              <a:spcBef>
                <a:spcPts val="600"/>
              </a:spcBef>
              <a:defRPr/>
            </a:pPr>
            <a:r>
              <a:rPr lang="en-US" altLang="zh-CN" sz="2300" b="1" dirty="0">
                <a:solidFill>
                  <a:srgbClr val="CC0000"/>
                </a:solidFill>
                <a:latin typeface="Arial" panose="020B0604020202020204" pitchFamily="34" charset="0"/>
              </a:rPr>
              <a:t>  3. USB Key</a:t>
            </a:r>
            <a:r>
              <a:rPr lang="zh-CN" altLang="en-US" sz="2300" b="1" dirty="0">
                <a:solidFill>
                  <a:srgbClr val="CC0000"/>
                </a:solidFill>
                <a:latin typeface="Arial" panose="020B0604020202020204" pitchFamily="34" charset="0"/>
              </a:rPr>
              <a:t>认证</a:t>
            </a:r>
            <a:endParaRPr lang="zh-CN" altLang="en-US" sz="2300" b="1" dirty="0">
              <a:solidFill>
                <a:srgbClr val="CC0000"/>
              </a:solidFill>
              <a:latin typeface="Arial" panose="020B0604020202020204" pitchFamily="34" charset="0"/>
            </a:endParaRPr>
          </a:p>
          <a:p>
            <a:pPr algn="just">
              <a:lnSpc>
                <a:spcPct val="90000"/>
              </a:lnSpc>
              <a:spcBef>
                <a:spcPts val="600"/>
              </a:spcBef>
              <a:spcAft>
                <a:spcPts val="600"/>
              </a:spcAft>
              <a:defRPr/>
            </a:pPr>
            <a:r>
              <a:rPr lang="zh-CN" altLang="en-US" sz="2300" b="1" dirty="0">
                <a:solidFill>
                  <a:schemeClr val="tx2"/>
                </a:solidFill>
                <a:latin typeface="Arial" panose="020B0604020202020204" pitchFamily="34" charset="0"/>
              </a:rPr>
              <a:t>       </a:t>
            </a:r>
            <a:r>
              <a:rPr lang="zh-CN" altLang="en-US" sz="2000" b="1" dirty="0">
                <a:solidFill>
                  <a:schemeClr val="tx2"/>
                </a:solidFill>
                <a:latin typeface="Arial" panose="020B0604020202020204" pitchFamily="34" charset="0"/>
              </a:rPr>
              <a:t>采用软硬件相结合、一次一密的强双因素</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两种认证方法</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认证模式</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其身份认证系统有两种认证模式：基于</a:t>
            </a:r>
            <a:r>
              <a:rPr lang="en-US" altLang="zh-CN" sz="2000" b="1" dirty="0">
                <a:solidFill>
                  <a:srgbClr val="C00000"/>
                </a:solidFill>
                <a:latin typeface="Arial" panose="020B0604020202020204" pitchFamily="34" charset="0"/>
              </a:rPr>
              <a:t>PKI</a:t>
            </a:r>
            <a:r>
              <a:rPr lang="zh-CN" altLang="en-US" sz="2000" b="1" dirty="0">
                <a:solidFill>
                  <a:srgbClr val="C00000"/>
                </a:solidFill>
                <a:latin typeface="Arial" panose="020B0604020202020204" pitchFamily="34" charset="0"/>
              </a:rPr>
              <a:t>体系</a:t>
            </a:r>
            <a:r>
              <a:rPr lang="zh-CN" altLang="en-US" sz="2000" b="1" dirty="0">
                <a:solidFill>
                  <a:schemeClr val="tx2"/>
                </a:solidFill>
                <a:latin typeface="Arial" panose="020B0604020202020204" pitchFamily="34" charset="0"/>
              </a:rPr>
              <a:t>的认证模式、基于冲击</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响应模式</a:t>
            </a:r>
            <a:r>
              <a:rPr lang="zh-CN" altLang="en-US" sz="2000" b="1" dirty="0" smtClean="0">
                <a:solidFill>
                  <a:schemeClr val="tx2"/>
                </a:solidFill>
                <a:latin typeface="Arial" panose="020B0604020202020204" pitchFamily="34" charset="0"/>
              </a:rPr>
              <a:t>。</a:t>
            </a:r>
            <a:endParaRPr lang="en-US" altLang="zh-CN" sz="2000" b="1" dirty="0" smtClean="0">
              <a:solidFill>
                <a:schemeClr val="tx2"/>
              </a:solidFill>
              <a:latin typeface="Arial" panose="020B0604020202020204" pitchFamily="34" charset="0"/>
            </a:endParaRPr>
          </a:p>
          <a:p>
            <a:pPr>
              <a:lnSpc>
                <a:spcPct val="90000"/>
              </a:lnSpc>
              <a:spcBef>
                <a:spcPts val="600"/>
              </a:spcBef>
              <a:spcAft>
                <a:spcPts val="600"/>
              </a:spcAft>
              <a:defRPr/>
            </a:pPr>
            <a:r>
              <a:rPr lang="en-US" altLang="zh-CN" sz="2000" b="1" dirty="0"/>
              <a:t>USB-KEY</a:t>
            </a:r>
            <a:r>
              <a:rPr lang="zh-CN" altLang="en-US" sz="2000" b="1" dirty="0"/>
              <a:t>原理简要</a:t>
            </a:r>
            <a:r>
              <a:rPr lang="zh-CN" altLang="en-US" sz="2000" b="1" dirty="0" smtClean="0"/>
              <a:t>说明参看</a:t>
            </a:r>
            <a:r>
              <a:rPr lang="en-US" altLang="zh-CN" sz="2000" b="1" dirty="0" smtClean="0">
                <a:hlinkClick r:id="rId1"/>
              </a:rPr>
              <a:t>https</a:t>
            </a:r>
            <a:r>
              <a:rPr lang="en-US" altLang="zh-CN" sz="2000" b="1" dirty="0">
                <a:hlinkClick r:id="rId1"/>
              </a:rPr>
              <a:t>://</a:t>
            </a:r>
            <a:r>
              <a:rPr lang="en-US" altLang="zh-CN" sz="2000" b="1" dirty="0" smtClean="0">
                <a:hlinkClick r:id="rId1"/>
              </a:rPr>
              <a:t>blog.csdn.net/andycode/article/details/6605366</a:t>
            </a:r>
            <a:endParaRPr lang="zh-CN" altLang="en-US" sz="2300" b="1" dirty="0">
              <a:solidFill>
                <a:schemeClr val="tx2"/>
              </a:solidFill>
              <a:latin typeface="Arial" panose="020B0604020202020204" pitchFamily="34" charset="0"/>
            </a:endParaRPr>
          </a:p>
        </p:txBody>
      </p:sp>
      <p:sp>
        <p:nvSpPr>
          <p:cNvPr id="14340" name="内容占位符 13"/>
          <p:cNvSpPr>
            <a:spLocks noChangeArrowheads="1"/>
          </p:cNvSpPr>
          <p:nvPr/>
        </p:nvSpPr>
        <p:spPr bwMode="auto">
          <a:xfrm>
            <a:off x="544513" y="1358900"/>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4341" name="文本框 1"/>
          <p:cNvSpPr txBox="1">
            <a:spLocks noChangeArrowheads="1"/>
          </p:cNvSpPr>
          <p:nvPr/>
        </p:nvSpPr>
        <p:spPr bwMode="auto">
          <a:xfrm>
            <a:off x="4788024" y="5661248"/>
            <a:ext cx="3022600" cy="641350"/>
          </a:xfrm>
          <a:prstGeom prst="rect">
            <a:avLst/>
          </a:prstGeom>
          <a:solidFill>
            <a:srgbClr val="FFFF99"/>
          </a:solidFill>
          <a:ln w="9525">
            <a:solidFill>
              <a:schemeClr val="accent1"/>
            </a:solidFill>
            <a:round/>
          </a:ln>
        </p:spPr>
        <p:txBody>
          <a:bodyPr>
            <a:spAutoFit/>
          </a:bodyPr>
          <a:lstStyle/>
          <a:p>
            <a:r>
              <a:rPr lang="zh-CN" altLang="en-US" sz="1200" b="1">
                <a:solidFill>
                  <a:srgbClr val="FF0000"/>
                </a:solidFill>
              </a:rPr>
              <a:t>公钥基础设施</a:t>
            </a:r>
            <a:r>
              <a:rPr lang="zh-CN" altLang="en-US" sz="1200"/>
              <a:t>是由公开密钥密码技术、数字证书、证书认证中心和公开密钥安全策略等</a:t>
            </a:r>
            <a:r>
              <a:rPr lang="zh-CN" altLang="en-US" sz="1200">
                <a:solidFill>
                  <a:srgbClr val="C00000"/>
                </a:solidFill>
              </a:rPr>
              <a:t>组成</a:t>
            </a:r>
            <a:r>
              <a:rPr lang="zh-CN" altLang="en-US" sz="1200"/>
              <a:t>，管理密钥和证书的</a:t>
            </a:r>
            <a:r>
              <a:rPr lang="zh-CN" altLang="en-US" sz="1200">
                <a:solidFill>
                  <a:srgbClr val="C00000"/>
                </a:solidFill>
              </a:rPr>
              <a:t>系统或平台</a:t>
            </a:r>
            <a:endParaRPr lang="zh-CN" altLang="en-US" sz="1200">
              <a:solidFill>
                <a:srgbClr val="C00000"/>
              </a:solidFill>
            </a:endParaRPr>
          </a:p>
        </p:txBody>
      </p:sp>
      <p:sp>
        <p:nvSpPr>
          <p:cNvPr id="14342" name="文本框 2"/>
          <p:cNvSpPr txBox="1">
            <a:spLocks noChangeArrowheads="1"/>
          </p:cNvSpPr>
          <p:nvPr/>
        </p:nvSpPr>
        <p:spPr bwMode="auto">
          <a:xfrm>
            <a:off x="5580112" y="4738614"/>
            <a:ext cx="1701800" cy="274637"/>
          </a:xfrm>
          <a:prstGeom prst="rect">
            <a:avLst/>
          </a:prstGeom>
          <a:solidFill>
            <a:srgbClr val="FFFF99"/>
          </a:solidFill>
          <a:ln w="9525">
            <a:solidFill>
              <a:schemeClr val="accent1"/>
            </a:solidFill>
            <a:round/>
          </a:ln>
        </p:spPr>
        <p:txBody>
          <a:bodyPr>
            <a:spAutoFit/>
          </a:bodyPr>
          <a:lstStyle/>
          <a:p>
            <a:r>
              <a:rPr lang="zh-CN" altLang="en-US" sz="1200">
                <a:solidFill>
                  <a:srgbClr val="C00000"/>
                </a:solidFill>
              </a:rPr>
              <a:t>数字证书</a:t>
            </a:r>
            <a:r>
              <a:rPr lang="en-US" altLang="zh-CN" sz="1200">
                <a:solidFill>
                  <a:srgbClr val="C00000"/>
                </a:solidFill>
              </a:rPr>
              <a:t>+</a:t>
            </a:r>
            <a:r>
              <a:rPr lang="zh-CN" altLang="en-US" sz="1200">
                <a:solidFill>
                  <a:srgbClr val="C00000"/>
                </a:solidFill>
              </a:rPr>
              <a:t>支付密码</a:t>
            </a:r>
            <a:endParaRPr lang="zh-CN" altLang="en-US" sz="120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txBox="1">
            <a:spLocks noChangeArrowheads="1"/>
          </p:cNvSpPr>
          <p:nvPr/>
        </p:nvSpPr>
        <p:spPr bwMode="auto">
          <a:xfrm>
            <a:off x="468313" y="115888"/>
            <a:ext cx="8305800" cy="563562"/>
          </a:xfrm>
          <a:prstGeom prst="rect">
            <a:avLst/>
          </a:prstGeom>
          <a:noFill/>
          <a:ln w="9525">
            <a:noFill/>
            <a:miter lim="800000"/>
          </a:ln>
        </p:spPr>
        <p:txBody>
          <a:bodyPr anchor="ctr"/>
          <a:lstStyle/>
          <a:p>
            <a:pPr algn="ctr"/>
            <a:r>
              <a:rPr lang="en-US" altLang="zh-CN" sz="3200" b="1" dirty="0">
                <a:solidFill>
                  <a:schemeClr val="bg1"/>
                </a:solidFill>
              </a:rPr>
              <a:t>6.1 </a:t>
            </a:r>
            <a:r>
              <a:rPr lang="zh-CN" altLang="en-US" sz="3200" b="1" dirty="0">
                <a:solidFill>
                  <a:schemeClr val="bg1"/>
                </a:solidFill>
              </a:rPr>
              <a:t>身份认证基础</a:t>
            </a:r>
            <a:endParaRPr lang="zh-CN" altLang="en-US" sz="3200" dirty="0"/>
          </a:p>
        </p:txBody>
      </p:sp>
      <p:sp>
        <p:nvSpPr>
          <p:cNvPr id="19" name="圆角矩形 18"/>
          <p:cNvSpPr/>
          <p:nvPr/>
        </p:nvSpPr>
        <p:spPr bwMode="gray">
          <a:xfrm>
            <a:off x="588963" y="1639888"/>
            <a:ext cx="8064500" cy="26638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5000"/>
              </a:spcBef>
              <a:spcAft>
                <a:spcPct val="5000"/>
              </a:spcAft>
              <a:buFont typeface="Arial" panose="020B0604020202020204" pitchFamily="34" charset="0"/>
              <a:buNone/>
              <a:defRPr/>
            </a:pPr>
            <a:r>
              <a:rPr lang="en-US" altLang="zh-CN" sz="2300" b="1" dirty="0">
                <a:solidFill>
                  <a:srgbClr val="C00000"/>
                </a:solidFill>
                <a:latin typeface="Arial" panose="020B0604020202020204" pitchFamily="34" charset="0"/>
                <a:sym typeface="宋体" panose="02010600030101010101" pitchFamily="2" charset="-122"/>
              </a:rPr>
              <a:t>     4. </a:t>
            </a:r>
            <a:r>
              <a:rPr lang="zh-CN" altLang="en-US" sz="2300" b="1" dirty="0">
                <a:solidFill>
                  <a:srgbClr val="C00000"/>
                </a:solidFill>
                <a:latin typeface="Arial" panose="020B0604020202020204" pitchFamily="34" charset="0"/>
                <a:sym typeface="宋体" panose="02010600030101010101" pitchFamily="2" charset="-122"/>
              </a:rPr>
              <a:t>生物识别技术</a:t>
            </a:r>
            <a:endParaRPr lang="zh-CN" altLang="en-US" sz="2300" b="1" dirty="0">
              <a:solidFill>
                <a:srgbClr val="C00000"/>
              </a:solidFill>
              <a:latin typeface="Arial" panose="020B0604020202020204" pitchFamily="34" charset="0"/>
            </a:endParaRPr>
          </a:p>
          <a:p>
            <a:pPr>
              <a:lnSpc>
                <a:spcPct val="105000"/>
              </a:lnSpc>
              <a:spcBef>
                <a:spcPct val="15000"/>
              </a:spcBef>
              <a:buFont typeface="Arial" panose="020B0604020202020204" pitchFamily="34" charset="0"/>
              <a:buNone/>
              <a:defRPr/>
            </a:pPr>
            <a:r>
              <a:rPr lang="zh-CN" altLang="en-US" sz="2300" b="1" dirty="0">
                <a:solidFill>
                  <a:schemeClr val="tx1"/>
                </a:solidFill>
                <a:latin typeface="Arial" panose="020B0604020202020204" pitchFamily="34" charset="0"/>
                <a:sym typeface="宋体" panose="02010600030101010101" pitchFamily="2" charset="-122"/>
              </a:rPr>
              <a:t>      </a:t>
            </a:r>
            <a:r>
              <a:rPr lang="zh-CN" altLang="en-US" sz="2300" b="1" dirty="0">
                <a:solidFill>
                  <a:schemeClr val="tx2"/>
                </a:solidFill>
                <a:latin typeface="Arial" panose="020B0604020202020204" pitchFamily="34" charset="0"/>
                <a:sym typeface="宋体" panose="02010600030101010101" pitchFamily="2" charset="-122"/>
              </a:rPr>
              <a:t>是指通过可测量的身体或行为等</a:t>
            </a:r>
            <a:r>
              <a:rPr lang="zh-CN" altLang="en-US" sz="2300" b="1" dirty="0">
                <a:solidFill>
                  <a:srgbClr val="C00000"/>
                </a:solidFill>
                <a:latin typeface="Arial" panose="020B0604020202020204" pitchFamily="34" charset="0"/>
                <a:sym typeface="宋体" panose="02010600030101010101" pitchFamily="2" charset="-122"/>
              </a:rPr>
              <a:t>生物特征信息</a:t>
            </a:r>
            <a:r>
              <a:rPr lang="zh-CN" altLang="en-US" sz="2300" b="1" dirty="0">
                <a:solidFill>
                  <a:schemeClr val="tx2"/>
                </a:solidFill>
                <a:latin typeface="Arial" panose="020B0604020202020204" pitchFamily="34" charset="0"/>
                <a:sym typeface="宋体" panose="02010600030101010101" pitchFamily="2" charset="-122"/>
              </a:rPr>
              <a:t>进行身份认证的技术。</a:t>
            </a:r>
            <a:endParaRPr lang="zh-CN" altLang="en-US" sz="2300" b="1" dirty="0">
              <a:solidFill>
                <a:schemeClr val="tx2"/>
              </a:solidFill>
              <a:latin typeface="Arial" panose="020B0604020202020204" pitchFamily="34" charset="0"/>
            </a:endParaRPr>
          </a:p>
          <a:p>
            <a:pPr marL="800100" lvl="1" indent="-342900">
              <a:lnSpc>
                <a:spcPct val="105000"/>
              </a:lnSpc>
              <a:spcBef>
                <a:spcPct val="15000"/>
              </a:spcBef>
              <a:buFont typeface="Wingdings" panose="05000000000000000000" pitchFamily="2" charset="2"/>
              <a:buChar char="p"/>
              <a:defRPr/>
            </a:pPr>
            <a:r>
              <a:rPr lang="zh-CN" altLang="en-US" sz="2000" b="1" dirty="0">
                <a:solidFill>
                  <a:srgbClr val="C00000"/>
                </a:solidFill>
                <a:latin typeface="Arial" panose="020B0604020202020204" pitchFamily="34" charset="0"/>
                <a:sym typeface="宋体" panose="02010600030101010101" pitchFamily="2" charset="-122"/>
              </a:rPr>
              <a:t>身体特征</a:t>
            </a:r>
            <a:r>
              <a:rPr lang="zh-CN" altLang="en-US" sz="2000" b="1" dirty="0">
                <a:solidFill>
                  <a:schemeClr val="tx2"/>
                </a:solidFill>
                <a:latin typeface="Arial" panose="020B0604020202020204" pitchFamily="34" charset="0"/>
                <a:sym typeface="宋体" panose="02010600030101010101" pitchFamily="2" charset="-122"/>
              </a:rPr>
              <a:t>包括：指纹、掌形、虹膜、视网膜、人脸、</a:t>
            </a:r>
            <a:r>
              <a:rPr lang="en-US" altLang="zh-CN" sz="2000" b="1" dirty="0">
                <a:solidFill>
                  <a:schemeClr val="tx2"/>
                </a:solidFill>
                <a:latin typeface="Arial" panose="020B0604020202020204" pitchFamily="34" charset="0"/>
                <a:sym typeface="宋体" panose="02010600030101010101" pitchFamily="2" charset="-122"/>
              </a:rPr>
              <a:t>DNA</a:t>
            </a:r>
            <a:r>
              <a:rPr lang="zh-CN" altLang="en-US" sz="2000" b="1" dirty="0">
                <a:solidFill>
                  <a:schemeClr val="tx2"/>
                </a:solidFill>
                <a:latin typeface="Arial" panose="020B0604020202020204" pitchFamily="34" charset="0"/>
                <a:sym typeface="宋体" panose="02010600030101010101" pitchFamily="2" charset="-122"/>
              </a:rPr>
              <a:t>和手的血管等；</a:t>
            </a:r>
            <a:endParaRPr lang="en-US" altLang="zh-CN" sz="2000" b="1" dirty="0">
              <a:solidFill>
                <a:schemeClr val="tx2"/>
              </a:solidFill>
              <a:latin typeface="Arial" panose="020B0604020202020204" pitchFamily="34" charset="0"/>
              <a:sym typeface="宋体" panose="02010600030101010101" pitchFamily="2" charset="-122"/>
            </a:endParaRPr>
          </a:p>
          <a:p>
            <a:pPr marL="800100" lvl="1" indent="-342900">
              <a:lnSpc>
                <a:spcPct val="105000"/>
              </a:lnSpc>
              <a:spcBef>
                <a:spcPct val="15000"/>
              </a:spcBef>
              <a:buFont typeface="Wingdings" panose="05000000000000000000" pitchFamily="2" charset="2"/>
              <a:buChar char="p"/>
              <a:defRPr/>
            </a:pPr>
            <a:r>
              <a:rPr lang="zh-CN" altLang="en-US" sz="2000" b="1" dirty="0">
                <a:solidFill>
                  <a:srgbClr val="C00000"/>
                </a:solidFill>
                <a:latin typeface="Arial" panose="020B0604020202020204" pitchFamily="34" charset="0"/>
                <a:sym typeface="宋体" panose="02010600030101010101" pitchFamily="2" charset="-122"/>
              </a:rPr>
              <a:t>行为特征</a:t>
            </a:r>
            <a:r>
              <a:rPr lang="zh-CN" altLang="en-US" sz="2000" b="1" dirty="0">
                <a:solidFill>
                  <a:schemeClr val="tx2"/>
                </a:solidFill>
                <a:latin typeface="Arial" panose="020B0604020202020204" pitchFamily="34" charset="0"/>
                <a:sym typeface="宋体" panose="02010600030101010101" pitchFamily="2" charset="-122"/>
              </a:rPr>
              <a:t>包括：签名、语音、行走步态、击键特征、情境感知等。</a:t>
            </a:r>
            <a:endParaRPr lang="en-US" altLang="zh-CN" b="1" dirty="0">
              <a:solidFill>
                <a:schemeClr val="tx2"/>
              </a:solidFill>
              <a:latin typeface="Arial" panose="020B0604020202020204" pitchFamily="34" charset="0"/>
            </a:endParaRPr>
          </a:p>
        </p:txBody>
      </p:sp>
      <p:sp>
        <p:nvSpPr>
          <p:cNvPr id="15363" name="内容占位符 13"/>
          <p:cNvSpPr>
            <a:spLocks noChangeArrowheads="1"/>
          </p:cNvSpPr>
          <p:nvPr/>
        </p:nvSpPr>
        <p:spPr bwMode="auto">
          <a:xfrm>
            <a:off x="395288" y="1543050"/>
            <a:ext cx="8153400" cy="4437063"/>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8" name="内容占位符 13"/>
          <p:cNvSpPr txBox="1"/>
          <p:nvPr/>
        </p:nvSpPr>
        <p:spPr bwMode="auto">
          <a:xfrm>
            <a:off x="250825" y="1052513"/>
            <a:ext cx="5329238" cy="587375"/>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defRPr/>
            </a:pPr>
            <a:r>
              <a:rPr lang="en-US" altLang="zh-CN" sz="2800" b="1" kern="0" dirty="0" smtClean="0">
                <a:solidFill>
                  <a:srgbClr val="FF0000"/>
                </a:solidFill>
                <a:effectLst>
                  <a:outerShdw blurRad="38100" dist="38100" dir="2700000" algn="tl">
                    <a:srgbClr val="C0C0C0"/>
                  </a:outerShdw>
                </a:effectLst>
                <a:latin typeface="+mn-lt"/>
                <a:ea typeface="+mn-ea"/>
              </a:rPr>
              <a:t>6.2.1 </a:t>
            </a:r>
            <a:r>
              <a:rPr lang="zh-CN" altLang="en-US" sz="2800" b="1" kern="0" dirty="0">
                <a:solidFill>
                  <a:srgbClr val="FF0000"/>
                </a:solidFill>
                <a:effectLst>
                  <a:outerShdw blurRad="38100" dist="38100" dir="2700000" algn="tl">
                    <a:srgbClr val="C0C0C0"/>
                  </a:outerShdw>
                </a:effectLst>
                <a:latin typeface="+mn-lt"/>
                <a:ea typeface="+mn-ea"/>
              </a:rPr>
              <a:t>常用网络身份认证方式</a:t>
            </a:r>
            <a:endParaRPr lang="en-US" altLang="zh-CN" b="1" kern="0" dirty="0">
              <a:solidFill>
                <a:schemeClr val="tx2"/>
              </a:solidFill>
              <a:effectLst>
                <a:outerShdw blurRad="38100" dist="38100" dir="2700000" algn="tl">
                  <a:srgbClr val="C0C0C0"/>
                </a:outerShdw>
              </a:effectLst>
              <a:latin typeface="+mn-lt"/>
              <a:ea typeface="+mn-ea"/>
            </a:endParaRPr>
          </a:p>
        </p:txBody>
      </p:sp>
      <p:graphicFrame>
        <p:nvGraphicFramePr>
          <p:cNvPr id="2" name="表格 1"/>
          <p:cNvGraphicFramePr>
            <a:graphicFrameLocks noGrp="1"/>
          </p:cNvGraphicFramePr>
          <p:nvPr/>
        </p:nvGraphicFramePr>
        <p:xfrm>
          <a:off x="1087438" y="4611688"/>
          <a:ext cx="6969125" cy="1975104"/>
        </p:xfrm>
        <a:graphic>
          <a:graphicData uri="http://schemas.openxmlformats.org/drawingml/2006/table">
            <a:tbl>
              <a:tblPr firstRow="1" firstCol="1" bandRow="1">
                <a:tableStyleId>{5C22544A-7EE6-4342-B048-85BDC9FD1C3A}</a:tableStyleId>
              </a:tblPr>
              <a:tblGrid>
                <a:gridCol w="1538611"/>
                <a:gridCol w="5430514"/>
              </a:tblGrid>
              <a:tr h="324115">
                <a:tc>
                  <a:txBody>
                    <a:bodyPr/>
                    <a:lstStyle/>
                    <a:p>
                      <a:pPr algn="ctr">
                        <a:lnSpc>
                          <a:spcPct val="120000"/>
                        </a:lnSpc>
                        <a:spcAft>
                          <a:spcPts val="0"/>
                        </a:spcAft>
                      </a:pPr>
                      <a:r>
                        <a:rPr lang="zh-CN" sz="1800" kern="100">
                          <a:effectLst/>
                        </a:rPr>
                        <a:t>应用领域</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kern="100">
                          <a:effectLst/>
                        </a:rPr>
                        <a:t>具体应用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公共安全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刑侦追逃、罪犯识别、边防安全</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信息安全</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计算机和网络的登录、文件的加密和解密</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政府职能</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电子政务、户籍管理、社会福利和保险</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商业企业</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电子商务、电子货币和支付、考勤、市场营销</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r h="324115">
                <a:tc>
                  <a:txBody>
                    <a:bodyPr/>
                    <a:lstStyle/>
                    <a:p>
                      <a:pPr algn="ctr">
                        <a:lnSpc>
                          <a:spcPct val="120000"/>
                        </a:lnSpc>
                        <a:spcAft>
                          <a:spcPts val="0"/>
                        </a:spcAft>
                      </a:pPr>
                      <a:r>
                        <a:rPr lang="zh-CN" sz="1800" kern="100">
                          <a:effectLst/>
                        </a:rPr>
                        <a:t>场所进出</a:t>
                      </a:r>
                      <a:endParaRPr lang="zh-CN" sz="2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c>
                  <a:txBody>
                    <a:bodyPr/>
                    <a:lstStyle/>
                    <a:p>
                      <a:pPr algn="ctr">
                        <a:lnSpc>
                          <a:spcPct val="120000"/>
                        </a:lnSpc>
                        <a:spcAft>
                          <a:spcPts val="0"/>
                        </a:spcAft>
                      </a:pPr>
                      <a:r>
                        <a:rPr lang="zh-CN" sz="1800" b="1" kern="100" dirty="0">
                          <a:effectLst/>
                        </a:rPr>
                        <a:t>军事机要部门、金融机构的门禁控制和进出管理等</a:t>
                      </a:r>
                      <a:endPar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0" marB="0"/>
                </a:tc>
              </a:tr>
            </a:tbl>
          </a:graphicData>
        </a:graphic>
      </p:graphicFrame>
      <p:sp>
        <p:nvSpPr>
          <p:cNvPr id="15388" name="Rectangle 9"/>
          <p:cNvSpPr>
            <a:spLocks noChangeArrowheads="1"/>
          </p:cNvSpPr>
          <p:nvPr/>
        </p:nvSpPr>
        <p:spPr bwMode="auto">
          <a:xfrm>
            <a:off x="3330575" y="4303713"/>
            <a:ext cx="3240088" cy="307975"/>
          </a:xfrm>
          <a:prstGeom prst="rect">
            <a:avLst/>
          </a:prstGeom>
          <a:noFill/>
          <a:ln w="9525">
            <a:noFill/>
            <a:miter lim="800000"/>
          </a:ln>
        </p:spPr>
        <p:txBody>
          <a:bodyPr anchor="ctr">
            <a:spAutoFit/>
          </a:bodyPr>
          <a:lstStyle/>
          <a:p>
            <a:pPr eaLnBrk="0" hangingPunct="0"/>
            <a:r>
              <a:rPr lang="en-US" altLang="zh-CN" sz="1400">
                <a:solidFill>
                  <a:srgbClr val="FF0000"/>
                </a:solidFill>
                <a:latin typeface="Times New Roman" panose="02020603050405020304" pitchFamily="18" charset="0"/>
              </a:rPr>
              <a:t> </a:t>
            </a:r>
            <a:r>
              <a:rPr lang="zh-CN" altLang="en-US" sz="1400" b="1">
                <a:solidFill>
                  <a:srgbClr val="FF0000"/>
                </a:solidFill>
                <a:latin typeface="Times New Roman" panose="02020603050405020304" pitchFamily="18" charset="0"/>
              </a:rPr>
              <a:t>人脸识别技术具体应用领域</a:t>
            </a:r>
            <a:endParaRPr lang="zh-CN" altLang="en-US" sz="36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sp>
        <p:nvSpPr>
          <p:cNvPr id="19" name="圆角矩形 18"/>
          <p:cNvSpPr/>
          <p:nvPr/>
        </p:nvSpPr>
        <p:spPr bwMode="gray">
          <a:xfrm>
            <a:off x="684213" y="1279525"/>
            <a:ext cx="8064500" cy="423770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05000"/>
              </a:lnSpc>
              <a:spcBef>
                <a:spcPct val="15000"/>
              </a:spcBef>
              <a:defRPr/>
            </a:pPr>
            <a:r>
              <a:rPr lang="en-US" altLang="zh-CN" sz="2300" b="1" dirty="0">
                <a:solidFill>
                  <a:srgbClr val="C00000"/>
                </a:solidFill>
                <a:latin typeface="Arial" panose="020B0604020202020204" pitchFamily="34" charset="0"/>
              </a:rPr>
              <a:t>        5. CA</a:t>
            </a:r>
            <a:r>
              <a:rPr lang="zh-CN" altLang="en-US" sz="2300" b="1" dirty="0">
                <a:solidFill>
                  <a:srgbClr val="C00000"/>
                </a:solidFill>
                <a:latin typeface="Arial" panose="020B0604020202020204" pitchFamily="34" charset="0"/>
              </a:rPr>
              <a:t>认证系统</a:t>
            </a:r>
            <a:endParaRPr lang="zh-CN" altLang="en-US" sz="2300" b="1" dirty="0">
              <a:solidFill>
                <a:srgbClr val="C00000"/>
              </a:solidFill>
              <a:latin typeface="Arial" panose="020B0604020202020204" pitchFamily="34" charset="0"/>
            </a:endParaRPr>
          </a:p>
          <a:p>
            <a:pPr>
              <a:lnSpc>
                <a:spcPct val="105000"/>
              </a:lnSpc>
              <a:spcBef>
                <a:spcPct val="15000"/>
              </a:spcBef>
              <a:defRPr/>
            </a:pPr>
            <a:r>
              <a:rPr lang="en-US" altLang="zh-CN" sz="2300" b="1" dirty="0">
                <a:solidFill>
                  <a:schemeClr val="tx1"/>
                </a:solidFill>
                <a:latin typeface="Arial" panose="020B0604020202020204" pitchFamily="34" charset="0"/>
              </a:rPr>
              <a:t>       </a:t>
            </a:r>
            <a:r>
              <a:rPr lang="en-US" altLang="zh-CN" sz="2300" b="1" dirty="0">
                <a:solidFill>
                  <a:srgbClr val="FF0000"/>
                </a:solidFill>
                <a:latin typeface="Arial" panose="020B0604020202020204" pitchFamily="34" charset="0"/>
              </a:rPr>
              <a:t>CA(Certification Authority)</a:t>
            </a:r>
            <a:r>
              <a:rPr lang="zh-CN" altLang="en-US" sz="2300" b="1" dirty="0">
                <a:solidFill>
                  <a:srgbClr val="FF0000"/>
                </a:solidFill>
                <a:latin typeface="Arial" panose="020B0604020202020204" pitchFamily="34" charset="0"/>
              </a:rPr>
              <a:t>认证</a:t>
            </a:r>
            <a:r>
              <a:rPr lang="zh-CN" altLang="en-US" sz="2300" b="1" dirty="0">
                <a:solidFill>
                  <a:schemeClr val="tx2"/>
                </a:solidFill>
                <a:latin typeface="Arial" panose="020B0604020202020204" pitchFamily="34" charset="0"/>
              </a:rPr>
              <a:t>是对网络用户身份证的</a:t>
            </a:r>
            <a:r>
              <a:rPr lang="zh-CN" altLang="en-US" sz="2300" b="1" dirty="0">
                <a:solidFill>
                  <a:srgbClr val="0000FF"/>
                </a:solidFill>
                <a:latin typeface="Arial" panose="020B0604020202020204" pitchFamily="34" charset="0"/>
              </a:rPr>
              <a:t>发放、管理</a:t>
            </a:r>
            <a:r>
              <a:rPr lang="zh-CN" altLang="en-US" sz="2300" b="1" dirty="0">
                <a:solidFill>
                  <a:schemeClr val="tx2"/>
                </a:solidFill>
                <a:latin typeface="Arial" panose="020B0604020202020204" pitchFamily="34" charset="0"/>
              </a:rPr>
              <a:t>和</a:t>
            </a:r>
            <a:r>
              <a:rPr lang="zh-CN" altLang="en-US" sz="2300" b="1" dirty="0">
                <a:solidFill>
                  <a:srgbClr val="0000FF"/>
                </a:solidFill>
                <a:latin typeface="Arial" panose="020B0604020202020204" pitchFamily="34" charset="0"/>
              </a:rPr>
              <a:t>确认验证</a:t>
            </a:r>
            <a:r>
              <a:rPr lang="zh-CN" altLang="en-US" sz="2300" b="1" dirty="0">
                <a:solidFill>
                  <a:schemeClr val="tx2"/>
                </a:solidFill>
                <a:latin typeface="Arial" panose="020B0604020202020204" pitchFamily="34" charset="0"/>
              </a:rPr>
              <a:t>的过程。</a:t>
            </a:r>
            <a:endParaRPr lang="zh-CN" altLang="en-US" sz="2300" b="1" dirty="0">
              <a:solidFill>
                <a:schemeClr val="tx2"/>
              </a:solidFill>
              <a:latin typeface="Arial" panose="020B0604020202020204" pitchFamily="34" charset="0"/>
            </a:endParaRPr>
          </a:p>
          <a:p>
            <a:pPr>
              <a:lnSpc>
                <a:spcPct val="95000"/>
              </a:lnSpc>
              <a:spcBef>
                <a:spcPts val="15"/>
              </a:spcBef>
              <a:spcAft>
                <a:spcPts val="0"/>
              </a:spcAft>
              <a:defRPr/>
            </a:pPr>
            <a:r>
              <a:rPr lang="zh-CN" altLang="en-US" sz="2300" b="1" dirty="0">
                <a:solidFill>
                  <a:srgbClr val="C00000"/>
                </a:solidFill>
                <a:latin typeface="Arial" panose="020B0604020202020204" pitchFamily="34" charset="0"/>
              </a:rPr>
              <a:t>      CA的主要职能</a:t>
            </a:r>
            <a:r>
              <a:rPr lang="zh-CN" altLang="en-US" sz="2300" b="1" dirty="0">
                <a:solidFill>
                  <a:schemeClr val="tx2"/>
                </a:solidFill>
                <a:latin typeface="Times New Roman" panose="02020603050405020304" pitchFamily="18" charset="0"/>
              </a:rPr>
              <a:t>体现在3个方面：</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（1）管理和维护客户的证书和证书作废表（CRL）。</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（2）维护整个认证过程的安全。</a:t>
            </a:r>
            <a:endParaRPr lang="zh-CN" altLang="en-US" sz="2300" b="1" dirty="0">
              <a:solidFill>
                <a:schemeClr val="tx2"/>
              </a:solidFill>
              <a:latin typeface="Times New Roman" panose="02020603050405020304" pitchFamily="18" charset="0"/>
            </a:endParaRPr>
          </a:p>
          <a:p>
            <a:pPr>
              <a:lnSpc>
                <a:spcPct val="95000"/>
              </a:lnSpc>
              <a:spcBef>
                <a:spcPts val="15"/>
              </a:spcBef>
              <a:spcAft>
                <a:spcPts val="0"/>
              </a:spcAft>
              <a:defRPr/>
            </a:pPr>
            <a:r>
              <a:rPr lang="zh-CN" altLang="en-US" sz="2300" b="1" dirty="0">
                <a:solidFill>
                  <a:schemeClr val="tx2"/>
                </a:solidFill>
                <a:latin typeface="Times New Roman" panose="02020603050405020304" pitchFamily="18" charset="0"/>
              </a:rPr>
              <a:t>    （3）提供安全审计的依据。</a:t>
            </a:r>
            <a:r>
              <a:rPr lang="zh-CN" altLang="en-US" sz="2300" b="1" dirty="0">
                <a:solidFill>
                  <a:schemeClr val="tx1"/>
                </a:solidFill>
                <a:latin typeface="Arial" panose="020B0604020202020204" pitchFamily="34" charset="0"/>
              </a:rPr>
              <a:t> </a:t>
            </a:r>
            <a:endParaRPr lang="en-US" altLang="zh-CN" sz="2300" b="1" dirty="0" smtClean="0">
              <a:solidFill>
                <a:schemeClr val="tx1"/>
              </a:solidFill>
              <a:latin typeface="Arial" panose="020B0604020202020204" pitchFamily="34" charset="0"/>
            </a:endParaRPr>
          </a:p>
          <a:p>
            <a:pPr>
              <a:lnSpc>
                <a:spcPct val="95000"/>
              </a:lnSpc>
              <a:spcBef>
                <a:spcPts val="15"/>
              </a:spcBef>
              <a:spcAft>
                <a:spcPts val="0"/>
              </a:spcAft>
              <a:defRPr/>
            </a:pPr>
            <a:endParaRPr lang="en-US" altLang="zh-CN" sz="2300" b="1" dirty="0" smtClean="0">
              <a:solidFill>
                <a:schemeClr val="tx1"/>
              </a:solidFill>
              <a:latin typeface="Arial" panose="020B0604020202020204" pitchFamily="34" charset="0"/>
            </a:endParaRPr>
          </a:p>
          <a:p>
            <a:pPr>
              <a:lnSpc>
                <a:spcPct val="95000"/>
              </a:lnSpc>
              <a:spcBef>
                <a:spcPts val="15"/>
              </a:spcBef>
              <a:spcAft>
                <a:spcPts val="0"/>
              </a:spcAft>
              <a:defRPr/>
            </a:pPr>
            <a:r>
              <a:rPr lang="zh-CN" altLang="en-US" b="1" dirty="0">
                <a:solidFill>
                  <a:schemeClr val="tx1"/>
                </a:solidFill>
                <a:latin typeface="Arial" panose="020B0604020202020204" pitchFamily="34" charset="0"/>
              </a:rPr>
              <a:t>数字证书：是由</a:t>
            </a:r>
            <a:r>
              <a:rPr lang="en-US" altLang="zh-CN" b="1" dirty="0">
                <a:solidFill>
                  <a:schemeClr val="tx1"/>
                </a:solidFill>
                <a:latin typeface="Arial" panose="020B0604020202020204" pitchFamily="34" charset="0"/>
              </a:rPr>
              <a:t>CA</a:t>
            </a:r>
            <a:r>
              <a:rPr lang="zh-CN" altLang="en-US" b="1" dirty="0">
                <a:solidFill>
                  <a:schemeClr val="tx1"/>
                </a:solidFill>
                <a:latin typeface="Arial" panose="020B0604020202020204" pitchFamily="34" charset="0"/>
              </a:rPr>
              <a:t>机构颁发的证明，它包含公钥、公钥拥有者名称、</a:t>
            </a:r>
            <a:r>
              <a:rPr lang="en-US" altLang="zh-CN" b="1" dirty="0">
                <a:solidFill>
                  <a:schemeClr val="tx1"/>
                </a:solidFill>
                <a:latin typeface="Arial" panose="020B0604020202020204" pitchFamily="34" charset="0"/>
              </a:rPr>
              <a:t>CA </a:t>
            </a:r>
            <a:r>
              <a:rPr lang="zh-CN" altLang="en-US" b="1" dirty="0">
                <a:solidFill>
                  <a:schemeClr val="tx1"/>
                </a:solidFill>
                <a:latin typeface="Arial" panose="020B0604020202020204" pitchFamily="34" charset="0"/>
              </a:rPr>
              <a:t>的数字签名、有效期、授权中心名称、证书序列号等信息，可以</a:t>
            </a:r>
            <a:r>
              <a:rPr lang="zh-CN" altLang="en-US" b="1" dirty="0" smtClean="0">
                <a:solidFill>
                  <a:schemeClr val="tx1"/>
                </a:solidFill>
                <a:latin typeface="Arial" panose="020B0604020202020204" pitchFamily="34" charset="0"/>
              </a:rPr>
              <a:t>通俗理解为个人</a:t>
            </a:r>
            <a:r>
              <a:rPr lang="zh-CN" altLang="en-US" b="1" dirty="0">
                <a:solidFill>
                  <a:schemeClr val="tx1"/>
                </a:solidFill>
                <a:latin typeface="Arial" panose="020B0604020202020204" pitchFamily="34" charset="0"/>
              </a:rPr>
              <a:t>或</a:t>
            </a:r>
            <a:r>
              <a:rPr lang="zh-CN" altLang="en-US" b="1" dirty="0" smtClean="0">
                <a:solidFill>
                  <a:schemeClr val="tx1"/>
                </a:solidFill>
                <a:latin typeface="Arial" panose="020B0604020202020204" pitchFamily="34" charset="0"/>
              </a:rPr>
              <a:t>企业的“网络身份证”</a:t>
            </a:r>
            <a:r>
              <a:rPr lang="zh-CN" altLang="en-US" b="1" dirty="0">
                <a:solidFill>
                  <a:schemeClr val="tx1"/>
                </a:solidFill>
                <a:latin typeface="Arial" panose="020B0604020202020204" pitchFamily="34" charset="0"/>
              </a:rPr>
              <a:t>。</a:t>
            </a:r>
            <a:endParaRPr lang="en-US" altLang="zh-CN" b="1" dirty="0">
              <a:solidFill>
                <a:schemeClr val="tx1"/>
              </a:solidFill>
              <a:latin typeface="Arial" panose="020B0604020202020204" pitchFamily="34" charset="0"/>
            </a:endParaRPr>
          </a:p>
        </p:txBody>
      </p:sp>
      <p:sp>
        <p:nvSpPr>
          <p:cNvPr id="19459"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9463" name="文本框 1"/>
          <p:cNvSpPr txBox="1">
            <a:spLocks noChangeArrowheads="1"/>
          </p:cNvSpPr>
          <p:nvPr/>
        </p:nvSpPr>
        <p:spPr bwMode="auto">
          <a:xfrm>
            <a:off x="3779912" y="1628800"/>
            <a:ext cx="4289425" cy="460375"/>
          </a:xfrm>
          <a:prstGeom prst="rect">
            <a:avLst/>
          </a:prstGeom>
          <a:solidFill>
            <a:srgbClr val="FFFF99"/>
          </a:solidFill>
          <a:ln w="9525">
            <a:solidFill>
              <a:schemeClr val="accent1"/>
            </a:solidFill>
            <a:round/>
          </a:ln>
        </p:spPr>
        <p:txBody>
          <a:bodyPr>
            <a:spAutoFit/>
          </a:bodyPr>
          <a:lstStyle/>
          <a:p>
            <a:r>
              <a:rPr lang="en-US" altLang="zh-CN" sz="1200" b="1" dirty="0" smtClean="0">
                <a:solidFill>
                  <a:srgbClr val="FF0000"/>
                </a:solidFill>
              </a:rPr>
              <a:t>CA</a:t>
            </a:r>
            <a:r>
              <a:rPr lang="zh-CN" altLang="en-US" sz="1200" b="1" dirty="0" smtClean="0">
                <a:solidFill>
                  <a:srgbClr val="FF0000"/>
                </a:solidFill>
              </a:rPr>
              <a:t>认证</a:t>
            </a:r>
            <a:r>
              <a:rPr lang="zh-CN" altLang="en-US" sz="1200" b="1" dirty="0">
                <a:solidFill>
                  <a:srgbClr val="FF0000"/>
                </a:solidFill>
              </a:rPr>
              <a:t>中心</a:t>
            </a:r>
            <a:r>
              <a:rPr lang="zh-CN" altLang="en-US" sz="1200" b="1" dirty="0"/>
              <a:t>负责发放和管理数字证书的权威机构，并作为交易中受信任的第三方，承担公钥的合法性检验等。</a:t>
            </a:r>
            <a:endParaRPr lang="zh-CN" altLang="en-US" sz="12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a:spLocks noChangeArrowheads="1"/>
          </p:cNvSpPr>
          <p:nvPr/>
        </p:nvSpPr>
        <p:spPr bwMode="gray">
          <a:xfrm>
            <a:off x="1422400" y="4187006"/>
            <a:ext cx="6375400" cy="1657350"/>
          </a:xfrm>
          <a:prstGeom prst="roundRect">
            <a:avLst>
              <a:gd name="adj" fmla="val 16667"/>
            </a:avLst>
          </a:prstGeom>
          <a:solidFill>
            <a:srgbClr val="FFFF99"/>
          </a:solidFill>
          <a:ln w="25400" algn="ctr">
            <a:solidFill>
              <a:schemeClr val="tx1"/>
            </a:solidFill>
            <a:round/>
          </a:ln>
        </p:spPr>
        <p:txBody>
          <a:bodyPr anchor="ctr"/>
          <a:lstStyle/>
          <a:p>
            <a:pPr>
              <a:defRPr/>
            </a:pPr>
            <a:r>
              <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2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en-US" altLang="zh-CN" b="1" dirty="0">
                <a:solidFill>
                  <a:srgbClr val="0000FF"/>
                </a:solidFill>
                <a:latin typeface="楷体_GB2312" pitchFamily="49" charset="-122"/>
                <a:ea typeface="楷体_GB2312" pitchFamily="49" charset="-122"/>
              </a:rPr>
              <a:t>1</a:t>
            </a:r>
            <a:r>
              <a:rPr lang="zh-CN" altLang="en-US" b="1" dirty="0">
                <a:solidFill>
                  <a:srgbClr val="0000FF"/>
                </a:solidFill>
                <a:latin typeface="楷体_GB2312" pitchFamily="49" charset="-122"/>
                <a:ea typeface="楷体_GB2312" pitchFamily="49" charset="-122"/>
              </a:rPr>
              <a:t>）什么是身份认证？身份认证的作用是什么？</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2</a:t>
            </a:r>
            <a:r>
              <a:rPr lang="zh-CN" altLang="en-US" b="1" dirty="0">
                <a:solidFill>
                  <a:srgbClr val="0000FF"/>
                </a:solidFill>
                <a:latin typeface="楷体_GB2312" pitchFamily="49" charset="-122"/>
                <a:ea typeface="楷体_GB2312" pitchFamily="49" charset="-122"/>
              </a:rPr>
              <a:t>）常用的身份认证方式有哪些？并举例说明。</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3</a:t>
            </a:r>
            <a:r>
              <a:rPr lang="zh-CN" altLang="en-US" b="1" dirty="0">
                <a:solidFill>
                  <a:srgbClr val="0000FF"/>
                </a:solidFill>
                <a:latin typeface="楷体_GB2312" pitchFamily="49" charset="-122"/>
                <a:ea typeface="楷体_GB2312" pitchFamily="49" charset="-122"/>
              </a:rPr>
              <a:t>）</a:t>
            </a:r>
            <a:r>
              <a:rPr lang="en-US" altLang="zh-CN" b="1" dirty="0">
                <a:solidFill>
                  <a:srgbClr val="0000FF"/>
                </a:solidFill>
                <a:latin typeface="楷体_GB2312" pitchFamily="49" charset="-122"/>
                <a:ea typeface="楷体_GB2312" pitchFamily="49" charset="-122"/>
              </a:rPr>
              <a:t>CA</a:t>
            </a:r>
            <a:r>
              <a:rPr lang="zh-CN" altLang="en-US" b="1" dirty="0">
                <a:solidFill>
                  <a:srgbClr val="0000FF"/>
                </a:solidFill>
                <a:latin typeface="楷体_GB2312" pitchFamily="49" charset="-122"/>
                <a:ea typeface="楷体_GB2312" pitchFamily="49" charset="-122"/>
              </a:rPr>
              <a:t>的主要职能和功能是什么？</a:t>
            </a:r>
            <a:endParaRPr lang="zh-CN" altLang="en-US" b="1" dirty="0">
              <a:solidFill>
                <a:srgbClr val="0000FF"/>
              </a:solidFill>
              <a:latin typeface="楷体_GB2312" pitchFamily="49" charset="-122"/>
              <a:ea typeface="楷体_GB2312" pitchFamily="49" charset="-122"/>
            </a:endParaRPr>
          </a:p>
        </p:txBody>
      </p:sp>
      <p:pic>
        <p:nvPicPr>
          <p:cNvPr id="20482" name="Picture 7" descr="j0195384"/>
          <p:cNvPicPr>
            <a:picLocks noChangeAspect="1" noChangeArrowheads="1"/>
          </p:cNvPicPr>
          <p:nvPr/>
        </p:nvPicPr>
        <p:blipFill>
          <a:blip r:embed="rId1" cstate="print"/>
          <a:srcRect/>
          <a:stretch>
            <a:fillRect/>
          </a:stretch>
        </p:blipFill>
        <p:spPr bwMode="auto">
          <a:xfrm>
            <a:off x="6156176" y="5229200"/>
            <a:ext cx="1204913" cy="1230312"/>
          </a:xfrm>
          <a:prstGeom prst="rect">
            <a:avLst/>
          </a:prstGeom>
          <a:noFill/>
          <a:ln w="9525">
            <a:noFill/>
            <a:miter lim="800000"/>
            <a:headEnd/>
            <a:tailEnd/>
          </a:ln>
        </p:spPr>
      </p:pic>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sp>
        <p:nvSpPr>
          <p:cNvPr id="6" name="文本框 99"/>
          <p:cNvSpPr txBox="1">
            <a:spLocks noChangeArrowheads="1"/>
          </p:cNvSpPr>
          <p:nvPr/>
        </p:nvSpPr>
        <p:spPr bwMode="auto">
          <a:xfrm>
            <a:off x="1936602" y="1176809"/>
            <a:ext cx="5080000" cy="304800"/>
          </a:xfrm>
          <a:prstGeom prst="rect">
            <a:avLst/>
          </a:prstGeom>
          <a:noFill/>
          <a:ln w="9525">
            <a:noFill/>
            <a:miter lim="800000"/>
          </a:ln>
        </p:spPr>
        <p:txBody>
          <a:bodyPr>
            <a:spAutoFit/>
          </a:bodyPr>
          <a:lstStyle/>
          <a:p>
            <a:pPr algn="ctr"/>
            <a:r>
              <a:rPr lang="zh-CN" altLang="en-US" sz="1400" b="1" dirty="0">
                <a:solidFill>
                  <a:srgbClr val="C00000"/>
                </a:solidFill>
                <a:latin typeface="宋体" panose="02010600030101010101" pitchFamily="2" charset="-122"/>
              </a:rPr>
              <a:t>证书的类型与作用</a:t>
            </a:r>
            <a:endParaRPr lang="zh-CN" altLang="en-US" sz="1400" b="1" dirty="0">
              <a:solidFill>
                <a:srgbClr val="C00000"/>
              </a:solidFill>
              <a:latin typeface="宋体" panose="02010600030101010101" pitchFamily="2" charset="-122"/>
            </a:endParaRPr>
          </a:p>
        </p:txBody>
      </p:sp>
      <p:pic>
        <p:nvPicPr>
          <p:cNvPr id="7" name="图片 2"/>
          <p:cNvPicPr>
            <a:picLocks noChangeArrowheads="1"/>
          </p:cNvPicPr>
          <p:nvPr/>
        </p:nvPicPr>
        <p:blipFill>
          <a:blip r:embed="rId2" cstate="print"/>
          <a:srcRect/>
          <a:stretch>
            <a:fillRect/>
          </a:stretch>
        </p:blipFill>
        <p:spPr bwMode="auto">
          <a:xfrm>
            <a:off x="1868339" y="1484784"/>
            <a:ext cx="5492750" cy="2274887"/>
          </a:xfrm>
          <a:prstGeom prst="rect">
            <a:avLst/>
          </a:prstGeom>
          <a:noFill/>
          <a:ln w="9525">
            <a:noFill/>
            <a:miter lim="800000"/>
            <a:headEnd/>
            <a:tailEnd/>
          </a:ln>
        </p:spPr>
      </p:pic>
      <p:sp>
        <p:nvSpPr>
          <p:cNvPr id="8" name="文本框 100"/>
          <p:cNvSpPr txBox="1">
            <a:spLocks noChangeArrowheads="1"/>
          </p:cNvSpPr>
          <p:nvPr/>
        </p:nvSpPr>
        <p:spPr bwMode="auto">
          <a:xfrm>
            <a:off x="2074714" y="3481859"/>
            <a:ext cx="5080000" cy="549275"/>
          </a:xfrm>
          <a:prstGeom prst="rect">
            <a:avLst/>
          </a:prstGeom>
          <a:noFill/>
          <a:ln w="9525">
            <a:noFill/>
            <a:miter lim="800000"/>
          </a:ln>
        </p:spPr>
        <p:txBody>
          <a:bodyPr>
            <a:spAutoFit/>
          </a:bodyPr>
          <a:lstStyle/>
          <a:p>
            <a:pPr algn="ctr"/>
            <a:endParaRPr lang="en-US" altLang="zh-CN" sz="1000">
              <a:solidFill>
                <a:srgbClr val="0000FF"/>
              </a:solidFill>
              <a:latin typeface="宋体" panose="02010600030101010101" pitchFamily="2" charset="-122"/>
            </a:endParaRPr>
          </a:p>
          <a:p>
            <a:pPr algn="ctr"/>
            <a:r>
              <a:rPr lang="en-US" altLang="zh-CN" sz="1000">
                <a:solidFill>
                  <a:srgbClr val="0000FF"/>
                </a:solidFill>
                <a:latin typeface="宋体" panose="02010600030101010101" pitchFamily="2" charset="-122"/>
              </a:rPr>
              <a:t> </a:t>
            </a:r>
            <a:endParaRPr lang="en-US" altLang="zh-CN" sz="900">
              <a:latin typeface="宋体" panose="02010600030101010101" pitchFamily="2" charset="-122"/>
            </a:endParaRPr>
          </a:p>
          <a:p>
            <a:pPr algn="ctr"/>
            <a:r>
              <a:rPr lang="zh-CN" altLang="en-US" sz="900" b="1">
                <a:latin typeface="宋体" panose="02010600030101010101" pitchFamily="2" charset="-122"/>
              </a:rPr>
              <a:t>注：</a:t>
            </a:r>
            <a:r>
              <a:rPr lang="zh-CN" altLang="en-US" sz="900" b="1">
                <a:latin typeface="楷体_GB2312" pitchFamily="49" charset="-122"/>
                <a:ea typeface="楷体_GB2312" pitchFamily="49" charset="-122"/>
              </a:rPr>
              <a:t>数字证书标准有：</a:t>
            </a:r>
            <a:r>
              <a:rPr lang="en-US" altLang="zh-CN" sz="900" b="1">
                <a:latin typeface="楷体_GB2312" pitchFamily="49" charset="-122"/>
                <a:ea typeface="楷体_GB2312" pitchFamily="49" charset="-122"/>
              </a:rPr>
              <a:t>X.509</a:t>
            </a:r>
            <a:r>
              <a:rPr lang="zh-CN" altLang="en-US" sz="900" b="1">
                <a:latin typeface="楷体_GB2312" pitchFamily="49" charset="-122"/>
                <a:ea typeface="楷体_GB2312" pitchFamily="49" charset="-122"/>
              </a:rPr>
              <a:t>证书、简单</a:t>
            </a:r>
            <a:r>
              <a:rPr lang="en-US" altLang="zh-CN" sz="900" b="1">
                <a:latin typeface="楷体_GB2312" pitchFamily="49" charset="-122"/>
                <a:ea typeface="楷体_GB2312" pitchFamily="49" charset="-122"/>
              </a:rPr>
              <a:t>PKI</a:t>
            </a:r>
            <a:r>
              <a:rPr lang="zh-CN" altLang="en-US" sz="900" b="1">
                <a:latin typeface="楷体_GB2312" pitchFamily="49" charset="-122"/>
                <a:ea typeface="楷体_GB2312" pitchFamily="49" charset="-122"/>
              </a:rPr>
              <a:t>证书、</a:t>
            </a:r>
            <a:r>
              <a:rPr lang="en-US" altLang="zh-CN" sz="900" b="1">
                <a:latin typeface="楷体_GB2312" pitchFamily="49" charset="-122"/>
                <a:ea typeface="楷体_GB2312" pitchFamily="49" charset="-122"/>
              </a:rPr>
              <a:t>PGP</a:t>
            </a:r>
            <a:r>
              <a:rPr lang="zh-CN" altLang="en-US" sz="900" b="1">
                <a:latin typeface="楷体_GB2312" pitchFamily="49" charset="-122"/>
                <a:ea typeface="楷体_GB2312" pitchFamily="49" charset="-122"/>
              </a:rPr>
              <a:t>证书和属性证书。</a:t>
            </a:r>
            <a:endParaRPr lang="zh-CN" altLang="en-US"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827584" y="1268760"/>
            <a:ext cx="7718201" cy="53760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custDataLst>
              <p:tags r:id="rId1"/>
            </p:custDataLst>
          </p:nvPr>
        </p:nvPicPr>
        <p:blipFill>
          <a:blip r:embed="rId2"/>
          <a:stretch>
            <a:fillRect/>
          </a:stretch>
        </p:blipFill>
        <p:spPr>
          <a:xfrm>
            <a:off x="757672" y="1196752"/>
            <a:ext cx="7704856" cy="54875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nvPicPr>
        <p:blipFill>
          <a:blip r:embed="rId1"/>
          <a:stretch>
            <a:fillRect/>
          </a:stretch>
        </p:blipFill>
        <p:spPr>
          <a:xfrm>
            <a:off x="755576" y="1268760"/>
            <a:ext cx="7387356" cy="5255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3" name="图片 2"/>
          <p:cNvPicPr>
            <a:picLocks noChangeAspect="1"/>
          </p:cNvPicPr>
          <p:nvPr/>
        </p:nvPicPr>
        <p:blipFill>
          <a:blip r:embed="rId1"/>
          <a:stretch>
            <a:fillRect/>
          </a:stretch>
        </p:blipFill>
        <p:spPr>
          <a:xfrm>
            <a:off x="546857" y="1196752"/>
            <a:ext cx="8126486" cy="5594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683568" y="1196752"/>
            <a:ext cx="7952184" cy="53997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6.1 </a:t>
            </a:r>
            <a:r>
              <a:rPr lang="zh-CN" altLang="en-US" sz="3200" b="1">
                <a:solidFill>
                  <a:schemeClr val="bg1"/>
                </a:solidFill>
              </a:rPr>
              <a:t>身份认证技术概述</a:t>
            </a:r>
            <a:endParaRPr lang="zh-CN" altLang="en-US" sz="3200" b="1">
              <a:solidFill>
                <a:schemeClr val="bg1"/>
              </a:solidFill>
            </a:endParaRPr>
          </a:p>
        </p:txBody>
      </p:sp>
      <p:pic>
        <p:nvPicPr>
          <p:cNvPr id="2" name="图片 1"/>
          <p:cNvPicPr>
            <a:picLocks noChangeAspect="1"/>
          </p:cNvPicPr>
          <p:nvPr/>
        </p:nvPicPr>
        <p:blipFill>
          <a:blip r:embed="rId1"/>
          <a:stretch>
            <a:fillRect/>
          </a:stretch>
        </p:blipFill>
        <p:spPr>
          <a:xfrm>
            <a:off x="734591" y="1268760"/>
            <a:ext cx="7751018" cy="531427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ctrTitle"/>
          </p:nvPr>
        </p:nvSpPr>
        <p:spPr/>
        <p:txBody>
          <a:bodyPr/>
          <a:lstStyle/>
          <a:p>
            <a:endParaRPr lang="zh-CN" altLang="en-US" smtClean="0"/>
          </a:p>
        </p:txBody>
      </p:sp>
      <p:sp>
        <p:nvSpPr>
          <p:cNvPr id="21506" name="副标题 2"/>
          <p:cNvSpPr>
            <a:spLocks noGrp="1" noChangeArrowheads="1"/>
          </p:cNvSpPr>
          <p:nvPr>
            <p:ph type="subTitle" idx="1"/>
          </p:nvPr>
        </p:nvSpPr>
        <p:spPr/>
        <p:txBody>
          <a:bodyPr/>
          <a:lstStyle/>
          <a:p>
            <a:endParaRPr lang="zh-CN" altLang="en-US" smtClean="0"/>
          </a:p>
        </p:txBody>
      </p:sp>
      <p:grpSp>
        <p:nvGrpSpPr>
          <p:cNvPr id="21507" name="Group 19"/>
          <p:cNvGrpSpPr/>
          <p:nvPr/>
        </p:nvGrpSpPr>
        <p:grpSpPr bwMode="auto">
          <a:xfrm>
            <a:off x="1763713" y="2687638"/>
            <a:ext cx="5688012" cy="1198562"/>
            <a:chOff x="1175" y="1824"/>
            <a:chExt cx="3177" cy="432"/>
          </a:xfrm>
        </p:grpSpPr>
        <p:sp>
          <p:nvSpPr>
            <p:cNvPr id="5"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3600">
                <a:solidFill>
                  <a:schemeClr val="tx2"/>
                </a:solidFill>
                <a:latin typeface="宋体" panose="02010600030101010101" pitchFamily="2" charset="-122"/>
              </a:endParaRPr>
            </a:p>
          </p:txBody>
        </p:sp>
        <p:sp>
          <p:nvSpPr>
            <p:cNvPr id="21509" name="AutoShape 21"/>
            <p:cNvSpPr>
              <a:spLocks noChangeArrowheads="1"/>
            </p:cNvSpPr>
            <p:nvPr/>
          </p:nvSpPr>
          <p:spPr bwMode="auto">
            <a:xfrm>
              <a:off x="1175" y="1824"/>
              <a:ext cx="644"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21510" name="Text Box 22"/>
            <p:cNvSpPr txBox="1">
              <a:spLocks noChangeArrowheads="1"/>
            </p:cNvSpPr>
            <p:nvPr/>
          </p:nvSpPr>
          <p:spPr bwMode="auto">
            <a:xfrm>
              <a:off x="1912" y="1934"/>
              <a:ext cx="2440" cy="189"/>
            </a:xfrm>
            <a:prstGeom prst="rect">
              <a:avLst/>
            </a:prstGeom>
            <a:noFill/>
            <a:ln w="9525">
              <a:noFill/>
              <a:miter lim="800000"/>
            </a:ln>
          </p:spPr>
          <p:txBody>
            <a:bodyPr>
              <a:spAutoFit/>
            </a:bodyPr>
            <a:lstStyle/>
            <a:p>
              <a:pPr eaLnBrk="0" hangingPunct="0"/>
              <a:r>
                <a:rPr lang="zh-CN" altLang="en-US" sz="2800" b="1">
                  <a:solidFill>
                    <a:schemeClr val="tx2"/>
                  </a:solidFill>
                </a:rPr>
                <a:t>认证系统与数字签名</a:t>
              </a:r>
              <a:r>
                <a:rPr lang="zh-CN" altLang="en-US" sz="2800">
                  <a:solidFill>
                    <a:schemeClr val="tx2"/>
                  </a:solidFill>
                </a:rPr>
                <a:t> </a:t>
              </a:r>
              <a:endParaRPr lang="zh-CN" altLang="en-US" sz="2800">
                <a:solidFill>
                  <a:schemeClr val="tx2"/>
                </a:solidFill>
              </a:endParaRPr>
            </a:p>
          </p:txBody>
        </p:sp>
        <p:sp>
          <p:nvSpPr>
            <p:cNvPr id="21511" name="Text Box 23"/>
            <p:cNvSpPr txBox="1">
              <a:spLocks noChangeArrowheads="1"/>
            </p:cNvSpPr>
            <p:nvPr/>
          </p:nvSpPr>
          <p:spPr bwMode="auto">
            <a:xfrm>
              <a:off x="1256" y="1936"/>
              <a:ext cx="523" cy="233"/>
            </a:xfrm>
            <a:prstGeom prst="rect">
              <a:avLst/>
            </a:prstGeom>
            <a:noFill/>
            <a:ln w="9525">
              <a:noFill/>
              <a:miter lim="800000"/>
            </a:ln>
          </p:spPr>
          <p:txBody>
            <a:bodyPr>
              <a:spAutoFit/>
            </a:bodyPr>
            <a:lstStyle/>
            <a:p>
              <a:pPr algn="ctr" eaLnBrk="0" hangingPunct="0"/>
              <a:r>
                <a:rPr lang="en-US" altLang="zh-CN" sz="3600" b="1">
                  <a:solidFill>
                    <a:schemeClr val="tx2"/>
                  </a:solidFill>
                </a:rPr>
                <a:t>6.2</a:t>
              </a:r>
              <a:endParaRPr lang="en-US" altLang="zh-CN" sz="3600">
                <a:solidFill>
                  <a:schemeClr val="tx2"/>
                </a:solidFill>
                <a:latin typeface="宋体" panose="02010600030101010101" pitchFamily="2" charset="-122"/>
              </a:endParaRPr>
            </a:p>
          </p:txBody>
        </p:sp>
      </p:grpSp>
      <p:pic>
        <p:nvPicPr>
          <p:cNvPr id="21512" name="Picture 5" descr="j0300520"/>
          <p:cNvPicPr>
            <a:picLocks noChangeAspect="1" noChangeArrowheads="1"/>
          </p:cNvPicPr>
          <p:nvPr/>
        </p:nvPicPr>
        <p:blipFill>
          <a:blip r:embed="rId1" cstate="print"/>
          <a:srcRect/>
          <a:stretch>
            <a:fillRect/>
          </a:stretch>
        </p:blipFill>
        <p:spPr bwMode="auto">
          <a:xfrm>
            <a:off x="5680075" y="4360863"/>
            <a:ext cx="1295400" cy="111442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9" name="圆角矩形 18"/>
          <p:cNvSpPr/>
          <p:nvPr/>
        </p:nvSpPr>
        <p:spPr bwMode="gray">
          <a:xfrm>
            <a:off x="655638" y="1785938"/>
            <a:ext cx="7632700" cy="2003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Aft>
                <a:spcPts val="600"/>
              </a:spcAft>
              <a:defRPr/>
            </a:pPr>
            <a:r>
              <a:rPr lang="en-US" altLang="zh-CN" sz="2000" b="1" dirty="0">
                <a:solidFill>
                  <a:srgbClr val="C00000"/>
                </a:solidFill>
                <a:latin typeface="Arial" panose="020B0604020202020204" pitchFamily="34" charset="0"/>
              </a:rPr>
              <a:t>       </a:t>
            </a:r>
            <a:r>
              <a:rPr lang="zh-CN" altLang="en-US" sz="2000" b="1" dirty="0">
                <a:solidFill>
                  <a:srgbClr val="C00000"/>
                </a:solidFill>
                <a:latin typeface="Arial" panose="020B0604020202020204" pitchFamily="34" charset="0"/>
              </a:rPr>
              <a:t>1. 身份认证系统的构成</a:t>
            </a:r>
            <a:endParaRPr lang="zh-CN" altLang="en-US" sz="2000" b="1" dirty="0">
              <a:solidFill>
                <a:srgbClr val="C00000"/>
              </a:solidFill>
              <a:latin typeface="Arial" panose="020B0604020202020204" pitchFamily="34" charset="0"/>
            </a:endParaRPr>
          </a:p>
          <a:p>
            <a:pPr>
              <a:spcAft>
                <a:spcPts val="600"/>
              </a:spcAft>
              <a:defRPr/>
            </a:pPr>
            <a:r>
              <a:rPr lang="zh-CN" altLang="en-US" sz="2000" b="1" dirty="0">
                <a:solidFill>
                  <a:srgbClr val="C00000"/>
                </a:solidFill>
                <a:latin typeface="Arial" panose="020B0604020202020204" pitchFamily="34" charset="0"/>
              </a:rPr>
              <a:t>        身份认证系统</a:t>
            </a:r>
            <a:r>
              <a:rPr lang="zh-CN" altLang="en-US" sz="2000" b="1" dirty="0">
                <a:solidFill>
                  <a:schemeClr val="tx2"/>
                </a:solidFill>
                <a:latin typeface="Arial" panose="020B0604020202020204" pitchFamily="34" charset="0"/>
              </a:rPr>
              <a:t>的</a:t>
            </a:r>
            <a:r>
              <a:rPr lang="zh-CN" altLang="en-US" sz="2000" b="1" u="sng" dirty="0">
                <a:solidFill>
                  <a:srgbClr val="D60093"/>
                </a:solidFill>
                <a:latin typeface="Arial" panose="020B0604020202020204" pitchFamily="34" charset="0"/>
              </a:rPr>
              <a:t>组成</a:t>
            </a:r>
            <a:r>
              <a:rPr lang="zh-CN" altLang="en-US" sz="2000" b="1" dirty="0">
                <a:solidFill>
                  <a:schemeClr val="tx2"/>
                </a:solidFill>
                <a:latin typeface="Arial" panose="020B0604020202020204" pitchFamily="34" charset="0"/>
              </a:rPr>
              <a:t>一般包括</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个部分：认证服务器、认证系统客户端和认证设备。</a:t>
            </a:r>
            <a:r>
              <a:rPr lang="zh-CN" altLang="en-US" sz="2000" b="1" dirty="0">
                <a:solidFill>
                  <a:srgbClr val="C00000"/>
                </a:solidFill>
                <a:latin typeface="Arial" panose="020B0604020202020204" pitchFamily="34" charset="0"/>
              </a:rPr>
              <a:t>认证系统</a:t>
            </a:r>
            <a:r>
              <a:rPr lang="zh-CN" altLang="en-US" sz="2000" b="1" dirty="0">
                <a:solidFill>
                  <a:srgbClr val="0000FF"/>
                </a:solidFill>
                <a:latin typeface="Arial" panose="020B0604020202020204" pitchFamily="34" charset="0"/>
                <a:sym typeface="+mn-ea"/>
              </a:rPr>
              <a:t>实现：</a:t>
            </a:r>
            <a:r>
              <a:rPr lang="zh-CN" altLang="en-US" sz="2000" b="1" dirty="0">
                <a:solidFill>
                  <a:schemeClr val="tx2"/>
                </a:solidFill>
                <a:latin typeface="Arial" panose="020B0604020202020204" pitchFamily="34" charset="0"/>
              </a:rPr>
              <a:t>身份认证协议和认证机制。</a:t>
            </a:r>
            <a:r>
              <a:rPr lang="zh-CN" altLang="en-US" sz="2000" b="1" dirty="0">
                <a:solidFill>
                  <a:srgbClr val="C00000"/>
                </a:solidFill>
                <a:latin typeface="Arial" panose="020B0604020202020204" pitchFamily="34" charset="0"/>
              </a:rPr>
              <a:t>身份认证协议又分为</a:t>
            </a:r>
            <a:r>
              <a:rPr lang="zh-CN" altLang="en-US" sz="2000" b="1" dirty="0">
                <a:solidFill>
                  <a:schemeClr val="tx2"/>
                </a:solidFill>
                <a:latin typeface="Arial" panose="020B0604020202020204" pitchFamily="34" charset="0"/>
              </a:rPr>
              <a:t>：单向认证协议和双向认证协议。若通信双方只需一方鉴别另一方的身份，则称</a:t>
            </a:r>
            <a:r>
              <a:rPr lang="zh-CN" altLang="en-US" sz="2000" b="1" dirty="0">
                <a:solidFill>
                  <a:srgbClr val="C00000"/>
                </a:solidFill>
                <a:latin typeface="Arial" panose="020B0604020202020204" pitchFamily="34" charset="0"/>
              </a:rPr>
              <a:t>单项认证协议</a:t>
            </a:r>
            <a:r>
              <a:rPr lang="zh-CN" altLang="en-US" sz="2000" b="1" dirty="0">
                <a:solidFill>
                  <a:schemeClr val="tx2"/>
                </a:solidFill>
                <a:latin typeface="Arial" panose="020B0604020202020204" pitchFamily="34" charset="0"/>
              </a:rPr>
              <a:t>；如果双方都需要验证身份，则称</a:t>
            </a:r>
            <a:r>
              <a:rPr lang="zh-CN" altLang="en-US" sz="2000" b="1" dirty="0">
                <a:solidFill>
                  <a:srgbClr val="C00000"/>
                </a:solidFill>
                <a:latin typeface="Arial" panose="020B0604020202020204" pitchFamily="34" charset="0"/>
              </a:rPr>
              <a:t>双向认证协议</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22531" name="内容占位符 13"/>
          <p:cNvSpPr>
            <a:spLocks noChangeArrowheads="1"/>
          </p:cNvSpPr>
          <p:nvPr/>
        </p:nvSpPr>
        <p:spPr bwMode="auto">
          <a:xfrm>
            <a:off x="39528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6.2.1 </a:t>
            </a:r>
            <a:r>
              <a:rPr lang="zh-CN" altLang="en-US" sz="2600" b="1">
                <a:solidFill>
                  <a:srgbClr val="FF0000"/>
                </a:solidFill>
                <a:latin typeface="宋体" panose="02010600030101010101" pitchFamily="2" charset="-122"/>
              </a:rPr>
              <a:t>身份认证系统</a:t>
            </a:r>
            <a:endParaRPr lang="zh-CN" altLang="en-US" sz="2600" b="1">
              <a:solidFill>
                <a:srgbClr val="FF0000"/>
              </a:solidFill>
              <a:latin typeface="宋体" panose="02010600030101010101" pitchFamily="2" charset="-122"/>
            </a:endParaRPr>
          </a:p>
        </p:txBody>
      </p:sp>
      <p:sp>
        <p:nvSpPr>
          <p:cNvPr id="22532"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2533" name="图片 1073742922" descr="图片1"/>
          <p:cNvPicPr>
            <a:picLocks noChangeAspect="1" noChangeArrowheads="1"/>
          </p:cNvPicPr>
          <p:nvPr/>
        </p:nvPicPr>
        <p:blipFill>
          <a:blip r:embed="rId1" cstate="print"/>
          <a:srcRect/>
          <a:stretch>
            <a:fillRect/>
          </a:stretch>
        </p:blipFill>
        <p:spPr bwMode="auto">
          <a:xfrm>
            <a:off x="2700338" y="3805238"/>
            <a:ext cx="3227387" cy="2736850"/>
          </a:xfrm>
          <a:prstGeom prst="rect">
            <a:avLst/>
          </a:prstGeom>
          <a:noFill/>
          <a:ln w="9525">
            <a:noFill/>
            <a:miter lim="800000"/>
            <a:headEnd/>
            <a:tailEnd/>
          </a:ln>
        </p:spPr>
      </p:pic>
      <p:sp>
        <p:nvSpPr>
          <p:cNvPr id="22534" name="文本框 3"/>
          <p:cNvSpPr txBox="1">
            <a:spLocks noChangeArrowheads="1"/>
          </p:cNvSpPr>
          <p:nvPr/>
        </p:nvSpPr>
        <p:spPr bwMode="auto">
          <a:xfrm>
            <a:off x="3368675" y="6583363"/>
            <a:ext cx="1454150" cy="261937"/>
          </a:xfrm>
          <a:prstGeom prst="rect">
            <a:avLst/>
          </a:prstGeom>
          <a:noFill/>
          <a:ln w="9525">
            <a:noFill/>
            <a:miter lim="800000"/>
          </a:ln>
        </p:spPr>
        <p:txBody>
          <a:bodyPr wrap="none">
            <a:spAutoFit/>
          </a:bodyPr>
          <a:lstStyle/>
          <a:p>
            <a:pPr>
              <a:buFont typeface="Arial" panose="020B0604020202020204" pitchFamily="34" charset="0"/>
              <a:buNone/>
            </a:pPr>
            <a:r>
              <a:rPr lang="zh-CN" altLang="en-US" sz="1100">
                <a:solidFill>
                  <a:srgbClr val="FF0000"/>
                </a:solidFill>
                <a:sym typeface="宋体" panose="02010600030101010101" pitchFamily="2" charset="-122"/>
              </a:rPr>
              <a:t>认证系统网络结构图</a:t>
            </a:r>
            <a:endParaRPr lang="zh-CN" altLang="en-US" sz="1100">
              <a:solidFill>
                <a:srgbClr val="FF0000"/>
              </a:solidFill>
              <a:sym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9" name="圆角矩形 18"/>
          <p:cNvSpPr/>
          <p:nvPr/>
        </p:nvSpPr>
        <p:spPr bwMode="gray">
          <a:xfrm>
            <a:off x="655638" y="1784350"/>
            <a:ext cx="7632700" cy="33845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Aft>
                <a:spcPts val="600"/>
              </a:spcAft>
              <a:defRPr/>
            </a:pPr>
            <a:r>
              <a:rPr lang="en-US" altLang="zh-CN" sz="2000" b="1" dirty="0">
                <a:solidFill>
                  <a:srgbClr val="C00000"/>
                </a:solidFill>
                <a:latin typeface="Arial" panose="020B0604020202020204" pitchFamily="34" charset="0"/>
              </a:rPr>
              <a:t>1</a:t>
            </a:r>
            <a:r>
              <a:rPr lang="zh-CN" altLang="en-US" sz="2000" b="1" dirty="0">
                <a:solidFill>
                  <a:srgbClr val="C00000"/>
                </a:solidFill>
                <a:latin typeface="Arial" panose="020B0604020202020204" pitchFamily="34" charset="0"/>
              </a:rPr>
              <a:t>）单向认证。</a:t>
            </a:r>
            <a:r>
              <a:rPr lang="zh-CN" altLang="en-US" sz="2000" b="1" dirty="0">
                <a:solidFill>
                  <a:schemeClr val="tx2">
                    <a:lumMod val="95000"/>
                    <a:lumOff val="5000"/>
                  </a:schemeClr>
                </a:solidFill>
                <a:latin typeface="Arial" panose="020B0604020202020204" pitchFamily="34" charset="0"/>
              </a:rPr>
              <a:t>双方在网上通信时，甲只需要认证乙的身份。这时甲需要获取乙的证书，获取的方式有两种，一种是在通信时乙直接将证书传送给甲，另一种是甲向</a:t>
            </a:r>
            <a:r>
              <a:rPr lang="en-US" altLang="zh-CN" sz="2000" b="1" dirty="0">
                <a:solidFill>
                  <a:schemeClr val="tx2">
                    <a:lumMod val="95000"/>
                    <a:lumOff val="5000"/>
                  </a:schemeClr>
                </a:solidFill>
                <a:latin typeface="Arial" panose="020B0604020202020204" pitchFamily="34" charset="0"/>
              </a:rPr>
              <a:t>CA</a:t>
            </a:r>
            <a:r>
              <a:rPr lang="zh-CN" altLang="en-US" sz="2000" b="1" dirty="0">
                <a:solidFill>
                  <a:schemeClr val="tx2">
                    <a:lumMod val="95000"/>
                    <a:lumOff val="5000"/>
                  </a:schemeClr>
                </a:solidFill>
                <a:latin typeface="Arial" panose="020B0604020202020204" pitchFamily="34" charset="0"/>
              </a:rPr>
              <a:t>的目录服务器查询索取。甲获得乙的证书后，先用</a:t>
            </a:r>
            <a:r>
              <a:rPr lang="en-US" altLang="zh-CN" sz="2000" b="1" dirty="0" smtClean="0">
                <a:solidFill>
                  <a:schemeClr val="tx2">
                    <a:lumMod val="95000"/>
                    <a:lumOff val="5000"/>
                  </a:schemeClr>
                </a:solidFill>
                <a:latin typeface="Arial" panose="020B0604020202020204" pitchFamily="34" charset="0"/>
              </a:rPr>
              <a:t>CA </a:t>
            </a:r>
            <a:r>
              <a:rPr lang="zh-CN" altLang="en-US" sz="2000" b="1" dirty="0">
                <a:solidFill>
                  <a:schemeClr val="tx2">
                    <a:lumMod val="95000"/>
                    <a:lumOff val="5000"/>
                  </a:schemeClr>
                </a:solidFill>
                <a:latin typeface="Arial" panose="020B0604020202020204" pitchFamily="34" charset="0"/>
              </a:rPr>
              <a:t>的根证书公钥验证该证书的签名，验证通过说明该证书是第三方</a:t>
            </a:r>
            <a:r>
              <a:rPr lang="en-US" altLang="zh-CN" sz="2000" b="1" dirty="0">
                <a:solidFill>
                  <a:schemeClr val="tx2">
                    <a:lumMod val="95000"/>
                    <a:lumOff val="5000"/>
                  </a:schemeClr>
                </a:solidFill>
                <a:latin typeface="Arial" panose="020B0604020202020204" pitchFamily="34" charset="0"/>
              </a:rPr>
              <a:t>CA</a:t>
            </a:r>
            <a:r>
              <a:rPr lang="zh-CN" altLang="en-US" sz="2000" b="1" dirty="0">
                <a:solidFill>
                  <a:schemeClr val="tx2">
                    <a:lumMod val="95000"/>
                    <a:lumOff val="5000"/>
                  </a:schemeClr>
                </a:solidFill>
                <a:latin typeface="Arial" panose="020B0604020202020204" pitchFamily="34" charset="0"/>
              </a:rPr>
              <a:t>签发的有效证书，然后检查证书的有效期及</a:t>
            </a:r>
            <a:r>
              <a:rPr lang="zh-CN" altLang="en-US" sz="2000" b="1" dirty="0" smtClean="0">
                <a:solidFill>
                  <a:schemeClr val="tx2">
                    <a:lumMod val="95000"/>
                    <a:lumOff val="5000"/>
                  </a:schemeClr>
                </a:solidFill>
                <a:latin typeface="Arial" panose="020B0604020202020204" pitchFamily="34" charset="0"/>
              </a:rPr>
              <a:t>时效性及</a:t>
            </a:r>
            <a:r>
              <a:rPr lang="zh-CN" altLang="en-US" sz="2000" b="1" dirty="0">
                <a:solidFill>
                  <a:schemeClr val="tx2">
                    <a:lumMod val="95000"/>
                    <a:lumOff val="5000"/>
                  </a:schemeClr>
                </a:solidFill>
                <a:latin typeface="Arial" panose="020B0604020202020204" pitchFamily="34" charset="0"/>
              </a:rPr>
              <a:t>黑名单。</a:t>
            </a:r>
            <a:endParaRPr lang="zh-CN" altLang="en-US" sz="2000" b="1" dirty="0">
              <a:solidFill>
                <a:schemeClr val="tx2">
                  <a:lumMod val="95000"/>
                  <a:lumOff val="5000"/>
                </a:schemeClr>
              </a:solidFill>
              <a:latin typeface="Arial" panose="020B0604020202020204" pitchFamily="34" charset="0"/>
            </a:endParaRPr>
          </a:p>
          <a:p>
            <a:pPr>
              <a:spcAft>
                <a:spcPts val="600"/>
              </a:spcAft>
              <a:defRPr/>
            </a:pPr>
            <a:r>
              <a:rPr lang="en-US" altLang="zh-CN" sz="2000" b="1" dirty="0">
                <a:solidFill>
                  <a:srgbClr val="C00000"/>
                </a:solidFill>
                <a:latin typeface="Arial" panose="020B0604020202020204" pitchFamily="34" charset="0"/>
              </a:rPr>
              <a:t>2</a:t>
            </a:r>
            <a:r>
              <a:rPr lang="zh-CN" altLang="en-US" sz="2000" b="1" dirty="0">
                <a:solidFill>
                  <a:srgbClr val="C00000"/>
                </a:solidFill>
                <a:latin typeface="Arial" panose="020B0604020202020204" pitchFamily="34" charset="0"/>
              </a:rPr>
              <a:t>）双向认证。</a:t>
            </a:r>
            <a:r>
              <a:rPr lang="zh-CN" altLang="en-US" sz="2000" b="1" dirty="0">
                <a:solidFill>
                  <a:schemeClr val="tx2">
                    <a:lumMod val="95000"/>
                    <a:lumOff val="5000"/>
                  </a:schemeClr>
                </a:solidFill>
                <a:latin typeface="Arial" panose="020B0604020202020204" pitchFamily="34" charset="0"/>
              </a:rPr>
              <a:t>双方在网上通信时，双方互相认定身份。其认证过程的各方都与上述单向认证过程相同。双方采用</a:t>
            </a:r>
            <a:r>
              <a:rPr lang="en-US" altLang="zh-CN" sz="2000" b="1" dirty="0">
                <a:solidFill>
                  <a:schemeClr val="tx2">
                    <a:lumMod val="95000"/>
                    <a:lumOff val="5000"/>
                  </a:schemeClr>
                </a:solidFill>
                <a:latin typeface="Arial" panose="020B0604020202020204" pitchFamily="34" charset="0"/>
              </a:rPr>
              <a:t>LDAP</a:t>
            </a:r>
            <a:r>
              <a:rPr lang="zh-CN" altLang="en-US" sz="2000" b="1" dirty="0">
                <a:solidFill>
                  <a:schemeClr val="tx2">
                    <a:lumMod val="95000"/>
                    <a:lumOff val="5000"/>
                  </a:schemeClr>
                </a:solidFill>
                <a:latin typeface="Arial" panose="020B0604020202020204" pitchFamily="34" charset="0"/>
              </a:rPr>
              <a:t>协议（</a:t>
            </a:r>
            <a:r>
              <a:rPr lang="en-US" altLang="zh-CN" sz="2000" b="1" dirty="0">
                <a:solidFill>
                  <a:schemeClr val="tx2">
                    <a:lumMod val="95000"/>
                    <a:lumOff val="5000"/>
                  </a:schemeClr>
                </a:solidFill>
                <a:latin typeface="Arial" panose="020B0604020202020204" pitchFamily="34" charset="0"/>
              </a:rPr>
              <a:t>Light Directory Access Protocol</a:t>
            </a:r>
            <a:r>
              <a:rPr lang="zh-CN" altLang="en-US" sz="2000" b="1" dirty="0">
                <a:solidFill>
                  <a:schemeClr val="tx2">
                    <a:lumMod val="95000"/>
                    <a:lumOff val="5000"/>
                  </a:schemeClr>
                </a:solidFill>
                <a:latin typeface="Arial" panose="020B0604020202020204" pitchFamily="34" charset="0"/>
              </a:rPr>
              <a:t>）在网上查询对方证书的有效性及黑名单。</a:t>
            </a:r>
            <a:endParaRPr lang="zh-CN" altLang="en-US" sz="2000" b="1" dirty="0">
              <a:solidFill>
                <a:schemeClr val="tx2">
                  <a:lumMod val="95000"/>
                  <a:lumOff val="5000"/>
                </a:schemeClr>
              </a:solidFill>
              <a:latin typeface="Arial" panose="020B0604020202020204" pitchFamily="34" charset="0"/>
            </a:endParaRPr>
          </a:p>
        </p:txBody>
      </p:sp>
      <p:sp>
        <p:nvSpPr>
          <p:cNvPr id="23555" name="内容占位符 13"/>
          <p:cNvSpPr>
            <a:spLocks noChangeArrowheads="1"/>
          </p:cNvSpPr>
          <p:nvPr/>
        </p:nvSpPr>
        <p:spPr bwMode="auto">
          <a:xfrm>
            <a:off x="39528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6.2.1 </a:t>
            </a:r>
            <a:r>
              <a:rPr lang="zh-CN" altLang="en-US" sz="2600" b="1">
                <a:solidFill>
                  <a:srgbClr val="FF0000"/>
                </a:solidFill>
                <a:latin typeface="宋体" panose="02010600030101010101" pitchFamily="2" charset="-122"/>
              </a:rPr>
              <a:t>身份认证系统</a:t>
            </a:r>
            <a:endParaRPr lang="zh-CN" altLang="en-US" sz="2600" b="1">
              <a:solidFill>
                <a:srgbClr val="FF0000"/>
              </a:solidFill>
              <a:latin typeface="宋体" panose="02010600030101010101" pitchFamily="2" charset="-122"/>
            </a:endParaRPr>
          </a:p>
        </p:txBody>
      </p:sp>
      <p:sp>
        <p:nvSpPr>
          <p:cNvPr id="23556"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3557" name="Picture 5" descr="j0300520"/>
          <p:cNvPicPr>
            <a:picLocks noChangeAspect="1" noChangeArrowheads="1"/>
          </p:cNvPicPr>
          <p:nvPr/>
        </p:nvPicPr>
        <p:blipFill>
          <a:blip r:embed="rId1"/>
          <a:srcRect/>
          <a:stretch>
            <a:fillRect/>
          </a:stretch>
        </p:blipFill>
        <p:spPr bwMode="auto">
          <a:xfrm>
            <a:off x="5724525" y="5013325"/>
            <a:ext cx="1295400" cy="11144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12800" y="1773238"/>
            <a:ext cx="7735888" cy="30257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Aft>
                <a:spcPts val="600"/>
              </a:spcAft>
              <a:buFont typeface="Arial" panose="020B0604020202020204" pitchFamily="34" charset="0"/>
              <a:buNone/>
              <a:defRPr/>
            </a:pPr>
            <a:r>
              <a:rPr lang="zh-CN" altLang="en-US" sz="2400" b="1" dirty="0">
                <a:solidFill>
                  <a:schemeClr val="tx2">
                    <a:lumMod val="95000"/>
                    <a:lumOff val="5000"/>
                  </a:schemeClr>
                </a:solidFill>
                <a:latin typeface="Arial" panose="020B0604020202020204" pitchFamily="34" charset="0"/>
              </a:rPr>
              <a:t>在网络系统中，</a:t>
            </a:r>
            <a:r>
              <a:rPr lang="zh-CN" altLang="en-US" sz="2400" b="1" dirty="0">
                <a:solidFill>
                  <a:srgbClr val="C00000"/>
                </a:solidFill>
                <a:latin typeface="Arial" panose="020B0604020202020204" pitchFamily="34" charset="0"/>
              </a:rPr>
              <a:t>身份认证机制</a:t>
            </a:r>
            <a:r>
              <a:rPr lang="zh-CN" altLang="en-US" sz="2400" b="1" dirty="0">
                <a:solidFill>
                  <a:schemeClr val="tx2">
                    <a:lumMod val="95000"/>
                    <a:lumOff val="5000"/>
                  </a:schemeClr>
                </a:solidFill>
                <a:latin typeface="Arial" panose="020B0604020202020204" pitchFamily="34" charset="0"/>
              </a:rPr>
              <a:t>定义了参与认证的通信方在身份认证过程中所需要交换的消息的格式、消息发生的次序以及消息的语义，为网络中的各种资源提供安全保护。</a:t>
            </a:r>
            <a:endParaRPr lang="en-US" altLang="zh-CN" sz="2400" b="1" dirty="0">
              <a:solidFill>
                <a:schemeClr val="tx2">
                  <a:lumMod val="95000"/>
                  <a:lumOff val="5000"/>
                </a:schemeClr>
              </a:solidFill>
              <a:latin typeface="Arial" panose="020B0604020202020204" pitchFamily="34" charset="0"/>
            </a:endParaRPr>
          </a:p>
          <a:p>
            <a:pPr indent="457200" algn="just">
              <a:spcAft>
                <a:spcPts val="600"/>
              </a:spcAft>
              <a:buFont typeface="Arial" panose="020B0604020202020204" pitchFamily="34" charset="0"/>
              <a:buNone/>
              <a:defRPr/>
            </a:pPr>
            <a:r>
              <a:rPr lang="zh-CN" altLang="en-US" sz="2400" b="1" dirty="0">
                <a:solidFill>
                  <a:srgbClr val="C00000"/>
                </a:solidFill>
                <a:latin typeface="Arial" panose="020B0604020202020204" pitchFamily="34" charset="0"/>
              </a:rPr>
              <a:t>认证机制与授权机制常结合一起</a:t>
            </a:r>
            <a:r>
              <a:rPr lang="zh-CN" altLang="en-US" sz="2400" b="1" dirty="0">
                <a:solidFill>
                  <a:schemeClr val="tx2">
                    <a:lumMod val="95000"/>
                    <a:lumOff val="5000"/>
                  </a:schemeClr>
                </a:solidFill>
                <a:latin typeface="Arial" panose="020B0604020202020204" pitchFamily="34" charset="0"/>
              </a:rPr>
              <a:t>，通过认证的用户才可获得使用权限。</a:t>
            </a:r>
            <a:r>
              <a:rPr lang="zh-CN" altLang="en-US" sz="2400" b="1" dirty="0">
                <a:solidFill>
                  <a:srgbClr val="0000FF"/>
                </a:solidFill>
                <a:latin typeface="Arial" panose="020B0604020202020204" pitchFamily="34" charset="0"/>
              </a:rPr>
              <a:t>常用的认证机制有</a:t>
            </a:r>
            <a:r>
              <a:rPr lang="zh-CN" altLang="en-US" sz="2400" b="1" dirty="0">
                <a:solidFill>
                  <a:schemeClr val="tx2">
                    <a:lumMod val="95000"/>
                    <a:lumOff val="5000"/>
                  </a:schemeClr>
                </a:solidFill>
                <a:latin typeface="Arial" panose="020B0604020202020204" pitchFamily="34" charset="0"/>
              </a:rPr>
              <a:t>：固定口令方式、一次性口令认证、双因素安全令牌、单点登入等。</a:t>
            </a:r>
            <a:endParaRPr lang="zh-CN" altLang="en-US" sz="2400" b="1" dirty="0">
              <a:solidFill>
                <a:schemeClr val="tx2">
                  <a:lumMod val="95000"/>
                  <a:lumOff val="5000"/>
                </a:schemeClr>
              </a:solidFill>
              <a:latin typeface="Arial" panose="020B0604020202020204" pitchFamily="34" charset="0"/>
            </a:endParaRPr>
          </a:p>
        </p:txBody>
      </p:sp>
      <p:sp>
        <p:nvSpPr>
          <p:cNvPr id="24578" name="内容占位符 13"/>
          <p:cNvSpPr>
            <a:spLocks noChangeArrowheads="1"/>
          </p:cNvSpPr>
          <p:nvPr/>
        </p:nvSpPr>
        <p:spPr bwMode="auto">
          <a:xfrm>
            <a:off x="395288" y="1196975"/>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sp>
        <p:nvSpPr>
          <p:cNvPr id="2457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24580" name="内容占位符 13"/>
          <p:cNvSpPr>
            <a:spLocks noChangeArrowheads="1"/>
          </p:cNvSpPr>
          <p:nvPr/>
        </p:nvSpPr>
        <p:spPr bwMode="auto">
          <a:xfrm>
            <a:off x="655638" y="11969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600" b="1">
                <a:solidFill>
                  <a:srgbClr val="FF0000"/>
                </a:solidFill>
                <a:latin typeface="宋体" panose="02010600030101010101" pitchFamily="2" charset="-122"/>
              </a:rPr>
              <a:t>6.2.2 </a:t>
            </a:r>
            <a:r>
              <a:rPr lang="zh-CN" altLang="en-US" sz="2600" b="1">
                <a:solidFill>
                  <a:srgbClr val="FF0000"/>
                </a:solidFill>
                <a:latin typeface="宋体" panose="02010600030101010101" pitchFamily="2" charset="-122"/>
              </a:rPr>
              <a:t>身份认证机制</a:t>
            </a:r>
            <a:endParaRPr lang="zh-CN" altLang="en-US" sz="2600" b="1">
              <a:solidFill>
                <a:srgbClr val="FF0000"/>
              </a:solidFill>
              <a:latin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55955" y="1786255"/>
            <a:ext cx="8107045" cy="41960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spcAft>
                <a:spcPts val="600"/>
              </a:spcAft>
              <a:defRPr/>
            </a:pPr>
            <a:r>
              <a:rPr lang="en-US" altLang="zh-CN" sz="2200" b="1" dirty="0">
                <a:solidFill>
                  <a:srgbClr val="C00000"/>
                </a:solidFill>
                <a:latin typeface="Arial" panose="020B0604020202020204" pitchFamily="34" charset="0"/>
              </a:rPr>
              <a:t>1 .</a:t>
            </a:r>
            <a:r>
              <a:rPr lang="zh-CN" altLang="en-US" sz="2200" b="1" dirty="0">
                <a:solidFill>
                  <a:srgbClr val="C00000"/>
                </a:solidFill>
                <a:latin typeface="Arial" panose="020B0604020202020204" pitchFamily="34" charset="0"/>
              </a:rPr>
              <a:t> 固定口令方式</a:t>
            </a:r>
            <a:endParaRPr lang="en-US" altLang="zh-CN" sz="2200" b="1" dirty="0">
              <a:solidFill>
                <a:srgbClr val="C00000"/>
              </a:solidFill>
              <a:latin typeface="Arial" panose="020B0604020202020204" pitchFamily="34" charset="0"/>
            </a:endParaRPr>
          </a:p>
          <a:p>
            <a:pPr lvl="1">
              <a:spcAft>
                <a:spcPts val="600"/>
              </a:spcAft>
              <a:defRPr/>
            </a:pPr>
            <a:r>
              <a:rPr lang="zh-CN" altLang="en-US" sz="2000" b="1" dirty="0">
                <a:solidFill>
                  <a:schemeClr val="tx2">
                    <a:lumMod val="95000"/>
                    <a:lumOff val="5000"/>
                  </a:schemeClr>
                </a:solidFill>
                <a:latin typeface="Arial" panose="020B0604020202020204" pitchFamily="34" charset="0"/>
              </a:rPr>
              <a:t>固定口令认证是一种以检验用户设定的固定字符串进行系统认证的方式。当通过网络访问网站资源时，系统要求输入用户名和密码。在账户和密码被确认后，用户便可访问授权的资源。</a:t>
            </a:r>
            <a:endParaRPr lang="en-US" altLang="zh-CN" sz="2000" b="1" dirty="0">
              <a:solidFill>
                <a:schemeClr val="tx2">
                  <a:lumMod val="95000"/>
                  <a:lumOff val="5000"/>
                </a:schemeClr>
              </a:solidFill>
              <a:latin typeface="Arial" panose="020B0604020202020204" pitchFamily="34" charset="0"/>
            </a:endParaRPr>
          </a:p>
          <a:p>
            <a:pPr lvl="1">
              <a:spcAft>
                <a:spcPts val="600"/>
              </a:spcAft>
              <a:defRPr/>
            </a:pPr>
            <a:r>
              <a:rPr lang="zh-CN" altLang="en-US" sz="2000" b="1" dirty="0">
                <a:solidFill>
                  <a:srgbClr val="CC0000"/>
                </a:solidFill>
                <a:latin typeface="Arial" panose="020B0604020202020204" pitchFamily="34" charset="0"/>
              </a:rPr>
              <a:t>固定口令认证方式</a:t>
            </a:r>
            <a:r>
              <a:rPr lang="zh-CN" altLang="en-US" sz="2000" b="1" dirty="0">
                <a:solidFill>
                  <a:srgbClr val="3333FF"/>
                </a:solidFill>
                <a:latin typeface="Arial" panose="020B0604020202020204" pitchFamily="34" charset="0"/>
              </a:rPr>
              <a:t>简单，易受攻击</a:t>
            </a:r>
            <a:r>
              <a:rPr lang="zh-CN" altLang="en-US" sz="2000" b="1" dirty="0">
                <a:solidFill>
                  <a:schemeClr val="tx2"/>
                </a:solidFill>
                <a:latin typeface="Arial" panose="020B0604020202020204" pitchFamily="34" charset="0"/>
              </a:rPr>
              <a:t>：	</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）网络数据流窃听（</a:t>
            </a:r>
            <a:r>
              <a:rPr lang="en-US" altLang="zh-CN" sz="2000" b="1" dirty="0">
                <a:solidFill>
                  <a:srgbClr val="006600"/>
                </a:solidFill>
                <a:latin typeface="Arial" panose="020B0604020202020204" pitchFamily="34" charset="0"/>
              </a:rPr>
              <a:t>Sniffer</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）认证信息截取</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重放。</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）字典攻击。</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4</a:t>
            </a:r>
            <a:r>
              <a:rPr lang="zh-CN" altLang="en-US" sz="2000" b="1" dirty="0">
                <a:solidFill>
                  <a:schemeClr val="tx2"/>
                </a:solidFill>
                <a:latin typeface="Arial" panose="020B0604020202020204" pitchFamily="34" charset="0"/>
              </a:rPr>
              <a:t>）穷举尝试（</a:t>
            </a:r>
            <a:r>
              <a:rPr lang="en-US" altLang="zh-CN" sz="2000" b="1" dirty="0">
                <a:solidFill>
                  <a:srgbClr val="006600"/>
                </a:solidFill>
                <a:latin typeface="Arial" panose="020B0604020202020204" pitchFamily="34" charset="0"/>
              </a:rPr>
              <a:t>Brute Force</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5</a:t>
            </a:r>
            <a:r>
              <a:rPr lang="zh-CN" altLang="en-US" sz="2000" b="1" dirty="0">
                <a:solidFill>
                  <a:schemeClr val="tx2"/>
                </a:solidFill>
                <a:latin typeface="Arial" panose="020B0604020202020204" pitchFamily="34" charset="0"/>
              </a:rPr>
              <a:t>）窥探密码。</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6</a:t>
            </a:r>
            <a:r>
              <a:rPr lang="zh-CN" altLang="en-US" sz="2000" b="1" dirty="0">
                <a:solidFill>
                  <a:schemeClr val="tx2"/>
                </a:solidFill>
                <a:latin typeface="Arial" panose="020B0604020202020204" pitchFamily="34" charset="0"/>
              </a:rPr>
              <a:t>）社会工程</a:t>
            </a:r>
            <a:r>
              <a:rPr lang="zh-CN" altLang="en-US" sz="2000" b="1" dirty="0" smtClean="0">
                <a:solidFill>
                  <a:schemeClr val="tx2"/>
                </a:solidFill>
                <a:latin typeface="Arial" panose="020B0604020202020204" pitchFamily="34" charset="0"/>
              </a:rPr>
              <a:t>攻击</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7</a:t>
            </a:r>
            <a:r>
              <a:rPr lang="zh-CN" altLang="en-US" sz="2000" b="1" dirty="0">
                <a:solidFill>
                  <a:schemeClr val="tx2"/>
                </a:solidFill>
                <a:latin typeface="Arial" panose="020B0604020202020204" pitchFamily="34" charset="0"/>
              </a:rPr>
              <a:t>）垃圾搜索。</a:t>
            </a:r>
            <a:endParaRPr lang="en-US" altLang="zh-CN" sz="2000" b="1" dirty="0">
              <a:solidFill>
                <a:schemeClr val="tx2"/>
              </a:solidFill>
              <a:latin typeface="Arial" panose="020B0604020202020204" pitchFamily="34" charset="0"/>
            </a:endParaRPr>
          </a:p>
        </p:txBody>
      </p:sp>
      <p:sp>
        <p:nvSpPr>
          <p:cNvPr id="25602" name="内容占位符 13"/>
          <p:cNvSpPr>
            <a:spLocks noChangeArrowheads="1"/>
          </p:cNvSpPr>
          <p:nvPr/>
        </p:nvSpPr>
        <p:spPr bwMode="auto">
          <a:xfrm>
            <a:off x="882650" y="12096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400" b="1">
                <a:solidFill>
                  <a:srgbClr val="C00000"/>
                </a:solidFill>
                <a:latin typeface="宋体" panose="02010600030101010101" pitchFamily="2" charset="-122"/>
              </a:rPr>
              <a:t>6.2.2 </a:t>
            </a:r>
            <a:r>
              <a:rPr lang="zh-CN" altLang="en-US" sz="2400" b="1">
                <a:solidFill>
                  <a:srgbClr val="C00000"/>
                </a:solidFill>
                <a:latin typeface="宋体" panose="02010600030101010101" pitchFamily="2" charset="-122"/>
              </a:rPr>
              <a:t>身份认证机制</a:t>
            </a:r>
            <a:endParaRPr lang="zh-CN" altLang="en-US" sz="2400" b="1">
              <a:solidFill>
                <a:srgbClr val="C00000"/>
              </a:solidFill>
              <a:latin typeface="宋体" panose="02010600030101010101" pitchFamily="2" charset="-122"/>
            </a:endParaRPr>
          </a:p>
        </p:txBody>
      </p:sp>
      <p:sp>
        <p:nvSpPr>
          <p:cNvPr id="25603" name="内容占位符 13"/>
          <p:cNvSpPr>
            <a:spLocks noChangeArrowheads="1"/>
          </p:cNvSpPr>
          <p:nvPr/>
        </p:nvSpPr>
        <p:spPr bwMode="auto">
          <a:xfrm>
            <a:off x="809625" y="1198563"/>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pic>
        <p:nvPicPr>
          <p:cNvPr id="25604" name="Picture 25"/>
          <p:cNvPicPr>
            <a:picLocks noChangeAspect="1" noChangeArrowheads="1"/>
          </p:cNvPicPr>
          <p:nvPr/>
        </p:nvPicPr>
        <p:blipFill>
          <a:blip r:embed="rId1" cstate="print"/>
          <a:srcRect/>
          <a:stretch>
            <a:fillRect/>
          </a:stretch>
        </p:blipFill>
        <p:spPr bwMode="auto">
          <a:xfrm flipH="1">
            <a:off x="6156325" y="3933825"/>
            <a:ext cx="1728788" cy="1584325"/>
          </a:xfrm>
          <a:prstGeom prst="rect">
            <a:avLst/>
          </a:prstGeom>
          <a:noFill/>
          <a:ln w="9525">
            <a:noFill/>
            <a:miter lim="800000"/>
            <a:headEnd/>
            <a:tailEnd/>
          </a:ln>
        </p:spPr>
      </p:pic>
      <p:sp>
        <p:nvSpPr>
          <p:cNvPr id="256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777875" y="1797050"/>
            <a:ext cx="8107680" cy="444373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lvl="1">
              <a:spcAft>
                <a:spcPts val="600"/>
              </a:spcAft>
              <a:defRPr/>
            </a:pPr>
            <a:r>
              <a:rPr lang="en-US" altLang="zh-CN" sz="2000" b="1" dirty="0">
                <a:solidFill>
                  <a:srgbClr val="FF0000"/>
                </a:solidFill>
                <a:latin typeface="Arial" panose="020B0604020202020204" pitchFamily="34" charset="0"/>
              </a:rPr>
              <a:t>2.</a:t>
            </a:r>
            <a:r>
              <a:rPr lang="zh-CN" altLang="en-US" sz="2200" b="1" dirty="0">
                <a:solidFill>
                  <a:srgbClr val="C00000"/>
                </a:solidFill>
                <a:latin typeface="Arial" panose="020B0604020202020204" pitchFamily="34" charset="0"/>
              </a:rPr>
              <a:t>一次性</a:t>
            </a:r>
            <a:r>
              <a:rPr lang="en-US" altLang="zh-CN" sz="2200" b="1" dirty="0">
                <a:solidFill>
                  <a:srgbClr val="C00000"/>
                </a:solidFill>
                <a:latin typeface="Arial" panose="020B0604020202020204" pitchFamily="34" charset="0"/>
              </a:rPr>
              <a:t>(</a:t>
            </a:r>
            <a:r>
              <a:rPr lang="zh-CN" altLang="en-US" sz="2200" b="1" dirty="0">
                <a:solidFill>
                  <a:srgbClr val="C00000"/>
                </a:solidFill>
                <a:latin typeface="Arial" panose="020B0604020202020204" pitchFamily="34" charset="0"/>
              </a:rPr>
              <a:t>动态</a:t>
            </a:r>
            <a:r>
              <a:rPr lang="en-US" altLang="zh-CN" sz="2200" b="1" dirty="0">
                <a:solidFill>
                  <a:srgbClr val="C00000"/>
                </a:solidFill>
                <a:latin typeface="Arial" panose="020B0604020202020204" pitchFamily="34" charset="0"/>
              </a:rPr>
              <a:t>)</a:t>
            </a:r>
            <a:r>
              <a:rPr lang="zh-CN" altLang="en-US" sz="2200" b="1" dirty="0">
                <a:solidFill>
                  <a:srgbClr val="C00000"/>
                </a:solidFill>
                <a:latin typeface="Arial" panose="020B0604020202020204" pitchFamily="34" charset="0"/>
              </a:rPr>
              <a:t>口令方式</a:t>
            </a:r>
            <a:endParaRPr lang="zh-CN" altLang="en-US" sz="2200" b="1" dirty="0">
              <a:solidFill>
                <a:srgbClr val="C00000"/>
              </a:solidFill>
              <a:latin typeface="Arial" panose="020B0604020202020204" pitchFamily="34" charset="0"/>
            </a:endParaRPr>
          </a:p>
          <a:p>
            <a:pPr>
              <a:defRPr/>
            </a:pPr>
            <a:r>
              <a:rPr lang="zh-CN" altLang="en-US" sz="2000" b="1" dirty="0">
                <a:solidFill>
                  <a:srgbClr val="3333FF"/>
                </a:solidFill>
                <a:latin typeface="Arial" panose="020B0604020202020204" pitchFamily="34" charset="0"/>
              </a:rPr>
              <a:t>       </a:t>
            </a:r>
            <a:r>
              <a:rPr lang="zh-CN" altLang="en-US" sz="2000" b="1" dirty="0">
                <a:solidFill>
                  <a:srgbClr val="FF0000"/>
                </a:solidFill>
                <a:latin typeface="Arial" panose="020B0604020202020204" pitchFamily="34" charset="0"/>
              </a:rPr>
              <a:t> 一次性口令（</a:t>
            </a:r>
            <a:r>
              <a:rPr lang="en-US" altLang="zh-CN" sz="2000" b="1" dirty="0">
                <a:solidFill>
                  <a:srgbClr val="FF0000"/>
                </a:solidFill>
                <a:latin typeface="Arial" panose="020B0604020202020204" pitchFamily="34" charset="0"/>
              </a:rPr>
              <a:t>One Time Password</a:t>
            </a:r>
            <a:r>
              <a:rPr lang="zh-CN" altLang="en-US" sz="2000" b="1" dirty="0">
                <a:solidFill>
                  <a:srgbClr val="FF0000"/>
                </a:solidFill>
                <a:latin typeface="Arial" panose="020B0604020202020204" pitchFamily="34" charset="0"/>
              </a:rPr>
              <a:t>，</a:t>
            </a:r>
            <a:r>
              <a:rPr lang="en-US" altLang="zh-CN" sz="2000" b="1" dirty="0">
                <a:solidFill>
                  <a:srgbClr val="FF0000"/>
                </a:solidFill>
                <a:latin typeface="Arial" panose="020B0604020202020204" pitchFamily="34" charset="0"/>
              </a:rPr>
              <a:t>OTP</a:t>
            </a:r>
            <a:r>
              <a:rPr lang="zh-CN" altLang="en-US" sz="2000" b="1" dirty="0">
                <a:solidFill>
                  <a:srgbClr val="FF0000"/>
                </a:solidFill>
                <a:latin typeface="Arial" panose="020B0604020202020204" pitchFamily="34" charset="0"/>
              </a:rPr>
              <a:t>）</a:t>
            </a:r>
            <a:r>
              <a:rPr lang="zh-CN" altLang="en-US" sz="2000" b="1" dirty="0">
                <a:solidFill>
                  <a:schemeClr val="tx2"/>
                </a:solidFill>
                <a:latin typeface="Arial" panose="020B0604020202020204" pitchFamily="34" charset="0"/>
              </a:rPr>
              <a:t>认证体制，主要在登入过程中加入不确定因素，使每次登入过程中传送的信息都不相同，从而提高系统安全性。</a:t>
            </a:r>
            <a:endParaRPr lang="zh-CN" altLang="en-US" sz="2000" b="1" dirty="0">
              <a:solidFill>
                <a:schemeClr val="tx2"/>
              </a:solidFill>
              <a:latin typeface="Arial" panose="020B0604020202020204" pitchFamily="34" charset="0"/>
            </a:endParaRPr>
          </a:p>
          <a:p>
            <a:pPr>
              <a:defRPr/>
            </a:pPr>
            <a:r>
              <a:rPr lang="zh-CN" altLang="en-US" sz="2000" b="1" dirty="0">
                <a:solidFill>
                  <a:srgbClr val="CC0000"/>
                </a:solidFill>
                <a:latin typeface="Arial" panose="020B0604020202020204" pitchFamily="34" charset="0"/>
              </a:rPr>
              <a:t>一次性口令认证系统</a:t>
            </a:r>
            <a:r>
              <a:rPr lang="zh-CN" altLang="en-US" sz="2000" b="1" dirty="0">
                <a:solidFill>
                  <a:srgbClr val="3333FF"/>
                </a:solidFill>
                <a:latin typeface="Arial" panose="020B0604020202020204" pitchFamily="34" charset="0"/>
              </a:rPr>
              <a:t>组成：</a:t>
            </a:r>
            <a:endParaRPr lang="zh-CN" altLang="en-US" sz="2000" b="1" dirty="0">
              <a:solidFill>
                <a:srgbClr val="3333FF"/>
              </a:solidFill>
              <a:latin typeface="Arial" panose="020B0604020202020204" pitchFamily="34" charset="0"/>
            </a:endParaRPr>
          </a:p>
          <a:p>
            <a:pPr>
              <a:spcBef>
                <a:spcPts val="1200"/>
              </a:spcBef>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）生成不确定因子</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口令序列方式</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挑战</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回答方式</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时间同步方式</a:t>
            </a:r>
            <a:endParaRPr lang="zh-CN" altLang="en-US" sz="2000" b="1" dirty="0">
              <a:solidFill>
                <a:schemeClr val="tx2"/>
              </a:solidFill>
              <a:latin typeface="Arial" panose="020B0604020202020204" pitchFamily="34" charset="0"/>
            </a:endParaRPr>
          </a:p>
          <a:p>
            <a:pPr>
              <a:spcBef>
                <a:spcPts val="1200"/>
              </a:spcBef>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）生成一次性口令。</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硬件卡（</a:t>
            </a:r>
            <a:r>
              <a:rPr lang="en-US" altLang="zh-CN" sz="2000" b="1" dirty="0">
                <a:solidFill>
                  <a:schemeClr val="tx2"/>
                </a:solidFill>
                <a:latin typeface="Arial" panose="020B0604020202020204" pitchFamily="34" charset="0"/>
              </a:rPr>
              <a:t>Token Card</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1257300" lvl="2"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软件（</a:t>
            </a:r>
            <a:r>
              <a:rPr lang="en-US" altLang="zh-CN" sz="2000" b="1" dirty="0">
                <a:solidFill>
                  <a:schemeClr val="tx2"/>
                </a:solidFill>
                <a:latin typeface="Arial" panose="020B0604020202020204" pitchFamily="34" charset="0"/>
              </a:rPr>
              <a:t>Soft Token</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27650" name="内容占位符 13"/>
          <p:cNvSpPr>
            <a:spLocks noChangeArrowheads="1"/>
          </p:cNvSpPr>
          <p:nvPr/>
        </p:nvSpPr>
        <p:spPr bwMode="auto">
          <a:xfrm>
            <a:off x="882650" y="1209675"/>
            <a:ext cx="7632700" cy="576263"/>
          </a:xfrm>
          <a:prstGeom prst="rect">
            <a:avLst/>
          </a:prstGeom>
          <a:noFill/>
          <a:ln w="9525">
            <a:noFill/>
            <a:miter lim="800000"/>
          </a:ln>
        </p:spPr>
        <p:txBody>
          <a:bodyPr/>
          <a:lstStyle/>
          <a:p>
            <a:pPr marL="342900" indent="-342900">
              <a:spcBef>
                <a:spcPct val="20000"/>
              </a:spcBef>
              <a:spcAft>
                <a:spcPts val="600"/>
              </a:spcAft>
              <a:buClr>
                <a:schemeClr val="hlink"/>
              </a:buClr>
            </a:pPr>
            <a:r>
              <a:rPr lang="en-US" altLang="zh-CN" sz="2400" b="1">
                <a:solidFill>
                  <a:srgbClr val="C00000"/>
                </a:solidFill>
                <a:latin typeface="宋体" panose="02010600030101010101" pitchFamily="2" charset="-122"/>
              </a:rPr>
              <a:t>6.2.2 </a:t>
            </a:r>
            <a:r>
              <a:rPr lang="zh-CN" altLang="en-US" sz="2400" b="1">
                <a:solidFill>
                  <a:srgbClr val="C00000"/>
                </a:solidFill>
                <a:latin typeface="宋体" panose="02010600030101010101" pitchFamily="2" charset="-122"/>
              </a:rPr>
              <a:t>身份认证机制</a:t>
            </a:r>
            <a:endParaRPr lang="zh-CN" altLang="en-US" sz="2400" b="1">
              <a:solidFill>
                <a:srgbClr val="C00000"/>
              </a:solidFill>
              <a:latin typeface="宋体" panose="02010600030101010101" pitchFamily="2" charset="-122"/>
            </a:endParaRPr>
          </a:p>
        </p:txBody>
      </p:sp>
      <p:sp>
        <p:nvSpPr>
          <p:cNvPr id="27651" name="内容占位符 13"/>
          <p:cNvSpPr>
            <a:spLocks noChangeArrowheads="1"/>
          </p:cNvSpPr>
          <p:nvPr/>
        </p:nvSpPr>
        <p:spPr bwMode="auto">
          <a:xfrm>
            <a:off x="809625" y="1198563"/>
            <a:ext cx="8153400" cy="587375"/>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b="1">
              <a:solidFill>
                <a:schemeClr val="tx2"/>
              </a:solidFill>
              <a:latin typeface="宋体" panose="02010600030101010101" pitchFamily="2" charset="-122"/>
            </a:endParaRPr>
          </a:p>
        </p:txBody>
      </p:sp>
      <p:sp>
        <p:nvSpPr>
          <p:cNvPr id="2765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27653" name="Picture 5" descr="j0300520"/>
          <p:cNvPicPr>
            <a:picLocks noChangeAspect="1" noChangeArrowheads="1"/>
          </p:cNvPicPr>
          <p:nvPr/>
        </p:nvPicPr>
        <p:blipFill>
          <a:blip r:embed="rId1" cstate="print"/>
          <a:srcRect/>
          <a:stretch>
            <a:fillRect/>
          </a:stretch>
        </p:blipFill>
        <p:spPr bwMode="auto">
          <a:xfrm>
            <a:off x="6253163" y="4810125"/>
            <a:ext cx="1295400" cy="1114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29698" name="内容占位符 13"/>
          <p:cNvSpPr>
            <a:spLocks noChangeArrowheads="1"/>
          </p:cNvSpPr>
          <p:nvPr/>
        </p:nvSpPr>
        <p:spPr bwMode="auto">
          <a:xfrm>
            <a:off x="395288" y="1196975"/>
            <a:ext cx="8153400" cy="5338763"/>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29699" name="Rectangle 10"/>
          <p:cNvSpPr>
            <a:spLocks noChangeArrowheads="1"/>
          </p:cNvSpPr>
          <p:nvPr/>
        </p:nvSpPr>
        <p:spPr bwMode="auto">
          <a:xfrm>
            <a:off x="630238" y="1121093"/>
            <a:ext cx="4572000" cy="4849020"/>
          </a:xfrm>
          <a:prstGeom prst="rect">
            <a:avLst/>
          </a:prstGeom>
          <a:noFill/>
          <a:ln w="9525">
            <a:noFill/>
            <a:miter lim="800000"/>
          </a:ln>
        </p:spPr>
        <p:txBody>
          <a:bodyPr>
            <a:spAutoFit/>
          </a:bodyPr>
          <a:lstStyle/>
          <a:p>
            <a:r>
              <a:rPr lang="en-US" altLang="zh-CN" sz="2200" b="1" dirty="0">
                <a:solidFill>
                  <a:srgbClr val="FF0000"/>
                </a:solidFill>
              </a:rPr>
              <a:t>3.</a:t>
            </a:r>
            <a:r>
              <a:rPr lang="zh-CN" altLang="en-US" sz="2200" b="1" dirty="0">
                <a:solidFill>
                  <a:srgbClr val="FF0000"/>
                </a:solidFill>
              </a:rPr>
              <a:t> 双因素安全令牌及认证系统</a:t>
            </a:r>
            <a:endParaRPr lang="zh-CN" altLang="en-US" sz="2200" b="1" dirty="0">
              <a:solidFill>
                <a:srgbClr val="FF0000"/>
              </a:solidFill>
            </a:endParaRPr>
          </a:p>
          <a:p>
            <a:pPr>
              <a:spcBef>
                <a:spcPct val="30000"/>
              </a:spcBef>
            </a:pPr>
            <a:r>
              <a:rPr lang="en-US" altLang="zh-CN" sz="900" b="1" dirty="0"/>
              <a:t>       </a:t>
            </a:r>
            <a:endParaRPr lang="en-US" altLang="zh-CN" sz="900" b="1" dirty="0"/>
          </a:p>
          <a:p>
            <a:pPr>
              <a:spcBef>
                <a:spcPct val="30000"/>
              </a:spcBef>
            </a:pPr>
            <a:r>
              <a:rPr lang="zh-CN" altLang="en-US" b="1" dirty="0"/>
              <a:t>双因素认证是一种采用时间同步技术的系统，采用了基于时间、事件和密钥三变量而产生的一次性密码来代替传统的静态密码。每个动态密码卡都有一个唯一的密钥，该密钥同时存放在服务器端，每次认证时动态密码卡与服务器分别根据同样的密钥，同样的随机参数（时间、事件）和同样的算法计算了认证的动态密码，从而确保密码的一致性，从而实现了用户的认证。因每次认证时的随机参数不同，所以每次产生的动态密码也不同。由于每次计算时参数的随机性保证了每次密码的不可预测性，从而在最基本的密码认证这一环节保证了系统的安全性。解决因口令欺诈而导致的重大损失，防止恶意入侵者或人为破坏，解决由口令泄密导致的入侵问题。</a:t>
            </a:r>
            <a:endParaRPr lang="zh-CN" altLang="en-US" b="1" dirty="0">
              <a:solidFill>
                <a:schemeClr val="tx2"/>
              </a:solidFill>
            </a:endParaRPr>
          </a:p>
        </p:txBody>
      </p:sp>
      <p:pic>
        <p:nvPicPr>
          <p:cNvPr id="29700" name="Picture 10"/>
          <p:cNvPicPr>
            <a:picLocks noChangeAspect="1" noChangeArrowheads="1"/>
          </p:cNvPicPr>
          <p:nvPr/>
        </p:nvPicPr>
        <p:blipFill>
          <a:blip r:embed="rId1" cstate="print"/>
          <a:srcRect/>
          <a:stretch>
            <a:fillRect/>
          </a:stretch>
        </p:blipFill>
        <p:spPr bwMode="auto">
          <a:xfrm>
            <a:off x="5256213" y="1341438"/>
            <a:ext cx="3887787" cy="2255837"/>
          </a:xfrm>
          <a:prstGeom prst="rect">
            <a:avLst/>
          </a:prstGeom>
          <a:noFill/>
          <a:ln w="9525">
            <a:noFill/>
            <a:miter lim="800000"/>
            <a:headEnd/>
            <a:tailEnd/>
          </a:ln>
        </p:spPr>
      </p:pic>
      <p:pic>
        <p:nvPicPr>
          <p:cNvPr id="29701" name="图片 3"/>
          <p:cNvPicPr>
            <a:picLocks noChangeAspect="1" noChangeArrowheads="1"/>
          </p:cNvPicPr>
          <p:nvPr/>
        </p:nvPicPr>
        <p:blipFill>
          <a:blip r:embed="rId2" cstate="print">
            <a:grayscl/>
          </a:blip>
          <a:srcRect/>
          <a:stretch>
            <a:fillRect/>
          </a:stretch>
        </p:blipFill>
        <p:spPr bwMode="auto">
          <a:xfrm>
            <a:off x="5256213" y="3789363"/>
            <a:ext cx="3706812" cy="2360612"/>
          </a:xfrm>
          <a:prstGeom prst="rect">
            <a:avLst/>
          </a:prstGeom>
          <a:noFill/>
          <a:ln w="9525">
            <a:noFill/>
            <a:miter lim="800000"/>
            <a:headEnd/>
            <a:tailEnd/>
          </a:ln>
        </p:spPr>
      </p:pic>
      <p:sp>
        <p:nvSpPr>
          <p:cNvPr id="29702" name="Rectangle 13"/>
          <p:cNvSpPr>
            <a:spLocks noChangeArrowheads="1"/>
          </p:cNvSpPr>
          <p:nvPr/>
        </p:nvSpPr>
        <p:spPr bwMode="auto">
          <a:xfrm>
            <a:off x="6202363" y="6205538"/>
            <a:ext cx="1970087" cy="307975"/>
          </a:xfrm>
          <a:prstGeom prst="rect">
            <a:avLst/>
          </a:prstGeom>
          <a:noFill/>
          <a:ln w="9525">
            <a:noFill/>
            <a:miter lim="800000"/>
          </a:ln>
        </p:spPr>
        <p:txBody>
          <a:bodyPr wrap="none" anchor="ctr">
            <a:spAutoFit/>
          </a:bodyPr>
          <a:lstStyle/>
          <a:p>
            <a:pPr eaLnBrk="0" hangingPunct="0"/>
            <a:r>
              <a:rPr lang="zh-CN" altLang="en-US" sz="1400" b="1">
                <a:solidFill>
                  <a:srgbClr val="800000"/>
                </a:solidFill>
              </a:rPr>
              <a:t> </a:t>
            </a:r>
            <a:r>
              <a:rPr lang="en-US" altLang="zh-CN" sz="1400" b="1">
                <a:solidFill>
                  <a:srgbClr val="800000"/>
                </a:solidFill>
              </a:rPr>
              <a:t> RSA</a:t>
            </a:r>
            <a:r>
              <a:rPr lang="zh-CN" altLang="en-US" sz="1400" b="1">
                <a:solidFill>
                  <a:srgbClr val="800000"/>
                </a:solidFill>
              </a:rPr>
              <a:t>双因素安全令牌 </a:t>
            </a:r>
            <a:endParaRPr lang="zh-CN" altLang="en-US" sz="1400" b="1">
              <a:solidFill>
                <a:srgbClr val="800000"/>
              </a:solidFill>
            </a:endParaRPr>
          </a:p>
        </p:txBody>
      </p:sp>
      <p:sp>
        <p:nvSpPr>
          <p:cNvPr id="29703" name="AutoShape 18"/>
          <p:cNvSpPr>
            <a:spLocks noChangeArrowheads="1"/>
          </p:cNvSpPr>
          <p:nvPr/>
        </p:nvSpPr>
        <p:spPr bwMode="auto">
          <a:xfrm>
            <a:off x="576580" y="1556792"/>
            <a:ext cx="4679950" cy="4842103"/>
          </a:xfrm>
          <a:prstGeom prst="flowChartAlternateProcess">
            <a:avLst/>
          </a:prstGeom>
          <a:noFill/>
          <a:ln w="22225">
            <a:solidFill>
              <a:srgbClr val="00CCFF"/>
            </a:solidFill>
            <a:miter lim="800000"/>
          </a:ln>
        </p:spPr>
        <p:txBody>
          <a:bodyPr wrap="none" anchor="ctr"/>
          <a:lstStyle/>
          <a:p>
            <a:endParaRPr lang="zh-CN" altLang="en-US"/>
          </a:p>
        </p:txBody>
      </p:sp>
      <p:sp>
        <p:nvSpPr>
          <p:cNvPr id="29704" name="矩形 1"/>
          <p:cNvSpPr>
            <a:spLocks noChangeArrowheads="1"/>
          </p:cNvSpPr>
          <p:nvPr/>
        </p:nvSpPr>
        <p:spPr bwMode="auto">
          <a:xfrm>
            <a:off x="6526213" y="4810125"/>
            <a:ext cx="1304925" cy="274638"/>
          </a:xfrm>
          <a:prstGeom prst="rect">
            <a:avLst/>
          </a:prstGeom>
          <a:noFill/>
          <a:ln w="9525">
            <a:noFill/>
            <a:miter lim="800000"/>
          </a:ln>
        </p:spPr>
        <p:txBody>
          <a:bodyPr wrap="none">
            <a:spAutoFit/>
          </a:bodyPr>
          <a:lstStyle/>
          <a:p>
            <a:r>
              <a:rPr lang="zh-CN" altLang="en-US" sz="1200" b="1">
                <a:solidFill>
                  <a:srgbClr val="CC0000"/>
                </a:solidFill>
              </a:rPr>
              <a:t>个人标识号</a:t>
            </a:r>
            <a:r>
              <a:rPr lang="en-US" altLang="zh-CN" sz="1200" b="1">
                <a:solidFill>
                  <a:srgbClr val="CC0000"/>
                </a:solidFill>
              </a:rPr>
              <a:t>-</a:t>
            </a:r>
            <a:r>
              <a:rPr lang="zh-CN" altLang="en-US" sz="1200" b="1">
                <a:solidFill>
                  <a:srgbClr val="CC0000"/>
                </a:solidFill>
              </a:rPr>
              <a:t>密码</a:t>
            </a:r>
            <a:endParaRPr lang="zh-CN" altLang="en-US" sz="1200" b="1">
              <a:solidFill>
                <a:srgbClr val="CC0000"/>
              </a:solidFill>
            </a:endParaRPr>
          </a:p>
        </p:txBody>
      </p:sp>
      <p:sp>
        <p:nvSpPr>
          <p:cNvPr id="29705" name="椭圆 1"/>
          <p:cNvSpPr>
            <a:spLocks noChangeArrowheads="1"/>
          </p:cNvSpPr>
          <p:nvPr/>
        </p:nvSpPr>
        <p:spPr bwMode="auto">
          <a:xfrm>
            <a:off x="5219700" y="4652963"/>
            <a:ext cx="865188" cy="431800"/>
          </a:xfrm>
          <a:prstGeom prst="ellipse">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29706" name="矩形 1"/>
          <p:cNvSpPr>
            <a:spLocks noChangeArrowheads="1"/>
          </p:cNvSpPr>
          <p:nvPr/>
        </p:nvSpPr>
        <p:spPr bwMode="auto">
          <a:xfrm>
            <a:off x="7970838" y="4832350"/>
            <a:ext cx="795337" cy="274638"/>
          </a:xfrm>
          <a:prstGeom prst="rect">
            <a:avLst/>
          </a:prstGeom>
          <a:noFill/>
          <a:ln w="9525">
            <a:noFill/>
            <a:miter lim="800000"/>
          </a:ln>
        </p:spPr>
        <p:txBody>
          <a:bodyPr wrap="none">
            <a:spAutoFit/>
          </a:bodyPr>
          <a:lstStyle/>
          <a:p>
            <a:r>
              <a:rPr lang="zh-CN" altLang="en-US" sz="1200" b="1">
                <a:solidFill>
                  <a:srgbClr val="CC0000"/>
                </a:solidFill>
              </a:rPr>
              <a:t>动态密码</a:t>
            </a:r>
            <a:endParaRPr lang="zh-CN" altLang="en-US" sz="1200" b="1">
              <a:solidFill>
                <a:srgbClr val="CC0000"/>
              </a:solidFill>
            </a:endParaRPr>
          </a:p>
        </p:txBody>
      </p:sp>
      <p:sp>
        <p:nvSpPr>
          <p:cNvPr id="2970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0722" name="内容占位符 13"/>
          <p:cNvSpPr>
            <a:spLocks noChangeArrowheads="1"/>
          </p:cNvSpPr>
          <p:nvPr/>
        </p:nvSpPr>
        <p:spPr bwMode="auto">
          <a:xfrm>
            <a:off x="419100"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0723" name="Rectangle 8"/>
          <p:cNvSpPr>
            <a:spLocks noChangeArrowheads="1"/>
          </p:cNvSpPr>
          <p:nvPr/>
        </p:nvSpPr>
        <p:spPr bwMode="auto">
          <a:xfrm>
            <a:off x="468313" y="3341688"/>
            <a:ext cx="7920037" cy="457200"/>
          </a:xfrm>
          <a:prstGeom prst="rect">
            <a:avLst/>
          </a:prstGeom>
          <a:solidFill>
            <a:srgbClr val="FAFAFA"/>
          </a:solidFill>
          <a:ln w="9525">
            <a:noFill/>
            <a:miter lim="800000"/>
          </a:ln>
        </p:spPr>
        <p:txBody>
          <a:bodyPr anchor="ctr">
            <a:spAutoFit/>
          </a:bodyPr>
          <a:lstStyle/>
          <a:p>
            <a:pPr indent="273050">
              <a:tabLst>
                <a:tab pos="5220970" algn="r"/>
              </a:tabLst>
            </a:pPr>
            <a:endParaRPr lang="zh-CN" altLang="en-US" sz="2400" b="1">
              <a:solidFill>
                <a:schemeClr val="tx2"/>
              </a:solidFill>
            </a:endParaRPr>
          </a:p>
        </p:txBody>
      </p:sp>
      <p:sp>
        <p:nvSpPr>
          <p:cNvPr id="19" name="圆角矩形 18"/>
          <p:cNvSpPr/>
          <p:nvPr/>
        </p:nvSpPr>
        <p:spPr bwMode="gray">
          <a:xfrm>
            <a:off x="457200" y="1281113"/>
            <a:ext cx="8399463" cy="521970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en-US" altLang="zh-CN" sz="2000" b="1" noProof="1">
                <a:solidFill>
                  <a:srgbClr val="CC0000"/>
                </a:solidFill>
              </a:rPr>
              <a:t>        </a:t>
            </a:r>
            <a:r>
              <a:rPr lang="en-US" altLang="zh-CN" sz="2300" b="1" noProof="1">
                <a:solidFill>
                  <a:srgbClr val="CC0000"/>
                </a:solidFill>
              </a:rPr>
              <a:t>4. 单点登入系统</a:t>
            </a:r>
            <a:endParaRPr lang="en-US" altLang="zh-CN" sz="2300" b="1" noProof="1">
              <a:solidFill>
                <a:srgbClr val="CC0000"/>
              </a:solidFill>
            </a:endParaRPr>
          </a:p>
          <a:p>
            <a:pPr eaLnBrk="1" hangingPunct="1">
              <a:defRPr/>
            </a:pPr>
            <a:r>
              <a:rPr lang="en-US" altLang="zh-CN" sz="2300" b="1" noProof="1">
                <a:solidFill>
                  <a:srgbClr val="CC0000"/>
                </a:solidFill>
              </a:rPr>
              <a:t>        </a:t>
            </a:r>
            <a:r>
              <a:rPr lang="en-US" altLang="zh-CN" sz="2300" b="1" noProof="1">
                <a:solidFill>
                  <a:schemeClr val="tx2"/>
                </a:solidFill>
              </a:rPr>
              <a:t>在大型网络系统中，面对各种服务器系统认证方法与手段。在查看邮件、访问工资查询系统或登入公司分支机构时，总要记住不同的用户名和口令。不仅不易管理，也为网络安全留下隐患，为此产生了单点登入系统。</a:t>
            </a:r>
            <a:endParaRPr lang="en-US" altLang="zh-CN" sz="2300" b="1" noProof="1">
              <a:solidFill>
                <a:schemeClr val="tx2"/>
              </a:solidFill>
            </a:endParaRPr>
          </a:p>
          <a:p>
            <a:pPr eaLnBrk="1" hangingPunct="1">
              <a:defRPr/>
            </a:pPr>
            <a:r>
              <a:rPr lang="en-US" altLang="zh-CN" sz="2300" b="1" noProof="1">
                <a:solidFill>
                  <a:srgbClr val="FF0000"/>
                </a:solidFill>
              </a:rPr>
              <a:t>       </a:t>
            </a:r>
            <a:r>
              <a:rPr lang="en-US" altLang="zh-CN" sz="2300" b="1" u="sng" noProof="1">
                <a:solidFill>
                  <a:srgbClr val="FF0000"/>
                </a:solidFill>
              </a:rPr>
              <a:t>单点登入</a:t>
            </a:r>
            <a:r>
              <a:rPr lang="en-US" altLang="zh-CN" sz="2300" b="1" noProof="1">
                <a:solidFill>
                  <a:srgbClr val="FF0000"/>
                </a:solidFill>
              </a:rPr>
              <a:t>（Single Sign On，SSO）</a:t>
            </a:r>
            <a:r>
              <a:rPr lang="en-US" altLang="zh-CN" sz="2300" b="1" noProof="1">
                <a:solidFill>
                  <a:schemeClr val="tx2"/>
                </a:solidFill>
              </a:rPr>
              <a:t>也称</a:t>
            </a:r>
            <a:r>
              <a:rPr lang="en-US" altLang="zh-CN" sz="2300" b="1" noProof="1">
                <a:solidFill>
                  <a:srgbClr val="FF0000"/>
                </a:solidFill>
              </a:rPr>
              <a:t>单次登入</a:t>
            </a:r>
            <a:r>
              <a:rPr lang="en-US" altLang="zh-CN" sz="2300" b="1" noProof="1">
                <a:solidFill>
                  <a:schemeClr val="tx2"/>
                </a:solidFill>
              </a:rPr>
              <a:t>，是在多个应用系统中，用户只需要登入一次就可访问所有相互信任的应用系统</a:t>
            </a:r>
            <a:r>
              <a:rPr lang="zh-CN" altLang="en-US" sz="2300" b="1" noProof="1">
                <a:solidFill>
                  <a:schemeClr val="tx2"/>
                </a:solidFill>
              </a:rPr>
              <a:t>。</a:t>
            </a:r>
            <a:endParaRPr lang="zh-CN" altLang="en-US" sz="2300" b="1" noProof="1">
              <a:solidFill>
                <a:schemeClr val="tx2"/>
              </a:solidFill>
            </a:endParaRPr>
          </a:p>
          <a:p>
            <a:pPr eaLnBrk="1" hangingPunct="1">
              <a:defRPr/>
            </a:pPr>
            <a:r>
              <a:rPr lang="zh-CN" altLang="en-US" sz="2300" b="1" noProof="1">
                <a:solidFill>
                  <a:srgbClr val="C00000"/>
                </a:solidFill>
              </a:rPr>
              <a:t>      单点登入</a:t>
            </a:r>
            <a:r>
              <a:rPr lang="zh-CN" altLang="en-US" sz="2300" b="1" noProof="1">
                <a:solidFill>
                  <a:schemeClr val="tx2"/>
                </a:solidFill>
              </a:rPr>
              <a:t>的</a:t>
            </a:r>
            <a:r>
              <a:rPr lang="zh-CN" altLang="en-US" sz="2300" b="1" noProof="1">
                <a:solidFill>
                  <a:srgbClr val="C00000"/>
                </a:solidFill>
              </a:rPr>
              <a:t>优点</a:t>
            </a:r>
            <a:r>
              <a:rPr lang="zh-CN" altLang="en-US" sz="2300" b="1" noProof="1">
                <a:solidFill>
                  <a:schemeClr val="tx2"/>
                </a:solidFill>
              </a:rPr>
              <a:t>体现在5个方面：</a:t>
            </a:r>
            <a:endParaRPr lang="zh-CN" altLang="en-US" sz="2300" b="1" noProof="1">
              <a:solidFill>
                <a:schemeClr val="tx2"/>
              </a:solidFill>
            </a:endParaRPr>
          </a:p>
          <a:p>
            <a:pPr eaLnBrk="1" hangingPunct="1">
              <a:defRPr/>
            </a:pPr>
            <a:r>
              <a:rPr lang="zh-CN" altLang="en-US" sz="2300" b="1" noProof="1">
                <a:solidFill>
                  <a:schemeClr val="tx2"/>
                </a:solidFill>
              </a:rPr>
              <a:t>      1）管理简单。</a:t>
            </a:r>
            <a:endParaRPr lang="zh-CN" altLang="en-US" sz="2300" b="1" noProof="1">
              <a:solidFill>
                <a:schemeClr val="tx2"/>
              </a:solidFill>
            </a:endParaRPr>
          </a:p>
          <a:p>
            <a:pPr eaLnBrk="1" hangingPunct="1">
              <a:defRPr/>
            </a:pPr>
            <a:r>
              <a:rPr lang="zh-CN" altLang="en-US" sz="2300" b="1" noProof="1">
                <a:solidFill>
                  <a:schemeClr val="tx2"/>
                </a:solidFill>
              </a:rPr>
              <a:t>      2）管理控制便捷。</a:t>
            </a:r>
            <a:endParaRPr lang="zh-CN" altLang="en-US" sz="2300" b="1" noProof="1">
              <a:solidFill>
                <a:schemeClr val="tx2"/>
              </a:solidFill>
            </a:endParaRPr>
          </a:p>
          <a:p>
            <a:pPr eaLnBrk="1" hangingPunct="1">
              <a:defRPr/>
            </a:pPr>
            <a:r>
              <a:rPr lang="zh-CN" altLang="en-US" sz="2300" b="1" noProof="1">
                <a:solidFill>
                  <a:schemeClr val="tx2"/>
                </a:solidFill>
              </a:rPr>
              <a:t>      3）用户使用简捷。</a:t>
            </a:r>
            <a:endParaRPr lang="zh-CN" altLang="en-US" sz="2300" b="1" noProof="1">
              <a:solidFill>
                <a:schemeClr val="tx2"/>
              </a:solidFill>
            </a:endParaRPr>
          </a:p>
          <a:p>
            <a:pPr eaLnBrk="1" hangingPunct="1">
              <a:defRPr/>
            </a:pPr>
            <a:r>
              <a:rPr lang="zh-CN" altLang="en-US" sz="2300" b="1" noProof="1">
                <a:solidFill>
                  <a:schemeClr val="tx2"/>
                </a:solidFill>
              </a:rPr>
              <a:t>      4）安全性更高。</a:t>
            </a:r>
            <a:endParaRPr lang="zh-CN" altLang="en-US" sz="2300" b="1" noProof="1">
              <a:solidFill>
                <a:schemeClr val="tx2"/>
              </a:solidFill>
            </a:endParaRPr>
          </a:p>
          <a:p>
            <a:pPr eaLnBrk="1" hangingPunct="1">
              <a:defRPr/>
            </a:pPr>
            <a:r>
              <a:rPr lang="zh-CN" altLang="en-US" sz="2300" b="1" noProof="1">
                <a:solidFill>
                  <a:schemeClr val="tx2"/>
                </a:solidFill>
              </a:rPr>
              <a:t>      5）合并异构网络。</a:t>
            </a:r>
            <a:endParaRPr lang="zh-CN" altLang="en-US" sz="2300" b="1" noProof="1">
              <a:solidFill>
                <a:schemeClr val="tx2"/>
              </a:solidFill>
            </a:endParaRPr>
          </a:p>
        </p:txBody>
      </p:sp>
      <p:graphicFrame>
        <p:nvGraphicFramePr>
          <p:cNvPr id="30725" name="对象 4"/>
          <p:cNvGraphicFramePr/>
          <p:nvPr/>
        </p:nvGraphicFramePr>
        <p:xfrm>
          <a:off x="4387850" y="1377950"/>
          <a:ext cx="461963" cy="423863"/>
        </p:xfrm>
        <a:graphic>
          <a:graphicData uri="http://schemas.openxmlformats.org/presentationml/2006/ole">
            <mc:AlternateContent xmlns:mc="http://schemas.openxmlformats.org/markup-compatibility/2006">
              <mc:Choice xmlns:v="urn:schemas-microsoft-com:vml" Requires="v">
                <p:oleObj spid="_x0000_s3291" name="" r:id="rId1" imgW="539750" imgH="520700" progId="PBrush">
                  <p:embed/>
                </p:oleObj>
              </mc:Choice>
              <mc:Fallback>
                <p:oleObj name="" r:id="rId1" imgW="539750" imgH="520700" progId="PBrush">
                  <p:embed/>
                  <p:pic>
                    <p:nvPicPr>
                      <p:cNvPr id="0" name="对象 4"/>
                      <p:cNvPicPr/>
                      <p:nvPr/>
                    </p:nvPicPr>
                    <p:blipFill>
                      <a:blip r:embed="rId2"/>
                      <a:stretch>
                        <a:fillRect/>
                      </a:stretch>
                    </p:blipFill>
                    <p:spPr>
                      <a:xfrm>
                        <a:off x="4387850" y="1377950"/>
                        <a:ext cx="461963" cy="423863"/>
                      </a:xfrm>
                      <a:prstGeom prst="rect">
                        <a:avLst/>
                      </a:prstGeom>
                      <a:noFill/>
                      <a:ln w="9525" cap="flat" cmpd="sng">
                        <a:solidFill>
                          <a:srgbClr val="00B0F0"/>
                        </a:solidFill>
                        <a:prstDash val="solid"/>
                        <a:round/>
                        <a:headEnd type="none" w="med" len="med"/>
                        <a:tailEnd type="none" w="med" len="med"/>
                      </a:ln>
                    </p:spPr>
                  </p:pic>
                </p:oleObj>
              </mc:Fallback>
            </mc:AlternateContent>
          </a:graphicData>
        </a:graphic>
      </p:graphicFrame>
      <p:graphicFrame>
        <p:nvGraphicFramePr>
          <p:cNvPr id="30726" name="对象 6"/>
          <p:cNvGraphicFramePr/>
          <p:nvPr/>
        </p:nvGraphicFramePr>
        <p:xfrm>
          <a:off x="5373688" y="3879850"/>
          <a:ext cx="2947987" cy="2544763"/>
        </p:xfrm>
        <a:graphic>
          <a:graphicData uri="http://schemas.openxmlformats.org/presentationml/2006/ole">
            <mc:AlternateContent xmlns:mc="http://schemas.openxmlformats.org/markup-compatibility/2006">
              <mc:Choice xmlns:v="urn:schemas-microsoft-com:vml" Requires="v">
                <p:oleObj spid="_x0000_s3292" name="" r:id="rId3" imgW="2946400" imgH="2692400" progId="PBrush">
                  <p:embed/>
                </p:oleObj>
              </mc:Choice>
              <mc:Fallback>
                <p:oleObj name="" r:id="rId3" imgW="2946400" imgH="2692400" progId="PBrush">
                  <p:embed/>
                  <p:pic>
                    <p:nvPicPr>
                      <p:cNvPr id="0" name="对象 6"/>
                      <p:cNvPicPr/>
                      <p:nvPr/>
                    </p:nvPicPr>
                    <p:blipFill>
                      <a:blip r:embed="rId4"/>
                      <a:stretch>
                        <a:fillRect/>
                      </a:stretch>
                    </p:blipFill>
                    <p:spPr>
                      <a:xfrm>
                        <a:off x="5373688" y="3879850"/>
                        <a:ext cx="2947987" cy="2544763"/>
                      </a:xfrm>
                      <a:prstGeom prst="rect">
                        <a:avLst/>
                      </a:prstGeom>
                      <a:noFill/>
                      <a:ln w="38100">
                        <a:noFill/>
                      </a:ln>
                    </p:spPr>
                  </p:pic>
                </p:oleObj>
              </mc:Fallback>
            </mc:AlternateContent>
          </a:graphicData>
        </a:graphic>
      </p:graphicFrame>
      <p:sp>
        <p:nvSpPr>
          <p:cNvPr id="3072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1746" name="内容占位符 13"/>
          <p:cNvSpPr>
            <a:spLocks noChangeArrowheads="1"/>
          </p:cNvSpPr>
          <p:nvPr/>
        </p:nvSpPr>
        <p:spPr bwMode="auto">
          <a:xfrm>
            <a:off x="419100"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1747" name="Rectangle 8"/>
          <p:cNvSpPr>
            <a:spLocks noChangeArrowheads="1"/>
          </p:cNvSpPr>
          <p:nvPr/>
        </p:nvSpPr>
        <p:spPr bwMode="auto">
          <a:xfrm>
            <a:off x="468313" y="3341688"/>
            <a:ext cx="7920037" cy="457200"/>
          </a:xfrm>
          <a:prstGeom prst="rect">
            <a:avLst/>
          </a:prstGeom>
          <a:solidFill>
            <a:srgbClr val="FAFAFA"/>
          </a:solidFill>
          <a:ln w="9525">
            <a:noFill/>
            <a:miter lim="800000"/>
          </a:ln>
        </p:spPr>
        <p:txBody>
          <a:bodyPr anchor="ctr">
            <a:spAutoFit/>
          </a:bodyPr>
          <a:lstStyle/>
          <a:p>
            <a:pPr indent="273050">
              <a:tabLst>
                <a:tab pos="5220970" algn="r"/>
              </a:tabLst>
            </a:pPr>
            <a:endParaRPr lang="zh-CN" altLang="en-US" sz="2400" b="1">
              <a:solidFill>
                <a:schemeClr val="tx2"/>
              </a:solidFill>
            </a:endParaRPr>
          </a:p>
        </p:txBody>
      </p:sp>
      <p:sp>
        <p:nvSpPr>
          <p:cNvPr id="19" name="圆角矩形 18"/>
          <p:cNvSpPr/>
          <p:nvPr/>
        </p:nvSpPr>
        <p:spPr bwMode="gray">
          <a:xfrm>
            <a:off x="457200" y="1281430"/>
            <a:ext cx="8399780" cy="218503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en-US" altLang="zh-CN" sz="2000" b="1" noProof="1">
                <a:solidFill>
                  <a:srgbClr val="CC0000"/>
                </a:solidFill>
              </a:rPr>
              <a:t>        </a:t>
            </a:r>
            <a:r>
              <a:rPr lang="en-US" altLang="zh-CN" sz="2300" b="1" noProof="1">
                <a:solidFill>
                  <a:srgbClr val="CC0000"/>
                </a:solidFill>
              </a:rPr>
              <a:t>4. 单点登入系统</a:t>
            </a:r>
            <a:endParaRPr lang="en-US" altLang="zh-CN" sz="2300" b="1" noProof="1">
              <a:solidFill>
                <a:srgbClr val="CC0000"/>
              </a:solidFill>
            </a:endParaRPr>
          </a:p>
          <a:p>
            <a:pPr eaLnBrk="1" hangingPunct="1">
              <a:defRPr/>
            </a:pPr>
            <a:r>
              <a:rPr lang="en-US" altLang="zh-CN" sz="2300" b="1" noProof="1">
                <a:solidFill>
                  <a:srgbClr val="CC0000"/>
                </a:solidFill>
              </a:rPr>
              <a:t>        </a:t>
            </a:r>
            <a:r>
              <a:rPr lang="en-US" altLang="zh-CN" sz="2000" b="1" noProof="1">
                <a:solidFill>
                  <a:schemeClr val="tx2">
                    <a:lumMod val="95000"/>
                    <a:lumOff val="5000"/>
                  </a:schemeClr>
                </a:solidFill>
              </a:rPr>
              <a:t>Kerberos</a:t>
            </a:r>
            <a:r>
              <a:rPr lang="zh-CN" altLang="en-US" sz="2000" b="1" noProof="1">
                <a:solidFill>
                  <a:schemeClr val="tx2">
                    <a:lumMod val="95000"/>
                    <a:lumOff val="5000"/>
                  </a:schemeClr>
                </a:solidFill>
              </a:rPr>
              <a:t>协议是美国麻省理工学院</a:t>
            </a:r>
            <a:r>
              <a:rPr lang="en-US" altLang="zh-CN" sz="2000" b="1" noProof="1">
                <a:solidFill>
                  <a:schemeClr val="tx2">
                    <a:lumMod val="95000"/>
                    <a:lumOff val="5000"/>
                  </a:schemeClr>
                </a:solidFill>
              </a:rPr>
              <a:t>Athena</a:t>
            </a:r>
            <a:r>
              <a:rPr lang="zh-CN" altLang="en-US" sz="2000" b="1" noProof="1">
                <a:solidFill>
                  <a:schemeClr val="tx2">
                    <a:lumMod val="95000"/>
                    <a:lumOff val="5000"/>
                  </a:schemeClr>
                </a:solidFill>
              </a:rPr>
              <a:t>计划的一部分，是一种</a:t>
            </a:r>
            <a:r>
              <a:rPr lang="zh-CN" altLang="en-US" sz="2000" b="1" noProof="1">
                <a:solidFill>
                  <a:srgbClr val="C00000"/>
                </a:solidFill>
              </a:rPr>
              <a:t>基于对称密码算法</a:t>
            </a:r>
            <a:r>
              <a:rPr lang="zh-CN" altLang="en-US" sz="2000" b="1" noProof="1">
                <a:solidFill>
                  <a:schemeClr val="tx2">
                    <a:lumMod val="95000"/>
                    <a:lumOff val="5000"/>
                  </a:schemeClr>
                </a:solidFill>
              </a:rPr>
              <a:t>的</a:t>
            </a:r>
            <a:r>
              <a:rPr lang="zh-CN" altLang="en-US" sz="2000" b="1" u="sng" noProof="1">
                <a:solidFill>
                  <a:srgbClr val="0000FF"/>
                </a:solidFill>
              </a:rPr>
              <a:t>网络认证（鉴别）协议</a:t>
            </a:r>
            <a:r>
              <a:rPr lang="zh-CN" altLang="en-US" sz="2000" b="1" noProof="1">
                <a:solidFill>
                  <a:schemeClr val="tx2">
                    <a:lumMod val="95000"/>
                    <a:lumOff val="5000"/>
                  </a:schemeClr>
                </a:solidFill>
              </a:rPr>
              <a:t>，其</a:t>
            </a:r>
            <a:r>
              <a:rPr lang="zh-CN" altLang="en-US" sz="2000" b="1" noProof="1">
                <a:solidFill>
                  <a:srgbClr val="C00000"/>
                </a:solidFill>
              </a:rPr>
              <a:t>设计目标</a:t>
            </a:r>
            <a:r>
              <a:rPr lang="zh-CN" altLang="en-US" sz="2000" b="1" noProof="1">
                <a:solidFill>
                  <a:schemeClr val="tx2">
                    <a:lumMod val="95000"/>
                    <a:lumOff val="5000"/>
                  </a:schemeClr>
                </a:solidFill>
              </a:rPr>
              <a:t>就是提供一种安全、可靠、透明、可伸缩的认证服务。</a:t>
            </a:r>
            <a:endParaRPr lang="en-US" altLang="zh-CN" sz="2000" b="1" noProof="1">
              <a:solidFill>
                <a:schemeClr val="tx2">
                  <a:lumMod val="95000"/>
                  <a:lumOff val="5000"/>
                </a:schemeClr>
              </a:solidFill>
            </a:endParaRPr>
          </a:p>
          <a:p>
            <a:pPr eaLnBrk="1" hangingPunct="1">
              <a:defRPr/>
            </a:pPr>
            <a:r>
              <a:rPr lang="en-US" altLang="zh-CN" sz="2000" b="1" noProof="1">
                <a:solidFill>
                  <a:schemeClr val="tx2">
                    <a:lumMod val="95000"/>
                    <a:lumOff val="5000"/>
                  </a:schemeClr>
                </a:solidFill>
              </a:rPr>
              <a:t>        </a:t>
            </a:r>
            <a:r>
              <a:rPr lang="zh-CN" altLang="en-US" sz="2000" b="1" noProof="1">
                <a:solidFill>
                  <a:schemeClr val="tx2">
                    <a:lumMod val="95000"/>
                    <a:lumOff val="5000"/>
                  </a:schemeClr>
                </a:solidFill>
              </a:rPr>
              <a:t>在</a:t>
            </a:r>
            <a:r>
              <a:rPr lang="en-US" altLang="zh-CN" sz="2000" b="1" noProof="1">
                <a:solidFill>
                  <a:schemeClr val="tx2">
                    <a:lumMod val="95000"/>
                    <a:lumOff val="5000"/>
                  </a:schemeClr>
                </a:solidFill>
              </a:rPr>
              <a:t>Kerberos</a:t>
            </a:r>
            <a:r>
              <a:rPr lang="zh-CN" altLang="en-US" sz="2000" b="1" noProof="1">
                <a:solidFill>
                  <a:schemeClr val="tx2">
                    <a:lumMod val="95000"/>
                    <a:lumOff val="5000"/>
                  </a:schemeClr>
                </a:solidFill>
              </a:rPr>
              <a:t>模型中，主要包括以下几个部分：客户机、服务器、认证服务器（</a:t>
            </a:r>
            <a:r>
              <a:rPr lang="en-US" altLang="zh-CN" sz="2000" b="1" noProof="1">
                <a:solidFill>
                  <a:schemeClr val="tx2">
                    <a:lumMod val="95000"/>
                    <a:lumOff val="5000"/>
                  </a:schemeClr>
                </a:solidFill>
              </a:rPr>
              <a:t>AS</a:t>
            </a:r>
            <a:r>
              <a:rPr lang="zh-CN" altLang="en-US" sz="2000" b="1" noProof="1">
                <a:solidFill>
                  <a:schemeClr val="tx2">
                    <a:lumMod val="95000"/>
                    <a:lumOff val="5000"/>
                  </a:schemeClr>
                </a:solidFill>
              </a:rPr>
              <a:t>）、票据授予服务器（</a:t>
            </a:r>
            <a:r>
              <a:rPr lang="en-US" altLang="zh-CN" sz="2000" b="1" noProof="1">
                <a:solidFill>
                  <a:schemeClr val="tx2">
                    <a:lumMod val="95000"/>
                    <a:lumOff val="5000"/>
                  </a:schemeClr>
                </a:solidFill>
              </a:rPr>
              <a:t>TGS</a:t>
            </a:r>
            <a:r>
              <a:rPr lang="zh-CN" altLang="en-US" sz="2000" b="1" noProof="1">
                <a:solidFill>
                  <a:schemeClr val="tx2">
                    <a:lumMod val="95000"/>
                    <a:lumOff val="5000"/>
                  </a:schemeClr>
                </a:solidFill>
              </a:rPr>
              <a:t>）。</a:t>
            </a:r>
            <a:endParaRPr lang="zh-CN" altLang="en-US" sz="2300" b="1" noProof="1">
              <a:solidFill>
                <a:schemeClr val="tx2">
                  <a:lumMod val="95000"/>
                  <a:lumOff val="5000"/>
                </a:schemeClr>
              </a:solidFill>
            </a:endParaRPr>
          </a:p>
        </p:txBody>
      </p:sp>
      <p:graphicFrame>
        <p:nvGraphicFramePr>
          <p:cNvPr id="31749" name="对象 4"/>
          <p:cNvGraphicFramePr/>
          <p:nvPr/>
        </p:nvGraphicFramePr>
        <p:xfrm>
          <a:off x="4387850" y="1377950"/>
          <a:ext cx="461963" cy="423863"/>
        </p:xfrm>
        <a:graphic>
          <a:graphicData uri="http://schemas.openxmlformats.org/presentationml/2006/ole">
            <mc:AlternateContent xmlns:mc="http://schemas.openxmlformats.org/markup-compatibility/2006">
              <mc:Choice xmlns:v="urn:schemas-microsoft-com:vml" Requires="v">
                <p:oleObj spid="_x0000_s4206" name="" r:id="rId1" imgW="539750" imgH="520700" progId="PBrush">
                  <p:embed/>
                </p:oleObj>
              </mc:Choice>
              <mc:Fallback>
                <p:oleObj name="" r:id="rId1" imgW="539750" imgH="520700" progId="PBrush">
                  <p:embed/>
                  <p:pic>
                    <p:nvPicPr>
                      <p:cNvPr id="0" name="对象 4"/>
                      <p:cNvPicPr/>
                      <p:nvPr/>
                    </p:nvPicPr>
                    <p:blipFill>
                      <a:blip r:embed="rId2"/>
                      <a:stretch>
                        <a:fillRect/>
                      </a:stretch>
                    </p:blipFill>
                    <p:spPr>
                      <a:xfrm>
                        <a:off x="4387850" y="1377950"/>
                        <a:ext cx="461963" cy="423863"/>
                      </a:xfrm>
                      <a:prstGeom prst="rect">
                        <a:avLst/>
                      </a:prstGeom>
                      <a:noFill/>
                      <a:ln w="9525" cap="flat" cmpd="sng">
                        <a:solidFill>
                          <a:srgbClr val="00B0F0"/>
                        </a:solidFill>
                        <a:prstDash val="solid"/>
                        <a:round/>
                        <a:headEnd type="none" w="med" len="med"/>
                        <a:tailEnd type="none" w="med" len="med"/>
                      </a:ln>
                    </p:spPr>
                  </p:pic>
                </p:oleObj>
              </mc:Fallback>
            </mc:AlternateContent>
          </a:graphicData>
        </a:graphic>
      </p:graphicFrame>
      <p:sp>
        <p:nvSpPr>
          <p:cNvPr id="3175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31751" name="图片 9"/>
          <p:cNvPicPr>
            <a:picLocks noChangeAspect="1" noChangeArrowheads="1"/>
          </p:cNvPicPr>
          <p:nvPr/>
        </p:nvPicPr>
        <p:blipFill>
          <a:blip r:embed="rId3" cstate="print"/>
          <a:srcRect/>
          <a:stretch>
            <a:fillRect/>
          </a:stretch>
        </p:blipFill>
        <p:spPr bwMode="auto">
          <a:xfrm>
            <a:off x="2184400" y="3559810"/>
            <a:ext cx="4260215" cy="2741295"/>
          </a:xfrm>
          <a:prstGeom prst="rect">
            <a:avLst/>
          </a:prstGeom>
          <a:noFill/>
          <a:ln w="9525">
            <a:noFill/>
            <a:miter lim="800000"/>
            <a:headEnd/>
            <a:tailEnd/>
          </a:ln>
        </p:spPr>
      </p:pic>
      <p:sp>
        <p:nvSpPr>
          <p:cNvPr id="2" name="矩形 1"/>
          <p:cNvSpPr/>
          <p:nvPr/>
        </p:nvSpPr>
        <p:spPr>
          <a:xfrm>
            <a:off x="3366770" y="6004243"/>
            <a:ext cx="1781175" cy="496887"/>
          </a:xfrm>
          <a:prstGeom prst="rect">
            <a:avLst/>
          </a:prstGeom>
        </p:spPr>
        <p:txBody>
          <a:bodyPr wrap="none">
            <a:spAutoFit/>
          </a:bodyPr>
          <a:lstStyle/>
          <a:p>
            <a:pPr algn="ctr" eaLnBrk="0" hangingPunct="0">
              <a:lnSpc>
                <a:spcPct val="120000"/>
              </a:lnSpc>
              <a:spcBef>
                <a:spcPts val="240"/>
              </a:spcBef>
              <a:spcAft>
                <a:spcPts val="240"/>
              </a:spcAft>
              <a:defRPr/>
            </a:pPr>
            <a:r>
              <a:rPr lang="en-US" altLang="zh-CN" kern="0" dirty="0">
                <a:solidFill>
                  <a:srgbClr val="FF0000"/>
                </a:solidFill>
                <a:latin typeface="Times New Roman" panose="02020603050405020304" pitchFamily="18" charset="0"/>
              </a:rPr>
              <a:t> Kerberos</a:t>
            </a:r>
            <a:r>
              <a:rPr lang="zh-CN" altLang="zh-CN" kern="0" dirty="0">
                <a:solidFill>
                  <a:srgbClr val="FF0000"/>
                </a:solidFill>
                <a:latin typeface="Times New Roman" panose="02020603050405020304" pitchFamily="18" charset="0"/>
              </a:rPr>
              <a:t>的组成</a:t>
            </a:r>
            <a:endParaRPr lang="zh-CN" altLang="zh-CN" sz="2400" kern="1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7"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755650" y="1111250"/>
            <a:ext cx="7920038" cy="31099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en-US" altLang="zh-CN" sz="2200" b="1" dirty="0">
                <a:solidFill>
                  <a:srgbClr val="FF0000"/>
                </a:solidFill>
                <a:latin typeface="Arial" panose="020B0604020202020204" pitchFamily="34" charset="0"/>
              </a:rPr>
              <a:t>4. </a:t>
            </a:r>
            <a:r>
              <a:rPr lang="zh-CN" altLang="en-US" sz="2200" b="1" dirty="0">
                <a:solidFill>
                  <a:srgbClr val="FF0000"/>
                </a:solidFill>
                <a:latin typeface="Arial" panose="020B0604020202020204" pitchFamily="34" charset="0"/>
              </a:rPr>
              <a:t>单点登入的访问管理</a:t>
            </a:r>
            <a:endParaRPr lang="zh-CN" altLang="en-US" sz="2200" b="1" dirty="0">
              <a:solidFill>
                <a:srgbClr val="FF0000"/>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zh-CN" altLang="en-US" sz="2200" b="1" dirty="0">
                <a:solidFill>
                  <a:schemeClr val="tx2"/>
                </a:solidFill>
                <a:latin typeface="Times New Roman" panose="02020603050405020304" pitchFamily="18" charset="0"/>
              </a:rPr>
              <a:t>根据</a:t>
            </a:r>
            <a:r>
              <a:rPr lang="zh-CN" altLang="en-US" sz="2200" b="1" dirty="0">
                <a:solidFill>
                  <a:srgbClr val="0000FF"/>
                </a:solidFill>
                <a:latin typeface="Times New Roman" panose="02020603050405020304" pitchFamily="18" charset="0"/>
              </a:rPr>
              <a:t>登入</a:t>
            </a:r>
            <a:r>
              <a:rPr lang="zh-CN" altLang="en-US" sz="2200" b="1" dirty="0">
                <a:solidFill>
                  <a:schemeClr val="tx2"/>
                </a:solidFill>
                <a:latin typeface="Times New Roman" panose="02020603050405020304" pitchFamily="18" charset="0"/>
              </a:rPr>
              <a:t>的应用类型不同</a:t>
            </a:r>
            <a:r>
              <a:rPr lang="en-US" altLang="zh-CN" sz="2200" b="1" dirty="0">
                <a:solidFill>
                  <a:schemeClr val="tx2"/>
                </a:solidFill>
                <a:latin typeface="Times New Roman" panose="02020603050405020304" pitchFamily="18" charset="0"/>
              </a:rPr>
              <a:t>,</a:t>
            </a:r>
            <a:r>
              <a:rPr lang="zh-CN" altLang="en-US" sz="2200" b="1" dirty="0">
                <a:solidFill>
                  <a:schemeClr val="tx2"/>
                </a:solidFill>
                <a:latin typeface="Times New Roman" panose="02020603050405020304" pitchFamily="18" charset="0"/>
              </a:rPr>
              <a:t>可</a:t>
            </a:r>
            <a:r>
              <a:rPr lang="zh-CN" altLang="en-US" sz="2200" b="1" dirty="0">
                <a:solidFill>
                  <a:srgbClr val="CC0000"/>
                </a:solidFill>
                <a:latin typeface="Times New Roman" panose="02020603050405020304" pitchFamily="18" charset="0"/>
              </a:rPr>
              <a:t>分为</a:t>
            </a:r>
            <a:r>
              <a:rPr lang="en-US" altLang="zh-CN" sz="2200" b="1" dirty="0">
                <a:solidFill>
                  <a:srgbClr val="D60093"/>
                </a:solidFill>
                <a:latin typeface="Times New Roman" panose="02020603050405020304" pitchFamily="18" charset="0"/>
              </a:rPr>
              <a:t>3</a:t>
            </a:r>
            <a:r>
              <a:rPr lang="zh-CN" altLang="en-US" sz="2200" b="1" dirty="0">
                <a:solidFill>
                  <a:srgbClr val="D60093"/>
                </a:solidFill>
                <a:latin typeface="Times New Roman" panose="02020603050405020304" pitchFamily="18" charset="0"/>
              </a:rPr>
              <a:t>种类型</a:t>
            </a:r>
            <a:r>
              <a:rPr lang="en-US" altLang="zh-CN" sz="2200" b="1" dirty="0">
                <a:solidFill>
                  <a:schemeClr val="tx2"/>
                </a:solidFill>
                <a:latin typeface="Times New Roman" panose="02020603050405020304" pitchFamily="18" charset="0"/>
              </a:rPr>
              <a:t>.</a:t>
            </a:r>
            <a:endParaRPr lang="zh-CN" altLang="en-US" sz="2200" b="1" dirty="0">
              <a:solidFill>
                <a:schemeClr val="tx2"/>
              </a:solidFill>
              <a:latin typeface="Times New Roman" panose="02020603050405020304" pitchFamily="18" charset="0"/>
            </a:endParaRPr>
          </a:p>
          <a:p>
            <a:pPr>
              <a:defRPr/>
            </a:pPr>
            <a:r>
              <a:rPr lang="en-US" altLang="zh-CN" sz="2200" b="1" dirty="0">
                <a:solidFill>
                  <a:srgbClr val="006600"/>
                </a:solidFill>
                <a:latin typeface="Times New Roman" panose="02020603050405020304" pitchFamily="18" charset="0"/>
              </a:rPr>
              <a:t>     </a:t>
            </a:r>
            <a:r>
              <a:rPr lang="en-US" altLang="zh-CN" sz="2200" b="1" dirty="0">
                <a:solidFill>
                  <a:srgbClr val="800000"/>
                </a:solidFill>
                <a:latin typeface="Times New Roman" panose="02020603050405020304" pitchFamily="18" charset="0"/>
              </a:rPr>
              <a:t>  1</a:t>
            </a:r>
            <a:r>
              <a:rPr lang="zh-CN" altLang="en-US" sz="2200" b="1" dirty="0">
                <a:solidFill>
                  <a:srgbClr val="800000"/>
                </a:solidFill>
                <a:latin typeface="Times New Roman" panose="02020603050405020304" pitchFamily="18" charset="0"/>
              </a:rPr>
              <a:t>）对桌面资源的统一访问管理</a:t>
            </a:r>
            <a:endParaRPr lang="zh-CN" altLang="en-US" sz="2200" b="1" dirty="0">
              <a:solidFill>
                <a:srgbClr val="800000"/>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对桌面资源的</a:t>
            </a:r>
            <a:r>
              <a:rPr lang="zh-CN" altLang="en-US" sz="2200" b="1" dirty="0">
                <a:solidFill>
                  <a:srgbClr val="0000FF"/>
                </a:solidFill>
                <a:latin typeface="Times New Roman" panose="02020603050405020304" pitchFamily="18" charset="0"/>
              </a:rPr>
              <a:t>访问管理</a:t>
            </a:r>
            <a:r>
              <a:rPr lang="zh-CN" altLang="en-US" sz="2200" b="1" dirty="0">
                <a:solidFill>
                  <a:schemeClr val="tx2"/>
                </a:solidFill>
                <a:latin typeface="Times New Roman" panose="02020603050405020304" pitchFamily="18" charset="0"/>
              </a:rPr>
              <a:t>，包括</a:t>
            </a:r>
            <a:r>
              <a:rPr lang="zh-CN" altLang="en-US" sz="2200" b="1" dirty="0">
                <a:solidFill>
                  <a:srgbClr val="D60093"/>
                </a:solidFill>
                <a:latin typeface="Times New Roman" panose="02020603050405020304" pitchFamily="18" charset="0"/>
              </a:rPr>
              <a:t>两个方面</a:t>
            </a:r>
            <a:r>
              <a:rPr lang="zh-CN" altLang="en-US" sz="2200" b="1" dirty="0">
                <a:solidFill>
                  <a:schemeClr val="tx2"/>
                </a:solidFill>
                <a:latin typeface="Times New Roman" panose="02020603050405020304" pitchFamily="18" charset="0"/>
              </a:rPr>
              <a:t>：</a:t>
            </a:r>
            <a:endParaRPr lang="zh-CN" altLang="en-US" sz="2200" b="1" dirty="0">
              <a:solidFill>
                <a:schemeClr val="tx2"/>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①登入</a:t>
            </a:r>
            <a:r>
              <a:rPr lang="en-US" altLang="zh-CN" sz="2200" b="1" dirty="0">
                <a:solidFill>
                  <a:srgbClr val="CC0000"/>
                </a:solidFill>
                <a:latin typeface="Times New Roman" panose="02020603050405020304" pitchFamily="18" charset="0"/>
              </a:rPr>
              <a:t>Windows</a:t>
            </a:r>
            <a:r>
              <a:rPr lang="zh-CN" altLang="en-US" sz="2200" b="1" dirty="0">
                <a:solidFill>
                  <a:schemeClr val="tx2"/>
                </a:solidFill>
                <a:latin typeface="Times New Roman" panose="02020603050405020304" pitchFamily="18" charset="0"/>
              </a:rPr>
              <a:t>后统一访问应用资源。</a:t>
            </a:r>
            <a:endParaRPr lang="zh-CN" altLang="en-US" sz="2200" b="1" dirty="0">
              <a:solidFill>
                <a:schemeClr val="tx2"/>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②登入</a:t>
            </a:r>
            <a:r>
              <a:rPr lang="en-US" altLang="zh-CN" sz="2200" b="1" dirty="0">
                <a:solidFill>
                  <a:srgbClr val="CC0000"/>
                </a:solidFill>
                <a:latin typeface="Times New Roman" panose="02020603050405020304" pitchFamily="18" charset="0"/>
              </a:rPr>
              <a:t>Windows</a:t>
            </a:r>
            <a:r>
              <a:rPr lang="zh-CN" altLang="en-US" sz="2200" b="1" dirty="0">
                <a:solidFill>
                  <a:schemeClr val="tx2"/>
                </a:solidFill>
                <a:latin typeface="Times New Roman" panose="02020603050405020304" pitchFamily="18" charset="0"/>
              </a:rPr>
              <a:t>后访问</a:t>
            </a:r>
            <a:r>
              <a:rPr lang="zh-CN" altLang="en-US" sz="2200" b="1" dirty="0">
                <a:solidFill>
                  <a:srgbClr val="800000"/>
                </a:solidFill>
                <a:latin typeface="Times New Roman" panose="02020603050405020304" pitchFamily="18" charset="0"/>
              </a:rPr>
              <a:t>其他</a:t>
            </a:r>
            <a:r>
              <a:rPr lang="zh-CN" altLang="en-US" sz="2200" b="1" dirty="0">
                <a:solidFill>
                  <a:schemeClr val="tx2"/>
                </a:solidFill>
                <a:latin typeface="Times New Roman" panose="02020603050405020304" pitchFamily="18" charset="0"/>
              </a:rPr>
              <a:t>应用资源。</a:t>
            </a:r>
            <a:endParaRPr lang="zh-CN" altLang="en-US" sz="2200" b="1" dirty="0">
              <a:solidFill>
                <a:schemeClr val="tx2"/>
              </a:solidFill>
              <a:latin typeface="Times New Roman" panose="02020603050405020304" pitchFamily="18" charset="0"/>
            </a:endParaRPr>
          </a:p>
          <a:p>
            <a:pPr>
              <a:defRPr/>
            </a:pPr>
            <a:r>
              <a:rPr lang="en-US" altLang="zh-CN" sz="2200" b="1" dirty="0">
                <a:solidFill>
                  <a:srgbClr val="006600"/>
                </a:solidFill>
                <a:latin typeface="Times New Roman" panose="02020603050405020304" pitchFamily="18" charset="0"/>
              </a:rPr>
              <a:t>       </a:t>
            </a:r>
            <a:r>
              <a:rPr lang="en-US" altLang="zh-CN" sz="2200" b="1" dirty="0">
                <a:solidFill>
                  <a:srgbClr val="800000"/>
                </a:solidFill>
                <a:latin typeface="Times New Roman" panose="02020603050405020304" pitchFamily="18" charset="0"/>
              </a:rPr>
              <a:t>2</a:t>
            </a:r>
            <a:r>
              <a:rPr lang="zh-CN" altLang="en-US" sz="2200" b="1" dirty="0">
                <a:solidFill>
                  <a:srgbClr val="800000"/>
                </a:solidFill>
                <a:latin typeface="Times New Roman" panose="02020603050405020304" pitchFamily="18" charset="0"/>
              </a:rPr>
              <a:t>）</a:t>
            </a:r>
            <a:r>
              <a:rPr lang="en-US" altLang="zh-CN" sz="2200" b="1" dirty="0">
                <a:solidFill>
                  <a:srgbClr val="800000"/>
                </a:solidFill>
                <a:latin typeface="Times New Roman" panose="02020603050405020304" pitchFamily="18" charset="0"/>
              </a:rPr>
              <a:t>Web</a:t>
            </a:r>
            <a:r>
              <a:rPr lang="zh-CN" altLang="en-US" sz="2200" b="1" dirty="0">
                <a:solidFill>
                  <a:srgbClr val="800000"/>
                </a:solidFill>
                <a:latin typeface="Times New Roman" panose="02020603050405020304" pitchFamily="18" charset="0"/>
              </a:rPr>
              <a:t>单点登入</a:t>
            </a:r>
            <a:endParaRPr lang="zh-CN" altLang="en-US" sz="2200" b="1" dirty="0">
              <a:solidFill>
                <a:srgbClr val="800000"/>
              </a:solidFill>
              <a:latin typeface="Times New Roman" panose="02020603050405020304" pitchFamily="18" charset="0"/>
            </a:endParaRPr>
          </a:p>
          <a:p>
            <a:pPr>
              <a:defRPr/>
            </a:pPr>
            <a:r>
              <a:rPr lang="zh-CN" altLang="en-US" sz="2200" b="1" dirty="0">
                <a:solidFill>
                  <a:schemeClr val="tx2"/>
                </a:solidFill>
                <a:latin typeface="Times New Roman" panose="02020603050405020304" pitchFamily="18" charset="0"/>
              </a:rPr>
              <a:t>       由于</a:t>
            </a:r>
            <a:r>
              <a:rPr lang="en-US" altLang="zh-CN" sz="2200" b="1" dirty="0">
                <a:solidFill>
                  <a:srgbClr val="CC0000"/>
                </a:solidFill>
                <a:latin typeface="Times New Roman" panose="02020603050405020304" pitchFamily="18" charset="0"/>
              </a:rPr>
              <a:t>Web</a:t>
            </a:r>
            <a:r>
              <a:rPr lang="zh-CN" altLang="en-US" sz="2200" b="1" dirty="0">
                <a:solidFill>
                  <a:schemeClr val="tx2"/>
                </a:solidFill>
                <a:latin typeface="Times New Roman" panose="02020603050405020304" pitchFamily="18" charset="0"/>
              </a:rPr>
              <a:t>技术体系架构便捷，对</a:t>
            </a:r>
            <a:r>
              <a:rPr lang="en-US" altLang="zh-CN" sz="2200" b="1" dirty="0">
                <a:solidFill>
                  <a:srgbClr val="CC0000"/>
                </a:solidFill>
                <a:latin typeface="Times New Roman" panose="02020603050405020304" pitchFamily="18" charset="0"/>
              </a:rPr>
              <a:t>Web</a:t>
            </a:r>
            <a:r>
              <a:rPr lang="zh-CN" altLang="en-US" sz="2200" b="1" dirty="0">
                <a:solidFill>
                  <a:schemeClr val="tx2"/>
                </a:solidFill>
                <a:latin typeface="Times New Roman" panose="02020603050405020304" pitchFamily="18" charset="0"/>
              </a:rPr>
              <a:t>资源的统一访问管理易于实现，如图</a:t>
            </a:r>
            <a:r>
              <a:rPr lang="en-US" altLang="zh-CN" sz="2200" b="1" dirty="0">
                <a:solidFill>
                  <a:schemeClr val="tx2"/>
                </a:solidFill>
                <a:latin typeface="Times New Roman" panose="02020603050405020304" pitchFamily="18" charset="0"/>
              </a:rPr>
              <a:t>6-8</a:t>
            </a:r>
            <a:r>
              <a:rPr lang="zh-CN" altLang="en-US" sz="2200" b="1" dirty="0">
                <a:solidFill>
                  <a:schemeClr val="tx2"/>
                </a:solidFill>
                <a:latin typeface="Times New Roman" panose="02020603050405020304" pitchFamily="18" charset="0"/>
              </a:rPr>
              <a:t>所示。</a:t>
            </a:r>
            <a:r>
              <a:rPr lang="zh-CN" altLang="en-US" sz="2200" dirty="0">
                <a:solidFill>
                  <a:schemeClr val="tx1"/>
                </a:solidFill>
                <a:latin typeface="Times New Roman" panose="02020603050405020304" pitchFamily="18" charset="0"/>
              </a:rPr>
              <a:t> </a:t>
            </a:r>
            <a:endParaRPr lang="en-US" altLang="zh-CN" sz="2200" dirty="0">
              <a:solidFill>
                <a:schemeClr val="tx1"/>
              </a:solidFill>
              <a:latin typeface="Times New Roman" panose="02020603050405020304" pitchFamily="18" charset="0"/>
            </a:endParaRPr>
          </a:p>
        </p:txBody>
      </p:sp>
      <p:sp>
        <p:nvSpPr>
          <p:cNvPr id="70659"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70660"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pic>
        <p:nvPicPr>
          <p:cNvPr id="70661" name="Picture 7"/>
          <p:cNvPicPr>
            <a:picLocks noChangeAspect="1" noChangeArrowheads="1"/>
          </p:cNvPicPr>
          <p:nvPr/>
        </p:nvPicPr>
        <p:blipFill>
          <a:blip r:embed="rId1" cstate="print">
            <a:lum bright="-6000"/>
          </a:blip>
          <a:srcRect/>
          <a:stretch>
            <a:fillRect/>
          </a:stretch>
        </p:blipFill>
        <p:spPr bwMode="auto">
          <a:xfrm>
            <a:off x="4284663" y="4292600"/>
            <a:ext cx="4716462" cy="2378075"/>
          </a:xfrm>
          <a:prstGeom prst="rect">
            <a:avLst/>
          </a:prstGeom>
          <a:noFill/>
          <a:ln w="9525">
            <a:noFill/>
            <a:miter lim="800000"/>
            <a:headEnd/>
            <a:tailEnd/>
          </a:ln>
        </p:spPr>
      </p:pic>
      <p:sp>
        <p:nvSpPr>
          <p:cNvPr id="70662" name="Rectangle 8"/>
          <p:cNvSpPr>
            <a:spLocks noChangeArrowheads="1"/>
          </p:cNvSpPr>
          <p:nvPr/>
        </p:nvSpPr>
        <p:spPr bwMode="auto">
          <a:xfrm>
            <a:off x="5651500" y="6583363"/>
            <a:ext cx="3492500" cy="274637"/>
          </a:xfrm>
          <a:prstGeom prst="rect">
            <a:avLst/>
          </a:prstGeom>
          <a:noFill/>
          <a:ln w="9525">
            <a:noFill/>
            <a:miter lim="800000"/>
          </a:ln>
        </p:spPr>
        <p:txBody>
          <a:bodyPr anchor="ctr">
            <a:spAutoFit/>
          </a:bodyPr>
          <a:lstStyle/>
          <a:p>
            <a:r>
              <a:rPr lang="en-US" altLang="zh-CN" sz="1200">
                <a:solidFill>
                  <a:schemeClr val="tx2"/>
                </a:solidFill>
              </a:rPr>
              <a:t>              Web</a:t>
            </a:r>
            <a:r>
              <a:rPr lang="zh-CN" altLang="en-US" sz="1200">
                <a:solidFill>
                  <a:schemeClr val="tx2"/>
                </a:solidFill>
              </a:rPr>
              <a:t>单点登入访问管理系统</a:t>
            </a:r>
            <a:r>
              <a:rPr lang="zh-CN" altLang="en-US" sz="1200"/>
              <a:t> </a:t>
            </a:r>
            <a:endParaRPr lang="zh-CN" altLang="en-US" sz="1200"/>
          </a:p>
        </p:txBody>
      </p:sp>
      <p:sp>
        <p:nvSpPr>
          <p:cNvPr id="4" name="圆角矩形 18"/>
          <p:cNvSpPr/>
          <p:nvPr/>
        </p:nvSpPr>
        <p:spPr bwMode="gray">
          <a:xfrm>
            <a:off x="755650" y="4292600"/>
            <a:ext cx="3455988" cy="237648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200" b="1" dirty="0">
                <a:solidFill>
                  <a:schemeClr val="tx1"/>
                </a:solidFill>
                <a:latin typeface="Arial" panose="020B0604020202020204" pitchFamily="34" charset="0"/>
              </a:rPr>
              <a:t>     </a:t>
            </a:r>
            <a:r>
              <a:rPr lang="en-US" altLang="zh-CN" sz="2200" b="1" dirty="0">
                <a:solidFill>
                  <a:srgbClr val="800000"/>
                </a:solidFill>
                <a:latin typeface="Arial" panose="020B0604020202020204" pitchFamily="34" charset="0"/>
              </a:rPr>
              <a:t> </a:t>
            </a:r>
            <a:r>
              <a:rPr lang="en-US" altLang="zh-CN" sz="2000" b="1" dirty="0">
                <a:solidFill>
                  <a:srgbClr val="800000"/>
                </a:solidFill>
                <a:latin typeface="Arial" panose="020B0604020202020204" pitchFamily="34" charset="0"/>
              </a:rPr>
              <a:t>3</a:t>
            </a:r>
            <a:r>
              <a:rPr lang="zh-CN" altLang="en-US" sz="2000" b="1" dirty="0">
                <a:solidFill>
                  <a:srgbClr val="800000"/>
                </a:solidFill>
                <a:latin typeface="Arial" panose="020B0604020202020204" pitchFamily="34" charset="0"/>
              </a:rPr>
              <a:t>）对传统</a:t>
            </a:r>
            <a:r>
              <a:rPr lang="en-US" altLang="zh-CN" sz="2000" b="1" dirty="0">
                <a:solidFill>
                  <a:srgbClr val="800000"/>
                </a:solidFill>
                <a:latin typeface="Arial" panose="020B0604020202020204" pitchFamily="34" charset="0"/>
              </a:rPr>
              <a:t>C/S </a:t>
            </a:r>
            <a:r>
              <a:rPr lang="zh-CN" altLang="en-US" sz="2000" b="1" dirty="0">
                <a:solidFill>
                  <a:srgbClr val="800000"/>
                </a:solidFill>
                <a:latin typeface="Arial" panose="020B0604020202020204" pitchFamily="34" charset="0"/>
              </a:rPr>
              <a:t>结构应用的统一访问管理</a:t>
            </a:r>
            <a:endParaRPr lang="zh-CN" altLang="en-US" sz="2000" b="1" dirty="0">
              <a:solidFill>
                <a:srgbClr val="80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在传统</a:t>
            </a:r>
            <a:r>
              <a:rPr lang="en-US" altLang="zh-CN" sz="2000" b="1" dirty="0">
                <a:solidFill>
                  <a:schemeClr val="tx2"/>
                </a:solidFill>
                <a:latin typeface="Arial" panose="020B0604020202020204" pitchFamily="34" charset="0"/>
              </a:rPr>
              <a:t>C/S </a:t>
            </a:r>
            <a:r>
              <a:rPr lang="zh-CN" altLang="en-US" sz="2000" b="1" dirty="0">
                <a:solidFill>
                  <a:schemeClr val="tx2"/>
                </a:solidFill>
                <a:latin typeface="Arial" panose="020B0604020202020204" pitchFamily="34" charset="0"/>
              </a:rPr>
              <a:t>结构应用上</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实现管理前台的统一或统一入口是</a:t>
            </a:r>
            <a:r>
              <a:rPr lang="zh-CN" altLang="en-US" sz="2000" b="1" dirty="0">
                <a:solidFill>
                  <a:srgbClr val="990033"/>
                </a:solidFill>
                <a:latin typeface="Arial" panose="020B0604020202020204" pitchFamily="34" charset="0"/>
              </a:rPr>
              <a:t>关键</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采用</a:t>
            </a:r>
            <a:r>
              <a:rPr lang="en-US" altLang="zh-CN" sz="2000" b="1" dirty="0">
                <a:solidFill>
                  <a:schemeClr val="tx2"/>
                </a:solidFill>
                <a:latin typeface="Arial" panose="020B0604020202020204" pitchFamily="34" charset="0"/>
              </a:rPr>
              <a:t>Web</a:t>
            </a:r>
            <a:r>
              <a:rPr lang="zh-CN" altLang="en-US" sz="2000" b="1" dirty="0">
                <a:solidFill>
                  <a:schemeClr val="tx2"/>
                </a:solidFill>
                <a:latin typeface="Arial" panose="020B0604020202020204" pitchFamily="34" charset="0"/>
              </a:rPr>
              <a:t>客户端作为前台是企业最为常见的一种解决方案</a:t>
            </a:r>
            <a:r>
              <a:rPr lang="en-US" altLang="zh-CN"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70664" name="Rectangle 12"/>
          <p:cNvSpPr>
            <a:spLocks noChangeArrowheads="1"/>
          </p:cNvSpPr>
          <p:nvPr/>
        </p:nvSpPr>
        <p:spPr bwMode="auto">
          <a:xfrm>
            <a:off x="5651500" y="4408488"/>
            <a:ext cx="692150" cy="244475"/>
          </a:xfrm>
          <a:prstGeom prst="rect">
            <a:avLst/>
          </a:prstGeom>
          <a:noFill/>
          <a:ln w="9525">
            <a:noFill/>
            <a:miter lim="800000"/>
          </a:ln>
        </p:spPr>
        <p:txBody>
          <a:bodyPr wrap="none">
            <a:spAutoFit/>
          </a:bodyPr>
          <a:lstStyle/>
          <a:p>
            <a:r>
              <a:rPr lang="zh-CN" altLang="en-US" sz="1000" b="1">
                <a:solidFill>
                  <a:srgbClr val="FF0000"/>
                </a:solidFill>
              </a:rPr>
              <a:t>单点登入</a:t>
            </a:r>
            <a:endParaRPr lang="zh-CN" altLang="en-US" sz="1000" b="1">
              <a:solidFill>
                <a:srgbClr val="FF0000"/>
              </a:solidFill>
            </a:endParaRPr>
          </a:p>
        </p:txBody>
      </p:sp>
      <p:sp>
        <p:nvSpPr>
          <p:cNvPr id="706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771525" y="2014855"/>
            <a:ext cx="7848600" cy="1701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2"/>
                </a:solidFill>
                <a:latin typeface="Arial" panose="020B0604020202020204" pitchFamily="34" charset="0"/>
              </a:rPr>
              <a:t>       </a:t>
            </a:r>
            <a:r>
              <a:rPr lang="zh-CN" altLang="en-US" sz="2000" b="1" u="sng" dirty="0">
                <a:solidFill>
                  <a:srgbClr val="FF0000"/>
                </a:solidFill>
                <a:effectLst>
                  <a:outerShdw blurRad="38100" dist="38100" dir="2700000" algn="tl">
                    <a:srgbClr val="C0C0C0"/>
                  </a:outerShdw>
                </a:effectLst>
                <a:latin typeface="Arial" panose="020B0604020202020204" pitchFamily="34" charset="0"/>
              </a:rPr>
              <a:t>数字签名</a:t>
            </a:r>
            <a:r>
              <a:rPr lang="zh-CN" altLang="en-US" sz="2000" b="1" dirty="0">
                <a:solidFill>
                  <a:srgbClr val="006600"/>
                </a:solidFill>
                <a:latin typeface="Arial" panose="020B0604020202020204" pitchFamily="34" charset="0"/>
              </a:rPr>
              <a:t>（</a:t>
            </a:r>
            <a:r>
              <a:rPr lang="en-US" altLang="zh-CN" sz="2000" b="1" dirty="0">
                <a:solidFill>
                  <a:schemeClr val="tx2"/>
                </a:solidFill>
                <a:latin typeface="Times New Roman" panose="02020603050405020304" pitchFamily="18" charset="0"/>
              </a:rPr>
              <a:t>Digital Signature</a:t>
            </a:r>
            <a:r>
              <a:rPr lang="zh-CN" altLang="en-US" sz="2000" b="1" dirty="0">
                <a:solidFill>
                  <a:schemeClr val="tx2"/>
                </a:solidFill>
                <a:latin typeface="Arial" panose="020B0604020202020204" pitchFamily="34" charset="0"/>
              </a:rPr>
              <a:t>）又称</a:t>
            </a:r>
            <a:r>
              <a:rPr lang="zh-CN" altLang="en-US" sz="2000" b="1" dirty="0">
                <a:solidFill>
                  <a:srgbClr val="FF0000"/>
                </a:solidFill>
                <a:latin typeface="Arial" panose="020B0604020202020204" pitchFamily="34" charset="0"/>
              </a:rPr>
              <a:t>公钥数字签名</a:t>
            </a:r>
            <a:r>
              <a:rPr lang="zh-CN" altLang="en-US" sz="2000" b="1" dirty="0">
                <a:solidFill>
                  <a:schemeClr val="tx2"/>
                </a:solidFill>
                <a:latin typeface="Arial" panose="020B0604020202020204" pitchFamily="34" charset="0"/>
              </a:rPr>
              <a:t>或</a:t>
            </a:r>
            <a:r>
              <a:rPr lang="zh-CN" altLang="en-US" sz="2000" b="1" dirty="0">
                <a:solidFill>
                  <a:srgbClr val="FF0000"/>
                </a:solidFill>
                <a:latin typeface="Arial" panose="020B0604020202020204" pitchFamily="34" charset="0"/>
              </a:rPr>
              <a:t>电子签章</a:t>
            </a:r>
            <a:r>
              <a:rPr lang="en-US" altLang="zh-CN" sz="2000" b="1" dirty="0">
                <a:solidFill>
                  <a:schemeClr val="tx2"/>
                </a:solidFill>
                <a:latin typeface="Arial" panose="020B0604020202020204" pitchFamily="34" charset="0"/>
              </a:rPr>
              <a:t>,</a:t>
            </a:r>
            <a:r>
              <a:rPr lang="zh-CN" altLang="en-US" sz="2000" b="1" dirty="0">
                <a:solidFill>
                  <a:schemeClr val="tx2"/>
                </a:solidFill>
                <a:latin typeface="Arial" panose="020B0604020202020204" pitchFamily="34" charset="0"/>
              </a:rPr>
              <a:t>是以电子形式</a:t>
            </a:r>
            <a:r>
              <a:rPr lang="zh-CN" altLang="en-US" sz="2000" b="1" dirty="0">
                <a:solidFill>
                  <a:srgbClr val="0000FF"/>
                </a:solidFill>
                <a:latin typeface="Arial" panose="020B0604020202020204" pitchFamily="34" charset="0"/>
              </a:rPr>
              <a:t>存储于</a:t>
            </a:r>
            <a:r>
              <a:rPr lang="zh-CN" altLang="en-US" sz="2000" b="1" dirty="0">
                <a:solidFill>
                  <a:schemeClr val="tx2"/>
                </a:solidFill>
                <a:latin typeface="Arial" panose="020B0604020202020204" pitchFamily="34" charset="0"/>
              </a:rPr>
              <a:t>信息中或以附件或逻辑上关联数据</a:t>
            </a:r>
            <a:r>
              <a:rPr lang="en-US" altLang="zh-CN" sz="2000" b="1" dirty="0">
                <a:solidFill>
                  <a:schemeClr val="tx2"/>
                </a:solidFill>
                <a:latin typeface="Arial" panose="020B0604020202020204" pitchFamily="34" charset="0"/>
              </a:rPr>
              <a:t>,  </a:t>
            </a:r>
            <a:r>
              <a:rPr lang="zh-CN" altLang="en-US" sz="2000" b="1" u="sng" dirty="0">
                <a:solidFill>
                  <a:srgbClr val="CC0000"/>
                </a:solidFill>
                <a:latin typeface="Arial" panose="020B0604020202020204" pitchFamily="34" charset="0"/>
              </a:rPr>
              <a:t>用于</a:t>
            </a:r>
            <a:r>
              <a:rPr lang="zh-CN" altLang="en-US" sz="2000" b="1" dirty="0">
                <a:solidFill>
                  <a:srgbClr val="0000FF"/>
                </a:solidFill>
                <a:latin typeface="Arial" panose="020B0604020202020204" pitchFamily="34" charset="0"/>
              </a:rPr>
              <a:t>辨识</a:t>
            </a:r>
            <a:r>
              <a:rPr lang="zh-CN" altLang="en-US" sz="2000" b="1" dirty="0">
                <a:solidFill>
                  <a:schemeClr val="tx2"/>
                </a:solidFill>
                <a:latin typeface="Arial" panose="020B0604020202020204" pitchFamily="34" charset="0"/>
              </a:rPr>
              <a:t>数据签署人身份</a:t>
            </a:r>
            <a:r>
              <a:rPr lang="en-US" altLang="zh-CN" sz="2000" b="1" dirty="0">
                <a:solidFill>
                  <a:schemeClr val="tx2"/>
                </a:solidFill>
                <a:latin typeface="Arial" panose="020B0604020202020204" pitchFamily="34" charset="0"/>
              </a:rPr>
              <a:t>,</a:t>
            </a:r>
            <a:r>
              <a:rPr lang="zh-CN" altLang="en-US" sz="2000" b="1" dirty="0">
                <a:solidFill>
                  <a:srgbClr val="0000FF"/>
                </a:solidFill>
                <a:latin typeface="Arial" panose="020B0604020202020204" pitchFamily="34" charset="0"/>
              </a:rPr>
              <a:t>表明</a:t>
            </a:r>
            <a:r>
              <a:rPr lang="zh-CN" altLang="en-US" sz="2000" b="1" dirty="0">
                <a:solidFill>
                  <a:schemeClr val="tx2"/>
                </a:solidFill>
                <a:latin typeface="Arial" panose="020B0604020202020204" pitchFamily="34" charset="0"/>
              </a:rPr>
              <a:t>签署人对数据中所包含信息的</a:t>
            </a:r>
            <a:r>
              <a:rPr lang="zh-CN" altLang="en-US" sz="2000" b="1" dirty="0">
                <a:solidFill>
                  <a:srgbClr val="0000FF"/>
                </a:solidFill>
                <a:latin typeface="Arial" panose="020B0604020202020204" pitchFamily="34" charset="0"/>
              </a:rPr>
              <a:t>认可</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000" b="1" dirty="0">
                <a:solidFill>
                  <a:srgbClr val="0000FF"/>
                </a:solidFill>
                <a:latin typeface="Arial" panose="020B0604020202020204" pitchFamily="34" charset="0"/>
              </a:rPr>
              <a:t>基于</a:t>
            </a:r>
            <a:r>
              <a:rPr lang="zh-CN" altLang="en-US" sz="2000" b="1" dirty="0">
                <a:solidFill>
                  <a:schemeClr val="tx2"/>
                </a:solidFill>
                <a:latin typeface="Arial" panose="020B0604020202020204" pitchFamily="34" charset="0"/>
              </a:rPr>
              <a:t>公钥或私钥密码体制都可</a:t>
            </a:r>
            <a:r>
              <a:rPr lang="zh-CN" altLang="en-US" sz="2000" b="1" dirty="0">
                <a:solidFill>
                  <a:srgbClr val="0000FF"/>
                </a:solidFill>
                <a:latin typeface="Arial" panose="020B0604020202020204" pitchFamily="34" charset="0"/>
              </a:rPr>
              <a:t>获得</a:t>
            </a:r>
            <a:r>
              <a:rPr lang="zh-CN" altLang="en-US" sz="2000" b="1" dirty="0">
                <a:solidFill>
                  <a:schemeClr val="tx2"/>
                </a:solidFill>
                <a:latin typeface="Arial" panose="020B0604020202020204" pitchFamily="34" charset="0"/>
              </a:rPr>
              <a:t>数字签名，目前主要是基于公钥密码体制数字签名。</a:t>
            </a:r>
            <a:r>
              <a:rPr lang="zh-CN" altLang="en-US" sz="2000" b="1" dirty="0">
                <a:solidFill>
                  <a:srgbClr val="CC0000"/>
                </a:solidFill>
                <a:latin typeface="Arial" panose="020B0604020202020204" pitchFamily="34" charset="0"/>
              </a:rPr>
              <a:t>包括</a:t>
            </a:r>
            <a:r>
              <a:rPr lang="zh-CN" altLang="en-US" sz="2000" b="1" dirty="0">
                <a:solidFill>
                  <a:schemeClr val="tx2"/>
                </a:solidFill>
                <a:latin typeface="Arial" panose="020B0604020202020204" pitchFamily="34" charset="0"/>
              </a:rPr>
              <a:t>普通数字签名和特殊数字签名</a:t>
            </a:r>
            <a:r>
              <a:rPr lang="zh-CN" altLang="en-US" sz="2000" b="1" dirty="0">
                <a:solidFill>
                  <a:srgbClr val="CC0000"/>
                </a:solidFill>
                <a:latin typeface="Arial" panose="020B0604020202020204" pitchFamily="34" charset="0"/>
              </a:rPr>
              <a:t>两种</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p:txBody>
      </p:sp>
      <p:sp>
        <p:nvSpPr>
          <p:cNvPr id="32770"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2" name="圆角矩形 18"/>
          <p:cNvSpPr/>
          <p:nvPr/>
        </p:nvSpPr>
        <p:spPr bwMode="gray">
          <a:xfrm>
            <a:off x="700405" y="3855085"/>
            <a:ext cx="7991475" cy="22999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buFont typeface="Arial" panose="020B0604020202020204" pitchFamily="34" charset="0"/>
              <a:buNone/>
              <a:defRPr/>
            </a:pPr>
            <a:r>
              <a:rPr lang="en-US" altLang="zh-CN" sz="2000" b="1" dirty="0">
                <a:solidFill>
                  <a:srgbClr val="FF0000"/>
                </a:solidFill>
              </a:rPr>
              <a:t>《</a:t>
            </a:r>
            <a:r>
              <a:rPr lang="zh-CN" altLang="en-US" sz="2000" b="1" dirty="0">
                <a:solidFill>
                  <a:srgbClr val="FF0000"/>
                </a:solidFill>
              </a:rPr>
              <a:t>中华人民共和国电子签名法</a:t>
            </a:r>
            <a:r>
              <a:rPr lang="en-US" altLang="zh-CN" sz="2000" b="1" dirty="0">
                <a:solidFill>
                  <a:srgbClr val="FF0000"/>
                </a:solidFill>
              </a:rPr>
              <a:t>》</a:t>
            </a:r>
            <a:r>
              <a:rPr lang="zh-CN" altLang="en-US" sz="2000" b="1" dirty="0">
                <a:solidFill>
                  <a:srgbClr val="FF0000"/>
                </a:solidFill>
              </a:rPr>
              <a:t>中</a:t>
            </a:r>
            <a:r>
              <a:rPr lang="zh-CN" altLang="en-US" sz="2000" b="1" u="sng" dirty="0">
                <a:solidFill>
                  <a:srgbClr val="FF0000"/>
                </a:solidFill>
                <a:latin typeface="黑体" panose="02010609060101010101" pitchFamily="49" charset="-122"/>
                <a:ea typeface="黑体" panose="02010609060101010101" pitchFamily="49" charset="-122"/>
              </a:rPr>
              <a:t>数字签名</a:t>
            </a:r>
            <a:r>
              <a:rPr lang="zh-CN" altLang="en-US" sz="2000" b="1" dirty="0">
                <a:solidFill>
                  <a:srgbClr val="FF0000"/>
                </a:solidFill>
              </a:rPr>
              <a:t>定义为：</a:t>
            </a:r>
            <a:r>
              <a:rPr lang="zh-CN" altLang="en-US" sz="2000" b="1" dirty="0">
                <a:solidFill>
                  <a:schemeClr val="tx2">
                    <a:lumMod val="95000"/>
                    <a:lumOff val="5000"/>
                  </a:schemeClr>
                </a:solidFill>
              </a:rPr>
              <a:t>通过某种密码运算生成一系列符号及代码组成电子密码进行签名，来代替书写签名或印章，对于这种电子式的签名还可进行技术验证。</a:t>
            </a:r>
            <a:endParaRPr lang="en-US" altLang="zh-CN" sz="2000" b="1" dirty="0">
              <a:solidFill>
                <a:schemeClr val="tx2">
                  <a:lumMod val="95000"/>
                  <a:lumOff val="5000"/>
                </a:schemeClr>
              </a:solidFill>
            </a:endParaRPr>
          </a:p>
          <a:p>
            <a:pPr indent="457200" algn="just">
              <a:defRPr/>
            </a:pPr>
            <a:r>
              <a:rPr lang="en-US" altLang="zh-CN" sz="2000" b="1" dirty="0">
                <a:solidFill>
                  <a:srgbClr val="FF0000"/>
                </a:solidFill>
              </a:rPr>
              <a:t>ISO 7498-2</a:t>
            </a:r>
            <a:r>
              <a:rPr lang="zh-CN" altLang="zh-CN" sz="2000" b="1" dirty="0">
                <a:solidFill>
                  <a:srgbClr val="FF0000"/>
                </a:solidFill>
              </a:rPr>
              <a:t>标准中定义数字签名为：</a:t>
            </a:r>
            <a:r>
              <a:rPr lang="zh-CN" altLang="zh-CN" sz="2000" b="1" dirty="0">
                <a:solidFill>
                  <a:schemeClr val="tx2">
                    <a:lumMod val="95000"/>
                    <a:lumOff val="5000"/>
                  </a:schemeClr>
                </a:solidFill>
              </a:rPr>
              <a:t>附加在数据单元上的一些数据，或是对数据单元所做的密码变换，这种数据和变换允许数据单元的接收者用以确认数据单元来源和数据单元的完整性，并保护数据，防止被人进行伪造。</a:t>
            </a:r>
            <a:endParaRPr lang="zh-CN" altLang="zh-CN" sz="2000" b="1" dirty="0">
              <a:solidFill>
                <a:schemeClr val="tx2">
                  <a:lumMod val="95000"/>
                  <a:lumOff val="5000"/>
                </a:schemeClr>
              </a:solidFill>
            </a:endParaRPr>
          </a:p>
        </p:txBody>
      </p:sp>
      <p:sp>
        <p:nvSpPr>
          <p:cNvPr id="32773" name="Rectangle 10"/>
          <p:cNvSpPr>
            <a:spLocks noChangeArrowheads="1"/>
          </p:cNvSpPr>
          <p:nvPr/>
        </p:nvSpPr>
        <p:spPr bwMode="auto">
          <a:xfrm>
            <a:off x="1042988" y="1557338"/>
            <a:ext cx="2667000" cy="457200"/>
          </a:xfrm>
          <a:prstGeom prst="rect">
            <a:avLst/>
          </a:prstGeom>
          <a:noFill/>
          <a:ln w="9525">
            <a:noFill/>
            <a:miter lim="800000"/>
          </a:ln>
        </p:spPr>
        <p:txBody>
          <a:bodyPr wrap="none">
            <a:spAutoFit/>
          </a:bodyPr>
          <a:lstStyle/>
          <a:p>
            <a:r>
              <a:rPr lang="en-US" altLang="zh-CN" sz="2400" b="1">
                <a:solidFill>
                  <a:srgbClr val="CC0000"/>
                </a:solidFill>
              </a:rPr>
              <a:t>1. </a:t>
            </a:r>
            <a:r>
              <a:rPr lang="zh-CN" altLang="en-US" sz="2400" b="1">
                <a:solidFill>
                  <a:srgbClr val="CC0000"/>
                </a:solidFill>
              </a:rPr>
              <a:t>数字签名的概念</a:t>
            </a:r>
            <a:endParaRPr lang="zh-CN" altLang="en-US" sz="2400" b="1">
              <a:solidFill>
                <a:srgbClr val="CC0000"/>
              </a:solidFill>
            </a:endParaRPr>
          </a:p>
        </p:txBody>
      </p:sp>
      <p:sp>
        <p:nvSpPr>
          <p:cNvPr id="3277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6.2 </a:t>
            </a:r>
            <a:r>
              <a:rPr lang="zh-CN" altLang="en-US" sz="3200" b="1" dirty="0">
                <a:solidFill>
                  <a:schemeClr val="bg1"/>
                </a:solidFill>
              </a:rPr>
              <a:t>认证系统与数字签名</a:t>
            </a:r>
            <a:endParaRPr lang="zh-CN" altLang="en-US" sz="3200" b="1"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684213" y="1125538"/>
            <a:ext cx="8040687" cy="503237"/>
          </a:xfrm>
        </p:spPr>
        <p:txBody>
          <a:bodyPr/>
          <a:lstStyle/>
          <a:p>
            <a:pPr algn="just">
              <a:buFont typeface="Wingdings" panose="05000000000000000000" pitchFamily="2" charset="2"/>
              <a:buNone/>
            </a:pPr>
            <a:r>
              <a:rPr lang="zh-CN" altLang="en-US" sz="2800" dirty="0" smtClean="0">
                <a:solidFill>
                  <a:srgbClr val="FF0000"/>
                </a:solidFill>
              </a:rPr>
              <a:t>数字签名的种类</a:t>
            </a:r>
            <a:endParaRPr lang="en-US" altLang="zh-CN" sz="1800" dirty="0" smtClean="0"/>
          </a:p>
        </p:txBody>
      </p:sp>
      <p:sp>
        <p:nvSpPr>
          <p:cNvPr id="19" name="圆角矩形 18"/>
          <p:cNvSpPr/>
          <p:nvPr/>
        </p:nvSpPr>
        <p:spPr bwMode="gray">
          <a:xfrm>
            <a:off x="900430" y="1628775"/>
            <a:ext cx="7919720" cy="198056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1</a:t>
            </a:r>
            <a:r>
              <a:rPr lang="zh-CN" altLang="en-US" sz="2400" b="1" dirty="0">
                <a:solidFill>
                  <a:srgbClr val="990033"/>
                </a:solidFill>
                <a:latin typeface="Arial" panose="020B0604020202020204" pitchFamily="34" charset="0"/>
              </a:rPr>
              <a:t>．手写签名或图章识别</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200" b="1" dirty="0">
                <a:solidFill>
                  <a:schemeClr val="tx2"/>
                </a:solidFill>
                <a:latin typeface="Arial" panose="020B0604020202020204" pitchFamily="34" charset="0"/>
              </a:rPr>
              <a:t>将</a:t>
            </a:r>
            <a:r>
              <a:rPr lang="zh-CN" altLang="en-US" sz="2200" b="1" dirty="0">
                <a:solidFill>
                  <a:srgbClr val="CC0000"/>
                </a:solidFill>
                <a:latin typeface="Arial" panose="020B0604020202020204" pitchFamily="34" charset="0"/>
              </a:rPr>
              <a:t>手写签名或印章作为图像</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扫描后在数据库中加以存储，当验证此人的手写签名或盖印时，也用光扫描输入，并将原数据库中的对应图像调出，用模式识别方法对将两者进行比对，以确认该签名或印章的真伪。</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
        <p:nvSpPr>
          <p:cNvPr id="4" name="圆角矩形 18"/>
          <p:cNvSpPr/>
          <p:nvPr/>
        </p:nvSpPr>
        <p:spPr bwMode="gray">
          <a:xfrm>
            <a:off x="900113" y="3743960"/>
            <a:ext cx="7920037" cy="251936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2</a:t>
            </a:r>
            <a:r>
              <a:rPr lang="zh-CN" altLang="en-US" sz="2400" b="1" dirty="0">
                <a:solidFill>
                  <a:srgbClr val="990033"/>
                </a:solidFill>
                <a:latin typeface="Arial" panose="020B0604020202020204" pitchFamily="34" charset="0"/>
              </a:rPr>
              <a:t>．生物识别技术</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200" b="1" dirty="0">
                <a:solidFill>
                  <a:srgbClr val="CC0000"/>
                </a:solidFill>
                <a:latin typeface="Arial" panose="020B0604020202020204" pitchFamily="34" charset="0"/>
              </a:rPr>
              <a:t>生物识别技术</a:t>
            </a:r>
            <a:r>
              <a:rPr lang="zh-CN" altLang="en-US" sz="2200" b="1" dirty="0">
                <a:solidFill>
                  <a:schemeClr val="tx2"/>
                </a:solidFill>
                <a:latin typeface="Arial" panose="020B0604020202020204" pitchFamily="34" charset="0"/>
              </a:rPr>
              <a:t>是利用人体生物特征进行身份认证的一种技术。</a:t>
            </a:r>
            <a:r>
              <a:rPr lang="zh-CN" altLang="en-US" sz="2200" b="1" dirty="0">
                <a:solidFill>
                  <a:srgbClr val="C00000"/>
                </a:solidFill>
                <a:latin typeface="Arial" panose="020B0604020202020204" pitchFamily="34" charset="0"/>
              </a:rPr>
              <a:t>生物特征</a:t>
            </a:r>
            <a:r>
              <a:rPr lang="zh-CN" altLang="en-US" sz="2200" b="1" dirty="0">
                <a:solidFill>
                  <a:schemeClr val="tx2"/>
                </a:solidFill>
                <a:latin typeface="Arial" panose="020B0604020202020204" pitchFamily="34" charset="0"/>
              </a:rPr>
              <a:t>是一个人的唯一表征，可以测量、自动识别和验证。</a:t>
            </a:r>
            <a:r>
              <a:rPr lang="zh-CN" altLang="en-US" sz="2200" b="1" dirty="0">
                <a:solidFill>
                  <a:srgbClr val="C00000"/>
                </a:solidFill>
                <a:latin typeface="Arial" panose="020B0604020202020204" pitchFamily="34" charset="0"/>
              </a:rPr>
              <a:t>生物识别系统</a:t>
            </a:r>
            <a:r>
              <a:rPr lang="zh-CN" altLang="en-US" sz="2200" b="1" dirty="0">
                <a:solidFill>
                  <a:schemeClr val="tx2"/>
                </a:solidFill>
                <a:latin typeface="Arial" panose="020B0604020202020204" pitchFamily="34" charset="0"/>
              </a:rPr>
              <a:t>对生物特征进行取样，提取其唯一的特征进行数字化处理，转换成数字代码，并进一步将这些代码组成特征模板存于数据库中。</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graphicFrame>
        <p:nvGraphicFramePr>
          <p:cNvPr id="16388" name="对象 1"/>
          <p:cNvGraphicFramePr/>
          <p:nvPr/>
        </p:nvGraphicFramePr>
        <p:xfrm>
          <a:off x="4935538" y="5715000"/>
          <a:ext cx="2344737" cy="1047750"/>
        </p:xfrm>
        <a:graphic>
          <a:graphicData uri="http://schemas.openxmlformats.org/presentationml/2006/ole">
            <mc:AlternateContent xmlns:mc="http://schemas.openxmlformats.org/markup-compatibility/2006">
              <mc:Choice xmlns:v="urn:schemas-microsoft-com:vml" Requires="v">
                <p:oleObj spid="_x0000_s6332" name="" r:id="rId1" imgW="2908300" imgH="1397000" progId="PBrush">
                  <p:embed/>
                </p:oleObj>
              </mc:Choice>
              <mc:Fallback>
                <p:oleObj name="" r:id="rId1" imgW="2908300" imgH="1397000" progId="PBrush">
                  <p:embed/>
                  <p:pic>
                    <p:nvPicPr>
                      <p:cNvPr id="0" name="对象 1"/>
                      <p:cNvPicPr/>
                      <p:nvPr/>
                    </p:nvPicPr>
                    <p:blipFill>
                      <a:blip r:embed="rId2"/>
                      <a:stretch>
                        <a:fillRect/>
                      </a:stretch>
                    </p:blipFill>
                    <p:spPr>
                      <a:xfrm>
                        <a:off x="4935538" y="5715000"/>
                        <a:ext cx="2344737" cy="1047750"/>
                      </a:xfrm>
                      <a:prstGeom prst="rect">
                        <a:avLst/>
                      </a:prstGeom>
                      <a:noFill/>
                      <a:ln w="38100">
                        <a:noFill/>
                      </a:ln>
                    </p:spPr>
                  </p:pic>
                </p:oleObj>
              </mc:Fallback>
            </mc:AlternateContent>
          </a:graphicData>
        </a:graphic>
      </p:graphicFrame>
      <p:graphicFrame>
        <p:nvGraphicFramePr>
          <p:cNvPr id="16389" name="对象 4"/>
          <p:cNvGraphicFramePr/>
          <p:nvPr/>
        </p:nvGraphicFramePr>
        <p:xfrm>
          <a:off x="5210175" y="3126423"/>
          <a:ext cx="2003425" cy="1185862"/>
        </p:xfrm>
        <a:graphic>
          <a:graphicData uri="http://schemas.openxmlformats.org/presentationml/2006/ole">
            <mc:AlternateContent xmlns:mc="http://schemas.openxmlformats.org/markup-compatibility/2006">
              <mc:Choice xmlns:v="urn:schemas-microsoft-com:vml" Requires="v">
                <p:oleObj spid="_x0000_s6333" name="" r:id="rId3" imgW="1708150" imgH="1117600" progId="PBrush">
                  <p:embed/>
                </p:oleObj>
              </mc:Choice>
              <mc:Fallback>
                <p:oleObj name="" r:id="rId3" imgW="1708150" imgH="1117600" progId="PBrush">
                  <p:embed/>
                  <p:pic>
                    <p:nvPicPr>
                      <p:cNvPr id="0" name="对象 4"/>
                      <p:cNvPicPr/>
                      <p:nvPr/>
                    </p:nvPicPr>
                    <p:blipFill>
                      <a:blip r:embed="rId4">
                        <a:lum bright="16000" contrast="48000"/>
                      </a:blip>
                      <a:stretch>
                        <a:fillRect/>
                      </a:stretch>
                    </p:blipFill>
                    <p:spPr>
                      <a:xfrm>
                        <a:off x="5210175" y="3126423"/>
                        <a:ext cx="2003425" cy="1185862"/>
                      </a:xfrm>
                      <a:prstGeom prst="rect">
                        <a:avLst/>
                      </a:prstGeom>
                      <a:noFill/>
                      <a:ln w="38100">
                        <a:noFill/>
                      </a:ln>
                    </p:spPr>
                  </p:pic>
                </p:oleObj>
              </mc:Fallback>
            </mc:AlternateContent>
          </a:graphicData>
        </a:graphic>
      </p:graphicFrame>
      <p:sp>
        <p:nvSpPr>
          <p:cNvPr id="1639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dirty="0">
                <a:solidFill>
                  <a:schemeClr val="bg1"/>
                </a:solidFill>
              </a:rPr>
              <a:t>6.2 </a:t>
            </a:r>
            <a:r>
              <a:rPr lang="zh-CN" altLang="en-US" sz="3200" b="1" dirty="0">
                <a:solidFill>
                  <a:schemeClr val="bg1"/>
                </a:solidFill>
              </a:rPr>
              <a:t>认证系统与数字签名</a:t>
            </a:r>
            <a:endParaRPr lang="zh-CN" altLang="en-US" sz="3200" b="1" dirty="0">
              <a:solidFill>
                <a:schemeClr val="bg1"/>
              </a:solidFill>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圆角矩形 18"/>
          <p:cNvSpPr/>
          <p:nvPr/>
        </p:nvSpPr>
        <p:spPr bwMode="gray">
          <a:xfrm>
            <a:off x="611505" y="1700530"/>
            <a:ext cx="8208645" cy="464312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990033"/>
                </a:solidFill>
                <a:latin typeface="Arial" panose="020B0604020202020204" pitchFamily="34" charset="0"/>
              </a:rPr>
              <a:t>      3. </a:t>
            </a:r>
            <a:r>
              <a:rPr lang="zh-CN" altLang="en-US" sz="2400" b="1" dirty="0">
                <a:solidFill>
                  <a:srgbClr val="990033"/>
                </a:solidFill>
                <a:latin typeface="Arial" panose="020B0604020202020204" pitchFamily="34" charset="0"/>
              </a:rPr>
              <a:t>密码、密码代号或个人识别码</a:t>
            </a:r>
            <a:endParaRPr lang="zh-CN" altLang="en-US" sz="2400" b="1" dirty="0">
              <a:solidFill>
                <a:srgbClr val="990033"/>
              </a:solidFill>
              <a:latin typeface="Arial" panose="020B0604020202020204" pitchFamily="34" charset="0"/>
            </a:endParaRPr>
          </a:p>
          <a:p>
            <a:pPr>
              <a:defRPr/>
            </a:pPr>
            <a:r>
              <a:rPr lang="zh-CN" altLang="en-US" sz="2000"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主要指用一种传统的</a:t>
            </a:r>
            <a:r>
              <a:rPr lang="zh-CN" altLang="en-US" sz="2000" b="1" dirty="0">
                <a:solidFill>
                  <a:srgbClr val="CC0000"/>
                </a:solidFill>
                <a:latin typeface="Arial" panose="020B0604020202020204" pitchFamily="34" charset="0"/>
              </a:rPr>
              <a:t>对称密钥加</a:t>
            </a:r>
            <a:r>
              <a:rPr lang="en-US" altLang="zh-CN" sz="2000" b="1" dirty="0">
                <a:solidFill>
                  <a:srgbClr val="CC0000"/>
                </a:solidFill>
                <a:latin typeface="Arial" panose="020B0604020202020204" pitchFamily="34" charset="0"/>
              </a:rPr>
              <a:t>/</a:t>
            </a:r>
            <a:r>
              <a:rPr lang="zh-CN" altLang="en-US" sz="2000" b="1" dirty="0">
                <a:solidFill>
                  <a:srgbClr val="CC0000"/>
                </a:solidFill>
                <a:latin typeface="Arial" panose="020B0604020202020204" pitchFamily="34" charset="0"/>
              </a:rPr>
              <a:t>解密</a:t>
            </a:r>
            <a:r>
              <a:rPr lang="zh-CN" altLang="en-US" sz="2000" b="1" dirty="0">
                <a:solidFill>
                  <a:schemeClr val="tx2"/>
                </a:solidFill>
                <a:latin typeface="Arial" panose="020B0604020202020204" pitchFamily="34" charset="0"/>
              </a:rPr>
              <a:t>的</a:t>
            </a:r>
            <a:r>
              <a:rPr lang="zh-CN" altLang="en-US" sz="2000" b="1" u="sng" dirty="0">
                <a:solidFill>
                  <a:srgbClr val="CC0000"/>
                </a:solidFill>
                <a:latin typeface="Arial" panose="020B0604020202020204" pitchFamily="34" charset="0"/>
              </a:rPr>
              <a:t>身份识别和签名方法</a:t>
            </a:r>
            <a:r>
              <a:rPr lang="zh-CN" altLang="en-US" sz="2000" b="1" dirty="0">
                <a:solidFill>
                  <a:schemeClr val="tx2"/>
                </a:solidFill>
                <a:latin typeface="Arial" panose="020B0604020202020204" pitchFamily="34" charset="0"/>
              </a:rPr>
              <a:t>。甲方需要乙方签名一份电子文件，甲方可产生一个</a:t>
            </a:r>
            <a:r>
              <a:rPr lang="zh-CN" altLang="en-US" sz="2000" b="1" dirty="0">
                <a:solidFill>
                  <a:srgbClr val="800000"/>
                </a:solidFill>
                <a:latin typeface="Arial" panose="020B0604020202020204" pitchFamily="34" charset="0"/>
              </a:rPr>
              <a:t>随机码</a:t>
            </a:r>
            <a:r>
              <a:rPr lang="zh-CN" altLang="en-US" sz="2000" b="1" dirty="0">
                <a:solidFill>
                  <a:schemeClr val="tx2"/>
                </a:solidFill>
                <a:latin typeface="Arial" panose="020B0604020202020204" pitchFamily="34" charset="0"/>
              </a:rPr>
              <a:t>传送给乙方，乙方用事先双方约定好的对称密钥加密该随机码和电子文件回送给甲方，甲方用同样的对称密钥解密后得到电文并核对随机码，如随机码核对正确，甲方即可认为该电文来自乙方。 </a:t>
            </a:r>
            <a:endParaRPr lang="zh-CN" altLang="en-US" sz="2000" b="1" dirty="0">
              <a:solidFill>
                <a:schemeClr val="tx2"/>
              </a:solidFill>
              <a:latin typeface="Arial" panose="020B0604020202020204" pitchFamily="34" charset="0"/>
            </a:endParaRPr>
          </a:p>
          <a:p>
            <a:pPr>
              <a:defRPr/>
            </a:pPr>
            <a:r>
              <a:rPr lang="en-US" altLang="zh-CN" sz="2400" b="1" dirty="0">
                <a:solidFill>
                  <a:srgbClr val="990033"/>
                </a:solidFill>
                <a:latin typeface="Arial" panose="020B0604020202020204" pitchFamily="34" charset="0"/>
              </a:rPr>
              <a:t>     4</a:t>
            </a:r>
            <a:r>
              <a:rPr lang="zh-CN" altLang="en-US" sz="2400" b="1" dirty="0">
                <a:solidFill>
                  <a:srgbClr val="990033"/>
                </a:solidFill>
                <a:latin typeface="Arial" panose="020B0604020202020204" pitchFamily="34" charset="0"/>
              </a:rPr>
              <a:t>．基于量子力学的计算机</a:t>
            </a:r>
            <a:r>
              <a:rPr lang="en-US" altLang="zh-CN" sz="2400" b="1" dirty="0">
                <a:solidFill>
                  <a:srgbClr val="990033"/>
                </a:solidFill>
                <a:latin typeface="Arial" panose="020B0604020202020204" pitchFamily="34" charset="0"/>
              </a:rPr>
              <a:t>(</a:t>
            </a:r>
            <a:r>
              <a:rPr lang="zh-CN" altLang="en-US" sz="2400" b="1" dirty="0">
                <a:solidFill>
                  <a:srgbClr val="990033"/>
                </a:solidFill>
                <a:latin typeface="Arial" panose="020B0604020202020204" pitchFamily="34" charset="0"/>
              </a:rPr>
              <a:t>文件</a:t>
            </a:r>
            <a:r>
              <a:rPr lang="en-US" altLang="zh-CN" sz="2400" b="1" dirty="0">
                <a:solidFill>
                  <a:srgbClr val="990033"/>
                </a:solidFill>
                <a:latin typeface="Arial" panose="020B0604020202020204" pitchFamily="34" charset="0"/>
              </a:rPr>
              <a:t>)</a:t>
            </a:r>
            <a:endParaRPr lang="en-US" altLang="zh-CN"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基于量子力学的计算机被称作</a:t>
            </a:r>
            <a:r>
              <a:rPr lang="zh-CN" altLang="en-US" sz="2000" b="1" dirty="0">
                <a:solidFill>
                  <a:srgbClr val="FF0000"/>
                </a:solidFill>
                <a:latin typeface="Arial" panose="020B0604020202020204" pitchFamily="34" charset="0"/>
              </a:rPr>
              <a:t>量子计算机</a:t>
            </a:r>
            <a:r>
              <a:rPr lang="zh-CN" altLang="en-US" sz="2000" b="1" dirty="0">
                <a:solidFill>
                  <a:schemeClr val="tx2"/>
                </a:solidFill>
                <a:latin typeface="Arial" panose="020B0604020202020204" pitchFamily="34" charset="0"/>
              </a:rPr>
              <a:t>，是以量子力学原理直接进行计算的计算机。比传统的图灵计算机具有更强大的功能，计算速度要比现代的计算机快几亿倍。 </a:t>
            </a:r>
            <a:endParaRPr lang="zh-CN" altLang="en-US" sz="2000" b="1" dirty="0">
              <a:solidFill>
                <a:schemeClr val="tx2"/>
              </a:solidFill>
              <a:latin typeface="Arial" panose="020B0604020202020204" pitchFamily="34" charset="0"/>
            </a:endParaRPr>
          </a:p>
          <a:p>
            <a:pPr>
              <a:defRPr/>
            </a:pPr>
            <a:r>
              <a:rPr lang="en-US" altLang="zh-CN" sz="2400" b="1" dirty="0">
                <a:solidFill>
                  <a:srgbClr val="990033"/>
                </a:solidFill>
                <a:latin typeface="Arial" panose="020B0604020202020204" pitchFamily="34" charset="0"/>
              </a:rPr>
              <a:t>     5</a:t>
            </a:r>
            <a:r>
              <a:rPr lang="zh-CN" altLang="en-US" sz="2400" b="1" dirty="0">
                <a:solidFill>
                  <a:srgbClr val="990033"/>
                </a:solidFill>
                <a:latin typeface="Arial" panose="020B0604020202020204" pitchFamily="34" charset="0"/>
              </a:rPr>
              <a:t>．基于</a:t>
            </a:r>
            <a:r>
              <a:rPr lang="en-US" altLang="zh-CN" sz="2400" b="1" dirty="0">
                <a:solidFill>
                  <a:srgbClr val="990033"/>
                </a:solidFill>
                <a:latin typeface="Arial" panose="020B0604020202020204" pitchFamily="34" charset="0"/>
              </a:rPr>
              <a:t>PKI </a:t>
            </a:r>
            <a:r>
              <a:rPr lang="zh-CN" altLang="en-US" sz="2400" b="1" dirty="0">
                <a:solidFill>
                  <a:srgbClr val="990033"/>
                </a:solidFill>
                <a:latin typeface="Arial" panose="020B0604020202020204" pitchFamily="34" charset="0"/>
              </a:rPr>
              <a:t>的电子签名</a:t>
            </a:r>
            <a:endParaRPr lang="zh-CN" altLang="en-US" sz="2400" b="1" dirty="0">
              <a:solidFill>
                <a:srgbClr val="990033"/>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000" b="1" dirty="0">
                <a:solidFill>
                  <a:schemeClr val="tx2"/>
                </a:solidFill>
                <a:latin typeface="Arial" panose="020B0604020202020204" pitchFamily="34" charset="0"/>
              </a:rPr>
              <a:t>基于</a:t>
            </a:r>
            <a:r>
              <a:rPr lang="en-US" altLang="zh-CN" sz="2000" b="1" dirty="0">
                <a:solidFill>
                  <a:schemeClr val="tx2"/>
                </a:solidFill>
                <a:latin typeface="Arial" panose="020B0604020202020204" pitchFamily="34" charset="0"/>
              </a:rPr>
              <a:t>PKI </a:t>
            </a:r>
            <a:r>
              <a:rPr lang="zh-CN" altLang="en-US" sz="2000" b="1" dirty="0">
                <a:solidFill>
                  <a:schemeClr val="tx2"/>
                </a:solidFill>
                <a:latin typeface="Arial" panose="020B0604020202020204" pitchFamily="34" charset="0"/>
              </a:rPr>
              <a:t>的电子签名被称作</a:t>
            </a:r>
            <a:r>
              <a:rPr lang="zh-CN" altLang="en-US" sz="2000" b="1" dirty="0">
                <a:solidFill>
                  <a:srgbClr val="FF0000"/>
                </a:solidFill>
                <a:latin typeface="Arial" panose="020B0604020202020204" pitchFamily="34" charset="0"/>
              </a:rPr>
              <a:t>数字签名</a:t>
            </a:r>
            <a:r>
              <a:rPr lang="zh-CN" altLang="en-US" sz="2000" b="1" dirty="0">
                <a:solidFill>
                  <a:schemeClr val="tx2"/>
                </a:solidFill>
                <a:latin typeface="Arial" panose="020B0604020202020204" pitchFamily="34" charset="0"/>
              </a:rPr>
              <a:t>。有人称“</a:t>
            </a:r>
            <a:r>
              <a:rPr lang="zh-CN" altLang="en-US" sz="2000" b="1" dirty="0">
                <a:solidFill>
                  <a:srgbClr val="800000"/>
                </a:solidFill>
                <a:latin typeface="Arial" panose="020B0604020202020204" pitchFamily="34" charset="0"/>
              </a:rPr>
              <a:t>电子签名</a:t>
            </a:r>
            <a:r>
              <a:rPr lang="zh-CN" altLang="en-US" sz="2000" b="1" dirty="0">
                <a:solidFill>
                  <a:schemeClr val="tx2"/>
                </a:solidFill>
                <a:latin typeface="Arial" panose="020B0604020202020204" pitchFamily="34" charset="0"/>
              </a:rPr>
              <a:t>”就是“数字签名”，其实这是一般性说法，数字签名只是电子签名的一种特定形式。</a:t>
            </a:r>
            <a:endParaRPr lang="en-US" altLang="zh-CN" sz="2000" b="1" dirty="0">
              <a:solidFill>
                <a:schemeClr val="tx2"/>
              </a:solidFill>
              <a:latin typeface="Arial" panose="020B0604020202020204" pitchFamily="34" charset="0"/>
            </a:endParaRPr>
          </a:p>
        </p:txBody>
      </p:sp>
      <p:sp>
        <p:nvSpPr>
          <p:cNvPr id="17410" name="内容占位符 13"/>
          <p:cNvSpPr>
            <a:spLocks noChangeArrowheads="1"/>
          </p:cNvSpPr>
          <p:nvPr/>
        </p:nvSpPr>
        <p:spPr bwMode="auto">
          <a:xfrm>
            <a:off x="419100" y="1185863"/>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7411" name="内容占位符 13"/>
          <p:cNvSpPr>
            <a:spLocks noChangeArrowheads="1"/>
          </p:cNvSpPr>
          <p:nvPr/>
        </p:nvSpPr>
        <p:spPr bwMode="auto">
          <a:xfrm>
            <a:off x="684213" y="1125538"/>
            <a:ext cx="8040687" cy="503237"/>
          </a:xfrm>
          <a:prstGeom prst="rect">
            <a:avLst/>
          </a:prstGeom>
          <a:noFill/>
          <a:ln w="9525">
            <a:noFill/>
            <a:miter lim="800000"/>
          </a:ln>
        </p:spPr>
        <p:txBody>
          <a:bodyPr/>
          <a:lstStyle/>
          <a:p>
            <a:pPr marL="342900" indent="-342900" algn="just" eaLnBrk="0" hangingPunct="0">
              <a:spcBef>
                <a:spcPct val="20000"/>
              </a:spcBef>
              <a:buClr>
                <a:schemeClr val="hlink"/>
              </a:buClr>
            </a:pPr>
            <a:r>
              <a:rPr lang="zh-CN" altLang="en-US" sz="2800" b="1" dirty="0" smtClean="0">
                <a:solidFill>
                  <a:srgbClr val="FF0000"/>
                </a:solidFill>
                <a:latin typeface="宋体" panose="02010600030101010101" pitchFamily="2" charset="-122"/>
              </a:rPr>
              <a:t>数字签名</a:t>
            </a:r>
            <a:r>
              <a:rPr lang="zh-CN" altLang="en-US" sz="2800" b="1" dirty="0">
                <a:solidFill>
                  <a:srgbClr val="FF0000"/>
                </a:solidFill>
                <a:latin typeface="宋体" panose="02010600030101010101" pitchFamily="2" charset="-122"/>
              </a:rPr>
              <a:t>的种类</a:t>
            </a:r>
            <a:endParaRPr lang="en-US" altLang="zh-CN" b="1" dirty="0">
              <a:solidFill>
                <a:schemeClr val="tx2"/>
              </a:solidFill>
              <a:latin typeface="宋体" panose="02010600030101010101" pitchFamily="2" charset="-122"/>
            </a:endParaRPr>
          </a:p>
        </p:txBody>
      </p:sp>
      <p:sp>
        <p:nvSpPr>
          <p:cNvPr id="2" name="文本框 1"/>
          <p:cNvSpPr txBox="1"/>
          <p:nvPr/>
        </p:nvSpPr>
        <p:spPr>
          <a:xfrm>
            <a:off x="6667500" y="5102225"/>
            <a:ext cx="1103313" cy="365125"/>
          </a:xfrm>
          <a:prstGeom prst="rect">
            <a:avLst/>
          </a:prstGeom>
          <a:noFill/>
        </p:spPr>
        <p:txBody>
          <a:bodyPr wrap="none">
            <a:spAutoFit/>
          </a:bodyPr>
          <a:lstStyle/>
          <a:p>
            <a:pPr>
              <a:buFont typeface="Arial" panose="020B0604020202020204" pitchFamily="34" charset="0"/>
              <a:buNone/>
              <a:defRPr/>
            </a:pPr>
            <a:r>
              <a:rPr lang="zh-CN" altLang="en-US" b="1" dirty="0">
                <a:solidFill>
                  <a:srgbClr val="FF0000"/>
                </a:solidFill>
                <a:ea typeface="+mn-ea"/>
                <a:sym typeface="+mn-ea"/>
              </a:rPr>
              <a:t>电子签</a:t>
            </a:r>
            <a:r>
              <a:rPr lang="zh-CN" altLang="en-US" b="1" u="sng" dirty="0">
                <a:solidFill>
                  <a:srgbClr val="FF0000"/>
                </a:solidFill>
                <a:effectLst>
                  <a:outerShdw blurRad="38100" dist="38100" dir="2700000" algn="tl">
                    <a:srgbClr val="000000">
                      <a:alpha val="43137"/>
                    </a:srgbClr>
                  </a:outerShdw>
                </a:effectLst>
                <a:ea typeface="+mn-ea"/>
                <a:sym typeface="+mn-ea"/>
              </a:rPr>
              <a:t>章</a:t>
            </a:r>
            <a:endParaRPr lang="zh-CN" altLang="en-US" u="sng" noProof="1">
              <a:effectLst>
                <a:outerShdw blurRad="38100" dist="38100" dir="2700000" algn="tl">
                  <a:srgbClr val="000000">
                    <a:alpha val="43137"/>
                  </a:srgbClr>
                </a:outerShdw>
              </a:effectLst>
            </a:endParaRPr>
          </a:p>
        </p:txBody>
      </p:sp>
      <p:sp>
        <p:nvSpPr>
          <p:cNvPr id="174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3795" name="Rectangle 8"/>
          <p:cNvSpPr>
            <a:spLocks noChangeArrowheads="1"/>
          </p:cNvSpPr>
          <p:nvPr/>
        </p:nvSpPr>
        <p:spPr bwMode="auto">
          <a:xfrm>
            <a:off x="1116013" y="1604963"/>
            <a:ext cx="4103687" cy="457200"/>
          </a:xfrm>
          <a:prstGeom prst="rect">
            <a:avLst/>
          </a:prstGeom>
          <a:noFill/>
          <a:ln w="9525">
            <a:noFill/>
            <a:miter lim="800000"/>
          </a:ln>
        </p:spPr>
        <p:txBody>
          <a:bodyPr anchor="ctr">
            <a:spAutoFit/>
          </a:bodyPr>
          <a:lstStyle/>
          <a:p>
            <a:r>
              <a:rPr lang="en-US" altLang="zh-CN" sz="2400" b="1">
                <a:solidFill>
                  <a:srgbClr val="CC0000"/>
                </a:solidFill>
              </a:rPr>
              <a:t>2. </a:t>
            </a:r>
            <a:r>
              <a:rPr lang="zh-CN" altLang="en-US" sz="2400" b="1">
                <a:solidFill>
                  <a:srgbClr val="CC0000"/>
                </a:solidFill>
              </a:rPr>
              <a:t>数字签名的方法和功能</a:t>
            </a:r>
            <a:r>
              <a:rPr lang="zh-CN" altLang="en-US">
                <a:solidFill>
                  <a:srgbClr val="CC0000"/>
                </a:solidFill>
              </a:rPr>
              <a:t> </a:t>
            </a:r>
            <a:endParaRPr lang="zh-CN" altLang="en-US">
              <a:solidFill>
                <a:srgbClr val="CC0000"/>
              </a:solidFill>
            </a:endParaRPr>
          </a:p>
        </p:txBody>
      </p:sp>
      <p:sp>
        <p:nvSpPr>
          <p:cNvPr id="2" name="圆角矩形 18"/>
          <p:cNvSpPr/>
          <p:nvPr/>
        </p:nvSpPr>
        <p:spPr bwMode="gray">
          <a:xfrm>
            <a:off x="748030" y="2129155"/>
            <a:ext cx="7991475" cy="32562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sz="2000" b="1" dirty="0">
                <a:solidFill>
                  <a:srgbClr val="FF0000"/>
                </a:solidFill>
              </a:rPr>
              <a:t>实现数字签名的技术手段有多种，主要方法：</a:t>
            </a:r>
            <a:endParaRPr lang="en-US" altLang="zh-CN" sz="2000" b="1" dirty="0">
              <a:solidFill>
                <a:srgbClr val="FF0000"/>
              </a:solidFill>
            </a:endParaRPr>
          </a:p>
          <a:p>
            <a:pPr indent="457200">
              <a:buFont typeface="Arial" panose="020B0604020202020204" pitchFamily="34" charset="0"/>
              <a:buNone/>
              <a:defRPr/>
            </a:pPr>
            <a:r>
              <a:rPr lang="zh-CN" altLang="zh-CN" sz="2000" b="1" dirty="0">
                <a:solidFill>
                  <a:schemeClr val="tx2"/>
                </a:solidFill>
              </a:rPr>
              <a:t>①基于</a:t>
            </a:r>
            <a:r>
              <a:rPr lang="en-US" altLang="zh-CN" sz="2000" b="1" dirty="0">
                <a:solidFill>
                  <a:schemeClr val="tx2"/>
                </a:solidFill>
              </a:rPr>
              <a:t>PKI</a:t>
            </a:r>
            <a:r>
              <a:rPr lang="zh-CN" altLang="zh-CN" sz="2000" b="1" dirty="0">
                <a:solidFill>
                  <a:schemeClr val="tx2"/>
                </a:solidFill>
              </a:rPr>
              <a:t>的公钥密码技术的数字签名</a:t>
            </a:r>
            <a:r>
              <a:rPr lang="en-US" altLang="zh-CN" sz="2000" b="1" dirty="0">
                <a:solidFill>
                  <a:schemeClr val="tx2"/>
                </a:solidFill>
              </a:rPr>
              <a:t>;</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②用一个以生物特征统计学为基础的识别标识，如手书签名和图章的电子图像的模式识别；</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③手印、声音印记或视网膜扫描的识别；</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④一个让收件人能识别发件人身份的密码代号、密码或个人识别码</a:t>
            </a:r>
            <a:r>
              <a:rPr lang="en-US" altLang="zh-CN" sz="2000" b="1" dirty="0">
                <a:solidFill>
                  <a:schemeClr val="tx2"/>
                </a:solidFill>
              </a:rPr>
              <a:t>PIN</a:t>
            </a:r>
            <a:r>
              <a:rPr lang="zh-CN" altLang="zh-CN" sz="2000" b="1" dirty="0">
                <a:solidFill>
                  <a:schemeClr val="tx2"/>
                </a:solidFill>
              </a:rPr>
              <a:t>；</a:t>
            </a:r>
            <a:endParaRPr lang="en-US" altLang="zh-CN" sz="2000" b="1" dirty="0">
              <a:solidFill>
                <a:schemeClr val="tx2"/>
              </a:solidFill>
            </a:endParaRPr>
          </a:p>
          <a:p>
            <a:pPr indent="457200">
              <a:buFont typeface="Arial" panose="020B0604020202020204" pitchFamily="34" charset="0"/>
              <a:buNone/>
              <a:defRPr/>
            </a:pPr>
            <a:r>
              <a:rPr lang="zh-CN" altLang="zh-CN" sz="2000" b="1" dirty="0">
                <a:solidFill>
                  <a:schemeClr val="tx2"/>
                </a:solidFill>
              </a:rPr>
              <a:t>⑤基于量子计算机文件等。</a:t>
            </a:r>
            <a:endParaRPr lang="en-US" altLang="zh-CN" sz="2000" b="1" dirty="0">
              <a:solidFill>
                <a:schemeClr val="tx2"/>
              </a:solidFill>
            </a:endParaRPr>
          </a:p>
          <a:p>
            <a:pPr indent="457200">
              <a:buFont typeface="Arial" panose="020B0604020202020204" pitchFamily="34" charset="0"/>
              <a:buNone/>
              <a:defRPr/>
            </a:pPr>
            <a:r>
              <a:rPr lang="en-US" altLang="zh-CN" sz="2000" b="1" dirty="0">
                <a:solidFill>
                  <a:schemeClr val="tx2"/>
                </a:solidFill>
              </a:rPr>
              <a:t> </a:t>
            </a:r>
            <a:r>
              <a:rPr lang="zh-CN" altLang="zh-CN" sz="2000" b="1" dirty="0">
                <a:solidFill>
                  <a:schemeClr val="tx2"/>
                </a:solidFill>
              </a:rPr>
              <a:t>比较成熟的、使用方便具有可操作性的、在世界先进国家和普遍使用电子签名技术</a:t>
            </a:r>
            <a:r>
              <a:rPr lang="zh-CN" altLang="en-US" sz="2000" b="1" dirty="0">
                <a:solidFill>
                  <a:schemeClr val="tx2"/>
                </a:solidFill>
              </a:rPr>
              <a:t>还是</a:t>
            </a:r>
            <a:r>
              <a:rPr lang="zh-CN" altLang="zh-CN" sz="2000" b="1" dirty="0">
                <a:solidFill>
                  <a:schemeClr val="tx2"/>
                </a:solidFill>
              </a:rPr>
              <a:t>基于</a:t>
            </a:r>
            <a:r>
              <a:rPr lang="en-US" altLang="zh-CN" sz="2000" b="1" dirty="0">
                <a:solidFill>
                  <a:schemeClr val="tx2"/>
                </a:solidFill>
              </a:rPr>
              <a:t>PKI</a:t>
            </a:r>
            <a:r>
              <a:rPr lang="zh-CN" altLang="zh-CN" sz="2000" b="1" dirty="0">
                <a:solidFill>
                  <a:schemeClr val="tx2"/>
                </a:solidFill>
              </a:rPr>
              <a:t>的数字签名技术。</a:t>
            </a:r>
            <a:endParaRPr lang="zh-CN" altLang="zh-CN" sz="2000" b="1" dirty="0">
              <a:solidFill>
                <a:schemeClr val="tx2"/>
              </a:solidFill>
            </a:endParaRPr>
          </a:p>
        </p:txBody>
      </p:sp>
      <p:sp>
        <p:nvSpPr>
          <p:cNvPr id="3379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13"/>
          <p:cNvSpPr>
            <a:spLocks noChangeArrowheads="1"/>
          </p:cNvSpPr>
          <p:nvPr/>
        </p:nvSpPr>
        <p:spPr bwMode="auto">
          <a:xfrm>
            <a:off x="395288" y="1196975"/>
            <a:ext cx="8153400" cy="7191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181255"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4819" name="Rectangle 8"/>
          <p:cNvSpPr>
            <a:spLocks noChangeArrowheads="1"/>
          </p:cNvSpPr>
          <p:nvPr/>
        </p:nvSpPr>
        <p:spPr bwMode="auto">
          <a:xfrm>
            <a:off x="1333500" y="1731963"/>
            <a:ext cx="4103688" cy="457200"/>
          </a:xfrm>
          <a:prstGeom prst="rect">
            <a:avLst/>
          </a:prstGeom>
          <a:noFill/>
          <a:ln w="9525">
            <a:noFill/>
            <a:miter lim="800000"/>
          </a:ln>
        </p:spPr>
        <p:txBody>
          <a:bodyPr anchor="ctr">
            <a:spAutoFit/>
          </a:bodyPr>
          <a:lstStyle/>
          <a:p>
            <a:r>
              <a:rPr lang="en-US" altLang="zh-CN" sz="2400" b="1">
                <a:solidFill>
                  <a:srgbClr val="CC0000"/>
                </a:solidFill>
              </a:rPr>
              <a:t>2. </a:t>
            </a:r>
            <a:r>
              <a:rPr lang="zh-CN" altLang="en-US" sz="2400" b="1">
                <a:solidFill>
                  <a:srgbClr val="CC0000"/>
                </a:solidFill>
              </a:rPr>
              <a:t>数字签名的方法和功能</a:t>
            </a:r>
            <a:r>
              <a:rPr lang="zh-CN" altLang="en-US">
                <a:solidFill>
                  <a:srgbClr val="CC0000"/>
                </a:solidFill>
              </a:rPr>
              <a:t> </a:t>
            </a:r>
            <a:endParaRPr lang="zh-CN" altLang="en-US">
              <a:solidFill>
                <a:srgbClr val="CC0000"/>
              </a:solidFill>
            </a:endParaRPr>
          </a:p>
        </p:txBody>
      </p:sp>
      <p:sp>
        <p:nvSpPr>
          <p:cNvPr id="2" name="圆角矩形 18"/>
          <p:cNvSpPr/>
          <p:nvPr/>
        </p:nvSpPr>
        <p:spPr bwMode="gray">
          <a:xfrm>
            <a:off x="675005" y="2189480"/>
            <a:ext cx="7991475" cy="264223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000" b="1" dirty="0">
                <a:solidFill>
                  <a:srgbClr val="29698D"/>
                </a:solidFill>
              </a:rPr>
              <a:t>    </a:t>
            </a:r>
            <a:r>
              <a:rPr lang="zh-CN" altLang="zh-CN" sz="2200" b="1" u="sng" dirty="0">
                <a:solidFill>
                  <a:srgbClr val="C00000"/>
                </a:solidFill>
              </a:rPr>
              <a:t>数字签名算法</a:t>
            </a:r>
            <a:r>
              <a:rPr lang="zh-CN" altLang="zh-CN" sz="2200" b="1" dirty="0">
                <a:solidFill>
                  <a:srgbClr val="FF0000"/>
                </a:solidFill>
              </a:rPr>
              <a:t>组成</a:t>
            </a:r>
            <a:r>
              <a:rPr lang="zh-CN" altLang="zh-CN" sz="2200" b="1" dirty="0">
                <a:solidFill>
                  <a:srgbClr val="29698D"/>
                </a:solidFill>
              </a:rPr>
              <a:t>主要有</a:t>
            </a:r>
            <a:r>
              <a:rPr lang="en-US" altLang="zh-CN" sz="2200" b="1" dirty="0">
                <a:solidFill>
                  <a:srgbClr val="29698D"/>
                </a:solidFill>
              </a:rPr>
              <a:t>2</a:t>
            </a:r>
            <a:r>
              <a:rPr lang="zh-CN" altLang="zh-CN" sz="2200" b="1" dirty="0">
                <a:solidFill>
                  <a:srgbClr val="29698D"/>
                </a:solidFill>
              </a:rPr>
              <a:t>部分：签名算法和验证算法。</a:t>
            </a:r>
            <a:r>
              <a:rPr lang="zh-CN" altLang="en-US" sz="2200" b="1" dirty="0">
                <a:solidFill>
                  <a:schemeClr val="tx2"/>
                </a:solidFill>
                <a:latin typeface="Arial" panose="020B0604020202020204" pitchFamily="34" charset="0"/>
              </a:rPr>
              <a:t>    </a:t>
            </a:r>
            <a:endParaRPr lang="en-US" altLang="zh-CN" sz="2200" b="1" dirty="0">
              <a:solidFill>
                <a:schemeClr val="tx2"/>
              </a:solidFill>
              <a:latin typeface="Arial" panose="020B0604020202020204" pitchFamily="34" charset="0"/>
            </a:endParaRPr>
          </a:p>
          <a:p>
            <a:pPr>
              <a:buFont typeface="Arial" panose="020B0604020202020204" pitchFamily="34" charset="0"/>
              <a:buNone/>
              <a:defRPr/>
            </a:pPr>
            <a:r>
              <a:rPr lang="zh-CN" altLang="en-US" sz="2200" b="1" dirty="0">
                <a:solidFill>
                  <a:srgbClr val="0000FF"/>
                </a:solidFill>
                <a:latin typeface="Arial" panose="020B0604020202020204" pitchFamily="34" charset="0"/>
              </a:rPr>
              <a:t>       保证</a:t>
            </a:r>
            <a:r>
              <a:rPr lang="zh-CN" altLang="en-US" sz="2200" b="1" dirty="0">
                <a:solidFill>
                  <a:schemeClr val="tx2"/>
                </a:solidFill>
                <a:latin typeface="Arial" panose="020B0604020202020204" pitchFamily="34" charset="0"/>
              </a:rPr>
              <a:t>信息传输的完整性、发送者的身份</a:t>
            </a:r>
            <a:r>
              <a:rPr lang="zh-CN" altLang="en-US" sz="2200" b="1" dirty="0">
                <a:solidFill>
                  <a:srgbClr val="0000FF"/>
                </a:solidFill>
                <a:latin typeface="Arial" panose="020B0604020202020204" pitchFamily="34" charset="0"/>
              </a:rPr>
              <a:t>认证</a:t>
            </a:r>
            <a:r>
              <a:rPr lang="zh-CN" altLang="en-US" sz="2200" b="1" dirty="0">
                <a:solidFill>
                  <a:schemeClr val="tx2"/>
                </a:solidFill>
                <a:latin typeface="Arial" panose="020B0604020202020204" pitchFamily="34" charset="0"/>
              </a:rPr>
              <a:t>、</a:t>
            </a:r>
            <a:r>
              <a:rPr lang="zh-CN" altLang="en-US" sz="2200" b="1" dirty="0">
                <a:solidFill>
                  <a:srgbClr val="0000FF"/>
                </a:solidFill>
                <a:latin typeface="Arial" panose="020B0604020202020204" pitchFamily="34" charset="0"/>
              </a:rPr>
              <a:t>防止</a:t>
            </a:r>
            <a:r>
              <a:rPr lang="zh-CN" altLang="en-US" sz="2200" b="1" dirty="0">
                <a:solidFill>
                  <a:schemeClr val="tx2"/>
                </a:solidFill>
                <a:latin typeface="Arial" panose="020B0604020202020204" pitchFamily="34" charset="0"/>
              </a:rPr>
              <a:t>交易中的抵赖行为发生。</a:t>
            </a:r>
            <a:r>
              <a:rPr lang="zh-CN" altLang="en-US" sz="2200" b="1" dirty="0">
                <a:solidFill>
                  <a:srgbClr val="CC0000"/>
                </a:solidFill>
                <a:latin typeface="Arial" panose="020B0604020202020204" pitchFamily="34" charset="0"/>
              </a:rPr>
              <a:t>数字签名技术</a:t>
            </a:r>
            <a:r>
              <a:rPr lang="zh-CN" altLang="en-US" sz="2200" b="1" dirty="0">
                <a:solidFill>
                  <a:schemeClr val="tx2"/>
                </a:solidFill>
                <a:latin typeface="Arial" panose="020B0604020202020204" pitchFamily="34" charset="0"/>
              </a:rPr>
              <a:t>是将</a:t>
            </a:r>
            <a:r>
              <a:rPr lang="zh-CN" altLang="en-US" sz="2200" b="1" u="sng" dirty="0">
                <a:solidFill>
                  <a:schemeClr val="tx2"/>
                </a:solidFill>
                <a:latin typeface="Arial" panose="020B0604020202020204" pitchFamily="34" charset="0"/>
              </a:rPr>
              <a:t>摘要信息</a:t>
            </a:r>
            <a:r>
              <a:rPr lang="zh-CN" altLang="en-US" sz="2200" b="1" dirty="0">
                <a:solidFill>
                  <a:schemeClr val="tx2"/>
                </a:solidFill>
                <a:latin typeface="Arial" panose="020B0604020202020204" pitchFamily="34" charset="0"/>
              </a:rPr>
              <a:t>用发送者的私钥加密，与原文一起传送给接收者。</a:t>
            </a:r>
            <a:endParaRPr lang="en-US" altLang="zh-CN" sz="2200" b="1" dirty="0">
              <a:solidFill>
                <a:schemeClr val="tx2"/>
              </a:solidFill>
              <a:latin typeface="Arial" panose="020B0604020202020204" pitchFamily="34" charset="0"/>
            </a:endParaRPr>
          </a:p>
          <a:p>
            <a:pPr>
              <a:buFont typeface="Arial" panose="020B0604020202020204" pitchFamily="34" charset="0"/>
              <a:buNone/>
              <a:defRPr/>
            </a:pPr>
            <a:r>
              <a:rPr lang="en-US" altLang="zh-CN" sz="2200" b="1" dirty="0">
                <a:solidFill>
                  <a:schemeClr val="tx2"/>
                </a:solidFill>
                <a:latin typeface="Arial" panose="020B0604020202020204" pitchFamily="34" charset="0"/>
              </a:rPr>
              <a:t>       </a:t>
            </a:r>
            <a:r>
              <a:rPr lang="zh-CN" altLang="en-US" sz="2200" b="1" u="sng" dirty="0">
                <a:solidFill>
                  <a:srgbClr val="990033"/>
                </a:solidFill>
                <a:latin typeface="Arial" panose="020B0604020202020204" pitchFamily="34" charset="0"/>
              </a:rPr>
              <a:t>最终目的</a:t>
            </a:r>
            <a:r>
              <a:rPr lang="zh-CN" altLang="en-US" sz="2200" b="1" dirty="0">
                <a:solidFill>
                  <a:schemeClr val="tx2"/>
                </a:solidFill>
                <a:latin typeface="Arial" panose="020B0604020202020204" pitchFamily="34" charset="0"/>
              </a:rPr>
              <a:t>是</a:t>
            </a:r>
            <a:r>
              <a:rPr lang="zh-CN" altLang="en-US" sz="2200" b="1" dirty="0">
                <a:solidFill>
                  <a:srgbClr val="990033"/>
                </a:solidFill>
                <a:latin typeface="Arial" panose="020B0604020202020204" pitchFamily="34" charset="0"/>
              </a:rPr>
              <a:t>实现</a:t>
            </a:r>
            <a:r>
              <a:rPr lang="en-US" altLang="zh-CN" sz="2200" b="1" dirty="0">
                <a:solidFill>
                  <a:schemeClr val="tx2"/>
                </a:solidFill>
                <a:latin typeface="Arial" panose="020B0604020202020204" pitchFamily="34" charset="0"/>
              </a:rPr>
              <a:t>6</a:t>
            </a:r>
            <a:r>
              <a:rPr lang="zh-CN" altLang="en-US" sz="2200" b="1" dirty="0">
                <a:solidFill>
                  <a:schemeClr val="tx2"/>
                </a:solidFill>
                <a:latin typeface="Arial" panose="020B0604020202020204" pitchFamily="34" charset="0"/>
              </a:rPr>
              <a:t>种</a:t>
            </a:r>
            <a:r>
              <a:rPr lang="zh-CN" altLang="en-US" sz="2200" b="1" dirty="0">
                <a:solidFill>
                  <a:srgbClr val="FF0000"/>
                </a:solidFill>
                <a:latin typeface="Arial" panose="020B0604020202020204" pitchFamily="34" charset="0"/>
              </a:rPr>
              <a:t>安全保障功能：</a:t>
            </a:r>
            <a:endParaRPr lang="zh-CN" altLang="en-US" sz="2200" b="1" dirty="0">
              <a:solidFill>
                <a:srgbClr val="FF0000"/>
              </a:solidFill>
              <a:latin typeface="Arial" panose="020B0604020202020204" pitchFamily="34" charset="0"/>
            </a:endParaRPr>
          </a:p>
          <a:p>
            <a:pPr>
              <a:buFont typeface="Arial" panose="020B0604020202020204" pitchFamily="34" charset="0"/>
              <a:buNone/>
              <a:defRPr/>
            </a:pPr>
            <a:r>
              <a:rPr lang="zh-CN" altLang="en-US" sz="2200" b="1" dirty="0">
                <a:solidFill>
                  <a:schemeClr val="tx2"/>
                </a:solidFill>
                <a:latin typeface="Times New Roman" panose="02020603050405020304" pitchFamily="18" charset="0"/>
                <a:ea typeface="楷体_GB2312" pitchFamily="49" charset="-122"/>
              </a:rPr>
              <a:t>    （</a:t>
            </a:r>
            <a:r>
              <a:rPr lang="en-US" altLang="zh-CN" sz="2200" b="1" dirty="0">
                <a:solidFill>
                  <a:schemeClr val="tx2"/>
                </a:solidFill>
                <a:latin typeface="Times New Roman" panose="02020603050405020304" pitchFamily="18" charset="0"/>
                <a:ea typeface="楷体_GB2312" pitchFamily="49" charset="-122"/>
              </a:rPr>
              <a:t>1</a:t>
            </a:r>
            <a:r>
              <a:rPr lang="zh-CN" altLang="en-US" sz="2200" b="1" dirty="0">
                <a:solidFill>
                  <a:schemeClr val="tx2"/>
                </a:solidFill>
                <a:latin typeface="Times New Roman" panose="02020603050405020304" pitchFamily="18" charset="0"/>
                <a:ea typeface="楷体_GB2312" pitchFamily="49" charset="-122"/>
              </a:rPr>
              <a:t>）必须可信。（</a:t>
            </a:r>
            <a:r>
              <a:rPr lang="en-US" altLang="zh-CN" sz="2200" b="1" dirty="0">
                <a:solidFill>
                  <a:schemeClr val="tx2"/>
                </a:solidFill>
                <a:latin typeface="Times New Roman" panose="02020603050405020304" pitchFamily="18" charset="0"/>
                <a:ea typeface="楷体_GB2312" pitchFamily="49" charset="-122"/>
              </a:rPr>
              <a:t>2</a:t>
            </a:r>
            <a:r>
              <a:rPr lang="zh-CN" altLang="en-US" sz="2200" b="1" dirty="0">
                <a:solidFill>
                  <a:schemeClr val="tx2"/>
                </a:solidFill>
                <a:latin typeface="Times New Roman" panose="02020603050405020304" pitchFamily="18" charset="0"/>
                <a:ea typeface="楷体_GB2312" pitchFamily="49" charset="-122"/>
              </a:rPr>
              <a:t>）无法抵赖。（</a:t>
            </a:r>
            <a:r>
              <a:rPr lang="en-US" altLang="zh-CN" sz="2200" b="1" dirty="0">
                <a:solidFill>
                  <a:schemeClr val="tx2"/>
                </a:solidFill>
                <a:latin typeface="Times New Roman" panose="02020603050405020304" pitchFamily="18" charset="0"/>
                <a:ea typeface="楷体_GB2312" pitchFamily="49" charset="-122"/>
              </a:rPr>
              <a:t>3</a:t>
            </a:r>
            <a:r>
              <a:rPr lang="zh-CN" altLang="en-US" sz="2200" b="1" dirty="0">
                <a:solidFill>
                  <a:schemeClr val="tx2"/>
                </a:solidFill>
                <a:latin typeface="Times New Roman" panose="02020603050405020304" pitchFamily="18" charset="0"/>
                <a:ea typeface="楷体_GB2312" pitchFamily="49" charset="-122"/>
              </a:rPr>
              <a:t>）不可伪造。</a:t>
            </a:r>
            <a:endParaRPr lang="zh-CN" altLang="en-US" sz="2200" b="1" dirty="0">
              <a:solidFill>
                <a:schemeClr val="tx2"/>
              </a:solidFill>
              <a:latin typeface="Times New Roman" panose="02020603050405020304" pitchFamily="18" charset="0"/>
              <a:ea typeface="楷体_GB2312" pitchFamily="49" charset="-122"/>
            </a:endParaRPr>
          </a:p>
          <a:p>
            <a:pPr>
              <a:buFont typeface="Arial" panose="020B0604020202020204" pitchFamily="34" charset="0"/>
              <a:buNone/>
              <a:defRPr/>
            </a:pPr>
            <a:r>
              <a:rPr lang="zh-CN" altLang="en-US" sz="2200" b="1" dirty="0">
                <a:solidFill>
                  <a:schemeClr val="tx2"/>
                </a:solidFill>
                <a:latin typeface="Times New Roman" panose="02020603050405020304" pitchFamily="18" charset="0"/>
                <a:ea typeface="楷体_GB2312" pitchFamily="49" charset="-122"/>
              </a:rPr>
              <a:t>    （</a:t>
            </a:r>
            <a:r>
              <a:rPr lang="en-US" altLang="zh-CN" sz="2200" b="1" dirty="0">
                <a:solidFill>
                  <a:schemeClr val="tx2"/>
                </a:solidFill>
                <a:latin typeface="Times New Roman" panose="02020603050405020304" pitchFamily="18" charset="0"/>
                <a:ea typeface="楷体_GB2312" pitchFamily="49" charset="-122"/>
              </a:rPr>
              <a:t>4</a:t>
            </a:r>
            <a:r>
              <a:rPr lang="zh-CN" altLang="en-US" sz="2200" b="1" dirty="0">
                <a:solidFill>
                  <a:schemeClr val="tx2"/>
                </a:solidFill>
                <a:latin typeface="Times New Roman" panose="02020603050405020304" pitchFamily="18" charset="0"/>
                <a:ea typeface="楷体_GB2312" pitchFamily="49" charset="-122"/>
              </a:rPr>
              <a:t>）不能重用。（</a:t>
            </a:r>
            <a:r>
              <a:rPr lang="en-US" altLang="zh-CN" sz="2200" b="1" dirty="0">
                <a:solidFill>
                  <a:schemeClr val="tx2"/>
                </a:solidFill>
                <a:latin typeface="Times New Roman" panose="02020603050405020304" pitchFamily="18" charset="0"/>
                <a:ea typeface="楷体_GB2312" pitchFamily="49" charset="-122"/>
              </a:rPr>
              <a:t>5</a:t>
            </a:r>
            <a:r>
              <a:rPr lang="zh-CN" altLang="en-US" sz="2200" b="1" dirty="0">
                <a:solidFill>
                  <a:schemeClr val="tx2"/>
                </a:solidFill>
                <a:latin typeface="Times New Roman" panose="02020603050405020304" pitchFamily="18" charset="0"/>
                <a:ea typeface="楷体_GB2312" pitchFamily="49" charset="-122"/>
              </a:rPr>
              <a:t>）不许变更。（</a:t>
            </a:r>
            <a:r>
              <a:rPr lang="en-US" altLang="zh-CN" sz="2200" b="1" dirty="0">
                <a:solidFill>
                  <a:schemeClr val="tx2"/>
                </a:solidFill>
                <a:latin typeface="Times New Roman" panose="02020603050405020304" pitchFamily="18" charset="0"/>
                <a:ea typeface="楷体_GB2312" pitchFamily="49" charset="-122"/>
              </a:rPr>
              <a:t>6</a:t>
            </a:r>
            <a:r>
              <a:rPr lang="zh-CN" altLang="en-US" sz="2200" b="1" dirty="0">
                <a:solidFill>
                  <a:schemeClr val="tx2"/>
                </a:solidFill>
                <a:latin typeface="Times New Roman" panose="02020603050405020304" pitchFamily="18" charset="0"/>
                <a:ea typeface="楷体_GB2312" pitchFamily="49" charset="-122"/>
              </a:rPr>
              <a:t>）处理快、应用广。</a:t>
            </a:r>
            <a:r>
              <a:rPr lang="zh-CN" altLang="en-US" sz="2200" dirty="0">
                <a:solidFill>
                  <a:srgbClr val="3333FF"/>
                </a:solidFill>
                <a:latin typeface="楷体_GB2312" pitchFamily="49" charset="-122"/>
                <a:ea typeface="楷体_GB2312" pitchFamily="49" charset="-122"/>
              </a:rPr>
              <a:t> </a:t>
            </a:r>
            <a:endParaRPr lang="en-US" altLang="zh-CN" sz="2200" dirty="0">
              <a:solidFill>
                <a:srgbClr val="3333FF"/>
              </a:solidFill>
              <a:latin typeface="楷体_GB2312" pitchFamily="49" charset="-122"/>
              <a:ea typeface="楷体_GB2312" pitchFamily="49" charset="-122"/>
            </a:endParaRPr>
          </a:p>
        </p:txBody>
      </p:sp>
      <p:pic>
        <p:nvPicPr>
          <p:cNvPr id="34821" name="Picture 25"/>
          <p:cNvPicPr>
            <a:picLocks noChangeAspect="1" noChangeArrowheads="1"/>
          </p:cNvPicPr>
          <p:nvPr/>
        </p:nvPicPr>
        <p:blipFill>
          <a:blip r:embed="rId1" cstate="print"/>
          <a:srcRect/>
          <a:stretch>
            <a:fillRect/>
          </a:stretch>
        </p:blipFill>
        <p:spPr bwMode="auto">
          <a:xfrm flipH="1">
            <a:off x="6323648" y="4831715"/>
            <a:ext cx="1600200" cy="1466850"/>
          </a:xfrm>
          <a:prstGeom prst="rect">
            <a:avLst/>
          </a:prstGeom>
          <a:noFill/>
          <a:ln w="9525">
            <a:noFill/>
            <a:miter lim="800000"/>
            <a:headEnd/>
            <a:tailEnd/>
          </a:ln>
        </p:spPr>
      </p:pic>
      <p:sp>
        <p:nvSpPr>
          <p:cNvPr id="3482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31850" y="2087563"/>
            <a:ext cx="7721600" cy="24209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defRPr/>
            </a:pPr>
            <a:r>
              <a:rPr lang="zh-CN" altLang="en-US" b="1" dirty="0">
                <a:solidFill>
                  <a:schemeClr val="tx2"/>
                </a:solidFill>
                <a:latin typeface="Arial" panose="020B0604020202020204" pitchFamily="34" charset="0"/>
              </a:rPr>
              <a:t>网上通信的双方，在互相认证身份之后，即可发送签名的数据电文。</a:t>
            </a:r>
            <a:r>
              <a:rPr lang="zh-CN" altLang="en-US" b="1" dirty="0">
                <a:solidFill>
                  <a:srgbClr val="CC0000"/>
                </a:solidFill>
                <a:latin typeface="Arial" panose="020B0604020202020204" pitchFamily="34" charset="0"/>
              </a:rPr>
              <a:t>数字签名的全过程</a:t>
            </a:r>
            <a:r>
              <a:rPr lang="zh-CN" altLang="en-US" b="1" dirty="0">
                <a:solidFill>
                  <a:schemeClr val="tx1"/>
                </a:solidFill>
                <a:latin typeface="Arial" panose="020B0604020202020204" pitchFamily="34" charset="0"/>
              </a:rPr>
              <a:t>分两大部分</a:t>
            </a:r>
            <a:r>
              <a:rPr lang="zh-CN" altLang="en-US" b="1" dirty="0">
                <a:solidFill>
                  <a:schemeClr val="tx2"/>
                </a:solidFill>
                <a:latin typeface="Arial" panose="020B0604020202020204" pitchFamily="34" charset="0"/>
              </a:rPr>
              <a:t>，即签名与验证。数字签名与验证的过程和技术</a:t>
            </a:r>
            <a:r>
              <a:rPr lang="zh-CN" altLang="en-US" b="1" dirty="0">
                <a:solidFill>
                  <a:srgbClr val="CC0000"/>
                </a:solidFill>
                <a:latin typeface="Arial" panose="020B0604020202020204" pitchFamily="34" charset="0"/>
              </a:rPr>
              <a:t>实现的原理</a:t>
            </a:r>
            <a:r>
              <a:rPr lang="zh-CN" altLang="en-US" b="1" dirty="0">
                <a:solidFill>
                  <a:schemeClr val="tx2"/>
                </a:solidFill>
                <a:latin typeface="Arial" panose="020B0604020202020204" pitchFamily="34" charset="0"/>
              </a:rPr>
              <a:t>。</a:t>
            </a:r>
            <a:r>
              <a:rPr lang="zh-CN" altLang="en-US" dirty="0">
                <a:solidFill>
                  <a:schemeClr val="tx1"/>
                </a:solidFill>
                <a:latin typeface="Arial" panose="020B0604020202020204" pitchFamily="34" charset="0"/>
              </a:rPr>
              <a:t> </a:t>
            </a:r>
            <a:endParaRPr lang="en-US" altLang="zh-CN" dirty="0">
              <a:solidFill>
                <a:schemeClr val="tx1"/>
              </a:solidFill>
              <a:latin typeface="Arial" panose="020B0604020202020204" pitchFamily="34" charset="0"/>
            </a:endParaRPr>
          </a:p>
          <a:p>
            <a:pPr indent="457200">
              <a:defRPr/>
            </a:pPr>
            <a:r>
              <a:rPr lang="zh-CN" altLang="en-US" b="1" dirty="0">
                <a:solidFill>
                  <a:schemeClr val="tx2"/>
                </a:solidFill>
                <a:latin typeface="Arial" panose="020B0604020202020204" pitchFamily="34" charset="0"/>
              </a:rPr>
              <a:t>发方将原文用</a:t>
            </a:r>
            <a:r>
              <a:rPr lang="zh-CN" altLang="en-US" b="1" dirty="0">
                <a:solidFill>
                  <a:srgbClr val="FF0000"/>
                </a:solidFill>
                <a:latin typeface="Arial" panose="020B0604020202020204" pitchFamily="34" charset="0"/>
              </a:rPr>
              <a:t>哈希算法</a:t>
            </a:r>
            <a:r>
              <a:rPr lang="zh-CN" altLang="en-US" b="1" dirty="0">
                <a:solidFill>
                  <a:schemeClr val="tx2"/>
                </a:solidFill>
                <a:latin typeface="Arial" panose="020B0604020202020204" pitchFamily="34" charset="0"/>
              </a:rPr>
              <a:t>求得数字摘要，用</a:t>
            </a:r>
            <a:r>
              <a:rPr lang="zh-CN" altLang="en-US" b="1" dirty="0">
                <a:solidFill>
                  <a:srgbClr val="FF0000"/>
                </a:solidFill>
                <a:latin typeface="Arial" panose="020B0604020202020204" pitchFamily="34" charset="0"/>
              </a:rPr>
              <a:t>签名私钥</a:t>
            </a:r>
            <a:r>
              <a:rPr lang="zh-CN" altLang="en-US" b="1" dirty="0">
                <a:solidFill>
                  <a:schemeClr val="tx2"/>
                </a:solidFill>
                <a:latin typeface="Arial" panose="020B0604020202020204" pitchFamily="34" charset="0"/>
              </a:rPr>
              <a:t>对数字摘要加密求得数字签名，然后将原文与数字签名一起发送给收方；收方验证签名，即用发方的公钥解密数字签名，得出数字摘要；收方将原文采用同样哈希算法又得一新的数字摘要，将两个数字摘要进行比较，如果两者匹配，说明经数字签名的电子文件传输成功。</a:t>
            </a:r>
            <a:endParaRPr lang="en-US" altLang="zh-CN" b="1" dirty="0">
              <a:solidFill>
                <a:schemeClr val="tx2"/>
              </a:solidFill>
              <a:latin typeface="Arial" panose="020B0604020202020204" pitchFamily="34" charset="0"/>
            </a:endParaRPr>
          </a:p>
        </p:txBody>
      </p:sp>
      <p:pic>
        <p:nvPicPr>
          <p:cNvPr id="35842" name="Picture 9"/>
          <p:cNvPicPr>
            <a:picLocks noChangeAspect="1" noChangeArrowheads="1"/>
          </p:cNvPicPr>
          <p:nvPr/>
        </p:nvPicPr>
        <p:blipFill>
          <a:blip r:embed="rId1" cstate="print"/>
          <a:srcRect/>
          <a:stretch>
            <a:fillRect/>
          </a:stretch>
        </p:blipFill>
        <p:spPr bwMode="auto">
          <a:xfrm>
            <a:off x="1763713" y="4548188"/>
            <a:ext cx="5616575" cy="2160587"/>
          </a:xfrm>
          <a:prstGeom prst="rect">
            <a:avLst/>
          </a:prstGeom>
          <a:noFill/>
          <a:ln w="9525">
            <a:noFill/>
            <a:miter lim="800000"/>
            <a:headEnd/>
            <a:tailEnd/>
          </a:ln>
        </p:spPr>
      </p:pic>
      <p:sp>
        <p:nvSpPr>
          <p:cNvPr id="35843" name="Rectangle 10"/>
          <p:cNvSpPr>
            <a:spLocks noChangeArrowheads="1"/>
          </p:cNvSpPr>
          <p:nvPr/>
        </p:nvSpPr>
        <p:spPr bwMode="auto">
          <a:xfrm>
            <a:off x="38100" y="2085975"/>
            <a:ext cx="9144000" cy="0"/>
          </a:xfrm>
          <a:prstGeom prst="rect">
            <a:avLst/>
          </a:prstGeom>
          <a:noFill/>
          <a:ln w="9525">
            <a:noFill/>
            <a:miter lim="800000"/>
          </a:ln>
        </p:spPr>
        <p:txBody>
          <a:bodyPr wrap="none" anchor="ctr">
            <a:spAutoFit/>
          </a:bodyPr>
          <a:lstStyle/>
          <a:p>
            <a:endParaRPr lang="zh-CN" altLang="en-US"/>
          </a:p>
        </p:txBody>
      </p:sp>
      <p:sp>
        <p:nvSpPr>
          <p:cNvPr id="35844" name="Rectangle 11"/>
          <p:cNvSpPr>
            <a:spLocks noChangeArrowheads="1"/>
          </p:cNvSpPr>
          <p:nvPr/>
        </p:nvSpPr>
        <p:spPr bwMode="auto">
          <a:xfrm>
            <a:off x="4451350" y="3135313"/>
            <a:ext cx="241300" cy="228600"/>
          </a:xfrm>
          <a:prstGeom prst="rect">
            <a:avLst/>
          </a:prstGeom>
          <a:noFill/>
          <a:ln w="9525">
            <a:noFill/>
            <a:miter lim="800000"/>
          </a:ln>
        </p:spPr>
        <p:txBody>
          <a:bodyPr wrap="none" anchor="ctr">
            <a:spAutoFit/>
          </a:bodyPr>
          <a:lstStyle/>
          <a:p>
            <a:pPr algn="ctr" eaLnBrk="0" hangingPunct="0"/>
            <a:r>
              <a:rPr lang="zh-CN" altLang="en-US" sz="900">
                <a:latin typeface="Times New Roman" panose="02020603050405020304" pitchFamily="18" charset="0"/>
              </a:rPr>
              <a:t>  </a:t>
            </a:r>
            <a:endParaRPr lang="zh-CN" altLang="en-US"/>
          </a:p>
        </p:txBody>
      </p:sp>
      <p:sp>
        <p:nvSpPr>
          <p:cNvPr id="35845" name="Rectangle 12"/>
          <p:cNvSpPr>
            <a:spLocks noChangeArrowheads="1"/>
          </p:cNvSpPr>
          <p:nvPr/>
        </p:nvSpPr>
        <p:spPr bwMode="auto">
          <a:xfrm>
            <a:off x="3751263" y="6477000"/>
            <a:ext cx="1262062" cy="277813"/>
          </a:xfrm>
          <a:prstGeom prst="rect">
            <a:avLst/>
          </a:prstGeom>
          <a:noFill/>
          <a:ln w="9525">
            <a:noFill/>
            <a:miter lim="800000"/>
          </a:ln>
        </p:spPr>
        <p:txBody>
          <a:bodyPr wrap="none" anchor="ctr">
            <a:spAutoFit/>
          </a:bodyPr>
          <a:lstStyle/>
          <a:p>
            <a:pPr algn="ctr" eaLnBrk="0" hangingPunct="0"/>
            <a:r>
              <a:rPr lang="zh-CN" altLang="en-US" sz="1200" b="1">
                <a:solidFill>
                  <a:srgbClr val="C00000"/>
                </a:solidFill>
                <a:latin typeface="Times New Roman" panose="02020603050405020304" pitchFamily="18" charset="0"/>
              </a:rPr>
              <a:t>数字签名原理图</a:t>
            </a:r>
            <a:endParaRPr lang="zh-CN" altLang="en-US" sz="1200" b="1">
              <a:solidFill>
                <a:srgbClr val="C00000"/>
              </a:solidFill>
              <a:latin typeface="Times New Roman" panose="02020603050405020304" pitchFamily="18" charset="0"/>
              <a:cs typeface="Times New Roman" panose="02020603050405020304" pitchFamily="18" charset="0"/>
            </a:endParaRPr>
          </a:p>
        </p:txBody>
      </p:sp>
      <p:sp>
        <p:nvSpPr>
          <p:cNvPr id="3584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
        <p:nvSpPr>
          <p:cNvPr id="12" name="Rectangle 7"/>
          <p:cNvSpPr>
            <a:spLocks noChangeArrowheads="1"/>
          </p:cNvSpPr>
          <p:nvPr/>
        </p:nvSpPr>
        <p:spPr bwMode="auto">
          <a:xfrm>
            <a:off x="611188" y="1052513"/>
            <a:ext cx="6361112" cy="519112"/>
          </a:xfrm>
          <a:prstGeom prst="rect">
            <a:avLst/>
          </a:prstGeom>
          <a:noFill/>
          <a:ln w="9525">
            <a:noFill/>
            <a:miter lim="800000"/>
          </a:ln>
          <a:effectLst/>
        </p:spPr>
        <p:txBody>
          <a:bodyPr anchor="ctr">
            <a:spAutoFit/>
          </a:bodyPr>
          <a:lstStyle/>
          <a:p>
            <a:pPr>
              <a:defRPr/>
            </a:pPr>
            <a:r>
              <a:rPr lang="en-US" altLang="zh-CN" sz="2800" b="1" dirty="0">
                <a:solidFill>
                  <a:srgbClr val="FF0000"/>
                </a:solidFill>
                <a:effectLst>
                  <a:outerShdw blurRad="38100" dist="38100" dir="2700000" algn="tl">
                    <a:srgbClr val="C0C0C0"/>
                  </a:outerShdw>
                </a:effectLst>
              </a:rPr>
              <a:t>6.2.3 </a:t>
            </a:r>
            <a:r>
              <a:rPr lang="zh-CN" altLang="en-US" sz="2800" b="1" dirty="0">
                <a:solidFill>
                  <a:srgbClr val="FF0000"/>
                </a:solidFill>
                <a:effectLst>
                  <a:outerShdw blurRad="38100" dist="38100" dir="2700000" algn="tl">
                    <a:srgbClr val="C0C0C0"/>
                  </a:outerShdw>
                </a:effectLst>
              </a:rPr>
              <a:t>数字签名</a:t>
            </a:r>
            <a:endParaRPr lang="zh-CN" altLang="en-US" sz="2800" b="1" dirty="0">
              <a:solidFill>
                <a:srgbClr val="FF0000"/>
              </a:solidFill>
              <a:effectLst>
                <a:outerShdw blurRad="38100" dist="38100" dir="2700000" algn="tl">
                  <a:srgbClr val="C0C0C0"/>
                </a:outerShdw>
              </a:effectLst>
            </a:endParaRPr>
          </a:p>
        </p:txBody>
      </p:sp>
      <p:sp>
        <p:nvSpPr>
          <p:cNvPr id="35848" name="Rectangle 8"/>
          <p:cNvSpPr>
            <a:spLocks noChangeArrowheads="1"/>
          </p:cNvSpPr>
          <p:nvPr/>
        </p:nvSpPr>
        <p:spPr bwMode="auto">
          <a:xfrm>
            <a:off x="1331913" y="1587500"/>
            <a:ext cx="4103687" cy="457200"/>
          </a:xfrm>
          <a:prstGeom prst="rect">
            <a:avLst/>
          </a:prstGeom>
          <a:noFill/>
          <a:ln w="9525">
            <a:noFill/>
            <a:miter lim="800000"/>
          </a:ln>
        </p:spPr>
        <p:txBody>
          <a:bodyPr anchor="ctr">
            <a:spAutoFit/>
          </a:bodyPr>
          <a:lstStyle/>
          <a:p>
            <a:r>
              <a:rPr lang="en-US" altLang="zh-CN" sz="2400" b="1">
                <a:solidFill>
                  <a:srgbClr val="CC0000"/>
                </a:solidFill>
              </a:rPr>
              <a:t>3. </a:t>
            </a:r>
            <a:r>
              <a:rPr lang="zh-CN" altLang="en-US" sz="2400" b="1">
                <a:solidFill>
                  <a:srgbClr val="CC0000"/>
                </a:solidFill>
              </a:rPr>
              <a:t>数字签名过程及实现</a:t>
            </a:r>
            <a:endParaRPr lang="zh-CN" altLang="en-US">
              <a:solidFill>
                <a:srgbClr val="CC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内容占位符 13"/>
          <p:cNvSpPr>
            <a:spLocks noChangeArrowheads="1"/>
          </p:cNvSpPr>
          <p:nvPr/>
        </p:nvSpPr>
        <p:spPr bwMode="auto">
          <a:xfrm>
            <a:off x="395288" y="1196975"/>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6866" name="内容占位符 13"/>
          <p:cNvSpPr>
            <a:spLocks noChangeArrowheads="1"/>
          </p:cNvSpPr>
          <p:nvPr/>
        </p:nvSpPr>
        <p:spPr bwMode="auto">
          <a:xfrm>
            <a:off x="684213" y="1125538"/>
            <a:ext cx="5256212" cy="503237"/>
          </a:xfrm>
          <a:prstGeom prst="rect">
            <a:avLst/>
          </a:prstGeom>
          <a:noFill/>
          <a:ln w="9525">
            <a:noFill/>
            <a:miter lim="800000"/>
          </a:ln>
        </p:spPr>
        <p:txBody>
          <a:bodyPr/>
          <a:lstStyle/>
          <a:p>
            <a:pPr marL="342900" indent="-342900" algn="just" eaLnBrk="0" hangingPunct="0">
              <a:spcBef>
                <a:spcPct val="20000"/>
              </a:spcBef>
              <a:buClr>
                <a:schemeClr val="hlink"/>
              </a:buClr>
            </a:pPr>
            <a:r>
              <a:rPr lang="en-US" altLang="zh-CN" sz="2800" b="1">
                <a:solidFill>
                  <a:srgbClr val="FF0000"/>
                </a:solidFill>
                <a:latin typeface="宋体" panose="02010600030101010101" pitchFamily="2" charset="-122"/>
              </a:rPr>
              <a:t>6.2.3 </a:t>
            </a:r>
            <a:r>
              <a:rPr lang="zh-CN" altLang="en-US" sz="2800" b="1">
                <a:solidFill>
                  <a:srgbClr val="FF0000"/>
                </a:solidFill>
                <a:latin typeface="宋体" panose="02010600030101010101" pitchFamily="2" charset="-122"/>
              </a:rPr>
              <a:t>数字签名过程及实现</a:t>
            </a:r>
            <a:endParaRPr lang="en-US" altLang="zh-CN" b="1">
              <a:solidFill>
                <a:schemeClr val="tx2"/>
              </a:solidFill>
              <a:latin typeface="宋体" panose="02010600030101010101" pitchFamily="2" charset="-122"/>
            </a:endParaRPr>
          </a:p>
        </p:txBody>
      </p:sp>
      <p:sp>
        <p:nvSpPr>
          <p:cNvPr id="36867" name="Rectangle 9"/>
          <p:cNvSpPr>
            <a:spLocks noChangeArrowheads="1"/>
          </p:cNvSpPr>
          <p:nvPr/>
        </p:nvSpPr>
        <p:spPr bwMode="auto">
          <a:xfrm>
            <a:off x="0" y="1774825"/>
            <a:ext cx="9144000" cy="0"/>
          </a:xfrm>
          <a:prstGeom prst="rect">
            <a:avLst/>
          </a:prstGeom>
          <a:noFill/>
          <a:ln w="9525">
            <a:noFill/>
            <a:miter lim="800000"/>
          </a:ln>
        </p:spPr>
        <p:txBody>
          <a:bodyPr wrap="none" anchor="ctr">
            <a:spAutoFit/>
          </a:bodyPr>
          <a:lstStyle/>
          <a:p>
            <a:endParaRPr lang="zh-CN" altLang="en-US"/>
          </a:p>
        </p:txBody>
      </p:sp>
      <p:sp>
        <p:nvSpPr>
          <p:cNvPr id="36868" name="Rectangle 10"/>
          <p:cNvSpPr>
            <a:spLocks noChangeArrowheads="1"/>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sp>
        <p:nvSpPr>
          <p:cNvPr id="19" name="圆角矩形 18"/>
          <p:cNvSpPr/>
          <p:nvPr/>
        </p:nvSpPr>
        <p:spPr bwMode="gray">
          <a:xfrm>
            <a:off x="482600" y="1711325"/>
            <a:ext cx="7978775" cy="27876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200" b="1" dirty="0">
                <a:solidFill>
                  <a:srgbClr val="CC0000"/>
                </a:solidFill>
                <a:latin typeface="Arial" panose="020B0604020202020204" pitchFamily="34" charset="0"/>
              </a:rPr>
              <a:t>      </a:t>
            </a: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1</a:t>
            </a:r>
            <a:r>
              <a:rPr lang="zh-CN" altLang="en-US" sz="2200" b="1" dirty="0">
                <a:solidFill>
                  <a:srgbClr val="CC0000"/>
                </a:solidFill>
                <a:latin typeface="Arial" panose="020B0604020202020204" pitchFamily="34" charset="0"/>
              </a:rPr>
              <a:t>）数字签名的操作过程</a:t>
            </a:r>
            <a:endParaRPr lang="zh-CN" altLang="en-US" sz="2200" b="1" dirty="0">
              <a:solidFill>
                <a:srgbClr val="CC0000"/>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数字签名的操作过程</a:t>
            </a:r>
            <a:r>
              <a:rPr lang="zh-CN" altLang="en-US" sz="2000" b="1" dirty="0">
                <a:solidFill>
                  <a:srgbClr val="C00000"/>
                </a:solidFill>
                <a:latin typeface="Arial" panose="020B0604020202020204" pitchFamily="34" charset="0"/>
              </a:rPr>
              <a:t>需要有发送签名证书的私钥及其验证公</a:t>
            </a:r>
            <a:r>
              <a:rPr lang="zh-CN" altLang="en-US" sz="2000" b="1" dirty="0">
                <a:solidFill>
                  <a:schemeClr val="tx2">
                    <a:lumMod val="95000"/>
                    <a:lumOff val="5000"/>
                  </a:schemeClr>
                </a:solidFill>
                <a:latin typeface="Arial" panose="020B0604020202020204" pitchFamily="34" charset="0"/>
              </a:rPr>
              <a:t>钥。具体的</a:t>
            </a:r>
            <a:r>
              <a:rPr lang="zh-CN" altLang="en-US" sz="2000" b="1" dirty="0">
                <a:solidFill>
                  <a:srgbClr val="C00000"/>
                </a:solidFill>
                <a:latin typeface="Arial" panose="020B0604020202020204" pitchFamily="34" charset="0"/>
              </a:rPr>
              <a:t>操作过程</a:t>
            </a:r>
            <a:r>
              <a:rPr lang="zh-CN" altLang="en-US" sz="2000" b="1" dirty="0">
                <a:solidFill>
                  <a:schemeClr val="tx2">
                    <a:lumMod val="95000"/>
                    <a:lumOff val="5000"/>
                  </a:schemeClr>
                </a:solidFill>
                <a:latin typeface="Arial" panose="020B0604020202020204" pitchFamily="34" charset="0"/>
              </a:rPr>
              <a:t>为：</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①生成被签名的电子文件（</a:t>
            </a:r>
            <a:r>
              <a:rPr lang="en-US" altLang="zh-CN" sz="2000" b="1" dirty="0">
                <a:solidFill>
                  <a:schemeClr val="tx2">
                    <a:lumMod val="95000"/>
                    <a:lumOff val="5000"/>
                  </a:schemeClr>
                </a:solidFill>
                <a:latin typeface="Arial" panose="020B0604020202020204" pitchFamily="34" charset="0"/>
              </a:rPr>
              <a:t>《</a:t>
            </a:r>
            <a:r>
              <a:rPr lang="zh-CN" altLang="en-US" sz="2000" b="1" dirty="0">
                <a:solidFill>
                  <a:schemeClr val="tx2">
                    <a:lumMod val="95000"/>
                    <a:lumOff val="5000"/>
                  </a:schemeClr>
                </a:solidFill>
                <a:latin typeface="Arial" panose="020B0604020202020204" pitchFamily="34" charset="0"/>
              </a:rPr>
              <a:t>电子签名法</a:t>
            </a:r>
            <a:r>
              <a:rPr lang="en-US" altLang="zh-CN" sz="2000" b="1" dirty="0">
                <a:solidFill>
                  <a:schemeClr val="tx2">
                    <a:lumMod val="95000"/>
                    <a:lumOff val="5000"/>
                  </a:schemeClr>
                </a:solidFill>
                <a:latin typeface="Arial" panose="020B0604020202020204" pitchFamily="34" charset="0"/>
              </a:rPr>
              <a:t>》</a:t>
            </a:r>
            <a:r>
              <a:rPr lang="zh-CN" altLang="en-US" sz="2000" b="1" dirty="0">
                <a:solidFill>
                  <a:schemeClr val="tx2">
                    <a:lumMod val="95000"/>
                    <a:lumOff val="5000"/>
                  </a:schemeClr>
                </a:solidFill>
                <a:latin typeface="Arial" panose="020B0604020202020204" pitchFamily="34" charset="0"/>
              </a:rPr>
              <a:t>中称为数据电文），</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②对电子文件用哈希算法做数字摘要，</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③对数字摘要用签名私钥做非对称加密，即做数字签名；</a:t>
            </a:r>
            <a:endParaRPr lang="en-US" altLang="zh-CN" sz="2000" b="1" dirty="0">
              <a:solidFill>
                <a:schemeClr val="tx2">
                  <a:lumMod val="95000"/>
                  <a:lumOff val="5000"/>
                </a:schemeClr>
              </a:solidFill>
              <a:latin typeface="Arial" panose="020B0604020202020204" pitchFamily="34" charset="0"/>
            </a:endParaRPr>
          </a:p>
          <a:p>
            <a:pPr indent="457200" algn="just">
              <a:defRPr/>
            </a:pPr>
            <a:r>
              <a:rPr lang="zh-CN" altLang="en-US" sz="2000" b="1" dirty="0">
                <a:solidFill>
                  <a:schemeClr val="tx2">
                    <a:lumMod val="95000"/>
                    <a:lumOff val="5000"/>
                  </a:schemeClr>
                </a:solidFill>
                <a:latin typeface="Arial" panose="020B0604020202020204" pitchFamily="34" charset="0"/>
              </a:rPr>
              <a:t>④将以上的签名和电子文件原文以及签名证书的公钥加在一起进行封装，形成签名结果发送给收方，待收方验证。</a:t>
            </a:r>
            <a:r>
              <a:rPr lang="en-US" altLang="zh-CN" sz="2400" b="1" dirty="0">
                <a:solidFill>
                  <a:schemeClr val="tx2">
                    <a:lumMod val="95000"/>
                    <a:lumOff val="5000"/>
                  </a:schemeClr>
                </a:solidFill>
                <a:latin typeface="Arial" panose="020B0604020202020204" pitchFamily="34" charset="0"/>
              </a:rPr>
              <a:t>  </a:t>
            </a:r>
            <a:r>
              <a:rPr lang="en-US" altLang="zh-CN" sz="2200" b="1" dirty="0">
                <a:solidFill>
                  <a:schemeClr val="tx2">
                    <a:lumMod val="95000"/>
                    <a:lumOff val="5000"/>
                  </a:schemeClr>
                </a:solidFill>
                <a:latin typeface="Arial" panose="020B0604020202020204" pitchFamily="34" charset="0"/>
              </a:rPr>
              <a:t>    </a:t>
            </a:r>
            <a:endParaRPr lang="en-US" altLang="zh-CN" sz="2200" b="1" dirty="0">
              <a:solidFill>
                <a:schemeClr val="tx2">
                  <a:lumMod val="95000"/>
                  <a:lumOff val="5000"/>
                </a:schemeClr>
              </a:solidFill>
              <a:latin typeface="Arial" panose="020B0604020202020204" pitchFamily="34" charset="0"/>
            </a:endParaRPr>
          </a:p>
        </p:txBody>
      </p:sp>
      <p:pic>
        <p:nvPicPr>
          <p:cNvPr id="27658" name="Picture 12"/>
          <p:cNvPicPr>
            <a:picLocks noChangeAspect="1" noChangeArrowheads="1"/>
          </p:cNvPicPr>
          <p:nvPr/>
        </p:nvPicPr>
        <p:blipFill>
          <a:blip r:embed="rId1" cstate="print">
            <a:lum bright="-20000" contrast="40000"/>
          </a:blip>
          <a:srcRect/>
          <a:stretch>
            <a:fillRect/>
          </a:stretch>
        </p:blipFill>
        <p:spPr bwMode="auto">
          <a:xfrm>
            <a:off x="2969260" y="4603749"/>
            <a:ext cx="3559810" cy="1778000"/>
          </a:xfrm>
          <a:prstGeom prst="rect">
            <a:avLst/>
          </a:prstGeom>
          <a:solidFill>
            <a:srgbClr val="FFFFFF">
              <a:shade val="85000"/>
            </a:srgbClr>
          </a:solidFill>
          <a:ln w="9525">
            <a:solidFill>
              <a:schemeClr val="bg1"/>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6871" name="Rectangle 13"/>
          <p:cNvSpPr>
            <a:spLocks noChangeArrowheads="1"/>
          </p:cNvSpPr>
          <p:nvPr/>
        </p:nvSpPr>
        <p:spPr bwMode="auto">
          <a:xfrm>
            <a:off x="3938588" y="6486525"/>
            <a:ext cx="1620837" cy="307975"/>
          </a:xfrm>
          <a:prstGeom prst="rect">
            <a:avLst/>
          </a:prstGeom>
          <a:noFill/>
          <a:ln w="9525">
            <a:noFill/>
            <a:miter lim="800000"/>
          </a:ln>
        </p:spPr>
        <p:txBody>
          <a:bodyPr wrap="none">
            <a:spAutoFit/>
          </a:bodyPr>
          <a:lstStyle/>
          <a:p>
            <a:pPr eaLnBrk="0" hangingPunct="0"/>
            <a:r>
              <a:rPr lang="zh-CN" altLang="en-US" sz="1400" b="1">
                <a:solidFill>
                  <a:srgbClr val="800000"/>
                </a:solidFill>
              </a:rPr>
              <a:t>数字签名操作过程</a:t>
            </a:r>
            <a:endParaRPr lang="zh-CN" altLang="en-US" sz="1400" b="1">
              <a:solidFill>
                <a:srgbClr val="800000"/>
              </a:solidFill>
            </a:endParaRPr>
          </a:p>
        </p:txBody>
      </p:sp>
      <p:sp>
        <p:nvSpPr>
          <p:cNvPr id="3687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内容占位符 13"/>
          <p:cNvSpPr>
            <a:spLocks noChangeArrowheads="1"/>
          </p:cNvSpPr>
          <p:nvPr/>
        </p:nvSpPr>
        <p:spPr bwMode="auto">
          <a:xfrm>
            <a:off x="395288" y="1196975"/>
            <a:ext cx="8153400"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37890" name="内容占位符 13"/>
          <p:cNvSpPr>
            <a:spLocks noChangeArrowheads="1"/>
          </p:cNvSpPr>
          <p:nvPr/>
        </p:nvSpPr>
        <p:spPr bwMode="auto">
          <a:xfrm>
            <a:off x="684213" y="1125538"/>
            <a:ext cx="5256212" cy="503237"/>
          </a:xfrm>
          <a:prstGeom prst="rect">
            <a:avLst/>
          </a:prstGeom>
          <a:noFill/>
          <a:ln w="9525">
            <a:noFill/>
            <a:miter lim="800000"/>
          </a:ln>
        </p:spPr>
        <p:txBody>
          <a:bodyPr/>
          <a:lstStyle/>
          <a:p>
            <a:pPr marL="342900" indent="-342900" algn="just" eaLnBrk="0" hangingPunct="0">
              <a:spcBef>
                <a:spcPct val="20000"/>
              </a:spcBef>
              <a:buClr>
                <a:schemeClr val="hlink"/>
              </a:buClr>
            </a:pPr>
            <a:r>
              <a:rPr lang="en-US" altLang="zh-CN" sz="2800" b="1">
                <a:solidFill>
                  <a:srgbClr val="FF0000"/>
                </a:solidFill>
                <a:latin typeface="宋体" panose="02010600030101010101" pitchFamily="2" charset="-122"/>
              </a:rPr>
              <a:t>6.2.3 </a:t>
            </a:r>
            <a:r>
              <a:rPr lang="zh-CN" altLang="en-US" sz="2800" b="1">
                <a:solidFill>
                  <a:srgbClr val="FF0000"/>
                </a:solidFill>
                <a:latin typeface="宋体" panose="02010600030101010101" pitchFamily="2" charset="-122"/>
              </a:rPr>
              <a:t>数字签名过程及实现</a:t>
            </a:r>
            <a:endParaRPr lang="en-US" altLang="zh-CN" b="1">
              <a:solidFill>
                <a:schemeClr val="tx2"/>
              </a:solidFill>
              <a:latin typeface="宋体" panose="02010600030101010101" pitchFamily="2" charset="-122"/>
            </a:endParaRPr>
          </a:p>
        </p:txBody>
      </p:sp>
      <p:sp>
        <p:nvSpPr>
          <p:cNvPr id="37891" name="Rectangle 9"/>
          <p:cNvSpPr>
            <a:spLocks noChangeArrowheads="1"/>
          </p:cNvSpPr>
          <p:nvPr/>
        </p:nvSpPr>
        <p:spPr bwMode="auto">
          <a:xfrm>
            <a:off x="0" y="1774825"/>
            <a:ext cx="9144000" cy="0"/>
          </a:xfrm>
          <a:prstGeom prst="rect">
            <a:avLst/>
          </a:prstGeom>
          <a:noFill/>
          <a:ln w="9525">
            <a:noFill/>
            <a:miter lim="800000"/>
          </a:ln>
        </p:spPr>
        <p:txBody>
          <a:bodyPr wrap="none" anchor="ctr">
            <a:spAutoFit/>
          </a:bodyPr>
          <a:lstStyle/>
          <a:p>
            <a:endParaRPr lang="zh-CN" altLang="en-US"/>
          </a:p>
        </p:txBody>
      </p:sp>
      <p:sp>
        <p:nvSpPr>
          <p:cNvPr id="37892" name="Rectangle 10"/>
          <p:cNvSpPr>
            <a:spLocks noChangeArrowheads="1"/>
          </p:cNvSpPr>
          <p:nvPr/>
        </p:nvSpPr>
        <p:spPr bwMode="auto">
          <a:xfrm>
            <a:off x="0" y="3124200"/>
            <a:ext cx="9144000" cy="0"/>
          </a:xfrm>
          <a:prstGeom prst="rect">
            <a:avLst/>
          </a:prstGeom>
          <a:noFill/>
          <a:ln w="9525">
            <a:noFill/>
            <a:miter lim="800000"/>
          </a:ln>
        </p:spPr>
        <p:txBody>
          <a:bodyPr wrap="none" anchor="ctr">
            <a:spAutoFit/>
          </a:bodyPr>
          <a:lstStyle/>
          <a:p>
            <a:endParaRPr lang="zh-CN" altLang="en-US"/>
          </a:p>
        </p:txBody>
      </p:sp>
      <p:sp>
        <p:nvSpPr>
          <p:cNvPr id="37893" name="Rectangle 11"/>
          <p:cNvSpPr>
            <a:spLocks noChangeArrowheads="1"/>
          </p:cNvSpPr>
          <p:nvPr/>
        </p:nvSpPr>
        <p:spPr bwMode="auto">
          <a:xfrm>
            <a:off x="4214813" y="6538913"/>
            <a:ext cx="1414462" cy="276225"/>
          </a:xfrm>
          <a:prstGeom prst="rect">
            <a:avLst/>
          </a:prstGeom>
          <a:noFill/>
          <a:ln w="9525">
            <a:noFill/>
            <a:miter lim="800000"/>
          </a:ln>
        </p:spPr>
        <p:txBody>
          <a:bodyPr wrap="none" anchor="ctr">
            <a:spAutoFit/>
          </a:bodyPr>
          <a:lstStyle/>
          <a:p>
            <a:pPr eaLnBrk="0" hangingPunct="0"/>
            <a:r>
              <a:rPr lang="zh-CN" altLang="en-US" sz="1200" b="1">
                <a:solidFill>
                  <a:srgbClr val="800000"/>
                </a:solidFill>
                <a:latin typeface="Times New Roman" panose="02020603050405020304" pitchFamily="18" charset="0"/>
              </a:rPr>
              <a:t>数字签名验证过程</a:t>
            </a:r>
            <a:endParaRPr lang="zh-CN" altLang="en-US" sz="1200" b="1">
              <a:solidFill>
                <a:srgbClr val="800000"/>
              </a:solidFill>
              <a:latin typeface="Times New Roman" panose="02020603050405020304" pitchFamily="18" charset="0"/>
              <a:cs typeface="Times New Roman" panose="02020603050405020304" pitchFamily="18" charset="0"/>
            </a:endParaRPr>
          </a:p>
        </p:txBody>
      </p:sp>
      <p:sp>
        <p:nvSpPr>
          <p:cNvPr id="19" name="圆角矩形 18"/>
          <p:cNvSpPr/>
          <p:nvPr/>
        </p:nvSpPr>
        <p:spPr bwMode="gray">
          <a:xfrm>
            <a:off x="538163" y="1711325"/>
            <a:ext cx="7869237" cy="2336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defRPr/>
            </a:pPr>
            <a:r>
              <a:rPr lang="zh-CN" altLang="en-US" sz="2200" b="1" dirty="0">
                <a:solidFill>
                  <a:srgbClr val="CC0000"/>
                </a:solidFill>
                <a:latin typeface="Arial" panose="020B0604020202020204" pitchFamily="34" charset="0"/>
              </a:rPr>
              <a:t>（</a:t>
            </a:r>
            <a:r>
              <a:rPr lang="en-US" altLang="zh-CN" sz="2200" b="1" dirty="0">
                <a:solidFill>
                  <a:srgbClr val="CC0000"/>
                </a:solidFill>
                <a:latin typeface="Arial" panose="020B0604020202020204" pitchFamily="34" charset="0"/>
              </a:rPr>
              <a:t>2</a:t>
            </a:r>
            <a:r>
              <a:rPr lang="zh-CN" altLang="en-US" sz="2200" b="1" dirty="0">
                <a:solidFill>
                  <a:srgbClr val="CC0000"/>
                </a:solidFill>
                <a:latin typeface="Arial" panose="020B0604020202020204" pitchFamily="34" charset="0"/>
              </a:rPr>
              <a:t>）数字签名的验证过程</a:t>
            </a:r>
            <a:endParaRPr lang="zh-CN" altLang="en-US" sz="2200" b="1" dirty="0">
              <a:solidFill>
                <a:srgbClr val="CC0000"/>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收方收到发方的签名后</a:t>
            </a:r>
            <a:r>
              <a:rPr lang="zh-CN" altLang="en-US" b="1" dirty="0">
                <a:solidFill>
                  <a:srgbClr val="0000FF"/>
                </a:solidFill>
                <a:latin typeface="Arial" panose="020B0604020202020204" pitchFamily="34" charset="0"/>
              </a:rPr>
              <a:t>进行签名验证的具体操作过程</a:t>
            </a:r>
            <a:r>
              <a:rPr lang="zh-CN" altLang="en-US" b="1" dirty="0">
                <a:solidFill>
                  <a:schemeClr val="tx2"/>
                </a:solidFill>
                <a:latin typeface="Arial" panose="020B0604020202020204" pitchFamily="34" charset="0"/>
              </a:rPr>
              <a:t>如图所示。</a:t>
            </a:r>
            <a:endParaRPr lang="en-US" altLang="zh-CN" b="1" dirty="0">
              <a:solidFill>
                <a:schemeClr val="tx2"/>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收方收到数字签名的结果包括数字签名、电子原文和发方公钥，即待验证的数据。</a:t>
            </a:r>
            <a:endParaRPr lang="en-US" altLang="zh-CN" b="1" dirty="0">
              <a:solidFill>
                <a:schemeClr val="tx2"/>
              </a:solidFill>
              <a:latin typeface="Arial" panose="020B0604020202020204" pitchFamily="34" charset="0"/>
            </a:endParaRPr>
          </a:p>
          <a:p>
            <a:pPr indent="457200" algn="just">
              <a:defRPr/>
            </a:pPr>
            <a:r>
              <a:rPr lang="zh-CN" altLang="en-US" b="1" dirty="0">
                <a:solidFill>
                  <a:schemeClr val="tx2"/>
                </a:solidFill>
                <a:latin typeface="Arial" panose="020B0604020202020204" pitchFamily="34" charset="0"/>
              </a:rPr>
              <a:t>收方进行签名验证过程：收方首先用发方公钥解密数字签名，导出数字摘要，并对电子文件原文做同样哈希算法得一个新的数字摘要，将两个摘要的哈希值进行比较，结果相同签名得到验证，否则签名无效。</a:t>
            </a: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电子签名法</a:t>
            </a: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中要求对签名不可改动，对签署的内容和形式也不可改动。</a:t>
            </a:r>
            <a:endParaRPr lang="en-US" altLang="zh-CN" sz="2200" b="1" dirty="0">
              <a:solidFill>
                <a:schemeClr val="tx2"/>
              </a:solidFill>
              <a:latin typeface="Arial" panose="020B0604020202020204" pitchFamily="34" charset="0"/>
            </a:endParaRPr>
          </a:p>
        </p:txBody>
      </p:sp>
      <p:sp>
        <p:nvSpPr>
          <p:cNvPr id="3789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pic>
        <p:nvPicPr>
          <p:cNvPr id="27653" name="Picture 8"/>
          <p:cNvPicPr>
            <a:picLocks noChangeAspect="1" noChangeArrowheads="1"/>
          </p:cNvPicPr>
          <p:nvPr/>
        </p:nvPicPr>
        <p:blipFill>
          <a:blip r:embed="rId1" cstate="print">
            <a:lum bright="-20000" contrast="40000"/>
          </a:blip>
          <a:srcRect/>
          <a:stretch>
            <a:fillRect/>
          </a:stretch>
        </p:blipFill>
        <p:spPr bwMode="auto">
          <a:xfrm>
            <a:off x="3122930" y="4118610"/>
            <a:ext cx="3599180" cy="235077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内容占位符 13"/>
          <p:cNvSpPr>
            <a:spLocks noGrp="1" noChangeArrowheads="1"/>
          </p:cNvSpPr>
          <p:nvPr>
            <p:ph idx="4294967295"/>
          </p:nvPr>
        </p:nvSpPr>
        <p:spPr>
          <a:xfrm>
            <a:off x="684213" y="1125538"/>
            <a:ext cx="8040687" cy="503237"/>
          </a:xfrm>
        </p:spPr>
        <p:txBody>
          <a:bodyPr/>
          <a:lstStyle/>
          <a:p>
            <a:pPr algn="just">
              <a:buFont typeface="Wingdings" panose="05000000000000000000" pitchFamily="2" charset="2"/>
              <a:buNone/>
            </a:pPr>
            <a:r>
              <a:rPr lang="en-US" altLang="zh-CN" sz="2800" smtClean="0">
                <a:solidFill>
                  <a:srgbClr val="FF0000"/>
                </a:solidFill>
              </a:rPr>
              <a:t>6.2.3 </a:t>
            </a:r>
            <a:r>
              <a:rPr lang="zh-CN" altLang="en-US" sz="2800" smtClean="0">
                <a:solidFill>
                  <a:srgbClr val="FF0000"/>
                </a:solidFill>
              </a:rPr>
              <a:t>数字签名过程及实现</a:t>
            </a:r>
            <a:endParaRPr lang="en-US" altLang="zh-CN" sz="1800" smtClean="0"/>
          </a:p>
        </p:txBody>
      </p:sp>
      <p:pic>
        <p:nvPicPr>
          <p:cNvPr id="38914" name="Picture 7"/>
          <p:cNvPicPr>
            <a:picLocks noChangeAspect="1" noChangeArrowheads="1"/>
          </p:cNvPicPr>
          <p:nvPr/>
        </p:nvPicPr>
        <p:blipFill>
          <a:blip r:embed="rId1" cstate="print">
            <a:lum bright="-12000" contrast="18000"/>
          </a:blip>
          <a:srcRect/>
          <a:stretch>
            <a:fillRect/>
          </a:stretch>
        </p:blipFill>
        <p:spPr bwMode="auto">
          <a:xfrm>
            <a:off x="0" y="3429000"/>
            <a:ext cx="5591175" cy="3124200"/>
          </a:xfrm>
          <a:prstGeom prst="rect">
            <a:avLst/>
          </a:prstGeom>
          <a:noFill/>
          <a:ln w="9525">
            <a:noFill/>
            <a:miter lim="800000"/>
            <a:headEnd/>
            <a:tailEnd/>
          </a:ln>
        </p:spPr>
      </p:pic>
      <p:sp>
        <p:nvSpPr>
          <p:cNvPr id="38915" name="Rectangle 8"/>
          <p:cNvSpPr>
            <a:spLocks noChangeArrowheads="1"/>
          </p:cNvSpPr>
          <p:nvPr/>
        </p:nvSpPr>
        <p:spPr bwMode="auto">
          <a:xfrm>
            <a:off x="1403350" y="6553200"/>
            <a:ext cx="2519363" cy="307975"/>
          </a:xfrm>
          <a:prstGeom prst="rect">
            <a:avLst/>
          </a:prstGeom>
          <a:noFill/>
          <a:ln w="9525">
            <a:noFill/>
            <a:miter lim="800000"/>
          </a:ln>
        </p:spPr>
        <p:txBody>
          <a:bodyPr wrap="none">
            <a:spAutoFit/>
          </a:bodyPr>
          <a:lstStyle/>
          <a:p>
            <a:pPr eaLnBrk="0" hangingPunct="0"/>
            <a:r>
              <a:rPr lang="zh-CN" altLang="en-US" sz="1400" b="1">
                <a:solidFill>
                  <a:srgbClr val="C00000"/>
                </a:solidFill>
              </a:rPr>
              <a:t>原文加密的数字签名实现方法</a:t>
            </a:r>
            <a:endParaRPr lang="zh-CN" altLang="en-US" sz="1400" b="1">
              <a:solidFill>
                <a:srgbClr val="C00000"/>
              </a:solidFill>
            </a:endParaRPr>
          </a:p>
        </p:txBody>
      </p:sp>
      <p:sp>
        <p:nvSpPr>
          <p:cNvPr id="2" name="AutoShape 6"/>
          <p:cNvSpPr>
            <a:spLocks noChangeArrowheads="1"/>
          </p:cNvSpPr>
          <p:nvPr/>
        </p:nvSpPr>
        <p:spPr bwMode="auto">
          <a:xfrm>
            <a:off x="5075873" y="5205413"/>
            <a:ext cx="4103687" cy="1655762"/>
          </a:xfrm>
          <a:prstGeom prst="flowChartAlternateProcess">
            <a:avLst/>
          </a:prstGeom>
          <a:solidFill>
            <a:srgbClr val="FFFF66"/>
          </a:solidFill>
          <a:ln w="9525" algn="ctr">
            <a:solidFill>
              <a:schemeClr val="tx2"/>
            </a:solidFill>
            <a:miter lim="800000"/>
          </a:ln>
        </p:spPr>
        <p:txBody>
          <a:bodyPr anchor="ctr"/>
          <a:lstStyle/>
          <a:p>
            <a:pPr>
              <a:defRPr/>
            </a:pPr>
            <a:r>
              <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000" b="1" dirty="0">
              <a:solidFill>
                <a:srgbClr val="F81D06"/>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defRPr/>
            </a:pPr>
            <a:r>
              <a:rPr lang="en-US" altLang="zh-CN" b="1" dirty="0">
                <a:solidFill>
                  <a:srgbClr val="0000FF"/>
                </a:solidFill>
                <a:latin typeface="楷体_GB2312" pitchFamily="49" charset="-122"/>
                <a:ea typeface="楷体_GB2312" pitchFamily="49" charset="-122"/>
              </a:rPr>
              <a:t>1</a:t>
            </a:r>
            <a:r>
              <a:rPr lang="zh-CN" altLang="en-US" b="1" dirty="0">
                <a:solidFill>
                  <a:srgbClr val="0000FF"/>
                </a:solidFill>
                <a:latin typeface="楷体_GB2312" pitchFamily="49" charset="-122"/>
                <a:ea typeface="楷体_GB2312" pitchFamily="49" charset="-122"/>
              </a:rPr>
              <a:t>）常用的身份认证机制有哪些？</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2</a:t>
            </a:r>
            <a:r>
              <a:rPr lang="zh-CN" altLang="en-US" b="1" dirty="0">
                <a:solidFill>
                  <a:srgbClr val="0000FF"/>
                </a:solidFill>
                <a:latin typeface="楷体_GB2312" pitchFamily="49" charset="-122"/>
                <a:ea typeface="楷体_GB2312" pitchFamily="49" charset="-122"/>
              </a:rPr>
              <a:t>）数字签名的概念及方法是什么？ </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3</a:t>
            </a:r>
            <a:r>
              <a:rPr lang="zh-CN" altLang="en-US" b="1" dirty="0">
                <a:solidFill>
                  <a:srgbClr val="0000FF"/>
                </a:solidFill>
                <a:latin typeface="楷体_GB2312" pitchFamily="49" charset="-122"/>
                <a:ea typeface="楷体_GB2312" pitchFamily="49" charset="-122"/>
              </a:rPr>
              <a:t>）数字签名的功能和种类有哪些？</a:t>
            </a:r>
            <a:endParaRPr lang="zh-CN" altLang="en-US" b="1" dirty="0">
              <a:solidFill>
                <a:srgbClr val="0000FF"/>
              </a:solidFill>
              <a:latin typeface="楷体_GB2312" pitchFamily="49" charset="-122"/>
              <a:ea typeface="楷体_GB2312" pitchFamily="49" charset="-122"/>
            </a:endParaRPr>
          </a:p>
          <a:p>
            <a:pPr>
              <a:defRPr/>
            </a:pPr>
            <a:r>
              <a:rPr lang="en-US" altLang="zh-CN" b="1" dirty="0">
                <a:solidFill>
                  <a:srgbClr val="0000FF"/>
                </a:solidFill>
                <a:latin typeface="楷体_GB2312" pitchFamily="49" charset="-122"/>
                <a:ea typeface="楷体_GB2312" pitchFamily="49" charset="-122"/>
              </a:rPr>
              <a:t>4</a:t>
            </a:r>
            <a:r>
              <a:rPr lang="zh-CN" altLang="en-US" b="1" dirty="0">
                <a:solidFill>
                  <a:srgbClr val="0000FF"/>
                </a:solidFill>
                <a:latin typeface="楷体_GB2312" pitchFamily="49" charset="-122"/>
                <a:ea typeface="楷体_GB2312" pitchFamily="49" charset="-122"/>
              </a:rPr>
              <a:t>）数字签名具体操作过程是什么？</a:t>
            </a:r>
            <a:endParaRPr lang="zh-CN" altLang="en-US" b="1" dirty="0">
              <a:solidFill>
                <a:srgbClr val="0000FF"/>
              </a:solidFill>
              <a:latin typeface="楷体_GB2312" pitchFamily="49" charset="-122"/>
              <a:ea typeface="楷体_GB2312" pitchFamily="49" charset="-122"/>
            </a:endParaRPr>
          </a:p>
        </p:txBody>
      </p:sp>
      <p:sp>
        <p:nvSpPr>
          <p:cNvPr id="8" name="圆角矩形 7"/>
          <p:cNvSpPr/>
          <p:nvPr/>
        </p:nvSpPr>
        <p:spPr bwMode="gray">
          <a:xfrm>
            <a:off x="755650" y="1773238"/>
            <a:ext cx="7531100" cy="16557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200" b="1" dirty="0">
                <a:solidFill>
                  <a:srgbClr val="C00000"/>
                </a:solidFill>
                <a:latin typeface="Arial" panose="020B0604020202020204" pitchFamily="34" charset="0"/>
              </a:rPr>
              <a:t>（</a:t>
            </a:r>
            <a:r>
              <a:rPr lang="en-US" altLang="zh-CN" sz="2200" b="1" dirty="0">
                <a:solidFill>
                  <a:srgbClr val="C00000"/>
                </a:solidFill>
                <a:latin typeface="Arial" panose="020B0604020202020204" pitchFamily="34" charset="0"/>
              </a:rPr>
              <a:t>3</a:t>
            </a:r>
            <a:r>
              <a:rPr lang="zh-CN" altLang="en-US" sz="2200" b="1" dirty="0">
                <a:solidFill>
                  <a:srgbClr val="C00000"/>
                </a:solidFill>
                <a:latin typeface="Arial" panose="020B0604020202020204" pitchFamily="34" charset="0"/>
              </a:rPr>
              <a:t>）原文保密的数据签名的实现方法</a:t>
            </a:r>
            <a:endParaRPr lang="zh-CN" altLang="en-US" sz="2200" b="1" dirty="0">
              <a:solidFill>
                <a:srgbClr val="C00000"/>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zh-CN" b="1" dirty="0">
                <a:solidFill>
                  <a:schemeClr val="tx1"/>
                </a:solidFill>
                <a:latin typeface="Arial" panose="020B0604020202020204" pitchFamily="34" charset="0"/>
              </a:rPr>
              <a:t>上述数字签名原理中定义的对原文做</a:t>
            </a:r>
            <a:r>
              <a:rPr lang="zh-CN" altLang="zh-CN" b="1" dirty="0">
                <a:solidFill>
                  <a:srgbClr val="800000"/>
                </a:solidFill>
                <a:latin typeface="Arial" panose="020B0604020202020204" pitchFamily="34" charset="0"/>
              </a:rPr>
              <a:t>数字摘要</a:t>
            </a:r>
            <a:r>
              <a:rPr lang="zh-CN" altLang="zh-CN" b="1" dirty="0">
                <a:solidFill>
                  <a:schemeClr val="tx1"/>
                </a:solidFill>
                <a:latin typeface="Arial" panose="020B0604020202020204" pitchFamily="34" charset="0"/>
              </a:rPr>
              <a:t>及</a:t>
            </a:r>
            <a:r>
              <a:rPr lang="zh-CN" altLang="zh-CN" b="1" dirty="0">
                <a:solidFill>
                  <a:srgbClr val="800000"/>
                </a:solidFill>
                <a:latin typeface="Arial" panose="020B0604020202020204" pitchFamily="34" charset="0"/>
              </a:rPr>
              <a:t>签名</a:t>
            </a:r>
            <a:r>
              <a:rPr lang="zh-CN" altLang="zh-CN" b="1" dirty="0">
                <a:solidFill>
                  <a:schemeClr val="tx1"/>
                </a:solidFill>
                <a:latin typeface="Arial" panose="020B0604020202020204" pitchFamily="34" charset="0"/>
              </a:rPr>
              <a:t>并传输原文，实际上在很多场合传输的原文要求保密，不许别人接触。要求对原文加密的数字签名方法的实现涉及到</a:t>
            </a:r>
            <a:r>
              <a:rPr lang="zh-CN" altLang="en-US" b="1" dirty="0">
                <a:solidFill>
                  <a:schemeClr val="tx1"/>
                </a:solidFill>
                <a:latin typeface="Arial" panose="020B0604020202020204" pitchFamily="34" charset="0"/>
              </a:rPr>
              <a:t>“</a:t>
            </a:r>
            <a:r>
              <a:rPr lang="zh-CN" altLang="en-US" b="1" dirty="0">
                <a:solidFill>
                  <a:srgbClr val="C00000"/>
                </a:solidFill>
                <a:latin typeface="Arial" panose="020B0604020202020204" pitchFamily="34" charset="0"/>
              </a:rPr>
              <a:t>数字信封</a:t>
            </a:r>
            <a:r>
              <a:rPr lang="zh-CN" altLang="en-US" b="1" dirty="0">
                <a:solidFill>
                  <a:schemeClr val="tx1"/>
                </a:solidFill>
                <a:latin typeface="Arial" panose="020B0604020202020204" pitchFamily="34" charset="0"/>
              </a:rPr>
              <a:t>”问题，此处理过程稍复杂一些，但数字签名的基本原理仍相同，其</a:t>
            </a:r>
            <a:r>
              <a:rPr lang="zh-CN" altLang="en-US" b="1" dirty="0">
                <a:solidFill>
                  <a:srgbClr val="800000"/>
                </a:solidFill>
                <a:latin typeface="Arial" panose="020B0604020202020204" pitchFamily="34" charset="0"/>
              </a:rPr>
              <a:t>签名过程</a:t>
            </a:r>
            <a:r>
              <a:rPr lang="zh-CN" altLang="en-US" b="1" dirty="0">
                <a:solidFill>
                  <a:schemeClr val="tx1"/>
                </a:solidFill>
                <a:latin typeface="Arial" panose="020B0604020202020204" pitchFamily="34" charset="0"/>
              </a:rPr>
              <a:t>如图</a:t>
            </a:r>
            <a:r>
              <a:rPr lang="en-US" altLang="zh-CN" b="1" dirty="0">
                <a:solidFill>
                  <a:schemeClr val="tx1"/>
                </a:solidFill>
                <a:latin typeface="Arial" panose="020B0604020202020204" pitchFamily="34" charset="0"/>
              </a:rPr>
              <a:t>6-9</a:t>
            </a:r>
            <a:r>
              <a:rPr lang="zh-CN" altLang="en-US" b="1" dirty="0">
                <a:solidFill>
                  <a:schemeClr val="tx1"/>
                </a:solidFill>
                <a:latin typeface="Arial" panose="020B0604020202020204" pitchFamily="34" charset="0"/>
              </a:rPr>
              <a:t>所示。</a:t>
            </a:r>
            <a:endParaRPr lang="en-US" altLang="zh-CN" b="1" dirty="0">
              <a:solidFill>
                <a:schemeClr val="tx1"/>
              </a:solidFill>
              <a:latin typeface="Arial" panose="020B0604020202020204" pitchFamily="34" charset="0"/>
            </a:endParaRPr>
          </a:p>
        </p:txBody>
      </p:sp>
      <p:pic>
        <p:nvPicPr>
          <p:cNvPr id="38918" name="Picture 24"/>
          <p:cNvPicPr>
            <a:picLocks noChangeAspect="1" noChangeArrowheads="1"/>
          </p:cNvPicPr>
          <p:nvPr/>
        </p:nvPicPr>
        <p:blipFill>
          <a:blip r:embed="rId2" cstate="print"/>
          <a:srcRect/>
          <a:stretch>
            <a:fillRect/>
          </a:stretch>
        </p:blipFill>
        <p:spPr bwMode="auto">
          <a:xfrm>
            <a:off x="6659563" y="3860800"/>
            <a:ext cx="1206500" cy="1036638"/>
          </a:xfrm>
          <a:prstGeom prst="rect">
            <a:avLst/>
          </a:prstGeom>
          <a:noFill/>
          <a:ln w="9525">
            <a:noFill/>
            <a:miter lim="800000"/>
            <a:headEnd/>
            <a:tailEnd/>
          </a:ln>
        </p:spPr>
      </p:pic>
      <p:sp>
        <p:nvSpPr>
          <p:cNvPr id="3891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6.2 </a:t>
            </a:r>
            <a:r>
              <a:rPr lang="zh-CN" altLang="en-US" sz="3200" b="1">
                <a:solidFill>
                  <a:schemeClr val="bg1"/>
                </a:solidFill>
              </a:rPr>
              <a:t>认证系统与数字签名</a:t>
            </a:r>
            <a:endParaRPr lang="zh-CN" altLang="en-US" sz="3200" b="1">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ctrTitle"/>
          </p:nvPr>
        </p:nvSpPr>
        <p:spPr>
          <a:xfrm>
            <a:off x="685800" y="2070100"/>
            <a:ext cx="7772400" cy="1470025"/>
          </a:xfrm>
        </p:spPr>
        <p:txBody>
          <a:bodyPr/>
          <a:lstStyle/>
          <a:p>
            <a:endParaRPr lang="zh-CN" altLang="en-US" smtClean="0"/>
          </a:p>
        </p:txBody>
      </p:sp>
      <p:sp>
        <p:nvSpPr>
          <p:cNvPr id="39938" name="副标题 2"/>
          <p:cNvSpPr>
            <a:spLocks noGrp="1" noChangeArrowheads="1"/>
          </p:cNvSpPr>
          <p:nvPr>
            <p:ph type="subTitle" idx="1"/>
          </p:nvPr>
        </p:nvSpPr>
        <p:spPr/>
        <p:txBody>
          <a:bodyPr/>
          <a:lstStyle/>
          <a:p>
            <a:endParaRPr lang="zh-CN" altLang="en-US" smtClean="0"/>
          </a:p>
        </p:txBody>
      </p:sp>
      <p:grpSp>
        <p:nvGrpSpPr>
          <p:cNvPr id="39939" name="Group 9"/>
          <p:cNvGrpSpPr/>
          <p:nvPr/>
        </p:nvGrpSpPr>
        <p:grpSpPr bwMode="auto">
          <a:xfrm>
            <a:off x="1619250" y="2889250"/>
            <a:ext cx="4940300" cy="828675"/>
            <a:chOff x="1160" y="1899"/>
            <a:chExt cx="3112" cy="578"/>
          </a:xfrm>
        </p:grpSpPr>
        <p:sp>
          <p:nvSpPr>
            <p:cNvPr id="5" name="AutoShape 10"/>
            <p:cNvSpPr>
              <a:spLocks noChangeArrowheads="1"/>
            </p:cNvSpPr>
            <p:nvPr/>
          </p:nvSpPr>
          <p:spPr bwMode="gray">
            <a:xfrm>
              <a:off x="1536" y="1899"/>
              <a:ext cx="2736" cy="556"/>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zh-CN" sz="2400">
                <a:solidFill>
                  <a:schemeClr val="tx2"/>
                </a:solidFill>
                <a:latin typeface="宋体" panose="02010600030101010101" pitchFamily="2" charset="-122"/>
              </a:endParaRPr>
            </a:p>
          </p:txBody>
        </p:sp>
        <p:sp>
          <p:nvSpPr>
            <p:cNvPr id="39941" name="AutoShape 11"/>
            <p:cNvSpPr>
              <a:spLocks noChangeArrowheads="1"/>
            </p:cNvSpPr>
            <p:nvPr/>
          </p:nvSpPr>
          <p:spPr bwMode="auto">
            <a:xfrm>
              <a:off x="1160" y="1906"/>
              <a:ext cx="561" cy="571"/>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39942" name="Text Box 12"/>
            <p:cNvSpPr txBox="1">
              <a:spLocks noChangeArrowheads="1"/>
            </p:cNvSpPr>
            <p:nvPr/>
          </p:nvSpPr>
          <p:spPr bwMode="auto">
            <a:xfrm>
              <a:off x="1858" y="1968"/>
              <a:ext cx="2160" cy="408"/>
            </a:xfrm>
            <a:prstGeom prst="rect">
              <a:avLst/>
            </a:prstGeom>
            <a:noFill/>
            <a:ln w="9525">
              <a:noFill/>
              <a:miter lim="800000"/>
            </a:ln>
          </p:spPr>
          <p:txBody>
            <a:bodyPr>
              <a:spAutoFit/>
            </a:bodyPr>
            <a:lstStyle/>
            <a:p>
              <a:r>
                <a:rPr lang="zh-CN" altLang="en-US" sz="3200" b="1">
                  <a:solidFill>
                    <a:schemeClr val="tx2"/>
                  </a:solidFill>
                </a:rPr>
                <a:t>访问控制技术</a:t>
              </a:r>
              <a:r>
                <a:rPr lang="zh-CN" altLang="en-US" sz="2800" b="1">
                  <a:solidFill>
                    <a:schemeClr val="tx2"/>
                  </a:solidFill>
                </a:rPr>
                <a:t> </a:t>
              </a:r>
              <a:endParaRPr lang="zh-CN" altLang="en-US" b="1">
                <a:solidFill>
                  <a:schemeClr val="tx2"/>
                </a:solidFill>
              </a:endParaRPr>
            </a:p>
          </p:txBody>
        </p:sp>
        <p:sp>
          <p:nvSpPr>
            <p:cNvPr id="39943" name="Text Box 13"/>
            <p:cNvSpPr txBox="1">
              <a:spLocks noChangeArrowheads="1"/>
            </p:cNvSpPr>
            <p:nvPr/>
          </p:nvSpPr>
          <p:spPr bwMode="auto">
            <a:xfrm>
              <a:off x="1203" y="2054"/>
              <a:ext cx="456" cy="365"/>
            </a:xfrm>
            <a:prstGeom prst="rect">
              <a:avLst/>
            </a:prstGeom>
            <a:noFill/>
            <a:ln w="9525">
              <a:noFill/>
              <a:miter lim="800000"/>
            </a:ln>
          </p:spPr>
          <p:txBody>
            <a:bodyPr>
              <a:spAutoFit/>
            </a:bodyPr>
            <a:lstStyle/>
            <a:p>
              <a:pPr algn="ctr" eaLnBrk="0" hangingPunct="0"/>
              <a:r>
                <a:rPr lang="en-US" altLang="zh-CN" sz="2800" b="1">
                  <a:solidFill>
                    <a:schemeClr val="tx2"/>
                  </a:solidFill>
                </a:rPr>
                <a:t>6.3</a:t>
              </a:r>
              <a:endParaRPr lang="en-US" altLang="zh-CN" sz="2800" b="1">
                <a:solidFill>
                  <a:schemeClr val="tx2"/>
                </a:solidFill>
                <a:latin typeface="宋体" panose="02010600030101010101" pitchFamily="2" charset="-122"/>
              </a:endParaRPr>
            </a:p>
          </p:txBody>
        </p:sp>
      </p:grpSp>
      <p:pic>
        <p:nvPicPr>
          <p:cNvPr id="39944" name="Picture 5" descr="j0300520"/>
          <p:cNvPicPr>
            <a:picLocks noChangeAspect="1" noChangeArrowheads="1"/>
          </p:cNvPicPr>
          <p:nvPr/>
        </p:nvPicPr>
        <p:blipFill>
          <a:blip r:embed="rId1" cstate="print"/>
          <a:srcRect/>
          <a:stretch>
            <a:fillRect/>
          </a:stretch>
        </p:blipFill>
        <p:spPr bwMode="auto">
          <a:xfrm>
            <a:off x="5583238" y="4205288"/>
            <a:ext cx="1295400" cy="111442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19" name="圆角矩形 18"/>
          <p:cNvSpPr/>
          <p:nvPr/>
        </p:nvSpPr>
        <p:spPr bwMode="gray">
          <a:xfrm>
            <a:off x="542290" y="1792605"/>
            <a:ext cx="8135620" cy="368490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400" b="1" dirty="0">
                <a:solidFill>
                  <a:srgbClr val="FF0000"/>
                </a:solidFill>
                <a:latin typeface="Arial" panose="020B0604020202020204" pitchFamily="34" charset="0"/>
              </a:rPr>
              <a:t>     </a:t>
            </a:r>
            <a:r>
              <a:rPr lang="en-US" altLang="zh-CN" sz="2400" b="1" dirty="0">
                <a:solidFill>
                  <a:srgbClr val="C00000"/>
                </a:solidFill>
                <a:latin typeface="Arial" panose="020B0604020202020204" pitchFamily="34" charset="0"/>
              </a:rPr>
              <a:t>1.</a:t>
            </a:r>
            <a:r>
              <a:rPr lang="zh-CN" altLang="en-US" sz="2400" b="1" dirty="0">
                <a:solidFill>
                  <a:srgbClr val="C00000"/>
                </a:solidFill>
                <a:latin typeface="Arial" panose="020B0604020202020204" pitchFamily="34" charset="0"/>
              </a:rPr>
              <a:t>访问控制的概念</a:t>
            </a:r>
            <a:endParaRPr lang="zh-CN" altLang="en-US" sz="2400" b="1" dirty="0">
              <a:solidFill>
                <a:srgbClr val="C00000"/>
              </a:solidFill>
              <a:latin typeface="Arial" panose="020B0604020202020204" pitchFamily="34" charset="0"/>
            </a:endParaRPr>
          </a:p>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zh-CN" altLang="en-US" sz="2000" b="1" u="sng"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rPr>
              <a:t>访问控制</a:t>
            </a:r>
            <a:r>
              <a:rPr lang="zh-CN" altLang="en-US" sz="2000" b="1" dirty="0">
                <a:solidFill>
                  <a:srgbClr val="006600"/>
                </a:solidFill>
                <a:latin typeface="Arial" panose="020B0604020202020204" pitchFamily="34" charset="0"/>
              </a:rPr>
              <a:t>（</a:t>
            </a:r>
            <a:r>
              <a:rPr lang="en-US" altLang="zh-CN" sz="2000" b="1" dirty="0">
                <a:solidFill>
                  <a:schemeClr val="tx2"/>
                </a:solidFill>
                <a:latin typeface="Times New Roman" panose="02020603050405020304" pitchFamily="18" charset="0"/>
              </a:rPr>
              <a:t>Access Control</a:t>
            </a:r>
            <a:r>
              <a:rPr lang="zh-CN" altLang="en-US" sz="2000" b="1" dirty="0">
                <a:solidFill>
                  <a:schemeClr val="tx2"/>
                </a:solidFill>
                <a:latin typeface="Times New Roman" panose="02020603050405020304" pitchFamily="18" charset="0"/>
              </a:rPr>
              <a:t>）指针对非授权使用资源的防御措施，即判断使用者是否有权限</a:t>
            </a:r>
            <a:r>
              <a:rPr lang="zh-CN" altLang="en-US" sz="2000" b="1" dirty="0">
                <a:solidFill>
                  <a:srgbClr val="0000FF"/>
                </a:solidFill>
                <a:latin typeface="Arial" panose="020B0604020202020204" pitchFamily="34" charset="0"/>
              </a:rPr>
              <a:t>使用</a:t>
            </a:r>
            <a:r>
              <a:rPr lang="zh-CN" altLang="en-US" sz="2000" b="1" dirty="0">
                <a:solidFill>
                  <a:schemeClr val="tx2"/>
                </a:solidFill>
                <a:latin typeface="Times New Roman" panose="02020603050405020304" pitchFamily="18" charset="0"/>
              </a:rPr>
              <a:t>或</a:t>
            </a:r>
            <a:r>
              <a:rPr lang="zh-CN" altLang="en-US" sz="2000" b="1" dirty="0">
                <a:solidFill>
                  <a:srgbClr val="0000FF"/>
                </a:solidFill>
                <a:latin typeface="Arial" panose="020B0604020202020204" pitchFamily="34" charset="0"/>
              </a:rPr>
              <a:t>更改</a:t>
            </a:r>
            <a:r>
              <a:rPr lang="zh-CN" altLang="en-US" sz="2000" b="1" dirty="0">
                <a:solidFill>
                  <a:schemeClr val="tx2"/>
                </a:solidFill>
                <a:latin typeface="Times New Roman" panose="02020603050405020304" pitchFamily="18" charset="0"/>
              </a:rPr>
              <a:t>某一项资源，并防止非授权使用者</a:t>
            </a:r>
            <a:r>
              <a:rPr lang="zh-CN" altLang="en-US" sz="2000" b="1" dirty="0">
                <a:solidFill>
                  <a:srgbClr val="0000FF"/>
                </a:solidFill>
                <a:latin typeface="Arial" panose="020B0604020202020204" pitchFamily="34" charset="0"/>
              </a:rPr>
              <a:t>滥用</a:t>
            </a:r>
            <a:r>
              <a:rPr lang="zh-CN" altLang="en-US" sz="2000" b="1" dirty="0">
                <a:solidFill>
                  <a:schemeClr val="tx2"/>
                </a:solidFill>
                <a:latin typeface="Times New Roman" panose="02020603050405020304" pitchFamily="18" charset="0"/>
              </a:rPr>
              <a:t>资源。</a:t>
            </a:r>
            <a:r>
              <a:rPr lang="zh-CN" altLang="en-US" sz="2000" b="1" dirty="0">
                <a:solidFill>
                  <a:srgbClr val="D60093"/>
                </a:solidFill>
                <a:latin typeface="Arial" panose="020B0604020202020204" pitchFamily="34" charset="0"/>
              </a:rPr>
              <a:t>目的</a:t>
            </a:r>
            <a:r>
              <a:rPr lang="zh-CN" altLang="en-US" sz="2000" b="1" dirty="0">
                <a:solidFill>
                  <a:schemeClr val="tx2"/>
                </a:solidFill>
                <a:latin typeface="Arial" panose="020B0604020202020204" pitchFamily="34" charset="0"/>
              </a:rPr>
              <a:t>是</a:t>
            </a:r>
            <a:r>
              <a:rPr lang="zh-CN" altLang="en-US" sz="2000" b="1" dirty="0">
                <a:solidFill>
                  <a:srgbClr val="0000FF"/>
                </a:solidFill>
                <a:latin typeface="Arial" panose="020B0604020202020204" pitchFamily="34" charset="0"/>
              </a:rPr>
              <a:t>限制</a:t>
            </a:r>
            <a:r>
              <a:rPr lang="zh-CN" altLang="en-US" sz="2000" b="1" dirty="0">
                <a:solidFill>
                  <a:schemeClr val="tx2"/>
                </a:solidFill>
                <a:latin typeface="Arial" panose="020B0604020202020204" pitchFamily="34" charset="0"/>
              </a:rPr>
              <a:t>访问主体对访问客体的访问权限</a:t>
            </a:r>
            <a:r>
              <a:rPr lang="zh-CN" altLang="en-US" sz="2000" b="1" dirty="0">
                <a:solidFill>
                  <a:schemeClr val="tx1"/>
                </a:solidFill>
                <a:latin typeface="Arial" panose="020B0604020202020204" pitchFamily="34" charset="0"/>
              </a:rPr>
              <a:t>。</a:t>
            </a:r>
            <a:r>
              <a:rPr lang="zh-CN" altLang="en-US" sz="2000" dirty="0">
                <a:solidFill>
                  <a:schemeClr val="tx1"/>
                </a:solidFill>
                <a:latin typeface="Arial" panose="020B0604020202020204" pitchFamily="34" charset="0"/>
              </a:rPr>
              <a:t> </a:t>
            </a:r>
            <a:endParaRPr lang="zh-CN" altLang="en-US" sz="2000" b="1" dirty="0">
              <a:solidFill>
                <a:schemeClr val="tx2"/>
              </a:solidFill>
              <a:latin typeface="Arial" panose="020B0604020202020204" pitchFamily="34" charset="0"/>
            </a:endParaRPr>
          </a:p>
          <a:p>
            <a:pPr>
              <a:buFont typeface="Arial" panose="020B0604020202020204" pitchFamily="34" charset="0"/>
              <a:buNone/>
              <a:defRPr/>
            </a:pPr>
            <a:r>
              <a:rPr lang="zh-CN" altLang="en-US" sz="2000" b="1" dirty="0">
                <a:solidFill>
                  <a:srgbClr val="006600"/>
                </a:solidFill>
                <a:latin typeface="Arial" panose="020B0604020202020204" pitchFamily="34" charset="0"/>
              </a:rPr>
              <a:t>      </a:t>
            </a:r>
            <a:r>
              <a:rPr lang="zh-CN" altLang="en-US" sz="2000" b="1" dirty="0">
                <a:solidFill>
                  <a:srgbClr val="CC0000"/>
                </a:solidFill>
                <a:latin typeface="Arial" panose="020B0604020202020204" pitchFamily="34" charset="0"/>
              </a:rPr>
              <a:t>访问控制</a:t>
            </a:r>
            <a:r>
              <a:rPr lang="zh-CN" altLang="en-US" sz="2000" b="1" dirty="0">
                <a:solidFill>
                  <a:schemeClr val="tx1"/>
                </a:solidFill>
                <a:latin typeface="Arial" panose="020B0604020202020204" pitchFamily="34" charset="0"/>
              </a:rPr>
              <a:t>包含</a:t>
            </a:r>
            <a:r>
              <a:rPr lang="zh-CN" altLang="en-US" sz="2000" b="1" dirty="0">
                <a:solidFill>
                  <a:srgbClr val="C00000"/>
                </a:solidFill>
                <a:latin typeface="Arial" panose="020B0604020202020204" pitchFamily="34" charset="0"/>
              </a:rPr>
              <a:t>三方面含义</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一是机密性控制，保证数据资源不被非法</a:t>
            </a:r>
            <a:r>
              <a:rPr lang="zh-CN" altLang="en-US" sz="2000" b="1" dirty="0">
                <a:solidFill>
                  <a:srgbClr val="0000FF"/>
                </a:solidFill>
                <a:latin typeface="Arial" panose="020B0604020202020204" pitchFamily="34" charset="0"/>
              </a:rPr>
              <a:t>读出</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二是完整性控制，保证数据资源不被非法</a:t>
            </a:r>
            <a:r>
              <a:rPr lang="zh-CN" altLang="en-US" sz="2000" b="1" dirty="0">
                <a:solidFill>
                  <a:srgbClr val="0000FF"/>
                </a:solidFill>
                <a:latin typeface="Arial" panose="020B0604020202020204" pitchFamily="34" charset="0"/>
              </a:rPr>
              <a:t>增加、改写、删除和生成</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marL="800100" lvl="1" indent="-342900">
              <a:buFont typeface="Wingdings" panose="05000000000000000000" pitchFamily="2" charset="2"/>
              <a:buChar char="Ø"/>
              <a:defRPr/>
            </a:pPr>
            <a:r>
              <a:rPr lang="zh-CN" altLang="en-US" sz="2000" b="1" dirty="0">
                <a:solidFill>
                  <a:schemeClr val="tx2"/>
                </a:solidFill>
                <a:latin typeface="Arial" panose="020B0604020202020204" pitchFamily="34" charset="0"/>
              </a:rPr>
              <a:t>三是有效性控制，保证资源不被非法访问主体</a:t>
            </a:r>
            <a:r>
              <a:rPr lang="zh-CN" altLang="en-US" sz="2000" b="1" dirty="0">
                <a:solidFill>
                  <a:srgbClr val="0000FF"/>
                </a:solidFill>
                <a:latin typeface="Arial" panose="020B0604020202020204" pitchFamily="34" charset="0"/>
              </a:rPr>
              <a:t>使用和破坏</a:t>
            </a:r>
            <a:r>
              <a:rPr lang="zh-CN" altLang="en-US" sz="2000" b="1" dirty="0">
                <a:solidFill>
                  <a:schemeClr val="tx2"/>
                </a:solidFill>
                <a:latin typeface="Arial" panose="020B0604020202020204" pitchFamily="34" charset="0"/>
              </a:rPr>
              <a:t>。</a:t>
            </a:r>
            <a:endParaRPr lang="en-US" altLang="zh-CN" sz="2000" b="1" dirty="0">
              <a:solidFill>
                <a:schemeClr val="tx2"/>
              </a:solidFill>
              <a:latin typeface="Arial" panose="020B0604020202020204" pitchFamily="34" charset="0"/>
            </a:endParaRPr>
          </a:p>
          <a:p>
            <a:pPr>
              <a:buFont typeface="Arial" panose="020B0604020202020204" pitchFamily="34" charset="0"/>
              <a:buNone/>
              <a:defRPr/>
            </a:pPr>
            <a:r>
              <a:rPr lang="zh-CN" altLang="en-US" sz="2000" b="1" dirty="0">
                <a:solidFill>
                  <a:srgbClr val="CC0000"/>
                </a:solidFill>
                <a:latin typeface="Arial" panose="020B0604020202020204" pitchFamily="34" charset="0"/>
              </a:rPr>
              <a:t>访问控制是系统保密性、完整性、可用性和合法使用性的基础，是网络安全防范和保护的主要策略。</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
        <p:nvSpPr>
          <p:cNvPr id="40963" name="内容占位符 13"/>
          <p:cNvSpPr>
            <a:spLocks noChangeArrowheads="1"/>
          </p:cNvSpPr>
          <p:nvPr/>
        </p:nvSpPr>
        <p:spPr bwMode="auto">
          <a:xfrm>
            <a:off x="395288" y="1196975"/>
            <a:ext cx="8153400" cy="1089025"/>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40964" name="Rectangle 8"/>
          <p:cNvSpPr>
            <a:spLocks noChangeArrowheads="1"/>
          </p:cNvSpPr>
          <p:nvPr/>
        </p:nvSpPr>
        <p:spPr bwMode="auto">
          <a:xfrm>
            <a:off x="660400" y="1196975"/>
            <a:ext cx="5121275" cy="519113"/>
          </a:xfrm>
          <a:prstGeom prst="rect">
            <a:avLst/>
          </a:prstGeom>
          <a:noFill/>
          <a:ln w="9525">
            <a:noFill/>
            <a:miter lim="800000"/>
          </a:ln>
        </p:spPr>
        <p:txBody>
          <a:bodyPr anchor="ctr">
            <a:spAutoFit/>
          </a:bodyPr>
          <a:lstStyle/>
          <a:p>
            <a:pPr>
              <a:tabLst>
                <a:tab pos="5220970" algn="r"/>
              </a:tabLst>
            </a:pPr>
            <a:r>
              <a:rPr lang="en-US" altLang="zh-CN" sz="2800" b="1">
                <a:solidFill>
                  <a:srgbClr val="FF0000"/>
                </a:solidFill>
              </a:rPr>
              <a:t>6.3.1 </a:t>
            </a:r>
            <a:r>
              <a:rPr lang="zh-CN" altLang="en-US" sz="2800" b="1">
                <a:solidFill>
                  <a:srgbClr val="FF0000"/>
                </a:solidFill>
              </a:rPr>
              <a:t>访问控制的概念及内容</a:t>
            </a:r>
            <a:endParaRPr lang="zh-CN" altLang="en-US" sz="2800" b="1">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19" name="圆角矩形 18"/>
          <p:cNvSpPr/>
          <p:nvPr/>
        </p:nvSpPr>
        <p:spPr bwMode="gray">
          <a:xfrm>
            <a:off x="468630" y="1916430"/>
            <a:ext cx="8135620" cy="43402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en-US" altLang="zh-CN" sz="2400" b="1" dirty="0">
                <a:solidFill>
                  <a:srgbClr val="FF0000"/>
                </a:solidFill>
                <a:latin typeface="Arial" panose="020B0604020202020204" pitchFamily="34" charset="0"/>
              </a:rPr>
              <a:t>    </a:t>
            </a:r>
            <a:r>
              <a:rPr lang="zh-CN" altLang="en-US" sz="2000" b="1" dirty="0">
                <a:solidFill>
                  <a:srgbClr val="CC0000"/>
                </a:solidFill>
                <a:latin typeface="Arial" panose="020B0604020202020204" pitchFamily="34" charset="0"/>
              </a:rPr>
              <a:t>访问控制</a:t>
            </a:r>
            <a:r>
              <a:rPr lang="zh-CN" altLang="en-US" sz="2000" b="1" dirty="0">
                <a:solidFill>
                  <a:srgbClr val="D60093"/>
                </a:solidFill>
                <a:latin typeface="Arial" panose="020B0604020202020204" pitchFamily="34" charset="0"/>
              </a:rPr>
              <a:t>三个要素</a:t>
            </a:r>
            <a:r>
              <a:rPr lang="zh-CN" altLang="en-US" sz="2000" b="1" dirty="0">
                <a:solidFill>
                  <a:srgbClr val="006600"/>
                </a:solidFill>
                <a:latin typeface="Arial" panose="020B0604020202020204" pitchFamily="34" charset="0"/>
              </a:rPr>
              <a:t>：</a:t>
            </a:r>
            <a:endParaRPr lang="zh-CN" altLang="en-US" sz="2000" b="1" dirty="0">
              <a:solidFill>
                <a:srgbClr val="006600"/>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）主体</a:t>
            </a:r>
            <a:r>
              <a:rPr lang="en-US" altLang="zh-CN" sz="2000" b="1" dirty="0">
                <a:solidFill>
                  <a:srgbClr val="006600"/>
                </a:solidFill>
                <a:latin typeface="Arial" panose="020B0604020202020204" pitchFamily="34" charset="0"/>
              </a:rPr>
              <a:t>S</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Subject</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a:t>
            </a:r>
            <a:r>
              <a:rPr lang="zh-CN" altLang="en-US" sz="2000" b="1" dirty="0">
                <a:solidFill>
                  <a:schemeClr val="tx2"/>
                </a:solidFill>
                <a:latin typeface="Arial" panose="020B0604020202020204" pitchFamily="34" charset="0"/>
              </a:rPr>
              <a:t>指</a:t>
            </a:r>
            <a:r>
              <a:rPr lang="zh-CN" altLang="en-US" sz="2000" b="1" dirty="0">
                <a:solidFill>
                  <a:srgbClr val="0000FF"/>
                </a:solidFill>
                <a:latin typeface="Arial" panose="020B0604020202020204" pitchFamily="34" charset="0"/>
              </a:rPr>
              <a:t>提出</a:t>
            </a:r>
            <a:r>
              <a:rPr lang="zh-CN" altLang="en-US" sz="2000" b="1" dirty="0">
                <a:solidFill>
                  <a:schemeClr val="tx2"/>
                </a:solidFill>
                <a:latin typeface="Arial" panose="020B0604020202020204" pitchFamily="34" charset="0"/>
              </a:rPr>
              <a:t>访问资源具体</a:t>
            </a:r>
            <a:r>
              <a:rPr lang="zh-CN" altLang="en-US" sz="2000" b="1" dirty="0">
                <a:solidFill>
                  <a:srgbClr val="800000"/>
                </a:solidFill>
                <a:latin typeface="Arial" panose="020B0604020202020204" pitchFamily="34" charset="0"/>
              </a:rPr>
              <a:t>请求方</a:t>
            </a:r>
            <a:r>
              <a:rPr lang="zh-CN" altLang="en-US" sz="2000" b="1" dirty="0" smtClean="0">
                <a:solidFill>
                  <a:schemeClr val="tx2"/>
                </a:solidFill>
                <a:latin typeface="Arial" panose="020B0604020202020204" pitchFamily="34" charset="0"/>
              </a:rPr>
              <a:t>。可以是用户或用户启动的进程、服务和设备。</a:t>
            </a:r>
            <a:endParaRPr lang="zh-CN" altLang="en-US" sz="2000" b="1" dirty="0">
              <a:solidFill>
                <a:schemeClr val="tx2"/>
              </a:solidFill>
              <a:latin typeface="Arial" panose="020B0604020202020204" pitchFamily="34" charset="0"/>
            </a:endParaRPr>
          </a:p>
          <a:p>
            <a:pPr lvl="1">
              <a:defRPr/>
            </a:pPr>
            <a:r>
              <a:rPr lang="zh-CN" altLang="en-US" sz="2000" b="1" dirty="0">
                <a:solidFill>
                  <a:schemeClr val="tx2"/>
                </a:solidFill>
                <a:latin typeface="Arial" panose="020B0604020202020204" pitchFamily="34" charset="0"/>
              </a:rPr>
              <a:t>（</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）客体</a:t>
            </a:r>
            <a:r>
              <a:rPr lang="en-US" altLang="zh-CN" sz="2000" b="1" dirty="0">
                <a:solidFill>
                  <a:srgbClr val="006600"/>
                </a:solidFill>
                <a:latin typeface="Arial" panose="020B0604020202020204" pitchFamily="34" charset="0"/>
              </a:rPr>
              <a:t>O</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Object</a:t>
            </a:r>
            <a:r>
              <a:rPr lang="zh-CN" altLang="en-US" sz="2000" b="1" dirty="0">
                <a:solidFill>
                  <a:srgbClr val="006600"/>
                </a:solidFill>
                <a:latin typeface="Arial" panose="020B0604020202020204" pitchFamily="34" charset="0"/>
              </a:rPr>
              <a:t>）</a:t>
            </a:r>
            <a:r>
              <a:rPr lang="en-US" altLang="zh-CN" sz="2000" b="1" dirty="0">
                <a:solidFill>
                  <a:srgbClr val="006600"/>
                </a:solidFill>
                <a:latin typeface="Arial" panose="020B0604020202020204" pitchFamily="34" charset="0"/>
              </a:rPr>
              <a:t>. </a:t>
            </a:r>
            <a:r>
              <a:rPr lang="zh-CN" altLang="en-US" sz="2000" b="1" dirty="0">
                <a:solidFill>
                  <a:schemeClr val="tx2"/>
                </a:solidFill>
                <a:latin typeface="Arial" panose="020B0604020202020204" pitchFamily="34" charset="0"/>
              </a:rPr>
              <a:t>指</a:t>
            </a:r>
            <a:r>
              <a:rPr lang="zh-CN" altLang="en-US" sz="2000" b="1" dirty="0">
                <a:solidFill>
                  <a:srgbClr val="0000FF"/>
                </a:solidFill>
                <a:latin typeface="Arial" panose="020B0604020202020204" pitchFamily="34" charset="0"/>
              </a:rPr>
              <a:t>被访问</a:t>
            </a:r>
            <a:r>
              <a:rPr lang="zh-CN" altLang="en-US" sz="2000" b="1" dirty="0">
                <a:solidFill>
                  <a:schemeClr val="tx2"/>
                </a:solidFill>
                <a:latin typeface="Arial" panose="020B0604020202020204" pitchFamily="34" charset="0"/>
              </a:rPr>
              <a:t>资源的</a:t>
            </a:r>
            <a:r>
              <a:rPr lang="zh-CN" altLang="en-US" sz="2000" b="1" dirty="0">
                <a:solidFill>
                  <a:srgbClr val="800000"/>
                </a:solidFill>
                <a:latin typeface="Arial" panose="020B0604020202020204" pitchFamily="34" charset="0"/>
              </a:rPr>
              <a:t>实体</a:t>
            </a:r>
            <a:r>
              <a:rPr lang="zh-CN" altLang="en-US" sz="2000" b="1" dirty="0" smtClean="0">
                <a:solidFill>
                  <a:schemeClr val="tx2"/>
                </a:solidFill>
                <a:latin typeface="Arial" panose="020B0604020202020204" pitchFamily="34" charset="0"/>
              </a:rPr>
              <a:t>。可以是被调用的程序、进程，要存取的数据、信息，要访问的文件、系统、设备等</a:t>
            </a:r>
            <a:endParaRPr lang="en-US" altLang="zh-CN" sz="2000" b="1" dirty="0" smtClean="0">
              <a:solidFill>
                <a:schemeClr val="tx2"/>
              </a:solidFill>
              <a:latin typeface="Arial" panose="020B0604020202020204" pitchFamily="34" charset="0"/>
            </a:endParaRPr>
          </a:p>
          <a:p>
            <a:pPr lvl="1">
              <a:defRPr/>
            </a:pPr>
            <a:r>
              <a:rPr lang="zh-CN" altLang="fr-FR" sz="2000" b="1" dirty="0" smtClean="0">
                <a:solidFill>
                  <a:schemeClr val="tx2"/>
                </a:solidFill>
                <a:latin typeface="Arial" panose="020B0604020202020204" pitchFamily="34" charset="0"/>
              </a:rPr>
              <a:t>（</a:t>
            </a:r>
            <a:r>
              <a:rPr lang="fr-FR" altLang="zh-CN" sz="2000" b="1" dirty="0">
                <a:solidFill>
                  <a:schemeClr val="tx2"/>
                </a:solidFill>
                <a:latin typeface="Arial" panose="020B0604020202020204" pitchFamily="34" charset="0"/>
              </a:rPr>
              <a:t>3</a:t>
            </a:r>
            <a:r>
              <a:rPr lang="zh-CN" altLang="fr-FR" sz="2000" b="1" dirty="0">
                <a:solidFill>
                  <a:schemeClr val="tx2"/>
                </a:solidFill>
                <a:latin typeface="Arial" panose="020B0604020202020204" pitchFamily="34" charset="0"/>
              </a:rPr>
              <a:t>）控制策略</a:t>
            </a:r>
            <a:r>
              <a:rPr lang="fr-FR" altLang="zh-CN" sz="2000" b="1" dirty="0">
                <a:solidFill>
                  <a:srgbClr val="006600"/>
                </a:solidFill>
                <a:latin typeface="Arial" panose="020B0604020202020204" pitchFamily="34" charset="0"/>
              </a:rPr>
              <a:t>A</a:t>
            </a:r>
            <a:r>
              <a:rPr lang="zh-CN" altLang="fr-FR" sz="2000" b="1" dirty="0">
                <a:solidFill>
                  <a:srgbClr val="006600"/>
                </a:solidFill>
                <a:latin typeface="Arial" panose="020B0604020202020204" pitchFamily="34" charset="0"/>
              </a:rPr>
              <a:t>（</a:t>
            </a:r>
            <a:r>
              <a:rPr lang="fr-FR" altLang="zh-CN" sz="2000" b="1" dirty="0">
                <a:solidFill>
                  <a:srgbClr val="006600"/>
                </a:solidFill>
                <a:latin typeface="Arial" panose="020B0604020202020204" pitchFamily="34" charset="0"/>
              </a:rPr>
              <a:t>Attribution</a:t>
            </a:r>
            <a:r>
              <a:rPr lang="zh-CN" altLang="fr-FR" sz="2000" b="1" dirty="0">
                <a:solidFill>
                  <a:srgbClr val="006600"/>
                </a:solidFill>
                <a:latin typeface="Arial" panose="020B0604020202020204" pitchFamily="34" charset="0"/>
              </a:rPr>
              <a:t>）。</a:t>
            </a:r>
            <a:r>
              <a:rPr lang="zh-CN" altLang="zh-CN" sz="2000" b="1" dirty="0">
                <a:solidFill>
                  <a:srgbClr val="29698D"/>
                </a:solidFill>
              </a:rPr>
              <a:t>主体对客体的访问</a:t>
            </a:r>
            <a:r>
              <a:rPr lang="zh-CN" altLang="fr-FR" sz="2000" b="1" dirty="0">
                <a:solidFill>
                  <a:srgbClr val="0000FF"/>
                </a:solidFill>
                <a:latin typeface="Arial" panose="020B0604020202020204" pitchFamily="34" charset="0"/>
              </a:rPr>
              <a:t>控制</a:t>
            </a:r>
            <a:r>
              <a:rPr lang="zh-CN" altLang="fr-FR" sz="2000" b="1" dirty="0" smtClean="0">
                <a:solidFill>
                  <a:schemeClr val="tx2"/>
                </a:solidFill>
                <a:latin typeface="Arial" panose="020B0604020202020204" pitchFamily="34" charset="0"/>
              </a:rPr>
              <a:t>规则</a:t>
            </a:r>
            <a:r>
              <a:rPr lang="zh-CN" altLang="en-US" sz="2000" b="1" dirty="0" smtClean="0">
                <a:solidFill>
                  <a:schemeClr val="tx2"/>
                </a:solidFill>
                <a:latin typeface="Arial" panose="020B0604020202020204" pitchFamily="34" charset="0"/>
              </a:rPr>
              <a:t>，一个主体对一个客体拥有的访问权力或控制关系的描述</a:t>
            </a:r>
            <a:r>
              <a:rPr lang="zh-CN" altLang="fr-FR" sz="2000" b="1" dirty="0" smtClean="0">
                <a:solidFill>
                  <a:schemeClr val="tx2"/>
                </a:solidFill>
                <a:latin typeface="Arial" panose="020B0604020202020204" pitchFamily="34" charset="0"/>
              </a:rPr>
              <a:t>。</a:t>
            </a:r>
            <a:endParaRPr lang="zh-CN" altLang="en-US" sz="2000" dirty="0">
              <a:solidFill>
                <a:schemeClr val="tx2"/>
              </a:solidFill>
              <a:latin typeface="Arial" panose="020B0604020202020204" pitchFamily="34" charset="0"/>
            </a:endParaRPr>
          </a:p>
          <a:p>
            <a:pPr indent="457200">
              <a:spcBef>
                <a:spcPts val="600"/>
              </a:spcBef>
              <a:spcAft>
                <a:spcPts val="600"/>
              </a:spcAft>
              <a:buFont typeface="Arial" panose="020B0604020202020204" pitchFamily="34" charset="0"/>
              <a:buNone/>
              <a:defRPr/>
            </a:pPr>
            <a:r>
              <a:rPr lang="zh-CN" altLang="en-US" sz="2000" b="1" dirty="0">
                <a:solidFill>
                  <a:srgbClr val="C00000"/>
                </a:solidFill>
                <a:latin typeface="Arial" panose="020B0604020202020204" pitchFamily="34" charset="0"/>
              </a:rPr>
              <a:t>访问控制的目的</a:t>
            </a:r>
            <a:r>
              <a:rPr lang="zh-CN" altLang="en-US" sz="2000" b="1" dirty="0">
                <a:solidFill>
                  <a:schemeClr val="tx2">
                    <a:lumMod val="95000"/>
                    <a:lumOff val="5000"/>
                  </a:schemeClr>
                </a:solidFill>
                <a:latin typeface="Arial" panose="020B0604020202020204" pitchFamily="34" charset="0"/>
              </a:rPr>
              <a:t>是为了限制访问主体对访问客体的访问权限，从而使计算机网络系统在合法范围内使用；它决定用户能做什么，也决定代表一定用户身份的进程能做什么。</a:t>
            </a:r>
            <a:endParaRPr lang="en-US" altLang="zh-CN" sz="2000" b="1" dirty="0">
              <a:solidFill>
                <a:schemeClr val="tx2">
                  <a:lumMod val="95000"/>
                  <a:lumOff val="5000"/>
                </a:schemeClr>
              </a:solidFill>
              <a:latin typeface="Arial" panose="020B0604020202020204" pitchFamily="34" charset="0"/>
            </a:endParaRPr>
          </a:p>
          <a:p>
            <a:pPr indent="457200">
              <a:spcBef>
                <a:spcPts val="600"/>
              </a:spcBef>
              <a:buFont typeface="Arial" panose="020B0604020202020204" pitchFamily="34" charset="0"/>
              <a:buNone/>
              <a:defRPr/>
            </a:pPr>
            <a:r>
              <a:rPr lang="zh-CN" altLang="en-US" sz="2000" b="1" dirty="0">
                <a:solidFill>
                  <a:srgbClr val="C00000"/>
                </a:solidFill>
                <a:latin typeface="Arial" panose="020B0604020202020204" pitchFamily="34" charset="0"/>
              </a:rPr>
              <a:t>访问控制需要完成两个主要任务</a:t>
            </a:r>
            <a:r>
              <a:rPr lang="zh-CN" altLang="en-US" sz="2000" b="1" dirty="0">
                <a:solidFill>
                  <a:schemeClr val="tx2">
                    <a:lumMod val="95000"/>
                    <a:lumOff val="5000"/>
                  </a:schemeClr>
                </a:solidFill>
                <a:latin typeface="Arial" panose="020B0604020202020204" pitchFamily="34" charset="0"/>
              </a:rPr>
              <a:t>：识别和确认访问系统的用户；决定该用户可以对某一系统资源进行何种类型的访问。</a:t>
            </a:r>
            <a:endParaRPr lang="zh-CN" altLang="en-US" sz="2000" dirty="0">
              <a:solidFill>
                <a:schemeClr val="tx2"/>
              </a:solidFill>
              <a:latin typeface="Arial" panose="020B0604020202020204" pitchFamily="34" charset="0"/>
            </a:endParaRPr>
          </a:p>
        </p:txBody>
      </p:sp>
      <p:sp>
        <p:nvSpPr>
          <p:cNvPr id="41987" name="内容占位符 13"/>
          <p:cNvSpPr>
            <a:spLocks noChangeArrowheads="1"/>
          </p:cNvSpPr>
          <p:nvPr/>
        </p:nvSpPr>
        <p:spPr bwMode="auto">
          <a:xfrm>
            <a:off x="395288" y="1196975"/>
            <a:ext cx="8153400" cy="1089025"/>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41988" name="Rectangle 8"/>
          <p:cNvSpPr>
            <a:spLocks noChangeArrowheads="1"/>
          </p:cNvSpPr>
          <p:nvPr/>
        </p:nvSpPr>
        <p:spPr bwMode="auto">
          <a:xfrm>
            <a:off x="660400" y="1196975"/>
            <a:ext cx="5121275" cy="519113"/>
          </a:xfrm>
          <a:prstGeom prst="rect">
            <a:avLst/>
          </a:prstGeom>
          <a:noFill/>
          <a:ln w="9525">
            <a:noFill/>
            <a:miter lim="800000"/>
          </a:ln>
        </p:spPr>
        <p:txBody>
          <a:bodyPr anchor="ctr">
            <a:spAutoFit/>
          </a:bodyPr>
          <a:lstStyle/>
          <a:p>
            <a:pPr>
              <a:tabLst>
                <a:tab pos="5220970" algn="r"/>
              </a:tabLst>
            </a:pPr>
            <a:r>
              <a:rPr lang="en-US" altLang="zh-CN" sz="2800" b="1">
                <a:solidFill>
                  <a:srgbClr val="FF0000"/>
                </a:solidFill>
              </a:rPr>
              <a:t>6.3.1 </a:t>
            </a:r>
            <a:r>
              <a:rPr lang="zh-CN" altLang="en-US" sz="2800" b="1">
                <a:solidFill>
                  <a:srgbClr val="FF0000"/>
                </a:solidFill>
              </a:rPr>
              <a:t>访问控制的概念及内容</a:t>
            </a:r>
            <a:endParaRPr lang="zh-CN" altLang="en-US" sz="2800" b="1">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p:cNvSpPr>
            <a:spLocks noGrp="1" noChangeArrowheads="1"/>
          </p:cNvSpPr>
          <p:nvPr>
            <p:ph type="subTitle" idx="4294967295"/>
          </p:nvPr>
        </p:nvSpPr>
        <p:spPr>
          <a:xfrm>
            <a:off x="395288" y="1136650"/>
            <a:ext cx="8351837" cy="5040313"/>
          </a:xfrm>
        </p:spPr>
        <p:txBody>
          <a:bodyPr/>
          <a:lstStyle/>
          <a:p>
            <a:pPr marL="0" indent="0" eaLnBrk="1" hangingPunct="1">
              <a:lnSpc>
                <a:spcPct val="90000"/>
              </a:lnSpc>
              <a:buFont typeface="Wingdings" panose="05000000000000000000" pitchFamily="2" charset="2"/>
              <a:buNone/>
            </a:pPr>
            <a:r>
              <a:rPr lang="en-US" altLang="zh-CN" sz="2500" dirty="0" smtClean="0">
                <a:solidFill>
                  <a:srgbClr val="CC0000"/>
                </a:solidFill>
              </a:rPr>
              <a:t>    2. </a:t>
            </a:r>
            <a:r>
              <a:rPr lang="zh-CN" altLang="en-US" sz="2500" dirty="0" smtClean="0">
                <a:solidFill>
                  <a:srgbClr val="CC0000"/>
                </a:solidFill>
              </a:rPr>
              <a:t>访问控制的功能和内容</a:t>
            </a:r>
            <a:endParaRPr lang="zh-CN" altLang="en-US" sz="2500" dirty="0" smtClean="0">
              <a:solidFill>
                <a:srgbClr val="CC0000"/>
              </a:solidFill>
            </a:endParaRPr>
          </a:p>
          <a:p>
            <a:pPr marL="0" indent="0" eaLnBrk="1" hangingPunct="1">
              <a:lnSpc>
                <a:spcPct val="90000"/>
              </a:lnSpc>
              <a:buFont typeface="Wingdings" panose="05000000000000000000" pitchFamily="2" charset="2"/>
              <a:buNone/>
            </a:pPr>
            <a:r>
              <a:rPr lang="zh-CN" altLang="en-US" sz="2500" dirty="0" smtClean="0"/>
              <a:t>   </a:t>
            </a:r>
            <a:r>
              <a:rPr lang="zh-CN" altLang="en-US" dirty="0" smtClean="0">
                <a:solidFill>
                  <a:srgbClr val="CC0000"/>
                </a:solidFill>
              </a:rPr>
              <a:t>访问控制的主要功能</a:t>
            </a:r>
            <a:r>
              <a:rPr lang="zh-CN" altLang="en-US" dirty="0" smtClean="0"/>
              <a:t>包括：保证合法用户</a:t>
            </a:r>
            <a:r>
              <a:rPr lang="zh-CN" altLang="en-US" dirty="0" smtClean="0">
                <a:solidFill>
                  <a:srgbClr val="0000FF"/>
                </a:solidFill>
              </a:rPr>
              <a:t>访问</a:t>
            </a:r>
            <a:r>
              <a:rPr lang="zh-CN" altLang="en-US" dirty="0" smtClean="0"/>
              <a:t>受保护的网络资源，防止非法的主体</a:t>
            </a:r>
            <a:r>
              <a:rPr lang="zh-CN" altLang="en-US" dirty="0" smtClean="0">
                <a:solidFill>
                  <a:srgbClr val="0000FF"/>
                </a:solidFill>
              </a:rPr>
              <a:t>进入</a:t>
            </a:r>
            <a:r>
              <a:rPr lang="zh-CN" altLang="en-US" dirty="0" smtClean="0"/>
              <a:t>受保护的网络资源，或防止合法用户对受保护的网络资源进行非授权的</a:t>
            </a:r>
            <a:r>
              <a:rPr lang="zh-CN" altLang="en-US" dirty="0" smtClean="0">
                <a:solidFill>
                  <a:srgbClr val="0000FF"/>
                </a:solidFill>
              </a:rPr>
              <a:t>访问</a:t>
            </a:r>
            <a:r>
              <a:rPr lang="zh-CN" altLang="en-US" dirty="0" smtClean="0"/>
              <a:t>。</a:t>
            </a:r>
            <a:endParaRPr lang="zh-CN" altLang="en-US" dirty="0" smtClean="0"/>
          </a:p>
          <a:p>
            <a:pPr marL="0" indent="0" eaLnBrk="1" hangingPunct="1">
              <a:lnSpc>
                <a:spcPct val="90000"/>
              </a:lnSpc>
              <a:buFont typeface="Wingdings" panose="05000000000000000000" pitchFamily="2" charset="2"/>
              <a:buNone/>
            </a:pPr>
            <a:r>
              <a:rPr lang="zh-CN" altLang="en-US" dirty="0" smtClean="0"/>
              <a:t>   </a:t>
            </a:r>
            <a:r>
              <a:rPr lang="zh-CN" altLang="en-US" dirty="0" smtClean="0">
                <a:solidFill>
                  <a:srgbClr val="CC0000"/>
                </a:solidFill>
              </a:rPr>
              <a:t>访问控制的内容</a:t>
            </a:r>
            <a:r>
              <a:rPr lang="zh-CN" altLang="en-US" dirty="0" smtClean="0"/>
              <a:t>包括三个方面：</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(1)</a:t>
            </a:r>
            <a:r>
              <a:rPr lang="zh-CN" altLang="en-US" dirty="0" smtClean="0">
                <a:solidFill>
                  <a:srgbClr val="C00000"/>
                </a:solidFill>
              </a:rPr>
              <a:t>认证</a:t>
            </a:r>
            <a:r>
              <a:rPr lang="zh-CN" altLang="en-US" dirty="0" smtClean="0"/>
              <a:t>：包括主体对客体的识别认证和客体对主体检验认证</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(2)</a:t>
            </a:r>
            <a:r>
              <a:rPr lang="zh-CN" altLang="en-US" dirty="0" smtClean="0">
                <a:solidFill>
                  <a:srgbClr val="C00000"/>
                </a:solidFill>
              </a:rPr>
              <a:t>控制策略具体实现</a:t>
            </a:r>
            <a:r>
              <a:rPr lang="zh-CN" altLang="en-US" dirty="0" smtClean="0"/>
              <a:t>：</a:t>
            </a:r>
            <a:r>
              <a:rPr lang="zh-CN" altLang="en-US" dirty="0" smtClean="0">
                <a:solidFill>
                  <a:srgbClr val="0000FF"/>
                </a:solidFill>
              </a:rPr>
              <a:t>设定</a:t>
            </a:r>
            <a:r>
              <a:rPr lang="zh-CN" altLang="en-US" dirty="0" smtClean="0"/>
              <a:t>规则集合以</a:t>
            </a:r>
            <a:r>
              <a:rPr lang="zh-CN" altLang="en-US" dirty="0" smtClean="0">
                <a:solidFill>
                  <a:srgbClr val="0000FF"/>
                </a:solidFill>
              </a:rPr>
              <a:t>确保</a:t>
            </a:r>
            <a:r>
              <a:rPr lang="zh-CN" altLang="en-US" dirty="0" smtClean="0"/>
              <a:t>正常用户对信息资源的合法使用，</a:t>
            </a:r>
            <a:r>
              <a:rPr lang="zh-CN" altLang="en-US" dirty="0" smtClean="0">
                <a:solidFill>
                  <a:srgbClr val="0000FF"/>
                </a:solidFill>
              </a:rPr>
              <a:t>防止</a:t>
            </a:r>
            <a:r>
              <a:rPr lang="zh-CN" altLang="en-US" dirty="0" smtClean="0"/>
              <a:t>非法用户及敏感资源泄漏，对于合法用户，不能越权使用控制策略赋予权利以外功能。</a:t>
            </a:r>
            <a:endParaRPr lang="zh-CN" altLang="en-US" dirty="0" smtClean="0"/>
          </a:p>
          <a:p>
            <a:pPr marL="0" indent="0">
              <a:lnSpc>
                <a:spcPct val="90000"/>
              </a:lnSpc>
              <a:buFont typeface="Wingdings" panose="05000000000000000000" pitchFamily="2" charset="2"/>
              <a:buNone/>
            </a:pPr>
            <a:r>
              <a:rPr lang="zh-CN" altLang="en-US" dirty="0" smtClean="0"/>
              <a:t>    </a:t>
            </a:r>
            <a:r>
              <a:rPr lang="en-US" altLang="zh-CN" dirty="0" smtClean="0"/>
              <a:t>(3)</a:t>
            </a:r>
            <a:r>
              <a:rPr lang="zh-CN" altLang="en-US" dirty="0" smtClean="0">
                <a:solidFill>
                  <a:srgbClr val="C00000"/>
                </a:solidFill>
              </a:rPr>
              <a:t>安全审计</a:t>
            </a:r>
            <a:r>
              <a:rPr lang="en-US" altLang="zh-CN" dirty="0" smtClean="0">
                <a:solidFill>
                  <a:srgbClr val="C00000"/>
                </a:solidFill>
              </a:rPr>
              <a:t>:</a:t>
            </a:r>
            <a:r>
              <a:rPr lang="zh-CN" altLang="en-US" dirty="0" smtClean="0"/>
              <a:t>使系统自动记录网络</a:t>
            </a:r>
            <a:endParaRPr lang="en-US" altLang="zh-CN" dirty="0" smtClean="0"/>
          </a:p>
          <a:p>
            <a:pPr marL="0" indent="0">
              <a:lnSpc>
                <a:spcPct val="90000"/>
              </a:lnSpc>
              <a:buFont typeface="Wingdings" panose="05000000000000000000" pitchFamily="2" charset="2"/>
              <a:buNone/>
            </a:pPr>
            <a:r>
              <a:rPr lang="zh-CN" altLang="en-US" dirty="0" smtClean="0"/>
              <a:t>中的“正常”操作、“非正常”操作以</a:t>
            </a:r>
            <a:endParaRPr lang="en-US" altLang="zh-CN" dirty="0" smtClean="0"/>
          </a:p>
          <a:p>
            <a:pPr marL="0" indent="0">
              <a:lnSpc>
                <a:spcPct val="90000"/>
              </a:lnSpc>
              <a:buFont typeface="Wingdings" panose="05000000000000000000" pitchFamily="2" charset="2"/>
              <a:buNone/>
            </a:pPr>
            <a:r>
              <a:rPr lang="zh-CN" altLang="en-US" dirty="0" smtClean="0"/>
              <a:t>及使用时间、敏感信息等。 </a:t>
            </a:r>
            <a:r>
              <a:rPr lang="zh-CN" altLang="en-US" sz="2500" dirty="0" smtClean="0"/>
              <a:t>        </a:t>
            </a:r>
            <a:endParaRPr lang="zh-CN" altLang="en-US" sz="2500" dirty="0" smtClean="0"/>
          </a:p>
        </p:txBody>
      </p:sp>
      <p:sp>
        <p:nvSpPr>
          <p:cNvPr id="43010" name="矩形 1"/>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639175" cy="5605463"/>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a:solidFill>
                  <a:srgbClr val="FF0000"/>
                </a:solidFill>
                <a:latin typeface="Arial" panose="020B0604020202020204" pitchFamily="34" charset="0"/>
              </a:rPr>
              <a:t> </a:t>
            </a:r>
            <a:r>
              <a:rPr lang="zh-CN" altLang="fr-FR" sz="2000">
                <a:solidFill>
                  <a:schemeClr val="tx2"/>
                </a:solidFill>
                <a:latin typeface="Arial" panose="020B0604020202020204" pitchFamily="34" charset="0"/>
              </a:rPr>
              <a:t>	</a:t>
            </a:r>
            <a:endParaRPr lang="zh-CN" altLang="en-US" sz="2000">
              <a:solidFill>
                <a:schemeClr val="tx2"/>
              </a:solidFill>
              <a:latin typeface="Arial" panose="020B0604020202020204" pitchFamily="34" charset="0"/>
            </a:endParaRPr>
          </a:p>
        </p:txBody>
      </p:sp>
      <p:pic>
        <p:nvPicPr>
          <p:cNvPr id="43012" name="图片 1073742927"/>
          <p:cNvPicPr>
            <a:picLocks noChangeAspect="1" noChangeArrowheads="1"/>
          </p:cNvPicPr>
          <p:nvPr/>
        </p:nvPicPr>
        <p:blipFill>
          <a:blip r:embed="rId1" cstate="print"/>
          <a:srcRect/>
          <a:stretch>
            <a:fillRect/>
          </a:stretch>
        </p:blipFill>
        <p:spPr bwMode="auto">
          <a:xfrm>
            <a:off x="5307013" y="4176713"/>
            <a:ext cx="3440112" cy="2308225"/>
          </a:xfrm>
          <a:prstGeom prst="rect">
            <a:avLst/>
          </a:prstGeom>
          <a:noFill/>
          <a:ln w="9525">
            <a:noFill/>
            <a:miter lim="800000"/>
            <a:headEnd/>
            <a:tailEnd/>
          </a:ln>
        </p:spPr>
      </p:pic>
      <p:sp>
        <p:nvSpPr>
          <p:cNvPr id="30726" name="文本框 100"/>
          <p:cNvSpPr txBox="1">
            <a:spLocks noChangeArrowheads="1"/>
          </p:cNvSpPr>
          <p:nvPr/>
        </p:nvSpPr>
        <p:spPr bwMode="auto">
          <a:xfrm>
            <a:off x="6208713" y="6484938"/>
            <a:ext cx="1890712" cy="254000"/>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None/>
              <a:defRPr/>
            </a:pPr>
            <a:r>
              <a:rPr lang="en-US" altLang="zh-CN" sz="1050" dirty="0">
                <a:solidFill>
                  <a:srgbClr val="C00000"/>
                </a:solidFill>
              </a:rPr>
              <a:t> </a:t>
            </a:r>
            <a:r>
              <a:rPr lang="zh-CN" altLang="en-US" sz="1050" dirty="0">
                <a:solidFill>
                  <a:srgbClr val="C00000"/>
                </a:solidFill>
              </a:rPr>
              <a:t>访问控制功能及原理</a:t>
            </a:r>
            <a:endParaRPr lang="zh-CN" altLang="en-US" sz="1050" dirty="0">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418" y="1884680"/>
            <a:ext cx="7991475" cy="2549525"/>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1</a:t>
            </a:r>
            <a:r>
              <a:rPr lang="zh-CN" altLang="en-US" dirty="0">
                <a:solidFill>
                  <a:schemeClr val="tx2">
                    <a:lumMod val="95000"/>
                    <a:lumOff val="5000"/>
                  </a:schemeClr>
                </a:solidFill>
              </a:rPr>
              <a:t>）访问控制矩阵（</a:t>
            </a:r>
            <a:r>
              <a:rPr lang="en-US" altLang="zh-CN" dirty="0">
                <a:solidFill>
                  <a:schemeClr val="tx2">
                    <a:lumMod val="95000"/>
                    <a:lumOff val="5000"/>
                  </a:schemeClr>
                </a:solidFill>
              </a:rPr>
              <a:t>Access Control Matrix</a:t>
            </a:r>
            <a:r>
              <a:rPr lang="zh-CN" altLang="en-US" dirty="0">
                <a:solidFill>
                  <a:schemeClr val="tx2">
                    <a:lumMod val="95000"/>
                    <a:lumOff val="5000"/>
                  </a:schemeClr>
                </a:solidFill>
              </a:rPr>
              <a:t>，</a:t>
            </a:r>
            <a:r>
              <a:rPr lang="en-US" altLang="zh-CN" dirty="0">
                <a:solidFill>
                  <a:schemeClr val="tx2">
                    <a:lumMod val="95000"/>
                    <a:lumOff val="5000"/>
                  </a:schemeClr>
                </a:solidFill>
              </a:rPr>
              <a:t>ACM</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457200" eaLnBrk="1" hangingPunct="1">
              <a:lnSpc>
                <a:spcPct val="80000"/>
              </a:lnSpc>
              <a:buFont typeface="Wingdings" panose="05000000000000000000" pitchFamily="2" charset="2"/>
              <a:buNone/>
              <a:defRPr/>
            </a:pPr>
            <a:r>
              <a:rPr lang="zh-CN" altLang="en-US" dirty="0">
                <a:solidFill>
                  <a:srgbClr val="C00000"/>
                </a:solidFill>
              </a:rPr>
              <a:t>访问控制矩阵模型的基本思想</a:t>
            </a:r>
            <a:r>
              <a:rPr lang="zh-CN" altLang="en-US" dirty="0"/>
              <a:t>是将所有的访问控制信息存储在一个矩阵中进行集中管理。当前的访问控制模型都是在此基础上建立起来的。 </a:t>
            </a:r>
            <a:endParaRPr lang="en-US" altLang="zh-CN" dirty="0"/>
          </a:p>
          <a:p>
            <a:pPr marL="0" indent="457200" eaLnBrk="1" hangingPunct="1">
              <a:lnSpc>
                <a:spcPct val="80000"/>
              </a:lnSpc>
              <a:buFont typeface="Wingdings" panose="05000000000000000000" pitchFamily="2" charset="2"/>
              <a:buNone/>
              <a:defRPr/>
            </a:pPr>
            <a:r>
              <a:rPr lang="zh-CN" altLang="en-US" dirty="0"/>
              <a:t>如图所示，访问矩阵的</a:t>
            </a:r>
            <a:r>
              <a:rPr lang="zh-CN" altLang="en-US" dirty="0">
                <a:solidFill>
                  <a:srgbClr val="FF0000"/>
                </a:solidFill>
              </a:rPr>
              <a:t>每行对应一个主体</a:t>
            </a:r>
            <a:r>
              <a:rPr lang="zh-CN" altLang="en-US" dirty="0"/>
              <a:t>，是访问操作中的</a:t>
            </a:r>
            <a:r>
              <a:rPr lang="zh-CN" altLang="en-US" dirty="0">
                <a:solidFill>
                  <a:srgbClr val="C00000"/>
                </a:solidFill>
              </a:rPr>
              <a:t>主动实体</a:t>
            </a:r>
            <a:r>
              <a:rPr lang="zh-CN" altLang="en-US" dirty="0"/>
              <a:t>；</a:t>
            </a:r>
            <a:r>
              <a:rPr lang="zh-CN" altLang="en-US" dirty="0">
                <a:solidFill>
                  <a:srgbClr val="FF0000"/>
                </a:solidFill>
              </a:rPr>
              <a:t>每列对应一个客体</a:t>
            </a:r>
            <a:r>
              <a:rPr lang="zh-CN" altLang="en-US" dirty="0"/>
              <a:t>，是访问操作中的</a:t>
            </a:r>
            <a:r>
              <a:rPr lang="zh-CN" altLang="en-US" dirty="0">
                <a:solidFill>
                  <a:srgbClr val="C00000"/>
                </a:solidFill>
              </a:rPr>
              <a:t>被动实体</a:t>
            </a:r>
            <a:r>
              <a:rPr lang="zh-CN" altLang="en-US" dirty="0"/>
              <a:t>；每个单元格描述主体可以对客体执行的访问操作。</a:t>
            </a:r>
            <a:endParaRPr lang="zh-CN" altLang="en-US" dirty="0"/>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5059"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329755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45061" name="图片 5"/>
          <p:cNvPicPr>
            <a:picLocks noChangeAspect="1" noChangeArrowheads="1"/>
          </p:cNvPicPr>
          <p:nvPr/>
        </p:nvPicPr>
        <p:blipFill>
          <a:blip r:embed="rId1" cstate="print"/>
          <a:srcRect l="1860" t="4898" r="2284"/>
          <a:stretch>
            <a:fillRect/>
          </a:stretch>
        </p:blipFill>
        <p:spPr bwMode="auto">
          <a:xfrm>
            <a:off x="2418715" y="4581525"/>
            <a:ext cx="3985260" cy="178498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418" y="1884680"/>
            <a:ext cx="7991475" cy="4712672"/>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1</a:t>
            </a:r>
            <a:r>
              <a:rPr lang="zh-CN" altLang="en-US" dirty="0">
                <a:solidFill>
                  <a:schemeClr val="tx2">
                    <a:lumMod val="95000"/>
                    <a:lumOff val="5000"/>
                  </a:schemeClr>
                </a:solidFill>
              </a:rPr>
              <a:t>）访问控制矩阵（</a:t>
            </a:r>
            <a:r>
              <a:rPr lang="en-US" altLang="zh-CN" dirty="0">
                <a:solidFill>
                  <a:schemeClr val="tx2">
                    <a:lumMod val="95000"/>
                    <a:lumOff val="5000"/>
                  </a:schemeClr>
                </a:solidFill>
              </a:rPr>
              <a:t>Access Control Matrix</a:t>
            </a:r>
            <a:r>
              <a:rPr lang="zh-CN" altLang="en-US" dirty="0">
                <a:solidFill>
                  <a:schemeClr val="tx2">
                    <a:lumMod val="95000"/>
                    <a:lumOff val="5000"/>
                  </a:schemeClr>
                </a:solidFill>
              </a:rPr>
              <a:t>，</a:t>
            </a:r>
            <a:r>
              <a:rPr lang="en-US" altLang="zh-CN" dirty="0">
                <a:solidFill>
                  <a:schemeClr val="tx2">
                    <a:lumMod val="95000"/>
                    <a:lumOff val="5000"/>
                  </a:schemeClr>
                </a:solidFill>
              </a:rPr>
              <a:t>ACM</a:t>
            </a:r>
            <a:r>
              <a:rPr lang="zh-CN" altLang="en-US" dirty="0" smtClean="0">
                <a:solidFill>
                  <a:schemeClr val="tx2">
                    <a:lumMod val="95000"/>
                    <a:lumOff val="5000"/>
                  </a:schemeClr>
                </a:solidFill>
              </a:rPr>
              <a:t>）</a:t>
            </a: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5059"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316686"/>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725671" y="2708920"/>
            <a:ext cx="7632967" cy="330195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299720" y="1822450"/>
            <a:ext cx="8554085" cy="2548255"/>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2</a:t>
            </a:r>
            <a:r>
              <a:rPr lang="zh-CN" altLang="en-US" dirty="0">
                <a:solidFill>
                  <a:schemeClr val="tx2">
                    <a:lumMod val="95000"/>
                    <a:lumOff val="5000"/>
                  </a:schemeClr>
                </a:solidFill>
              </a:rPr>
              <a:t>）</a:t>
            </a:r>
            <a:r>
              <a:rPr lang="zh-CN" altLang="en-US" dirty="0">
                <a:solidFill>
                  <a:srgbClr val="FF0000"/>
                </a:solidFill>
              </a:rPr>
              <a:t>访问控制列表</a:t>
            </a:r>
            <a:r>
              <a:rPr lang="zh-CN" altLang="en-US" dirty="0">
                <a:solidFill>
                  <a:schemeClr val="tx2">
                    <a:lumMod val="95000"/>
                    <a:lumOff val="5000"/>
                  </a:schemeClr>
                </a:solidFill>
              </a:rPr>
              <a:t>（</a:t>
            </a:r>
            <a:r>
              <a:rPr lang="en-US" altLang="zh-CN" dirty="0">
                <a:solidFill>
                  <a:schemeClr val="tx2">
                    <a:lumMod val="95000"/>
                    <a:lumOff val="5000"/>
                  </a:schemeClr>
                </a:solidFill>
              </a:rPr>
              <a:t>Access Control List</a:t>
            </a:r>
            <a:r>
              <a:rPr lang="zh-CN" altLang="en-US" dirty="0">
                <a:solidFill>
                  <a:schemeClr val="tx2">
                    <a:lumMod val="95000"/>
                    <a:lumOff val="5000"/>
                  </a:schemeClr>
                </a:solidFill>
              </a:rPr>
              <a:t>，</a:t>
            </a:r>
            <a:r>
              <a:rPr lang="en-US" altLang="zh-CN" dirty="0">
                <a:solidFill>
                  <a:schemeClr val="tx2">
                    <a:lumMod val="95000"/>
                    <a:lumOff val="5000"/>
                  </a:schemeClr>
                </a:solidFill>
              </a:rPr>
              <a:t>ACL</a:t>
            </a:r>
            <a:r>
              <a:rPr lang="zh-CN" altLang="en-US" dirty="0" smtClean="0">
                <a:solidFill>
                  <a:schemeClr val="tx2">
                    <a:lumMod val="95000"/>
                    <a:lumOff val="5000"/>
                  </a:schemeClr>
                </a:solidFill>
              </a:rPr>
              <a:t>）</a:t>
            </a:r>
            <a:endParaRPr lang="en-US" altLang="zh-CN" dirty="0" smtClean="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a:solidFill>
                  <a:schemeClr val="tx2">
                    <a:lumMod val="95000"/>
                    <a:lumOff val="5000"/>
                  </a:schemeClr>
                </a:solidFill>
              </a:rPr>
              <a:t>	</a:t>
            </a:r>
            <a:r>
              <a:rPr lang="zh-CN" altLang="en-US" dirty="0" smtClean="0">
                <a:solidFill>
                  <a:schemeClr val="tx2">
                    <a:lumMod val="95000"/>
                    <a:lumOff val="5000"/>
                  </a:schemeClr>
                </a:solidFill>
              </a:rPr>
              <a:t>访问控制矩阵中可能有很多空白，因此可以</a:t>
            </a:r>
            <a:r>
              <a:rPr lang="zh-CN" altLang="en-US" dirty="0" smtClean="0">
                <a:solidFill>
                  <a:srgbClr val="FF0000"/>
                </a:solidFill>
              </a:rPr>
              <a:t>从客体（列）出发</a:t>
            </a:r>
            <a:r>
              <a:rPr lang="zh-CN" altLang="en-US" dirty="0" smtClean="0">
                <a:solidFill>
                  <a:schemeClr val="tx2">
                    <a:lumMod val="95000"/>
                    <a:lumOff val="5000"/>
                  </a:schemeClr>
                </a:solidFill>
              </a:rPr>
              <a:t>，表达某一列的信息，这便成了</a:t>
            </a:r>
            <a:r>
              <a:rPr lang="en-US" altLang="zh-CN" dirty="0" smtClean="0">
                <a:solidFill>
                  <a:schemeClr val="tx2">
                    <a:lumMod val="95000"/>
                    <a:lumOff val="5000"/>
                  </a:schemeClr>
                </a:solidFill>
              </a:rPr>
              <a:t>ACL</a:t>
            </a:r>
            <a:r>
              <a:rPr lang="zh-CN" altLang="en-US" dirty="0" smtClean="0">
                <a:solidFill>
                  <a:schemeClr val="tx2">
                    <a:lumMod val="95000"/>
                    <a:lumOff val="5000"/>
                  </a:schemeClr>
                </a:solidFill>
              </a:rPr>
              <a:t>。</a:t>
            </a:r>
            <a:endParaRPr lang="zh-CN" altLang="en-US"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smtClean="0">
                <a:solidFill>
                  <a:schemeClr val="tx2">
                    <a:lumMod val="95000"/>
                    <a:lumOff val="5000"/>
                  </a:schemeClr>
                </a:solidFill>
              </a:rPr>
              <a:t>	</a:t>
            </a:r>
            <a:r>
              <a:rPr lang="zh-CN" altLang="en-US" dirty="0" smtClean="0">
                <a:solidFill>
                  <a:schemeClr val="tx2">
                    <a:lumMod val="95000"/>
                    <a:lumOff val="5000"/>
                  </a:schemeClr>
                </a:solidFill>
              </a:rPr>
              <a:t>每个</a:t>
            </a:r>
            <a:r>
              <a:rPr lang="zh-CN" altLang="en-US" dirty="0">
                <a:solidFill>
                  <a:schemeClr val="tx2">
                    <a:lumMod val="95000"/>
                    <a:lumOff val="5000"/>
                  </a:schemeClr>
                </a:solidFill>
              </a:rPr>
              <a:t>客体都有一张</a:t>
            </a:r>
            <a:r>
              <a:rPr lang="en-US" altLang="zh-CN" dirty="0">
                <a:solidFill>
                  <a:schemeClr val="tx2">
                    <a:lumMod val="95000"/>
                    <a:lumOff val="5000"/>
                  </a:schemeClr>
                </a:solidFill>
              </a:rPr>
              <a:t>ACL,</a:t>
            </a:r>
            <a:r>
              <a:rPr lang="zh-CN" altLang="en-US" dirty="0">
                <a:solidFill>
                  <a:srgbClr val="FF0000"/>
                </a:solidFill>
              </a:rPr>
              <a:t>用于</a:t>
            </a:r>
            <a:r>
              <a:rPr lang="zh-CN" altLang="en-US" dirty="0">
                <a:solidFill>
                  <a:schemeClr val="tx2">
                    <a:lumMod val="95000"/>
                    <a:lumOff val="5000"/>
                  </a:schemeClr>
                </a:solidFill>
              </a:rPr>
              <a:t>说明可以访问该客体的主体及其</a:t>
            </a:r>
            <a:r>
              <a:rPr lang="zh-CN" altLang="en-US" dirty="0" smtClean="0">
                <a:solidFill>
                  <a:schemeClr val="tx2">
                    <a:lumMod val="95000"/>
                    <a:lumOff val="5000"/>
                  </a:schemeClr>
                </a:solidFill>
              </a:rPr>
              <a:t>访问权限</a:t>
            </a:r>
            <a:r>
              <a:rPr lang="zh-CN" altLang="en-US" dirty="0">
                <a:solidFill>
                  <a:schemeClr val="tx2">
                    <a:lumMod val="95000"/>
                    <a:lumOff val="5000"/>
                  </a:schemeClr>
                </a:solidFill>
              </a:rPr>
              <a:t>。</a:t>
            </a:r>
            <a:r>
              <a:rPr lang="zh-CN" altLang="en-US" dirty="0" smtClean="0">
                <a:solidFill>
                  <a:schemeClr val="tx2">
                    <a:lumMod val="95000"/>
                    <a:lumOff val="5000"/>
                  </a:schemeClr>
                </a:solidFill>
              </a:rPr>
              <a:t>对于</a:t>
            </a:r>
            <a:r>
              <a:rPr lang="zh-CN" altLang="en-US" dirty="0">
                <a:solidFill>
                  <a:schemeClr val="tx2">
                    <a:lumMod val="95000"/>
                    <a:lumOff val="5000"/>
                  </a:schemeClr>
                </a:solidFill>
              </a:rPr>
              <a:t>共享客体</a:t>
            </a:r>
            <a:r>
              <a:rPr lang="en-US" altLang="zh-CN" dirty="0">
                <a:solidFill>
                  <a:schemeClr val="tx2">
                    <a:lumMod val="95000"/>
                    <a:lumOff val="5000"/>
                  </a:schemeClr>
                </a:solidFill>
              </a:rPr>
              <a:t>,</a:t>
            </a:r>
            <a:r>
              <a:rPr lang="zh-CN" altLang="en-US" dirty="0">
                <a:solidFill>
                  <a:schemeClr val="tx2">
                    <a:lumMod val="95000"/>
                    <a:lumOff val="5000"/>
                  </a:schemeClr>
                </a:solidFill>
              </a:rPr>
              <a:t>系统只要维护一张</a:t>
            </a:r>
            <a:r>
              <a:rPr lang="en-US" altLang="zh-CN" dirty="0">
                <a:solidFill>
                  <a:schemeClr val="tx2">
                    <a:lumMod val="95000"/>
                    <a:lumOff val="5000"/>
                  </a:schemeClr>
                </a:solidFill>
              </a:rPr>
              <a:t>ACL</a:t>
            </a:r>
            <a:r>
              <a:rPr lang="zh-CN" altLang="en-US" dirty="0">
                <a:solidFill>
                  <a:schemeClr val="tx2">
                    <a:lumMod val="95000"/>
                    <a:lumOff val="5000"/>
                  </a:schemeClr>
                </a:solidFill>
              </a:rPr>
              <a:t>即可</a:t>
            </a:r>
            <a:r>
              <a:rPr lang="zh-CN" altLang="en-US" dirty="0" smtClean="0">
                <a:solidFill>
                  <a:schemeClr val="tx2">
                    <a:lumMod val="95000"/>
                    <a:lumOff val="5000"/>
                  </a:schemeClr>
                </a:solidFill>
              </a:rPr>
              <a:t>。这是目前采用最多的一种访问控制关系实现方式。</a:t>
            </a:r>
            <a:endParaRPr lang="en-US" altLang="zh-CN" dirty="0" smtClean="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en-US" altLang="zh-CN" dirty="0" smtClean="0">
                <a:solidFill>
                  <a:schemeClr val="tx2">
                    <a:lumMod val="95000"/>
                    <a:lumOff val="5000"/>
                  </a:schemeClr>
                </a:solidFill>
              </a:rPr>
              <a:t>	</a:t>
            </a:r>
            <a:r>
              <a:rPr lang="zh-CN" altLang="en-US" dirty="0" smtClean="0">
                <a:solidFill>
                  <a:schemeClr val="tx2">
                    <a:lumMod val="95000"/>
                    <a:lumOff val="5000"/>
                  </a:schemeClr>
                </a:solidFill>
              </a:rPr>
              <a:t>访问</a:t>
            </a:r>
            <a:r>
              <a:rPr lang="zh-CN" altLang="en-US" dirty="0">
                <a:solidFill>
                  <a:schemeClr val="tx2">
                    <a:lumMod val="95000"/>
                    <a:lumOff val="5000"/>
                  </a:schemeClr>
                </a:solidFill>
              </a:rPr>
              <a:t>控制列表通常设置在路由器中</a:t>
            </a:r>
            <a:r>
              <a:rPr lang="en-US" altLang="zh-CN" dirty="0">
                <a:solidFill>
                  <a:schemeClr val="tx2">
                    <a:lumMod val="95000"/>
                    <a:lumOff val="5000"/>
                  </a:schemeClr>
                </a:solidFill>
              </a:rPr>
              <a:t>,</a:t>
            </a:r>
            <a:r>
              <a:rPr lang="zh-CN" altLang="en-US" dirty="0">
                <a:solidFill>
                  <a:schemeClr val="tx2">
                    <a:lumMod val="95000"/>
                    <a:lumOff val="5000"/>
                  </a:schemeClr>
                </a:solidFill>
              </a:rPr>
              <a:t>用来告诉路由器哪些数据包可以接收、哪些数据包需要拒绝。至于数据包是被接收还是拒绝</a:t>
            </a:r>
            <a:r>
              <a:rPr lang="en-US" altLang="zh-CN" dirty="0">
                <a:solidFill>
                  <a:schemeClr val="tx2">
                    <a:lumMod val="95000"/>
                    <a:lumOff val="5000"/>
                  </a:schemeClr>
                </a:solidFill>
              </a:rPr>
              <a:t>,</a:t>
            </a:r>
            <a:r>
              <a:rPr lang="zh-CN" altLang="en-US" dirty="0">
                <a:solidFill>
                  <a:schemeClr val="tx2">
                    <a:lumMod val="95000"/>
                    <a:lumOff val="5000"/>
                  </a:schemeClr>
                </a:solidFill>
              </a:rPr>
              <a:t>可以由类似于源地址、目的地址、端口号等的特定指示条件来决定。</a:t>
            </a:r>
            <a:endParaRPr lang="en-US" altLang="zh-CN"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zh-CN" altLang="en-US" dirty="0">
                <a:solidFill>
                  <a:srgbClr val="C00000"/>
                </a:solidFill>
              </a:rPr>
              <a:t>访问控制列表</a:t>
            </a:r>
            <a:r>
              <a:rPr lang="zh-CN" altLang="en-US" dirty="0">
                <a:solidFill>
                  <a:schemeClr val="tx2">
                    <a:lumMod val="95000"/>
                    <a:lumOff val="5000"/>
                  </a:schemeClr>
                </a:solidFill>
              </a:rPr>
              <a:t>具有许多</a:t>
            </a:r>
            <a:r>
              <a:rPr lang="zh-CN" altLang="en-US" dirty="0">
                <a:solidFill>
                  <a:srgbClr val="FF0000"/>
                </a:solidFill>
              </a:rPr>
              <a:t>作用</a:t>
            </a:r>
            <a:r>
              <a:rPr lang="zh-CN" altLang="en-US" dirty="0">
                <a:solidFill>
                  <a:schemeClr val="tx2">
                    <a:lumMod val="95000"/>
                    <a:lumOff val="5000"/>
                  </a:schemeClr>
                </a:solidFill>
              </a:rPr>
              <a:t>，如限制网络流量、提高网络性能；通信流量的控制，例如</a:t>
            </a:r>
            <a:r>
              <a:rPr lang="en-US" altLang="zh-CN" dirty="0">
                <a:solidFill>
                  <a:schemeClr val="tx2">
                    <a:lumMod val="95000"/>
                    <a:lumOff val="5000"/>
                  </a:schemeClr>
                </a:solidFill>
              </a:rPr>
              <a:t>ACL</a:t>
            </a:r>
            <a:r>
              <a:rPr lang="zh-CN" altLang="en-US" dirty="0">
                <a:solidFill>
                  <a:schemeClr val="tx2">
                    <a:lumMod val="95000"/>
                    <a:lumOff val="5000"/>
                  </a:schemeClr>
                </a:solidFill>
              </a:rPr>
              <a:t>可以限定或简化路由更新信息的长度，从而限制通过路由器某一网段的通信流量；提供网络安全访问的基本手段；在路由器端口处决定哪种类型的通信流量被转发或被阻塞，例如，用户可以允许</a:t>
            </a:r>
            <a:r>
              <a:rPr lang="en-US" altLang="zh-CN" dirty="0">
                <a:solidFill>
                  <a:schemeClr val="tx2">
                    <a:lumMod val="95000"/>
                    <a:lumOff val="5000"/>
                  </a:schemeClr>
                </a:solidFill>
              </a:rPr>
              <a:t>E-mail</a:t>
            </a:r>
            <a:r>
              <a:rPr lang="zh-CN" altLang="en-US" dirty="0">
                <a:solidFill>
                  <a:schemeClr val="tx2">
                    <a:lumMod val="95000"/>
                    <a:lumOff val="5000"/>
                  </a:schemeClr>
                </a:solidFill>
              </a:rPr>
              <a:t>通信流量被路由，拒绝所有的 </a:t>
            </a:r>
            <a:r>
              <a:rPr lang="en-US" altLang="zh-CN" dirty="0">
                <a:solidFill>
                  <a:schemeClr val="tx2">
                    <a:lumMod val="95000"/>
                    <a:lumOff val="5000"/>
                  </a:schemeClr>
                </a:solidFill>
              </a:rPr>
              <a:t>Telnet</a:t>
            </a:r>
            <a:r>
              <a:rPr lang="zh-CN" altLang="en-US" dirty="0">
                <a:solidFill>
                  <a:schemeClr val="tx2">
                    <a:lumMod val="95000"/>
                    <a:lumOff val="5000"/>
                  </a:schemeClr>
                </a:solidFill>
              </a:rPr>
              <a:t>通信流量等。</a:t>
            </a:r>
            <a:endParaRPr lang="zh-CN" altLang="en-US" dirty="0">
              <a:solidFill>
                <a:schemeClr val="tx2">
                  <a:lumMod val="95000"/>
                  <a:lumOff val="5000"/>
                </a:schemeClr>
              </a:solidFill>
            </a:endParaRPr>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https://blog.csdn.net/bjgaocp/article/details/114254523</a:t>
            </a: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6083"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133350" y="993140"/>
            <a:ext cx="8901430" cy="621220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6263" y="1822450"/>
            <a:ext cx="7991475" cy="2547938"/>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eaLnBrk="1" hangingPunct="1">
              <a:lnSpc>
                <a:spcPct val="80000"/>
              </a:lnSpc>
              <a:buFont typeface="Wingdings" panose="05000000000000000000" pitchFamily="2" charset="2"/>
              <a:buNone/>
              <a:defRPr/>
            </a:pPr>
            <a:r>
              <a:rPr lang="zh-CN" altLang="en-US" dirty="0">
                <a:solidFill>
                  <a:schemeClr val="tx2">
                    <a:lumMod val="95000"/>
                    <a:lumOff val="5000"/>
                  </a:schemeClr>
                </a:solidFill>
              </a:rPr>
              <a:t>   （</a:t>
            </a:r>
            <a:r>
              <a:rPr lang="en-US" altLang="zh-CN" dirty="0">
                <a:solidFill>
                  <a:schemeClr val="tx2">
                    <a:lumMod val="95000"/>
                    <a:lumOff val="5000"/>
                  </a:schemeClr>
                </a:solidFill>
              </a:rPr>
              <a:t>3</a:t>
            </a:r>
            <a:r>
              <a:rPr lang="zh-CN" altLang="en-US" dirty="0">
                <a:solidFill>
                  <a:schemeClr val="tx2">
                    <a:lumMod val="95000"/>
                    <a:lumOff val="5000"/>
                  </a:schemeClr>
                </a:solidFill>
              </a:rPr>
              <a:t>）能力表（</a:t>
            </a:r>
            <a:r>
              <a:rPr lang="en-US" altLang="zh-CN" dirty="0">
                <a:solidFill>
                  <a:schemeClr val="tx2">
                    <a:lumMod val="95000"/>
                    <a:lumOff val="5000"/>
                  </a:schemeClr>
                </a:solidFill>
              </a:rPr>
              <a:t>Capability List</a:t>
            </a:r>
            <a:r>
              <a:rPr lang="zh-CN" altLang="en-US" dirty="0">
                <a:solidFill>
                  <a:schemeClr val="tx2">
                    <a:lumMod val="95000"/>
                    <a:lumOff val="5000"/>
                  </a:schemeClr>
                </a:solidFill>
              </a:rPr>
              <a:t>，</a:t>
            </a:r>
            <a:r>
              <a:rPr lang="en-US" altLang="zh-CN" dirty="0">
                <a:solidFill>
                  <a:schemeClr val="tx2">
                    <a:lumMod val="95000"/>
                    <a:lumOff val="5000"/>
                  </a:schemeClr>
                </a:solidFill>
              </a:rPr>
              <a:t>CL</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0">
              <a:buNone/>
              <a:defRPr/>
            </a:pPr>
            <a:r>
              <a:rPr lang="en-US" altLang="zh-CN" dirty="0" smtClean="0">
                <a:solidFill>
                  <a:srgbClr val="FF0000"/>
                </a:solidFill>
              </a:rPr>
              <a:t>	</a:t>
            </a:r>
            <a:r>
              <a:rPr lang="zh-CN" altLang="en-US" dirty="0" smtClean="0">
                <a:solidFill>
                  <a:srgbClr val="FF0000"/>
                </a:solidFill>
              </a:rPr>
              <a:t>从主体</a:t>
            </a:r>
            <a:r>
              <a:rPr lang="zh-CN" altLang="en-US" dirty="0">
                <a:solidFill>
                  <a:srgbClr val="FF0000"/>
                </a:solidFill>
              </a:rPr>
              <a:t>（列）出发</a:t>
            </a:r>
            <a:r>
              <a:rPr lang="zh-CN" altLang="en-US" dirty="0">
                <a:solidFill>
                  <a:schemeClr val="tx2">
                    <a:lumMod val="95000"/>
                    <a:lumOff val="5000"/>
                  </a:schemeClr>
                </a:solidFill>
              </a:rPr>
              <a:t>，</a:t>
            </a:r>
            <a:r>
              <a:rPr lang="zh-CN" altLang="en-US" dirty="0" smtClean="0">
                <a:solidFill>
                  <a:schemeClr val="tx2">
                    <a:lumMod val="95000"/>
                    <a:lumOff val="5000"/>
                  </a:schemeClr>
                </a:solidFill>
              </a:rPr>
              <a:t>表达访问控制矩阵某一行的</a:t>
            </a:r>
            <a:r>
              <a:rPr lang="zh-CN" altLang="en-US" dirty="0">
                <a:solidFill>
                  <a:schemeClr val="tx2">
                    <a:lumMod val="95000"/>
                    <a:lumOff val="5000"/>
                  </a:schemeClr>
                </a:solidFill>
              </a:rPr>
              <a:t>信息，</a:t>
            </a:r>
            <a:r>
              <a:rPr lang="zh-CN" altLang="en-US" dirty="0" smtClean="0">
                <a:solidFill>
                  <a:schemeClr val="tx2">
                    <a:lumMod val="95000"/>
                    <a:lumOff val="5000"/>
                  </a:schemeClr>
                </a:solidFill>
              </a:rPr>
              <a:t>这就是访问能力表。</a:t>
            </a:r>
            <a:endParaRPr lang="zh-CN" altLang="en-US" dirty="0">
              <a:solidFill>
                <a:schemeClr val="tx2">
                  <a:lumMod val="95000"/>
                  <a:lumOff val="5000"/>
                </a:schemeClr>
              </a:solidFill>
            </a:endParaRPr>
          </a:p>
          <a:p>
            <a:pPr marL="0" indent="0" eaLnBrk="1" hangingPunct="1">
              <a:buFont typeface="Wingdings" panose="05000000000000000000" pitchFamily="2" charset="2"/>
              <a:buNone/>
              <a:defRPr/>
            </a:pPr>
            <a:r>
              <a:rPr lang="zh-CN" altLang="en-US" dirty="0" smtClean="0">
                <a:solidFill>
                  <a:schemeClr val="tx2">
                    <a:lumMod val="95000"/>
                    <a:lumOff val="5000"/>
                  </a:schemeClr>
                </a:solidFill>
              </a:rPr>
              <a:t>    </a:t>
            </a:r>
            <a:endParaRPr lang="en-US" altLang="zh-CN" dirty="0" smtClean="0">
              <a:solidFill>
                <a:schemeClr val="tx2">
                  <a:lumMod val="95000"/>
                  <a:lumOff val="5000"/>
                </a:schemeClr>
              </a:solidFill>
            </a:endParaRPr>
          </a:p>
          <a:p>
            <a:pPr marL="0" indent="0" eaLnBrk="1" hangingPunct="1">
              <a:buFont typeface="Wingdings" panose="05000000000000000000" pitchFamily="2" charset="2"/>
              <a:buNone/>
              <a:defRPr/>
            </a:pP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3" name="图片 2"/>
          <p:cNvPicPr>
            <a:picLocks noChangeAspect="1"/>
          </p:cNvPicPr>
          <p:nvPr/>
        </p:nvPicPr>
        <p:blipFill>
          <a:blip r:embed="rId1"/>
          <a:stretch>
            <a:fillRect/>
          </a:stretch>
        </p:blipFill>
        <p:spPr>
          <a:xfrm>
            <a:off x="2483768" y="3429000"/>
            <a:ext cx="3908400" cy="28231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6263" y="1822450"/>
            <a:ext cx="7991475" cy="2547938"/>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访问控制的实现方法</a:t>
            </a:r>
            <a:r>
              <a:rPr lang="zh-CN" altLang="en-US" sz="2000" dirty="0"/>
              <a:t>    </a:t>
            </a:r>
            <a:endParaRPr lang="en-US" altLang="zh-CN" sz="2000" dirty="0"/>
          </a:p>
          <a:p>
            <a:pPr marL="0" indent="0">
              <a:lnSpc>
                <a:spcPct val="80000"/>
              </a:lnSpc>
              <a:buNone/>
              <a:defRPr/>
            </a:pPr>
            <a:r>
              <a:rPr lang="zh-CN" altLang="en-US" dirty="0">
                <a:solidFill>
                  <a:schemeClr val="tx2">
                    <a:lumMod val="95000"/>
                    <a:lumOff val="5000"/>
                  </a:schemeClr>
                </a:solidFill>
              </a:rPr>
              <a:t>   </a:t>
            </a:r>
            <a:r>
              <a:rPr lang="zh-CN" altLang="en-US" dirty="0" smtClean="0">
                <a:solidFill>
                  <a:schemeClr val="tx2">
                    <a:lumMod val="95000"/>
                    <a:lumOff val="5000"/>
                  </a:schemeClr>
                </a:solidFill>
              </a:rPr>
              <a:t>（</a:t>
            </a:r>
            <a:r>
              <a:rPr lang="en-US" altLang="zh-CN" dirty="0">
                <a:solidFill>
                  <a:schemeClr val="tx2">
                    <a:lumMod val="95000"/>
                    <a:lumOff val="5000"/>
                  </a:schemeClr>
                </a:solidFill>
              </a:rPr>
              <a:t>4</a:t>
            </a:r>
            <a:r>
              <a:rPr lang="zh-CN" altLang="en-US" dirty="0" smtClean="0">
                <a:solidFill>
                  <a:schemeClr val="tx2">
                    <a:lumMod val="95000"/>
                    <a:lumOff val="5000"/>
                  </a:schemeClr>
                </a:solidFill>
              </a:rPr>
              <a:t>）授权关系表（</a:t>
            </a:r>
            <a:r>
              <a:rPr lang="en-US" altLang="zh-CN" dirty="0" smtClean="0">
                <a:solidFill>
                  <a:schemeClr val="tx2">
                    <a:lumMod val="95000"/>
                    <a:lumOff val="5000"/>
                  </a:schemeClr>
                </a:solidFill>
              </a:rPr>
              <a:t>Authorization Relations List</a:t>
            </a:r>
            <a:r>
              <a:rPr lang="zh-CN" altLang="en-US" dirty="0" smtClean="0">
                <a:solidFill>
                  <a:schemeClr val="tx2">
                    <a:lumMod val="95000"/>
                    <a:lumOff val="5000"/>
                  </a:schemeClr>
                </a:solidFill>
              </a:rPr>
              <a:t>，</a:t>
            </a:r>
            <a:r>
              <a:rPr lang="en-US" altLang="zh-CN" dirty="0" smtClean="0">
                <a:solidFill>
                  <a:schemeClr val="tx2">
                    <a:lumMod val="95000"/>
                    <a:lumOff val="5000"/>
                  </a:schemeClr>
                </a:solidFill>
              </a:rPr>
              <a:t>ACARL</a:t>
            </a:r>
            <a:r>
              <a:rPr lang="zh-CN" altLang="en-US" dirty="0">
                <a:solidFill>
                  <a:schemeClr val="tx2">
                    <a:lumMod val="95000"/>
                    <a:lumOff val="5000"/>
                  </a:schemeClr>
                </a:solidFill>
              </a:rPr>
              <a:t>）</a:t>
            </a:r>
            <a:endParaRPr lang="zh-CN" altLang="en-US" dirty="0">
              <a:solidFill>
                <a:schemeClr val="tx2">
                  <a:lumMod val="95000"/>
                  <a:lumOff val="5000"/>
                </a:schemeClr>
              </a:solidFill>
            </a:endParaRPr>
          </a:p>
          <a:p>
            <a:pPr marL="0" indent="0">
              <a:buNone/>
              <a:defRPr/>
            </a:pPr>
            <a:r>
              <a:rPr lang="en-US" altLang="zh-CN" dirty="0" smtClean="0">
                <a:solidFill>
                  <a:srgbClr val="FF0000"/>
                </a:solidFill>
              </a:rPr>
              <a:t>	</a:t>
            </a:r>
            <a:r>
              <a:rPr lang="zh-CN" altLang="en-US" dirty="0"/>
              <a:t>每一行表示了主体和客体的一个权限关系</a:t>
            </a:r>
            <a:endParaRPr lang="en-US" altLang="zh-CN" dirty="0" smtClean="0"/>
          </a:p>
          <a:p>
            <a:pPr marL="0" indent="0" eaLnBrk="1" hangingPunct="1">
              <a:buFont typeface="Wingdings" panose="05000000000000000000" pitchFamily="2" charset="2"/>
              <a:buNone/>
              <a:defRPr/>
            </a:pPr>
            <a:endParaRPr lang="zh-CN" altLang="en-US" dirty="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r>
              <a:rPr lang="en-US" altLang="zh-CN" sz="2400" b="1" dirty="0">
                <a:solidFill>
                  <a:srgbClr val="FF0000"/>
                </a:solidFill>
                <a:latin typeface="Arial" panose="020B0604020202020204" pitchFamily="34" charset="0"/>
              </a:rPr>
              <a:t>      </a:t>
            </a: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1621585" y="2924868"/>
            <a:ext cx="2880320" cy="3856981"/>
          </a:xfrm>
          <a:prstGeom prst="rect">
            <a:avLst/>
          </a:prstGeom>
        </p:spPr>
      </p:pic>
      <p:sp>
        <p:nvSpPr>
          <p:cNvPr id="4" name="文本框 3"/>
          <p:cNvSpPr txBox="1"/>
          <p:nvPr/>
        </p:nvSpPr>
        <p:spPr>
          <a:xfrm>
            <a:off x="5076056" y="3240276"/>
            <a:ext cx="1944216" cy="2308324"/>
          </a:xfrm>
          <a:prstGeom prst="rect">
            <a:avLst/>
          </a:prstGeom>
          <a:noFill/>
        </p:spPr>
        <p:txBody>
          <a:bodyPr wrap="square" rtlCol="0">
            <a:spAutoFit/>
          </a:bodyPr>
          <a:lstStyle/>
          <a:p>
            <a:r>
              <a:rPr lang="zh-CN" altLang="en-US" b="1" dirty="0" smtClean="0">
                <a:solidFill>
                  <a:schemeClr val="tx2"/>
                </a:solidFill>
              </a:rPr>
              <a:t>按主体排序，拥有了访问能力表的优势；按客体排序，拥有了访问控制表的优势。</a:t>
            </a:r>
            <a:endParaRPr lang="en-US" altLang="zh-CN" b="1" dirty="0" smtClean="0">
              <a:solidFill>
                <a:schemeClr val="tx2"/>
              </a:solidFill>
            </a:endParaRPr>
          </a:p>
          <a:p>
            <a:endParaRPr lang="en-US" altLang="zh-CN" b="1" dirty="0" smtClean="0">
              <a:solidFill>
                <a:schemeClr val="tx2"/>
              </a:solidFill>
            </a:endParaRPr>
          </a:p>
          <a:p>
            <a:r>
              <a:rPr lang="zh-CN" altLang="en-US" b="1" dirty="0" smtClean="0">
                <a:solidFill>
                  <a:schemeClr val="tx2"/>
                </a:solidFill>
              </a:rPr>
              <a:t>适合采用关系型数据库方式实现。</a:t>
            </a:r>
            <a:endParaRPr lang="zh-CN" altLang="en-US" b="1" dirty="0">
              <a:solidFill>
                <a:schemeClr val="tx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46893" y="1741488"/>
            <a:ext cx="7991475" cy="5188793"/>
          </a:xfrm>
        </p:spPr>
        <p:txBody>
          <a:bodyPr/>
          <a:lstStyle/>
          <a:p>
            <a:pPr marL="0" indent="0" eaLnBrk="1" hangingPunct="1">
              <a:lnSpc>
                <a:spcPct val="80000"/>
              </a:lnSpc>
              <a:buFont typeface="Wingdings" panose="05000000000000000000" pitchFamily="2" charset="2"/>
              <a:buNone/>
              <a:defRPr/>
            </a:pPr>
            <a:r>
              <a:rPr lang="en-US" altLang="zh-CN" sz="2400" dirty="0">
                <a:solidFill>
                  <a:srgbClr val="CC0000"/>
                </a:solidFill>
              </a:rPr>
              <a:t>    1. </a:t>
            </a:r>
            <a:r>
              <a:rPr lang="zh-CN" altLang="en-US" sz="2400" dirty="0">
                <a:solidFill>
                  <a:srgbClr val="CC0000"/>
                </a:solidFill>
              </a:rPr>
              <a:t>访问控制的实现</a:t>
            </a:r>
            <a:r>
              <a:rPr lang="zh-CN" altLang="en-US" sz="2400" dirty="0" smtClean="0">
                <a:solidFill>
                  <a:srgbClr val="CC0000"/>
                </a:solidFill>
              </a:rPr>
              <a:t>方法（总结对比）</a:t>
            </a:r>
            <a:r>
              <a:rPr lang="zh-CN" altLang="en-US" sz="2000" dirty="0" smtClean="0"/>
              <a:t>    </a:t>
            </a:r>
            <a:endParaRPr lang="en-US" altLang="zh-CN" sz="2000" dirty="0"/>
          </a:p>
          <a:p>
            <a:pPr marL="0" indent="0">
              <a:lnSpc>
                <a:spcPct val="80000"/>
              </a:lnSpc>
              <a:buNone/>
              <a:defRPr/>
            </a:pPr>
            <a:r>
              <a:rPr lang="zh-CN" altLang="en-US" sz="2000" dirty="0">
                <a:solidFill>
                  <a:srgbClr val="FF0000"/>
                </a:solidFill>
              </a:rPr>
              <a:t>实现方法：</a:t>
            </a:r>
            <a:r>
              <a:rPr lang="zh-CN" altLang="en-US" sz="2000" dirty="0">
                <a:solidFill>
                  <a:schemeClr val="tx2">
                    <a:lumMod val="95000"/>
                    <a:lumOff val="5000"/>
                  </a:schemeClr>
                </a:solidFill>
              </a:rPr>
              <a:t>访问控制矩阵</a:t>
            </a:r>
            <a:r>
              <a:rPr lang="en-US" altLang="zh-CN" sz="2000" dirty="0">
                <a:solidFill>
                  <a:schemeClr val="tx2">
                    <a:lumMod val="95000"/>
                    <a:lumOff val="5000"/>
                  </a:schemeClr>
                </a:solidFill>
              </a:rPr>
              <a:t>ACM</a:t>
            </a:r>
            <a:r>
              <a:rPr lang="zh-CN" altLang="en-US" sz="2000" dirty="0">
                <a:solidFill>
                  <a:schemeClr val="tx2">
                    <a:lumMod val="95000"/>
                    <a:lumOff val="5000"/>
                  </a:schemeClr>
                </a:solidFill>
              </a:rPr>
              <a:t>、访问能力表、访问控制表和授权关系</a:t>
            </a:r>
            <a:r>
              <a:rPr lang="zh-CN" altLang="en-US" sz="2000" dirty="0" smtClean="0">
                <a:solidFill>
                  <a:schemeClr val="tx2">
                    <a:lumMod val="95000"/>
                    <a:lumOff val="5000"/>
                  </a:schemeClr>
                </a:solidFill>
              </a:rPr>
              <a:t>表</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控制矩阵</a:t>
            </a:r>
            <a:r>
              <a:rPr lang="en-US" altLang="zh-CN" sz="2000" dirty="0">
                <a:solidFill>
                  <a:srgbClr val="FF0000"/>
                </a:solidFill>
              </a:rPr>
              <a:t>ACM</a:t>
            </a:r>
            <a:r>
              <a:rPr lang="zh-CN" altLang="en-US" sz="2000" dirty="0">
                <a:solidFill>
                  <a:schemeClr val="tx2">
                    <a:lumMod val="95000"/>
                    <a:lumOff val="5000"/>
                  </a:schemeClr>
                </a:solidFill>
              </a:rPr>
              <a:t>：行表示客体，列表示主体，行和列的交叉点表示某个主体对某个客体的访问</a:t>
            </a:r>
            <a:r>
              <a:rPr lang="zh-CN" altLang="en-US" sz="2000" dirty="0" smtClean="0">
                <a:solidFill>
                  <a:schemeClr val="tx2">
                    <a:lumMod val="95000"/>
                    <a:lumOff val="5000"/>
                  </a:schemeClr>
                </a:solidFill>
              </a:rPr>
              <a:t>权限</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能力表</a:t>
            </a:r>
            <a:r>
              <a:rPr lang="en-US" altLang="zh-CN" sz="2000" dirty="0">
                <a:solidFill>
                  <a:srgbClr val="FF0000"/>
                </a:solidFill>
              </a:rPr>
              <a:t>ACCL</a:t>
            </a:r>
            <a:r>
              <a:rPr lang="zh-CN" altLang="en-US" sz="2000" dirty="0">
                <a:solidFill>
                  <a:schemeClr val="tx2">
                    <a:lumMod val="95000"/>
                    <a:lumOff val="5000"/>
                  </a:schemeClr>
                </a:solidFill>
              </a:rPr>
              <a:t>：</a:t>
            </a:r>
            <a:r>
              <a:rPr lang="zh-CN" altLang="en-US" sz="2000" dirty="0" smtClean="0">
                <a:solidFill>
                  <a:schemeClr val="tx2">
                    <a:lumMod val="95000"/>
                    <a:lumOff val="5000"/>
                  </a:schemeClr>
                </a:solidFill>
              </a:rPr>
              <a:t>从主体</a:t>
            </a:r>
            <a:r>
              <a:rPr lang="zh-CN" altLang="en-US" sz="2000" dirty="0">
                <a:solidFill>
                  <a:schemeClr val="tx2">
                    <a:lumMod val="95000"/>
                    <a:lumOff val="5000"/>
                  </a:schemeClr>
                </a:solidFill>
              </a:rPr>
              <a:t>出发，用链表形式表达矩阵一行的</a:t>
            </a:r>
            <a:r>
              <a:rPr lang="zh-CN" altLang="en-US" sz="2000" dirty="0" smtClean="0">
                <a:solidFill>
                  <a:schemeClr val="tx2">
                    <a:lumMod val="95000"/>
                    <a:lumOff val="5000"/>
                  </a:schemeClr>
                </a:solidFill>
              </a:rPr>
              <a:t>信</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chemeClr val="tx2">
                    <a:lumMod val="95000"/>
                    <a:lumOff val="5000"/>
                  </a:schemeClr>
                </a:solidFill>
              </a:rPr>
              <a:t>息。</a:t>
            </a:r>
            <a:endParaRPr lang="en-US" altLang="zh-CN" sz="2000" dirty="0" smtClean="0">
              <a:solidFill>
                <a:schemeClr val="tx2">
                  <a:lumMod val="95000"/>
                  <a:lumOff val="5000"/>
                </a:schemeClr>
              </a:solidFill>
            </a:endParaRPr>
          </a:p>
          <a:p>
            <a:pPr marL="0" indent="0">
              <a:lnSpc>
                <a:spcPct val="80000"/>
              </a:lnSpc>
              <a:buNone/>
              <a:defRPr/>
            </a:pPr>
            <a:r>
              <a:rPr lang="zh-CN" altLang="en-US" sz="2000" dirty="0" smtClean="0">
                <a:solidFill>
                  <a:srgbClr val="FF0000"/>
                </a:solidFill>
              </a:rPr>
              <a:t>访问</a:t>
            </a:r>
            <a:r>
              <a:rPr lang="zh-CN" altLang="en-US" sz="2000" dirty="0">
                <a:solidFill>
                  <a:srgbClr val="FF0000"/>
                </a:solidFill>
              </a:rPr>
              <a:t>控制表</a:t>
            </a:r>
            <a:r>
              <a:rPr lang="en-US" altLang="zh-CN" sz="2000" dirty="0">
                <a:solidFill>
                  <a:srgbClr val="FF0000"/>
                </a:solidFill>
              </a:rPr>
              <a:t>ACL</a:t>
            </a:r>
            <a:r>
              <a:rPr lang="zh-CN" altLang="en-US" sz="2000" dirty="0">
                <a:solidFill>
                  <a:schemeClr val="tx2">
                    <a:lumMod val="95000"/>
                    <a:lumOff val="5000"/>
                  </a:schemeClr>
                </a:solidFill>
              </a:rPr>
              <a:t>：从客体出发，用链表形式表达某一列的信息。</a:t>
            </a:r>
            <a:r>
              <a:rPr lang="zh-CN" altLang="en-US" sz="2000" dirty="0">
                <a:solidFill>
                  <a:srgbClr val="FF0000"/>
                </a:solidFill>
              </a:rPr>
              <a:t>授权关系表</a:t>
            </a:r>
            <a:r>
              <a:rPr lang="en-US" altLang="zh-CN" sz="2000" dirty="0">
                <a:solidFill>
                  <a:srgbClr val="FF0000"/>
                </a:solidFill>
              </a:rPr>
              <a:t>ACARL</a:t>
            </a:r>
            <a:r>
              <a:rPr lang="zh-CN" altLang="en-US" sz="2000" dirty="0">
                <a:solidFill>
                  <a:schemeClr val="tx2">
                    <a:lumMod val="95000"/>
                    <a:lumOff val="5000"/>
                  </a:schemeClr>
                </a:solidFill>
              </a:rPr>
              <a:t>：每一行表示了主体和客体的一个权限</a:t>
            </a:r>
            <a:r>
              <a:rPr lang="zh-CN" altLang="en-US" sz="2000" dirty="0" smtClean="0">
                <a:solidFill>
                  <a:schemeClr val="tx2">
                    <a:lumMod val="95000"/>
                    <a:lumOff val="5000"/>
                  </a:schemeClr>
                </a:solidFill>
              </a:rPr>
              <a:t>关系</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ACM</a:t>
            </a:r>
            <a:r>
              <a:rPr lang="zh-CN" altLang="en-US" sz="2000" dirty="0">
                <a:solidFill>
                  <a:schemeClr val="tx2">
                    <a:lumMod val="95000"/>
                    <a:lumOff val="5000"/>
                  </a:schemeClr>
                </a:solidFill>
              </a:rPr>
              <a:t>：实现简单，便于集中控制   </a:t>
            </a:r>
            <a:r>
              <a:rPr lang="zh-CN" altLang="en-US" sz="2000" dirty="0" smtClean="0">
                <a:solidFill>
                  <a:schemeClr val="tx2">
                    <a:lumMod val="95000"/>
                    <a:lumOff val="5000"/>
                  </a:schemeClr>
                </a:solidFill>
              </a:rPr>
              <a:t>用户</a:t>
            </a:r>
            <a:r>
              <a:rPr lang="zh-CN" altLang="en-US" sz="2000" dirty="0">
                <a:solidFill>
                  <a:schemeClr val="tx2">
                    <a:lumMod val="95000"/>
                    <a:lumOff val="5000"/>
                  </a:schemeClr>
                </a:solidFill>
              </a:rPr>
              <a:t>资源数量多时，执行效率低 ，存储空间严重</a:t>
            </a:r>
            <a:r>
              <a:rPr lang="zh-CN" altLang="en-US" sz="2000" dirty="0" smtClean="0">
                <a:solidFill>
                  <a:schemeClr val="tx2">
                    <a:lumMod val="95000"/>
                    <a:lumOff val="5000"/>
                  </a:schemeClr>
                </a:solidFill>
              </a:rPr>
              <a:t>浪费    极</a:t>
            </a:r>
            <a:r>
              <a:rPr lang="zh-CN" altLang="en-US" sz="2000" dirty="0">
                <a:solidFill>
                  <a:schemeClr val="tx2">
                    <a:lumMod val="95000"/>
                    <a:lumOff val="5000"/>
                  </a:schemeClr>
                </a:solidFill>
              </a:rPr>
              <a:t>少</a:t>
            </a:r>
            <a:r>
              <a:rPr lang="zh-CN" altLang="en-US" sz="2000" dirty="0" smtClean="0">
                <a:solidFill>
                  <a:schemeClr val="tx2">
                    <a:lumMod val="95000"/>
                    <a:lumOff val="5000"/>
                  </a:schemeClr>
                </a:solidFill>
              </a:rPr>
              <a:t>采用</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ACCL</a:t>
            </a:r>
            <a:r>
              <a:rPr lang="zh-CN" altLang="en-US" sz="2000" dirty="0">
                <a:solidFill>
                  <a:schemeClr val="tx2">
                    <a:lumMod val="95000"/>
                    <a:lumOff val="5000"/>
                  </a:schemeClr>
                </a:solidFill>
              </a:rPr>
              <a:t>：用户间权限传递</a:t>
            </a:r>
            <a:r>
              <a:rPr lang="zh-CN" altLang="en-US" sz="2000" dirty="0" smtClean="0">
                <a:solidFill>
                  <a:schemeClr val="tx2">
                    <a:lumMod val="95000"/>
                    <a:lumOff val="5000"/>
                  </a:schemeClr>
                </a:solidFill>
              </a:rPr>
              <a:t>简单   </a:t>
            </a:r>
            <a:r>
              <a:rPr lang="zh-CN" altLang="en-US" sz="2000" dirty="0">
                <a:solidFill>
                  <a:schemeClr val="tx2">
                    <a:lumMod val="95000"/>
                    <a:lumOff val="5000"/>
                  </a:schemeClr>
                </a:solidFill>
              </a:rPr>
              <a:t>权限回收困难，用户生成一个新的客体并对其授权、或删除一个客体时都比较</a:t>
            </a:r>
            <a:r>
              <a:rPr lang="zh-CN" altLang="en-US" sz="2000" dirty="0" smtClean="0">
                <a:solidFill>
                  <a:schemeClr val="tx2">
                    <a:lumMod val="95000"/>
                    <a:lumOff val="5000"/>
                  </a:schemeClr>
                </a:solidFill>
              </a:rPr>
              <a:t>复杂  </a:t>
            </a:r>
            <a:r>
              <a:rPr lang="zh-CN" altLang="en-US" sz="2000" dirty="0">
                <a:solidFill>
                  <a:schemeClr val="tx2">
                    <a:lumMod val="95000"/>
                    <a:lumOff val="5000"/>
                  </a:schemeClr>
                </a:solidFill>
              </a:rPr>
              <a:t>用户数量大，动态性高的分布式</a:t>
            </a:r>
            <a:r>
              <a:rPr lang="zh-CN" altLang="en-US" sz="2000" dirty="0" smtClean="0">
                <a:solidFill>
                  <a:schemeClr val="tx2">
                    <a:lumMod val="95000"/>
                    <a:lumOff val="5000"/>
                  </a:schemeClr>
                </a:solidFill>
              </a:rPr>
              <a:t>系统</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ACL</a:t>
            </a:r>
            <a:r>
              <a:rPr lang="zh-CN" altLang="en-US" sz="2000" dirty="0">
                <a:solidFill>
                  <a:schemeClr val="tx2">
                    <a:lumMod val="95000"/>
                    <a:lumOff val="5000"/>
                  </a:schemeClr>
                </a:solidFill>
              </a:rPr>
              <a:t>：权限回收</a:t>
            </a:r>
            <a:r>
              <a:rPr lang="zh-CN" altLang="en-US" sz="2000" dirty="0" smtClean="0">
                <a:solidFill>
                  <a:schemeClr val="tx2">
                    <a:lumMod val="95000"/>
                    <a:lumOff val="5000"/>
                  </a:schemeClr>
                </a:solidFill>
              </a:rPr>
              <a:t>容易  </a:t>
            </a:r>
            <a:r>
              <a:rPr lang="zh-CN" altLang="en-US" sz="2000" dirty="0">
                <a:solidFill>
                  <a:schemeClr val="tx2">
                    <a:lumMod val="95000"/>
                    <a:lumOff val="5000"/>
                  </a:schemeClr>
                </a:solidFill>
              </a:rPr>
              <a:t>权限传递困难，如访问控制列表太大或者经常改变，维护访问控制列表会成为一个</a:t>
            </a:r>
            <a:r>
              <a:rPr lang="zh-CN" altLang="en-US" sz="2000" dirty="0" smtClean="0">
                <a:solidFill>
                  <a:schemeClr val="tx2">
                    <a:lumMod val="95000"/>
                    <a:lumOff val="5000"/>
                  </a:schemeClr>
                </a:solidFill>
              </a:rPr>
              <a:t>问题   操作系统</a:t>
            </a:r>
            <a:endParaRPr lang="en-US" altLang="zh-CN" sz="2000" dirty="0" smtClean="0">
              <a:solidFill>
                <a:schemeClr val="tx2">
                  <a:lumMod val="95000"/>
                  <a:lumOff val="5000"/>
                </a:schemeClr>
              </a:solidFill>
            </a:endParaRPr>
          </a:p>
          <a:p>
            <a:pPr marL="0" indent="0">
              <a:lnSpc>
                <a:spcPct val="80000"/>
              </a:lnSpc>
              <a:buNone/>
              <a:defRPr/>
            </a:pPr>
            <a:r>
              <a:rPr lang="en-US" altLang="zh-CN" sz="2000" dirty="0" smtClean="0">
                <a:solidFill>
                  <a:srgbClr val="0000FF"/>
                </a:solidFill>
              </a:rPr>
              <a:t>ACARL</a:t>
            </a:r>
            <a:r>
              <a:rPr lang="zh-CN" altLang="en-US" sz="2000" dirty="0">
                <a:solidFill>
                  <a:schemeClr val="tx2">
                    <a:lumMod val="95000"/>
                    <a:lumOff val="5000"/>
                  </a:schemeClr>
                </a:solidFill>
              </a:rPr>
              <a:t>：兼顾</a:t>
            </a:r>
            <a:r>
              <a:rPr lang="en-US" altLang="zh-CN" sz="2000" dirty="0">
                <a:solidFill>
                  <a:schemeClr val="tx2">
                    <a:lumMod val="95000"/>
                    <a:lumOff val="5000"/>
                  </a:schemeClr>
                </a:solidFill>
              </a:rPr>
              <a:t>ACCL</a:t>
            </a:r>
            <a:r>
              <a:rPr lang="zh-CN" altLang="en-US" sz="2000" dirty="0">
                <a:solidFill>
                  <a:schemeClr val="tx2">
                    <a:lumMod val="95000"/>
                    <a:lumOff val="5000"/>
                  </a:schemeClr>
                </a:solidFill>
              </a:rPr>
              <a:t>和</a:t>
            </a:r>
            <a:r>
              <a:rPr lang="en-US" altLang="zh-CN" sz="2000" dirty="0">
                <a:solidFill>
                  <a:schemeClr val="tx2">
                    <a:lumMod val="95000"/>
                    <a:lumOff val="5000"/>
                  </a:schemeClr>
                </a:solidFill>
              </a:rPr>
              <a:t>ACL</a:t>
            </a:r>
            <a:r>
              <a:rPr lang="zh-CN" altLang="en-US" sz="2000" dirty="0">
                <a:solidFill>
                  <a:schemeClr val="tx2">
                    <a:lumMod val="95000"/>
                    <a:lumOff val="5000"/>
                  </a:schemeClr>
                </a:solidFill>
              </a:rPr>
              <a:t>的特点  </a:t>
            </a:r>
            <a:r>
              <a:rPr lang="zh-CN" altLang="en-US" sz="2000" dirty="0" smtClean="0">
                <a:solidFill>
                  <a:schemeClr val="tx2">
                    <a:lumMod val="95000"/>
                    <a:lumOff val="5000"/>
                  </a:schemeClr>
                </a:solidFill>
              </a:rPr>
              <a:t>存在</a:t>
            </a:r>
            <a:r>
              <a:rPr lang="zh-CN" altLang="en-US" sz="2000" dirty="0">
                <a:solidFill>
                  <a:schemeClr val="tx2">
                    <a:lumMod val="95000"/>
                    <a:lumOff val="5000"/>
                  </a:schemeClr>
                </a:solidFill>
              </a:rPr>
              <a:t>信息冗余  </a:t>
            </a:r>
            <a:r>
              <a:rPr lang="zh-CN" altLang="en-US" sz="2000" dirty="0" smtClean="0">
                <a:solidFill>
                  <a:schemeClr val="tx2">
                    <a:lumMod val="95000"/>
                    <a:lumOff val="5000"/>
                  </a:schemeClr>
                </a:solidFill>
              </a:rPr>
              <a:t>关系数据库</a:t>
            </a:r>
            <a:endParaRPr lang="zh-CN" altLang="en-US" sz="2000" dirty="0" smtClean="0">
              <a:solidFill>
                <a:schemeClr val="tx2">
                  <a:lumMod val="95000"/>
                  <a:lumOff val="5000"/>
                </a:schemeClr>
              </a:solidFill>
            </a:endParaRPr>
          </a:p>
        </p:txBody>
      </p:sp>
      <p:sp>
        <p:nvSpPr>
          <p:cNvPr id="86022"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
        <p:nvSpPr>
          <p:cNvPr id="47107"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513"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endParaRPr lang="en-US" altLang="zh-CN" sz="2400" b="1" dirty="0">
              <a:solidFill>
                <a:srgbClr val="FF0000"/>
              </a:solidFill>
              <a:latin typeface="Arial" panose="020B0604020202020204" pitchFamily="34" charset="0"/>
            </a:endParaRPr>
          </a:p>
          <a:p>
            <a:pPr algn="just">
              <a:defRPr/>
            </a:pPr>
            <a:endParaRPr lang="en-US" altLang="zh-CN" sz="2400" b="1" dirty="0" smtClean="0">
              <a:solidFill>
                <a:srgbClr val="FF0000"/>
              </a:solidFill>
              <a:latin typeface="Arial" panose="020B0604020202020204" pitchFamily="34" charset="0"/>
            </a:endParaRPr>
          </a:p>
          <a:p>
            <a:pPr algn="just">
              <a:defRPr/>
            </a:pPr>
            <a:r>
              <a:rPr lang="zh-CN" altLang="fr-FR" sz="2000" dirty="0">
                <a:solidFill>
                  <a:schemeClr val="tx2"/>
                </a:solidFill>
                <a:latin typeface="Arial" panose="020B0604020202020204" pitchFamily="34" charset="0"/>
              </a:rPr>
              <a:t>	</a:t>
            </a:r>
            <a:endParaRPr lang="zh-CN" altLang="en-US" sz="2000" dirty="0">
              <a:solidFill>
                <a:schemeClr val="tx2"/>
              </a:solidFill>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p:cNvSpPr>
            <a:spLocks noGrp="1" noChangeArrowheads="1"/>
          </p:cNvSpPr>
          <p:nvPr>
            <p:ph type="subTitle" idx="4294967295"/>
          </p:nvPr>
        </p:nvSpPr>
        <p:spPr>
          <a:xfrm>
            <a:off x="575628" y="1462088"/>
            <a:ext cx="7993062" cy="3200400"/>
          </a:xfrm>
        </p:spPr>
        <p:txBody>
          <a:bodyPr/>
          <a:lstStyle/>
          <a:p>
            <a:pPr marL="0" indent="0" eaLnBrk="1" hangingPunct="1">
              <a:lnSpc>
                <a:spcPct val="80000"/>
              </a:lnSpc>
              <a:buFont typeface="Wingdings" panose="05000000000000000000" pitchFamily="2" charset="2"/>
              <a:buNone/>
              <a:defRPr/>
            </a:pPr>
            <a:r>
              <a:rPr lang="en-US" altLang="zh-CN" dirty="0">
                <a:solidFill>
                  <a:srgbClr val="CC0000"/>
                </a:solidFill>
              </a:rPr>
              <a:t>   2. </a:t>
            </a:r>
            <a:r>
              <a:rPr lang="zh-CN" altLang="en-US" dirty="0">
                <a:solidFill>
                  <a:srgbClr val="CC0000"/>
                </a:solidFill>
              </a:rPr>
              <a:t>访问控制的模型</a:t>
            </a:r>
            <a:endParaRPr lang="zh-CN" altLang="en-US" dirty="0">
              <a:solidFill>
                <a:srgbClr val="CC0000"/>
              </a:solidFill>
            </a:endParaRPr>
          </a:p>
          <a:p>
            <a:pPr marL="400050" lvl="2" indent="0" eaLnBrk="1" hangingPunct="1">
              <a:lnSpc>
                <a:spcPct val="80000"/>
              </a:lnSpc>
              <a:spcBef>
                <a:spcPts val="1200"/>
              </a:spcBef>
              <a:spcAft>
                <a:spcPts val="600"/>
              </a:spcAft>
              <a:buFont typeface="Wingdings" panose="05000000000000000000" pitchFamily="2" charset="2"/>
              <a:buNone/>
              <a:defRPr/>
            </a:pPr>
            <a:r>
              <a:rPr lang="zh-CN" altLang="en-US" b="1" dirty="0">
                <a:cs typeface="+mn-ea"/>
              </a:rPr>
              <a:t>主要的</a:t>
            </a:r>
            <a:r>
              <a:rPr lang="zh-CN" altLang="en-US" b="1" dirty="0">
                <a:solidFill>
                  <a:srgbClr val="800000"/>
                </a:solidFill>
                <a:cs typeface="+mn-ea"/>
              </a:rPr>
              <a:t>访问控制模式主要有</a:t>
            </a:r>
            <a:r>
              <a:rPr lang="en-US" altLang="zh-CN" b="1" dirty="0">
                <a:solidFill>
                  <a:srgbClr val="800000"/>
                </a:solidFill>
                <a:cs typeface="+mn-ea"/>
              </a:rPr>
              <a:t>5</a:t>
            </a:r>
            <a:r>
              <a:rPr lang="zh-CN" altLang="en-US" b="1" dirty="0">
                <a:solidFill>
                  <a:srgbClr val="800000"/>
                </a:solidFill>
                <a:cs typeface="+mn-ea"/>
              </a:rPr>
              <a:t>种</a:t>
            </a:r>
            <a:r>
              <a:rPr lang="zh-CN" altLang="en-US" b="1" dirty="0">
                <a:cs typeface="+mn-ea"/>
              </a:rPr>
              <a:t>：</a:t>
            </a:r>
            <a:endParaRPr lang="zh-CN" altLang="en-US" b="1" dirty="0">
              <a:cs typeface="+mn-ea"/>
            </a:endParaRPr>
          </a:p>
          <a:p>
            <a:pPr marL="0" lvl="2" indent="400050" eaLnBrk="1" hangingPunct="1">
              <a:buFont typeface="Wingdings" panose="05000000000000000000" pitchFamily="2" charset="2"/>
              <a:buNone/>
              <a:defRPr/>
            </a:pPr>
            <a:r>
              <a:rPr lang="zh-CN" altLang="en-US" b="1" dirty="0">
                <a:cs typeface="+mn-ea"/>
              </a:rPr>
              <a:t>（</a:t>
            </a:r>
            <a:r>
              <a:rPr lang="en-US" altLang="zh-CN" b="1" dirty="0">
                <a:cs typeface="+mn-ea"/>
              </a:rPr>
              <a:t>1</a:t>
            </a:r>
            <a:r>
              <a:rPr lang="zh-CN" altLang="en-US" b="1" dirty="0">
                <a:cs typeface="+mn-ea"/>
              </a:rPr>
              <a:t>）自主访问控制（</a:t>
            </a:r>
            <a:r>
              <a:rPr lang="en-US" altLang="zh-CN" b="1" dirty="0">
                <a:cs typeface="+mn-ea"/>
              </a:rPr>
              <a:t>DAC</a:t>
            </a:r>
            <a:r>
              <a:rPr lang="zh-CN" altLang="en-US" b="1" dirty="0">
                <a:cs typeface="+mn-ea"/>
              </a:rPr>
              <a:t>）</a:t>
            </a:r>
            <a:endParaRPr lang="en-US" altLang="zh-CN" b="1" dirty="0">
              <a:cs typeface="+mn-ea"/>
            </a:endParaRPr>
          </a:p>
          <a:p>
            <a:pPr marL="0" lvl="2" indent="400050" eaLnBrk="1" hangingPunct="1">
              <a:buFont typeface="Wingdings" panose="05000000000000000000" pitchFamily="2" charset="2"/>
              <a:buNone/>
              <a:defRPr/>
            </a:pPr>
            <a:r>
              <a:rPr lang="zh-CN" altLang="en-US" b="1" dirty="0">
                <a:cs typeface="+mn-ea"/>
              </a:rPr>
              <a:t>（</a:t>
            </a:r>
            <a:r>
              <a:rPr lang="en-US" altLang="zh-CN" b="1" dirty="0">
                <a:cs typeface="+mn-ea"/>
              </a:rPr>
              <a:t>2</a:t>
            </a:r>
            <a:r>
              <a:rPr lang="zh-CN" altLang="en-US" b="1" dirty="0">
                <a:cs typeface="+mn-ea"/>
              </a:rPr>
              <a:t>）强制访问控制（</a:t>
            </a:r>
            <a:r>
              <a:rPr lang="en-US" altLang="zh-CN" b="1" dirty="0">
                <a:cs typeface="+mn-ea"/>
              </a:rPr>
              <a:t>MAC</a:t>
            </a:r>
            <a:r>
              <a:rPr lang="zh-CN" altLang="en-US" b="1" dirty="0">
                <a:cs typeface="+mn-ea"/>
              </a:rPr>
              <a:t>）</a:t>
            </a:r>
            <a:endParaRPr lang="zh-CN" altLang="en-US"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3</a:t>
            </a:r>
            <a:r>
              <a:rPr lang="zh-CN" altLang="en-US" b="1" dirty="0">
                <a:cs typeface="+mn-ea"/>
              </a:rPr>
              <a:t>）基于角色的访问控制（</a:t>
            </a:r>
            <a:r>
              <a:rPr lang="en-US" altLang="zh-CN" b="1" dirty="0">
                <a:cs typeface="+mn-ea"/>
              </a:rPr>
              <a:t>RBAC</a:t>
            </a:r>
            <a:r>
              <a:rPr lang="zh-CN" altLang="en-US" b="1" dirty="0">
                <a:cs typeface="+mn-ea"/>
              </a:rPr>
              <a:t>） </a:t>
            </a:r>
            <a:endParaRPr lang="en-US" altLang="zh-CN"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4</a:t>
            </a:r>
            <a:r>
              <a:rPr lang="zh-CN" altLang="en-US" b="1" dirty="0">
                <a:cs typeface="+mn-ea"/>
              </a:rPr>
              <a:t>）基于任务的访问控制（</a:t>
            </a:r>
            <a:r>
              <a:rPr lang="en-US" altLang="zh-CN" b="1" dirty="0">
                <a:cs typeface="+mn-ea"/>
              </a:rPr>
              <a:t>TBAC</a:t>
            </a:r>
            <a:r>
              <a:rPr lang="zh-CN" altLang="en-US" b="1" dirty="0">
                <a:cs typeface="+mn-ea"/>
              </a:rPr>
              <a:t>）</a:t>
            </a:r>
            <a:endParaRPr lang="en-US" altLang="zh-CN" b="1" dirty="0">
              <a:cs typeface="+mn-ea"/>
            </a:endParaRPr>
          </a:p>
          <a:p>
            <a:pPr marL="400050" lvl="2" indent="0" eaLnBrk="1" hangingPunct="1">
              <a:buFont typeface="Wingdings" panose="05000000000000000000" pitchFamily="2" charset="2"/>
              <a:buNone/>
              <a:defRPr/>
            </a:pPr>
            <a:r>
              <a:rPr lang="zh-CN" altLang="en-US" b="1" dirty="0">
                <a:cs typeface="+mn-ea"/>
              </a:rPr>
              <a:t>（</a:t>
            </a:r>
            <a:r>
              <a:rPr lang="en-US" altLang="zh-CN" b="1" dirty="0">
                <a:cs typeface="+mn-ea"/>
              </a:rPr>
              <a:t>5</a:t>
            </a:r>
            <a:r>
              <a:rPr lang="zh-CN" altLang="en-US" b="1" dirty="0">
                <a:cs typeface="+mn-ea"/>
              </a:rPr>
              <a:t>）基于属性的访问控制（</a:t>
            </a:r>
            <a:r>
              <a:rPr lang="en-US" altLang="zh-CN" b="1" dirty="0">
                <a:cs typeface="+mn-ea"/>
              </a:rPr>
              <a:t>ABAC</a:t>
            </a:r>
            <a:r>
              <a:rPr lang="zh-CN" altLang="en-US" b="1" dirty="0">
                <a:cs typeface="+mn-ea"/>
              </a:rPr>
              <a:t>）</a:t>
            </a:r>
            <a:endParaRPr lang="zh-CN" altLang="en-US" b="1" dirty="0">
              <a:cs typeface="+mn-ea"/>
            </a:endParaRPr>
          </a:p>
        </p:txBody>
      </p:sp>
      <p:sp>
        <p:nvSpPr>
          <p:cNvPr id="48130"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739140" y="1146175"/>
            <a:ext cx="7731760" cy="416433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pic>
        <p:nvPicPr>
          <p:cNvPr id="48133" name="图片 2"/>
          <p:cNvPicPr>
            <a:picLocks noChangeAspect="1" noChangeArrowheads="1"/>
          </p:cNvPicPr>
          <p:nvPr/>
        </p:nvPicPr>
        <p:blipFill>
          <a:blip r:embed="rId1" cstate="print"/>
          <a:srcRect l="10039" t="15350" r="6885" b="17754"/>
          <a:stretch>
            <a:fillRect/>
          </a:stretch>
        </p:blipFill>
        <p:spPr bwMode="auto">
          <a:xfrm>
            <a:off x="5867400" y="2852738"/>
            <a:ext cx="2244725" cy="180975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p:cNvSpPr>
            <a:spLocks noGrp="1" noChangeArrowheads="1"/>
          </p:cNvSpPr>
          <p:nvPr>
            <p:ph type="subTitle" idx="4294967295"/>
          </p:nvPr>
        </p:nvSpPr>
        <p:spPr>
          <a:xfrm>
            <a:off x="576263" y="1268413"/>
            <a:ext cx="7991475" cy="4321175"/>
          </a:xfrm>
        </p:spPr>
        <p:txBody>
          <a:bodyPr/>
          <a:lstStyle/>
          <a:p>
            <a:pPr marL="0" indent="0" eaLnBrk="1" hangingPunct="1">
              <a:lnSpc>
                <a:spcPct val="80000"/>
              </a:lnSpc>
              <a:buFont typeface="Wingdings" panose="05000000000000000000" pitchFamily="2" charset="2"/>
              <a:buNone/>
            </a:pPr>
            <a:r>
              <a:rPr lang="en-US" altLang="zh-CN" dirty="0" smtClean="0">
                <a:solidFill>
                  <a:srgbClr val="CC0000"/>
                </a:solidFill>
              </a:rPr>
              <a:t>   2. </a:t>
            </a:r>
            <a:r>
              <a:rPr lang="zh-CN" altLang="en-US" dirty="0" smtClean="0">
                <a:solidFill>
                  <a:srgbClr val="CC0000"/>
                </a:solidFill>
              </a:rPr>
              <a:t>访问控制的模型</a:t>
            </a:r>
            <a:endParaRPr lang="zh-CN" altLang="en-US" dirty="0" smtClean="0">
              <a:solidFill>
                <a:srgbClr val="CC0000"/>
              </a:solidFill>
            </a:endParaRPr>
          </a:p>
          <a:p>
            <a:pPr marL="0" lvl="2" indent="40005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1</a:t>
            </a:r>
            <a:r>
              <a:rPr lang="zh-CN" altLang="en-US" b="1" dirty="0" smtClean="0"/>
              <a:t>）自主访问控制（</a:t>
            </a:r>
            <a:r>
              <a:rPr lang="en-US" altLang="zh-CN" b="1" dirty="0" smtClean="0"/>
              <a:t>DAC</a:t>
            </a:r>
            <a:r>
              <a:rPr lang="zh-CN" altLang="en-US" b="1" dirty="0" smtClean="0"/>
              <a:t>）</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solidFill>
                  <a:srgbClr val="FF0000"/>
                </a:solidFill>
              </a:rPr>
              <a:t> 自主访问控制</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Discretionary Access Control</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DAC</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zh-CN" altLang="en-US" b="1" dirty="0" smtClean="0"/>
              <a:t>又称为</a:t>
            </a:r>
            <a:r>
              <a:rPr lang="zh-CN" altLang="en-US" b="1" dirty="0" smtClean="0">
                <a:solidFill>
                  <a:srgbClr val="C00000"/>
                </a:solidFill>
              </a:rPr>
              <a:t>随意</a:t>
            </a:r>
            <a:r>
              <a:rPr lang="en-US" altLang="zh-CN" b="1" dirty="0" smtClean="0"/>
              <a:t>/</a:t>
            </a:r>
            <a:r>
              <a:rPr lang="zh-CN" altLang="en-US" b="1" dirty="0" smtClean="0">
                <a:solidFill>
                  <a:srgbClr val="C00000"/>
                </a:solidFill>
              </a:rPr>
              <a:t>任选访问控制</a:t>
            </a:r>
            <a:r>
              <a:rPr lang="zh-CN" altLang="en-US" b="1" dirty="0" smtClean="0"/>
              <a:t>，是在确认主体身份及所属组的基础上，根据访问者的身份和授权决定访问模式、对访问进行限定的一种控制策略，具有很大的灵活性，并易于理解、使用。</a:t>
            </a:r>
            <a:endParaRPr lang="zh-CN" altLang="en-US" b="1" dirty="0" smtClean="0"/>
          </a:p>
          <a:p>
            <a:pPr marL="0" lvl="2" indent="400050" eaLnBrk="1" hangingPunct="1">
              <a:buClr>
                <a:schemeClr val="accent1"/>
              </a:buClr>
              <a:buFont typeface="Wingdings" panose="05000000000000000000" pitchFamily="2" charset="2"/>
              <a:buNone/>
            </a:pPr>
            <a:r>
              <a:rPr lang="zh-CN" altLang="en-US" b="1" dirty="0" smtClean="0"/>
              <a:t>实现方法：</a:t>
            </a:r>
            <a:r>
              <a:rPr lang="zh-CN" altLang="en-US" b="1" dirty="0" smtClean="0">
                <a:solidFill>
                  <a:srgbClr val="FF0000"/>
                </a:solidFill>
              </a:rPr>
              <a:t>基于属主</a:t>
            </a:r>
            <a:r>
              <a:rPr lang="zh-CN" altLang="en-US" b="1" dirty="0" smtClean="0"/>
              <a:t>、</a:t>
            </a:r>
            <a:r>
              <a:rPr lang="zh-CN" altLang="en-US" b="1" dirty="0" smtClean="0">
                <a:solidFill>
                  <a:srgbClr val="FF0000"/>
                </a:solidFill>
              </a:rPr>
              <a:t>基于能力</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solidFill>
                  <a:srgbClr val="0000FF"/>
                </a:solidFill>
              </a:rPr>
              <a:t>存在</a:t>
            </a:r>
            <a:r>
              <a:rPr lang="en-US" altLang="zh-CN" b="1" dirty="0" smtClean="0">
                <a:solidFill>
                  <a:srgbClr val="0000FF"/>
                </a:solidFill>
              </a:rPr>
              <a:t>2</a:t>
            </a:r>
            <a:r>
              <a:rPr lang="zh-CN" altLang="en-US" b="1" dirty="0" smtClean="0">
                <a:solidFill>
                  <a:srgbClr val="0000FF"/>
                </a:solidFill>
              </a:rPr>
              <a:t>个主要缺陷</a:t>
            </a:r>
            <a:r>
              <a:rPr lang="zh-CN" altLang="en-US" b="1" dirty="0" smtClean="0"/>
              <a:t>。</a:t>
            </a:r>
            <a:endParaRPr lang="zh-CN" altLang="en-US" b="1" dirty="0" smtClean="0"/>
          </a:p>
          <a:p>
            <a:pPr marL="0" lvl="2" indent="400050" eaLnBrk="1" hangingPunct="1">
              <a:buClr>
                <a:schemeClr val="accent1"/>
              </a:buClr>
              <a:buFont typeface="Wingdings" panose="05000000000000000000" pitchFamily="2" charset="2"/>
              <a:buNone/>
            </a:pPr>
            <a:r>
              <a:rPr lang="en-US" altLang="zh-CN" b="1" dirty="0" smtClean="0"/>
              <a:t>1</a:t>
            </a:r>
            <a:r>
              <a:rPr lang="zh-CN" altLang="en-US" b="1" dirty="0" smtClean="0"/>
              <a:t>）权限传播可控性差。</a:t>
            </a:r>
            <a:endParaRPr lang="zh-CN" altLang="en-US" b="1" dirty="0" smtClean="0"/>
          </a:p>
          <a:p>
            <a:pPr marL="0" lvl="2" indent="400050" eaLnBrk="1" hangingPunct="1">
              <a:buClr>
                <a:schemeClr val="accent1"/>
              </a:buClr>
              <a:buFont typeface="Wingdings" panose="05000000000000000000" pitchFamily="2" charset="2"/>
              <a:buNone/>
            </a:pPr>
            <a:r>
              <a:rPr lang="en-US" altLang="zh-CN" b="1" dirty="0" smtClean="0"/>
              <a:t>2</a:t>
            </a:r>
            <a:r>
              <a:rPr lang="zh-CN" altLang="en-US" b="1" dirty="0" smtClean="0"/>
              <a:t>）不能抵抗木马攻击。</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此外，因用户无意（如程序错误、误操作等）或不负责任的操作而造成敏感信息的泄露问题，在</a:t>
            </a:r>
            <a:r>
              <a:rPr lang="en-US" altLang="zh-CN" b="1" dirty="0" smtClean="0"/>
              <a:t>DAC</a:t>
            </a:r>
            <a:r>
              <a:rPr lang="zh-CN" altLang="en-US" b="1" dirty="0" smtClean="0"/>
              <a:t>机制下也无法解决。</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这些缺陷都使得自主访问控制的安全程度较低，难以独自支撑高安全等级要求的计算环境。</a:t>
            </a:r>
            <a:endParaRPr lang="zh-CN" altLang="en-US" b="1" dirty="0" smtClean="0"/>
          </a:p>
          <a:p>
            <a:pPr marL="0" lvl="2" indent="400050" eaLnBrk="1" hangingPunct="1">
              <a:lnSpc>
                <a:spcPct val="80000"/>
              </a:lnSpc>
              <a:buClr>
                <a:schemeClr val="accent1"/>
              </a:buClr>
              <a:buFont typeface="Wingdings" panose="05000000000000000000" pitchFamily="2" charset="2"/>
              <a:buNone/>
            </a:pPr>
            <a:endParaRPr lang="zh-CN" altLang="en-US" b="1" dirty="0" smtClean="0"/>
          </a:p>
        </p:txBody>
      </p:sp>
      <p:sp>
        <p:nvSpPr>
          <p:cNvPr id="49154"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38924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noChangeArrowheads="1"/>
          </p:cNvSpPr>
          <p:nvPr>
            <p:ph type="subTitle" idx="4294967295"/>
          </p:nvPr>
        </p:nvSpPr>
        <p:spPr>
          <a:xfrm>
            <a:off x="575945" y="1398905"/>
            <a:ext cx="7991475" cy="3686279"/>
          </a:xfrm>
        </p:spPr>
        <p:txBody>
          <a:bodyPr/>
          <a:lstStyle/>
          <a:p>
            <a:pPr marL="0" indent="0" eaLnBrk="1" hangingPunct="1">
              <a:lnSpc>
                <a:spcPct val="80000"/>
              </a:lnSpc>
              <a:buFont typeface="Wingdings" panose="05000000000000000000" pitchFamily="2" charset="2"/>
              <a:buNone/>
            </a:pPr>
            <a:r>
              <a:rPr lang="en-US" altLang="zh-CN" dirty="0" smtClean="0">
                <a:solidFill>
                  <a:srgbClr val="CC0000"/>
                </a:solidFill>
              </a:rPr>
              <a:t>    2. </a:t>
            </a:r>
            <a:r>
              <a:rPr lang="zh-CN" altLang="en-US" dirty="0" smtClean="0">
                <a:solidFill>
                  <a:srgbClr val="CC0000"/>
                </a:solidFill>
              </a:rPr>
              <a:t>访问控制的模型</a:t>
            </a:r>
            <a:endParaRPr lang="zh-CN" altLang="en-US" dirty="0" smtClean="0">
              <a:solidFill>
                <a:srgbClr val="CC0000"/>
              </a:solidFill>
            </a:endParaRPr>
          </a:p>
          <a:p>
            <a:pPr marL="0" lvl="2" indent="40005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2</a:t>
            </a:r>
            <a:r>
              <a:rPr lang="zh-CN" altLang="en-US" b="1" dirty="0" smtClean="0"/>
              <a:t>）强制访问控制（</a:t>
            </a:r>
            <a:r>
              <a:rPr lang="en-US" altLang="zh-CN" b="1" dirty="0" smtClean="0"/>
              <a:t>MAC</a:t>
            </a:r>
            <a:r>
              <a:rPr lang="zh-CN" altLang="en-US" b="1" dirty="0" smtClean="0"/>
              <a:t>）</a:t>
            </a:r>
            <a:endParaRPr lang="en-US" altLang="zh-CN" b="1" dirty="0" smtClean="0"/>
          </a:p>
          <a:p>
            <a:pPr marL="0" lvl="2" indent="400050">
              <a:buClr>
                <a:schemeClr val="accent1"/>
              </a:buClr>
              <a:buNone/>
            </a:pPr>
            <a:r>
              <a:rPr lang="zh-CN" altLang="en-US" b="1" dirty="0" smtClean="0">
                <a:solidFill>
                  <a:srgbClr val="FF0000"/>
                </a:solidFill>
              </a:rPr>
              <a:t>强制访问控制</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en-US" altLang="zh-CN" b="1" dirty="0" smtClean="0">
                <a:solidFill>
                  <a:srgbClr val="FF0000"/>
                </a:solidFill>
                <a:latin typeface="Times New Roman" panose="02020603050405020304" pitchFamily="18" charset="0"/>
                <a:cs typeface="Times New Roman" panose="02020603050405020304" pitchFamily="18" charset="0"/>
              </a:rPr>
              <a:t>Mandatory </a:t>
            </a:r>
            <a:r>
              <a:rPr lang="en-US" altLang="zh-CN" b="1" dirty="0">
                <a:solidFill>
                  <a:srgbClr val="FF0000"/>
                </a:solidFill>
                <a:latin typeface="Times New Roman" panose="02020603050405020304" pitchFamily="18" charset="0"/>
                <a:cs typeface="Times New Roman" panose="02020603050405020304" pitchFamily="18" charset="0"/>
              </a:rPr>
              <a:t>Access Control</a:t>
            </a:r>
            <a:r>
              <a:rPr lang="zh-CN" altLang="en-US" b="1" dirty="0">
                <a:solidFill>
                  <a:srgbClr val="FF0000"/>
                </a:solidFill>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DAC</a:t>
            </a:r>
            <a:r>
              <a:rPr lang="zh-CN" altLang="en-US" b="1" dirty="0">
                <a:solidFill>
                  <a:srgbClr val="FF0000"/>
                </a:solidFill>
                <a:latin typeface="Times New Roman" panose="02020603050405020304" pitchFamily="18" charset="0"/>
                <a:cs typeface="Times New Roman" panose="02020603050405020304" pitchFamily="18" charset="0"/>
              </a:rPr>
              <a:t>）</a:t>
            </a:r>
            <a:r>
              <a:rPr lang="zh-CN" altLang="en-US" b="1" dirty="0" smtClean="0"/>
              <a:t>是根据客体中信息的敏感标签和访问敏感信息的主体访问等级，对客体访问实行限制的一种方法。</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在强制访问控制中，用户的权限和客体的安全属性都是固定的，由系统决定一个用户对某个客体能否进行访问。</a:t>
            </a:r>
            <a:endParaRPr lang="en-US" altLang="zh-CN" b="1" dirty="0" smtClean="0"/>
          </a:p>
          <a:p>
            <a:pPr marL="0" lvl="2" indent="400050" eaLnBrk="1" hangingPunct="1">
              <a:buClr>
                <a:schemeClr val="accent1"/>
              </a:buClr>
              <a:buFont typeface="Wingdings" panose="05000000000000000000" pitchFamily="2" charset="2"/>
              <a:buNone/>
            </a:pPr>
            <a:r>
              <a:rPr lang="zh-CN" altLang="en-US" b="1" dirty="0" smtClean="0"/>
              <a:t>所谓“强制”就是安全属性由系统管理员人为设置，或由操作系统自动按照严格的安全策略与规则进行设置，用户和他们的进程不能修改这些属性。</a:t>
            </a:r>
            <a:endParaRPr lang="en-US" altLang="zh-CN" b="1" dirty="0" smtClean="0"/>
          </a:p>
        </p:txBody>
      </p:sp>
      <p:sp>
        <p:nvSpPr>
          <p:cNvPr id="50178"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49580" y="1268095"/>
            <a:ext cx="8244205" cy="3817089"/>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强制访问控制的</a:t>
            </a:r>
            <a:r>
              <a:rPr lang="zh-CN" altLang="en-US" b="1" dirty="0" smtClean="0">
                <a:solidFill>
                  <a:srgbClr val="C00000"/>
                </a:solidFill>
                <a:latin typeface="Times New Roman" panose="02020603050405020304" pitchFamily="18" charset="0"/>
                <a:cs typeface="Times New Roman" panose="02020603050405020304" pitchFamily="18" charset="0"/>
              </a:rPr>
              <a:t>实质</a:t>
            </a:r>
            <a:r>
              <a:rPr lang="zh-CN" altLang="en-US" b="1" dirty="0" smtClean="0">
                <a:latin typeface="Times New Roman" panose="02020603050405020304" pitchFamily="18" charset="0"/>
                <a:cs typeface="Times New Roman" panose="02020603050405020304" pitchFamily="18" charset="0"/>
              </a:rPr>
              <a:t>是对系统中所有的客体和主体分配</a:t>
            </a:r>
            <a:r>
              <a:rPr lang="zh-CN" altLang="en-US" b="1" dirty="0" smtClean="0">
                <a:solidFill>
                  <a:srgbClr val="FF0000"/>
                </a:solidFill>
                <a:latin typeface="Times New Roman" panose="02020603050405020304" pitchFamily="18" charset="0"/>
                <a:cs typeface="Times New Roman" panose="02020603050405020304" pitchFamily="18" charset="0"/>
              </a:rPr>
              <a:t>敏感标签</a:t>
            </a:r>
            <a:r>
              <a:rPr lang="en-US" altLang="zh-CN" b="1" dirty="0" smtClean="0">
                <a:solidFill>
                  <a:srgbClr val="FF0000"/>
                </a:solidFill>
                <a:latin typeface="Times New Roman" panose="02020603050405020304" pitchFamily="18" charset="0"/>
                <a:cs typeface="Times New Roman" panose="02020603050405020304" pitchFamily="18" charset="0"/>
              </a:rPr>
              <a:t>( Sensitivity Label</a:t>
            </a:r>
            <a:r>
              <a:rPr lang="zh-CN" altLang="en-US" b="1" dirty="0" smtClean="0">
                <a:solidFill>
                  <a:srgbClr val="FF0000"/>
                </a:solidFill>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。用户的敏感标签指定了该用户的敏感等级或信任等级，也被称为</a:t>
            </a:r>
            <a:r>
              <a:rPr lang="zh-CN" altLang="en-US" b="1" dirty="0" smtClean="0">
                <a:solidFill>
                  <a:srgbClr val="0000FF"/>
                </a:solidFill>
                <a:latin typeface="Times New Roman" panose="02020603050405020304" pitchFamily="18" charset="0"/>
                <a:cs typeface="Times New Roman" panose="02020603050405020304" pitchFamily="18" charset="0"/>
              </a:rPr>
              <a:t>安全许可</a:t>
            </a:r>
            <a:r>
              <a:rPr lang="en-US" altLang="zh-CN" b="1" dirty="0" smtClean="0">
                <a:latin typeface="Times New Roman" panose="02020603050405020304" pitchFamily="18" charset="0"/>
                <a:cs typeface="Times New Roman" panose="02020603050405020304" pitchFamily="18" charset="0"/>
              </a:rPr>
              <a:t>(Clearance)</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olidFill>
                  <a:srgbClr val="C00000"/>
                </a:solidFill>
                <a:latin typeface="Times New Roman" panose="02020603050405020304" pitchFamily="18" charset="0"/>
                <a:cs typeface="Times New Roman" panose="02020603050405020304" pitchFamily="18" charset="0"/>
              </a:rPr>
              <a:t>文件的敏感标签</a:t>
            </a:r>
            <a:r>
              <a:rPr lang="zh-CN" altLang="en-US" b="1" dirty="0" smtClean="0">
                <a:latin typeface="Times New Roman" panose="02020603050405020304" pitchFamily="18" charset="0"/>
                <a:cs typeface="Times New Roman" panose="02020603050405020304" pitchFamily="18" charset="0"/>
              </a:rPr>
              <a:t>说明要访问该文件的用户所必须具备的信任等级。</a:t>
            </a:r>
            <a:r>
              <a:rPr lang="zh-CN" altLang="en-US" b="1" dirty="0" smtClean="0">
                <a:solidFill>
                  <a:srgbClr val="0000FF"/>
                </a:solidFill>
                <a:latin typeface="Times New Roman" panose="02020603050405020304" pitchFamily="18" charset="0"/>
                <a:cs typeface="Times New Roman" panose="02020603050405020304" pitchFamily="18" charset="0"/>
              </a:rPr>
              <a:t>由两个部分组成</a:t>
            </a:r>
            <a:r>
              <a:rPr lang="zh-CN" altLang="en-US" b="1" dirty="0" smtClean="0">
                <a:latin typeface="Times New Roman" panose="02020603050405020304" pitchFamily="18" charset="0"/>
                <a:cs typeface="Times New Roman" panose="02020603050405020304" pitchFamily="18" charset="0"/>
              </a:rPr>
              <a:t>：类别和类集合。</a:t>
            </a:r>
            <a:endParaRPr lang="en-US" altLang="zh-CN"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olidFill>
                  <a:srgbClr val="C00000"/>
                </a:solidFill>
                <a:latin typeface="Times New Roman" panose="02020603050405020304" pitchFamily="18" charset="0"/>
                <a:cs typeface="Times New Roman" panose="02020603050405020304" pitchFamily="18" charset="0"/>
              </a:rPr>
              <a:t>类别</a:t>
            </a:r>
            <a:r>
              <a:rPr lang="zh-CN" altLang="en-US" b="1" dirty="0" smtClean="0">
                <a:solidFill>
                  <a:srgbClr val="0000FF"/>
                </a:solidFill>
                <a:latin typeface="Times New Roman" panose="02020603050405020304" pitchFamily="18" charset="0"/>
                <a:cs typeface="Times New Roman" panose="02020603050405020304" pitchFamily="18" charset="0"/>
              </a:rPr>
              <a:t>也称</a:t>
            </a:r>
            <a:r>
              <a:rPr lang="zh-CN" altLang="en-US" b="1" dirty="0" smtClean="0">
                <a:solidFill>
                  <a:srgbClr val="FF0000"/>
                </a:solidFill>
                <a:latin typeface="Times New Roman" panose="02020603050405020304" pitchFamily="18" charset="0"/>
                <a:cs typeface="Times New Roman" panose="02020603050405020304" pitchFamily="18" charset="0"/>
              </a:rPr>
              <a:t>安全级</a:t>
            </a:r>
            <a:r>
              <a:rPr lang="zh-CN" altLang="en-US" b="1" dirty="0" smtClean="0">
                <a:latin typeface="Times New Roman" panose="02020603050405020304" pitchFamily="18" charset="0"/>
                <a:cs typeface="Times New Roman" panose="02020603050405020304" pitchFamily="18" charset="0"/>
              </a:rPr>
              <a:t>，是单一的、层次结构的，从高到低分为绝密级、机密级、秘密级和公开级</a:t>
            </a:r>
            <a:r>
              <a:rPr lang="en-US" altLang="zh-CN" b="1" dirty="0" smtClean="0">
                <a:latin typeface="Times New Roman" panose="02020603050405020304" pitchFamily="18" charset="0"/>
                <a:cs typeface="Times New Roman" panose="02020603050405020304" pitchFamily="18" charset="0"/>
              </a:rPr>
              <a:t>4</a:t>
            </a:r>
            <a:r>
              <a:rPr lang="zh-CN" altLang="en-US" b="1" dirty="0" smtClean="0">
                <a:latin typeface="Times New Roman" panose="02020603050405020304" pitchFamily="18" charset="0"/>
                <a:cs typeface="Times New Roman" panose="02020603050405020304" pitchFamily="18" charset="0"/>
              </a:rPr>
              <a:t>级。</a:t>
            </a:r>
            <a:r>
              <a:rPr lang="zh-CN" altLang="en-US" b="1" dirty="0" smtClean="0">
                <a:solidFill>
                  <a:srgbClr val="0000FF"/>
                </a:solidFill>
                <a:latin typeface="Times New Roman" panose="02020603050405020304" pitchFamily="18" charset="0"/>
                <a:cs typeface="Times New Roman" panose="02020603050405020304" pitchFamily="18" charset="0"/>
              </a:rPr>
              <a:t>类集合也称范畴级</a:t>
            </a:r>
            <a:r>
              <a:rPr lang="zh-CN" altLang="en-US" b="1" dirty="0" smtClean="0">
                <a:latin typeface="Times New Roman" panose="02020603050405020304" pitchFamily="18" charset="0"/>
                <a:cs typeface="Times New Roman" panose="02020603050405020304" pitchFamily="18" charset="0"/>
              </a:rPr>
              <a:t>，是非层次的，代表系统中信息的不同区域，类集合之间是包含、被包含或无关的关系。安全级中包括一个保密级别，范畴集中包含任意多个范畴，如：</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机密：人事处，财务处，科技处</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a:t>
            </a:r>
            <a:endParaRPr lang="zh-CN" altLang="en-US" b="1" dirty="0" smtClean="0">
              <a:latin typeface="Times New Roman" panose="02020603050405020304" pitchFamily="18" charset="0"/>
              <a:cs typeface="Times New Roman" panose="02020603050405020304" pitchFamily="18" charset="0"/>
            </a:endParaRPr>
          </a:p>
          <a:p>
            <a:pPr marL="0" lvl="2" indent="400050" algn="just" latinLnBrk="0">
              <a:lnSpc>
                <a:spcPct val="100000"/>
              </a:lnSpc>
              <a:spcBef>
                <a:spcPts val="0"/>
              </a:spcBef>
              <a:buClr>
                <a:schemeClr val="accent1"/>
              </a:buClr>
              <a:buFont typeface="Wingdings" panose="05000000000000000000" pitchFamily="2" charset="2"/>
              <a:buNone/>
            </a:pPr>
            <a:r>
              <a:rPr lang="zh-CN" altLang="en-US" b="1" dirty="0" smtClean="0">
                <a:sym typeface="+mn-ea"/>
              </a:rPr>
              <a:t>现实中安全管理员，很难在安全目标的保密性、可用性和完整性之间做出精</a:t>
            </a:r>
            <a:r>
              <a:rPr lang="zh-CN" altLang="en-US" b="1" dirty="0" smtClean="0">
                <a:latin typeface="Times New Roman" panose="02020603050405020304" pitchFamily="18" charset="0"/>
                <a:cs typeface="Times New Roman" panose="02020603050405020304" pitchFamily="18" charset="0"/>
                <a:sym typeface="+mn-ea"/>
              </a:rPr>
              <a:t>准平衡。因此，</a:t>
            </a:r>
            <a:r>
              <a:rPr lang="en-US" altLang="zh-CN" b="1" dirty="0" smtClean="0">
                <a:solidFill>
                  <a:srgbClr val="0000FF"/>
                </a:solidFill>
                <a:latin typeface="Times New Roman" panose="02020603050405020304" pitchFamily="18" charset="0"/>
                <a:cs typeface="Times New Roman" panose="02020603050405020304" pitchFamily="18" charset="0"/>
                <a:sym typeface="+mn-ea"/>
              </a:rPr>
              <a:t>MAC</a:t>
            </a:r>
            <a:r>
              <a:rPr lang="zh-CN" altLang="en-US" b="1" dirty="0" smtClean="0">
                <a:solidFill>
                  <a:srgbClr val="0000FF"/>
                </a:solidFill>
                <a:latin typeface="Times New Roman" panose="02020603050405020304" pitchFamily="18" charset="0"/>
                <a:cs typeface="Times New Roman" panose="02020603050405020304" pitchFamily="18" charset="0"/>
                <a:sym typeface="+mn-ea"/>
              </a:rPr>
              <a:t>模型分为加强数据保密性和以加强数据完整性为目的的两种类型</a:t>
            </a:r>
            <a:r>
              <a:rPr lang="zh-CN" altLang="en-US" b="1" dirty="0" smtClean="0">
                <a:latin typeface="Times New Roman" panose="02020603050405020304" pitchFamily="18" charset="0"/>
                <a:cs typeface="Times New Roman" panose="02020603050405020304" pitchFamily="18" charset="0"/>
                <a:sym typeface="+mn-ea"/>
              </a:rPr>
              <a:t>，如</a:t>
            </a:r>
            <a:r>
              <a:rPr lang="en-US" altLang="zh-CN" b="1" dirty="0" smtClean="0">
                <a:latin typeface="Times New Roman" panose="02020603050405020304" pitchFamily="18" charset="0"/>
                <a:cs typeface="Times New Roman" panose="02020603050405020304" pitchFamily="18" charset="0"/>
                <a:sym typeface="+mn-ea"/>
              </a:rPr>
              <a:t>BLP</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err="1" smtClean="0">
                <a:latin typeface="Times New Roman" panose="02020603050405020304" pitchFamily="18" charset="0"/>
                <a:cs typeface="Times New Roman" panose="02020603050405020304" pitchFamily="18" charset="0"/>
                <a:sym typeface="+mn-ea"/>
              </a:rPr>
              <a:t>Biba</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smtClean="0">
                <a:latin typeface="Times New Roman" panose="02020603050405020304" pitchFamily="18" charset="0"/>
                <a:cs typeface="Times New Roman" panose="02020603050405020304" pitchFamily="18" charset="0"/>
                <a:sym typeface="+mn-ea"/>
              </a:rPr>
              <a:t>Clark-Wilson</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err="1" smtClean="0">
                <a:latin typeface="Times New Roman" panose="02020603050405020304" pitchFamily="18" charset="0"/>
                <a:cs typeface="Times New Roman" panose="02020603050405020304" pitchFamily="18" charset="0"/>
                <a:sym typeface="+mn-ea"/>
              </a:rPr>
              <a:t>Bion</a:t>
            </a:r>
            <a:r>
              <a:rPr lang="zh-CN" altLang="en-US" b="1" dirty="0" smtClean="0">
                <a:latin typeface="Times New Roman" panose="02020603050405020304" pitchFamily="18" charset="0"/>
                <a:cs typeface="Times New Roman" panose="02020603050405020304" pitchFamily="18" charset="0"/>
                <a:sym typeface="+mn-ea"/>
              </a:rPr>
              <a:t>模型和</a:t>
            </a:r>
            <a:r>
              <a:rPr lang="en-US" altLang="zh-CN" b="1" dirty="0" smtClean="0">
                <a:latin typeface="Times New Roman" panose="02020603050405020304" pitchFamily="18" charset="0"/>
                <a:cs typeface="Times New Roman" panose="02020603050405020304" pitchFamily="18" charset="0"/>
                <a:sym typeface="+mn-ea"/>
              </a:rPr>
              <a:t>China Wall</a:t>
            </a:r>
            <a:r>
              <a:rPr lang="zh-CN" altLang="en-US" b="1" dirty="0" smtClean="0">
                <a:latin typeface="Times New Roman" panose="02020603050405020304" pitchFamily="18" charset="0"/>
                <a:cs typeface="Times New Roman" panose="02020603050405020304" pitchFamily="18" charset="0"/>
                <a:sym typeface="+mn-ea"/>
              </a:rPr>
              <a:t>模型等</a:t>
            </a:r>
            <a:r>
              <a:rPr lang="zh-CN" altLang="en-US" b="1" dirty="0" smtClean="0">
                <a:sym typeface="+mn-ea"/>
              </a:rPr>
              <a:t>。</a:t>
            </a:r>
            <a:endParaRPr lang="zh-CN" altLang="en-US" b="1" dirty="0" smtClean="0"/>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1498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spcBef>
                <a:spcPts val="0"/>
              </a:spcBef>
              <a:buClr>
                <a:schemeClr val="accent1"/>
              </a:buClr>
              <a:buNone/>
            </a:pPr>
            <a:r>
              <a:rPr lang="en-US" altLang="zh-CN" b="1" dirty="0" smtClean="0">
                <a:latin typeface="Times New Roman" panose="02020603050405020304" pitchFamily="18" charset="0"/>
                <a:cs typeface="Times New Roman" panose="02020603050405020304" pitchFamily="18" charset="0"/>
                <a:sym typeface="+mn-ea"/>
              </a:rPr>
              <a:t>BLP(Bell-</a:t>
            </a:r>
            <a:r>
              <a:rPr lang="en-US" altLang="zh-CN" b="1" dirty="0" err="1" smtClean="0">
                <a:latin typeface="Times New Roman" panose="02020603050405020304" pitchFamily="18" charset="0"/>
                <a:cs typeface="Times New Roman" panose="02020603050405020304" pitchFamily="18" charset="0"/>
                <a:sym typeface="+mn-ea"/>
              </a:rPr>
              <a:t>lapadula</a:t>
            </a:r>
            <a:r>
              <a:rPr lang="en-US" altLang="zh-CN" b="1" dirty="0" smtClean="0">
                <a:latin typeface="Times New Roman" panose="02020603050405020304" pitchFamily="18" charset="0"/>
                <a:cs typeface="Times New Roman" panose="02020603050405020304" pitchFamily="18" charset="0"/>
                <a:sym typeface="+mn-ea"/>
              </a:rPr>
              <a:t>)</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b="1" dirty="0" smtClean="0">
                <a:latin typeface="Times New Roman" panose="02020603050405020304" pitchFamily="18" charset="0"/>
                <a:cs typeface="Times New Roman" panose="02020603050405020304" pitchFamily="18" charset="0"/>
                <a:sym typeface="+mn-ea"/>
              </a:rPr>
              <a:t>:</a:t>
            </a:r>
            <a:r>
              <a:rPr lang="en-US" altLang="zh-CN" dirty="0" smtClean="0">
                <a:latin typeface="Times New Roman" panose="02020603050405020304" pitchFamily="18" charset="0"/>
                <a:cs typeface="Times New Roman" panose="02020603050405020304" pitchFamily="18" charset="0"/>
                <a:sym typeface="+mn-ea"/>
              </a:rPr>
              <a:t>1973</a:t>
            </a:r>
            <a:r>
              <a:rPr lang="zh-CN" altLang="en-US" dirty="0" smtClean="0">
                <a:latin typeface="Times New Roman" panose="02020603050405020304" pitchFamily="18" charset="0"/>
                <a:cs typeface="Times New Roman" panose="02020603050405020304" pitchFamily="18" charset="0"/>
                <a:sym typeface="+mn-ea"/>
              </a:rPr>
              <a:t>年美国</a:t>
            </a:r>
            <a:r>
              <a:rPr lang="zh-CN" altLang="en-US" dirty="0">
                <a:latin typeface="Times New Roman" panose="02020603050405020304" pitchFamily="18" charset="0"/>
                <a:cs typeface="Times New Roman" panose="02020603050405020304" pitchFamily="18" charset="0"/>
                <a:sym typeface="+mn-ea"/>
              </a:rPr>
              <a:t>军方提出的用于解决分时系统的信息安全和保密问题，该模型主要</a:t>
            </a:r>
            <a:r>
              <a:rPr lang="zh-CN" altLang="en-US" dirty="0" smtClean="0">
                <a:latin typeface="Times New Roman" panose="02020603050405020304" pitchFamily="18" charset="0"/>
                <a:cs typeface="Times New Roman" panose="02020603050405020304" pitchFamily="18" charset="0"/>
                <a:sym typeface="+mn-ea"/>
              </a:rPr>
              <a:t>用于</a:t>
            </a:r>
            <a:r>
              <a:rPr lang="zh-CN" altLang="en-US" dirty="0"/>
              <a:t>用于保证系统信息的</a:t>
            </a:r>
            <a:r>
              <a:rPr lang="zh-CN" altLang="en-US" dirty="0" smtClean="0">
                <a:solidFill>
                  <a:srgbClr val="FF0000"/>
                </a:solidFill>
              </a:rPr>
              <a:t>机密性</a:t>
            </a:r>
            <a:r>
              <a:rPr lang="zh-CN" altLang="en-US" dirty="0" smtClean="0">
                <a:latin typeface="Times New Roman" panose="02020603050405020304" pitchFamily="18" charset="0"/>
                <a:cs typeface="Times New Roman" panose="02020603050405020304" pitchFamily="18" charset="0"/>
                <a:sym typeface="+mn-ea"/>
              </a:rPr>
              <a:t>。</a:t>
            </a:r>
            <a:r>
              <a:rPr lang="zh-CN" altLang="en-US" dirty="0" smtClean="0"/>
              <a:t>最</a:t>
            </a:r>
            <a:r>
              <a:rPr lang="zh-CN" altLang="en-US" dirty="0"/>
              <a:t>常用的一种多级访问控制</a:t>
            </a:r>
            <a:r>
              <a:rPr lang="zh-CN" altLang="en-US" dirty="0" smtClean="0"/>
              <a:t>模型。</a:t>
            </a:r>
            <a:r>
              <a:rPr lang="zh-CN" altLang="en-US" dirty="0"/>
              <a:t>该安全模型针对访问控制，并被描述为：“</a:t>
            </a:r>
            <a:r>
              <a:rPr lang="zh-CN" altLang="en-US" dirty="0">
                <a:solidFill>
                  <a:srgbClr val="FF0000"/>
                </a:solidFill>
              </a:rPr>
              <a:t>下读，上写</a:t>
            </a:r>
            <a:r>
              <a:rPr lang="zh-CN" altLang="en-US" dirty="0"/>
              <a:t>”</a:t>
            </a:r>
            <a:r>
              <a:rPr lang="zh-CN" altLang="en-US" dirty="0" smtClean="0"/>
              <a:t>。</a:t>
            </a:r>
            <a:r>
              <a:rPr lang="zh-CN" altLang="en-US" b="1" dirty="0"/>
              <a:t>信息自下而上</a:t>
            </a:r>
            <a:r>
              <a:rPr lang="zh-CN" altLang="en-US" b="1" dirty="0" smtClean="0"/>
              <a:t>流入</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zh-CN" altLang="en-US" dirty="0">
                <a:solidFill>
                  <a:srgbClr val="0070C0"/>
                </a:solidFill>
              </a:rPr>
              <a:t>低安全级不能向高安全级读取，高可以向低读取</a:t>
            </a:r>
            <a:r>
              <a:rPr lang="zh-CN" altLang="en-US" dirty="0" smtClean="0">
                <a:solidFill>
                  <a:srgbClr val="0070C0"/>
                </a:solidFill>
              </a:rPr>
              <a:t>。</a:t>
            </a:r>
            <a:endParaRPr lang="en-US" altLang="zh-CN" dirty="0" smtClean="0">
              <a:solidFill>
                <a:srgbClr val="0070C0"/>
              </a:solidFill>
            </a:endParaRPr>
          </a:p>
          <a:p>
            <a:pPr marL="0" lvl="2" indent="400050">
              <a:spcBef>
                <a:spcPts val="0"/>
              </a:spcBef>
              <a:buClr>
                <a:schemeClr val="accent1"/>
              </a:buClr>
              <a:buNone/>
            </a:pPr>
            <a:r>
              <a:rPr lang="zh-CN" altLang="en-US" dirty="0" smtClean="0">
                <a:solidFill>
                  <a:srgbClr val="0070C0"/>
                </a:solidFill>
              </a:rPr>
              <a:t>低</a:t>
            </a:r>
            <a:r>
              <a:rPr lang="zh-CN" altLang="en-US" dirty="0">
                <a:solidFill>
                  <a:srgbClr val="0070C0"/>
                </a:solidFill>
              </a:rPr>
              <a:t>安全级可以向高安全级写入，高不可以向低写，高向低写就会造成信息泄露</a:t>
            </a:r>
            <a:r>
              <a:rPr lang="zh-CN" altLang="en-US" dirty="0" smtClean="0">
                <a:solidFill>
                  <a:srgbClr val="0070C0"/>
                </a:solidFill>
              </a:rPr>
              <a:t>。</a:t>
            </a:r>
            <a:endParaRPr lang="en-US" altLang="zh-CN" dirty="0" smtClean="0">
              <a:solidFill>
                <a:srgbClr val="0070C0"/>
              </a:solidFill>
            </a:endParaRPr>
          </a:p>
          <a:p>
            <a:pPr marL="0" lvl="2" indent="400050">
              <a:spcBef>
                <a:spcPts val="0"/>
              </a:spcBef>
              <a:buClr>
                <a:schemeClr val="accent1"/>
              </a:buClr>
              <a:buNone/>
            </a:pPr>
            <a:r>
              <a:rPr lang="zh-CN" altLang="en-US" dirty="0" smtClean="0">
                <a:solidFill>
                  <a:srgbClr val="0070C0"/>
                </a:solidFill>
              </a:rPr>
              <a:t>不同</a:t>
            </a:r>
            <a:r>
              <a:rPr lang="zh-CN" altLang="en-US" dirty="0">
                <a:solidFill>
                  <a:srgbClr val="0070C0"/>
                </a:solidFill>
              </a:rPr>
              <a:t>范畴不可以读和写，同范畴同一级别可读写</a:t>
            </a:r>
            <a:r>
              <a:rPr lang="zh-CN" altLang="en-US" dirty="0" smtClean="0">
                <a:solidFill>
                  <a:srgbClr val="0070C0"/>
                </a:solidFill>
              </a:rPr>
              <a:t>。</a:t>
            </a:r>
            <a:endParaRPr lang="en-US" altLang="zh-CN" dirty="0">
              <a:solidFill>
                <a:srgbClr val="0070C0"/>
              </a:solidFill>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zh-CN" altLang="en-US" dirty="0"/>
              <a:t>如，</a:t>
            </a:r>
            <a:r>
              <a:rPr lang="zh-CN" altLang="en-US" dirty="0" smtClean="0"/>
              <a:t>秘密（</a:t>
            </a:r>
            <a:r>
              <a:rPr lang="en-US" altLang="zh-CN" dirty="0" smtClean="0"/>
              <a:t>Confidential</a:t>
            </a:r>
            <a:r>
              <a:rPr lang="zh-CN" altLang="en-US" dirty="0" smtClean="0"/>
              <a:t>）研究</a:t>
            </a:r>
            <a:r>
              <a:rPr lang="zh-CN" altLang="en-US" dirty="0"/>
              <a:t>人员可以</a:t>
            </a:r>
            <a:r>
              <a:rPr lang="zh-CN" altLang="en-US" dirty="0" smtClean="0"/>
              <a:t>创建机密（</a:t>
            </a:r>
            <a:r>
              <a:rPr lang="en-US" altLang="zh-CN" dirty="0" smtClean="0"/>
              <a:t>Secret</a:t>
            </a:r>
            <a:r>
              <a:rPr lang="zh-CN" altLang="en-US" dirty="0" smtClean="0"/>
              <a:t>）或绝密</a:t>
            </a:r>
            <a:r>
              <a:rPr lang="en-US" altLang="zh-CN" dirty="0" smtClean="0"/>
              <a:t>(Top </a:t>
            </a:r>
            <a:r>
              <a:rPr lang="en-US" altLang="zh-CN" dirty="0"/>
              <a:t>Secret</a:t>
            </a:r>
            <a:r>
              <a:rPr lang="en-US" altLang="zh-CN" dirty="0" smtClean="0"/>
              <a:t>)</a:t>
            </a:r>
            <a:r>
              <a:rPr lang="zh-CN" altLang="en-US" dirty="0" smtClean="0"/>
              <a:t>文件</a:t>
            </a:r>
            <a:r>
              <a:rPr lang="zh-CN" altLang="en-US" dirty="0"/>
              <a:t>，但不能创建</a:t>
            </a:r>
            <a:r>
              <a:rPr lang="zh-CN" altLang="en-US" dirty="0" smtClean="0"/>
              <a:t>公共</a:t>
            </a:r>
            <a:r>
              <a:rPr lang="en-US" altLang="zh-CN" dirty="0" smtClean="0"/>
              <a:t>(Unclassified)</a:t>
            </a:r>
            <a:r>
              <a:rPr lang="zh-CN" altLang="en-US" dirty="0" smtClean="0"/>
              <a:t>文件</a:t>
            </a:r>
            <a:r>
              <a:rPr lang="zh-CN" altLang="en-US" dirty="0"/>
              <a:t>；不能下</a:t>
            </a:r>
            <a:r>
              <a:rPr lang="zh-CN" altLang="en-US" dirty="0" smtClean="0"/>
              <a:t>写</a:t>
            </a:r>
            <a:endParaRPr lang="en-US" altLang="zh-CN" dirty="0" smtClean="0"/>
          </a:p>
          <a:p>
            <a:pPr marL="0" lvl="2" indent="400050">
              <a:spcBef>
                <a:spcPts val="0"/>
              </a:spcBef>
              <a:buClr>
                <a:schemeClr val="accent1"/>
              </a:buClr>
              <a:buNone/>
            </a:pPr>
            <a:r>
              <a:rPr lang="zh-CN" altLang="en-US" dirty="0"/>
              <a:t>秘密研究人员可以查看公共或秘密文件，但不能查看绝密文件；不能上</a:t>
            </a:r>
            <a:r>
              <a:rPr lang="zh-CN" altLang="en-US" dirty="0" smtClean="0"/>
              <a:t>读</a:t>
            </a:r>
            <a:endParaRPr lang="en-US" altLang="zh-CN" dirty="0" smtClean="0"/>
          </a:p>
          <a:p>
            <a:pPr marL="0" lvl="2" indent="400050">
              <a:spcBef>
                <a:spcPts val="0"/>
              </a:spcBef>
              <a:buClr>
                <a:schemeClr val="accent1"/>
              </a:buClr>
              <a:buNone/>
            </a:pPr>
            <a:endParaRPr lang="en-US" altLang="zh-CN" dirty="0" smtClean="0">
              <a:latin typeface="Times New Roman" panose="02020603050405020304" pitchFamily="18" charset="0"/>
              <a:cs typeface="Times New Roman" panose="02020603050405020304" pitchFamily="18" charset="0"/>
              <a:sym typeface="+mn-ea"/>
            </a:endParaRPr>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1498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subTitle" idx="4294967295"/>
          </p:nvPr>
        </p:nvSpPr>
        <p:spPr>
          <a:xfrm>
            <a:off x="546418" y="1136333"/>
            <a:ext cx="7993062" cy="4321175"/>
          </a:xfrm>
        </p:spPr>
        <p:txBody>
          <a:bodyPr/>
          <a:lstStyle/>
          <a:p>
            <a:pPr marL="0" lvl="2" indent="400050" latinLnBrk="0">
              <a:lnSpc>
                <a:spcPct val="100000"/>
              </a:lnSpc>
              <a:spcBef>
                <a:spcPts val="0"/>
              </a:spcBef>
              <a:buClr>
                <a:schemeClr val="accent1"/>
              </a:buClr>
              <a:buFont typeface="Wingdings" panose="05000000000000000000" pitchFamily="2" charset="2"/>
              <a:buNone/>
            </a:pPr>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）强制访问控制（</a:t>
            </a:r>
            <a:r>
              <a:rPr lang="en-US" altLang="zh-CN" b="1" dirty="0" smtClean="0">
                <a:latin typeface="Times New Roman" panose="02020603050405020304" pitchFamily="18" charset="0"/>
                <a:cs typeface="Times New Roman" panose="02020603050405020304" pitchFamily="18" charset="0"/>
              </a:rPr>
              <a:t>MAC</a:t>
            </a:r>
            <a:r>
              <a:rPr lang="zh-CN" altLang="en-US"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marL="0" lvl="2" indent="400050">
              <a:spcBef>
                <a:spcPts val="0"/>
              </a:spcBef>
              <a:buClr>
                <a:schemeClr val="accent1"/>
              </a:buClr>
              <a:buNone/>
            </a:pPr>
            <a:r>
              <a:rPr lang="en-US" altLang="zh-CN" b="1" dirty="0" err="1">
                <a:latin typeface="Times New Roman" panose="02020603050405020304" pitchFamily="18" charset="0"/>
                <a:cs typeface="Times New Roman" panose="02020603050405020304" pitchFamily="18" charset="0"/>
                <a:sym typeface="+mn-ea"/>
              </a:rPr>
              <a:t>Biba</a:t>
            </a:r>
            <a:r>
              <a:rPr lang="zh-CN" altLang="en-US" b="1" dirty="0" smtClean="0">
                <a:latin typeface="Times New Roman" panose="02020603050405020304" pitchFamily="18" charset="0"/>
                <a:cs typeface="Times New Roman" panose="02020603050405020304" pitchFamily="18" charset="0"/>
                <a:sym typeface="+mn-ea"/>
              </a:rPr>
              <a:t>模型：</a:t>
            </a:r>
            <a:r>
              <a:rPr lang="en-US" altLang="zh-CN" dirty="0" err="1" smtClean="0">
                <a:latin typeface="Times New Roman" panose="02020603050405020304" pitchFamily="18" charset="0"/>
                <a:cs typeface="Times New Roman" panose="02020603050405020304" pitchFamily="18" charset="0"/>
                <a:sym typeface="+mn-ea"/>
              </a:rPr>
              <a:t>K.J.Biba</a:t>
            </a:r>
            <a:r>
              <a:rPr lang="zh-CN" altLang="en-US" dirty="0">
                <a:latin typeface="Times New Roman" panose="02020603050405020304" pitchFamily="18" charset="0"/>
                <a:cs typeface="Times New Roman" panose="02020603050405020304" pitchFamily="18" charset="0"/>
                <a:sym typeface="+mn-ea"/>
              </a:rPr>
              <a:t>在</a:t>
            </a:r>
            <a:r>
              <a:rPr lang="en-US" altLang="zh-CN" dirty="0">
                <a:latin typeface="Times New Roman" panose="02020603050405020304" pitchFamily="18" charset="0"/>
                <a:cs typeface="Times New Roman" panose="02020603050405020304" pitchFamily="18" charset="0"/>
                <a:sym typeface="+mn-ea"/>
              </a:rPr>
              <a:t>1977</a:t>
            </a:r>
            <a:r>
              <a:rPr lang="zh-CN" altLang="en-US" dirty="0">
                <a:latin typeface="Times New Roman" panose="02020603050405020304" pitchFamily="18" charset="0"/>
                <a:cs typeface="Times New Roman" panose="02020603050405020304" pitchFamily="18" charset="0"/>
                <a:sym typeface="+mn-ea"/>
              </a:rPr>
              <a:t>年提出的完整性访问控制</a:t>
            </a:r>
            <a:r>
              <a:rPr lang="zh-CN" altLang="en-US" dirty="0" smtClean="0">
                <a:latin typeface="Times New Roman" panose="02020603050405020304" pitchFamily="18" charset="0"/>
                <a:cs typeface="Times New Roman" panose="02020603050405020304" pitchFamily="18" charset="0"/>
                <a:sym typeface="+mn-ea"/>
              </a:rPr>
              <a:t>模型，</a:t>
            </a:r>
            <a:r>
              <a:rPr lang="zh-CN" altLang="en-US" dirty="0" smtClean="0"/>
              <a:t>解决</a:t>
            </a:r>
            <a:r>
              <a:rPr lang="zh-CN" altLang="en-US" dirty="0"/>
              <a:t>了系统内数据的</a:t>
            </a:r>
            <a:r>
              <a:rPr lang="zh-CN" altLang="en-US" b="1" dirty="0"/>
              <a:t>完整性</a:t>
            </a:r>
            <a:r>
              <a:rPr lang="zh-CN" altLang="en-US" dirty="0" smtClean="0"/>
              <a:t>问题，它</a:t>
            </a:r>
            <a:r>
              <a:rPr lang="zh-CN" altLang="en-US" dirty="0"/>
              <a:t>不关心安全级别和机密性。</a:t>
            </a:r>
            <a:r>
              <a:rPr lang="zh-CN" altLang="en-US" dirty="0" smtClean="0">
                <a:latin typeface="Times New Roman" panose="02020603050405020304" pitchFamily="18" charset="0"/>
                <a:cs typeface="Times New Roman" panose="02020603050405020304" pitchFamily="18" charset="0"/>
                <a:sym typeface="+mn-ea"/>
              </a:rPr>
              <a:t>该模型</a:t>
            </a:r>
            <a:r>
              <a:rPr lang="zh-CN" altLang="en-US" dirty="0">
                <a:latin typeface="Times New Roman" panose="02020603050405020304" pitchFamily="18" charset="0"/>
                <a:cs typeface="Times New Roman" panose="02020603050405020304" pitchFamily="18" charset="0"/>
                <a:sym typeface="+mn-ea"/>
              </a:rPr>
              <a:t>用完整性级别来防止数据从任何完整性级别流到较高的完整性级别中</a:t>
            </a:r>
            <a:r>
              <a:rPr lang="zh-CN" altLang="en-US" dirty="0" smtClean="0">
                <a:latin typeface="Times New Roman" panose="02020603050405020304" pitchFamily="18" charset="0"/>
                <a:cs typeface="Times New Roman" panose="02020603050405020304" pitchFamily="18" charset="0"/>
                <a:sym typeface="+mn-ea"/>
              </a:rPr>
              <a:t>。</a:t>
            </a:r>
            <a:r>
              <a:rPr lang="zh-CN" altLang="en-US" dirty="0" smtClean="0">
                <a:solidFill>
                  <a:srgbClr val="FF0000"/>
                </a:solidFill>
                <a:cs typeface="Times New Roman" panose="02020603050405020304" pitchFamily="18" charset="0"/>
                <a:sym typeface="+mn-ea"/>
              </a:rPr>
              <a:t>上</a:t>
            </a:r>
            <a:r>
              <a:rPr lang="zh-CN" altLang="en-US" dirty="0" smtClean="0">
                <a:solidFill>
                  <a:srgbClr val="FF0000"/>
                </a:solidFill>
              </a:rPr>
              <a:t>读，下写 </a:t>
            </a:r>
            <a:r>
              <a:rPr lang="zh-CN" altLang="en-US" b="1" dirty="0" smtClean="0">
                <a:latin typeface="Times New Roman" panose="02020603050405020304" pitchFamily="18" charset="0"/>
                <a:cs typeface="Times New Roman" panose="02020603050405020304" pitchFamily="18" charset="0"/>
                <a:sym typeface="+mn-ea"/>
              </a:rPr>
              <a:t>信息</a:t>
            </a:r>
            <a:r>
              <a:rPr lang="zh-CN" altLang="en-US" b="1" dirty="0">
                <a:latin typeface="Times New Roman" panose="02020603050405020304" pitchFamily="18" charset="0"/>
                <a:cs typeface="Times New Roman" panose="02020603050405020304" pitchFamily="18" charset="0"/>
                <a:sym typeface="+mn-ea"/>
              </a:rPr>
              <a:t>在系统中只能自上而下流动</a:t>
            </a:r>
            <a:r>
              <a:rPr lang="zh-CN" altLang="en-US" dirty="0" smtClean="0">
                <a:latin typeface="Times New Roman" panose="02020603050405020304" pitchFamily="18" charset="0"/>
                <a:cs typeface="Times New Roman" panose="02020603050405020304" pitchFamily="18" charset="0"/>
                <a:sym typeface="+mn-ea"/>
              </a:rPr>
              <a:t>。</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rPr>
              <a:t>3</a:t>
            </a:r>
            <a:r>
              <a:rPr lang="zh-CN" altLang="en-US" dirty="0">
                <a:latin typeface="Times New Roman" panose="02020603050405020304" pitchFamily="18" charset="0"/>
                <a:cs typeface="Times New Roman" panose="02020603050405020304" pitchFamily="18" charset="0"/>
                <a:sym typeface="+mn-ea"/>
              </a:rPr>
              <a:t>条主要</a:t>
            </a:r>
            <a:r>
              <a:rPr lang="zh-CN" altLang="en-US" dirty="0" smtClean="0">
                <a:latin typeface="Times New Roman" panose="02020603050405020304" pitchFamily="18" charset="0"/>
                <a:cs typeface="Times New Roman" panose="02020603050405020304" pitchFamily="18" charset="0"/>
                <a:sym typeface="+mn-ea"/>
              </a:rPr>
              <a:t>规则：</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1</a:t>
            </a:r>
            <a:r>
              <a:rPr lang="zh-CN" altLang="en-US" dirty="0" smtClean="0">
                <a:latin typeface="Times New Roman" panose="02020603050405020304" pitchFamily="18" charset="0"/>
                <a:cs typeface="Times New Roman" panose="02020603050405020304" pitchFamily="18" charset="0"/>
                <a:sym typeface="+mn-ea"/>
              </a:rPr>
              <a:t>、简单</a:t>
            </a:r>
            <a:r>
              <a:rPr lang="zh-CN" altLang="en-US" dirty="0">
                <a:latin typeface="Times New Roman" panose="02020603050405020304" pitchFamily="18" charset="0"/>
                <a:cs typeface="Times New Roman" panose="02020603050405020304" pitchFamily="18" charset="0"/>
                <a:sym typeface="+mn-ea"/>
              </a:rPr>
              <a:t>完整性公理：主体不能从较低完整性级别读取数据（被称为“不能向下读”）。</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2</a:t>
            </a:r>
            <a:r>
              <a:rPr lang="zh-CN" altLang="en-US" dirty="0" smtClean="0">
                <a:latin typeface="Times New Roman" panose="02020603050405020304" pitchFamily="18" charset="0"/>
                <a:cs typeface="Times New Roman" panose="02020603050405020304" pitchFamily="18" charset="0"/>
                <a:sym typeface="+mn-ea"/>
              </a:rPr>
              <a:t>、*</a:t>
            </a:r>
            <a:r>
              <a:rPr lang="zh-CN" altLang="en-US" dirty="0">
                <a:latin typeface="Times New Roman" panose="02020603050405020304" pitchFamily="18" charset="0"/>
                <a:cs typeface="Times New Roman" panose="02020603050405020304" pitchFamily="18" charset="0"/>
                <a:sym typeface="+mn-ea"/>
              </a:rPr>
              <a:t>完整性公理：主体不能向位于较高完整性级别的客体写数据（被称为“不能向上写”）。</a:t>
            </a:r>
            <a:endParaRPr lang="zh-CN" altLang="en-US"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smtClean="0">
                <a:latin typeface="Times New Roman" panose="02020603050405020304" pitchFamily="18" charset="0"/>
                <a:cs typeface="Times New Roman" panose="02020603050405020304" pitchFamily="18" charset="0"/>
                <a:sym typeface="+mn-ea"/>
              </a:rPr>
              <a:t>3</a:t>
            </a:r>
            <a:r>
              <a:rPr lang="zh-CN" altLang="en-US" dirty="0" smtClean="0">
                <a:latin typeface="Times New Roman" panose="02020603050405020304" pitchFamily="18" charset="0"/>
                <a:cs typeface="Times New Roman" panose="02020603050405020304" pitchFamily="18" charset="0"/>
                <a:sym typeface="+mn-ea"/>
              </a:rPr>
              <a:t>、调用</a:t>
            </a:r>
            <a:r>
              <a:rPr lang="zh-CN" altLang="en-US" dirty="0">
                <a:latin typeface="Times New Roman" panose="02020603050405020304" pitchFamily="18" charset="0"/>
                <a:cs typeface="Times New Roman" panose="02020603050405020304" pitchFamily="18" charset="0"/>
                <a:sym typeface="+mn-ea"/>
              </a:rPr>
              <a:t>属性：主体不能请求（调用）完整性级别更高的主体的服务</a:t>
            </a:r>
            <a:r>
              <a:rPr lang="zh-CN" altLang="en-US" dirty="0" smtClean="0">
                <a:latin typeface="Times New Roman" panose="02020603050405020304" pitchFamily="18" charset="0"/>
                <a:cs typeface="Times New Roman" panose="02020603050405020304" pitchFamily="18" charset="0"/>
                <a:sym typeface="+mn-ea"/>
              </a:rPr>
              <a:t>。</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endParaRPr lang="en-US" altLang="zh-CN" dirty="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1"/>
              </a:rPr>
              <a:t>https://</a:t>
            </a:r>
            <a:r>
              <a:rPr lang="en-US" altLang="zh-CN" dirty="0" smtClean="0">
                <a:latin typeface="Times New Roman" panose="02020603050405020304" pitchFamily="18" charset="0"/>
                <a:cs typeface="Times New Roman" panose="02020603050405020304" pitchFamily="18" charset="0"/>
                <a:sym typeface="+mn-ea"/>
                <a:hlinkClick r:id="rId1"/>
              </a:rPr>
              <a:t>blog.csdn.net/sinat_36082782/article/details/104506721</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2"/>
              </a:rPr>
              <a:t>https://</a:t>
            </a:r>
            <a:r>
              <a:rPr lang="en-US" altLang="zh-CN" dirty="0" smtClean="0">
                <a:latin typeface="Times New Roman" panose="02020603050405020304" pitchFamily="18" charset="0"/>
                <a:cs typeface="Times New Roman" panose="02020603050405020304" pitchFamily="18" charset="0"/>
                <a:sym typeface="+mn-ea"/>
                <a:hlinkClick r:id="rId2"/>
              </a:rPr>
              <a:t>blog.51cto.com/u_214994/578099</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r>
              <a:rPr lang="en-US" altLang="zh-CN" dirty="0">
                <a:latin typeface="Times New Roman" panose="02020603050405020304" pitchFamily="18" charset="0"/>
                <a:cs typeface="Times New Roman" panose="02020603050405020304" pitchFamily="18" charset="0"/>
                <a:sym typeface="+mn-ea"/>
                <a:hlinkClick r:id="rId1"/>
              </a:rPr>
              <a:t>https://</a:t>
            </a:r>
            <a:r>
              <a:rPr lang="en-US" altLang="zh-CN" dirty="0" smtClean="0">
                <a:latin typeface="Times New Roman" panose="02020603050405020304" pitchFamily="18" charset="0"/>
                <a:cs typeface="Times New Roman" panose="02020603050405020304" pitchFamily="18" charset="0"/>
                <a:sym typeface="+mn-ea"/>
                <a:hlinkClick r:id="rId1"/>
              </a:rPr>
              <a:t>blog.csdn.net/sinat_36082782/article/details/104506721</a:t>
            </a:r>
            <a:endParaRPr lang="en-US" altLang="zh-CN" dirty="0" smtClean="0">
              <a:latin typeface="Times New Roman" panose="02020603050405020304" pitchFamily="18" charset="0"/>
              <a:cs typeface="Times New Roman" panose="02020603050405020304" pitchFamily="18" charset="0"/>
              <a:sym typeface="+mn-ea"/>
            </a:endParaRPr>
          </a:p>
          <a:p>
            <a:pPr marL="0" lvl="2" indent="400050">
              <a:spcBef>
                <a:spcPts val="0"/>
              </a:spcBef>
              <a:buClr>
                <a:schemeClr val="accent1"/>
              </a:buClr>
              <a:buNone/>
            </a:pPr>
            <a:endParaRPr lang="en-US" altLang="zh-CN" dirty="0" smtClean="0">
              <a:latin typeface="Times New Roman" panose="02020603050405020304" pitchFamily="18" charset="0"/>
              <a:cs typeface="Times New Roman" panose="02020603050405020304" pitchFamily="18" charset="0"/>
              <a:sym typeface="+mn-ea"/>
            </a:endParaRPr>
          </a:p>
          <a:p>
            <a:pPr marL="0" lvl="2" indent="400050" algn="just" eaLnBrk="1" hangingPunct="1">
              <a:buClr>
                <a:schemeClr val="accent1"/>
              </a:buClr>
              <a:buFont typeface="Wingdings" panose="05000000000000000000" pitchFamily="2" charset="2"/>
              <a:buNone/>
            </a:pPr>
            <a:endParaRPr lang="zh-CN" altLang="en-US" b="1" dirty="0" smtClean="0">
              <a:latin typeface="Times New Roman" panose="02020603050405020304" pitchFamily="18" charset="0"/>
              <a:cs typeface="Times New Roman" panose="02020603050405020304" pitchFamily="18" charset="0"/>
            </a:endParaRPr>
          </a:p>
        </p:txBody>
      </p:sp>
      <p:sp>
        <p:nvSpPr>
          <p:cNvPr id="5120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5604718"/>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noChangeArrowheads="1"/>
          </p:cNvSpPr>
          <p:nvPr>
            <p:ph type="subTitle" idx="4294967295"/>
          </p:nvPr>
        </p:nvSpPr>
        <p:spPr>
          <a:xfrm>
            <a:off x="540068" y="1573848"/>
            <a:ext cx="8148637" cy="4321175"/>
          </a:xfrm>
        </p:spPr>
        <p:txBody>
          <a:bodyPr/>
          <a:lstStyle/>
          <a:p>
            <a:pPr marL="0" indent="0" eaLnBrk="1" hangingPunct="1">
              <a:lnSpc>
                <a:spcPct val="80000"/>
              </a:lnSpc>
              <a:buFont typeface="Wingdings" panose="05000000000000000000" pitchFamily="2" charset="2"/>
              <a:buNone/>
            </a:pPr>
            <a:r>
              <a:rPr lang="en-US" altLang="zh-CN" smtClean="0">
                <a:solidFill>
                  <a:srgbClr val="CC0000"/>
                </a:solidFill>
              </a:rPr>
              <a:t>    2. </a:t>
            </a:r>
            <a:r>
              <a:rPr lang="zh-CN" altLang="en-US" smtClean="0">
                <a:solidFill>
                  <a:srgbClr val="CC0000"/>
                </a:solidFill>
              </a:rPr>
              <a:t>访问控制的模型</a:t>
            </a:r>
            <a:endParaRPr lang="zh-CN" altLang="en-US" smtClean="0">
              <a:solidFill>
                <a:srgbClr val="CC0000"/>
              </a:solidFill>
            </a:endParaRPr>
          </a:p>
          <a:p>
            <a:pPr marL="400050" lvl="2" indent="0" eaLnBrk="1" hangingPunct="1">
              <a:lnSpc>
                <a:spcPct val="80000"/>
              </a:lnSpc>
              <a:buClr>
                <a:schemeClr val="accent1"/>
              </a:buClr>
              <a:buFont typeface="Wingdings" panose="05000000000000000000" pitchFamily="2" charset="2"/>
              <a:buNone/>
            </a:pPr>
            <a:r>
              <a:rPr lang="zh-CN" altLang="en-US" b="1" smtClean="0"/>
              <a:t>（</a:t>
            </a:r>
            <a:r>
              <a:rPr lang="en-US" altLang="zh-CN" b="1" smtClean="0"/>
              <a:t>3</a:t>
            </a:r>
            <a:r>
              <a:rPr lang="zh-CN" altLang="en-US" b="1" smtClean="0"/>
              <a:t>）基于角色的访问控制（</a:t>
            </a:r>
            <a:r>
              <a:rPr lang="en-US" altLang="zh-CN" b="1" smtClean="0"/>
              <a:t>RBAC</a:t>
            </a:r>
            <a:r>
              <a:rPr lang="zh-CN" altLang="en-US" b="1" smtClean="0"/>
              <a:t>） </a:t>
            </a:r>
            <a:endParaRPr lang="en-US" altLang="zh-CN" b="1" smtClean="0"/>
          </a:p>
          <a:p>
            <a:pPr marL="400050" lvl="2" indent="0" eaLnBrk="1" hangingPunct="1">
              <a:buClr>
                <a:schemeClr val="accent1"/>
              </a:buClr>
              <a:buFont typeface="Wingdings" panose="05000000000000000000" pitchFamily="2" charset="2"/>
              <a:buNone/>
            </a:pPr>
            <a:r>
              <a:rPr lang="en-US" altLang="zh-CN" b="1" smtClean="0"/>
              <a:t>    20</a:t>
            </a:r>
            <a:r>
              <a:rPr lang="zh-CN" altLang="en-US" b="1" smtClean="0"/>
              <a:t>世纪</a:t>
            </a:r>
            <a:r>
              <a:rPr lang="en-US" altLang="zh-CN" b="1" smtClean="0"/>
              <a:t>90</a:t>
            </a:r>
            <a:r>
              <a:rPr lang="zh-CN" altLang="en-US" b="1" smtClean="0"/>
              <a:t>年代以来，随着对在线的多用户、多系统研究的不断深入，角色的概念逐渐形成，并逐步产生了</a:t>
            </a:r>
            <a:r>
              <a:rPr lang="zh-CN" altLang="en-US" b="1" smtClean="0">
                <a:solidFill>
                  <a:srgbClr val="C00000"/>
                </a:solidFill>
              </a:rPr>
              <a:t>基于角色的访问控制</a:t>
            </a:r>
            <a:r>
              <a:rPr lang="zh-CN" altLang="en-US" b="1" smtClean="0"/>
              <a:t>（</a:t>
            </a:r>
            <a:r>
              <a:rPr lang="en-US" altLang="zh-CN" b="1" smtClean="0"/>
              <a:t>Role-Based Access Control</a:t>
            </a:r>
            <a:r>
              <a:rPr lang="zh-CN" altLang="en-US" b="1" smtClean="0"/>
              <a:t>，</a:t>
            </a:r>
            <a:r>
              <a:rPr lang="en-US" altLang="zh-CN" b="1" smtClean="0"/>
              <a:t>RBAC</a:t>
            </a:r>
            <a:r>
              <a:rPr lang="zh-CN" altLang="en-US" b="1" smtClean="0"/>
              <a:t>）模型。</a:t>
            </a:r>
            <a:endParaRPr lang="en-US" altLang="zh-CN" b="1" smtClean="0"/>
          </a:p>
          <a:p>
            <a:pPr marL="400050" lvl="2" indent="0" eaLnBrk="1" hangingPunct="1">
              <a:buClr>
                <a:schemeClr val="accent1"/>
              </a:buClr>
              <a:buFont typeface="Wingdings" panose="05000000000000000000" pitchFamily="2" charset="2"/>
              <a:buNone/>
            </a:pPr>
            <a:r>
              <a:rPr lang="zh-CN" altLang="en-US" b="1" smtClean="0"/>
              <a:t>其</a:t>
            </a:r>
            <a:r>
              <a:rPr lang="zh-CN" altLang="en-US" b="1" smtClean="0">
                <a:solidFill>
                  <a:srgbClr val="C00000"/>
                </a:solidFill>
              </a:rPr>
              <a:t>核心思想</a:t>
            </a:r>
            <a:r>
              <a:rPr lang="zh-CN" altLang="en-US" b="1" smtClean="0"/>
              <a:t>是将访问许可权分配给一定的角色，用户通过饰演不同的角色获得角色所拥有的访问许可权，如图所示。</a:t>
            </a:r>
            <a:endParaRPr lang="en-US" altLang="zh-CN" b="1" smtClean="0"/>
          </a:p>
        </p:txBody>
      </p:sp>
      <p:sp>
        <p:nvSpPr>
          <p:cNvPr id="53250"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4349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pic>
        <p:nvPicPr>
          <p:cNvPr id="53253" name="图片 6"/>
          <p:cNvPicPr>
            <a:picLocks noChangeAspect="1" noChangeArrowheads="1"/>
          </p:cNvPicPr>
          <p:nvPr/>
        </p:nvPicPr>
        <p:blipFill>
          <a:blip r:embed="rId1" cstate="print"/>
          <a:srcRect t="16121" b="21960"/>
          <a:stretch>
            <a:fillRect/>
          </a:stretch>
        </p:blipFill>
        <p:spPr bwMode="auto">
          <a:xfrm>
            <a:off x="2128520" y="4324985"/>
            <a:ext cx="5116195" cy="898525"/>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noChangeArrowheads="1"/>
          </p:cNvSpPr>
          <p:nvPr>
            <p:ph type="subTitle" idx="4294967295"/>
          </p:nvPr>
        </p:nvSpPr>
        <p:spPr>
          <a:xfrm>
            <a:off x="575628" y="1460818"/>
            <a:ext cx="7993062" cy="45370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3</a:t>
            </a:r>
            <a:r>
              <a:rPr lang="zh-CN" altLang="en-US" b="1" dirty="0" smtClean="0"/>
              <a:t>）基于角色的访问控制（</a:t>
            </a:r>
            <a:r>
              <a:rPr lang="en-US" altLang="zh-CN" b="1" dirty="0" smtClean="0"/>
              <a:t>RBAC</a:t>
            </a:r>
            <a:r>
              <a:rPr lang="zh-CN" altLang="en-US" b="1" dirty="0" smtClean="0"/>
              <a:t>） </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a:t>
            </a:r>
            <a:r>
              <a:rPr lang="zh-CN" altLang="en-US" b="1" dirty="0" smtClean="0">
                <a:solidFill>
                  <a:srgbClr val="FF0000"/>
                </a:solidFill>
              </a:rPr>
              <a:t>角色</a:t>
            </a:r>
            <a:r>
              <a:rPr lang="zh-CN" altLang="en-US" b="1" dirty="0" smtClean="0"/>
              <a:t>充当着主体（用户）和客体之间关系的桥梁，角色不仅是</a:t>
            </a:r>
            <a:r>
              <a:rPr lang="zh-CN" altLang="en-US" b="1" dirty="0" smtClean="0">
                <a:solidFill>
                  <a:srgbClr val="FF0000"/>
                </a:solidFill>
              </a:rPr>
              <a:t>用户的集合</a:t>
            </a:r>
            <a:r>
              <a:rPr lang="zh-CN" altLang="en-US" b="1" dirty="0" smtClean="0"/>
              <a:t>，也是</a:t>
            </a:r>
            <a:r>
              <a:rPr lang="zh-CN" altLang="en-US" b="1" dirty="0" smtClean="0">
                <a:solidFill>
                  <a:srgbClr val="FF0000"/>
                </a:solidFill>
              </a:rPr>
              <a:t>一系列权限的集合</a:t>
            </a:r>
            <a:r>
              <a:rPr lang="zh-CN" altLang="en-US" b="1" dirty="0" smtClean="0"/>
              <a:t>。当用户或权限发生变动时，系统可以很灵活地将该用户从一个角色移到另一个角色来实现权限的转换，降低了管理的复杂度。</a:t>
            </a:r>
            <a:endParaRPr lang="en-US" altLang="zh-CN" b="1" dirty="0" smtClean="0"/>
          </a:p>
          <a:p>
            <a:pPr marL="400050" lvl="2" indent="0" eaLnBrk="1" hangingPunct="1">
              <a:buClr>
                <a:schemeClr val="accent1"/>
              </a:buClr>
              <a:buFont typeface="Wingdings" panose="05000000000000000000" pitchFamily="2" charset="2"/>
              <a:buNone/>
            </a:pPr>
            <a:r>
              <a:rPr lang="en-US" altLang="zh-CN" b="1" dirty="0" smtClean="0"/>
              <a:t>    </a:t>
            </a:r>
            <a:r>
              <a:rPr lang="zh-CN" altLang="en-US" b="1" dirty="0" smtClean="0"/>
              <a:t>另外在组织机构发生职能改变时，应用系统只需要对角色进行重新授权或取消某些权限，就可以使系统重新适应需要。与用户相比，</a:t>
            </a:r>
            <a:r>
              <a:rPr lang="zh-CN" altLang="en-US" b="1" dirty="0" smtClean="0">
                <a:solidFill>
                  <a:srgbClr val="FF0000"/>
                </a:solidFill>
              </a:rPr>
              <a:t>角色是相对稳定的</a:t>
            </a:r>
            <a:r>
              <a:rPr lang="zh-CN" altLang="en-US" b="1" dirty="0" smtClean="0"/>
              <a:t>。</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角色由系统管理员定义，角色成员的增减也只能由系统管理员来执行，即只有系统管理员有权定义和分配角色。用户与客体无直接联系，只有通过角色才享有该角色所对应的权限，从而访问相应的客体。</a:t>
            </a:r>
            <a:endParaRPr lang="en-US" altLang="zh-CN" b="1" dirty="0" smtClean="0"/>
          </a:p>
        </p:txBody>
      </p:sp>
      <p:sp>
        <p:nvSpPr>
          <p:cNvPr id="54274"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796290" y="1136015"/>
            <a:ext cx="7921625" cy="4730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noChangeArrowheads="1"/>
          </p:cNvSpPr>
          <p:nvPr>
            <p:ph type="subTitle" idx="4294967295"/>
          </p:nvPr>
        </p:nvSpPr>
        <p:spPr>
          <a:xfrm>
            <a:off x="611505" y="1741805"/>
            <a:ext cx="7992745" cy="40544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4</a:t>
            </a:r>
            <a:r>
              <a:rPr lang="zh-CN" altLang="en-US" b="1" dirty="0" smtClean="0"/>
              <a:t>）基于任务的访问控制（</a:t>
            </a:r>
            <a:r>
              <a:rPr lang="en-US" altLang="zh-CN" b="1" dirty="0" smtClean="0"/>
              <a:t>TBAC</a:t>
            </a:r>
            <a:r>
              <a:rPr lang="zh-CN" altLang="en-US" b="1" dirty="0" smtClean="0"/>
              <a:t>）</a:t>
            </a:r>
            <a:endParaRPr lang="en-US" altLang="zh-CN" b="1" dirty="0" smtClean="0"/>
          </a:p>
          <a:p>
            <a:pPr marL="400050" lvl="2" indent="0" eaLnBrk="1" hangingPunct="1">
              <a:buClr>
                <a:schemeClr val="accent1"/>
              </a:buClr>
              <a:buFont typeface="Wingdings" panose="05000000000000000000" pitchFamily="2" charset="2"/>
              <a:buNone/>
            </a:pPr>
            <a:r>
              <a:rPr lang="zh-CN" altLang="en-US" b="1" dirty="0" smtClean="0"/>
              <a:t>    </a:t>
            </a:r>
            <a:r>
              <a:rPr lang="zh-CN" altLang="en-US" b="1" dirty="0" smtClean="0">
                <a:solidFill>
                  <a:srgbClr val="C00000"/>
                </a:solidFill>
              </a:rPr>
              <a:t>基于任务的访问控制（</a:t>
            </a:r>
            <a:r>
              <a:rPr lang="en-US" altLang="zh-CN" b="1" dirty="0" smtClean="0">
                <a:solidFill>
                  <a:srgbClr val="C00000"/>
                </a:solidFill>
              </a:rPr>
              <a:t>TBAC</a:t>
            </a:r>
            <a:r>
              <a:rPr lang="zh-CN" altLang="en-US" b="1" dirty="0" smtClean="0">
                <a:solidFill>
                  <a:srgbClr val="C00000"/>
                </a:solidFill>
              </a:rPr>
              <a:t>）模型</a:t>
            </a:r>
            <a:r>
              <a:rPr lang="zh-CN" altLang="en-US" b="1" dirty="0" smtClean="0"/>
              <a:t>是一种</a:t>
            </a:r>
            <a:r>
              <a:rPr lang="zh-CN" altLang="en-US" b="1" dirty="0" smtClean="0">
                <a:solidFill>
                  <a:srgbClr val="0000FF"/>
                </a:solidFill>
              </a:rPr>
              <a:t>以任务为中心</a:t>
            </a:r>
            <a:r>
              <a:rPr lang="zh-CN" altLang="en-US" b="1" dirty="0" smtClean="0"/>
              <a:t>的，并</a:t>
            </a:r>
            <a:r>
              <a:rPr lang="zh-CN" altLang="en-US" b="1" dirty="0" smtClean="0">
                <a:solidFill>
                  <a:srgbClr val="0000FF"/>
                </a:solidFill>
              </a:rPr>
              <a:t>采用动态授权</a:t>
            </a:r>
            <a:r>
              <a:rPr lang="zh-CN" altLang="en-US" b="1" dirty="0" smtClean="0"/>
              <a:t>的主动安全模型，</a:t>
            </a:r>
            <a:r>
              <a:rPr lang="zh-CN" altLang="en-US" b="1" dirty="0" smtClean="0">
                <a:solidFill>
                  <a:srgbClr val="C00000"/>
                </a:solidFill>
              </a:rPr>
              <a:t>该模型的基本思想是</a:t>
            </a:r>
            <a:r>
              <a:rPr lang="zh-CN" altLang="en-US" b="1" dirty="0" smtClean="0"/>
              <a:t>：授予给用户的访问权限，不仅仅依赖主体、客体，还</a:t>
            </a:r>
            <a:r>
              <a:rPr lang="zh-CN" altLang="en-US" b="1" dirty="0" smtClean="0">
                <a:solidFill>
                  <a:srgbClr val="FF0000"/>
                </a:solidFill>
              </a:rPr>
              <a:t>依赖于主体当前执行的任务、任务的状态</a:t>
            </a:r>
            <a:r>
              <a:rPr lang="zh-CN" altLang="en-US" b="1" dirty="0" smtClean="0"/>
              <a:t>。当任务处于活动状态时，主体拥有访问权限。一旦任务被挂起，主体拥有的访问权限就被冻结。如果任务恢复执行，主体将重新拥有访问权限。任务处于终止状态时，主体拥有的权限马上被撤销。</a:t>
            </a:r>
            <a:r>
              <a:rPr lang="en-US" altLang="zh-CN" b="1" dirty="0" smtClean="0"/>
              <a:t>TBAC</a:t>
            </a:r>
            <a:r>
              <a:rPr lang="zh-CN" altLang="en-US" b="1" dirty="0" smtClean="0"/>
              <a:t>适用于工作流、分布式处理、多点访问控制的信息处理以及事务管理系统中的决策制定，但最显著的应用还是在安全</a:t>
            </a:r>
            <a:r>
              <a:rPr lang="zh-CN" altLang="en-US" b="1" dirty="0" smtClean="0">
                <a:solidFill>
                  <a:srgbClr val="FF0000"/>
                </a:solidFill>
              </a:rPr>
              <a:t>工作流管理</a:t>
            </a:r>
            <a:r>
              <a:rPr lang="zh-CN" altLang="en-US" b="1" dirty="0" smtClean="0"/>
              <a:t>中。</a:t>
            </a:r>
            <a:endParaRPr lang="zh-CN" altLang="en-US" b="1" dirty="0" smtClean="0"/>
          </a:p>
          <a:p>
            <a:pPr marL="400050" lvl="2" indent="0" eaLnBrk="1" hangingPunct="1">
              <a:lnSpc>
                <a:spcPct val="80000"/>
              </a:lnSpc>
              <a:buClr>
                <a:schemeClr val="accent1"/>
              </a:buClr>
              <a:buFont typeface="Wingdings" panose="05000000000000000000" pitchFamily="2" charset="2"/>
              <a:buNone/>
            </a:pPr>
            <a:endParaRPr lang="en-US" altLang="zh-CN" b="1" dirty="0" smtClean="0"/>
          </a:p>
        </p:txBody>
      </p:sp>
      <p:sp>
        <p:nvSpPr>
          <p:cNvPr id="55298"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396875" y="1136650"/>
            <a:ext cx="8291830" cy="465963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type="subTitle" idx="4294967295"/>
          </p:nvPr>
        </p:nvSpPr>
        <p:spPr>
          <a:xfrm>
            <a:off x="611188" y="1844675"/>
            <a:ext cx="7993062" cy="43211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5</a:t>
            </a:r>
            <a:r>
              <a:rPr lang="zh-CN" altLang="en-US" b="1" dirty="0" smtClean="0"/>
              <a:t>）基于属性的访问控制（</a:t>
            </a:r>
            <a:r>
              <a:rPr lang="en-US" altLang="zh-CN" b="1" dirty="0" smtClean="0"/>
              <a:t>ABAC</a:t>
            </a:r>
            <a:r>
              <a:rPr lang="zh-CN" altLang="en-US" b="1" dirty="0" smtClean="0"/>
              <a:t>）</a:t>
            </a:r>
            <a:endParaRPr lang="en-US" altLang="zh-CN" b="1" dirty="0" smtClean="0"/>
          </a:p>
          <a:p>
            <a:pPr marL="400050" lvl="2" indent="0" algn="just" eaLnBrk="1" hangingPunct="1">
              <a:buClr>
                <a:schemeClr val="accent1"/>
              </a:buClr>
              <a:buFont typeface="Wingdings" panose="05000000000000000000" pitchFamily="2" charset="2"/>
              <a:buNone/>
            </a:pPr>
            <a:r>
              <a:rPr lang="zh-CN" altLang="en-US" b="1" dirty="0" smtClean="0"/>
              <a:t>    基于用户、资源、操作和运行上下文属性所提出的</a:t>
            </a:r>
            <a:r>
              <a:rPr lang="zh-CN" altLang="en-US" b="1" dirty="0" smtClean="0">
                <a:solidFill>
                  <a:srgbClr val="C00000"/>
                </a:solidFill>
              </a:rPr>
              <a:t>基于属性的访问控制</a:t>
            </a:r>
            <a:r>
              <a:rPr lang="zh-CN" altLang="en-US" b="1" dirty="0" smtClean="0"/>
              <a:t>（</a:t>
            </a:r>
            <a:r>
              <a:rPr lang="en-US" altLang="zh-CN" b="1" dirty="0" smtClean="0"/>
              <a:t>Attribute-Based Access Control</a:t>
            </a:r>
            <a:r>
              <a:rPr lang="zh-CN" altLang="en-US" b="1" dirty="0" smtClean="0"/>
              <a:t>，</a:t>
            </a:r>
            <a:r>
              <a:rPr lang="en-US" altLang="zh-CN" b="1" dirty="0" smtClean="0"/>
              <a:t>ABAC</a:t>
            </a:r>
            <a:r>
              <a:rPr lang="zh-CN" altLang="en-US" b="1" dirty="0" smtClean="0"/>
              <a:t>）主体和客体的属性作为基本的决策要素，灵活利用请求者所具有的属性集合决定是否赋予其访问权限，能够很好地将策略管理和权限判定相分离。由于属性是主体和客体内在固有的，不需要手工分配，同时访问控制是多对多的方式，使得 </a:t>
            </a:r>
            <a:r>
              <a:rPr lang="en-US" altLang="zh-CN" b="1" dirty="0" smtClean="0"/>
              <a:t>ABAC </a:t>
            </a:r>
            <a:r>
              <a:rPr lang="zh-CN" altLang="en-US" b="1" dirty="0" smtClean="0"/>
              <a:t>管理上相对简单。并且属性可以多个角度对实体进行描述，因此可根据实际情况改变策略。</a:t>
            </a:r>
            <a:endParaRPr lang="en-US" altLang="zh-CN" b="1" dirty="0" smtClean="0"/>
          </a:p>
          <a:p>
            <a:pPr marL="400050" lvl="2" indent="0" algn="just" eaLnBrk="1" hangingPunct="1">
              <a:buClr>
                <a:schemeClr val="accent1"/>
              </a:buClr>
              <a:buFont typeface="Wingdings" panose="05000000000000000000" pitchFamily="2" charset="2"/>
              <a:buNone/>
            </a:pPr>
            <a:r>
              <a:rPr lang="en-US" altLang="zh-CN" b="1" dirty="0" smtClean="0"/>
              <a:t>    </a:t>
            </a:r>
            <a:r>
              <a:rPr lang="zh-CN" altLang="en-US" b="1" dirty="0" smtClean="0"/>
              <a:t>除此之外，</a:t>
            </a:r>
            <a:r>
              <a:rPr lang="en-US" altLang="zh-CN" b="1" dirty="0" smtClean="0"/>
              <a:t>ABAC </a:t>
            </a:r>
            <a:r>
              <a:rPr lang="zh-CN" altLang="en-US" b="1" dirty="0" smtClean="0"/>
              <a:t>的强扩展性使其可以同加密机制等数据隐私保护机制相结合，在实现细粒度访问控制的基础上，保证用户数据不会被分析及泄漏。</a:t>
            </a: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smtClean="0"/>
          </a:p>
        </p:txBody>
      </p:sp>
      <p:sp>
        <p:nvSpPr>
          <p:cNvPr id="5632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54025" y="1136650"/>
            <a:ext cx="8234680" cy="518668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type="subTitle" idx="4294967295"/>
          </p:nvPr>
        </p:nvSpPr>
        <p:spPr>
          <a:xfrm>
            <a:off x="611187" y="1844675"/>
            <a:ext cx="8077517" cy="4321175"/>
          </a:xfrm>
        </p:spPr>
        <p:txBody>
          <a:bodyPr/>
          <a:lstStyle/>
          <a:p>
            <a:pPr marL="400050" lvl="2" indent="0" eaLnBrk="1" hangingPunct="1">
              <a:lnSpc>
                <a:spcPct val="80000"/>
              </a:lnSpc>
              <a:buClr>
                <a:schemeClr val="accent1"/>
              </a:buClr>
              <a:buFont typeface="Wingdings" panose="05000000000000000000" pitchFamily="2" charset="2"/>
              <a:buNone/>
            </a:pPr>
            <a:r>
              <a:rPr lang="zh-CN" altLang="en-US" b="1" dirty="0" smtClean="0"/>
              <a:t>（</a:t>
            </a:r>
            <a:r>
              <a:rPr lang="en-US" altLang="zh-CN" b="1" dirty="0" smtClean="0"/>
              <a:t>5</a:t>
            </a:r>
            <a:r>
              <a:rPr lang="zh-CN" altLang="en-US" b="1" dirty="0" smtClean="0"/>
              <a:t>）基于属性的访问控制（</a:t>
            </a:r>
            <a:r>
              <a:rPr lang="en-US" altLang="zh-CN" b="1" dirty="0" smtClean="0"/>
              <a:t>ABAC</a:t>
            </a:r>
            <a:r>
              <a:rPr lang="zh-CN" altLang="en-US" b="1" dirty="0" smtClean="0"/>
              <a:t>）</a:t>
            </a: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eaLnBrk="1" hangingPunct="1">
              <a:lnSpc>
                <a:spcPct val="80000"/>
              </a:lnSpc>
              <a:buClr>
                <a:schemeClr val="accent1"/>
              </a:buClr>
              <a:buFont typeface="Wingdings" panose="05000000000000000000" pitchFamily="2" charset="2"/>
              <a:buNone/>
            </a:pPr>
            <a:endParaRPr lang="en-US" altLang="zh-CN" b="1" dirty="0" smtClean="0"/>
          </a:p>
          <a:p>
            <a:pPr marL="400050" lvl="2" indent="0" eaLnBrk="1" hangingPunct="1">
              <a:lnSpc>
                <a:spcPct val="80000"/>
              </a:lnSpc>
              <a:buClr>
                <a:schemeClr val="accent1"/>
              </a:buClr>
              <a:buFont typeface="Wingdings" panose="05000000000000000000" pitchFamily="2" charset="2"/>
              <a:buNone/>
            </a:pPr>
            <a:endParaRPr lang="en-US" altLang="zh-CN" b="1" dirty="0"/>
          </a:p>
          <a:p>
            <a:pPr marL="400050" lvl="2" indent="0">
              <a:lnSpc>
                <a:spcPct val="80000"/>
              </a:lnSpc>
              <a:buClr>
                <a:schemeClr val="accent1"/>
              </a:buClr>
              <a:buNone/>
            </a:pPr>
            <a:endParaRPr lang="en-US" altLang="zh-CN" b="1" dirty="0" smtClean="0"/>
          </a:p>
          <a:p>
            <a:pPr marL="400050" lvl="2" indent="0">
              <a:lnSpc>
                <a:spcPct val="80000"/>
              </a:lnSpc>
              <a:buClr>
                <a:schemeClr val="accent1"/>
              </a:buClr>
              <a:buNone/>
            </a:pPr>
            <a:r>
              <a:rPr lang="en-US" altLang="zh-CN" b="1" dirty="0" smtClean="0">
                <a:hlinkClick r:id="rId1"/>
              </a:rPr>
              <a:t>https</a:t>
            </a:r>
            <a:r>
              <a:rPr lang="en-US" altLang="zh-CN" b="1" dirty="0">
                <a:hlinkClick r:id="rId1"/>
              </a:rPr>
              <a:t>://</a:t>
            </a:r>
            <a:r>
              <a:rPr lang="en-US" altLang="zh-CN" b="1" dirty="0" smtClean="0">
                <a:hlinkClick r:id="rId1"/>
              </a:rPr>
              <a:t>blog.csdn.net/Enlink_Young/article/details/119911198</a:t>
            </a:r>
            <a:endParaRPr lang="en-US" altLang="zh-CN" b="1" dirty="0" smtClean="0"/>
          </a:p>
          <a:p>
            <a:pPr marL="400050" lvl="2" indent="0">
              <a:lnSpc>
                <a:spcPct val="80000"/>
              </a:lnSpc>
              <a:buClr>
                <a:schemeClr val="accent1"/>
              </a:buClr>
              <a:buNone/>
            </a:pPr>
            <a:r>
              <a:rPr lang="en-US" altLang="zh-CN" b="1" dirty="0">
                <a:hlinkClick r:id="rId2"/>
              </a:rPr>
              <a:t>https://</a:t>
            </a:r>
            <a:r>
              <a:rPr lang="en-US" altLang="zh-CN" b="1" dirty="0" smtClean="0">
                <a:hlinkClick r:id="rId2"/>
              </a:rPr>
              <a:t>blog.csdn.net/mlynb/article/details/118157973</a:t>
            </a:r>
            <a:endParaRPr lang="en-US" altLang="zh-CN" b="1" dirty="0" smtClean="0"/>
          </a:p>
          <a:p>
            <a:pPr marL="400050" lvl="2" indent="0">
              <a:lnSpc>
                <a:spcPct val="80000"/>
              </a:lnSpc>
              <a:buClr>
                <a:schemeClr val="accent1"/>
              </a:buClr>
              <a:buNone/>
            </a:pPr>
            <a:r>
              <a:rPr lang="en-US" altLang="zh-CN" b="1" dirty="0" smtClean="0"/>
              <a:t>https://blog.csdn.net/yuzijiang11111/article/details/123273106?utm_medium=distribute.pc_relevant.none-task-blog-2~default~baidujs_baidulandingword~default-0-123273106-blog-119911198.pc_relevant_aa2&amp;spm=1001.2101.3001.4242.1&amp;utm_relevant_index=3</a:t>
            </a:r>
            <a:endParaRPr lang="en-US" altLang="zh-CN" b="1" dirty="0" smtClean="0"/>
          </a:p>
          <a:p>
            <a:pPr marL="400050" lvl="2" indent="0">
              <a:lnSpc>
                <a:spcPct val="80000"/>
              </a:lnSpc>
              <a:buClr>
                <a:schemeClr val="accent1"/>
              </a:buClr>
              <a:buNone/>
            </a:pPr>
            <a:endParaRPr lang="en-US" altLang="zh-CN" b="1" dirty="0" smtClean="0"/>
          </a:p>
          <a:p>
            <a:pPr marL="400050" lvl="2" indent="0">
              <a:lnSpc>
                <a:spcPct val="80000"/>
              </a:lnSpc>
              <a:buClr>
                <a:schemeClr val="accent1"/>
              </a:buClr>
              <a:buNone/>
            </a:pPr>
            <a:endParaRPr lang="en-US" altLang="zh-CN" b="1" dirty="0" smtClean="0"/>
          </a:p>
          <a:p>
            <a:pPr marL="400050" lvl="2" indent="0" algn="just" eaLnBrk="1" hangingPunct="1">
              <a:buClr>
                <a:schemeClr val="accent1"/>
              </a:buClr>
              <a:buFont typeface="Wingdings" panose="05000000000000000000" pitchFamily="2" charset="2"/>
              <a:buNone/>
            </a:pPr>
            <a:r>
              <a:rPr lang="zh-CN" altLang="en-US" b="1" dirty="0" smtClean="0"/>
              <a:t>    </a:t>
            </a:r>
            <a:endParaRPr lang="en-US" altLang="zh-CN" b="1" dirty="0" smtClean="0"/>
          </a:p>
        </p:txBody>
      </p:sp>
      <p:sp>
        <p:nvSpPr>
          <p:cNvPr id="56322" name="矩形 4"/>
          <p:cNvSpPr>
            <a:spLocks noChangeArrowheads="1"/>
          </p:cNvSpPr>
          <p:nvPr/>
        </p:nvSpPr>
        <p:spPr bwMode="auto">
          <a:xfrm>
            <a:off x="2760663" y="220663"/>
            <a:ext cx="3851275" cy="646112"/>
          </a:xfrm>
          <a:prstGeom prst="rect">
            <a:avLst/>
          </a:prstGeom>
          <a:noFill/>
          <a:ln w="9525">
            <a:noFill/>
            <a:miter lim="800000"/>
          </a:ln>
        </p:spPr>
        <p:txBody>
          <a:bodyPr wrap="none">
            <a:spAutoFit/>
          </a:bodyPr>
          <a:lstStyle/>
          <a:p>
            <a:r>
              <a:rPr lang="en-US" altLang="zh-CN" sz="3600" b="1">
                <a:solidFill>
                  <a:schemeClr val="bg1"/>
                </a:solidFill>
              </a:rPr>
              <a:t>6.3 </a:t>
            </a:r>
            <a:r>
              <a:rPr lang="zh-CN" altLang="en-US" sz="3600" b="1">
                <a:solidFill>
                  <a:schemeClr val="bg1"/>
                </a:solidFill>
              </a:rPr>
              <a:t>访问控制技术 </a:t>
            </a:r>
            <a:endParaRPr lang="zh-CN" altLang="en-US" sz="3600" b="1">
              <a:solidFill>
                <a:schemeClr val="bg1"/>
              </a:solidFill>
            </a:endParaRPr>
          </a:p>
        </p:txBody>
      </p:sp>
      <p:sp>
        <p:nvSpPr>
          <p:cNvPr id="19" name="圆角矩形 18"/>
          <p:cNvSpPr/>
          <p:nvPr/>
        </p:nvSpPr>
        <p:spPr bwMode="gray">
          <a:xfrm>
            <a:off x="454025" y="1136650"/>
            <a:ext cx="8234680" cy="553271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FF0000"/>
                </a:solidFill>
                <a:latin typeface="Arial" panose="020B0604020202020204" pitchFamily="34" charset="0"/>
              </a:rPr>
              <a:t> </a:t>
            </a:r>
            <a:endParaRPr lang="zh-CN" altLang="en-US" sz="2000" b="1" dirty="0"/>
          </a:p>
          <a:p>
            <a:pPr>
              <a:defRPr/>
            </a:pPr>
            <a:endParaRPr lang="zh-CN" altLang="en-US" sz="2000" dirty="0">
              <a:solidFill>
                <a:schemeClr val="tx2"/>
              </a:solidFill>
              <a:latin typeface="Arial" panose="020B0604020202020204" pitchFamily="34" charset="0"/>
            </a:endParaRPr>
          </a:p>
        </p:txBody>
      </p:sp>
      <p:sp>
        <p:nvSpPr>
          <p:cNvPr id="6" name="Rectangle 6"/>
          <p:cNvSpPr>
            <a:spLocks noChangeArrowheads="1"/>
          </p:cNvSpPr>
          <p:nvPr/>
        </p:nvSpPr>
        <p:spPr bwMode="auto">
          <a:xfrm>
            <a:off x="611188" y="1217613"/>
            <a:ext cx="4691062" cy="523875"/>
          </a:xfrm>
          <a:prstGeom prst="rect">
            <a:avLst/>
          </a:prstGeom>
          <a:noFill/>
          <a:ln>
            <a:noFill/>
          </a:ln>
          <a:effectLst/>
        </p:spPr>
        <p:txBody>
          <a:bodyPr wrap="none">
            <a:spAutoFit/>
          </a:bodyPr>
          <a:lstStyle/>
          <a:p>
            <a:pPr>
              <a:defRPr/>
            </a:pPr>
            <a:r>
              <a:rPr lang="en-US" altLang="zh-CN" sz="2800" b="1" dirty="0">
                <a:solidFill>
                  <a:srgbClr val="FF0000"/>
                </a:solidFill>
                <a:effectLst>
                  <a:outerShdw blurRad="38100" dist="38100" dir="2700000" algn="tl">
                    <a:srgbClr val="C0C0C0"/>
                  </a:outerShdw>
                </a:effectLst>
              </a:rPr>
              <a:t>6.3.2 </a:t>
            </a:r>
            <a:r>
              <a:rPr lang="zh-CN" altLang="en-US" sz="2800" b="1" dirty="0">
                <a:solidFill>
                  <a:srgbClr val="FF0000"/>
                </a:solidFill>
                <a:effectLst>
                  <a:outerShdw blurRad="38100" dist="38100" dir="2700000" algn="tl">
                    <a:srgbClr val="C0C0C0"/>
                  </a:outerShdw>
                </a:effectLst>
              </a:rPr>
              <a:t>访问控制的模型和分类</a:t>
            </a:r>
            <a:endParaRPr lang="zh-CN" altLang="en-US" sz="2800" b="1" dirty="0">
              <a:solidFill>
                <a:srgbClr val="FF0000"/>
              </a:solidFill>
              <a:effectLst>
                <a:outerShdw blurRad="38100" dist="38100" dir="2700000" algn="tl">
                  <a:srgbClr val="C0C0C0"/>
                </a:outerShdw>
              </a:effectLst>
            </a:endParaRPr>
          </a:p>
        </p:txBody>
      </p:sp>
      <p:pic>
        <p:nvPicPr>
          <p:cNvPr id="2" name="图片 1"/>
          <p:cNvPicPr>
            <a:picLocks noChangeAspect="1"/>
          </p:cNvPicPr>
          <p:nvPr/>
        </p:nvPicPr>
        <p:blipFill>
          <a:blip r:embed="rId3"/>
          <a:stretch>
            <a:fillRect/>
          </a:stretch>
        </p:blipFill>
        <p:spPr>
          <a:xfrm>
            <a:off x="1619672" y="2276873"/>
            <a:ext cx="4248472" cy="309194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39750" y="1670050"/>
            <a:ext cx="8088313" cy="45402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7346" name="内容占位符 13"/>
          <p:cNvSpPr>
            <a:spLocks noChangeArrowheads="1"/>
          </p:cNvSpPr>
          <p:nvPr/>
        </p:nvSpPr>
        <p:spPr bwMode="auto">
          <a:xfrm>
            <a:off x="665163" y="2249488"/>
            <a:ext cx="8064500" cy="4057650"/>
          </a:xfrm>
          <a:prstGeom prst="rect">
            <a:avLst/>
          </a:prstGeom>
          <a:noFill/>
          <a:ln w="9525">
            <a:noFill/>
            <a:miter lim="800000"/>
          </a:ln>
        </p:spPr>
        <p:txBody>
          <a:bodyPr/>
          <a:lstStyle/>
          <a:p>
            <a:pPr>
              <a:spcBef>
                <a:spcPct val="20000"/>
              </a:spcBef>
              <a:spcAft>
                <a:spcPts val="600"/>
              </a:spcAft>
              <a:buClr>
                <a:schemeClr val="hlink"/>
              </a:buClr>
            </a:pPr>
            <a:r>
              <a:rPr lang="zh-CN" altLang="en-US" sz="2000" b="1">
                <a:solidFill>
                  <a:srgbClr val="990033"/>
                </a:solidFill>
                <a:latin typeface="宋体" panose="02010600030101010101" pitchFamily="2" charset="-122"/>
              </a:rPr>
              <a:t>    访问控制技术的实现</a:t>
            </a:r>
            <a:r>
              <a:rPr lang="zh-CN" altLang="en-US" sz="2000" b="1">
                <a:solidFill>
                  <a:schemeClr val="tx2"/>
                </a:solidFill>
                <a:latin typeface="楷体_GB2312" pitchFamily="49" charset="-122"/>
                <a:ea typeface="楷体_GB2312" pitchFamily="49" charset="-122"/>
              </a:rPr>
              <a:t>以访问控制策略的表达、分析和实施为主。其中，访问控制策略定义了系统安全保护的目标，访问控制模型对访问控制策略的应用和实施进行了抽象和描述，访问控制框架描述了访问控制系统的具体实现、组成架构和部件之间交互流程。</a:t>
            </a:r>
            <a:endParaRPr lang="zh-CN" altLang="en-US" sz="2000" b="1">
              <a:solidFill>
                <a:schemeClr val="tx2"/>
              </a:solidFill>
              <a:latin typeface="楷体_GB2312" pitchFamily="49" charset="-122"/>
              <a:ea typeface="楷体_GB2312" pitchFamily="49" charset="-122"/>
            </a:endParaRPr>
          </a:p>
          <a:p>
            <a:pPr>
              <a:spcBef>
                <a:spcPct val="20000"/>
              </a:spcBef>
              <a:spcAft>
                <a:spcPts val="600"/>
              </a:spcAft>
              <a:buClr>
                <a:schemeClr val="hlink"/>
              </a:buClr>
            </a:pPr>
            <a:r>
              <a:rPr lang="zh-CN" altLang="en-US" sz="2000" b="1">
                <a:solidFill>
                  <a:schemeClr val="tx2"/>
                </a:solidFill>
                <a:latin typeface="楷体_GB2312" pitchFamily="49" charset="-122"/>
                <a:ea typeface="楷体_GB2312" pitchFamily="49" charset="-122"/>
              </a:rPr>
              <a:t>    </a:t>
            </a:r>
            <a:r>
              <a:rPr lang="zh-CN" altLang="en-US" sz="2000" b="1">
                <a:solidFill>
                  <a:srgbClr val="FF0000"/>
                </a:solidFill>
                <a:latin typeface="宋体" panose="02010600030101010101" pitchFamily="2" charset="-122"/>
              </a:rPr>
              <a:t>访问控制安全策略主要有如下</a:t>
            </a:r>
            <a:r>
              <a:rPr lang="en-US" altLang="zh-CN" sz="2000" b="1">
                <a:solidFill>
                  <a:srgbClr val="FF0000"/>
                </a:solidFill>
                <a:latin typeface="宋体" panose="02010600030101010101" pitchFamily="2" charset="-122"/>
              </a:rPr>
              <a:t>7</a:t>
            </a:r>
            <a:r>
              <a:rPr lang="zh-CN" altLang="en-US" sz="2000" b="1">
                <a:solidFill>
                  <a:srgbClr val="FF0000"/>
                </a:solidFill>
                <a:latin typeface="宋体" panose="02010600030101010101" pitchFamily="2" charset="-122"/>
              </a:rPr>
              <a:t>种</a:t>
            </a:r>
            <a:r>
              <a:rPr lang="zh-CN" altLang="en-US" sz="2000" b="1">
                <a:solidFill>
                  <a:schemeClr val="tx2"/>
                </a:solidFill>
                <a:latin typeface="宋体" panose="02010600030101010101" pitchFamily="2" charset="-122"/>
              </a:rPr>
              <a:t>：</a:t>
            </a:r>
            <a:endParaRPr lang="zh-CN" altLang="en-US" sz="2000" b="1">
              <a:solidFill>
                <a:schemeClr val="tx2"/>
              </a:solidFill>
              <a:latin typeface="宋体" panose="02010600030101010101" pitchFamily="2"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1</a:t>
            </a:r>
            <a:r>
              <a:rPr lang="zh-CN" altLang="en-US" sz="2000" b="1">
                <a:solidFill>
                  <a:schemeClr val="tx2"/>
                </a:solidFill>
                <a:latin typeface="楷体_GB2312" pitchFamily="49" charset="-122"/>
                <a:ea typeface="楷体_GB2312" pitchFamily="49" charset="-122"/>
              </a:rPr>
              <a:t>）入网访问控制策略。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2</a:t>
            </a:r>
            <a:r>
              <a:rPr lang="zh-CN" altLang="en-US" sz="2000" b="1">
                <a:solidFill>
                  <a:schemeClr val="tx2"/>
                </a:solidFill>
                <a:latin typeface="楷体_GB2312" pitchFamily="49" charset="-122"/>
                <a:ea typeface="楷体_GB2312" pitchFamily="49" charset="-122"/>
              </a:rPr>
              <a:t>）网络权限控制策略。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3</a:t>
            </a:r>
            <a:r>
              <a:rPr lang="zh-CN" altLang="en-US" sz="2000" b="1">
                <a:solidFill>
                  <a:schemeClr val="tx2"/>
                </a:solidFill>
                <a:latin typeface="楷体_GB2312" pitchFamily="49" charset="-122"/>
                <a:ea typeface="楷体_GB2312" pitchFamily="49" charset="-122"/>
              </a:rPr>
              <a:t>）目录级安全控制策略。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4</a:t>
            </a:r>
            <a:r>
              <a:rPr lang="zh-CN" altLang="en-US" sz="2000" b="1">
                <a:solidFill>
                  <a:schemeClr val="tx2"/>
                </a:solidFill>
                <a:latin typeface="楷体_GB2312" pitchFamily="49" charset="-122"/>
                <a:ea typeface="楷体_GB2312" pitchFamily="49" charset="-122"/>
              </a:rPr>
              <a:t>）属性安全控制策略。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5</a:t>
            </a:r>
            <a:r>
              <a:rPr lang="zh-CN" altLang="en-US" sz="2000" b="1">
                <a:solidFill>
                  <a:schemeClr val="tx2"/>
                </a:solidFill>
                <a:latin typeface="楷体_GB2312" pitchFamily="49" charset="-122"/>
                <a:ea typeface="楷体_GB2312" pitchFamily="49" charset="-122"/>
              </a:rPr>
              <a:t>）网络服务器安全控制策略。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6</a:t>
            </a:r>
            <a:r>
              <a:rPr lang="zh-CN" altLang="en-US" sz="2000" b="1">
                <a:solidFill>
                  <a:schemeClr val="tx2"/>
                </a:solidFill>
                <a:latin typeface="楷体_GB2312" pitchFamily="49" charset="-122"/>
                <a:ea typeface="楷体_GB2312" pitchFamily="49" charset="-122"/>
              </a:rPr>
              <a:t>）网络监控和锁定控制策略。</a:t>
            </a:r>
            <a:endParaRPr lang="zh-CN" altLang="en-US" sz="2000" b="1">
              <a:solidFill>
                <a:schemeClr val="tx2"/>
              </a:solidFill>
              <a:latin typeface="楷体_GB2312" pitchFamily="49" charset="-122"/>
              <a:ea typeface="楷体_GB2312" pitchFamily="49" charset="-122"/>
            </a:endParaRPr>
          </a:p>
          <a:p>
            <a:pPr marL="742950" lvl="1" indent="-285750" eaLnBrk="0" hangingPunct="0">
              <a:lnSpc>
                <a:spcPct val="95000"/>
              </a:lnSpc>
              <a:spcBef>
                <a:spcPct val="10000"/>
              </a:spcBef>
              <a:buClr>
                <a:schemeClr val="accent1"/>
              </a:buClr>
            </a:pPr>
            <a:r>
              <a:rPr lang="zh-CN" altLang="en-US" sz="2000" b="1">
                <a:solidFill>
                  <a:schemeClr val="tx2"/>
                </a:solidFill>
                <a:latin typeface="楷体_GB2312" pitchFamily="49" charset="-122"/>
                <a:ea typeface="楷体_GB2312" pitchFamily="49" charset="-122"/>
              </a:rPr>
              <a:t>（</a:t>
            </a:r>
            <a:r>
              <a:rPr lang="en-US" altLang="zh-CN" sz="2000" b="1">
                <a:solidFill>
                  <a:schemeClr val="tx2"/>
                </a:solidFill>
                <a:latin typeface="楷体_GB2312" pitchFamily="49" charset="-122"/>
                <a:ea typeface="楷体_GB2312" pitchFamily="49" charset="-122"/>
              </a:rPr>
              <a:t>7</a:t>
            </a:r>
            <a:r>
              <a:rPr lang="zh-CN" altLang="en-US" sz="2000" b="1">
                <a:solidFill>
                  <a:schemeClr val="tx2"/>
                </a:solidFill>
                <a:latin typeface="楷体_GB2312" pitchFamily="49" charset="-122"/>
                <a:ea typeface="楷体_GB2312" pitchFamily="49" charset="-122"/>
              </a:rPr>
              <a:t>）网络端口和结点的安全控制策略。</a:t>
            </a:r>
            <a:endParaRPr lang="zh-CN" altLang="en-US" sz="2000" b="1">
              <a:solidFill>
                <a:schemeClr val="tx2"/>
              </a:solidFill>
              <a:latin typeface="楷体_GB2312" pitchFamily="49" charset="-122"/>
              <a:ea typeface="楷体_GB2312" pitchFamily="49" charset="-122"/>
            </a:endParaRPr>
          </a:p>
        </p:txBody>
      </p:sp>
      <p:pic>
        <p:nvPicPr>
          <p:cNvPr id="57347" name="Picture 9" descr="j0234657"/>
          <p:cNvPicPr>
            <a:picLocks noChangeAspect="1" noChangeArrowheads="1"/>
          </p:cNvPicPr>
          <p:nvPr/>
        </p:nvPicPr>
        <p:blipFill>
          <a:blip r:embed="rId1" cstate="print"/>
          <a:srcRect/>
          <a:stretch>
            <a:fillRect/>
          </a:stretch>
        </p:blipFill>
        <p:spPr bwMode="auto">
          <a:xfrm>
            <a:off x="6115050" y="4013200"/>
            <a:ext cx="1538288" cy="1371600"/>
          </a:xfrm>
          <a:prstGeom prst="rect">
            <a:avLst/>
          </a:prstGeom>
          <a:noFill/>
          <a:ln w="9525">
            <a:noFill/>
            <a:miter lim="800000"/>
            <a:headEnd/>
            <a:tailEnd/>
          </a:ln>
        </p:spPr>
      </p:pic>
      <p:sp>
        <p:nvSpPr>
          <p:cNvPr id="5734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57349" name="内容占位符 13"/>
          <p:cNvSpPr>
            <a:spLocks noGrp="1" noChangeArrowheads="1"/>
          </p:cNvSpPr>
          <p:nvPr/>
        </p:nvSpPr>
        <p:spPr bwMode="auto">
          <a:xfrm>
            <a:off x="1042988" y="1835150"/>
            <a:ext cx="4897437" cy="514350"/>
          </a:xfrm>
          <a:prstGeom prst="rect">
            <a:avLst/>
          </a:prstGeom>
          <a:noFill/>
          <a:ln w="9525">
            <a:noFill/>
            <a:miter lim="800000"/>
          </a:ln>
        </p:spPr>
        <p:txBody>
          <a:bodyPr/>
          <a:lstStyle/>
          <a:p>
            <a:pPr marL="342900" indent="-342900" algn="just">
              <a:spcBef>
                <a:spcPct val="20000"/>
              </a:spcBef>
              <a:buClr>
                <a:schemeClr val="hlink"/>
              </a:buClr>
            </a:pPr>
            <a:r>
              <a:rPr lang="en-US" altLang="zh-CN" sz="2400" b="1">
                <a:solidFill>
                  <a:srgbClr val="C00000"/>
                </a:solidFill>
              </a:rPr>
              <a:t>1 </a:t>
            </a:r>
            <a:r>
              <a:rPr lang="zh-CN" altLang="en-US" sz="2400" b="1">
                <a:solidFill>
                  <a:srgbClr val="C00000"/>
                </a:solidFill>
              </a:rPr>
              <a:t>访问控制安全策略</a:t>
            </a:r>
            <a:endParaRPr lang="en-US" altLang="zh-CN" sz="2400" b="1">
              <a:solidFill>
                <a:srgbClr val="C00000"/>
              </a:solidFill>
              <a:latin typeface="宋体" panose="02010600030101010101" pitchFamily="2" charset="-122"/>
            </a:endParaRPr>
          </a:p>
        </p:txBody>
      </p:sp>
      <p:sp>
        <p:nvSpPr>
          <p:cNvPr id="7" name="内容占位符 13"/>
          <p:cNvSpPr txBox="1"/>
          <p:nvPr/>
        </p:nvSpPr>
        <p:spPr bwMode="auto">
          <a:xfrm>
            <a:off x="419100" y="1185863"/>
            <a:ext cx="48006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a:solidFill>
                  <a:srgbClr val="FF0000"/>
                </a:solidFill>
                <a:effectLst>
                  <a:outerShdw blurRad="38100" dist="38100" dir="2700000" algn="tl">
                    <a:srgbClr val="C0C0C0"/>
                  </a:outerShdw>
                </a:effectLst>
              </a:rPr>
              <a:t>6.3.3 </a:t>
            </a:r>
            <a:r>
              <a:rPr lang="zh-CN" altLang="en-US" sz="2800" kern="0">
                <a:solidFill>
                  <a:srgbClr val="FF0000"/>
                </a:solidFill>
                <a:effectLst>
                  <a:outerShdw blurRad="38100" dist="38100" dir="2700000" algn="tl">
                    <a:srgbClr val="C0C0C0"/>
                  </a:outerShdw>
                </a:effectLst>
              </a:rPr>
              <a:t>访问控制的安全策略</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3"/>
          <p:cNvSpPr>
            <a:spLocks noGrp="1"/>
          </p:cNvSpPr>
          <p:nvPr>
            <p:ph idx="4294967295"/>
          </p:nvPr>
        </p:nvSpPr>
        <p:spPr>
          <a:xfrm>
            <a:off x="419100" y="1185863"/>
            <a:ext cx="4800600" cy="730250"/>
          </a:xfrm>
        </p:spPr>
        <p:txBody>
          <a:bodyPr/>
          <a:lstStyle/>
          <a:p>
            <a:pPr>
              <a:buFont typeface="Wingdings" panose="05000000000000000000" pitchFamily="2" charset="2"/>
              <a:buNone/>
              <a:defRPr/>
            </a:pPr>
            <a:r>
              <a:rPr lang="en-US" altLang="zh-CN" sz="2800" dirty="0">
                <a:solidFill>
                  <a:srgbClr val="FF0000"/>
                </a:solidFill>
                <a:effectLst>
                  <a:outerShdw blurRad="38100" dist="38100" dir="2700000" algn="tl">
                    <a:srgbClr val="C0C0C0"/>
                  </a:outerShdw>
                </a:effectLst>
              </a:rPr>
              <a:t>6.3.3 </a:t>
            </a:r>
            <a:r>
              <a:rPr lang="zh-CN" altLang="en-US" sz="2800" dirty="0">
                <a:solidFill>
                  <a:srgbClr val="FF0000"/>
                </a:solidFill>
                <a:effectLst>
                  <a:outerShdw blurRad="38100" dist="38100" dir="2700000" algn="tl">
                    <a:srgbClr val="C0C0C0"/>
                  </a:outerShdw>
                </a:effectLst>
              </a:rPr>
              <a:t>访问控制的安全策略</a:t>
            </a:r>
            <a:endParaRPr lang="en-US" altLang="zh-CN" sz="2800" dirty="0">
              <a:solidFill>
                <a:srgbClr val="FF0000"/>
              </a:solidFill>
              <a:effectLst>
                <a:outerShdw blurRad="38100" dist="38100" dir="2700000" algn="tl">
                  <a:srgbClr val="C0C0C0"/>
                </a:outerShdw>
              </a:effectLst>
            </a:endParaRPr>
          </a:p>
        </p:txBody>
      </p:sp>
      <p:sp>
        <p:nvSpPr>
          <p:cNvPr id="19" name="圆角矩形 18"/>
          <p:cNvSpPr/>
          <p:nvPr/>
        </p:nvSpPr>
        <p:spPr bwMode="gray">
          <a:xfrm>
            <a:off x="468313" y="1844675"/>
            <a:ext cx="8280400" cy="43926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安全策略实施原则</a:t>
            </a:r>
            <a:endParaRPr lang="en-US" altLang="zh-CN" sz="2400" b="1" dirty="0">
              <a:solidFill>
                <a:srgbClr val="CC0000"/>
              </a:solidFill>
              <a:latin typeface="Arial" panose="020B0604020202020204" pitchFamily="34" charset="0"/>
            </a:endParaRPr>
          </a:p>
          <a:p>
            <a:pPr>
              <a:buFont typeface="Arial" panose="020B0604020202020204" pitchFamily="34" charset="0"/>
              <a:buNone/>
              <a:defRPr/>
            </a:pPr>
            <a:r>
              <a:rPr lang="en-US" altLang="zh-CN" sz="2400" b="1" dirty="0">
                <a:solidFill>
                  <a:srgbClr val="CC0000"/>
                </a:solidFill>
                <a:latin typeface="Arial" panose="020B0604020202020204" pitchFamily="34" charset="0"/>
              </a:rPr>
              <a:t>      </a:t>
            </a:r>
            <a:r>
              <a:rPr lang="zh-CN" altLang="en-US" sz="2400" b="1" dirty="0">
                <a:solidFill>
                  <a:srgbClr val="FF0000"/>
                </a:solidFill>
                <a:latin typeface="Arial" panose="020B0604020202020204" pitchFamily="34" charset="0"/>
              </a:rPr>
              <a:t>访问控制安全策略</a:t>
            </a:r>
            <a:r>
              <a:rPr lang="zh-CN" altLang="en-US" sz="2400" b="1" dirty="0">
                <a:solidFill>
                  <a:schemeClr val="tx2"/>
                </a:solidFill>
                <a:latin typeface="Arial" panose="020B0604020202020204" pitchFamily="34" charset="0"/>
              </a:rPr>
              <a:t>是指在某个</a:t>
            </a:r>
            <a:r>
              <a:rPr lang="zh-CN" altLang="en-US" sz="2400" b="1" dirty="0">
                <a:solidFill>
                  <a:srgbClr val="006600"/>
                </a:solidFill>
                <a:latin typeface="Arial" panose="020B0604020202020204" pitchFamily="34" charset="0"/>
              </a:rPr>
              <a:t>自治区域</a:t>
            </a:r>
            <a:r>
              <a:rPr lang="zh-CN" altLang="en-US" sz="2400" b="1" dirty="0">
                <a:solidFill>
                  <a:schemeClr val="tx2"/>
                </a:solidFill>
                <a:latin typeface="Arial" panose="020B0604020202020204" pitchFamily="34" charset="0"/>
              </a:rPr>
              <a:t>内（属于某个组织</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机构的一系列处理和通信资源范畴）</a:t>
            </a:r>
            <a:r>
              <a:rPr lang="en-US" altLang="zh-CN" sz="2400" b="1" dirty="0">
                <a:solidFill>
                  <a:schemeClr val="tx2"/>
                </a:solidFill>
                <a:latin typeface="Arial" panose="020B0604020202020204" pitchFamily="34" charset="0"/>
              </a:rPr>
              <a:t>, </a:t>
            </a:r>
            <a:r>
              <a:rPr lang="zh-CN" altLang="en-US" sz="2400" b="1" dirty="0">
                <a:solidFill>
                  <a:srgbClr val="CC0000"/>
                </a:solidFill>
                <a:latin typeface="Arial" panose="020B0604020202020204" pitchFamily="34" charset="0"/>
              </a:rPr>
              <a:t>用于</a:t>
            </a:r>
            <a:r>
              <a:rPr lang="zh-CN" altLang="en-US" sz="2400" b="1" dirty="0">
                <a:solidFill>
                  <a:schemeClr val="tx2"/>
                </a:solidFill>
                <a:latin typeface="Arial" panose="020B0604020202020204" pitchFamily="34" charset="0"/>
              </a:rPr>
              <a:t>所有与安全相关活动的一套</a:t>
            </a:r>
            <a:r>
              <a:rPr lang="zh-CN" altLang="en-US" sz="2400" b="1" dirty="0">
                <a:solidFill>
                  <a:srgbClr val="3333FF"/>
                </a:solidFill>
                <a:latin typeface="Arial" panose="020B0604020202020204" pitchFamily="34" charset="0"/>
              </a:rPr>
              <a:t>访问控制</a:t>
            </a:r>
            <a:r>
              <a:rPr lang="zh-CN" altLang="en-US" sz="2400" b="1" dirty="0">
                <a:solidFill>
                  <a:srgbClr val="CC0000"/>
                </a:solidFill>
                <a:latin typeface="Arial" panose="020B0604020202020204" pitchFamily="34" charset="0"/>
              </a:rPr>
              <a:t>规则</a:t>
            </a:r>
            <a:r>
              <a:rPr lang="en-US" altLang="zh-CN" sz="2400" b="1" dirty="0">
                <a:solidFill>
                  <a:schemeClr val="tx2"/>
                </a:solidFill>
                <a:latin typeface="Arial" panose="020B0604020202020204" pitchFamily="34" charset="0"/>
              </a:rPr>
              <a:t>.  </a:t>
            </a:r>
            <a:r>
              <a:rPr lang="zh-CN" altLang="en-US" sz="2400" b="1" dirty="0">
                <a:solidFill>
                  <a:schemeClr val="tx2"/>
                </a:solidFill>
                <a:latin typeface="Arial" panose="020B0604020202020204" pitchFamily="34" charset="0"/>
              </a:rPr>
              <a:t>其</a:t>
            </a:r>
            <a:r>
              <a:rPr lang="zh-CN" altLang="en-US" sz="2400" b="1" u="sng" dirty="0">
                <a:solidFill>
                  <a:srgbClr val="D60093"/>
                </a:solidFill>
                <a:latin typeface="Arial" panose="020B0604020202020204" pitchFamily="34" charset="0"/>
              </a:rPr>
              <a:t>安全策略</a:t>
            </a:r>
            <a:r>
              <a:rPr lang="zh-CN" altLang="en-US" sz="2400" b="1" dirty="0">
                <a:solidFill>
                  <a:schemeClr val="tx2"/>
                </a:solidFill>
                <a:latin typeface="Arial" panose="020B0604020202020204" pitchFamily="34" charset="0"/>
              </a:rPr>
              <a:t>有</a:t>
            </a:r>
            <a:r>
              <a:rPr lang="zh-CN" altLang="en-US" sz="2400" b="1" u="sng" dirty="0">
                <a:solidFill>
                  <a:srgbClr val="D60093"/>
                </a:solidFill>
                <a:latin typeface="Arial" panose="020B0604020202020204" pitchFamily="34" charset="0"/>
              </a:rPr>
              <a:t>三种类型</a:t>
            </a:r>
            <a:r>
              <a:rPr lang="zh-CN" altLang="en-US" sz="2400" b="1" dirty="0">
                <a:solidFill>
                  <a:schemeClr val="tx2"/>
                </a:solidFill>
                <a:latin typeface="Arial" panose="020B0604020202020204" pitchFamily="34" charset="0"/>
              </a:rPr>
              <a:t>：基于身份的安全策略、基于规则的安全策略和综合访问控制方式。</a:t>
            </a:r>
            <a:endParaRPr lang="zh-CN" altLang="en-US" sz="2400" b="1" dirty="0">
              <a:solidFill>
                <a:schemeClr val="tx2"/>
              </a:solidFill>
              <a:latin typeface="Arial" panose="020B0604020202020204" pitchFamily="34" charset="0"/>
            </a:endParaRPr>
          </a:p>
          <a:p>
            <a:pPr>
              <a:spcBef>
                <a:spcPct val="25000"/>
              </a:spcBef>
              <a:spcAft>
                <a:spcPct val="20000"/>
              </a:spcAft>
              <a:buFont typeface="Arial" panose="020B0604020202020204" pitchFamily="34" charset="0"/>
              <a:buNone/>
              <a:defRPr/>
            </a:pPr>
            <a:r>
              <a:rPr lang="zh-CN" altLang="en-US" sz="2400" b="1" dirty="0">
                <a:solidFill>
                  <a:srgbClr val="800000"/>
                </a:solidFill>
                <a:latin typeface="Arial" panose="020B0604020202020204" pitchFamily="34" charset="0"/>
              </a:rPr>
              <a:t>     </a:t>
            </a:r>
            <a:r>
              <a:rPr lang="zh-CN" altLang="en-US" sz="2400" b="1" dirty="0">
                <a:solidFill>
                  <a:srgbClr val="C00000"/>
                </a:solidFill>
                <a:latin typeface="Arial" panose="020B0604020202020204" pitchFamily="34" charset="0"/>
              </a:rPr>
              <a:t>访问控制安全策略原则</a:t>
            </a:r>
            <a:r>
              <a:rPr lang="zh-CN" altLang="en-US" sz="2400" b="1" dirty="0">
                <a:solidFill>
                  <a:srgbClr val="3333FF"/>
                </a:solidFill>
                <a:latin typeface="楷体_GB2312" pitchFamily="49" charset="-122"/>
                <a:ea typeface="楷体_GB2312" pitchFamily="49" charset="-122"/>
              </a:rPr>
              <a:t>集中在</a:t>
            </a:r>
            <a:r>
              <a:rPr lang="zh-CN" altLang="en-US" sz="2400" b="1" dirty="0">
                <a:solidFill>
                  <a:schemeClr val="tx2"/>
                </a:solidFill>
                <a:latin typeface="Arial" panose="020B0604020202020204" pitchFamily="34" charset="0"/>
              </a:rPr>
              <a:t>主体、客体和安全控制规则集</a:t>
            </a:r>
            <a:r>
              <a:rPr lang="zh-CN" altLang="en-US" sz="2400" b="1" dirty="0">
                <a:solidFill>
                  <a:srgbClr val="D60093"/>
                </a:solidFill>
                <a:latin typeface="Arial" panose="020B0604020202020204" pitchFamily="34" charset="0"/>
              </a:rPr>
              <a:t>三者之间的关系</a:t>
            </a:r>
            <a:r>
              <a:rPr lang="zh-CN" altLang="en-US" sz="2400" b="1" dirty="0">
                <a:solidFill>
                  <a:schemeClr val="tx2"/>
                </a:solidFill>
                <a:latin typeface="Arial" panose="020B0604020202020204" pitchFamily="34" charset="0"/>
              </a:rPr>
              <a:t>。</a:t>
            </a:r>
            <a:endParaRPr lang="zh-CN" altLang="en-US" sz="2400" b="1" dirty="0">
              <a:solidFill>
                <a:schemeClr val="tx2"/>
              </a:solidFill>
              <a:latin typeface="Arial" panose="020B0604020202020204" pitchFamily="34" charset="0"/>
            </a:endParaRPr>
          </a:p>
          <a:p>
            <a:pPr>
              <a:buFont typeface="Arial" panose="020B0604020202020204" pitchFamily="34" charset="0"/>
              <a:buNone/>
              <a:defRPr/>
            </a:pPr>
            <a:r>
              <a:rPr lang="zh-CN" altLang="en-US" sz="2400" b="1" dirty="0">
                <a:solidFill>
                  <a:schemeClr val="tx2"/>
                </a:solidFill>
                <a:latin typeface="Arial" panose="020B0604020202020204" pitchFamily="34" charset="0"/>
              </a:rPr>
              <a:t>     </a:t>
            </a:r>
            <a:r>
              <a:rPr lang="zh-CN" altLang="en-US" sz="2400" b="1" dirty="0">
                <a:solidFill>
                  <a:srgbClr val="3333FF"/>
                </a:solidFill>
                <a:latin typeface="楷体_GB2312" pitchFamily="49" charset="-122"/>
                <a:ea typeface="楷体_GB2312" pitchFamily="49" charset="-122"/>
              </a:rPr>
              <a:t>（</a:t>
            </a:r>
            <a:r>
              <a:rPr lang="en-US" altLang="zh-CN" sz="2400" b="1" dirty="0">
                <a:solidFill>
                  <a:srgbClr val="3333FF"/>
                </a:solidFill>
                <a:latin typeface="楷体_GB2312" pitchFamily="49" charset="-122"/>
                <a:ea typeface="楷体_GB2312" pitchFamily="49" charset="-122"/>
              </a:rPr>
              <a:t>1</a:t>
            </a:r>
            <a:r>
              <a:rPr lang="zh-CN" altLang="en-US" sz="2400" b="1" dirty="0">
                <a:solidFill>
                  <a:srgbClr val="3333FF"/>
                </a:solidFill>
                <a:latin typeface="楷体_GB2312" pitchFamily="49" charset="-122"/>
                <a:ea typeface="楷体_GB2312" pitchFamily="49" charset="-122"/>
              </a:rPr>
              <a:t>）最小特权原则。</a:t>
            </a:r>
            <a:endParaRPr lang="zh-CN" altLang="en-US" sz="2400" b="1" dirty="0">
              <a:solidFill>
                <a:srgbClr val="3333FF"/>
              </a:solidFill>
              <a:latin typeface="楷体_GB2312" pitchFamily="49" charset="-122"/>
              <a:ea typeface="楷体_GB2312" pitchFamily="49" charset="-122"/>
            </a:endParaRPr>
          </a:p>
          <a:p>
            <a:pPr>
              <a:buFont typeface="Arial" panose="020B0604020202020204" pitchFamily="34" charset="0"/>
              <a:buNone/>
              <a:defRPr/>
            </a:pPr>
            <a:r>
              <a:rPr lang="zh-CN" altLang="en-US" sz="2400" b="1" dirty="0">
                <a:solidFill>
                  <a:srgbClr val="3333FF"/>
                </a:solidFill>
                <a:latin typeface="楷体_GB2312" pitchFamily="49" charset="-122"/>
                <a:ea typeface="楷体_GB2312" pitchFamily="49" charset="-122"/>
              </a:rPr>
              <a:t>   （</a:t>
            </a:r>
            <a:r>
              <a:rPr lang="en-US" altLang="zh-CN" sz="2400" b="1" dirty="0">
                <a:solidFill>
                  <a:srgbClr val="3333FF"/>
                </a:solidFill>
                <a:latin typeface="楷体_GB2312" pitchFamily="49" charset="-122"/>
                <a:ea typeface="楷体_GB2312" pitchFamily="49" charset="-122"/>
              </a:rPr>
              <a:t>2</a:t>
            </a:r>
            <a:r>
              <a:rPr lang="zh-CN" altLang="en-US" sz="2400" b="1" dirty="0">
                <a:solidFill>
                  <a:srgbClr val="3333FF"/>
                </a:solidFill>
                <a:latin typeface="楷体_GB2312" pitchFamily="49" charset="-122"/>
                <a:ea typeface="楷体_GB2312" pitchFamily="49" charset="-122"/>
              </a:rPr>
              <a:t>）最小泄露原则。</a:t>
            </a:r>
            <a:endParaRPr lang="zh-CN" altLang="en-US" sz="2400" b="1" dirty="0">
              <a:solidFill>
                <a:srgbClr val="3333FF"/>
              </a:solidFill>
              <a:latin typeface="楷体_GB2312" pitchFamily="49" charset="-122"/>
              <a:ea typeface="楷体_GB2312" pitchFamily="49" charset="-122"/>
            </a:endParaRPr>
          </a:p>
          <a:p>
            <a:pPr>
              <a:buFont typeface="Arial" panose="020B0604020202020204" pitchFamily="34" charset="0"/>
              <a:buNone/>
              <a:defRPr/>
            </a:pPr>
            <a:r>
              <a:rPr lang="zh-CN" altLang="en-US" sz="2400" b="1" dirty="0">
                <a:solidFill>
                  <a:srgbClr val="3333FF"/>
                </a:solidFill>
                <a:latin typeface="楷体_GB2312" pitchFamily="49" charset="-122"/>
                <a:ea typeface="楷体_GB2312" pitchFamily="49" charset="-122"/>
              </a:rPr>
              <a:t>   （</a:t>
            </a:r>
            <a:r>
              <a:rPr lang="en-US" altLang="zh-CN" sz="2400" b="1" dirty="0">
                <a:solidFill>
                  <a:srgbClr val="3333FF"/>
                </a:solidFill>
                <a:latin typeface="楷体_GB2312" pitchFamily="49" charset="-122"/>
                <a:ea typeface="楷体_GB2312" pitchFamily="49" charset="-122"/>
              </a:rPr>
              <a:t>3</a:t>
            </a:r>
            <a:r>
              <a:rPr lang="zh-CN" altLang="en-US" sz="2400" b="1" dirty="0">
                <a:solidFill>
                  <a:srgbClr val="3333FF"/>
                </a:solidFill>
                <a:latin typeface="楷体_GB2312" pitchFamily="49" charset="-122"/>
                <a:ea typeface="楷体_GB2312" pitchFamily="49" charset="-122"/>
              </a:rPr>
              <a:t>）多级安全策略。</a:t>
            </a:r>
            <a:endParaRPr lang="en-US" altLang="zh-CN" sz="2400" b="1" dirty="0">
              <a:solidFill>
                <a:srgbClr val="3333FF"/>
              </a:solidFill>
              <a:latin typeface="楷体_GB2312" pitchFamily="49" charset="-122"/>
              <a:ea typeface="楷体_GB2312" pitchFamily="49" charset="-122"/>
            </a:endParaRPr>
          </a:p>
        </p:txBody>
      </p:sp>
      <p:sp>
        <p:nvSpPr>
          <p:cNvPr id="58371" name="内容占位符 13"/>
          <p:cNvSpPr>
            <a:spLocks noChangeArrowheads="1"/>
          </p:cNvSpPr>
          <p:nvPr/>
        </p:nvSpPr>
        <p:spPr bwMode="auto">
          <a:xfrm>
            <a:off x="468313" y="1196975"/>
            <a:ext cx="8153400" cy="576263"/>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58372" name="内容占位符 13"/>
          <p:cNvSpPr>
            <a:spLocks noChangeArrowheads="1"/>
          </p:cNvSpPr>
          <p:nvPr/>
        </p:nvSpPr>
        <p:spPr bwMode="auto">
          <a:xfrm>
            <a:off x="395288" y="1341438"/>
            <a:ext cx="8153400" cy="792162"/>
          </a:xfrm>
          <a:prstGeom prst="rect">
            <a:avLst/>
          </a:prstGeom>
          <a:noFill/>
          <a:ln w="9525">
            <a:noFill/>
            <a:miter lim="800000"/>
          </a:ln>
        </p:spPr>
        <p:txBody>
          <a:bodyPr/>
          <a:lstStyle/>
          <a:p>
            <a:pPr marL="342900" indent="-342900">
              <a:spcBef>
                <a:spcPct val="20000"/>
              </a:spcBef>
              <a:spcAft>
                <a:spcPts val="600"/>
              </a:spcAft>
              <a:buClr>
                <a:schemeClr val="hlink"/>
              </a:buClr>
            </a:pPr>
            <a:endParaRPr lang="en-US" altLang="zh-CN" sz="2200" b="1">
              <a:solidFill>
                <a:schemeClr val="tx2"/>
              </a:solidFill>
              <a:latin typeface="宋体" panose="02010600030101010101" pitchFamily="2" charset="-122"/>
            </a:endParaRPr>
          </a:p>
        </p:txBody>
      </p:sp>
      <p:pic>
        <p:nvPicPr>
          <p:cNvPr id="58373" name="Picture 9" descr="j0234657"/>
          <p:cNvPicPr>
            <a:picLocks noChangeAspect="1" noChangeArrowheads="1"/>
          </p:cNvPicPr>
          <p:nvPr/>
        </p:nvPicPr>
        <p:blipFill>
          <a:blip r:embed="rId1" cstate="print"/>
          <a:srcRect/>
          <a:stretch>
            <a:fillRect/>
          </a:stretch>
        </p:blipFill>
        <p:spPr bwMode="auto">
          <a:xfrm>
            <a:off x="6372225" y="4797425"/>
            <a:ext cx="1295400" cy="1262063"/>
          </a:xfrm>
          <a:prstGeom prst="rect">
            <a:avLst/>
          </a:prstGeom>
          <a:noFill/>
          <a:ln w="9525">
            <a:noFill/>
            <a:miter lim="800000"/>
            <a:headEnd/>
            <a:tailEnd/>
          </a:ln>
        </p:spPr>
      </p:pic>
      <p:sp>
        <p:nvSpPr>
          <p:cNvPr id="5837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5288" y="1771650"/>
            <a:ext cx="8424862" cy="45831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32771" name="内容占位符 13"/>
          <p:cNvSpPr>
            <a:spLocks noChangeArrowheads="1"/>
          </p:cNvSpPr>
          <p:nvPr/>
        </p:nvSpPr>
        <p:spPr bwMode="auto">
          <a:xfrm>
            <a:off x="539750" y="2298700"/>
            <a:ext cx="8353425" cy="3887788"/>
          </a:xfrm>
          <a:prstGeom prst="rect">
            <a:avLst/>
          </a:prstGeom>
          <a:noFill/>
          <a:ln w="9525">
            <a:noFill/>
            <a:miter lim="800000"/>
          </a:ln>
        </p:spPr>
        <p:txBody>
          <a:bodyPr/>
          <a:lstStyle/>
          <a:p>
            <a:pPr>
              <a:buFont typeface="Arial" panose="020B0604020202020204" pitchFamily="34" charset="0"/>
              <a:buNone/>
              <a:defRPr/>
            </a:pPr>
            <a:r>
              <a:rPr lang="en-US" altLang="zh-CN" sz="2400" b="1" dirty="0">
                <a:solidFill>
                  <a:schemeClr val="tx2"/>
                </a:solidFill>
              </a:rPr>
              <a:t>       </a:t>
            </a:r>
            <a:r>
              <a:rPr lang="zh-CN" altLang="zh-CN" sz="2400" b="1" dirty="0">
                <a:solidFill>
                  <a:schemeClr val="tx2"/>
                </a:solidFill>
              </a:rPr>
              <a:t>访问控制安全策略</a:t>
            </a:r>
            <a:r>
              <a:rPr lang="zh-CN" altLang="en-US" sz="2400" b="1" dirty="0">
                <a:solidFill>
                  <a:srgbClr val="C00000"/>
                </a:solidFill>
              </a:rPr>
              <a:t>两种</a:t>
            </a:r>
            <a:r>
              <a:rPr lang="zh-CN" altLang="zh-CN" sz="2400" b="1" dirty="0">
                <a:solidFill>
                  <a:srgbClr val="C00000"/>
                </a:solidFill>
              </a:rPr>
              <a:t>实现方式</a:t>
            </a:r>
            <a:r>
              <a:rPr lang="zh-CN" altLang="zh-CN" sz="2400" b="1" dirty="0">
                <a:solidFill>
                  <a:schemeClr val="tx2"/>
                </a:solidFill>
              </a:rPr>
              <a:t>：</a:t>
            </a:r>
            <a:endParaRPr lang="zh-CN" altLang="zh-CN" sz="2400" b="1" dirty="0">
              <a:solidFill>
                <a:schemeClr val="tx2"/>
              </a:solidFill>
            </a:endParaRPr>
          </a:p>
          <a:p>
            <a:pPr>
              <a:buFont typeface="Arial" panose="020B0604020202020204" pitchFamily="34" charset="0"/>
              <a:buNone/>
              <a:defRPr/>
            </a:pPr>
            <a:r>
              <a:rPr lang="en-US" altLang="zh-CN" sz="2400" b="1" dirty="0">
                <a:solidFill>
                  <a:schemeClr val="tx2"/>
                </a:solidFill>
              </a:rPr>
              <a:t>    </a:t>
            </a:r>
            <a:r>
              <a:rPr lang="zh-CN" altLang="zh-CN" sz="2400" b="1" dirty="0">
                <a:solidFill>
                  <a:srgbClr val="800000"/>
                </a:solidFill>
              </a:rPr>
              <a:t>（</a:t>
            </a:r>
            <a:r>
              <a:rPr lang="en-US" altLang="zh-CN" sz="2400" b="1" dirty="0">
                <a:solidFill>
                  <a:srgbClr val="C00000"/>
                </a:solidFill>
              </a:rPr>
              <a:t>1</a:t>
            </a:r>
            <a:r>
              <a:rPr lang="zh-CN" altLang="zh-CN" sz="2400" b="1" dirty="0">
                <a:solidFill>
                  <a:srgbClr val="C00000"/>
                </a:solidFill>
              </a:rPr>
              <a:t>）基于身份的安全策略</a:t>
            </a:r>
            <a:endParaRPr lang="en-US" altLang="zh-CN" sz="2400" b="1" dirty="0">
              <a:solidFill>
                <a:srgbClr val="C00000"/>
              </a:solidFill>
              <a:latin typeface="宋体" panose="02010600030101010101" pitchFamily="2" charset="-122"/>
            </a:endParaRPr>
          </a:p>
          <a:p>
            <a:pPr indent="360680">
              <a:buFont typeface="Arial" panose="020B0604020202020204" pitchFamily="34" charset="0"/>
              <a:buNone/>
              <a:defRPr/>
            </a:pPr>
            <a:r>
              <a:rPr lang="en-US" altLang="zh-CN" sz="2400" b="1" dirty="0">
                <a:solidFill>
                  <a:schemeClr val="tx2"/>
                </a:solidFill>
              </a:rPr>
              <a:t>   </a:t>
            </a:r>
            <a:r>
              <a:rPr lang="zh-CN" altLang="zh-CN" sz="2400" b="1" dirty="0">
                <a:solidFill>
                  <a:srgbClr val="C00000"/>
                </a:solidFill>
              </a:rPr>
              <a:t>基于身份的安全策略</a:t>
            </a:r>
            <a:r>
              <a:rPr lang="zh-CN" altLang="zh-CN" sz="2400" b="1" dirty="0">
                <a:solidFill>
                  <a:schemeClr val="tx2"/>
                </a:solidFill>
              </a:rPr>
              <a:t>是</a:t>
            </a:r>
            <a:r>
              <a:rPr lang="zh-CN" altLang="zh-CN" sz="2400" b="1" dirty="0">
                <a:solidFill>
                  <a:srgbClr val="0000FF"/>
                </a:solidFill>
              </a:rPr>
              <a:t>过滤</a:t>
            </a:r>
            <a:r>
              <a:rPr lang="zh-CN" altLang="zh-CN" sz="2400" b="1" dirty="0">
                <a:solidFill>
                  <a:schemeClr val="tx2"/>
                </a:solidFill>
              </a:rPr>
              <a:t>对</a:t>
            </a:r>
            <a:r>
              <a:rPr lang="zh-CN" altLang="en-US" sz="2300" b="1" dirty="0">
                <a:solidFill>
                  <a:srgbClr val="006600"/>
                </a:solidFill>
                <a:latin typeface="宋体" panose="02010600030101010101" pitchFamily="2" charset="-122"/>
              </a:rPr>
              <a:t>数据或资源</a:t>
            </a:r>
            <a:r>
              <a:rPr lang="zh-CN" altLang="zh-CN" sz="2400" b="1" dirty="0">
                <a:solidFill>
                  <a:schemeClr val="tx2"/>
                </a:solidFill>
              </a:rPr>
              <a:t>的访问，只有通过认证的主体才能正常使用客体的资源。基于身份的安全策略</a:t>
            </a:r>
            <a:r>
              <a:rPr lang="zh-CN" altLang="zh-CN" sz="2400" b="1" dirty="0">
                <a:solidFill>
                  <a:srgbClr val="D60093"/>
                </a:solidFill>
              </a:rPr>
              <a:t>包括</a:t>
            </a:r>
            <a:r>
              <a:rPr lang="zh-CN" altLang="zh-CN" sz="2400" b="1" dirty="0">
                <a:solidFill>
                  <a:schemeClr val="tx2"/>
                </a:solidFill>
              </a:rPr>
              <a:t>基于个人的策略和基于组的策略，主要有</a:t>
            </a:r>
            <a:r>
              <a:rPr lang="zh-CN" altLang="zh-CN" sz="2400" b="1" dirty="0">
                <a:solidFill>
                  <a:srgbClr val="D60093"/>
                </a:solidFill>
              </a:rPr>
              <a:t>两种</a:t>
            </a:r>
            <a:r>
              <a:rPr lang="zh-CN" altLang="zh-CN" sz="2400" b="1" dirty="0">
                <a:solidFill>
                  <a:srgbClr val="800000"/>
                </a:solidFill>
              </a:rPr>
              <a:t>基本的实现方法：</a:t>
            </a:r>
            <a:r>
              <a:rPr lang="zh-CN" altLang="zh-CN" sz="2400" b="1" dirty="0">
                <a:solidFill>
                  <a:schemeClr val="tx2"/>
                </a:solidFill>
              </a:rPr>
              <a:t>能力表和访问控制表。</a:t>
            </a:r>
            <a:endParaRPr lang="zh-CN" altLang="zh-CN" sz="2400" b="1" dirty="0">
              <a:solidFill>
                <a:schemeClr val="tx2"/>
              </a:solidFill>
            </a:endParaRPr>
          </a:p>
          <a:p>
            <a:pPr indent="360680" eaLnBrk="0" hangingPunct="0">
              <a:spcBef>
                <a:spcPct val="20000"/>
              </a:spcBef>
              <a:buClr>
                <a:schemeClr val="hlink"/>
              </a:buClr>
              <a:buFont typeface="Arial" panose="020B0604020202020204" pitchFamily="34" charset="0"/>
              <a:buNone/>
              <a:defRPr/>
            </a:pPr>
            <a:r>
              <a:rPr lang="en-US" altLang="zh-CN" sz="2400" b="1" dirty="0">
                <a:solidFill>
                  <a:schemeClr val="tx2"/>
                </a:solidFill>
                <a:latin typeface="宋体" panose="02010600030101010101" pitchFamily="2" charset="-122"/>
              </a:rPr>
              <a:t> </a:t>
            </a:r>
            <a:r>
              <a:rPr lang="zh-CN" altLang="en-US" sz="2400" b="1" dirty="0">
                <a:solidFill>
                  <a:srgbClr val="C00000"/>
                </a:solidFill>
                <a:latin typeface="宋体" panose="02010600030101010101" pitchFamily="2" charset="-122"/>
              </a:rPr>
              <a:t>（</a:t>
            </a:r>
            <a:r>
              <a:rPr lang="en-US" altLang="zh-CN" sz="2400" b="1" dirty="0">
                <a:solidFill>
                  <a:srgbClr val="C00000"/>
                </a:solidFill>
                <a:latin typeface="宋体" panose="02010600030101010101" pitchFamily="2" charset="-122"/>
              </a:rPr>
              <a:t>2</a:t>
            </a:r>
            <a:r>
              <a:rPr lang="zh-CN" altLang="en-US" sz="2400" b="1" dirty="0">
                <a:solidFill>
                  <a:srgbClr val="C00000"/>
                </a:solidFill>
                <a:latin typeface="宋体" panose="02010600030101010101" pitchFamily="2" charset="-122"/>
              </a:rPr>
              <a:t>）基于规则的安全策略</a:t>
            </a:r>
            <a:endParaRPr lang="en-US" altLang="zh-CN" sz="2400" b="1" dirty="0">
              <a:solidFill>
                <a:schemeClr val="tx2"/>
              </a:solidFill>
              <a:latin typeface="宋体" panose="02010600030101010101" pitchFamily="2" charset="-122"/>
            </a:endParaRPr>
          </a:p>
          <a:p>
            <a:pPr indent="360680" eaLnBrk="0" hangingPunct="0">
              <a:spcBef>
                <a:spcPct val="20000"/>
              </a:spcBef>
              <a:buClr>
                <a:schemeClr val="hlink"/>
              </a:buClr>
              <a:buFont typeface="Arial" panose="020B0604020202020204" pitchFamily="34" charset="0"/>
              <a:buNone/>
              <a:defRPr/>
            </a:pPr>
            <a:r>
              <a:rPr lang="zh-CN" altLang="zh-CN" sz="2400" b="1" dirty="0">
                <a:solidFill>
                  <a:schemeClr val="tx2"/>
                </a:solidFill>
              </a:rPr>
              <a:t>   策略中的</a:t>
            </a:r>
            <a:r>
              <a:rPr lang="zh-CN" altLang="en-US" sz="2300" b="1" dirty="0">
                <a:solidFill>
                  <a:srgbClr val="3333FF"/>
                </a:solidFill>
                <a:latin typeface="宋体" panose="02010600030101010101" pitchFamily="2" charset="-122"/>
              </a:rPr>
              <a:t>授权</a:t>
            </a:r>
            <a:r>
              <a:rPr lang="zh-CN" altLang="zh-CN" sz="2400" b="1" dirty="0">
                <a:solidFill>
                  <a:schemeClr val="tx2"/>
                </a:solidFill>
              </a:rPr>
              <a:t>通常依赖于敏感性。</a:t>
            </a:r>
            <a:r>
              <a:rPr lang="zh-CN" altLang="en-US" sz="2300" b="1" dirty="0">
                <a:solidFill>
                  <a:schemeClr val="tx2"/>
                </a:solidFill>
                <a:latin typeface="宋体" panose="02010600030101010101" pitchFamily="2" charset="-122"/>
              </a:rPr>
              <a:t>在安全策略系统中</a:t>
            </a:r>
            <a:r>
              <a:rPr lang="en-US" altLang="zh-CN" sz="2300" b="1" dirty="0">
                <a:solidFill>
                  <a:schemeClr val="tx2"/>
                </a:solidFill>
                <a:latin typeface="宋体" panose="02010600030101010101" pitchFamily="2" charset="-122"/>
              </a:rPr>
              <a:t>,</a:t>
            </a:r>
            <a:r>
              <a:rPr lang="zh-CN" altLang="en-US" sz="2300" b="1" dirty="0">
                <a:solidFill>
                  <a:schemeClr val="tx2"/>
                </a:solidFill>
                <a:latin typeface="宋体" panose="02010600030101010101" pitchFamily="2" charset="-122"/>
              </a:rPr>
              <a:t>所有</a:t>
            </a:r>
            <a:r>
              <a:rPr lang="zh-CN" altLang="en-US" sz="2300" b="1" dirty="0">
                <a:solidFill>
                  <a:srgbClr val="006600"/>
                </a:solidFill>
                <a:latin typeface="宋体" panose="02010600030101010101" pitchFamily="2" charset="-122"/>
              </a:rPr>
              <a:t>数据和资源</a:t>
            </a:r>
            <a:r>
              <a:rPr lang="zh-CN" altLang="en-US" sz="2300" b="1" dirty="0">
                <a:solidFill>
                  <a:schemeClr val="tx2"/>
                </a:solidFill>
                <a:latin typeface="宋体" panose="02010600030101010101" pitchFamily="2" charset="-122"/>
              </a:rPr>
              <a:t>都</a:t>
            </a:r>
            <a:r>
              <a:rPr lang="zh-CN" altLang="en-US" sz="2300" b="1" dirty="0">
                <a:solidFill>
                  <a:srgbClr val="3333FF"/>
                </a:solidFill>
                <a:latin typeface="宋体" panose="02010600030101010101" pitchFamily="2" charset="-122"/>
              </a:rPr>
              <a:t>标注</a:t>
            </a:r>
            <a:r>
              <a:rPr lang="zh-CN" altLang="en-US" sz="2300" b="1" dirty="0">
                <a:solidFill>
                  <a:schemeClr val="tx2"/>
                </a:solidFill>
                <a:latin typeface="宋体" panose="02010600030101010101" pitchFamily="2" charset="-122"/>
              </a:rPr>
              <a:t>了</a:t>
            </a:r>
            <a:r>
              <a:rPr lang="zh-CN" altLang="en-US" sz="2300" b="1" dirty="0">
                <a:solidFill>
                  <a:srgbClr val="800000"/>
                </a:solidFill>
                <a:latin typeface="宋体" panose="02010600030101010101" pitchFamily="2" charset="-122"/>
              </a:rPr>
              <a:t>安全标记</a:t>
            </a:r>
            <a:r>
              <a:rPr lang="en-US" altLang="zh-CN" sz="2300" b="1" dirty="0">
                <a:solidFill>
                  <a:schemeClr val="tx2"/>
                </a:solidFill>
                <a:latin typeface="宋体" panose="02010600030101010101" pitchFamily="2" charset="-122"/>
              </a:rPr>
              <a:t>,</a:t>
            </a:r>
            <a:r>
              <a:rPr lang="zh-CN" altLang="en-US" sz="2300" b="1" dirty="0">
                <a:solidFill>
                  <a:schemeClr val="tx2"/>
                </a:solidFill>
                <a:latin typeface="宋体" panose="02010600030101010101" pitchFamily="2" charset="-122"/>
              </a:rPr>
              <a:t>用户的活动进程与其原发者具有相同的</a:t>
            </a:r>
            <a:r>
              <a:rPr lang="zh-CN" altLang="en-US" sz="2300" b="1" dirty="0">
                <a:solidFill>
                  <a:srgbClr val="800000"/>
                </a:solidFill>
                <a:latin typeface="宋体" panose="02010600030101010101" pitchFamily="2" charset="-122"/>
              </a:rPr>
              <a:t>安全标记</a:t>
            </a:r>
            <a:r>
              <a:rPr lang="en-US" altLang="zh-CN" sz="2300" b="1" dirty="0">
                <a:solidFill>
                  <a:schemeClr val="tx2"/>
                </a:solidFill>
                <a:latin typeface="宋体" panose="02010600030101010101" pitchFamily="2" charset="-122"/>
              </a:rPr>
              <a:t>.</a:t>
            </a:r>
            <a:endParaRPr lang="en-US" altLang="zh-CN" sz="2300" b="1" dirty="0">
              <a:solidFill>
                <a:schemeClr val="tx2"/>
              </a:solidFill>
              <a:latin typeface="宋体" panose="02010600030101010101" pitchFamily="2" charset="-122"/>
            </a:endParaRPr>
          </a:p>
        </p:txBody>
      </p:sp>
      <p:pic>
        <p:nvPicPr>
          <p:cNvPr id="59395" name="Picture 7" descr="j0285750"/>
          <p:cNvPicPr>
            <a:picLocks noChangeAspect="1" noChangeArrowheads="1"/>
          </p:cNvPicPr>
          <p:nvPr/>
        </p:nvPicPr>
        <p:blipFill>
          <a:blip r:embed="rId1" cstate="print"/>
          <a:srcRect/>
          <a:stretch>
            <a:fillRect/>
          </a:stretch>
        </p:blipFill>
        <p:spPr bwMode="auto">
          <a:xfrm>
            <a:off x="5775325" y="5875338"/>
            <a:ext cx="1101725" cy="677862"/>
          </a:xfrm>
          <a:prstGeom prst="rect">
            <a:avLst/>
          </a:prstGeom>
          <a:noFill/>
          <a:ln w="9525">
            <a:noFill/>
            <a:miter lim="800000"/>
            <a:headEnd/>
            <a:tailEnd/>
          </a:ln>
        </p:spPr>
      </p:pic>
      <p:sp>
        <p:nvSpPr>
          <p:cNvPr id="5939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53250" name="内容占位符 13"/>
          <p:cNvSpPr>
            <a:spLocks noGrp="1" noChangeArrowheads="1"/>
          </p:cNvSpPr>
          <p:nvPr>
            <p:ph idx="4294967295"/>
          </p:nvPr>
        </p:nvSpPr>
        <p:spPr>
          <a:xfrm>
            <a:off x="1042988" y="1916113"/>
            <a:ext cx="6205537" cy="514350"/>
          </a:xfrm>
        </p:spPr>
        <p:txBody>
          <a:bodyPr/>
          <a:lstStyle/>
          <a:p>
            <a:pPr marL="0" indent="0" eaLnBrk="1" hangingPunct="1">
              <a:spcBef>
                <a:spcPct val="0"/>
              </a:spcBef>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访问控制安全策略的实现</a:t>
            </a:r>
            <a:endParaRPr lang="en-US" altLang="zh-CN" sz="2400" kern="1200" dirty="0">
              <a:solidFill>
                <a:srgbClr val="C00000"/>
              </a:solidFill>
              <a:latin typeface="Arial" panose="020B0604020202020204" pitchFamily="34" charset="0"/>
            </a:endParaRPr>
          </a:p>
        </p:txBody>
      </p:sp>
      <p:sp>
        <p:nvSpPr>
          <p:cNvPr id="7" name="内容占位符 13"/>
          <p:cNvSpPr txBox="1"/>
          <p:nvPr/>
        </p:nvSpPr>
        <p:spPr bwMode="auto">
          <a:xfrm>
            <a:off x="419100" y="1185863"/>
            <a:ext cx="48006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6.3.3 </a:t>
            </a:r>
            <a:r>
              <a:rPr lang="zh-CN" altLang="en-US" sz="2800" kern="0" dirty="0">
                <a:solidFill>
                  <a:srgbClr val="FF0000"/>
                </a:solidFill>
                <a:effectLst>
                  <a:outerShdw blurRad="38100" dist="38100" dir="2700000" algn="tl">
                    <a:srgbClr val="C0C0C0"/>
                  </a:outerShdw>
                </a:effectLst>
              </a:rPr>
              <a:t>访问控制的安全策略</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71500" y="1773555"/>
            <a:ext cx="8190865" cy="41884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1.  AAA</a:t>
            </a:r>
            <a:r>
              <a:rPr lang="zh-CN" altLang="en-US" sz="2400" kern="1200" dirty="0">
                <a:solidFill>
                  <a:srgbClr val="C00000"/>
                </a:solidFill>
                <a:latin typeface="Arial" panose="020B0604020202020204" pitchFamily="34" charset="0"/>
              </a:rPr>
              <a:t>技术概述</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在新的网络应用环境中，虚拟专用网（</a:t>
            </a:r>
            <a:r>
              <a:rPr lang="en-US" altLang="zh-CN" dirty="0">
                <a:latin typeface="+mn-lt"/>
                <a:ea typeface="+mn-ea"/>
              </a:rPr>
              <a:t>VPN</a:t>
            </a:r>
            <a:r>
              <a:rPr lang="zh-CN" altLang="en-US" dirty="0">
                <a:latin typeface="+mn-lt"/>
                <a:ea typeface="+mn-ea"/>
              </a:rPr>
              <a:t>）、远程拨号、移动办公室等网络移动接入应用非常广泛，传统用户身份认证和访问控制机制已经无法满足广大用户的需求，由此产生了</a:t>
            </a:r>
            <a:r>
              <a:rPr lang="en-US" altLang="zh-CN" dirty="0">
                <a:solidFill>
                  <a:srgbClr val="C00000"/>
                </a:solidFill>
                <a:latin typeface="+mn-lt"/>
                <a:ea typeface="+mn-ea"/>
              </a:rPr>
              <a:t>AAA</a:t>
            </a:r>
            <a:r>
              <a:rPr lang="zh-CN" altLang="en-US" dirty="0">
                <a:solidFill>
                  <a:srgbClr val="C00000"/>
                </a:solidFill>
                <a:latin typeface="+mn-lt"/>
                <a:ea typeface="+mn-ea"/>
              </a:rPr>
              <a:t>认证授权机制</a:t>
            </a:r>
            <a:r>
              <a:rPr lang="zh-CN" altLang="en-US" dirty="0">
                <a:latin typeface="+mn-lt"/>
                <a:ea typeface="+mn-ea"/>
              </a:rPr>
              <a:t>，</a:t>
            </a:r>
            <a:r>
              <a:rPr lang="zh-CN" altLang="en-US" dirty="0">
                <a:solidFill>
                  <a:srgbClr val="C00000"/>
                </a:solidFill>
                <a:latin typeface="+mn-lt"/>
                <a:ea typeface="+mn-ea"/>
              </a:rPr>
              <a:t>主要包括</a:t>
            </a:r>
            <a:r>
              <a:rPr lang="zh-CN" altLang="en-US" dirty="0">
                <a:latin typeface="+mn-lt"/>
                <a:ea typeface="+mn-ea"/>
              </a:rPr>
              <a:t>如下</a:t>
            </a:r>
            <a:r>
              <a:rPr lang="en-US" altLang="zh-CN" dirty="0">
                <a:latin typeface="+mn-lt"/>
                <a:ea typeface="+mn-ea"/>
              </a:rPr>
              <a:t>3</a:t>
            </a:r>
            <a:r>
              <a:rPr lang="zh-CN" altLang="en-US" dirty="0">
                <a:latin typeface="+mn-lt"/>
                <a:ea typeface="+mn-ea"/>
              </a:rPr>
              <a:t>个部分。</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1</a:t>
            </a:r>
            <a:r>
              <a:rPr lang="zh-CN" altLang="en-US" dirty="0">
                <a:latin typeface="+mn-lt"/>
                <a:ea typeface="+mn-ea"/>
              </a:rPr>
              <a:t>）</a:t>
            </a:r>
            <a:r>
              <a:rPr lang="zh-CN" altLang="en-US" dirty="0">
                <a:solidFill>
                  <a:srgbClr val="0000FF"/>
                </a:solidFill>
                <a:latin typeface="+mn-lt"/>
                <a:ea typeface="+mn-ea"/>
              </a:rPr>
              <a:t>认证</a:t>
            </a:r>
            <a:r>
              <a:rPr lang="zh-CN" altLang="en-US" dirty="0">
                <a:latin typeface="+mn-lt"/>
                <a:ea typeface="+mn-ea"/>
              </a:rPr>
              <a:t>。对网络用户身份进行识别后，才允许远程登入访问网络资源。</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2</a:t>
            </a:r>
            <a:r>
              <a:rPr lang="zh-CN" altLang="en-US" dirty="0">
                <a:latin typeface="+mn-lt"/>
                <a:ea typeface="+mn-ea"/>
              </a:rPr>
              <a:t>）</a:t>
            </a:r>
            <a:r>
              <a:rPr lang="zh-CN" altLang="en-US" dirty="0">
                <a:solidFill>
                  <a:srgbClr val="0000FF"/>
                </a:solidFill>
                <a:latin typeface="+mn-lt"/>
                <a:ea typeface="+mn-ea"/>
              </a:rPr>
              <a:t>鉴权</a:t>
            </a:r>
            <a:r>
              <a:rPr lang="zh-CN" altLang="en-US" dirty="0">
                <a:latin typeface="+mn-lt"/>
                <a:ea typeface="+mn-ea"/>
              </a:rPr>
              <a:t>。为远程访问控制提供方法，如一次性授权或给予特定命令或服务的授权。</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3</a:t>
            </a:r>
            <a:r>
              <a:rPr lang="zh-CN" altLang="en-US" dirty="0">
                <a:latin typeface="+mn-lt"/>
                <a:ea typeface="+mn-ea"/>
              </a:rPr>
              <a:t>）</a:t>
            </a:r>
            <a:r>
              <a:rPr lang="zh-CN" altLang="en-US" dirty="0">
                <a:solidFill>
                  <a:srgbClr val="0000FF"/>
                </a:solidFill>
                <a:latin typeface="+mn-lt"/>
                <a:ea typeface="+mn-ea"/>
              </a:rPr>
              <a:t>审计</a:t>
            </a:r>
            <a:r>
              <a:rPr lang="zh-CN" altLang="en-US" dirty="0">
                <a:latin typeface="+mn-lt"/>
                <a:ea typeface="+mn-ea"/>
              </a:rPr>
              <a:t>。主要用于网络计费、审计和制作报表。</a:t>
            </a:r>
            <a:endParaRPr lang="zh-CN" altLang="en-US" dirty="0">
              <a:latin typeface="+mn-lt"/>
              <a:ea typeface="+mn-ea"/>
            </a:endParaRPr>
          </a:p>
          <a:p>
            <a:pPr indent="457200">
              <a:spcAft>
                <a:spcPts val="0"/>
              </a:spcAft>
              <a:buFont typeface="Wingdings" panose="05000000000000000000" pitchFamily="2" charset="2"/>
              <a:buNone/>
              <a:defRPr/>
            </a:pP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https://www.bilibili.com/video/BV1LZ4y1p7K8/?spm_id_from=333.337.search-card.all.click</a:t>
            </a:r>
            <a:endParaRPr lang="zh-CN" altLang="en-US" dirty="0">
              <a:latin typeface="+mn-lt"/>
              <a:ea typeface="+mn-ea"/>
            </a:endParaRPr>
          </a:p>
        </p:txBody>
      </p:sp>
      <p:sp>
        <p:nvSpPr>
          <p:cNvPr id="6042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84200" y="1765300"/>
            <a:ext cx="8040688" cy="3987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2744788"/>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远程登入认证也称</a:t>
            </a:r>
            <a:r>
              <a:rPr lang="zh-CN" altLang="en-US" dirty="0">
                <a:solidFill>
                  <a:srgbClr val="FF0000"/>
                </a:solidFill>
                <a:latin typeface="+mn-lt"/>
                <a:ea typeface="+mn-ea"/>
              </a:rPr>
              <a:t>远程授权接入用户服务</a:t>
            </a:r>
            <a:r>
              <a:rPr lang="en-US" altLang="zh-CN" dirty="0">
                <a:latin typeface="+mn-lt"/>
                <a:ea typeface="+mn-ea"/>
              </a:rPr>
              <a:t>(Remote Authentication Dial In User Service , </a:t>
            </a:r>
            <a:r>
              <a:rPr lang="en-US" altLang="zh-CN" dirty="0">
                <a:solidFill>
                  <a:srgbClr val="0000FF"/>
                </a:solidFill>
                <a:latin typeface="+mn-lt"/>
                <a:ea typeface="+mn-ea"/>
              </a:rPr>
              <a:t>RADIUS</a:t>
            </a:r>
            <a:r>
              <a:rPr lang="en-US" altLang="zh-CN" dirty="0">
                <a:latin typeface="+mn-lt"/>
                <a:ea typeface="+mn-ea"/>
              </a:rPr>
              <a:t>)</a:t>
            </a:r>
            <a:r>
              <a:rPr lang="zh-CN" altLang="en-US" dirty="0">
                <a:latin typeface="+mn-lt"/>
                <a:ea typeface="+mn-ea"/>
              </a:rPr>
              <a:t>，主要用于管理远程用户的网络登入，是目前应用最广泛的</a:t>
            </a:r>
            <a:r>
              <a:rPr lang="en-US" altLang="zh-CN" dirty="0">
                <a:latin typeface="+mn-lt"/>
                <a:ea typeface="+mn-ea"/>
              </a:rPr>
              <a:t>AAA</a:t>
            </a:r>
            <a:r>
              <a:rPr lang="zh-CN" altLang="en-US" dirty="0">
                <a:latin typeface="+mn-lt"/>
                <a:ea typeface="+mn-ea"/>
              </a:rPr>
              <a:t>协议。</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主要基于</a:t>
            </a:r>
            <a:r>
              <a:rPr lang="en-US" altLang="zh-CN" dirty="0">
                <a:latin typeface="+mn-lt"/>
                <a:ea typeface="+mn-ea"/>
              </a:rPr>
              <a:t>C/S</a:t>
            </a:r>
            <a:r>
              <a:rPr lang="zh-CN" altLang="en-US" dirty="0">
                <a:latin typeface="+mn-lt"/>
                <a:ea typeface="+mn-ea"/>
              </a:rPr>
              <a:t>架构，其客户端最初是</a:t>
            </a:r>
            <a:r>
              <a:rPr lang="en-US" altLang="zh-CN" dirty="0">
                <a:latin typeface="+mn-lt"/>
                <a:ea typeface="+mn-ea"/>
              </a:rPr>
              <a:t>NAS</a:t>
            </a:r>
            <a:r>
              <a:rPr lang="zh-CN" altLang="en-US" dirty="0">
                <a:latin typeface="+mn-lt"/>
                <a:ea typeface="+mn-ea"/>
              </a:rPr>
              <a:t>（</a:t>
            </a:r>
            <a:r>
              <a:rPr lang="en-US" altLang="zh-CN" dirty="0">
                <a:latin typeface="+mn-lt"/>
                <a:ea typeface="+mn-ea"/>
              </a:rPr>
              <a:t>Net Access Server</a:t>
            </a:r>
            <a:r>
              <a:rPr lang="zh-CN" altLang="en-US" dirty="0">
                <a:latin typeface="+mn-lt"/>
                <a:ea typeface="+mn-ea"/>
              </a:rPr>
              <a:t>）服务器，现在任何运行</a:t>
            </a:r>
            <a:r>
              <a:rPr lang="en-US" altLang="zh-CN" dirty="0">
                <a:latin typeface="+mn-lt"/>
                <a:ea typeface="+mn-ea"/>
              </a:rPr>
              <a:t>RADIUS</a:t>
            </a:r>
            <a:r>
              <a:rPr lang="zh-CN" altLang="en-US" dirty="0">
                <a:latin typeface="+mn-lt"/>
                <a:ea typeface="+mn-ea"/>
              </a:rPr>
              <a:t>客户端软件的计算机都可以成为其客户端。</a:t>
            </a:r>
            <a:r>
              <a:rPr lang="en-US" altLang="zh-CN" dirty="0">
                <a:latin typeface="+mn-lt"/>
                <a:ea typeface="+mn-ea"/>
              </a:rPr>
              <a:t>RADIUS</a:t>
            </a:r>
            <a:r>
              <a:rPr lang="zh-CN" altLang="en-US" dirty="0">
                <a:latin typeface="+mn-lt"/>
                <a:ea typeface="+mn-ea"/>
              </a:rPr>
              <a:t>协议认证机制灵活，可采用</a:t>
            </a:r>
            <a:r>
              <a:rPr lang="en-US" altLang="zh-CN" dirty="0">
                <a:latin typeface="+mn-lt"/>
                <a:ea typeface="+mn-ea"/>
              </a:rPr>
              <a:t>PAP</a:t>
            </a:r>
            <a:r>
              <a:rPr lang="zh-CN" altLang="en-US" dirty="0">
                <a:latin typeface="+mn-lt"/>
                <a:ea typeface="+mn-ea"/>
              </a:rPr>
              <a:t>、</a:t>
            </a:r>
            <a:r>
              <a:rPr lang="en-US" altLang="zh-CN" dirty="0">
                <a:latin typeface="+mn-lt"/>
                <a:ea typeface="+mn-ea"/>
              </a:rPr>
              <a:t>CHAP</a:t>
            </a:r>
            <a:r>
              <a:rPr lang="zh-CN" altLang="en-US" dirty="0">
                <a:latin typeface="+mn-lt"/>
                <a:ea typeface="+mn-ea"/>
              </a:rPr>
              <a:t>或</a:t>
            </a:r>
            <a:r>
              <a:rPr lang="en-US" altLang="zh-CN" dirty="0">
                <a:latin typeface="+mn-lt"/>
                <a:ea typeface="+mn-ea"/>
              </a:rPr>
              <a:t>UNIX</a:t>
            </a:r>
            <a:r>
              <a:rPr lang="zh-CN" altLang="en-US" dirty="0">
                <a:latin typeface="+mn-lt"/>
                <a:ea typeface="+mn-ea"/>
              </a:rPr>
              <a:t>登入认证等多种方式。</a:t>
            </a:r>
            <a:endParaRPr lang="en-US" altLang="zh-CN" dirty="0">
              <a:latin typeface="+mn-lt"/>
              <a:ea typeface="+mn-ea"/>
            </a:endParaRPr>
          </a:p>
        </p:txBody>
      </p:sp>
      <p:sp>
        <p:nvSpPr>
          <p:cNvPr id="6144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pic>
        <p:nvPicPr>
          <p:cNvPr id="61446" name="Picture 5" descr="j0300520"/>
          <p:cNvPicPr>
            <a:picLocks noChangeAspect="1" noChangeArrowheads="1"/>
          </p:cNvPicPr>
          <p:nvPr/>
        </p:nvPicPr>
        <p:blipFill>
          <a:blip r:embed="rId1" cstate="print"/>
          <a:srcRect/>
          <a:stretch>
            <a:fillRect/>
          </a:stretch>
        </p:blipFill>
        <p:spPr bwMode="auto">
          <a:xfrm>
            <a:off x="5724525" y="5013325"/>
            <a:ext cx="1295400" cy="111442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25923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98500" y="2228850"/>
            <a:ext cx="8064500" cy="206375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en-US" altLang="zh-CN" dirty="0">
                <a:latin typeface="+mn-lt"/>
                <a:ea typeface="+mn-ea"/>
              </a:rPr>
              <a:t>RADIUS</a:t>
            </a:r>
            <a:r>
              <a:rPr lang="zh-CN" altLang="en-US" dirty="0">
                <a:latin typeface="+mn-lt"/>
                <a:ea typeface="+mn-ea"/>
              </a:rPr>
              <a:t>是一种完全开放的协议，分布源码格式，这样，任何安全系统和厂商都可以用，并且</a:t>
            </a:r>
            <a:r>
              <a:rPr lang="en-US" altLang="zh-CN" dirty="0">
                <a:latin typeface="+mn-lt"/>
                <a:ea typeface="+mn-ea"/>
              </a:rPr>
              <a:t>RADIUS</a:t>
            </a:r>
            <a:r>
              <a:rPr lang="zh-CN" altLang="en-US" dirty="0">
                <a:latin typeface="+mn-lt"/>
                <a:ea typeface="+mn-ea"/>
              </a:rPr>
              <a:t>可以和其它</a:t>
            </a:r>
            <a:r>
              <a:rPr lang="en-US" altLang="zh-CN" dirty="0">
                <a:latin typeface="+mn-lt"/>
                <a:ea typeface="+mn-ea"/>
              </a:rPr>
              <a:t>AAA</a:t>
            </a:r>
            <a:r>
              <a:rPr lang="zh-CN" altLang="en-US" dirty="0">
                <a:latin typeface="+mn-lt"/>
                <a:ea typeface="+mn-ea"/>
              </a:rPr>
              <a:t>安全协议共用。此协议规定了网络接入服务器与</a:t>
            </a:r>
            <a:r>
              <a:rPr lang="en-US" altLang="zh-CN" dirty="0">
                <a:latin typeface="+mn-lt"/>
                <a:ea typeface="+mn-ea"/>
              </a:rPr>
              <a:t>RADIUS</a:t>
            </a:r>
            <a:r>
              <a:rPr lang="zh-CN" altLang="en-US" dirty="0">
                <a:latin typeface="+mn-lt"/>
                <a:ea typeface="+mn-ea"/>
              </a:rPr>
              <a:t>服务器之间的消息格式。此服务器接受用户的连接请求，根据其账户和密码完成验证后，将用户所需的配置信息返回给网络接入服务器。该服务器同时审计并记录有关信息其模型如图所示。</a:t>
            </a:r>
            <a:endParaRPr lang="zh-CN" altLang="en-US" dirty="0">
              <a:latin typeface="+mn-lt"/>
              <a:ea typeface="+mn-ea"/>
            </a:endParaRPr>
          </a:p>
        </p:txBody>
      </p:sp>
      <p:sp>
        <p:nvSpPr>
          <p:cNvPr id="6246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pic>
        <p:nvPicPr>
          <p:cNvPr id="62470" name="图片 7"/>
          <p:cNvPicPr>
            <a:picLocks noChangeAspect="1" noChangeArrowheads="1"/>
          </p:cNvPicPr>
          <p:nvPr/>
        </p:nvPicPr>
        <p:blipFill>
          <a:blip r:embed="rId1" cstate="print"/>
          <a:srcRect t="2812" b="5177"/>
          <a:stretch>
            <a:fillRect/>
          </a:stretch>
        </p:blipFill>
        <p:spPr bwMode="auto">
          <a:xfrm>
            <a:off x="2484438" y="4429125"/>
            <a:ext cx="3546475" cy="2117725"/>
          </a:xfrm>
          <a:prstGeom prst="rect">
            <a:avLst/>
          </a:prstGeom>
          <a:noFill/>
          <a:ln w="9525">
            <a:noFill/>
            <a:miter lim="800000"/>
            <a:headEnd/>
            <a:tailEnd/>
          </a:ln>
        </p:spPr>
      </p:pic>
      <p:sp>
        <p:nvSpPr>
          <p:cNvPr id="62471" name="内容占位符 13"/>
          <p:cNvSpPr txBox="1">
            <a:spLocks noChangeArrowheads="1"/>
          </p:cNvSpPr>
          <p:nvPr/>
        </p:nvSpPr>
        <p:spPr bwMode="auto">
          <a:xfrm>
            <a:off x="3608388" y="6481763"/>
            <a:ext cx="1296987" cy="257175"/>
          </a:xfrm>
          <a:prstGeom prst="rect">
            <a:avLst/>
          </a:prstGeom>
          <a:noFill/>
          <a:ln w="9525">
            <a:noFill/>
            <a:miter lim="800000"/>
          </a:ln>
        </p:spPr>
        <p:txBody>
          <a:bodyPr/>
          <a:lstStyle/>
          <a:p>
            <a:pPr marL="342900" indent="-342900" algn="just">
              <a:spcBef>
                <a:spcPct val="20000"/>
              </a:spcBef>
              <a:buClr>
                <a:schemeClr val="hlink"/>
              </a:buClr>
            </a:pPr>
            <a:r>
              <a:rPr lang="en-US" altLang="zh-CN" sz="1400" b="1">
                <a:solidFill>
                  <a:srgbClr val="C00000"/>
                </a:solidFill>
              </a:rPr>
              <a:t>RADIUS</a:t>
            </a:r>
            <a:r>
              <a:rPr lang="zh-CN" altLang="en-US" sz="1400" b="1">
                <a:solidFill>
                  <a:srgbClr val="C00000"/>
                </a:solidFill>
              </a:rPr>
              <a:t>模型</a:t>
            </a:r>
            <a:endParaRPr lang="zh-CN" altLang="en-US" sz="1400" b="1">
              <a:solidFill>
                <a:srgbClr val="C0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63575" y="1771650"/>
            <a:ext cx="7940675"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539750" y="2359025"/>
            <a:ext cx="8064500" cy="3290888"/>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1</a:t>
            </a:r>
            <a:r>
              <a:rPr lang="zh-CN" altLang="en-US" dirty="0">
                <a:latin typeface="+mn-lt"/>
                <a:ea typeface="+mn-ea"/>
              </a:rPr>
              <a:t>）</a:t>
            </a:r>
            <a:r>
              <a:rPr lang="en-US" altLang="zh-CN" dirty="0">
                <a:latin typeface="+mn-lt"/>
                <a:ea typeface="+mn-ea"/>
              </a:rPr>
              <a:t>RADIUS</a:t>
            </a:r>
            <a:r>
              <a:rPr lang="zh-CN" altLang="en-US" dirty="0">
                <a:latin typeface="+mn-lt"/>
                <a:ea typeface="+mn-ea"/>
              </a:rPr>
              <a:t>协议的</a:t>
            </a:r>
            <a:r>
              <a:rPr lang="zh-CN" altLang="en-US" dirty="0">
                <a:solidFill>
                  <a:srgbClr val="C00000"/>
                </a:solidFill>
                <a:latin typeface="+mn-lt"/>
                <a:ea typeface="+mn-ea"/>
              </a:rPr>
              <a:t>主要工作过程</a:t>
            </a:r>
            <a:endParaRPr lang="zh-CN" altLang="en-US"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zh-CN" altLang="en-US" b="1" dirty="0">
                <a:latin typeface="+mn-lt"/>
                <a:ea typeface="+mn-ea"/>
              </a:rPr>
              <a:t>远程用户通过网络连接到接入服务器，并将登入信息发送到其服务器。</a:t>
            </a:r>
            <a:endParaRPr lang="zh-CN" altLang="en-US" b="1"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en-US" altLang="zh-CN" b="1" dirty="0">
                <a:latin typeface="+mn-lt"/>
                <a:ea typeface="+mn-ea"/>
              </a:rPr>
              <a:t>RADIUS</a:t>
            </a:r>
            <a:r>
              <a:rPr lang="zh-CN" altLang="en-US" b="1" dirty="0">
                <a:latin typeface="+mn-lt"/>
                <a:ea typeface="+mn-ea"/>
              </a:rPr>
              <a:t>服务器根据用户输入的账号和密码对用户进行身份认证，并判断是否允许用户接入。请求批准后，服务器还要对用户进行相应的鉴权。</a:t>
            </a:r>
            <a:endParaRPr lang="zh-CN" altLang="en-US" b="1" dirty="0">
              <a:latin typeface="+mn-lt"/>
              <a:ea typeface="+mn-ea"/>
            </a:endParaRPr>
          </a:p>
          <a:p>
            <a:pPr marL="1085850" lvl="1" indent="-342900">
              <a:spcAft>
                <a:spcPts val="0"/>
              </a:spcAft>
              <a:buClr>
                <a:schemeClr val="tx2">
                  <a:lumMod val="95000"/>
                  <a:lumOff val="5000"/>
                </a:schemeClr>
              </a:buClr>
              <a:buFont typeface="Wingdings" panose="05000000000000000000" pitchFamily="2" charset="2"/>
              <a:buChar char="Ø"/>
              <a:defRPr/>
            </a:pPr>
            <a:r>
              <a:rPr lang="zh-CN" altLang="en-US" b="1" dirty="0">
                <a:latin typeface="+mn-lt"/>
                <a:ea typeface="+mn-ea"/>
              </a:rPr>
              <a:t>鉴权完成后，服务器将响应信息传递给网络接入服务器和计费服务器，网络接入服务器根据当前配置来决定针对用户的响应策略。</a:t>
            </a:r>
            <a:endParaRPr lang="zh-CN" altLang="en-US" dirty="0">
              <a:latin typeface="+mn-lt"/>
              <a:ea typeface="+mn-ea"/>
            </a:endParaRPr>
          </a:p>
          <a:p>
            <a:pPr indent="457200">
              <a:spcAft>
                <a:spcPts val="0"/>
              </a:spcAft>
              <a:buFont typeface="Wingdings" panose="05000000000000000000" pitchFamily="2" charset="2"/>
              <a:buNone/>
              <a:defRPr/>
            </a:pPr>
            <a:endParaRPr lang="zh-CN" altLang="en-US" dirty="0">
              <a:latin typeface="+mn-lt"/>
              <a:ea typeface="+mn-ea"/>
            </a:endParaRPr>
          </a:p>
        </p:txBody>
      </p:sp>
      <p:sp>
        <p:nvSpPr>
          <p:cNvPr id="6349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远程登入认证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2</a:t>
            </a:r>
            <a:r>
              <a:rPr lang="zh-CN" altLang="en-US" dirty="0">
                <a:latin typeface="+mn-lt"/>
                <a:ea typeface="+mn-ea"/>
              </a:rPr>
              <a:t>）</a:t>
            </a:r>
            <a:r>
              <a:rPr lang="en-US" altLang="zh-CN" dirty="0">
                <a:latin typeface="+mn-lt"/>
                <a:ea typeface="+mn-ea"/>
              </a:rPr>
              <a:t>RADIUS</a:t>
            </a:r>
            <a:r>
              <a:rPr lang="zh-CN" altLang="en-US" dirty="0">
                <a:latin typeface="+mn-lt"/>
                <a:ea typeface="+mn-ea"/>
              </a:rPr>
              <a:t>的加密方法</a:t>
            </a: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对于重要的数据包和用户口令，</a:t>
            </a:r>
            <a:r>
              <a:rPr lang="en-US" altLang="zh-CN" dirty="0">
                <a:latin typeface="+mn-lt"/>
                <a:ea typeface="+mn-ea"/>
              </a:rPr>
              <a:t>RADIUS</a:t>
            </a:r>
            <a:r>
              <a:rPr lang="zh-CN" altLang="en-US" dirty="0">
                <a:latin typeface="+mn-lt"/>
                <a:ea typeface="+mn-ea"/>
              </a:rPr>
              <a:t>协议可使用</a:t>
            </a:r>
            <a:r>
              <a:rPr lang="en-US" altLang="zh-CN" dirty="0">
                <a:latin typeface="+mn-lt"/>
                <a:ea typeface="+mn-ea"/>
              </a:rPr>
              <a:t>MD5</a:t>
            </a:r>
            <a:r>
              <a:rPr lang="zh-CN" altLang="en-US" dirty="0">
                <a:latin typeface="+mn-lt"/>
                <a:ea typeface="+mn-ea"/>
              </a:rPr>
              <a:t>算法对其进行加密，在其客户端（</a:t>
            </a:r>
            <a:r>
              <a:rPr lang="en-US" altLang="zh-CN" dirty="0">
                <a:latin typeface="+mn-lt"/>
                <a:ea typeface="+mn-ea"/>
              </a:rPr>
              <a:t>NAS</a:t>
            </a:r>
            <a:r>
              <a:rPr lang="zh-CN" altLang="en-US" dirty="0">
                <a:latin typeface="+mn-lt"/>
                <a:ea typeface="+mn-ea"/>
              </a:rPr>
              <a:t>）和服务器端（</a:t>
            </a:r>
            <a:r>
              <a:rPr lang="en-US" altLang="zh-CN" dirty="0">
                <a:latin typeface="+mn-lt"/>
                <a:ea typeface="+mn-ea"/>
              </a:rPr>
              <a:t>RADIUS</a:t>
            </a:r>
            <a:r>
              <a:rPr lang="zh-CN" altLang="en-US" dirty="0">
                <a:latin typeface="+mn-lt"/>
                <a:ea typeface="+mn-ea"/>
              </a:rPr>
              <a:t>服务器）分别存储一个密钥，利用此密钥对数据进行算法加密处理，密钥不宜在网络上传送。</a:t>
            </a:r>
            <a:endParaRPr lang="zh-CN" altLang="en-US"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a:t>
            </a:r>
            <a:r>
              <a:rPr lang="en-US" altLang="zh-CN" dirty="0">
                <a:latin typeface="+mn-lt"/>
                <a:ea typeface="+mn-ea"/>
              </a:rPr>
              <a:t>3</a:t>
            </a:r>
            <a:r>
              <a:rPr lang="zh-CN" altLang="en-US" dirty="0">
                <a:latin typeface="+mn-lt"/>
                <a:ea typeface="+mn-ea"/>
              </a:rPr>
              <a:t>）</a:t>
            </a:r>
            <a:r>
              <a:rPr lang="en-US" altLang="zh-CN" dirty="0">
                <a:latin typeface="+mn-lt"/>
                <a:ea typeface="+mn-ea"/>
              </a:rPr>
              <a:t>RADIUS</a:t>
            </a:r>
            <a:r>
              <a:rPr lang="zh-CN" altLang="en-US" dirty="0">
                <a:latin typeface="+mn-lt"/>
                <a:ea typeface="+mn-ea"/>
              </a:rPr>
              <a:t>的重传机制</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RADIUS</a:t>
            </a:r>
            <a:r>
              <a:rPr lang="zh-CN" altLang="en-US" dirty="0">
                <a:latin typeface="+mn-lt"/>
                <a:ea typeface="+mn-ea"/>
              </a:rPr>
              <a:t>协议规定了重传机制。如果</a:t>
            </a:r>
            <a:r>
              <a:rPr lang="en-US" altLang="zh-CN" dirty="0">
                <a:latin typeface="+mn-lt"/>
                <a:ea typeface="+mn-ea"/>
              </a:rPr>
              <a:t>NAS</a:t>
            </a:r>
            <a:r>
              <a:rPr lang="zh-CN" altLang="en-US" dirty="0">
                <a:latin typeface="+mn-lt"/>
                <a:ea typeface="+mn-ea"/>
              </a:rPr>
              <a:t>向某个</a:t>
            </a:r>
            <a:r>
              <a:rPr lang="en-US" altLang="zh-CN" dirty="0">
                <a:latin typeface="+mn-lt"/>
                <a:ea typeface="+mn-ea"/>
              </a:rPr>
              <a:t>RADIUS</a:t>
            </a:r>
            <a:r>
              <a:rPr lang="zh-CN" altLang="en-US" dirty="0">
                <a:latin typeface="+mn-lt"/>
                <a:ea typeface="+mn-ea"/>
              </a:rPr>
              <a:t>服务器提交请求没有收到返回信息，则可要求备份服务器重传。由于有多个备份服务器，因此</a:t>
            </a:r>
            <a:r>
              <a:rPr lang="en-US" altLang="zh-CN" dirty="0">
                <a:latin typeface="+mn-lt"/>
                <a:ea typeface="+mn-ea"/>
              </a:rPr>
              <a:t>NAS</a:t>
            </a:r>
            <a:r>
              <a:rPr lang="zh-CN" altLang="en-US" dirty="0">
                <a:latin typeface="+mn-lt"/>
                <a:ea typeface="+mn-ea"/>
              </a:rPr>
              <a:t>要求重传时可采用轮询方法。如果备份服务器的密钥与以前的密钥不同，则需要重新进行认证。</a:t>
            </a:r>
            <a:endParaRPr lang="zh-CN" altLang="en-US" dirty="0">
              <a:latin typeface="+mn-lt"/>
              <a:ea typeface="+mn-ea"/>
            </a:endParaRPr>
          </a:p>
        </p:txBody>
      </p:sp>
      <p:sp>
        <p:nvSpPr>
          <p:cNvPr id="6451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555"/>
            <a:ext cx="8569325" cy="397954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终端访问控制器访问控制系统</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328041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solidFill>
                  <a:srgbClr val="FF0000"/>
                </a:solidFill>
                <a:latin typeface="+mn-lt"/>
                <a:ea typeface="+mn-ea"/>
              </a:rPr>
              <a:t>终端访问控制器访问控制系统</a:t>
            </a:r>
            <a:r>
              <a:rPr lang="zh-CN" altLang="en-US" dirty="0">
                <a:latin typeface="Times New Roman" panose="02020603050405020304" pitchFamily="18" charset="0"/>
                <a:ea typeface="+mn-ea"/>
                <a:cs typeface="Times New Roman" panose="02020603050405020304" pitchFamily="18" charset="0"/>
              </a:rPr>
              <a:t>（</a:t>
            </a: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）由</a:t>
            </a:r>
            <a:r>
              <a:rPr lang="en-US" altLang="zh-CN" dirty="0">
                <a:latin typeface="Times New Roman" panose="02020603050405020304" pitchFamily="18" charset="0"/>
                <a:ea typeface="+mn-ea"/>
                <a:cs typeface="Times New Roman" panose="02020603050405020304" pitchFamily="18" charset="0"/>
              </a:rPr>
              <a:t>RFC1492</a:t>
            </a:r>
            <a:r>
              <a:rPr lang="zh-CN" altLang="en-US" dirty="0">
                <a:latin typeface="Times New Roman" panose="02020603050405020304" pitchFamily="18" charset="0"/>
                <a:ea typeface="+mn-ea"/>
                <a:cs typeface="Times New Roman" panose="02020603050405020304" pitchFamily="18" charset="0"/>
              </a:rPr>
              <a:t>定义，其功能是通过一个或几个中心服务器为网络设备提供访问控制服务，也是</a:t>
            </a:r>
            <a:r>
              <a:rPr lang="en-US" altLang="zh-CN" dirty="0">
                <a:latin typeface="Times New Roman" panose="02020603050405020304" pitchFamily="18" charset="0"/>
                <a:ea typeface="+mn-ea"/>
                <a:cs typeface="Times New Roman" panose="02020603050405020304" pitchFamily="18" charset="0"/>
              </a:rPr>
              <a:t>AAA</a:t>
            </a:r>
            <a:r>
              <a:rPr lang="zh-CN" altLang="en-US" dirty="0">
                <a:latin typeface="Times New Roman" panose="02020603050405020304" pitchFamily="18" charset="0"/>
                <a:ea typeface="+mn-ea"/>
                <a:cs typeface="Times New Roman" panose="02020603050405020304" pitchFamily="18" charset="0"/>
              </a:rPr>
              <a:t>协议。标准的</a:t>
            </a: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协议只认证用户是否可以登录系统，目前应用很少。取而代之的是</a:t>
            </a:r>
            <a:r>
              <a:rPr lang="en-US" altLang="zh-CN" dirty="0">
                <a:latin typeface="Times New Roman" panose="02020603050405020304" pitchFamily="18" charset="0"/>
                <a:ea typeface="+mn-ea"/>
                <a:cs typeface="Times New Roman" panose="02020603050405020304" pitchFamily="18" charset="0"/>
              </a:rPr>
              <a:t>TACACS+ </a:t>
            </a:r>
            <a:r>
              <a:rPr lang="zh-CN" altLang="en-US" dirty="0">
                <a:latin typeface="Times New Roman" panose="02020603050405020304" pitchFamily="18" charset="0"/>
                <a:ea typeface="+mn-ea"/>
                <a:cs typeface="Times New Roman" panose="02020603050405020304" pitchFamily="18" charset="0"/>
              </a:rPr>
              <a:t>，也是一种为路由器、网络访问服务器和其他互联计算设备通过一个或多个集中的服务器提供访问控制的协议。</a:t>
            </a:r>
            <a:endParaRPr lang="en-US" altLang="zh-CN" dirty="0">
              <a:latin typeface="Times New Roman" panose="02020603050405020304" pitchFamily="18" charset="0"/>
              <a:ea typeface="+mn-ea"/>
              <a:cs typeface="Times New Roman" panose="02020603050405020304" pitchFamily="18" charset="0"/>
            </a:endParaRPr>
          </a:p>
          <a:p>
            <a:pPr indent="457200">
              <a:spcAft>
                <a:spcPts val="0"/>
              </a:spcAft>
              <a:buFont typeface="Wingdings" panose="05000000000000000000" pitchFamily="2" charset="2"/>
              <a:buNone/>
              <a:defRPr/>
            </a:pPr>
            <a:r>
              <a:rPr lang="en-US" altLang="zh-CN" dirty="0">
                <a:latin typeface="Times New Roman" panose="02020603050405020304" pitchFamily="18" charset="0"/>
                <a:ea typeface="+mn-ea"/>
                <a:cs typeface="Times New Roman" panose="02020603050405020304" pitchFamily="18" charset="0"/>
              </a:rPr>
              <a:t>TACACS+</a:t>
            </a:r>
            <a:r>
              <a:rPr lang="zh-CN" altLang="en-US" dirty="0">
                <a:latin typeface="Times New Roman" panose="02020603050405020304" pitchFamily="18" charset="0"/>
                <a:ea typeface="+mn-ea"/>
                <a:cs typeface="Times New Roman" panose="02020603050405020304" pitchFamily="18" charset="0"/>
              </a:rPr>
              <a:t>提供了独立的认证、授权和记账服务，由思科（</a:t>
            </a:r>
            <a:r>
              <a:rPr lang="en-US" altLang="zh-CN" dirty="0">
                <a:latin typeface="Times New Roman" panose="02020603050405020304" pitchFamily="18" charset="0"/>
                <a:ea typeface="+mn-ea"/>
                <a:cs typeface="Times New Roman" panose="02020603050405020304" pitchFamily="18" charset="0"/>
              </a:rPr>
              <a:t>Cisco</a:t>
            </a:r>
            <a:r>
              <a:rPr lang="zh-CN" altLang="en-US" dirty="0">
                <a:latin typeface="Times New Roman" panose="02020603050405020304" pitchFamily="18" charset="0"/>
                <a:ea typeface="+mn-ea"/>
                <a:cs typeface="Times New Roman" panose="02020603050405020304" pitchFamily="18" charset="0"/>
              </a:rPr>
              <a:t>）公司提出，主要应用于</a:t>
            </a:r>
            <a:r>
              <a:rPr lang="en-US" altLang="zh-CN" dirty="0">
                <a:latin typeface="Times New Roman" panose="02020603050405020304" pitchFamily="18" charset="0"/>
                <a:ea typeface="+mn-ea"/>
                <a:cs typeface="Times New Roman" panose="02020603050405020304" pitchFamily="18" charset="0"/>
              </a:rPr>
              <a:t>Cisco</a:t>
            </a:r>
            <a:r>
              <a:rPr lang="zh-CN" altLang="en-US" dirty="0">
                <a:latin typeface="Times New Roman" panose="02020603050405020304" pitchFamily="18" charset="0"/>
                <a:ea typeface="+mn-ea"/>
                <a:cs typeface="Times New Roman" panose="02020603050405020304" pitchFamily="18" charset="0"/>
              </a:rPr>
              <a:t>公司的产品中，运行于</a:t>
            </a:r>
            <a:r>
              <a:rPr lang="en-US" altLang="zh-CN" dirty="0">
                <a:latin typeface="Times New Roman" panose="02020603050405020304" pitchFamily="18" charset="0"/>
                <a:ea typeface="+mn-ea"/>
                <a:cs typeface="Times New Roman" panose="02020603050405020304" pitchFamily="18" charset="0"/>
              </a:rPr>
              <a:t>TCP</a:t>
            </a:r>
            <a:r>
              <a:rPr lang="zh-CN" altLang="en-US" dirty="0">
                <a:latin typeface="Times New Roman" panose="02020603050405020304" pitchFamily="18" charset="0"/>
                <a:ea typeface="+mn-ea"/>
                <a:cs typeface="Times New Roman" panose="02020603050405020304" pitchFamily="18" charset="0"/>
              </a:rPr>
              <a:t>协议之上。</a:t>
            </a:r>
            <a:endParaRPr lang="zh-CN" altLang="en-US" dirty="0">
              <a:latin typeface="Times New Roman" panose="02020603050405020304" pitchFamily="18" charset="0"/>
              <a:ea typeface="+mn-ea"/>
              <a:cs typeface="Times New Roman" panose="02020603050405020304" pitchFamily="18" charset="0"/>
            </a:endParaRPr>
          </a:p>
        </p:txBody>
      </p:sp>
      <p:sp>
        <p:nvSpPr>
          <p:cNvPr id="6554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6.3.4</a:t>
            </a:r>
            <a:r>
              <a:rPr lang="zh-CN" altLang="en-US" sz="2800" kern="0" dirty="0">
                <a:solidFill>
                  <a:srgbClr val="FF0000"/>
                </a:solidFill>
                <a:effectLst>
                  <a:outerShdw blurRad="38100" dist="38100" dir="2700000" algn="tl">
                    <a:srgbClr val="C0C0C0"/>
                  </a:outerShdw>
                </a:effectLst>
              </a:rPr>
              <a:t>认证服务与访问控制系统</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565150" y="1773238"/>
            <a:ext cx="8394700" cy="38655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1. </a:t>
            </a:r>
            <a:r>
              <a:rPr lang="zh-CN" altLang="en-US" sz="2400" kern="1200" dirty="0">
                <a:solidFill>
                  <a:srgbClr val="C00000"/>
                </a:solidFill>
                <a:latin typeface="Arial" panose="020B0604020202020204" pitchFamily="34" charset="0"/>
              </a:rPr>
              <a:t>准入控制技术概述</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296545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solidFill>
                  <a:srgbClr val="FF0000"/>
                </a:solidFill>
                <a:latin typeface="+mn-lt"/>
                <a:ea typeface="+mn-ea"/>
              </a:rPr>
              <a:t>网络准入控制</a:t>
            </a:r>
            <a:r>
              <a:rPr lang="zh-CN" altLang="en-US" dirty="0">
                <a:latin typeface="+mn-lt"/>
                <a:ea typeface="+mn-ea"/>
              </a:rPr>
              <a:t>是一种网络安全管理技术，是主动式的对入网用户进行身份识别和安全评估，只有符合安全标准的终端才能够准许访问企事业机构网络，仅允许审批后的终端用户使用网络资源，从而达到保障整个网络安全的目的。当前，</a:t>
            </a:r>
            <a:r>
              <a:rPr lang="zh-CN" altLang="en-US" dirty="0">
                <a:solidFill>
                  <a:srgbClr val="FF0000"/>
                </a:solidFill>
                <a:latin typeface="+mn-lt"/>
                <a:ea typeface="+mn-ea"/>
              </a:rPr>
              <a:t>网络准入控制技术架构主要有以下</a:t>
            </a:r>
            <a:r>
              <a:rPr lang="en-US" altLang="zh-CN" dirty="0">
                <a:solidFill>
                  <a:srgbClr val="FF0000"/>
                </a:solidFill>
                <a:latin typeface="+mn-lt"/>
                <a:ea typeface="+mn-ea"/>
              </a:rPr>
              <a:t>3</a:t>
            </a:r>
            <a:r>
              <a:rPr lang="zh-CN" altLang="en-US" dirty="0">
                <a:solidFill>
                  <a:srgbClr val="FF0000"/>
                </a:solidFill>
                <a:latin typeface="+mn-lt"/>
                <a:ea typeface="+mn-ea"/>
              </a:rPr>
              <a:t>种</a:t>
            </a:r>
            <a:r>
              <a:rPr lang="zh-CN" altLang="en-US" dirty="0">
                <a:latin typeface="+mn-lt"/>
                <a:ea typeface="+mn-ea"/>
              </a:rPr>
              <a:t>。</a:t>
            </a:r>
            <a:endParaRPr lang="zh-CN" altLang="en-US"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1</a:t>
            </a:r>
            <a:r>
              <a:rPr lang="zh-CN" altLang="en-US" dirty="0">
                <a:latin typeface="+mn-lt"/>
                <a:ea typeface="+mn-ea"/>
              </a:rPr>
              <a:t>）基于端点系统的架构 </a:t>
            </a:r>
            <a:r>
              <a:rPr lang="en-US" altLang="zh-CN" dirty="0">
                <a:latin typeface="+mn-lt"/>
                <a:ea typeface="+mn-ea"/>
              </a:rPr>
              <a:t>Software-base NAC</a:t>
            </a:r>
            <a:endParaRPr lang="en-US" altLang="zh-CN"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2</a:t>
            </a:r>
            <a:r>
              <a:rPr lang="zh-CN" altLang="en-US" dirty="0">
                <a:latin typeface="+mn-lt"/>
                <a:ea typeface="+mn-ea"/>
              </a:rPr>
              <a:t>）基于基础网络设备联动的架构</a:t>
            </a:r>
            <a:r>
              <a:rPr lang="en-US" altLang="zh-CN" dirty="0">
                <a:latin typeface="+mn-lt"/>
                <a:ea typeface="+mn-ea"/>
              </a:rPr>
              <a:t>Infrastructure-base NAC</a:t>
            </a:r>
            <a:endParaRPr lang="en-US" altLang="zh-CN" dirty="0">
              <a:latin typeface="+mn-lt"/>
              <a:ea typeface="+mn-ea"/>
            </a:endParaRPr>
          </a:p>
          <a:p>
            <a:pPr indent="457200">
              <a:spcAft>
                <a:spcPts val="0"/>
              </a:spcAft>
              <a:buFont typeface="Wingdings" panose="05000000000000000000" pitchFamily="2" charset="2"/>
              <a:buNone/>
              <a:defRPr/>
            </a:pPr>
            <a:r>
              <a:rPr lang="en-US" altLang="zh-CN" dirty="0">
                <a:latin typeface="+mn-lt"/>
                <a:ea typeface="+mn-ea"/>
              </a:rPr>
              <a:t>3</a:t>
            </a:r>
            <a:r>
              <a:rPr lang="zh-CN" altLang="en-US" dirty="0">
                <a:latin typeface="+mn-lt"/>
                <a:ea typeface="+mn-ea"/>
              </a:rPr>
              <a:t>）基于应用设备的架构 </a:t>
            </a:r>
            <a:r>
              <a:rPr lang="en-US" altLang="zh-CN" dirty="0">
                <a:latin typeface="+mn-lt"/>
                <a:ea typeface="+mn-ea"/>
              </a:rPr>
              <a:t>Appliance-base NAC</a:t>
            </a:r>
            <a:endParaRPr lang="zh-CN" altLang="en-US" dirty="0">
              <a:latin typeface="+mn-lt"/>
              <a:ea typeface="+mn-ea"/>
            </a:endParaRPr>
          </a:p>
        </p:txBody>
      </p:sp>
      <p:sp>
        <p:nvSpPr>
          <p:cNvPr id="6656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419100" y="1764030"/>
            <a:ext cx="8569325" cy="397383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*2. </a:t>
            </a:r>
            <a:r>
              <a:rPr lang="zh-CN" altLang="en-US" sz="2400" kern="1200" dirty="0">
                <a:solidFill>
                  <a:srgbClr val="C00000"/>
                </a:solidFill>
                <a:latin typeface="Arial" panose="020B0604020202020204" pitchFamily="34" charset="0"/>
              </a:rPr>
              <a:t>准入控制技术方案介绍</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3356610"/>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在网络准入控制技术中，目前有几个主要的技术，思科的网络准入控制</a:t>
            </a:r>
            <a:r>
              <a:rPr lang="en-US" altLang="zh-CN" dirty="0">
                <a:latin typeface="+mn-lt"/>
                <a:ea typeface="+mn-ea"/>
              </a:rPr>
              <a:t>(NAC)</a:t>
            </a:r>
            <a:r>
              <a:rPr lang="zh-CN" altLang="en-US" dirty="0">
                <a:latin typeface="+mn-lt"/>
                <a:ea typeface="+mn-ea"/>
              </a:rPr>
              <a:t>，微软的网络接入保护</a:t>
            </a:r>
            <a:r>
              <a:rPr lang="en-US" altLang="zh-CN" dirty="0">
                <a:latin typeface="+mn-lt"/>
                <a:ea typeface="+mn-ea"/>
              </a:rPr>
              <a:t>(NAP)</a:t>
            </a:r>
            <a:r>
              <a:rPr lang="zh-CN" altLang="en-US" dirty="0">
                <a:latin typeface="+mn-lt"/>
                <a:ea typeface="+mn-ea"/>
              </a:rPr>
              <a:t>，</a:t>
            </a:r>
            <a:r>
              <a:rPr lang="en-US" altLang="zh-CN" dirty="0">
                <a:latin typeface="+mn-lt"/>
                <a:ea typeface="+mn-ea"/>
              </a:rPr>
              <a:t>Juniper</a:t>
            </a:r>
            <a:r>
              <a:rPr lang="zh-CN" altLang="en-US" dirty="0">
                <a:latin typeface="+mn-lt"/>
                <a:ea typeface="+mn-ea"/>
              </a:rPr>
              <a:t>的统一接入控制</a:t>
            </a:r>
            <a:r>
              <a:rPr lang="en-US" altLang="zh-CN" dirty="0">
                <a:latin typeface="+mn-lt"/>
                <a:ea typeface="+mn-ea"/>
              </a:rPr>
              <a:t>(UAC)</a:t>
            </a:r>
            <a:r>
              <a:rPr lang="zh-CN" altLang="en-US" dirty="0">
                <a:latin typeface="+mn-lt"/>
                <a:ea typeface="+mn-ea"/>
              </a:rPr>
              <a:t>，可信计算组织</a:t>
            </a:r>
            <a:r>
              <a:rPr lang="en-US" altLang="zh-CN" dirty="0">
                <a:latin typeface="+mn-lt"/>
                <a:ea typeface="+mn-ea"/>
              </a:rPr>
              <a:t>TCG</a:t>
            </a:r>
            <a:r>
              <a:rPr lang="zh-CN" altLang="en-US" dirty="0">
                <a:latin typeface="+mn-lt"/>
                <a:ea typeface="+mn-ea"/>
              </a:rPr>
              <a:t>的可信网络连接</a:t>
            </a:r>
            <a:r>
              <a:rPr lang="en-US" altLang="zh-CN" dirty="0">
                <a:latin typeface="+mn-lt"/>
                <a:ea typeface="+mn-ea"/>
              </a:rPr>
              <a:t>(TNC)</a:t>
            </a:r>
            <a:r>
              <a:rPr lang="zh-CN" altLang="en-US" dirty="0">
                <a:latin typeface="+mn-lt"/>
                <a:ea typeface="+mn-ea"/>
              </a:rPr>
              <a:t>，</a:t>
            </a:r>
            <a:r>
              <a:rPr lang="en-US" altLang="zh-CN" dirty="0">
                <a:latin typeface="+mn-lt"/>
                <a:ea typeface="+mn-ea"/>
              </a:rPr>
              <a:t>H3C</a:t>
            </a:r>
            <a:r>
              <a:rPr lang="zh-CN" altLang="en-US" dirty="0">
                <a:latin typeface="+mn-lt"/>
                <a:ea typeface="+mn-ea"/>
              </a:rPr>
              <a:t>的端点准入防御</a:t>
            </a:r>
            <a:r>
              <a:rPr lang="en-US" altLang="zh-CN" dirty="0">
                <a:latin typeface="+mn-lt"/>
                <a:ea typeface="+mn-ea"/>
              </a:rPr>
              <a:t>(EAD)</a:t>
            </a:r>
            <a:r>
              <a:rPr lang="zh-CN" altLang="en-US" dirty="0">
                <a:latin typeface="+mn-lt"/>
                <a:ea typeface="+mn-ea"/>
              </a:rPr>
              <a:t>等。</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其它如赛门铁克、北信源、锐捷、启明星辰等国内外厂商也不约而同地基于自身特色提出了准入控制的解决方案。在原理上这些方案基本类似，但是，具体实现方式各不相同，</a:t>
            </a:r>
            <a:r>
              <a:rPr lang="zh-CN" altLang="en-US" dirty="0">
                <a:solidFill>
                  <a:srgbClr val="0000FF"/>
                </a:solidFill>
                <a:latin typeface="+mn-lt"/>
                <a:ea typeface="+mn-ea"/>
              </a:rPr>
              <a:t>常用的几种网络准入控制技术有</a:t>
            </a:r>
            <a:r>
              <a:rPr lang="zh-CN" altLang="en-US" dirty="0">
                <a:latin typeface="+mn-lt"/>
                <a:ea typeface="+mn-ea"/>
              </a:rPr>
              <a:t>：</a:t>
            </a:r>
            <a:r>
              <a:rPr lang="en-US" altLang="zh-CN" dirty="0">
                <a:latin typeface="+mn-lt"/>
                <a:ea typeface="+mn-ea"/>
              </a:rPr>
              <a:t>802.1x</a:t>
            </a:r>
            <a:r>
              <a:rPr lang="zh-CN" altLang="en-US" dirty="0">
                <a:latin typeface="+mn-lt"/>
                <a:ea typeface="+mn-ea"/>
              </a:rPr>
              <a:t>准入控制、</a:t>
            </a:r>
            <a:r>
              <a:rPr lang="en-US" altLang="zh-CN" dirty="0">
                <a:latin typeface="+mn-lt"/>
                <a:ea typeface="+mn-ea"/>
              </a:rPr>
              <a:t>DHCP</a:t>
            </a:r>
            <a:r>
              <a:rPr lang="zh-CN" altLang="en-US" dirty="0">
                <a:latin typeface="+mn-lt"/>
                <a:ea typeface="+mn-ea"/>
              </a:rPr>
              <a:t>准入控制、网关型准入控制、</a:t>
            </a:r>
            <a:r>
              <a:rPr lang="en-US" altLang="zh-CN" dirty="0">
                <a:latin typeface="+mn-lt"/>
                <a:ea typeface="+mn-ea"/>
              </a:rPr>
              <a:t>portal</a:t>
            </a:r>
            <a:r>
              <a:rPr lang="zh-CN" altLang="en-US" dirty="0">
                <a:latin typeface="+mn-lt"/>
                <a:ea typeface="+mn-ea"/>
              </a:rPr>
              <a:t>型准入控制、</a:t>
            </a:r>
            <a:r>
              <a:rPr lang="en-US" altLang="zh-CN" dirty="0">
                <a:latin typeface="+mn-lt"/>
                <a:ea typeface="+mn-ea"/>
              </a:rPr>
              <a:t>ARP</a:t>
            </a:r>
            <a:r>
              <a:rPr lang="zh-CN" altLang="en-US" dirty="0">
                <a:latin typeface="+mn-lt"/>
                <a:ea typeface="+mn-ea"/>
              </a:rPr>
              <a:t>型准入控制等。</a:t>
            </a:r>
            <a:endParaRPr lang="zh-CN" altLang="en-US" dirty="0">
              <a:latin typeface="+mn-lt"/>
              <a:ea typeface="+mn-ea"/>
            </a:endParaRPr>
          </a:p>
        </p:txBody>
      </p:sp>
      <p:sp>
        <p:nvSpPr>
          <p:cNvPr id="6758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0525" y="1773238"/>
            <a:ext cx="8569325" cy="31686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endParaRPr lang="en-US" altLang="zh-CN">
              <a:solidFill>
                <a:schemeClr val="tx1"/>
              </a:solidFill>
              <a:latin typeface="Arial" panose="020B0604020202020204" pitchFamily="34" charset="0"/>
            </a:endParaRPr>
          </a:p>
        </p:txBody>
      </p:sp>
      <p:sp>
        <p:nvSpPr>
          <p:cNvPr id="55298" name="内容占位符 13"/>
          <p:cNvSpPr>
            <a:spLocks noGrp="1" noChangeArrowheads="1"/>
          </p:cNvSpPr>
          <p:nvPr>
            <p:ph idx="4294967295"/>
          </p:nvPr>
        </p:nvSpPr>
        <p:spPr>
          <a:xfrm>
            <a:off x="1116013" y="1844675"/>
            <a:ext cx="6553200" cy="514350"/>
          </a:xfrm>
        </p:spPr>
        <p:txBody>
          <a:bodyPr/>
          <a:lstStyle/>
          <a:p>
            <a:pPr algn="just" eaLnBrk="1" hangingPunct="1">
              <a:buFont typeface="Wingdings" panose="05000000000000000000" pitchFamily="2" charset="2"/>
              <a:buNone/>
              <a:defRPr/>
            </a:pPr>
            <a:r>
              <a:rPr lang="en-US" altLang="zh-CN" sz="2400" kern="1200" dirty="0">
                <a:solidFill>
                  <a:srgbClr val="C00000"/>
                </a:solidFill>
                <a:latin typeface="Arial" panose="020B0604020202020204" pitchFamily="34" charset="0"/>
              </a:rPr>
              <a:t>3. </a:t>
            </a:r>
            <a:r>
              <a:rPr lang="zh-CN" altLang="en-US" sz="2400" kern="1200" dirty="0">
                <a:solidFill>
                  <a:srgbClr val="C00000"/>
                </a:solidFill>
                <a:latin typeface="Arial" panose="020B0604020202020204" pitchFamily="34" charset="0"/>
              </a:rPr>
              <a:t>准入控制技术中的身份认证</a:t>
            </a:r>
            <a:endParaRPr lang="zh-CN" altLang="en-US" sz="2400" kern="1200" dirty="0">
              <a:solidFill>
                <a:srgbClr val="C00000"/>
              </a:solidFill>
              <a:latin typeface="Arial" panose="020B0604020202020204" pitchFamily="34" charset="0"/>
            </a:endParaRPr>
          </a:p>
        </p:txBody>
      </p:sp>
      <p:sp>
        <p:nvSpPr>
          <p:cNvPr id="55300" name="内容占位符 13"/>
          <p:cNvSpPr>
            <a:spLocks noChangeArrowheads="1"/>
          </p:cNvSpPr>
          <p:nvPr/>
        </p:nvSpPr>
        <p:spPr bwMode="auto">
          <a:xfrm>
            <a:off x="688975" y="2381250"/>
            <a:ext cx="8064500" cy="4392613"/>
          </a:xfrm>
          <a:prstGeom prst="rect">
            <a:avLst/>
          </a:prstGeom>
          <a:noFill/>
          <a:ln>
            <a:noFill/>
          </a:ln>
        </p:spPr>
        <p:txBody>
          <a:bodyP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indent="457200">
              <a:spcAft>
                <a:spcPts val="0"/>
              </a:spcAft>
              <a:buFont typeface="Wingdings" panose="05000000000000000000" pitchFamily="2" charset="2"/>
              <a:buNone/>
              <a:defRPr/>
            </a:pPr>
            <a:r>
              <a:rPr lang="zh-CN" altLang="en-US" dirty="0">
                <a:latin typeface="+mn-lt"/>
                <a:ea typeface="+mn-ea"/>
              </a:rPr>
              <a:t>身份认证技术是网络准入控制的基础，目前身份认证管理技术和准入控制进一步融合，向综合管理和集中控制方向发展。在各种准入控制方案中所采用的身份认证技术，其发展过程经历了从软件到与硬件结合，从单一因子认证到双因素认证，从静态认证到动态认证。</a:t>
            </a:r>
            <a:endParaRPr lang="en-US" altLang="zh-CN" dirty="0">
              <a:latin typeface="+mn-lt"/>
              <a:ea typeface="+mn-ea"/>
            </a:endParaRPr>
          </a:p>
          <a:p>
            <a:pPr indent="457200">
              <a:spcAft>
                <a:spcPts val="0"/>
              </a:spcAft>
              <a:buFont typeface="Wingdings" panose="05000000000000000000" pitchFamily="2" charset="2"/>
              <a:buNone/>
              <a:defRPr/>
            </a:pPr>
            <a:r>
              <a:rPr lang="zh-CN" altLang="en-US" dirty="0">
                <a:latin typeface="+mn-lt"/>
                <a:ea typeface="+mn-ea"/>
              </a:rPr>
              <a:t>目前常用的身份认证方式包括用户名</a:t>
            </a:r>
            <a:r>
              <a:rPr lang="en-US" altLang="zh-CN" dirty="0">
                <a:latin typeface="+mn-lt"/>
                <a:ea typeface="+mn-ea"/>
              </a:rPr>
              <a:t>/</a:t>
            </a:r>
            <a:r>
              <a:rPr lang="zh-CN" altLang="en-US" dirty="0">
                <a:latin typeface="+mn-lt"/>
                <a:ea typeface="+mn-ea"/>
              </a:rPr>
              <a:t>密码方式、公钥证书方式、动态口令方式等。无论采用哪种方式，都有其优劣。</a:t>
            </a:r>
            <a:endParaRPr lang="zh-CN" altLang="en-US" dirty="0">
              <a:latin typeface="+mn-lt"/>
              <a:ea typeface="+mn-ea"/>
            </a:endParaRPr>
          </a:p>
        </p:txBody>
      </p:sp>
      <p:sp>
        <p:nvSpPr>
          <p:cNvPr id="68612"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600" b="1">
                <a:solidFill>
                  <a:schemeClr val="bg1"/>
                </a:solidFill>
              </a:rPr>
              <a:t>6.3 </a:t>
            </a:r>
            <a:r>
              <a:rPr lang="zh-CN" altLang="en-US" sz="3600" b="1">
                <a:solidFill>
                  <a:schemeClr val="bg1"/>
                </a:solidFill>
              </a:rPr>
              <a:t>访问控制技术</a:t>
            </a:r>
            <a:r>
              <a:rPr lang="zh-CN" altLang="en-US" sz="3200">
                <a:solidFill>
                  <a:schemeClr val="bg1"/>
                </a:solidFill>
              </a:rPr>
              <a:t> </a:t>
            </a:r>
            <a:endParaRPr lang="zh-CN" altLang="en-US" sz="3200">
              <a:solidFill>
                <a:schemeClr val="bg1"/>
              </a:solidFill>
            </a:endParaRPr>
          </a:p>
        </p:txBody>
      </p:sp>
      <p:sp>
        <p:nvSpPr>
          <p:cNvPr id="7" name="内容占位符 13"/>
          <p:cNvSpPr txBox="1"/>
          <p:nvPr/>
        </p:nvSpPr>
        <p:spPr bwMode="auto">
          <a:xfrm>
            <a:off x="419100" y="1185863"/>
            <a:ext cx="5448300" cy="7302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a:buFont typeface="Wingdings" panose="05000000000000000000" pitchFamily="2" charset="2"/>
              <a:buNone/>
              <a:defRPr/>
            </a:pPr>
            <a:r>
              <a:rPr lang="en-US" altLang="zh-CN" sz="2800" kern="0" dirty="0">
                <a:solidFill>
                  <a:srgbClr val="FF0000"/>
                </a:solidFill>
                <a:effectLst>
                  <a:outerShdw blurRad="38100" dist="38100" dir="2700000" algn="tl">
                    <a:srgbClr val="C0C0C0"/>
                  </a:outerShdw>
                </a:effectLst>
              </a:rPr>
              <a:t>6.3.5 </a:t>
            </a:r>
            <a:r>
              <a:rPr lang="zh-CN" altLang="en-US" sz="2800" kern="0" dirty="0">
                <a:solidFill>
                  <a:srgbClr val="FF0000"/>
                </a:solidFill>
                <a:effectLst>
                  <a:outerShdw blurRad="38100" dist="38100" dir="2700000" algn="tl">
                    <a:srgbClr val="C0C0C0"/>
                  </a:outerShdw>
                </a:effectLst>
              </a:rPr>
              <a:t>准入控制技术</a:t>
            </a:r>
            <a:endParaRPr lang="en-US" altLang="zh-CN" sz="2800" kern="0" dirty="0">
              <a:solidFill>
                <a:srgbClr val="FF0000"/>
              </a:solidFill>
              <a:effectLst>
                <a:outerShdw blurRad="38100" dist="38100" dir="2700000" algn="tl">
                  <a:srgbClr val="C0C0C0"/>
                </a:outerShdw>
              </a:effectLst>
            </a:endParaRPr>
          </a:p>
        </p:txBody>
      </p:sp>
      <p:sp>
        <p:nvSpPr>
          <p:cNvPr id="68614" name="圆角矩形 18"/>
          <p:cNvSpPr>
            <a:spLocks noChangeArrowheads="1"/>
          </p:cNvSpPr>
          <p:nvPr/>
        </p:nvSpPr>
        <p:spPr bwMode="auto">
          <a:xfrm>
            <a:off x="855980" y="5016500"/>
            <a:ext cx="5957570" cy="1525905"/>
          </a:xfrm>
          <a:prstGeom prst="roundRect">
            <a:avLst>
              <a:gd name="adj" fmla="val 16667"/>
            </a:avLst>
          </a:prstGeom>
          <a:solidFill>
            <a:srgbClr val="FFFF66"/>
          </a:solidFill>
          <a:ln w="25400">
            <a:solidFill>
              <a:schemeClr val="tx1"/>
            </a:solidFill>
            <a:round/>
          </a:ln>
        </p:spPr>
        <p:txBody>
          <a:bodyPr anchor="ctr"/>
          <a:lstStyle/>
          <a:p>
            <a:r>
              <a:rPr lang="zh-CN" altLang="en-US" sz="2200" b="1">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b="1">
                <a:solidFill>
                  <a:srgbClr val="FF0000"/>
                </a:solidFill>
                <a:latin typeface="黑体" panose="02010609060101010101" pitchFamily="49" charset="-122"/>
                <a:ea typeface="黑体" panose="02010609060101010101" pitchFamily="49" charset="-122"/>
              </a:rPr>
              <a:t>讨论思考：</a:t>
            </a:r>
            <a:endParaRPr lang="zh-CN" altLang="en-US" sz="2200" b="1">
              <a:solidFill>
                <a:srgbClr val="FF0000"/>
              </a:solidFill>
              <a:latin typeface="黑体" panose="02010609060101010101" pitchFamily="49" charset="-122"/>
              <a:ea typeface="黑体" panose="02010609060101010101" pitchFamily="49" charset="-122"/>
            </a:endParaRPr>
          </a:p>
          <a:p>
            <a:r>
              <a:rPr lang="en-US" altLang="zh-CN" b="1">
                <a:solidFill>
                  <a:srgbClr val="0000FF"/>
                </a:solidFill>
                <a:latin typeface="楷体_GB2312" pitchFamily="49" charset="-122"/>
                <a:ea typeface="楷体_GB2312" pitchFamily="49" charset="-122"/>
              </a:rPr>
              <a:t>1</a:t>
            </a:r>
            <a:r>
              <a:rPr lang="zh-CN" altLang="en-US" b="1">
                <a:solidFill>
                  <a:srgbClr val="0000FF"/>
                </a:solidFill>
                <a:latin typeface="楷体_GB2312" pitchFamily="49" charset="-122"/>
                <a:ea typeface="楷体_GB2312" pitchFamily="49" charset="-122"/>
              </a:rPr>
              <a:t>）访问控制的概念和三要素是什么？</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）访问控制模型主要有哪几种？</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）访问控制安全策略的实施原则和实现方式是什么？</a:t>
            </a:r>
            <a:endParaRPr lang="zh-CN" altLang="en-US" b="1">
              <a:solidFill>
                <a:srgbClr val="0000FF"/>
              </a:solidFill>
              <a:latin typeface="楷体_GB2312" pitchFamily="49" charset="-122"/>
              <a:ea typeface="楷体_GB2312" pitchFamily="49" charset="-122"/>
            </a:endParaRPr>
          </a:p>
        </p:txBody>
      </p:sp>
      <p:pic>
        <p:nvPicPr>
          <p:cNvPr id="68615" name="Picture 7" descr="j0195384"/>
          <p:cNvPicPr>
            <a:picLocks noChangeAspect="1" noChangeArrowheads="1"/>
          </p:cNvPicPr>
          <p:nvPr/>
        </p:nvPicPr>
        <p:blipFill>
          <a:blip r:embed="rId1" cstate="print"/>
          <a:srcRect/>
          <a:stretch>
            <a:fillRect/>
          </a:stretch>
        </p:blipFill>
        <p:spPr bwMode="auto">
          <a:xfrm>
            <a:off x="7332663" y="5141913"/>
            <a:ext cx="1112837" cy="113665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1" name="Group 14"/>
          <p:cNvGrpSpPr/>
          <p:nvPr/>
        </p:nvGrpSpPr>
        <p:grpSpPr bwMode="auto">
          <a:xfrm>
            <a:off x="1647825" y="3062288"/>
            <a:ext cx="5281613" cy="898525"/>
            <a:chOff x="1115" y="1889"/>
            <a:chExt cx="3327" cy="581"/>
          </a:xfrm>
        </p:grpSpPr>
        <p:sp>
          <p:nvSpPr>
            <p:cNvPr id="10" name="AutoShape 15"/>
            <p:cNvSpPr>
              <a:spLocks noChangeArrowheads="1"/>
            </p:cNvSpPr>
            <p:nvPr/>
          </p:nvSpPr>
          <p:spPr bwMode="gray">
            <a:xfrm>
              <a:off x="1507" y="1944"/>
              <a:ext cx="2935" cy="483"/>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3600">
                <a:solidFill>
                  <a:schemeClr val="tx2"/>
                </a:solidFill>
                <a:latin typeface="+mn-lt"/>
                <a:ea typeface="+mn-ea"/>
              </a:endParaRPr>
            </a:p>
          </p:txBody>
        </p:sp>
        <p:sp>
          <p:nvSpPr>
            <p:cNvPr id="71683" name="AutoShape 16"/>
            <p:cNvSpPr>
              <a:spLocks noChangeArrowheads="1"/>
            </p:cNvSpPr>
            <p:nvPr/>
          </p:nvSpPr>
          <p:spPr bwMode="auto">
            <a:xfrm>
              <a:off x="1115" y="1889"/>
              <a:ext cx="592" cy="581"/>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3600">
                <a:solidFill>
                  <a:schemeClr val="tx2"/>
                </a:solidFill>
                <a:latin typeface="宋体" panose="02010600030101010101" pitchFamily="2" charset="-122"/>
              </a:endParaRPr>
            </a:p>
          </p:txBody>
        </p:sp>
        <p:sp>
          <p:nvSpPr>
            <p:cNvPr id="71684" name="Text Box 17"/>
            <p:cNvSpPr txBox="1">
              <a:spLocks noChangeArrowheads="1"/>
            </p:cNvSpPr>
            <p:nvPr/>
          </p:nvSpPr>
          <p:spPr bwMode="auto">
            <a:xfrm>
              <a:off x="1798" y="2030"/>
              <a:ext cx="2631" cy="378"/>
            </a:xfrm>
            <a:prstGeom prst="rect">
              <a:avLst/>
            </a:prstGeom>
            <a:noFill/>
            <a:ln w="9525">
              <a:noFill/>
              <a:miter lim="800000"/>
            </a:ln>
          </p:spPr>
          <p:txBody>
            <a:bodyPr>
              <a:spAutoFit/>
            </a:bodyPr>
            <a:lstStyle/>
            <a:p>
              <a:pPr eaLnBrk="0" hangingPunct="0"/>
              <a:r>
                <a:rPr lang="zh-CN" altLang="en-US" sz="3200" b="1">
                  <a:solidFill>
                    <a:schemeClr val="tx2"/>
                  </a:solidFill>
                </a:rPr>
                <a:t>安全审计与电子证据</a:t>
              </a:r>
              <a:endParaRPr lang="zh-CN" altLang="en-US" sz="3200" b="1">
                <a:solidFill>
                  <a:schemeClr val="tx2"/>
                </a:solidFill>
              </a:endParaRPr>
            </a:p>
          </p:txBody>
        </p:sp>
        <p:sp>
          <p:nvSpPr>
            <p:cNvPr id="71685" name="Text Box 18"/>
            <p:cNvSpPr txBox="1">
              <a:spLocks noChangeArrowheads="1"/>
            </p:cNvSpPr>
            <p:nvPr/>
          </p:nvSpPr>
          <p:spPr bwMode="auto">
            <a:xfrm>
              <a:off x="1151" y="1965"/>
              <a:ext cx="520" cy="418"/>
            </a:xfrm>
            <a:prstGeom prst="rect">
              <a:avLst/>
            </a:prstGeom>
            <a:noFill/>
            <a:ln w="9525">
              <a:noFill/>
              <a:miter lim="800000"/>
            </a:ln>
          </p:spPr>
          <p:txBody>
            <a:bodyPr wrap="none">
              <a:spAutoFit/>
            </a:bodyPr>
            <a:lstStyle/>
            <a:p>
              <a:pPr algn="ctr" eaLnBrk="0" hangingPunct="0"/>
              <a:r>
                <a:rPr lang="en-US" altLang="zh-CN" sz="3600" b="1">
                  <a:solidFill>
                    <a:schemeClr val="tx2"/>
                  </a:solidFill>
                </a:rPr>
                <a:t>6.4</a:t>
              </a:r>
              <a:endParaRPr lang="en-US" altLang="zh-CN" sz="3600">
                <a:solidFill>
                  <a:schemeClr val="tx2"/>
                </a:solidFill>
                <a:latin typeface="宋体" panose="02010600030101010101" pitchFamily="2" charset="-122"/>
              </a:endParaRPr>
            </a:p>
          </p:txBody>
        </p:sp>
      </p:grpSp>
      <p:pic>
        <p:nvPicPr>
          <p:cNvPr id="71686" name="Picture 5" descr="j0300520"/>
          <p:cNvPicPr>
            <a:picLocks noChangeAspect="1" noChangeArrowheads="1"/>
          </p:cNvPicPr>
          <p:nvPr/>
        </p:nvPicPr>
        <p:blipFill>
          <a:blip r:embed="rId1"/>
          <a:srcRect/>
          <a:stretch>
            <a:fillRect/>
          </a:stretch>
        </p:blipFill>
        <p:spPr bwMode="auto">
          <a:xfrm>
            <a:off x="4084638" y="4281488"/>
            <a:ext cx="1295400" cy="1114425"/>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8963"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200" b="1" u="sng" dirty="0">
                <a:solidFill>
                  <a:srgbClr val="FF0000"/>
                </a:solidFill>
                <a:effectLst>
                  <a:outerShdw blurRad="38100" dist="38100" dir="2700000" algn="tl">
                    <a:srgbClr val="C0C0C0"/>
                  </a:outerShdw>
                </a:effectLst>
                <a:latin typeface="Arial" panose="020B0604020202020204" pitchFamily="34" charset="0"/>
              </a:rPr>
              <a:t>安全审计</a:t>
            </a:r>
            <a:r>
              <a:rPr lang="zh-CN" altLang="en-US" sz="2200" b="1" dirty="0">
                <a:solidFill>
                  <a:schemeClr val="tx2"/>
                </a:solidFill>
                <a:latin typeface="Arial" panose="020B0604020202020204" pitchFamily="34" charset="0"/>
              </a:rPr>
              <a:t>（</a:t>
            </a:r>
            <a:r>
              <a:rPr lang="en-US" altLang="zh-CN" sz="2200" b="1" dirty="0">
                <a:solidFill>
                  <a:schemeClr val="tx2"/>
                </a:solidFill>
                <a:latin typeface="Times New Roman" panose="02020603050405020304" pitchFamily="18" charset="0"/>
              </a:rPr>
              <a:t>Audit</a:t>
            </a:r>
            <a:r>
              <a:rPr lang="zh-CN" altLang="en-US" sz="2200" b="1" dirty="0">
                <a:solidFill>
                  <a:schemeClr val="tx2"/>
                </a:solidFill>
                <a:latin typeface="Arial" panose="020B0604020202020204" pitchFamily="34" charset="0"/>
              </a:rPr>
              <a:t>）是指</a:t>
            </a:r>
            <a:r>
              <a:rPr lang="zh-CN" altLang="en-US" sz="2200" b="1" dirty="0">
                <a:solidFill>
                  <a:srgbClr val="3333FF"/>
                </a:solidFill>
                <a:latin typeface="Arial" panose="020B0604020202020204" pitchFamily="34" charset="0"/>
              </a:rPr>
              <a:t>按照</a:t>
            </a:r>
            <a:r>
              <a:rPr lang="zh-CN" altLang="en-US" sz="2200" b="1" dirty="0">
                <a:solidFill>
                  <a:schemeClr val="tx2"/>
                </a:solidFill>
                <a:latin typeface="Arial" panose="020B0604020202020204" pitchFamily="34" charset="0"/>
              </a:rPr>
              <a:t>一定</a:t>
            </a:r>
            <a:r>
              <a:rPr lang="zh-CN" altLang="en-US" sz="2200" b="1" dirty="0">
                <a:solidFill>
                  <a:srgbClr val="800000"/>
                </a:solidFill>
                <a:latin typeface="Arial" panose="020B0604020202020204" pitchFamily="34" charset="0"/>
              </a:rPr>
              <a:t>安全策略</a:t>
            </a:r>
            <a:r>
              <a:rPr lang="en-US" altLang="zh-CN" sz="2200" b="1" dirty="0">
                <a:solidFill>
                  <a:schemeClr val="tx2"/>
                </a:solidFill>
                <a:latin typeface="Arial" panose="020B0604020202020204" pitchFamily="34" charset="0"/>
              </a:rPr>
              <a:t>,</a:t>
            </a:r>
            <a:r>
              <a:rPr lang="zh-CN" altLang="en-US" sz="2200" b="1" dirty="0">
                <a:solidFill>
                  <a:srgbClr val="3333FF"/>
                </a:solidFill>
                <a:latin typeface="Arial" panose="020B0604020202020204" pitchFamily="34" charset="0"/>
              </a:rPr>
              <a:t>利用</a:t>
            </a:r>
            <a:r>
              <a:rPr lang="zh-CN" altLang="en-US" sz="2200" b="1" dirty="0">
                <a:solidFill>
                  <a:srgbClr val="006600"/>
                </a:solidFill>
                <a:latin typeface="Arial" panose="020B0604020202020204" pitchFamily="34" charset="0"/>
              </a:rPr>
              <a:t>记录及分析系统活动和用户活动的历史操作事件</a:t>
            </a:r>
            <a:r>
              <a:rPr lang="zh-CN" altLang="en-US" sz="2200" b="1" dirty="0">
                <a:solidFill>
                  <a:schemeClr val="tx2"/>
                </a:solidFill>
                <a:latin typeface="Arial" panose="020B0604020202020204" pitchFamily="34" charset="0"/>
              </a:rPr>
              <a:t>，</a:t>
            </a:r>
            <a:r>
              <a:rPr lang="zh-CN" altLang="en-US" sz="2200" b="1" dirty="0">
                <a:solidFill>
                  <a:srgbClr val="3333FF"/>
                </a:solidFill>
                <a:latin typeface="Arial" panose="020B0604020202020204" pitchFamily="34" charset="0"/>
              </a:rPr>
              <a:t>检查、审查和检验</a:t>
            </a:r>
            <a:r>
              <a:rPr lang="zh-CN" altLang="en-US" sz="2200" b="1" dirty="0">
                <a:solidFill>
                  <a:schemeClr val="tx2"/>
                </a:solidFill>
                <a:latin typeface="Arial" panose="020B0604020202020204" pitchFamily="34" charset="0"/>
              </a:rPr>
              <a:t>每个</a:t>
            </a:r>
            <a:r>
              <a:rPr lang="zh-CN" altLang="en-US" sz="2200" b="1" dirty="0">
                <a:solidFill>
                  <a:schemeClr val="tx2"/>
                </a:solidFill>
                <a:latin typeface="Arial" panose="020B0604020202020204" pitchFamily="34" charset="0"/>
              </a:rPr>
              <a:t>事件的环境及活动，</a:t>
            </a:r>
            <a:r>
              <a:rPr lang="zh-CN" altLang="en-US" sz="2200" b="1" dirty="0">
                <a:solidFill>
                  <a:srgbClr val="3333FF"/>
                </a:solidFill>
                <a:latin typeface="Arial" panose="020B0604020202020204" pitchFamily="34" charset="0"/>
              </a:rPr>
              <a:t>发现</a:t>
            </a:r>
            <a:r>
              <a:rPr lang="zh-CN" altLang="en-US" sz="2200" b="1" dirty="0">
                <a:solidFill>
                  <a:schemeClr val="tx2"/>
                </a:solidFill>
                <a:latin typeface="Arial" panose="020B0604020202020204" pitchFamily="34" charset="0"/>
              </a:rPr>
              <a:t>系统漏洞、入侵行为或改善系统性能的</a:t>
            </a:r>
            <a:r>
              <a:rPr lang="zh-CN" altLang="en-US" sz="2200" b="1" dirty="0">
                <a:solidFill>
                  <a:srgbClr val="800000"/>
                </a:solidFill>
                <a:latin typeface="Arial" panose="020B0604020202020204" pitchFamily="34" charset="0"/>
              </a:rPr>
              <a:t>过程</a:t>
            </a:r>
            <a:r>
              <a:rPr lang="zh-CN" altLang="en-US" sz="2200" b="1" dirty="0">
                <a:solidFill>
                  <a:schemeClr val="tx2"/>
                </a:solidFill>
                <a:latin typeface="Arial" panose="020B0604020202020204" pitchFamily="34" charset="0"/>
              </a:rPr>
              <a:t>。也是审查评估</a:t>
            </a:r>
            <a:r>
              <a:rPr lang="zh-CN" altLang="en-US" sz="2200" b="1" dirty="0">
                <a:solidFill>
                  <a:srgbClr val="800000"/>
                </a:solidFill>
                <a:latin typeface="Arial" panose="020B0604020202020204" pitchFamily="34" charset="0"/>
              </a:rPr>
              <a:t>系统安全风险</a:t>
            </a:r>
            <a:r>
              <a:rPr lang="zh-CN" altLang="en-US" sz="2200" b="1" dirty="0">
                <a:solidFill>
                  <a:schemeClr val="tx2"/>
                </a:solidFill>
                <a:latin typeface="Arial" panose="020B0604020202020204" pitchFamily="34" charset="0"/>
              </a:rPr>
              <a:t>并</a:t>
            </a:r>
            <a:r>
              <a:rPr lang="zh-CN" altLang="en-US" sz="2200" b="1" dirty="0">
                <a:solidFill>
                  <a:srgbClr val="800000"/>
                </a:solidFill>
                <a:latin typeface="Arial" panose="020B0604020202020204" pitchFamily="34" charset="0"/>
              </a:rPr>
              <a:t>采取相应措施的一个过程</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indent="457200">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GB/T20945-2013 信息安全技术　信息系统安全审计产品技术要求和测试评价方法</a:t>
            </a:r>
            <a:r>
              <a:rPr lang="zh-CN" altLang="en-US" sz="2200" b="1" dirty="0">
                <a:solidFill>
                  <a:schemeClr val="tx2"/>
                </a:solidFill>
                <a:latin typeface="Arial" panose="020B0604020202020204" pitchFamily="34" charset="0"/>
              </a:rPr>
              <a:t>】</a:t>
            </a:r>
            <a:endParaRPr lang="en-US" altLang="zh-CN"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pic>
        <p:nvPicPr>
          <p:cNvPr id="2" name="图片 1"/>
          <p:cNvPicPr>
            <a:picLocks noChangeAspect="1"/>
          </p:cNvPicPr>
          <p:nvPr/>
        </p:nvPicPr>
        <p:blipFill>
          <a:blip r:embed="rId1"/>
          <a:stretch>
            <a:fillRect/>
          </a:stretch>
        </p:blipFill>
        <p:spPr>
          <a:xfrm>
            <a:off x="1259840" y="5300980"/>
            <a:ext cx="6948170" cy="86169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8963"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sz="2200" b="1" dirty="0"/>
              <a:t>网络安全审计是对系统中与安全有关的活动的相关信息进行识别、记录、存储和分析的一个工作，指由专业审计人员根据有关的法律法规、财产所有者的委托和管理当局的授权，对计算机网络环境下的有关活动或行为进行系统的、独立的检查验证，并作出相应评价。</a:t>
            </a:r>
            <a:endParaRPr sz="2200" b="1" dirty="0"/>
          </a:p>
          <a:p>
            <a:pPr>
              <a:defRPr/>
            </a:pPr>
            <a:r>
              <a:rPr lang="zh-CN" sz="2200" b="1" dirty="0">
                <a:solidFill>
                  <a:srgbClr val="FF0000"/>
                </a:solidFill>
              </a:rPr>
              <a:t>安全审计的功能理解：</a:t>
            </a:r>
            <a:endParaRPr lang="zh-CN" sz="2200" b="1" dirty="0">
              <a:solidFill>
                <a:srgbClr val="FF0000"/>
              </a:solidFill>
            </a:endParaRPr>
          </a:p>
          <a:p>
            <a:pPr>
              <a:defRPr/>
            </a:pPr>
            <a:endParaRPr lang="zh-CN" sz="2200" b="1" dirty="0"/>
          </a:p>
          <a:p>
            <a:pPr>
              <a:defRPr/>
            </a:pPr>
            <a:endParaRPr lang="zh-CN" sz="2200" b="1" dirty="0"/>
          </a:p>
          <a:p>
            <a:pPr>
              <a:defRPr/>
            </a:pPr>
            <a:endParaRPr lang="zh-CN" sz="2200" b="1" dirty="0"/>
          </a:p>
          <a:p>
            <a:pPr>
              <a:defRPr/>
            </a:pPr>
            <a:endParaRPr lang="zh-CN" sz="2200" b="1" dirty="0"/>
          </a:p>
          <a:p>
            <a:pPr>
              <a:defRPr/>
            </a:pPr>
            <a:endParaRPr sz="2200" b="1" dirty="0"/>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1259840" y="4293235"/>
            <a:ext cx="6038850" cy="263525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612265"/>
            <a:ext cx="8209280" cy="469646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sz="2200" b="1" dirty="0">
                <a:solidFill>
                  <a:srgbClr val="FF0000"/>
                </a:solidFill>
              </a:rPr>
              <a:t>安全审计的功能理解：</a:t>
            </a:r>
            <a:endParaRPr lang="zh-CN" sz="2200" b="1" dirty="0">
              <a:solidFill>
                <a:srgbClr val="FF0000"/>
              </a:solidFill>
            </a:endParaRPr>
          </a:p>
          <a:p>
            <a:pPr>
              <a:defRPr/>
            </a:pPr>
            <a:r>
              <a:rPr lang="zh-CN" sz="2200" b="1" dirty="0">
                <a:solidFill>
                  <a:schemeClr val="tx1"/>
                </a:solidFill>
              </a:rPr>
              <a:t>根据互联网安全顾问团主席Ira Winkler，</a:t>
            </a:r>
            <a:r>
              <a:rPr lang="zh-CN" sz="2200" b="1" dirty="0">
                <a:solidFill>
                  <a:srgbClr val="FF0000"/>
                </a:solidFill>
              </a:rPr>
              <a:t>安全审计</a:t>
            </a:r>
            <a:r>
              <a:rPr lang="zh-CN" sz="2200" b="1" dirty="0">
                <a:solidFill>
                  <a:schemeClr val="tx1"/>
                </a:solidFill>
              </a:rPr>
              <a:t>、</a:t>
            </a:r>
            <a:r>
              <a:rPr lang="zh-CN" sz="2200" b="1" dirty="0">
                <a:solidFill>
                  <a:srgbClr val="FF0000"/>
                </a:solidFill>
              </a:rPr>
              <a:t>易损性评估</a:t>
            </a:r>
            <a:r>
              <a:rPr lang="zh-CN" sz="2200" b="1" dirty="0">
                <a:solidFill>
                  <a:schemeClr val="tx1"/>
                </a:solidFill>
              </a:rPr>
              <a:t>以及</a:t>
            </a:r>
            <a:r>
              <a:rPr lang="zh-CN" sz="2200" b="1" dirty="0">
                <a:solidFill>
                  <a:srgbClr val="FF0000"/>
                </a:solidFill>
              </a:rPr>
              <a:t>渗透性测试</a:t>
            </a:r>
            <a:r>
              <a:rPr lang="zh-CN" sz="2200" b="1" dirty="0">
                <a:solidFill>
                  <a:schemeClr val="tx1"/>
                </a:solidFill>
              </a:rPr>
              <a:t>是</a:t>
            </a:r>
            <a:r>
              <a:rPr lang="zh-CN" sz="2200" b="1" dirty="0">
                <a:solidFill>
                  <a:srgbClr val="0070C0"/>
                </a:solidFill>
              </a:rPr>
              <a:t>安全诊断的三种主要方式</a:t>
            </a:r>
            <a:r>
              <a:rPr lang="zh-CN" sz="2200" b="1" dirty="0">
                <a:solidFill>
                  <a:schemeClr val="tx1"/>
                </a:solidFill>
              </a:rPr>
              <a:t>。这三个分别采用不同的方法，分别适于特定的目标。安全审计测量信息系统对于一系列标准的性能。而易损性评估涉及整个信息系统的综合考察以及搜索潜在的安全漏洞。渗透性测试是一种隐蔽的操作，安全专家进行大量的攻击来探查系统是否能够经受来自恶意黑客的同类攻击。在渗透性测试中，伪造的攻击可能包括社会工程等真正黑客可能尝试的任何攻击。这些方法各有其固有的能力，联合使用两个或者多个可能是最有效的。</a:t>
            </a:r>
            <a:endParaRPr sz="2200" b="1" dirty="0"/>
          </a:p>
          <a:p>
            <a:pPr>
              <a:defRPr/>
            </a:pP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2204085"/>
            <a:ext cx="8209280" cy="410464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altLang="en-US" sz="2200" b="1" dirty="0">
                <a:solidFill>
                  <a:srgbClr val="0070C0"/>
                </a:solidFill>
                <a:latin typeface="Arial" panose="020B0604020202020204" pitchFamily="34" charset="0"/>
              </a:rPr>
              <a:t>安全审计的</a:t>
            </a:r>
            <a:r>
              <a:rPr lang="zh-CN" altLang="en-US" sz="2200" b="1" dirty="0">
                <a:solidFill>
                  <a:srgbClr val="FF0000"/>
                </a:solidFill>
                <a:latin typeface="Arial" panose="020B0604020202020204" pitchFamily="34" charset="0"/>
              </a:rPr>
              <a:t>目标</a:t>
            </a:r>
            <a:r>
              <a:rPr lang="zh-CN" altLang="en-US" sz="2200" b="1" dirty="0">
                <a:solidFill>
                  <a:srgbClr val="0070C0"/>
                </a:solidFill>
                <a:latin typeface="Arial" panose="020B0604020202020204" pitchFamily="34" charset="0"/>
              </a:rPr>
              <a:t>至少要包括以下几个方面：</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确定和保持系统活动中每个人的责任</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确认重建事件的发生</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评估损失</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监测系统问题区</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提供有效的灾难恢复依据</a:t>
            </a:r>
            <a:endParaRPr lang="zh-CN" altLang="en-US" sz="2200" b="1" dirty="0">
              <a:solidFill>
                <a:srgbClr val="0070C0"/>
              </a:solidFill>
              <a:latin typeface="Arial" panose="020B0604020202020204" pitchFamily="34" charset="0"/>
            </a:endParaRPr>
          </a:p>
          <a:p>
            <a:pPr marL="342900" indent="-342900">
              <a:buFont typeface="Arial" panose="020B0604020202020204" pitchFamily="34" charset="0"/>
              <a:buChar char="•"/>
              <a:defRPr/>
            </a:pPr>
            <a:r>
              <a:rPr lang="zh-CN" altLang="en-US" sz="2200" b="1" dirty="0">
                <a:solidFill>
                  <a:srgbClr val="0070C0"/>
                </a:solidFill>
                <a:latin typeface="Arial" panose="020B0604020202020204" pitchFamily="34" charset="0"/>
              </a:rPr>
              <a:t>提供阻止不正当使用系统行为的依据提供案件侦破证据 </a:t>
            </a: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23850" y="1844675"/>
            <a:ext cx="8209280" cy="4483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sz="2200" b="1" dirty="0"/>
          </a:p>
          <a:p>
            <a:pPr>
              <a:defRPr/>
            </a:pPr>
            <a:r>
              <a:rPr lang="zh-CN" altLang="en-US" sz="2200" b="1" dirty="0">
                <a:latin typeface="Arial" panose="020B0604020202020204" pitchFamily="34" charset="0"/>
              </a:rPr>
              <a:t>安全审计的</a:t>
            </a:r>
            <a:r>
              <a:rPr lang="zh-CN" altLang="en-US" sz="2200" b="1" dirty="0">
                <a:solidFill>
                  <a:srgbClr val="FF0000"/>
                </a:solidFill>
                <a:latin typeface="Arial" panose="020B0604020202020204" pitchFamily="34" charset="0"/>
              </a:rPr>
              <a:t>功能</a:t>
            </a:r>
            <a:r>
              <a:rPr lang="zh-CN" altLang="en-US" sz="2200" b="1" dirty="0">
                <a:latin typeface="Arial" panose="020B0604020202020204" pitchFamily="34" charset="0"/>
              </a:rPr>
              <a:t>如下：</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取证：利用审计工具，监视和记录系统的活动情况。</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威慑：通过审计跟踪，并配合相应的责任追究机制，对外部的入侵者以及内部人员的恶意行为具有威慑和警告作用。</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发现系统漏洞：安全审计为系统管理员提供有价值的系统使用日志，从而帮助系统管理员及时发现系统入侵行为或潜在的系统漏洞。</a:t>
            </a:r>
            <a:endParaRPr lang="zh-CN" altLang="en-US" sz="2200" b="1" dirty="0">
              <a:latin typeface="Arial" panose="020B0604020202020204" pitchFamily="34" charset="0"/>
            </a:endParaRPr>
          </a:p>
          <a:p>
            <a:pPr marL="342900" indent="-342900">
              <a:buFont typeface="Arial" panose="020B0604020202020204" pitchFamily="34" charset="0"/>
              <a:buChar char="•"/>
              <a:defRPr/>
            </a:pPr>
            <a:r>
              <a:rPr lang="zh-CN" altLang="en-US" sz="2200" b="1" dirty="0">
                <a:latin typeface="Arial" panose="020B0604020202020204" pitchFamily="34" charset="0"/>
              </a:rPr>
              <a:t>发现系统运行异常：通过安全审计，为系统管理员提供系统运行的统计目志，管理员司粮据日志数据库记录的目志数据分析网络或系统的安全性，输出安全性分析报告。因而能够及时发现系统的异常行为，并采取相应的处理措施。</a:t>
            </a:r>
            <a:r>
              <a:rPr lang="zh-CN" altLang="en-US" sz="2200" b="1" dirty="0">
                <a:solidFill>
                  <a:srgbClr val="0070C0"/>
                </a:solidFill>
                <a:latin typeface="Arial" panose="020B0604020202020204" pitchFamily="34" charset="0"/>
              </a:rPr>
              <a:t> </a:t>
            </a:r>
            <a:r>
              <a:rPr lang="zh-CN" altLang="en-US" sz="2200" b="1" dirty="0">
                <a:solidFill>
                  <a:schemeClr val="tx2"/>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
        <p:nvSpPr>
          <p:cNvPr id="72706" name="内容占位符 13"/>
          <p:cNvSpPr>
            <a:spLocks noGrp="1" noChangeArrowheads="1"/>
          </p:cNvSpPr>
          <p:nvPr>
            <p:ph idx="4294967295"/>
          </p:nvPr>
        </p:nvSpPr>
        <p:spPr>
          <a:xfrm>
            <a:off x="419100" y="1185863"/>
            <a:ext cx="8040688" cy="587375"/>
          </a:xfrm>
        </p:spPr>
        <p:txBody>
          <a:bodyPr/>
          <a:lstStyle/>
          <a:p>
            <a:pPr eaLnBrk="1" hangingPunct="1">
              <a:buFont typeface="Wingdings" panose="05000000000000000000" pitchFamily="2" charset="2"/>
              <a:buNone/>
            </a:pPr>
            <a:r>
              <a:rPr lang="en-US" altLang="zh-CN" sz="2800" smtClean="0">
                <a:solidFill>
                  <a:srgbClr val="FF0000"/>
                </a:solidFill>
              </a:rPr>
              <a:t>6.4.1 </a:t>
            </a:r>
            <a:r>
              <a:rPr lang="zh-CN" altLang="en-US" sz="2800" smtClean="0">
                <a:solidFill>
                  <a:srgbClr val="FF0000"/>
                </a:solidFill>
              </a:rPr>
              <a:t>安全审计概述</a:t>
            </a:r>
            <a:r>
              <a:rPr lang="zh-CN" altLang="en-US" smtClean="0"/>
              <a:t> </a:t>
            </a:r>
            <a:endParaRPr lang="en-US" altLang="zh-CN" smtClean="0"/>
          </a:p>
        </p:txBody>
      </p:sp>
      <p:sp>
        <p:nvSpPr>
          <p:cNvPr id="19" name="圆角矩形 18"/>
          <p:cNvSpPr/>
          <p:nvPr/>
        </p:nvSpPr>
        <p:spPr bwMode="gray">
          <a:xfrm>
            <a:off x="334645" y="1988820"/>
            <a:ext cx="8209280" cy="40163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1. </a:t>
            </a:r>
            <a:r>
              <a:rPr lang="zh-CN" altLang="en-US" sz="2400" b="1" dirty="0">
                <a:solidFill>
                  <a:srgbClr val="CC0000"/>
                </a:solidFill>
                <a:latin typeface="Arial" panose="020B0604020202020204" pitchFamily="34" charset="0"/>
              </a:rPr>
              <a:t>安全审计的基本概念</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rPr>
              <a:t>       </a:t>
            </a:r>
            <a:r>
              <a:rPr lang="zh-CN" altLang="en-US" sz="2200" b="1" u="sng" dirty="0">
                <a:solidFill>
                  <a:srgbClr val="FF0000"/>
                </a:solidFill>
                <a:effectLst>
                  <a:outerShdw blurRad="38100" dist="38100" dir="2700000" algn="tl">
                    <a:srgbClr val="C0C0C0"/>
                  </a:outerShdw>
                </a:effectLst>
                <a:latin typeface="Arial" panose="020B0604020202020204" pitchFamily="34" charset="0"/>
              </a:rPr>
              <a:t>安全审计</a:t>
            </a:r>
            <a:r>
              <a:rPr lang="zh-CN" altLang="en-US" sz="2200" b="1" dirty="0">
                <a:solidFill>
                  <a:srgbClr val="D60093"/>
                </a:solidFill>
                <a:latin typeface="Arial" panose="020B0604020202020204" pitchFamily="34" charset="0"/>
              </a:rPr>
              <a:t>主要作用和目的</a:t>
            </a:r>
            <a:r>
              <a:rPr lang="zh-CN" altLang="en-US" sz="2200" b="1" dirty="0">
                <a:solidFill>
                  <a:schemeClr val="tx2"/>
                </a:solidFill>
                <a:latin typeface="Arial" panose="020B0604020202020204" pitchFamily="34" charset="0"/>
              </a:rPr>
              <a:t>包括</a:t>
            </a:r>
            <a:r>
              <a:rPr lang="en-US" altLang="zh-CN" sz="2200" b="1" dirty="0">
                <a:solidFill>
                  <a:schemeClr val="tx2"/>
                </a:solidFill>
                <a:latin typeface="Arial" panose="020B0604020202020204" pitchFamily="34" charset="0"/>
              </a:rPr>
              <a:t>5</a:t>
            </a:r>
            <a:r>
              <a:rPr lang="zh-CN" altLang="en-US" sz="2200" b="1" dirty="0">
                <a:solidFill>
                  <a:schemeClr val="tx2"/>
                </a:solidFill>
                <a:latin typeface="Arial" panose="020B0604020202020204" pitchFamily="34" charset="0"/>
              </a:rPr>
              <a:t>个方面（课本）：</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1</a:t>
            </a:r>
            <a:r>
              <a:rPr lang="zh-CN" altLang="en-US" sz="2200" b="1" dirty="0">
                <a:solidFill>
                  <a:schemeClr val="tx2"/>
                </a:solidFill>
                <a:latin typeface="Arial" panose="020B0604020202020204" pitchFamily="34" charset="0"/>
              </a:rPr>
              <a:t>）对潜在攻击者起到</a:t>
            </a:r>
            <a:r>
              <a:rPr lang="zh-CN" altLang="en-US" sz="2200" b="1" dirty="0">
                <a:solidFill>
                  <a:srgbClr val="800000"/>
                </a:solidFill>
                <a:latin typeface="Arial" panose="020B0604020202020204" pitchFamily="34" charset="0"/>
              </a:rPr>
              <a:t>威慑和警示</a:t>
            </a:r>
            <a:r>
              <a:rPr lang="zh-CN" altLang="en-US" sz="2200" b="1" dirty="0">
                <a:solidFill>
                  <a:schemeClr val="tx2"/>
                </a:solidFill>
                <a:latin typeface="Arial" panose="020B0604020202020204" pitchFamily="34" charset="0"/>
              </a:rPr>
              <a:t>作用。</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a:t>
            </a:r>
            <a:r>
              <a:rPr lang="zh-CN" altLang="en-US" sz="2200" b="1" dirty="0">
                <a:solidFill>
                  <a:srgbClr val="800000"/>
                </a:solidFill>
                <a:latin typeface="Arial" panose="020B0604020202020204" pitchFamily="34" charset="0"/>
              </a:rPr>
              <a:t>测试系统</a:t>
            </a:r>
            <a:r>
              <a:rPr lang="zh-CN" altLang="en-US" sz="2200" b="1" dirty="0">
                <a:solidFill>
                  <a:schemeClr val="tx2"/>
                </a:solidFill>
                <a:latin typeface="Arial" panose="020B0604020202020204" pitchFamily="34" charset="0"/>
              </a:rPr>
              <a:t>的控制情况，及时调整。</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）对已出现的破坏事件，做出</a:t>
            </a:r>
            <a:r>
              <a:rPr lang="zh-CN" altLang="en-US" sz="2200" b="1" dirty="0">
                <a:solidFill>
                  <a:srgbClr val="800000"/>
                </a:solidFill>
                <a:latin typeface="Arial" panose="020B0604020202020204" pitchFamily="34" charset="0"/>
              </a:rPr>
              <a:t>评估</a:t>
            </a:r>
            <a:r>
              <a:rPr lang="zh-CN" altLang="en-US" sz="2200" b="1" dirty="0">
                <a:solidFill>
                  <a:schemeClr val="tx2"/>
                </a:solidFill>
                <a:latin typeface="Arial" panose="020B0604020202020204" pitchFamily="34" charset="0"/>
              </a:rPr>
              <a:t>并提供</a:t>
            </a:r>
            <a:r>
              <a:rPr lang="zh-CN" altLang="en-US" sz="2200" b="1" dirty="0">
                <a:solidFill>
                  <a:srgbClr val="800000"/>
                </a:solidFill>
                <a:latin typeface="Arial" panose="020B0604020202020204" pitchFamily="34" charset="0"/>
              </a:rPr>
              <a:t>依据</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4</a:t>
            </a:r>
            <a:r>
              <a:rPr lang="zh-CN" altLang="en-US" sz="2200" b="1" dirty="0">
                <a:solidFill>
                  <a:schemeClr val="tx2"/>
                </a:solidFill>
                <a:latin typeface="Arial" panose="020B0604020202020204" pitchFamily="34" charset="0"/>
              </a:rPr>
              <a:t>）对系统</a:t>
            </a:r>
            <a:r>
              <a:rPr lang="zh-CN" altLang="en-US" sz="2200" b="1" dirty="0">
                <a:solidFill>
                  <a:srgbClr val="800000"/>
                </a:solidFill>
                <a:latin typeface="Arial" panose="020B0604020202020204" pitchFamily="34" charset="0"/>
              </a:rPr>
              <a:t>控制</a:t>
            </a:r>
            <a:r>
              <a:rPr lang="zh-CN" altLang="en-US" sz="2200" b="1" dirty="0">
                <a:solidFill>
                  <a:schemeClr val="tx2"/>
                </a:solidFill>
                <a:latin typeface="Arial" panose="020B0604020202020204" pitchFamily="34" charset="0"/>
              </a:rPr>
              <a:t>、安全</a:t>
            </a:r>
            <a:r>
              <a:rPr lang="zh-CN" altLang="en-US" sz="2200" b="1" dirty="0">
                <a:solidFill>
                  <a:srgbClr val="800000"/>
                </a:solidFill>
                <a:latin typeface="Arial" panose="020B0604020202020204" pitchFamily="34" charset="0"/>
              </a:rPr>
              <a:t>策略</a:t>
            </a:r>
            <a:r>
              <a:rPr lang="zh-CN" altLang="en-US" sz="2200" b="1" dirty="0">
                <a:solidFill>
                  <a:schemeClr val="tx2"/>
                </a:solidFill>
                <a:latin typeface="Arial" panose="020B0604020202020204" pitchFamily="34" charset="0"/>
              </a:rPr>
              <a:t>与</a:t>
            </a:r>
            <a:r>
              <a:rPr lang="zh-CN" altLang="en-US" sz="2200" b="1" dirty="0">
                <a:solidFill>
                  <a:srgbClr val="800000"/>
                </a:solidFill>
                <a:latin typeface="Arial" panose="020B0604020202020204" pitchFamily="34" charset="0"/>
              </a:rPr>
              <a:t>规程</a:t>
            </a:r>
            <a:r>
              <a:rPr lang="zh-CN" altLang="en-US" sz="2200" b="1" dirty="0">
                <a:solidFill>
                  <a:schemeClr val="tx2"/>
                </a:solidFill>
                <a:latin typeface="Arial" panose="020B0604020202020204" pitchFamily="34" charset="0"/>
              </a:rPr>
              <a:t>中的变更进行评价和反馈</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以便修订决策和部署。</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a:t>
            </a:r>
            <a:r>
              <a:rPr lang="en-US" altLang="zh-CN" sz="2200" b="1" dirty="0">
                <a:solidFill>
                  <a:schemeClr val="tx2"/>
                </a:solidFill>
                <a:latin typeface="Arial" panose="020B0604020202020204" pitchFamily="34" charset="0"/>
              </a:rPr>
              <a:t>5</a:t>
            </a:r>
            <a:r>
              <a:rPr lang="zh-CN" altLang="en-US" sz="2200" b="1" dirty="0">
                <a:solidFill>
                  <a:schemeClr val="tx2"/>
                </a:solidFill>
                <a:latin typeface="Arial" panose="020B0604020202020204" pitchFamily="34" charset="0"/>
              </a:rPr>
              <a:t>）协助</a:t>
            </a:r>
            <a:r>
              <a:rPr lang="zh-CN" altLang="en-US" sz="2200" b="1" dirty="0">
                <a:solidFill>
                  <a:srgbClr val="800000"/>
                </a:solidFill>
                <a:latin typeface="Arial" panose="020B0604020202020204" pitchFamily="34" charset="0"/>
              </a:rPr>
              <a:t>发现</a:t>
            </a:r>
            <a:r>
              <a:rPr lang="zh-CN" altLang="en-US" sz="2200" b="1" dirty="0">
                <a:solidFill>
                  <a:schemeClr val="tx2"/>
                </a:solidFill>
                <a:latin typeface="Arial" panose="020B0604020202020204" pitchFamily="34" charset="0"/>
              </a:rPr>
              <a:t>入侵或潜在的系统漏洞及隐患。</a:t>
            </a:r>
            <a:r>
              <a:rPr lang="zh-CN" altLang="en-US" sz="2200" dirty="0">
                <a:solidFill>
                  <a:schemeClr val="tx1"/>
                </a:solidFill>
                <a:latin typeface="Arial" panose="020B0604020202020204" pitchFamily="34" charset="0"/>
              </a:rPr>
              <a:t> </a:t>
            </a:r>
            <a:endParaRPr lang="en-US" altLang="zh-CN" sz="2200" dirty="0">
              <a:solidFill>
                <a:schemeClr val="tx1"/>
              </a:solidFill>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27088" y="1484313"/>
            <a:ext cx="7489825" cy="41052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r>
              <a:rPr lang="zh-CN" altLang="en-US" sz="2400" b="1" dirty="0">
                <a:solidFill>
                  <a:srgbClr val="990033"/>
                </a:solidFill>
                <a:latin typeface="Arial" panose="020B0604020202020204" pitchFamily="34" charset="0"/>
              </a:rPr>
              <a:t>从审计级别上可分为</a:t>
            </a:r>
            <a:r>
              <a:rPr lang="en-US" altLang="zh-CN" sz="2400" b="1" dirty="0">
                <a:solidFill>
                  <a:srgbClr val="D60093"/>
                </a:solidFill>
                <a:latin typeface="Arial" panose="020B0604020202020204" pitchFamily="34" charset="0"/>
              </a:rPr>
              <a:t>3</a:t>
            </a:r>
            <a:r>
              <a:rPr lang="zh-CN" altLang="en-US" sz="2400" b="1" dirty="0">
                <a:solidFill>
                  <a:srgbClr val="D60093"/>
                </a:solidFill>
                <a:latin typeface="Arial" panose="020B0604020202020204" pitchFamily="34" charset="0"/>
              </a:rPr>
              <a:t>种类型</a:t>
            </a:r>
            <a:r>
              <a:rPr lang="zh-CN" altLang="en-US" sz="2400" b="1" dirty="0">
                <a:solidFill>
                  <a:srgbClr val="990033"/>
                </a:solidFill>
                <a:latin typeface="Arial" panose="020B0604020202020204" pitchFamily="34" charset="0"/>
              </a:rPr>
              <a:t>：</a:t>
            </a:r>
            <a:endParaRPr lang="zh-CN" altLang="en-US" sz="2400" b="1" dirty="0">
              <a:solidFill>
                <a:srgbClr val="990033"/>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1</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系统级审计</a:t>
            </a:r>
            <a:r>
              <a:rPr lang="zh-CN" altLang="en-US" sz="2400" b="1" dirty="0">
                <a:solidFill>
                  <a:schemeClr val="tx2"/>
                </a:solidFill>
                <a:latin typeface="Arial" panose="020B0604020202020204" pitchFamily="34" charset="0"/>
              </a:rPr>
              <a:t>。主要针对</a:t>
            </a:r>
            <a:r>
              <a:rPr lang="zh-CN" altLang="en-US" sz="2400" b="1" dirty="0">
                <a:solidFill>
                  <a:srgbClr val="990033"/>
                </a:solidFill>
                <a:latin typeface="Arial" panose="020B0604020202020204" pitchFamily="34" charset="0"/>
              </a:rPr>
              <a:t>系统</a:t>
            </a:r>
            <a:r>
              <a:rPr lang="zh-CN" altLang="en-US" sz="2400" b="1" dirty="0">
                <a:solidFill>
                  <a:schemeClr val="tx2"/>
                </a:solidFill>
                <a:latin typeface="Arial" panose="020B0604020202020204" pitchFamily="34" charset="0"/>
              </a:rPr>
              <a:t>的登入情况、用户识别号、登入尝试的日期和具体时间</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次数</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、退出的日期和时间、所使用的设备、登入后运行程序等</a:t>
            </a:r>
            <a:r>
              <a:rPr lang="zh-CN" altLang="en-US" sz="2400" b="1" dirty="0">
                <a:solidFill>
                  <a:srgbClr val="800000"/>
                </a:solidFill>
                <a:latin typeface="Arial" panose="020B0604020202020204" pitchFamily="34" charset="0"/>
              </a:rPr>
              <a:t>事件信息</a:t>
            </a:r>
            <a:r>
              <a:rPr lang="zh-CN" altLang="en-US" sz="2400" b="1" dirty="0">
                <a:solidFill>
                  <a:schemeClr val="tx2"/>
                </a:solidFill>
                <a:latin typeface="Arial" panose="020B0604020202020204" pitchFamily="34" charset="0"/>
              </a:rPr>
              <a:t>进行审查。</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2</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应用级审计</a:t>
            </a:r>
            <a:r>
              <a:rPr lang="zh-CN" altLang="en-US" sz="2400" b="1" dirty="0">
                <a:solidFill>
                  <a:schemeClr val="tx2"/>
                </a:solidFill>
                <a:latin typeface="Arial" panose="020B0604020202020204" pitchFamily="34" charset="0"/>
              </a:rPr>
              <a:t>。主要针对的是</a:t>
            </a:r>
            <a:r>
              <a:rPr lang="zh-CN" altLang="en-US" sz="2400" b="1" dirty="0">
                <a:solidFill>
                  <a:srgbClr val="800000"/>
                </a:solidFill>
                <a:latin typeface="Arial" panose="020B0604020202020204" pitchFamily="34" charset="0"/>
              </a:rPr>
              <a:t>应用程序</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活动信息</a:t>
            </a:r>
            <a:r>
              <a:rPr lang="zh-CN" altLang="en-US" sz="2400" b="1" dirty="0">
                <a:solidFill>
                  <a:schemeClr val="tx2"/>
                </a:solidFill>
                <a:latin typeface="Arial" panose="020B0604020202020204" pitchFamily="34" charset="0"/>
              </a:rPr>
              <a:t>。</a:t>
            </a:r>
            <a:endParaRPr lang="zh-CN" altLang="en-US" sz="2400" b="1" dirty="0">
              <a:solidFill>
                <a:schemeClr val="tx2"/>
              </a:solidFill>
              <a:latin typeface="Arial" panose="020B0604020202020204" pitchFamily="34" charset="0"/>
            </a:endParaRPr>
          </a:p>
          <a:p>
            <a:pPr>
              <a:defRPr/>
            </a:pPr>
            <a:r>
              <a:rPr lang="zh-CN" altLang="en-US" sz="2400" b="1" dirty="0">
                <a:solidFill>
                  <a:schemeClr val="tx2"/>
                </a:solidFill>
                <a:latin typeface="Arial" panose="020B0604020202020204" pitchFamily="34" charset="0"/>
              </a:rPr>
              <a:t>    （</a:t>
            </a:r>
            <a:r>
              <a:rPr lang="en-US" altLang="zh-CN" sz="2400" b="1" dirty="0">
                <a:solidFill>
                  <a:schemeClr val="tx2"/>
                </a:solidFill>
                <a:latin typeface="Arial" panose="020B0604020202020204" pitchFamily="34" charset="0"/>
              </a:rPr>
              <a:t>3</a:t>
            </a:r>
            <a:r>
              <a:rPr lang="zh-CN" altLang="en-US" sz="2400" b="1" dirty="0">
                <a:solidFill>
                  <a:schemeClr val="tx2"/>
                </a:solidFill>
                <a:latin typeface="Arial" panose="020B0604020202020204" pitchFamily="34" charset="0"/>
              </a:rPr>
              <a:t>）</a:t>
            </a:r>
            <a:r>
              <a:rPr lang="zh-CN" altLang="en-US" sz="2400" b="1" dirty="0">
                <a:solidFill>
                  <a:srgbClr val="3333FF"/>
                </a:solidFill>
                <a:latin typeface="Arial" panose="020B0604020202020204" pitchFamily="34" charset="0"/>
              </a:rPr>
              <a:t>用户级审计</a:t>
            </a:r>
            <a:r>
              <a:rPr lang="zh-CN" altLang="en-US" sz="2400" b="1" dirty="0">
                <a:solidFill>
                  <a:schemeClr val="tx2"/>
                </a:solidFill>
                <a:latin typeface="Arial" panose="020B0604020202020204" pitchFamily="34" charset="0"/>
              </a:rPr>
              <a:t>。主要是</a:t>
            </a:r>
            <a:r>
              <a:rPr lang="zh-CN" altLang="en-US" sz="2400" b="1" dirty="0">
                <a:solidFill>
                  <a:srgbClr val="800000"/>
                </a:solidFill>
                <a:latin typeface="Arial" panose="020B0604020202020204" pitchFamily="34" charset="0"/>
              </a:rPr>
              <a:t>审计用户</a:t>
            </a:r>
            <a:r>
              <a:rPr lang="zh-CN" altLang="en-US" sz="2400" b="1" dirty="0">
                <a:solidFill>
                  <a:schemeClr val="tx2"/>
                </a:solidFill>
                <a:latin typeface="Arial" panose="020B0604020202020204" pitchFamily="34" charset="0"/>
              </a:rPr>
              <a:t>的</a:t>
            </a:r>
            <a:r>
              <a:rPr lang="zh-CN" altLang="en-US" sz="2400" b="1" dirty="0">
                <a:solidFill>
                  <a:srgbClr val="006600"/>
                </a:solidFill>
                <a:latin typeface="Arial" panose="020B0604020202020204" pitchFamily="34" charset="0"/>
              </a:rPr>
              <a:t>操作活动信息</a:t>
            </a:r>
            <a:r>
              <a:rPr lang="zh-CN" altLang="en-US" sz="2400" b="1" dirty="0">
                <a:solidFill>
                  <a:schemeClr val="tx2"/>
                </a:solidFill>
                <a:latin typeface="Arial" panose="020B0604020202020204" pitchFamily="34" charset="0"/>
              </a:rPr>
              <a:t>。</a:t>
            </a:r>
            <a:endParaRPr lang="en-US" altLang="zh-CN" sz="2400" b="1" dirty="0">
              <a:solidFill>
                <a:schemeClr val="tx2"/>
              </a:solidFill>
              <a:latin typeface="Arial" panose="020B0604020202020204" pitchFamily="34" charset="0"/>
            </a:endParaRPr>
          </a:p>
        </p:txBody>
      </p:sp>
      <p:pic>
        <p:nvPicPr>
          <p:cNvPr id="73731" name="Picture 8" descr="MC900429293[1]"/>
          <p:cNvPicPr>
            <a:picLocks noChangeAspect="1" noChangeArrowheads="1"/>
          </p:cNvPicPr>
          <p:nvPr/>
        </p:nvPicPr>
        <p:blipFill>
          <a:blip r:embed="rId1" cstate="print"/>
          <a:srcRect/>
          <a:stretch>
            <a:fillRect/>
          </a:stretch>
        </p:blipFill>
        <p:spPr bwMode="auto">
          <a:xfrm>
            <a:off x="5435600" y="5157788"/>
            <a:ext cx="1489075" cy="1328737"/>
          </a:xfrm>
          <a:prstGeom prst="rect">
            <a:avLst/>
          </a:prstGeom>
          <a:noFill/>
          <a:ln w="9525">
            <a:noFill/>
            <a:miter lim="800000"/>
            <a:headEnd/>
            <a:tailEnd/>
          </a:ln>
        </p:spPr>
      </p:pic>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99795" y="1124585"/>
            <a:ext cx="7489825" cy="127825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000" b="1" dirty="0">
                <a:solidFill>
                  <a:schemeClr val="tx2"/>
                </a:solidFill>
                <a:latin typeface="Arial" panose="020B0604020202020204" pitchFamily="34" charset="0"/>
                <a:sym typeface="+mn-ea"/>
              </a:rPr>
              <a:t>《</a:t>
            </a:r>
            <a:r>
              <a:rPr lang="en-US" altLang="zh-CN" sz="2000" b="1" dirty="0">
                <a:solidFill>
                  <a:schemeClr val="tx2"/>
                </a:solidFill>
                <a:latin typeface="Arial" panose="020B0604020202020204" pitchFamily="34" charset="0"/>
                <a:sym typeface="+mn-ea"/>
              </a:rPr>
              <a:t>GB/T20945-2013 信息安全技术　信息系统安全审计产品技术要求和测试评价方法</a:t>
            </a:r>
            <a:r>
              <a:rPr lang="zh-CN" altLang="en-US" sz="2000" b="1" dirty="0">
                <a:solidFill>
                  <a:schemeClr val="tx2"/>
                </a:solidFill>
                <a:latin typeface="Arial" panose="020B0604020202020204" pitchFamily="34" charset="0"/>
                <a:sym typeface="+mn-ea"/>
              </a:rPr>
              <a:t>》中对安全审计产品功能要求如下表：</a:t>
            </a:r>
            <a:endParaRPr lang="zh-CN" altLang="en-US" sz="20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4" name="图片 3"/>
          <p:cNvPicPr>
            <a:picLocks noChangeAspect="1"/>
          </p:cNvPicPr>
          <p:nvPr/>
        </p:nvPicPr>
        <p:blipFill>
          <a:blip r:embed="rId1"/>
          <a:stretch>
            <a:fillRect/>
          </a:stretch>
        </p:blipFill>
        <p:spPr>
          <a:xfrm>
            <a:off x="1764030" y="2132965"/>
            <a:ext cx="5630545" cy="452247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395605" y="1988820"/>
            <a:ext cx="8343900" cy="352552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827405" y="1988820"/>
            <a:ext cx="6017260" cy="409384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401320" y="2348865"/>
            <a:ext cx="8417560" cy="2667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6565" y="1124585"/>
            <a:ext cx="8421370" cy="7505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a:t>
            </a:r>
            <a:r>
              <a:rPr lang="zh-CN" altLang="en-US" sz="2400" b="1" dirty="0">
                <a:solidFill>
                  <a:srgbClr val="CC0000"/>
                </a:solidFill>
                <a:latin typeface="Arial" panose="020B0604020202020204" pitchFamily="34" charset="0"/>
              </a:rPr>
              <a:t>安全审计的类型</a:t>
            </a:r>
            <a:endParaRPr lang="zh-CN" altLang="en-US" sz="2400" b="1" dirty="0">
              <a:solidFill>
                <a:srgbClr val="CC0000"/>
              </a:solidFill>
              <a:latin typeface="Arial" panose="020B0604020202020204" pitchFamily="34" charset="0"/>
            </a:endParaRPr>
          </a:p>
          <a:p>
            <a:pPr>
              <a:defRPr/>
            </a:pPr>
            <a:r>
              <a:rPr lang="zh-CN" altLang="en-US" sz="2400" b="1" dirty="0">
                <a:solidFill>
                  <a:srgbClr val="FF0000"/>
                </a:solidFill>
                <a:latin typeface="Arial" panose="020B0604020202020204" pitchFamily="34" charset="0"/>
              </a:rPr>
              <a:t>     </a:t>
            </a:r>
            <a:endParaRPr lang="en-US" altLang="zh-CN" sz="2400" b="1" dirty="0">
              <a:solidFill>
                <a:schemeClr val="tx2"/>
              </a:solidFill>
              <a:latin typeface="Arial" panose="020B0604020202020204" pitchFamily="34" charset="0"/>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179070" y="2204720"/>
            <a:ext cx="8636000" cy="306641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827088" y="1196975"/>
            <a:ext cx="7489825" cy="16573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3. </a:t>
            </a:r>
            <a:r>
              <a:rPr lang="zh-CN" altLang="en-US" sz="2400" b="1" dirty="0">
                <a:solidFill>
                  <a:srgbClr val="CC0000"/>
                </a:solidFill>
                <a:latin typeface="Arial" panose="020B0604020202020204" pitchFamily="34" charset="0"/>
              </a:rPr>
              <a:t>安全审计系统的基本结构</a:t>
            </a:r>
            <a:endParaRPr lang="zh-CN" altLang="en-US" sz="2400" b="1" dirty="0">
              <a:solidFill>
                <a:srgbClr val="CC0000"/>
              </a:solidFill>
              <a:latin typeface="Arial" panose="020B0604020202020204" pitchFamily="34" charset="0"/>
            </a:endParaRPr>
          </a:p>
          <a:p>
            <a:pPr>
              <a:defRPr/>
            </a:pPr>
            <a:r>
              <a:rPr lang="zh-CN" altLang="en-US" b="1" dirty="0">
                <a:solidFill>
                  <a:schemeClr val="tx1"/>
                </a:solidFill>
                <a:latin typeface="Arial" panose="020B0604020202020204" pitchFamily="34" charset="0"/>
              </a:rPr>
              <a:t>       </a:t>
            </a:r>
            <a:r>
              <a:rPr lang="zh-CN" altLang="en-US" sz="2300" b="1" dirty="0">
                <a:solidFill>
                  <a:schemeClr val="tx1"/>
                </a:solidFill>
                <a:latin typeface="Arial" panose="020B0604020202020204" pitchFamily="34" charset="0"/>
              </a:rPr>
              <a:t>安全审计是通过对所关心的</a:t>
            </a:r>
            <a:r>
              <a:rPr lang="zh-CN" altLang="en-US" sz="2300" b="1" dirty="0">
                <a:solidFill>
                  <a:srgbClr val="C00000"/>
                </a:solidFill>
                <a:latin typeface="Arial" panose="020B0604020202020204" pitchFamily="34" charset="0"/>
              </a:rPr>
              <a:t>事件</a:t>
            </a:r>
            <a:r>
              <a:rPr lang="zh-CN" altLang="en-US" sz="2300" b="1" dirty="0">
                <a:solidFill>
                  <a:srgbClr val="7030A0"/>
                </a:solidFill>
                <a:latin typeface="Arial" panose="020B0604020202020204" pitchFamily="34" charset="0"/>
              </a:rPr>
              <a:t>进行记录和分析</a:t>
            </a:r>
            <a:r>
              <a:rPr lang="zh-CN" altLang="en-US" sz="2300" b="1" dirty="0">
                <a:solidFill>
                  <a:schemeClr val="tx1"/>
                </a:solidFill>
                <a:latin typeface="Arial" panose="020B0604020202020204" pitchFamily="34" charset="0"/>
              </a:rPr>
              <a:t>来</a:t>
            </a:r>
            <a:r>
              <a:rPr lang="zh-CN" altLang="en-US" sz="2300" b="1" dirty="0">
                <a:solidFill>
                  <a:srgbClr val="800000"/>
                </a:solidFill>
                <a:latin typeface="Arial" panose="020B0604020202020204" pitchFamily="34" charset="0"/>
              </a:rPr>
              <a:t>实现</a:t>
            </a:r>
            <a:r>
              <a:rPr lang="zh-CN" altLang="en-US" sz="2300" b="1" dirty="0">
                <a:solidFill>
                  <a:schemeClr val="tx1"/>
                </a:solidFill>
                <a:latin typeface="Arial" panose="020B0604020202020204" pitchFamily="34" charset="0"/>
              </a:rPr>
              <a:t>的，因此</a:t>
            </a:r>
            <a:r>
              <a:rPr lang="zh-CN" altLang="en-US" sz="2300" b="1" dirty="0">
                <a:solidFill>
                  <a:srgbClr val="800000"/>
                </a:solidFill>
                <a:latin typeface="Arial" panose="020B0604020202020204" pitchFamily="34" charset="0"/>
              </a:rPr>
              <a:t>审计过程</a:t>
            </a:r>
            <a:r>
              <a:rPr lang="zh-CN" altLang="en-US" sz="2300" b="1" dirty="0">
                <a:solidFill>
                  <a:schemeClr val="tx1"/>
                </a:solidFill>
                <a:latin typeface="Arial" panose="020B0604020202020204" pitchFamily="34" charset="0"/>
              </a:rPr>
              <a:t>包括审计发生器、日志记录器、日志分析器和报告机制几部分，如图所示。</a:t>
            </a:r>
            <a:r>
              <a:rPr lang="zh-CN" altLang="en-US" sz="2300" dirty="0">
                <a:solidFill>
                  <a:schemeClr val="tx1"/>
                </a:solidFill>
                <a:latin typeface="Arial" panose="020B0604020202020204" pitchFamily="34" charset="0"/>
              </a:rPr>
              <a:t> </a:t>
            </a:r>
            <a:endParaRPr lang="en-US" altLang="zh-CN" sz="2300" dirty="0">
              <a:solidFill>
                <a:schemeClr val="tx1"/>
              </a:solidFill>
              <a:latin typeface="Arial" panose="020B0604020202020204" pitchFamily="34" charset="0"/>
            </a:endParaRPr>
          </a:p>
        </p:txBody>
      </p:sp>
      <p:pic>
        <p:nvPicPr>
          <p:cNvPr id="74754" name="Picture 8"/>
          <p:cNvPicPr>
            <a:picLocks noChangeAspect="1" noChangeArrowheads="1"/>
          </p:cNvPicPr>
          <p:nvPr/>
        </p:nvPicPr>
        <p:blipFill>
          <a:blip r:embed="rId1" cstate="print"/>
          <a:srcRect/>
          <a:stretch>
            <a:fillRect/>
          </a:stretch>
        </p:blipFill>
        <p:spPr bwMode="auto">
          <a:xfrm>
            <a:off x="1833563" y="3000375"/>
            <a:ext cx="6134100" cy="2933700"/>
          </a:xfrm>
          <a:prstGeom prst="rect">
            <a:avLst/>
          </a:prstGeom>
          <a:noFill/>
          <a:ln w="9525">
            <a:noFill/>
            <a:miter lim="800000"/>
            <a:headEnd/>
            <a:tailEnd/>
          </a:ln>
        </p:spPr>
      </p:pic>
      <p:sp>
        <p:nvSpPr>
          <p:cNvPr id="74755" name="Rectangle 9"/>
          <p:cNvSpPr>
            <a:spLocks noChangeArrowheads="1"/>
          </p:cNvSpPr>
          <p:nvPr/>
        </p:nvSpPr>
        <p:spPr bwMode="auto">
          <a:xfrm>
            <a:off x="3132138" y="6029960"/>
            <a:ext cx="2695575" cy="336550"/>
          </a:xfrm>
          <a:prstGeom prst="rect">
            <a:avLst/>
          </a:prstGeom>
          <a:noFill/>
          <a:ln w="9525">
            <a:noFill/>
            <a:miter lim="800000"/>
          </a:ln>
        </p:spPr>
        <p:txBody>
          <a:bodyPr wrap="none" anchor="ctr">
            <a:spAutoFit/>
          </a:bodyPr>
          <a:lstStyle/>
          <a:p>
            <a:pPr algn="ctr" eaLnBrk="0" hangingPunct="0"/>
            <a:r>
              <a:rPr lang="zh-CN" altLang="en-US" sz="1600" b="1">
                <a:solidFill>
                  <a:srgbClr val="800000"/>
                </a:solidFill>
              </a:rPr>
              <a:t>图</a:t>
            </a:r>
            <a:r>
              <a:rPr lang="en-US" altLang="zh-CN" sz="1600" b="1">
                <a:solidFill>
                  <a:srgbClr val="800000"/>
                </a:solidFill>
              </a:rPr>
              <a:t>6-12 </a:t>
            </a:r>
            <a:r>
              <a:rPr lang="zh-CN" altLang="en-US" sz="1600" b="1">
                <a:solidFill>
                  <a:srgbClr val="800000"/>
                </a:solidFill>
              </a:rPr>
              <a:t>审计系统的基本结构</a:t>
            </a:r>
            <a:endParaRPr lang="zh-CN" altLang="en-US" sz="1600" b="1">
              <a:solidFill>
                <a:srgbClr val="800000"/>
              </a:solidFill>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内容占位符 13"/>
          <p:cNvSpPr>
            <a:spLocks noGrp="1" noChangeArrowheads="1"/>
          </p:cNvSpPr>
          <p:nvPr>
            <p:ph idx="4294967295"/>
          </p:nvPr>
        </p:nvSpPr>
        <p:spPr>
          <a:xfrm>
            <a:off x="419100" y="1185863"/>
            <a:ext cx="8040688" cy="514350"/>
          </a:xfrm>
        </p:spPr>
        <p:txBody>
          <a:bodyPr/>
          <a:lstStyle/>
          <a:p>
            <a:pPr algn="just" eaLnBrk="1" hangingPunct="1">
              <a:buFont typeface="Wingdings" panose="05000000000000000000" pitchFamily="2" charset="2"/>
              <a:buNone/>
            </a:pPr>
            <a:r>
              <a:rPr lang="en-US" altLang="zh-CN" sz="2800" smtClean="0">
                <a:solidFill>
                  <a:srgbClr val="FF0000"/>
                </a:solidFill>
              </a:rPr>
              <a:t>6.4.3 </a:t>
            </a:r>
            <a:r>
              <a:rPr lang="zh-CN" altLang="en-US" sz="2800" smtClean="0">
                <a:solidFill>
                  <a:srgbClr val="FF0000"/>
                </a:solidFill>
              </a:rPr>
              <a:t>审计跟踪及实施</a:t>
            </a:r>
            <a:endParaRPr lang="en-US" altLang="zh-CN" sz="2800" smtClean="0">
              <a:solidFill>
                <a:srgbClr val="FF0000"/>
              </a:solidFill>
            </a:endParaRPr>
          </a:p>
        </p:txBody>
      </p:sp>
      <p:sp>
        <p:nvSpPr>
          <p:cNvPr id="19" name="圆角矩形 18"/>
          <p:cNvSpPr/>
          <p:nvPr/>
        </p:nvSpPr>
        <p:spPr bwMode="gray">
          <a:xfrm>
            <a:off x="395288" y="1844675"/>
            <a:ext cx="8351837" cy="46085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300" b="1" dirty="0">
                <a:solidFill>
                  <a:srgbClr val="CC0000"/>
                </a:solidFill>
                <a:latin typeface="Arial" panose="020B0604020202020204" pitchFamily="34" charset="0"/>
              </a:rPr>
              <a:t>       1. </a:t>
            </a:r>
            <a:r>
              <a:rPr lang="zh-CN" altLang="en-US" sz="2300" b="1" dirty="0">
                <a:solidFill>
                  <a:srgbClr val="CC0000"/>
                </a:solidFill>
                <a:latin typeface="Arial" panose="020B0604020202020204" pitchFamily="34" charset="0"/>
              </a:rPr>
              <a:t>审计跟踪的概念及意义</a:t>
            </a:r>
            <a:endParaRPr lang="zh-CN" altLang="en-US" sz="2300" b="1" dirty="0">
              <a:solidFill>
                <a:srgbClr val="CC0000"/>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zh-CN" altLang="en-US" sz="2300" b="1" dirty="0">
                <a:solidFill>
                  <a:srgbClr val="FF0000"/>
                </a:solidFill>
                <a:latin typeface="Arial" panose="020B0604020202020204" pitchFamily="34" charset="0"/>
              </a:rPr>
              <a:t>审计跟踪</a:t>
            </a:r>
            <a:r>
              <a:rPr lang="zh-CN" altLang="en-US" sz="2300" b="1" dirty="0">
                <a:solidFill>
                  <a:schemeClr val="tx2"/>
                </a:solidFill>
                <a:latin typeface="Arial" panose="020B0604020202020204" pitchFamily="34" charset="0"/>
              </a:rPr>
              <a:t>（</a:t>
            </a:r>
            <a:r>
              <a:rPr lang="en-US" altLang="zh-CN" sz="2300" b="1" dirty="0">
                <a:solidFill>
                  <a:schemeClr val="tx2"/>
                </a:solidFill>
                <a:latin typeface="Times New Roman" panose="02020603050405020304" pitchFamily="18" charset="0"/>
              </a:rPr>
              <a:t>Audit Trail</a:t>
            </a:r>
            <a:r>
              <a:rPr lang="zh-CN" altLang="en-US" sz="2300" b="1" dirty="0">
                <a:solidFill>
                  <a:schemeClr val="tx2"/>
                </a:solidFill>
                <a:latin typeface="Arial" panose="020B0604020202020204" pitchFamily="34" charset="0"/>
              </a:rPr>
              <a:t>）指按事件顺序</a:t>
            </a:r>
            <a:r>
              <a:rPr lang="zh-CN" altLang="en-US" sz="2300" b="1" dirty="0">
                <a:solidFill>
                  <a:srgbClr val="0000FF"/>
                </a:solidFill>
                <a:latin typeface="Arial" panose="020B0604020202020204" pitchFamily="34" charset="0"/>
              </a:rPr>
              <a:t>检查、审查、检验</a:t>
            </a:r>
            <a:r>
              <a:rPr lang="zh-CN" altLang="en-US" sz="2300" b="1" dirty="0">
                <a:solidFill>
                  <a:schemeClr val="tx2"/>
                </a:solidFill>
                <a:latin typeface="Arial" panose="020B0604020202020204" pitchFamily="34" charset="0"/>
              </a:rPr>
              <a:t>其运行环境及相关事件活动的</a:t>
            </a:r>
            <a:r>
              <a:rPr lang="zh-CN" altLang="en-US" sz="2300" b="1" dirty="0">
                <a:solidFill>
                  <a:srgbClr val="990033"/>
                </a:solidFill>
                <a:latin typeface="Arial" panose="020B0604020202020204" pitchFamily="34" charset="0"/>
              </a:rPr>
              <a:t>过程</a:t>
            </a:r>
            <a:r>
              <a:rPr lang="zh-CN" altLang="en-US" sz="2300" b="1" dirty="0">
                <a:solidFill>
                  <a:schemeClr val="tx2"/>
                </a:solidFill>
                <a:latin typeface="Arial" panose="020B0604020202020204" pitchFamily="34" charset="0"/>
              </a:rPr>
              <a:t>。</a:t>
            </a:r>
            <a:r>
              <a:rPr lang="zh-CN" altLang="en-US" sz="2300" b="1" dirty="0">
                <a:solidFill>
                  <a:srgbClr val="D60093"/>
                </a:solidFill>
                <a:latin typeface="Arial" panose="020B0604020202020204" pitchFamily="34" charset="0"/>
              </a:rPr>
              <a:t>主要</a:t>
            </a:r>
            <a:r>
              <a:rPr lang="zh-CN" altLang="en-US" sz="2300" b="1" u="sng" dirty="0">
                <a:solidFill>
                  <a:srgbClr val="D60093"/>
                </a:solidFill>
                <a:effectLst>
                  <a:outerShdw blurRad="38100" dist="38100" dir="2700000" algn="tl">
                    <a:srgbClr val="C0C0C0"/>
                  </a:outerShdw>
                </a:effectLst>
                <a:latin typeface="Arial" panose="020B0604020202020204" pitchFamily="34" charset="0"/>
              </a:rPr>
              <a:t>用于</a:t>
            </a:r>
            <a:r>
              <a:rPr lang="zh-CN" altLang="en-US" sz="2300" b="1" dirty="0">
                <a:solidFill>
                  <a:schemeClr val="tx2"/>
                </a:solidFill>
                <a:latin typeface="Arial" panose="020B0604020202020204" pitchFamily="34" charset="0"/>
              </a:rPr>
              <a:t>实现重现事件、评估损失、检测系统产生的问题区域、提供有效的应急灾难恢复、防止系统故障或使用不当等方面。</a:t>
            </a:r>
            <a:endParaRPr lang="zh-CN" altLang="en-US" sz="2300" b="1" dirty="0">
              <a:solidFill>
                <a:schemeClr val="tx2"/>
              </a:solidFill>
              <a:latin typeface="Arial" panose="020B0604020202020204" pitchFamily="34" charset="0"/>
            </a:endParaRPr>
          </a:p>
          <a:p>
            <a:pPr>
              <a:defRPr/>
            </a:pPr>
            <a:r>
              <a:rPr lang="zh-CN" altLang="en-US" sz="2300" b="1" dirty="0">
                <a:solidFill>
                  <a:srgbClr val="FF0000"/>
                </a:solidFill>
                <a:latin typeface="Arial" panose="020B0604020202020204" pitchFamily="34" charset="0"/>
              </a:rPr>
              <a:t>       </a:t>
            </a:r>
            <a:r>
              <a:rPr lang="zh-CN" altLang="en-US" sz="2300" b="1" dirty="0">
                <a:solidFill>
                  <a:srgbClr val="CC0000"/>
                </a:solidFill>
                <a:latin typeface="Arial" panose="020B0604020202020204" pitchFamily="34" charset="0"/>
              </a:rPr>
              <a:t>审计跟踪</a:t>
            </a:r>
            <a:r>
              <a:rPr lang="zh-CN" altLang="en-US" sz="2300" b="1" dirty="0">
                <a:solidFill>
                  <a:srgbClr val="0000FF"/>
                </a:solidFill>
                <a:latin typeface="Arial" panose="020B0604020202020204" pitchFamily="34" charset="0"/>
              </a:rPr>
              <a:t>作为</a:t>
            </a:r>
            <a:r>
              <a:rPr lang="zh-CN" altLang="en-US" sz="2300" b="1" dirty="0">
                <a:solidFill>
                  <a:srgbClr val="990033"/>
                </a:solidFill>
                <a:latin typeface="Arial" panose="020B0604020202020204" pitchFamily="34" charset="0"/>
              </a:rPr>
              <a:t>一种安全机制其</a:t>
            </a:r>
            <a:r>
              <a:rPr lang="zh-CN" altLang="en-US" sz="2300" b="1" u="sng" dirty="0">
                <a:solidFill>
                  <a:srgbClr val="D60093"/>
                </a:solidFill>
                <a:effectLst>
                  <a:outerShdw blurRad="38100" dist="38100" dir="2700000" algn="tl">
                    <a:srgbClr val="C0C0C0"/>
                  </a:outerShdw>
                </a:effectLst>
                <a:latin typeface="Arial" panose="020B0604020202020204" pitchFamily="34" charset="0"/>
              </a:rPr>
              <a:t>目标</a:t>
            </a:r>
            <a:r>
              <a:rPr lang="zh-CN" altLang="en-US" sz="2300" b="1" dirty="0">
                <a:solidFill>
                  <a:schemeClr val="tx2"/>
                </a:solidFill>
                <a:latin typeface="Arial" panose="020B0604020202020204" pitchFamily="34" charset="0"/>
              </a:rPr>
              <a:t>：</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1</a:t>
            </a:r>
            <a:r>
              <a:rPr lang="zh-CN" altLang="en-US" sz="2300" b="1" dirty="0">
                <a:solidFill>
                  <a:schemeClr val="tx2"/>
                </a:solidFill>
                <a:latin typeface="Arial" panose="020B0604020202020204" pitchFamily="34" charset="0"/>
              </a:rPr>
              <a:t>）审计系统记录有利于迅速</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系统问题，及时</a:t>
            </a:r>
            <a:r>
              <a:rPr lang="zh-CN" altLang="en-US" sz="2300" b="1" dirty="0">
                <a:solidFill>
                  <a:srgbClr val="0000FF"/>
                </a:solidFill>
                <a:latin typeface="Arial" panose="020B0604020202020204" pitchFamily="34" charset="0"/>
              </a:rPr>
              <a:t>处理</a:t>
            </a:r>
            <a:r>
              <a:rPr lang="zh-CN" altLang="en-US" sz="2300" b="1" dirty="0">
                <a:solidFill>
                  <a:schemeClr val="tx2"/>
                </a:solidFill>
                <a:latin typeface="Arial" panose="020B0604020202020204" pitchFamily="34" charset="0"/>
              </a:rPr>
              <a:t>事故，</a:t>
            </a:r>
            <a:r>
              <a:rPr lang="zh-CN" altLang="en-US" sz="2300" b="1" dirty="0">
                <a:solidFill>
                  <a:srgbClr val="0000FF"/>
                </a:solidFill>
                <a:latin typeface="Arial" panose="020B0604020202020204" pitchFamily="34" charset="0"/>
              </a:rPr>
              <a:t>保障</a:t>
            </a:r>
            <a:r>
              <a:rPr lang="zh-CN" altLang="en-US" sz="2300" b="1" dirty="0">
                <a:solidFill>
                  <a:schemeClr val="tx2"/>
                </a:solidFill>
                <a:latin typeface="Arial" panose="020B0604020202020204" pitchFamily="34" charset="0"/>
              </a:rPr>
              <a:t>系统运行。</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2</a:t>
            </a:r>
            <a:r>
              <a:rPr lang="zh-CN" altLang="en-US" sz="2300" b="1" dirty="0">
                <a:solidFill>
                  <a:schemeClr val="tx2"/>
                </a:solidFill>
                <a:latin typeface="Arial" panose="020B0604020202020204" pitchFamily="34" charset="0"/>
              </a:rPr>
              <a:t>）可</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试图绕过保护机制的入侵行为或其他操作。</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3</a:t>
            </a:r>
            <a:r>
              <a:rPr lang="zh-CN" altLang="en-US" sz="2300" b="1" dirty="0">
                <a:solidFill>
                  <a:schemeClr val="tx2"/>
                </a:solidFill>
                <a:latin typeface="Arial" panose="020B0604020202020204" pitchFamily="34" charset="0"/>
              </a:rPr>
              <a:t>）能够</a:t>
            </a:r>
            <a:r>
              <a:rPr lang="zh-CN" altLang="en-US" sz="2300" b="1" dirty="0">
                <a:solidFill>
                  <a:srgbClr val="0000FF"/>
                </a:solidFill>
                <a:latin typeface="Arial" panose="020B0604020202020204" pitchFamily="34" charset="0"/>
              </a:rPr>
              <a:t>发现</a:t>
            </a:r>
            <a:r>
              <a:rPr lang="zh-CN" altLang="en-US" sz="2300" b="1" dirty="0">
                <a:solidFill>
                  <a:schemeClr val="tx2"/>
                </a:solidFill>
                <a:latin typeface="Arial" panose="020B0604020202020204" pitchFamily="34" charset="0"/>
              </a:rPr>
              <a:t>用户的访问权限转移行为。</a:t>
            </a:r>
            <a:endParaRPr lang="zh-CN" altLang="en-US" sz="2300" b="1" dirty="0">
              <a:solidFill>
                <a:schemeClr val="tx2"/>
              </a:solidFill>
              <a:latin typeface="Arial" panose="020B0604020202020204" pitchFamily="34" charset="0"/>
            </a:endParaRPr>
          </a:p>
          <a:p>
            <a:pPr>
              <a:defRPr/>
            </a:pPr>
            <a:r>
              <a:rPr lang="zh-CN" altLang="en-US" sz="2300" b="1" dirty="0">
                <a:solidFill>
                  <a:schemeClr val="tx2"/>
                </a:solidFill>
                <a:latin typeface="Arial" panose="020B0604020202020204" pitchFamily="34" charset="0"/>
              </a:rPr>
              <a:t>    （</a:t>
            </a:r>
            <a:r>
              <a:rPr lang="en-US" altLang="zh-CN" sz="2300" b="1" dirty="0">
                <a:solidFill>
                  <a:schemeClr val="tx2"/>
                </a:solidFill>
                <a:latin typeface="Arial" panose="020B0604020202020204" pitchFamily="34" charset="0"/>
              </a:rPr>
              <a:t>4</a:t>
            </a:r>
            <a:r>
              <a:rPr lang="zh-CN" altLang="en-US" sz="2300" b="1" dirty="0">
                <a:solidFill>
                  <a:schemeClr val="tx2"/>
                </a:solidFill>
                <a:latin typeface="Arial" panose="020B0604020202020204" pitchFamily="34" charset="0"/>
              </a:rPr>
              <a:t>）</a:t>
            </a:r>
            <a:r>
              <a:rPr lang="zh-CN" altLang="en-US" sz="2300" b="1" dirty="0">
                <a:solidFill>
                  <a:srgbClr val="0000FF"/>
                </a:solidFill>
                <a:latin typeface="Arial" panose="020B0604020202020204" pitchFamily="34" charset="0"/>
              </a:rPr>
              <a:t>制止</a:t>
            </a:r>
            <a:r>
              <a:rPr lang="zh-CN" altLang="en-US" sz="2300" b="1" dirty="0">
                <a:solidFill>
                  <a:schemeClr val="tx2"/>
                </a:solidFill>
                <a:latin typeface="Arial" panose="020B0604020202020204" pitchFamily="34" charset="0"/>
              </a:rPr>
              <a:t>用户企图绕过系统保护机制的操作事件。</a:t>
            </a:r>
            <a:endParaRPr lang="en-US" altLang="zh-CN" sz="2300" b="1" dirty="0">
              <a:solidFill>
                <a:schemeClr val="tx2"/>
              </a:solidFill>
              <a:latin typeface="Arial" panose="020B0604020202020204" pitchFamily="34" charset="0"/>
            </a:endParaRPr>
          </a:p>
          <a:p>
            <a:pPr>
              <a:defRPr/>
            </a:pPr>
            <a:r>
              <a:rPr lang="en-US" altLang="zh-CN" sz="2300" b="1" dirty="0">
                <a:solidFill>
                  <a:schemeClr val="tx2">
                    <a:lumMod val="95000"/>
                    <a:lumOff val="5000"/>
                  </a:schemeClr>
                </a:solidFill>
                <a:latin typeface="Arial" panose="020B0604020202020204" pitchFamily="34" charset="0"/>
              </a:rPr>
              <a:t>    </a:t>
            </a:r>
            <a:r>
              <a:rPr lang="zh-CN" altLang="en-US" sz="2300" b="1" dirty="0">
                <a:solidFill>
                  <a:schemeClr val="tx2">
                    <a:lumMod val="95000"/>
                    <a:lumOff val="5000"/>
                  </a:schemeClr>
                </a:solidFill>
                <a:latin typeface="Arial" panose="020B0604020202020204" pitchFamily="34" charset="0"/>
              </a:rPr>
              <a:t>（</a:t>
            </a:r>
            <a:r>
              <a:rPr lang="en-US" altLang="zh-CN" sz="2300" b="1" dirty="0">
                <a:solidFill>
                  <a:schemeClr val="tx2">
                    <a:lumMod val="95000"/>
                    <a:lumOff val="5000"/>
                  </a:schemeClr>
                </a:solidFill>
                <a:latin typeface="Arial" panose="020B0604020202020204" pitchFamily="34" charset="0"/>
              </a:rPr>
              <a:t>5</a:t>
            </a:r>
            <a:r>
              <a:rPr lang="zh-CN" altLang="en-US" sz="2300" b="1" dirty="0">
                <a:solidFill>
                  <a:schemeClr val="tx2">
                    <a:lumMod val="95000"/>
                    <a:lumOff val="5000"/>
                  </a:schemeClr>
                </a:solidFill>
                <a:latin typeface="Arial" panose="020B0604020202020204" pitchFamily="34" charset="0"/>
              </a:rPr>
              <a:t>）作为另一种机制确保</a:t>
            </a:r>
            <a:r>
              <a:rPr lang="zh-CN" altLang="en-US" sz="2300" b="1" dirty="0">
                <a:solidFill>
                  <a:srgbClr val="0000FF"/>
                </a:solidFill>
                <a:latin typeface="Arial" panose="020B0604020202020204" pitchFamily="34" charset="0"/>
              </a:rPr>
              <a:t>记录并发现</a:t>
            </a:r>
            <a:r>
              <a:rPr lang="zh-CN" altLang="en-US" sz="2300" b="1" dirty="0">
                <a:solidFill>
                  <a:schemeClr val="tx2">
                    <a:lumMod val="95000"/>
                    <a:lumOff val="5000"/>
                  </a:schemeClr>
                </a:solidFill>
                <a:latin typeface="Arial" panose="020B0604020202020204" pitchFamily="34" charset="0"/>
              </a:rPr>
              <a:t>用户企图绕过保护的尝试，为损失控制提供足够的信息。</a:t>
            </a:r>
            <a:endParaRPr lang="en-US" altLang="zh-CN" sz="2300" b="1" dirty="0">
              <a:solidFill>
                <a:schemeClr val="tx2">
                  <a:lumMod val="95000"/>
                  <a:lumOff val="5000"/>
                </a:schemeClr>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b="1" dirty="0">
                <a:solidFill>
                  <a:schemeClr val="tx2"/>
                </a:solidFill>
                <a:latin typeface="Arial" panose="020B0604020202020204" pitchFamily="34" charset="0"/>
              </a:rPr>
              <a:t>       </a:t>
            </a:r>
            <a:r>
              <a:rPr lang="zh-CN" altLang="en-US" sz="2100" b="1" dirty="0">
                <a:solidFill>
                  <a:srgbClr val="990033"/>
                </a:solidFill>
                <a:latin typeface="Arial" panose="020B0604020202020204" pitchFamily="34" charset="0"/>
              </a:rPr>
              <a:t>审计跟踪</a:t>
            </a:r>
            <a:r>
              <a:rPr lang="zh-CN" altLang="en-US" sz="2100" b="1" dirty="0">
                <a:solidFill>
                  <a:schemeClr val="tx2"/>
                </a:solidFill>
                <a:latin typeface="Arial" panose="020B0604020202020204" pitchFamily="34" charset="0"/>
              </a:rPr>
              <a:t>是提高系统安全性的重要工具</a:t>
            </a:r>
            <a:r>
              <a:rPr lang="zh-CN" altLang="en-US" sz="2100" b="1" dirty="0">
                <a:solidFill>
                  <a:srgbClr val="D60093"/>
                </a:solidFill>
                <a:latin typeface="Arial" panose="020B0604020202020204" pitchFamily="34" charset="0"/>
              </a:rPr>
              <a:t>其意义</a:t>
            </a:r>
            <a:r>
              <a:rPr lang="en-US" altLang="zh-CN" sz="2100" b="1" dirty="0">
                <a:solidFill>
                  <a:schemeClr val="tx2"/>
                </a:solidFill>
                <a:latin typeface="Arial" panose="020B0604020202020204" pitchFamily="34" charset="0"/>
              </a:rPr>
              <a:t>:</a:t>
            </a:r>
            <a:endParaRPr lang="en-US" altLang="zh-CN"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1</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利用</a:t>
            </a:r>
            <a:r>
              <a:rPr lang="zh-CN" altLang="en-US" sz="2100" b="1" dirty="0">
                <a:solidFill>
                  <a:srgbClr val="6600FF"/>
                </a:solidFill>
                <a:latin typeface="Arial" panose="020B0604020202020204" pitchFamily="34" charset="0"/>
              </a:rPr>
              <a:t>系统的保护机制和策略</a:t>
            </a:r>
            <a:r>
              <a:rPr lang="zh-CN" altLang="en-US" sz="2100" b="1" dirty="0">
                <a:solidFill>
                  <a:schemeClr val="tx2"/>
                </a:solidFill>
                <a:latin typeface="Arial" panose="020B0604020202020204" pitchFamily="34" charset="0"/>
              </a:rPr>
              <a:t>，及时</a:t>
            </a:r>
            <a:r>
              <a:rPr lang="zh-CN" altLang="en-US" sz="2100" b="1" dirty="0">
                <a:solidFill>
                  <a:srgbClr val="0000FF"/>
                </a:solidFill>
                <a:latin typeface="Arial" panose="020B0604020202020204" pitchFamily="34" charset="0"/>
              </a:rPr>
              <a:t>发现</a:t>
            </a:r>
            <a:r>
              <a:rPr lang="zh-CN" altLang="en-US" sz="2100" b="1" dirty="0">
                <a:solidFill>
                  <a:schemeClr val="tx2"/>
                </a:solidFill>
                <a:latin typeface="Arial" panose="020B0604020202020204" pitchFamily="34" charset="0"/>
              </a:rPr>
              <a:t>并解决系统问题，审计客户行为。	</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 （</a:t>
            </a:r>
            <a:r>
              <a:rPr lang="en-US" altLang="zh-CN" sz="2100" b="1" dirty="0">
                <a:solidFill>
                  <a:srgbClr val="7030A0"/>
                </a:solidFill>
                <a:latin typeface="Arial" panose="020B0604020202020204" pitchFamily="34" charset="0"/>
              </a:rPr>
              <a:t>2</a:t>
            </a:r>
            <a:r>
              <a:rPr lang="zh-CN" altLang="en-US" sz="2100" b="1" dirty="0">
                <a:solidFill>
                  <a:srgbClr val="7030A0"/>
                </a:solidFill>
                <a:latin typeface="Arial" panose="020B0604020202020204" pitchFamily="34" charset="0"/>
              </a:rPr>
              <a:t>）</a:t>
            </a:r>
            <a:r>
              <a:rPr lang="zh-CN" altLang="en-US" sz="2100" b="1" dirty="0">
                <a:solidFill>
                  <a:srgbClr val="6600FF"/>
                </a:solidFill>
                <a:latin typeface="Arial" panose="020B0604020202020204" pitchFamily="34" charset="0"/>
              </a:rPr>
              <a:t>审计信息可以</a:t>
            </a:r>
            <a:r>
              <a:rPr lang="zh-CN" altLang="en-US" sz="2100" b="1" dirty="0">
                <a:solidFill>
                  <a:srgbClr val="0000FF"/>
                </a:solidFill>
                <a:latin typeface="Arial" panose="020B0604020202020204" pitchFamily="34" charset="0"/>
              </a:rPr>
              <a:t>确定</a:t>
            </a:r>
            <a:r>
              <a:rPr lang="zh-CN" altLang="en-US" sz="2100" b="1" dirty="0">
                <a:solidFill>
                  <a:srgbClr val="006600"/>
                </a:solidFill>
                <a:latin typeface="Arial" panose="020B0604020202020204" pitchFamily="34" charset="0"/>
              </a:rPr>
              <a:t>事件和攻击源，</a:t>
            </a:r>
            <a:r>
              <a:rPr lang="zh-CN" altLang="en-US" sz="2100" b="1" dirty="0">
                <a:solidFill>
                  <a:srgbClr val="CC0000"/>
                </a:solidFill>
                <a:latin typeface="Arial" panose="020B0604020202020204" pitchFamily="34" charset="0"/>
              </a:rPr>
              <a:t>用于</a:t>
            </a:r>
            <a:r>
              <a:rPr lang="zh-CN" altLang="en-US" sz="2100" b="1" dirty="0">
                <a:solidFill>
                  <a:srgbClr val="0000FF"/>
                </a:solidFill>
                <a:latin typeface="Arial" panose="020B0604020202020204" pitchFamily="34" charset="0"/>
              </a:rPr>
              <a:t>检查</a:t>
            </a:r>
            <a:r>
              <a:rPr lang="zh-CN" altLang="en-US" sz="2100" b="1" dirty="0">
                <a:solidFill>
                  <a:schemeClr val="tx2"/>
                </a:solidFill>
                <a:latin typeface="Arial" panose="020B0604020202020204" pitchFamily="34" charset="0"/>
              </a:rPr>
              <a:t>网络犯罪。</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3</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通过</a:t>
            </a:r>
            <a:r>
              <a:rPr lang="zh-CN" altLang="en-US" sz="2100" b="1" dirty="0">
                <a:solidFill>
                  <a:srgbClr val="006600"/>
                </a:solidFill>
                <a:latin typeface="Arial" panose="020B0604020202020204" pitchFamily="34" charset="0"/>
              </a:rPr>
              <a:t>对安全事件</a:t>
            </a:r>
            <a:r>
              <a:rPr lang="zh-CN" altLang="en-US" sz="2100" b="1" dirty="0">
                <a:solidFill>
                  <a:schemeClr val="tx2"/>
                </a:solidFill>
                <a:latin typeface="Arial" panose="020B0604020202020204" pitchFamily="34" charset="0"/>
              </a:rPr>
              <a:t>的</a:t>
            </a:r>
            <a:r>
              <a:rPr lang="zh-CN" altLang="en-US" sz="2100" b="1" dirty="0">
                <a:solidFill>
                  <a:srgbClr val="0000FF"/>
                </a:solidFill>
                <a:latin typeface="Arial" panose="020B0604020202020204" pitchFamily="34" charset="0"/>
              </a:rPr>
              <a:t>收集、积累和分析</a:t>
            </a:r>
            <a:r>
              <a:rPr lang="zh-CN" altLang="en-US" sz="2100" b="1" dirty="0">
                <a:solidFill>
                  <a:schemeClr val="tx2"/>
                </a:solidFill>
                <a:latin typeface="Arial" panose="020B0604020202020204" pitchFamily="34" charset="0"/>
              </a:rPr>
              <a:t>，可对其中的某些站点或用户审计跟踪，以提供发现可能产生破坏性行为的证据。</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en-US" altLang="zh-CN" sz="2100" b="1" dirty="0">
                <a:solidFill>
                  <a:schemeClr val="tx2"/>
                </a:solidFill>
                <a:latin typeface="Arial" panose="020B0604020202020204" pitchFamily="34" charset="0"/>
              </a:rPr>
              <a:t>4</a:t>
            </a:r>
            <a:r>
              <a:rPr lang="zh-CN" altLang="en-US" sz="2100" b="1" dirty="0">
                <a:solidFill>
                  <a:schemeClr val="tx2"/>
                </a:solidFill>
                <a:latin typeface="Arial" panose="020B0604020202020204" pitchFamily="34" charset="0"/>
              </a:rPr>
              <a:t>）既能</a:t>
            </a:r>
            <a:r>
              <a:rPr lang="zh-CN" altLang="en-US" sz="2100" b="1" dirty="0">
                <a:solidFill>
                  <a:srgbClr val="0000FF"/>
                </a:solidFill>
                <a:latin typeface="Arial" panose="020B0604020202020204" pitchFamily="34" charset="0"/>
              </a:rPr>
              <a:t>识别</a:t>
            </a:r>
            <a:r>
              <a:rPr lang="zh-CN" altLang="en-US" sz="2100" b="1" dirty="0">
                <a:solidFill>
                  <a:schemeClr val="tx2"/>
                </a:solidFill>
                <a:latin typeface="Arial" panose="020B0604020202020204" pitchFamily="34" charset="0"/>
              </a:rPr>
              <a:t>访问系统来源，又能</a:t>
            </a:r>
            <a:r>
              <a:rPr lang="zh-CN" altLang="en-US" sz="2100" b="1" dirty="0">
                <a:solidFill>
                  <a:srgbClr val="0000FF"/>
                </a:solidFill>
                <a:latin typeface="Arial" panose="020B0604020202020204" pitchFamily="34" charset="0"/>
              </a:rPr>
              <a:t>指出</a:t>
            </a:r>
            <a:r>
              <a:rPr lang="zh-CN" altLang="en-US" sz="2100" b="1" dirty="0">
                <a:solidFill>
                  <a:schemeClr val="tx2"/>
                </a:solidFill>
                <a:latin typeface="Arial" panose="020B0604020202020204" pitchFamily="34" charset="0"/>
              </a:rPr>
              <a:t>系统状态转移过程。</a:t>
            </a:r>
            <a:endParaRPr lang="zh-CN" altLang="en-US" sz="2100" b="1" dirty="0">
              <a:solidFill>
                <a:schemeClr val="tx2"/>
              </a:solidFill>
              <a:latin typeface="Arial" panose="020B0604020202020204" pitchFamily="34" charset="0"/>
            </a:endParaRPr>
          </a:p>
          <a:p>
            <a:pPr>
              <a:lnSpc>
                <a:spcPct val="120000"/>
              </a:lnSpc>
              <a:spcBef>
                <a:spcPct val="30000"/>
              </a:spcBef>
              <a:defRPr/>
            </a:pPr>
            <a:r>
              <a:rPr lang="en-US" altLang="zh-CN" sz="2400" b="1" dirty="0">
                <a:solidFill>
                  <a:srgbClr val="FF0000"/>
                </a:solidFill>
                <a:latin typeface="Arial" panose="020B0604020202020204" pitchFamily="34" charset="0"/>
              </a:rPr>
              <a:t>     </a:t>
            </a:r>
            <a:endParaRPr lang="en-US" altLang="zh-CN" sz="2000" b="1" dirty="0">
              <a:solidFill>
                <a:schemeClr val="tx2"/>
              </a:solidFill>
              <a:latin typeface="Arial" panose="020B0604020202020204" pitchFamily="34" charset="0"/>
            </a:endParaRPr>
          </a:p>
        </p:txBody>
      </p:sp>
      <p:pic>
        <p:nvPicPr>
          <p:cNvPr id="78850" name="Picture 6" descr="MC900441341[1]"/>
          <p:cNvPicPr>
            <a:picLocks noChangeAspect="1" noChangeArrowheads="1"/>
          </p:cNvPicPr>
          <p:nvPr/>
        </p:nvPicPr>
        <p:blipFill>
          <a:blip r:embed="rId1" cstate="print"/>
          <a:srcRect/>
          <a:stretch>
            <a:fillRect/>
          </a:stretch>
        </p:blipFill>
        <p:spPr bwMode="auto">
          <a:xfrm>
            <a:off x="7164070" y="4940618"/>
            <a:ext cx="1511300" cy="1295400"/>
          </a:xfrm>
          <a:prstGeom prst="rect">
            <a:avLst/>
          </a:prstGeom>
          <a:noFill/>
          <a:ln w="9525">
            <a:noFill/>
            <a:miter lim="800000"/>
            <a:headEnd/>
            <a:tailEnd/>
          </a:ln>
        </p:spPr>
      </p:pic>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0000"/>
              </a:lnSpc>
              <a:spcBef>
                <a:spcPct val="30000"/>
              </a:spcBef>
              <a:defRPr/>
            </a:pPr>
            <a:r>
              <a:rPr lang="en-US" altLang="zh-CN" sz="2400" b="1" dirty="0">
                <a:solidFill>
                  <a:srgbClr val="FF0000"/>
                </a:solidFill>
                <a:latin typeface="Arial" panose="020B0604020202020204" pitchFamily="34" charset="0"/>
              </a:rPr>
              <a:t>    </a:t>
            </a:r>
            <a:r>
              <a:rPr lang="en-US" altLang="zh-CN" sz="2400" b="1" dirty="0">
                <a:solidFill>
                  <a:schemeClr val="tx1"/>
                </a:solidFill>
                <a:latin typeface="Arial" panose="020B0604020202020204" pitchFamily="34" charset="0"/>
              </a:rPr>
              <a:t>安全审计跟踪是人利用日志信息进行安全事件分析和追溯的过程</a:t>
            </a:r>
            <a:r>
              <a:rPr lang="zh-CN" altLang="en-US" sz="2400" b="1" dirty="0">
                <a:solidFill>
                  <a:schemeClr val="tx1"/>
                </a:solidFill>
                <a:latin typeface="Arial" panose="020B0604020202020204" pitchFamily="34" charset="0"/>
              </a:rPr>
              <a:t>。</a:t>
            </a:r>
            <a:r>
              <a:rPr lang="en-US" altLang="zh-CN" sz="2400" b="1" dirty="0">
                <a:solidFill>
                  <a:schemeClr val="tx1"/>
                </a:solidFill>
                <a:latin typeface="Arial" panose="020B0604020202020204" pitchFamily="34" charset="0"/>
              </a:rPr>
              <a:t> 审计跟踪应该根据需要（经常由安全事件触发）定期审查、自动实时审查、或两者兼而有之。</a:t>
            </a: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2" name="图片 1"/>
          <p:cNvPicPr>
            <a:picLocks noChangeAspect="1"/>
          </p:cNvPicPr>
          <p:nvPr/>
        </p:nvPicPr>
        <p:blipFill>
          <a:blip r:embed="rId1"/>
          <a:stretch>
            <a:fillRect/>
          </a:stretch>
        </p:blipFill>
        <p:spPr>
          <a:xfrm>
            <a:off x="1187450" y="2853055"/>
            <a:ext cx="6560820" cy="354139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0000"/>
              </a:lnSpc>
              <a:spcBef>
                <a:spcPct val="30000"/>
              </a:spcBef>
              <a:defRPr/>
            </a:pPr>
            <a:r>
              <a:rPr lang="en-US" altLang="zh-CN" sz="2400" b="1" dirty="0">
                <a:solidFill>
                  <a:srgbClr val="FF0000"/>
                </a:solidFill>
                <a:latin typeface="Arial" panose="020B0604020202020204" pitchFamily="34" charset="0"/>
              </a:rPr>
              <a:t>  </a:t>
            </a: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endParaRPr lang="en-US" altLang="zh-CN" sz="2400" b="1" dirty="0">
              <a:solidFill>
                <a:srgbClr val="FF0000"/>
              </a:solidFill>
              <a:latin typeface="Arial" panose="020B0604020202020204" pitchFamily="34" charset="0"/>
            </a:endParaRPr>
          </a:p>
          <a:p>
            <a:pPr>
              <a:lnSpc>
                <a:spcPct val="120000"/>
              </a:lnSpc>
              <a:spcBef>
                <a:spcPct val="30000"/>
              </a:spcBef>
              <a:defRPr/>
            </a:pPr>
            <a:r>
              <a:rPr lang="en-US" altLang="zh-CN" sz="2400" b="1" dirty="0">
                <a:solidFill>
                  <a:schemeClr val="tx1"/>
                </a:solidFill>
                <a:latin typeface="Arial" panose="020B0604020202020204" pitchFamily="34" charset="0"/>
              </a:rPr>
              <a:t>https://baike.baidu.com/item/%E5%AE%A1%E8%AE%A1%E8%B7%9F%E8%B8%AA/2004744?fr=aladdin</a:t>
            </a: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a:p>
            <a:pPr>
              <a:lnSpc>
                <a:spcPct val="120000"/>
              </a:lnSpc>
              <a:spcBef>
                <a:spcPct val="30000"/>
              </a:spcBef>
              <a:defRPr/>
            </a:pPr>
            <a:endParaRPr lang="en-US" altLang="zh-CN" sz="2400" b="1" dirty="0">
              <a:solidFill>
                <a:schemeClr val="tx1"/>
              </a:solidFill>
              <a:latin typeface="Arial" panose="020B0604020202020204" pitchFamily="34" charset="0"/>
            </a:endParaRPr>
          </a:p>
        </p:txBody>
      </p:sp>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3" name="图片 2"/>
          <p:cNvPicPr>
            <a:picLocks noChangeAspect="1"/>
          </p:cNvPicPr>
          <p:nvPr/>
        </p:nvPicPr>
        <p:blipFill>
          <a:blip r:embed="rId1"/>
          <a:stretch>
            <a:fillRect/>
          </a:stretch>
        </p:blipFill>
        <p:spPr>
          <a:xfrm>
            <a:off x="755650" y="1700530"/>
            <a:ext cx="7800975" cy="342011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23850" y="1268413"/>
            <a:ext cx="8569325" cy="5040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b="1" dirty="0">
                <a:solidFill>
                  <a:schemeClr val="tx2"/>
                </a:solidFill>
                <a:latin typeface="Arial" panose="020B0604020202020204" pitchFamily="34" charset="0"/>
              </a:rPr>
              <a:t>    </a:t>
            </a:r>
            <a:r>
              <a:rPr lang="en-US" altLang="zh-CN" sz="2400" b="1" dirty="0">
                <a:solidFill>
                  <a:srgbClr val="FF0000"/>
                </a:solidFill>
                <a:latin typeface="Arial" panose="020B0604020202020204" pitchFamily="34" charset="0"/>
              </a:rPr>
              <a:t>       </a:t>
            </a:r>
            <a:r>
              <a:rPr lang="en-US" altLang="zh-CN" sz="2400" b="1" dirty="0">
                <a:solidFill>
                  <a:srgbClr val="CC0000"/>
                </a:solidFill>
                <a:latin typeface="Arial" panose="020B0604020202020204" pitchFamily="34" charset="0"/>
              </a:rPr>
              <a:t>2. </a:t>
            </a:r>
            <a:r>
              <a:rPr lang="zh-CN" altLang="en-US" sz="2400" b="1" dirty="0">
                <a:solidFill>
                  <a:srgbClr val="CC0000"/>
                </a:solidFill>
                <a:latin typeface="Arial" panose="020B0604020202020204" pitchFamily="34" charset="0"/>
              </a:rPr>
              <a:t>审计跟踪的主要问题</a:t>
            </a:r>
            <a:endParaRPr lang="zh-CN" altLang="en-US" sz="2400" b="1" dirty="0">
              <a:solidFill>
                <a:srgbClr val="CC0000"/>
              </a:solidFill>
              <a:latin typeface="Arial" panose="020B0604020202020204" pitchFamily="34" charset="0"/>
            </a:endParaRPr>
          </a:p>
          <a:p>
            <a:pPr>
              <a:defRPr/>
            </a:pPr>
            <a:r>
              <a:rPr lang="zh-CN" altLang="en-US" sz="2100" b="1" dirty="0">
                <a:solidFill>
                  <a:srgbClr val="800000"/>
                </a:solidFill>
                <a:latin typeface="Arial" panose="020B0604020202020204" pitchFamily="34" charset="0"/>
              </a:rPr>
              <a:t>        安全审计跟踪</a:t>
            </a:r>
            <a:r>
              <a:rPr lang="zh-CN" altLang="en-US" sz="2100" b="1" dirty="0">
                <a:solidFill>
                  <a:srgbClr val="D60093"/>
                </a:solidFill>
                <a:latin typeface="Arial" panose="020B0604020202020204" pitchFamily="34" charset="0"/>
              </a:rPr>
              <a:t>重点考虑</a:t>
            </a:r>
            <a:r>
              <a:rPr lang="zh-CN" altLang="en-US" sz="2100" b="1" dirty="0">
                <a:solidFill>
                  <a:schemeClr val="tx2"/>
                </a:solidFill>
                <a:latin typeface="Arial" panose="020B0604020202020204" pitchFamily="34" charset="0"/>
              </a:rPr>
              <a:t>：</a:t>
            </a:r>
            <a:endParaRPr lang="zh-CN" altLang="en-US" sz="2100" b="1" dirty="0">
              <a:solidFill>
                <a:schemeClr val="tx2"/>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1</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选择</a:t>
            </a:r>
            <a:r>
              <a:rPr lang="zh-CN" altLang="en-US" sz="2100" b="1" dirty="0">
                <a:solidFill>
                  <a:srgbClr val="006600"/>
                </a:solidFill>
                <a:latin typeface="Arial" panose="020B0604020202020204" pitchFamily="34" charset="0"/>
              </a:rPr>
              <a:t>记录信息内容。</a:t>
            </a:r>
            <a:endParaRPr lang="zh-CN" altLang="en-US" sz="2100" b="1" dirty="0">
              <a:solidFill>
                <a:srgbClr val="006600"/>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7030A0"/>
                </a:solidFill>
                <a:latin typeface="Arial" panose="020B0604020202020204" pitchFamily="34" charset="0"/>
              </a:rPr>
              <a:t>（</a:t>
            </a:r>
            <a:r>
              <a:rPr lang="en-US" altLang="zh-CN" sz="2100" b="1" dirty="0">
                <a:solidFill>
                  <a:srgbClr val="7030A0"/>
                </a:solidFill>
                <a:latin typeface="Arial" panose="020B0604020202020204" pitchFamily="34" charset="0"/>
              </a:rPr>
              <a:t>2</a:t>
            </a:r>
            <a:r>
              <a:rPr lang="zh-CN" altLang="en-US" sz="2100" b="1" dirty="0">
                <a:solidFill>
                  <a:srgbClr val="7030A0"/>
                </a:solidFill>
                <a:latin typeface="Arial" panose="020B0604020202020204" pitchFamily="34" charset="0"/>
              </a:rPr>
              <a:t>）</a:t>
            </a:r>
            <a:r>
              <a:rPr lang="zh-CN" altLang="en-US" sz="2100" b="1" dirty="0">
                <a:solidFill>
                  <a:srgbClr val="0000FF"/>
                </a:solidFill>
                <a:latin typeface="Arial" panose="020B0604020202020204" pitchFamily="34" charset="0"/>
              </a:rPr>
              <a:t>确定</a:t>
            </a:r>
            <a:r>
              <a:rPr lang="zh-CN" altLang="en-US" sz="2100" b="1" dirty="0">
                <a:solidFill>
                  <a:srgbClr val="006600"/>
                </a:solidFill>
                <a:latin typeface="Arial" panose="020B0604020202020204" pitchFamily="34" charset="0"/>
              </a:rPr>
              <a:t>审计跟踪信息</a:t>
            </a:r>
            <a:r>
              <a:rPr lang="zh-CN" altLang="en-US" sz="2100" b="1" dirty="0">
                <a:solidFill>
                  <a:srgbClr val="6600FF"/>
                </a:solidFill>
                <a:latin typeface="Arial" panose="020B0604020202020204" pitchFamily="34" charset="0"/>
              </a:rPr>
              <a:t>所采用的语法和语义定义</a:t>
            </a:r>
            <a:r>
              <a:rPr lang="zh-CN" altLang="en-US" sz="2100" b="1" dirty="0">
                <a:solidFill>
                  <a:srgbClr val="7030A0"/>
                </a:solidFill>
                <a:latin typeface="Arial" panose="020B0604020202020204" pitchFamily="34" charset="0"/>
              </a:rPr>
              <a:t>。</a:t>
            </a:r>
            <a:endParaRPr lang="zh-CN" altLang="en-US" sz="2100" b="1" dirty="0">
              <a:solidFill>
                <a:srgbClr val="7030A0"/>
              </a:solidFill>
              <a:latin typeface="Arial" panose="020B0604020202020204" pitchFamily="34" charset="0"/>
            </a:endParaRPr>
          </a:p>
          <a:p>
            <a:pPr>
              <a:defRPr/>
            </a:pPr>
            <a:r>
              <a:rPr lang="zh-CN" altLang="en-US" sz="2100" b="1" dirty="0">
                <a:solidFill>
                  <a:schemeClr val="tx2"/>
                </a:solidFill>
                <a:latin typeface="Arial" panose="020B0604020202020204" pitchFamily="34" charset="0"/>
              </a:rPr>
              <a:t>       </a:t>
            </a:r>
            <a:r>
              <a:rPr lang="zh-CN" altLang="en-US" sz="2100" b="1" dirty="0">
                <a:solidFill>
                  <a:srgbClr val="CC0000"/>
                </a:solidFill>
                <a:latin typeface="Arial" panose="020B0604020202020204" pitchFamily="34" charset="0"/>
              </a:rPr>
              <a:t>审计</a:t>
            </a:r>
            <a:r>
              <a:rPr lang="zh-CN" altLang="en-US" sz="2100" b="1" dirty="0">
                <a:solidFill>
                  <a:schemeClr val="tx2"/>
                </a:solidFill>
                <a:latin typeface="Arial" panose="020B0604020202020204" pitchFamily="34" charset="0"/>
              </a:rPr>
              <a:t>是系统安全策略的一个</a:t>
            </a:r>
            <a:r>
              <a:rPr lang="zh-CN" altLang="en-US" sz="2100" b="1" dirty="0">
                <a:solidFill>
                  <a:srgbClr val="D60093"/>
                </a:solidFill>
                <a:latin typeface="Arial" panose="020B0604020202020204" pitchFamily="34" charset="0"/>
              </a:rPr>
              <a:t>重要组成部分</a:t>
            </a:r>
            <a:r>
              <a:rPr lang="zh-CN" altLang="en-US" sz="2100" b="1" dirty="0">
                <a:solidFill>
                  <a:schemeClr val="tx2"/>
                </a:solidFill>
                <a:latin typeface="Arial" panose="020B0604020202020204" pitchFamily="34" charset="0"/>
              </a:rPr>
              <a:t>，贯穿整个系统运行过程中，覆盖不同的安全机制，为其他安全策略的改进和完善提供必要的信息。</a:t>
            </a:r>
            <a:endParaRPr lang="en-US" altLang="zh-CN" sz="2000" b="1" dirty="0">
              <a:solidFill>
                <a:schemeClr val="tx2"/>
              </a:solidFill>
              <a:latin typeface="Arial" panose="020B0604020202020204" pitchFamily="34" charset="0"/>
            </a:endParaRPr>
          </a:p>
        </p:txBody>
      </p:sp>
      <p:pic>
        <p:nvPicPr>
          <p:cNvPr id="78850" name="Picture 6" descr="MC900441341[1]"/>
          <p:cNvPicPr>
            <a:picLocks noChangeAspect="1" noChangeArrowheads="1"/>
          </p:cNvPicPr>
          <p:nvPr/>
        </p:nvPicPr>
        <p:blipFill>
          <a:blip r:embed="rId1" cstate="print"/>
          <a:srcRect/>
          <a:stretch>
            <a:fillRect/>
          </a:stretch>
        </p:blipFill>
        <p:spPr bwMode="auto">
          <a:xfrm>
            <a:off x="7164070" y="4868863"/>
            <a:ext cx="1511300" cy="1295400"/>
          </a:xfrm>
          <a:prstGeom prst="rect">
            <a:avLst/>
          </a:prstGeom>
          <a:noFill/>
          <a:ln w="9525">
            <a:noFill/>
            <a:miter lim="800000"/>
            <a:headEnd/>
            <a:tailEnd/>
          </a:ln>
        </p:spPr>
      </p:pic>
      <p:sp>
        <p:nvSpPr>
          <p:cNvPr id="5"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11188" y="1185863"/>
            <a:ext cx="7993062" cy="50514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2"/>
                </a:solidFill>
                <a:latin typeface="Arial" panose="020B0604020202020204" pitchFamily="34" charset="0"/>
              </a:rPr>
              <a:t>      </a:t>
            </a:r>
            <a:r>
              <a:rPr lang="en-US" altLang="zh-CN" sz="2400" b="1" dirty="0">
                <a:solidFill>
                  <a:srgbClr val="FF0000"/>
                </a:solidFill>
                <a:latin typeface="Arial" panose="020B0604020202020204" pitchFamily="34" charset="0"/>
              </a:rPr>
              <a:t> </a:t>
            </a:r>
            <a:r>
              <a:rPr lang="en-US" altLang="zh-CN" sz="2400" b="1" dirty="0">
                <a:solidFill>
                  <a:srgbClr val="CC0000"/>
                </a:solidFill>
                <a:latin typeface="Arial" panose="020B0604020202020204" pitchFamily="34" charset="0"/>
              </a:rPr>
              <a:t>3. </a:t>
            </a:r>
            <a:r>
              <a:rPr lang="zh-CN" altLang="en-US" sz="2400" b="1" dirty="0">
                <a:solidFill>
                  <a:srgbClr val="CC0000"/>
                </a:solidFill>
                <a:latin typeface="Arial" panose="020B0604020202020204" pitchFamily="34" charset="0"/>
              </a:rPr>
              <a:t>审计跟踪的实施</a:t>
            </a:r>
            <a:endParaRPr lang="en-US" altLang="zh-CN" sz="2400" b="1" dirty="0">
              <a:solidFill>
                <a:schemeClr val="tx2"/>
              </a:solidFill>
              <a:latin typeface="Arial" panose="020B0604020202020204" pitchFamily="34" charset="0"/>
            </a:endParaRPr>
          </a:p>
          <a:p>
            <a:pPr>
              <a:defRPr/>
            </a:pPr>
            <a:r>
              <a:rPr lang="en-US" altLang="zh-CN" sz="2200" b="1" dirty="0">
                <a:solidFill>
                  <a:schemeClr val="tx2"/>
                </a:solidFill>
                <a:latin typeface="Arial" panose="020B0604020202020204" pitchFamily="34" charset="0"/>
              </a:rPr>
              <a:t>    </a:t>
            </a:r>
            <a:r>
              <a:rPr lang="zh-CN" altLang="en-US" sz="2200" b="1" dirty="0">
                <a:solidFill>
                  <a:schemeClr val="tx2"/>
                </a:solidFill>
                <a:latin typeface="Arial" panose="020B0604020202020204" pitchFamily="34" charset="0"/>
              </a:rPr>
              <a:t> 为了</a:t>
            </a:r>
            <a:r>
              <a:rPr lang="zh-CN" altLang="en-US" sz="2200" b="1" dirty="0">
                <a:solidFill>
                  <a:srgbClr val="0000FF"/>
                </a:solidFill>
                <a:latin typeface="Arial" panose="020B0604020202020204" pitchFamily="34" charset="0"/>
              </a:rPr>
              <a:t>确保</a:t>
            </a:r>
            <a:r>
              <a:rPr lang="zh-CN" altLang="en-US" sz="2200" b="1" dirty="0">
                <a:solidFill>
                  <a:schemeClr val="tx2"/>
                </a:solidFill>
                <a:latin typeface="Arial" panose="020B0604020202020204" pitchFamily="34" charset="0"/>
              </a:rPr>
              <a:t>审计实施的</a:t>
            </a:r>
            <a:r>
              <a:rPr lang="zh-CN" altLang="en-US" sz="2200" b="1" dirty="0">
                <a:solidFill>
                  <a:srgbClr val="CC0000"/>
                </a:solidFill>
                <a:latin typeface="Arial" panose="020B0604020202020204" pitchFamily="34" charset="0"/>
              </a:rPr>
              <a:t>可用性</a:t>
            </a:r>
            <a:r>
              <a:rPr lang="zh-CN" altLang="en-US" sz="2200" b="1" dirty="0">
                <a:solidFill>
                  <a:schemeClr val="tx2"/>
                </a:solidFill>
                <a:latin typeface="Arial" panose="020B0604020202020204" pitchFamily="34" charset="0"/>
              </a:rPr>
              <a:t>和</a:t>
            </a:r>
            <a:r>
              <a:rPr lang="zh-CN" altLang="en-US" sz="2200" b="1" dirty="0">
                <a:solidFill>
                  <a:srgbClr val="CC0000"/>
                </a:solidFill>
                <a:latin typeface="Arial" panose="020B0604020202020204" pitchFamily="34" charset="0"/>
              </a:rPr>
              <a:t>正确性</a:t>
            </a:r>
            <a:r>
              <a:rPr lang="zh-CN" altLang="en-US" sz="2200" b="1" dirty="0">
                <a:solidFill>
                  <a:schemeClr val="tx2"/>
                </a:solidFill>
                <a:latin typeface="Arial" panose="020B0604020202020204" pitchFamily="34" charset="0"/>
              </a:rPr>
              <a:t>，需要在保护和审查审计数据的同时，</a:t>
            </a:r>
            <a:r>
              <a:rPr lang="zh-CN" altLang="en-US" sz="2200" b="1" dirty="0">
                <a:solidFill>
                  <a:srgbClr val="0000FF"/>
                </a:solidFill>
                <a:latin typeface="Arial" panose="020B0604020202020204" pitchFamily="34" charset="0"/>
              </a:rPr>
              <a:t>做好</a:t>
            </a:r>
            <a:r>
              <a:rPr lang="zh-CN" altLang="en-US" sz="2200" b="1" dirty="0">
                <a:solidFill>
                  <a:schemeClr val="tx2"/>
                </a:solidFill>
                <a:latin typeface="Arial" panose="020B0604020202020204" pitchFamily="34" charset="0"/>
              </a:rPr>
              <a:t>计划分步</a:t>
            </a:r>
            <a:r>
              <a:rPr lang="zh-CN" altLang="en-US" sz="2200" b="1" dirty="0">
                <a:solidFill>
                  <a:srgbClr val="0000FF"/>
                </a:solidFill>
                <a:latin typeface="Arial" panose="020B0604020202020204" pitchFamily="34" charset="0"/>
              </a:rPr>
              <a:t>实施</a:t>
            </a:r>
            <a:r>
              <a:rPr lang="en-US" altLang="zh-CN" sz="2200" b="1" dirty="0">
                <a:solidFill>
                  <a:schemeClr val="tx2"/>
                </a:solidFill>
                <a:latin typeface="Arial" panose="020B0604020202020204" pitchFamily="34" charset="0"/>
              </a:rPr>
              <a:t>. </a:t>
            </a:r>
            <a:r>
              <a:rPr lang="zh-CN" altLang="en-US" sz="2200" b="1" dirty="0">
                <a:solidFill>
                  <a:srgbClr val="990033"/>
                </a:solidFill>
                <a:latin typeface="Arial" panose="020B0604020202020204" pitchFamily="34" charset="0"/>
              </a:rPr>
              <a:t>具体实施主要包括</a:t>
            </a:r>
            <a:r>
              <a:rPr lang="zh-CN" altLang="en-US" sz="2200" b="1" dirty="0">
                <a:solidFill>
                  <a:schemeClr val="tx2"/>
                </a:solidFill>
                <a:latin typeface="Arial" panose="020B0604020202020204" pitchFamily="34" charset="0"/>
              </a:rPr>
              <a:t>：</a:t>
            </a:r>
            <a:r>
              <a:rPr lang="zh-CN" altLang="en-US" sz="2200" b="1" dirty="0">
                <a:solidFill>
                  <a:srgbClr val="0000FF"/>
                </a:solidFill>
                <a:latin typeface="Arial" panose="020B0604020202020204" pitchFamily="34" charset="0"/>
              </a:rPr>
              <a:t>保护审查</a:t>
            </a:r>
            <a:r>
              <a:rPr lang="zh-CN" altLang="en-US" sz="2200" b="1" dirty="0">
                <a:solidFill>
                  <a:schemeClr val="tx2"/>
                </a:solidFill>
                <a:latin typeface="Arial" panose="020B0604020202020204" pitchFamily="34" charset="0"/>
              </a:rPr>
              <a:t>审计数据及审计工具与步骤。</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1. </a:t>
            </a:r>
            <a:r>
              <a:rPr lang="zh-CN" altLang="en-US" sz="2200" b="1" dirty="0">
                <a:solidFill>
                  <a:srgbClr val="CC0000"/>
                </a:solidFill>
                <a:latin typeface="Arial" panose="020B0604020202020204" pitchFamily="34" charset="0"/>
              </a:rPr>
              <a:t>保护审计数据</a:t>
            </a:r>
            <a:endParaRPr lang="zh-CN" altLang="en-US" sz="2200" b="1" dirty="0">
              <a:solidFill>
                <a:srgbClr val="CC0000"/>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应当</a:t>
            </a:r>
            <a:r>
              <a:rPr lang="zh-CN" altLang="en-US" sz="2200" b="1" dirty="0">
                <a:solidFill>
                  <a:srgbClr val="800000"/>
                </a:solidFill>
                <a:latin typeface="Arial" panose="020B0604020202020204" pitchFamily="34" charset="0"/>
              </a:rPr>
              <a:t>严格限制</a:t>
            </a:r>
            <a:r>
              <a:rPr lang="zh-CN" altLang="en-US" sz="2200" b="1" dirty="0">
                <a:solidFill>
                  <a:schemeClr val="tx2"/>
                </a:solidFill>
                <a:latin typeface="Arial" panose="020B0604020202020204" pitchFamily="34" charset="0"/>
              </a:rPr>
              <a:t>在线访问审计日志。</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a:t>
            </a:r>
            <a:r>
              <a:rPr lang="zh-CN" altLang="en-US" sz="2200" b="1" dirty="0">
                <a:solidFill>
                  <a:srgbClr val="006600"/>
                </a:solidFill>
                <a:latin typeface="Arial" panose="020B0604020202020204" pitchFamily="34" charset="0"/>
              </a:rPr>
              <a:t>审计数据</a:t>
            </a:r>
            <a:r>
              <a:rPr lang="zh-CN" altLang="en-US" sz="2200" b="1" dirty="0">
                <a:solidFill>
                  <a:srgbClr val="0000FF"/>
                </a:solidFill>
                <a:latin typeface="Arial" panose="020B0604020202020204" pitchFamily="34" charset="0"/>
              </a:rPr>
              <a:t>保护</a:t>
            </a:r>
            <a:r>
              <a:rPr lang="zh-CN" altLang="en-US" sz="2200" b="1" dirty="0">
                <a:solidFill>
                  <a:schemeClr val="tx2"/>
                </a:solidFill>
                <a:latin typeface="Arial" panose="020B0604020202020204" pitchFamily="34" charset="0"/>
              </a:rPr>
              <a:t>常用</a:t>
            </a:r>
            <a:r>
              <a:rPr lang="zh-CN" altLang="en-US" sz="2200" b="1" dirty="0">
                <a:solidFill>
                  <a:srgbClr val="D60093"/>
                </a:solidFill>
                <a:latin typeface="Arial" panose="020B0604020202020204" pitchFamily="34" charset="0"/>
              </a:rPr>
              <a:t>方法</a:t>
            </a:r>
            <a:r>
              <a:rPr lang="en-US" altLang="zh-CN" sz="2200" b="1" dirty="0">
                <a:solidFill>
                  <a:schemeClr val="tx2"/>
                </a:solidFill>
                <a:latin typeface="Arial" panose="020B0604020202020204" pitchFamily="34" charset="0"/>
              </a:rPr>
              <a:t>: </a:t>
            </a:r>
            <a:r>
              <a:rPr lang="zh-CN" altLang="en-US" sz="2200" b="1" dirty="0">
                <a:solidFill>
                  <a:schemeClr val="tx2"/>
                </a:solidFill>
                <a:latin typeface="Arial" panose="020B0604020202020204" pitchFamily="34" charset="0"/>
              </a:rPr>
              <a:t>用数据签名和只读设备存储数据。</a:t>
            </a:r>
            <a:endParaRPr lang="zh-CN" altLang="en-US" sz="2200" b="1" dirty="0">
              <a:solidFill>
                <a:schemeClr val="tx2"/>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审计跟踪信息的保密性也应进行严格保护。</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2. </a:t>
            </a:r>
            <a:r>
              <a:rPr lang="zh-CN" altLang="en-US" sz="2200" b="1" dirty="0">
                <a:solidFill>
                  <a:srgbClr val="CC0000"/>
                </a:solidFill>
                <a:latin typeface="Arial" panose="020B0604020202020204" pitchFamily="34" charset="0"/>
              </a:rPr>
              <a:t>审查审计数据</a:t>
            </a:r>
            <a:endParaRPr lang="zh-CN" altLang="en-US" sz="2200" b="1" dirty="0">
              <a:solidFill>
                <a:srgbClr val="CC0000"/>
              </a:solidFill>
              <a:latin typeface="Arial" panose="020B0604020202020204" pitchFamily="34" charset="0"/>
            </a:endParaRPr>
          </a:p>
          <a:p>
            <a:pPr>
              <a:defRPr/>
            </a:pPr>
            <a:r>
              <a:rPr lang="zh-CN" altLang="en-US" sz="2200" b="1" dirty="0">
                <a:solidFill>
                  <a:schemeClr val="tx2"/>
                </a:solidFill>
                <a:latin typeface="Arial" panose="020B0604020202020204" pitchFamily="34" charset="0"/>
              </a:rPr>
              <a:t>    审计跟踪的</a:t>
            </a:r>
            <a:r>
              <a:rPr lang="zh-CN" altLang="en-US" sz="2200" b="1" dirty="0">
                <a:solidFill>
                  <a:srgbClr val="0000FF"/>
                </a:solidFill>
                <a:latin typeface="Arial" panose="020B0604020202020204" pitchFamily="34" charset="0"/>
              </a:rPr>
              <a:t>审查与分析</a:t>
            </a:r>
            <a:r>
              <a:rPr lang="zh-CN" altLang="en-US" sz="2200" b="1" dirty="0">
                <a:solidFill>
                  <a:srgbClr val="CC0000"/>
                </a:solidFill>
                <a:latin typeface="Arial" panose="020B0604020202020204" pitchFamily="34" charset="0"/>
              </a:rPr>
              <a:t>可分为</a:t>
            </a:r>
            <a:r>
              <a:rPr lang="zh-CN" altLang="en-US" sz="2200" b="1" dirty="0">
                <a:solidFill>
                  <a:schemeClr val="tx2"/>
                </a:solidFill>
                <a:latin typeface="Arial" panose="020B0604020202020204" pitchFamily="34" charset="0"/>
              </a:rPr>
              <a:t>事后检查、定期检查和实时检查</a:t>
            </a:r>
            <a:r>
              <a:rPr lang="en-US" altLang="zh-CN" sz="2200" b="1" dirty="0">
                <a:solidFill>
                  <a:srgbClr val="D60093"/>
                </a:solidFill>
                <a:latin typeface="Arial" panose="020B0604020202020204" pitchFamily="34" charset="0"/>
              </a:rPr>
              <a:t>3</a:t>
            </a:r>
            <a:r>
              <a:rPr lang="zh-CN" altLang="en-US" sz="2200" b="1" dirty="0">
                <a:solidFill>
                  <a:srgbClr val="D60093"/>
                </a:solidFill>
                <a:latin typeface="Arial" panose="020B0604020202020204" pitchFamily="34" charset="0"/>
              </a:rPr>
              <a:t>种</a:t>
            </a:r>
            <a:r>
              <a:rPr lang="zh-CN" altLang="en-US" sz="2200" b="1" dirty="0">
                <a:solidFill>
                  <a:schemeClr val="tx2"/>
                </a:solidFill>
                <a:latin typeface="Arial" panose="020B0604020202020204" pitchFamily="34" charset="0"/>
              </a:rPr>
              <a:t>。</a:t>
            </a:r>
            <a:endParaRPr lang="zh-CN" altLang="en-US" sz="2200" b="1" dirty="0">
              <a:solidFill>
                <a:schemeClr val="tx2"/>
              </a:solidFill>
              <a:latin typeface="Arial" panose="020B0604020202020204" pitchFamily="34" charset="0"/>
            </a:endParaRPr>
          </a:p>
          <a:p>
            <a:pPr>
              <a:defRPr/>
            </a:pPr>
            <a:r>
              <a:rPr lang="en-US" altLang="zh-CN" sz="2200" b="1" dirty="0">
                <a:solidFill>
                  <a:srgbClr val="CC0000"/>
                </a:solidFill>
                <a:latin typeface="Arial" panose="020B0604020202020204" pitchFamily="34" charset="0"/>
              </a:rPr>
              <a:t>    3. </a:t>
            </a:r>
            <a:r>
              <a:rPr lang="zh-CN" altLang="en-US" sz="2200" b="1" dirty="0">
                <a:solidFill>
                  <a:srgbClr val="CC0000"/>
                </a:solidFill>
                <a:latin typeface="Arial" panose="020B0604020202020204" pitchFamily="34" charset="0"/>
              </a:rPr>
              <a:t>审计工具与步骤</a:t>
            </a:r>
            <a:endParaRPr lang="zh-CN" altLang="en-US" sz="2200" b="1" dirty="0">
              <a:solidFill>
                <a:srgbClr val="CC0000"/>
              </a:solidFill>
              <a:latin typeface="Arial" panose="020B0604020202020204" pitchFamily="34" charset="0"/>
            </a:endParaRPr>
          </a:p>
          <a:p>
            <a:pPr>
              <a:defRPr/>
            </a:pPr>
            <a:r>
              <a:rPr lang="en-US" altLang="zh-CN" sz="2200" b="1" dirty="0">
                <a:solidFill>
                  <a:schemeClr val="tx2"/>
                </a:solidFill>
                <a:latin typeface="Arial" panose="020B0604020202020204" pitchFamily="34" charset="0"/>
              </a:rPr>
              <a:t>    1</a:t>
            </a:r>
            <a:r>
              <a:rPr lang="zh-CN" altLang="en-US" sz="2200" b="1" dirty="0">
                <a:solidFill>
                  <a:schemeClr val="tx2"/>
                </a:solidFill>
                <a:latin typeface="Arial" panose="020B0604020202020204" pitchFamily="34" charset="0"/>
              </a:rPr>
              <a:t>）审计精选工具。 </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）趋势</a:t>
            </a:r>
            <a:r>
              <a:rPr lang="en-US" altLang="zh-CN" sz="2200" b="1" dirty="0">
                <a:solidFill>
                  <a:schemeClr val="tx2"/>
                </a:solidFill>
                <a:latin typeface="Arial" panose="020B0604020202020204" pitchFamily="34" charset="0"/>
              </a:rPr>
              <a:t>/</a:t>
            </a:r>
            <a:r>
              <a:rPr lang="zh-CN" altLang="en-US" sz="2200" b="1" dirty="0">
                <a:solidFill>
                  <a:schemeClr val="tx2"/>
                </a:solidFill>
                <a:latin typeface="Arial" panose="020B0604020202020204" pitchFamily="34" charset="0"/>
              </a:rPr>
              <a:t>差别探测工具。 </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）攻击特征探测工具。</a:t>
            </a:r>
            <a:endParaRPr lang="en-US" altLang="zh-CN" sz="2200" b="1" dirty="0">
              <a:solidFill>
                <a:schemeClr val="tx2"/>
              </a:solidFill>
              <a:latin typeface="Arial" panose="020B0604020202020204" pitchFamily="34" charset="0"/>
            </a:endParaRPr>
          </a:p>
        </p:txBody>
      </p:sp>
      <p:sp>
        <p:nvSpPr>
          <p:cNvPr id="79874" name="内容占位符 13"/>
          <p:cNvSpPr>
            <a:spLocks noChangeArrowheads="1"/>
          </p:cNvSpPr>
          <p:nvPr/>
        </p:nvSpPr>
        <p:spPr bwMode="auto">
          <a:xfrm>
            <a:off x="708025" y="1185863"/>
            <a:ext cx="8153400" cy="5314950"/>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
        <p:nvSpPr>
          <p:cNvPr id="6"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13"/>
          <p:cNvSpPr>
            <a:spLocks noGrp="1" noChangeArrowheads="1"/>
          </p:cNvSpPr>
          <p:nvPr>
            <p:ph idx="4294967295"/>
          </p:nvPr>
        </p:nvSpPr>
        <p:spPr>
          <a:xfrm>
            <a:off x="419100" y="1185863"/>
            <a:ext cx="8040688" cy="514350"/>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1</a:t>
            </a:r>
            <a:r>
              <a:rPr lang="zh-CN" altLang="en-US" smtClean="0">
                <a:solidFill>
                  <a:srgbClr val="CC0000"/>
                </a:solidFill>
              </a:rPr>
              <a:t>．电子证据的概念</a:t>
            </a:r>
            <a:endParaRPr lang="en-US" altLang="zh-CN" smtClean="0">
              <a:solidFill>
                <a:srgbClr val="CC0000"/>
              </a:solidFill>
            </a:endParaRPr>
          </a:p>
        </p:txBody>
      </p:sp>
      <p:sp>
        <p:nvSpPr>
          <p:cNvPr id="19" name="圆角矩形 18"/>
          <p:cNvSpPr/>
          <p:nvPr/>
        </p:nvSpPr>
        <p:spPr bwMode="gray">
          <a:xfrm>
            <a:off x="482918" y="2128838"/>
            <a:ext cx="7912100" cy="30099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a:t>
            </a:r>
            <a:r>
              <a:rPr lang="zh-CN" altLang="en-US" sz="2100" b="1" dirty="0">
                <a:solidFill>
                  <a:srgbClr val="FF0000"/>
                </a:solidFill>
                <a:latin typeface="黑体" panose="02010609060101010101" pitchFamily="49" charset="-122"/>
                <a:ea typeface="黑体" panose="02010609060101010101" pitchFamily="49" charset="-122"/>
              </a:rPr>
              <a:t>电子数据</a:t>
            </a:r>
            <a:r>
              <a:rPr lang="zh-CN" altLang="en-US" sz="2100" b="1" dirty="0">
                <a:solidFill>
                  <a:schemeClr val="tx2">
                    <a:lumMod val="95000"/>
                    <a:lumOff val="5000"/>
                  </a:schemeClr>
                </a:solidFill>
                <a:latin typeface="Arial" panose="020B0604020202020204" pitchFamily="34" charset="0"/>
              </a:rPr>
              <a:t>是指基于计算机应用、通信和现代管理技术等电子化技术手段而形成的包括文字、图形符号、数字、字母等的客观资料。</a:t>
            </a:r>
            <a:r>
              <a:rPr lang="zh-CN" altLang="en-US" sz="2100" b="1" dirty="0">
                <a:solidFill>
                  <a:srgbClr val="D60093"/>
                </a:solidFill>
                <a:latin typeface="Arial" panose="020B0604020202020204" pitchFamily="34" charset="0"/>
              </a:rPr>
              <a:t>电子数据必须经过查证属实才能成为</a:t>
            </a:r>
            <a:r>
              <a:rPr lang="zh-CN" altLang="en-US" sz="2100" b="1" u="sng" dirty="0">
                <a:solidFill>
                  <a:srgbClr val="FF0000"/>
                </a:solidFill>
                <a:latin typeface="Arial" panose="020B0604020202020204" pitchFamily="34" charset="0"/>
              </a:rPr>
              <a:t>电子数据证据</a:t>
            </a:r>
            <a:r>
              <a:rPr lang="zh-CN" altLang="en-US" sz="2100" b="1" dirty="0">
                <a:solidFill>
                  <a:schemeClr val="tx2">
                    <a:lumMod val="95000"/>
                    <a:lumOff val="5000"/>
                  </a:schemeClr>
                </a:solidFill>
                <a:latin typeface="Arial" panose="020B0604020202020204" pitchFamily="34" charset="0"/>
              </a:rPr>
              <a:t>。对电子数据证据的其他表达方法类似的有“计算机证据”、“网络证据”、“数字证据”等。</a:t>
            </a:r>
            <a:endParaRPr lang="en-US" altLang="zh-CN" sz="2100" b="1" dirty="0">
              <a:solidFill>
                <a:schemeClr val="tx2">
                  <a:lumMod val="95000"/>
                  <a:lumOff val="5000"/>
                </a:schemeClr>
              </a:solidFill>
              <a:latin typeface="Arial" panose="020B0604020202020204" pitchFamily="34" charset="0"/>
            </a:endParaRPr>
          </a:p>
          <a:p>
            <a:pPr>
              <a:lnSpc>
                <a:spcPct val="115000"/>
              </a:lnSpc>
              <a:spcBef>
                <a:spcPct val="25000"/>
              </a:spcBef>
              <a:defRPr/>
            </a:pPr>
            <a:r>
              <a:rPr lang="en-US" altLang="zh-CN" sz="2100" b="1" dirty="0">
                <a:solidFill>
                  <a:srgbClr val="D60093"/>
                </a:solidFill>
                <a:latin typeface="Arial" panose="020B0604020202020204" pitchFamily="34" charset="0"/>
              </a:rPr>
              <a:t>       </a:t>
            </a:r>
            <a:r>
              <a:rPr lang="zh-CN" altLang="en-US" sz="2100" b="1" dirty="0">
                <a:solidFill>
                  <a:srgbClr val="FF0000"/>
                </a:solidFill>
                <a:latin typeface="黑体" panose="02010609060101010101" pitchFamily="49" charset="-122"/>
                <a:ea typeface="黑体" panose="02010609060101010101" pitchFamily="49" charset="-122"/>
              </a:rPr>
              <a:t>电子证据</a:t>
            </a:r>
            <a:r>
              <a:rPr lang="zh-CN" altLang="en-US" sz="2100" b="1" dirty="0">
                <a:solidFill>
                  <a:srgbClr val="0000FF"/>
                </a:solidFill>
                <a:latin typeface="Arial" panose="020B0604020202020204" pitchFamily="34" charset="0"/>
              </a:rPr>
              <a:t>即</a:t>
            </a:r>
            <a:r>
              <a:rPr lang="zh-CN" altLang="zh-CN" sz="2100" b="1" dirty="0">
                <a:solidFill>
                  <a:srgbClr val="0000FF"/>
                </a:solidFill>
                <a:latin typeface="Arial" panose="020B0604020202020204" pitchFamily="34" charset="0"/>
              </a:rPr>
              <a:t>用于证明案件事实的电子数据</a:t>
            </a:r>
            <a:r>
              <a:rPr lang="zh-CN" altLang="zh-CN" sz="2100" b="1" dirty="0">
                <a:solidFill>
                  <a:schemeClr val="tx2">
                    <a:lumMod val="95000"/>
                    <a:lumOff val="5000"/>
                  </a:schemeClr>
                </a:solidFill>
                <a:latin typeface="Arial" panose="020B0604020202020204" pitchFamily="34" charset="0"/>
              </a:rPr>
              <a:t>。对于电子证据的定义，有两种是</a:t>
            </a:r>
            <a:r>
              <a:rPr lang="zh-CN" altLang="en-US" sz="2100" b="1" dirty="0">
                <a:solidFill>
                  <a:schemeClr val="tx2">
                    <a:lumMod val="95000"/>
                    <a:lumOff val="5000"/>
                  </a:schemeClr>
                </a:solidFill>
                <a:latin typeface="Arial" panose="020B0604020202020204" pitchFamily="34" charset="0"/>
              </a:rPr>
              <a:t>分为</a:t>
            </a:r>
            <a:r>
              <a:rPr lang="zh-CN" altLang="zh-CN" sz="2100" b="1" dirty="0">
                <a:solidFill>
                  <a:schemeClr val="tx2">
                    <a:lumMod val="95000"/>
                    <a:lumOff val="5000"/>
                  </a:schemeClr>
                </a:solidFill>
                <a:latin typeface="Arial" panose="020B0604020202020204" pitchFamily="34" charset="0"/>
              </a:rPr>
              <a:t>广义和狭义。</a:t>
            </a:r>
            <a:endParaRPr lang="en-US" altLang="zh-CN"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1924" name="图片 9"/>
          <p:cNvPicPr>
            <a:picLocks noChangeAspect="1" noChangeArrowheads="1"/>
          </p:cNvPicPr>
          <p:nvPr/>
        </p:nvPicPr>
        <p:blipFill>
          <a:blip r:embed="rId1" cstate="print"/>
          <a:srcRect t="14873"/>
          <a:stretch>
            <a:fillRect/>
          </a:stretch>
        </p:blipFill>
        <p:spPr bwMode="auto">
          <a:xfrm>
            <a:off x="5834063" y="4814888"/>
            <a:ext cx="1785937" cy="1522412"/>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13"/>
          <p:cNvSpPr>
            <a:spLocks noGrp="1" noChangeArrowheads="1"/>
          </p:cNvSpPr>
          <p:nvPr>
            <p:ph idx="4294967295"/>
          </p:nvPr>
        </p:nvSpPr>
        <p:spPr>
          <a:xfrm>
            <a:off x="419100" y="1185863"/>
            <a:ext cx="8040688" cy="514350"/>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1</a:t>
            </a:r>
            <a:r>
              <a:rPr lang="zh-CN" altLang="en-US" smtClean="0">
                <a:solidFill>
                  <a:srgbClr val="CC0000"/>
                </a:solidFill>
              </a:rPr>
              <a:t>．电子证据的概念</a:t>
            </a:r>
            <a:endParaRPr lang="en-US" altLang="zh-CN" smtClean="0">
              <a:solidFill>
                <a:srgbClr val="CC0000"/>
              </a:solidFill>
            </a:endParaRPr>
          </a:p>
        </p:txBody>
      </p:sp>
      <p:sp>
        <p:nvSpPr>
          <p:cNvPr id="19" name="圆角矩形 18"/>
          <p:cNvSpPr/>
          <p:nvPr/>
        </p:nvSpPr>
        <p:spPr bwMode="gray">
          <a:xfrm>
            <a:off x="577533" y="2109788"/>
            <a:ext cx="8064500" cy="37639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1</a:t>
            </a:r>
            <a:r>
              <a:rPr lang="zh-CN" altLang="en-US" sz="2100" b="1" dirty="0">
                <a:solidFill>
                  <a:schemeClr val="tx2">
                    <a:lumMod val="95000"/>
                    <a:lumOff val="5000"/>
                  </a:schemeClr>
                </a:solidFill>
                <a:latin typeface="Arial" panose="020B0604020202020204" pitchFamily="34" charset="0"/>
              </a:rPr>
              <a:t>）</a:t>
            </a:r>
            <a:r>
              <a:rPr lang="zh-CN" altLang="en-US" sz="2100" b="1" dirty="0">
                <a:solidFill>
                  <a:srgbClr val="D60093"/>
                </a:solidFill>
                <a:latin typeface="Arial" panose="020B0604020202020204" pitchFamily="34" charset="0"/>
              </a:rPr>
              <a:t>广义的电子证据</a:t>
            </a:r>
            <a:r>
              <a:rPr lang="zh-CN" altLang="en-US" sz="2100" b="1" dirty="0">
                <a:solidFill>
                  <a:schemeClr val="tx2">
                    <a:lumMod val="95000"/>
                    <a:lumOff val="5000"/>
                  </a:schemeClr>
                </a:solidFill>
                <a:latin typeface="Arial" panose="020B0604020202020204" pitchFamily="34" charset="0"/>
              </a:rPr>
              <a:t>是指以电子形式存在的，用作证据使用的一切材料及其派生物，或者说借助电子技术或电子设备而形成的一切证据。在概念中</a:t>
            </a:r>
            <a:r>
              <a:rPr lang="zh-CN" altLang="en-US" sz="2100" b="1" dirty="0">
                <a:solidFill>
                  <a:srgbClr val="0000FF"/>
                </a:solidFill>
                <a:latin typeface="Arial" panose="020B0604020202020204" pitchFamily="34" charset="0"/>
              </a:rPr>
              <a:t>突出了“电子形式”</a:t>
            </a:r>
            <a:r>
              <a:rPr lang="zh-CN" altLang="en-US" sz="2100" b="1" dirty="0">
                <a:solidFill>
                  <a:schemeClr val="tx2">
                    <a:lumMod val="95000"/>
                    <a:lumOff val="5000"/>
                  </a:schemeClr>
                </a:solidFill>
                <a:latin typeface="Arial" panose="020B0604020202020204" pitchFamily="34" charset="0"/>
              </a:rPr>
              <a:t>，即由介质、磁性物、光学设备、计算机内存或类似设备生成、发送、接收、存储的任一信息的存在形式。</a:t>
            </a:r>
            <a:endParaRPr lang="en-US" altLang="zh-CN" sz="2100" b="1" dirty="0">
              <a:solidFill>
                <a:schemeClr val="tx2">
                  <a:lumMod val="95000"/>
                  <a:lumOff val="5000"/>
                </a:schemeClr>
              </a:solidFill>
              <a:latin typeface="Arial" panose="020B0604020202020204" pitchFamily="34" charset="0"/>
            </a:endParaRPr>
          </a:p>
          <a:p>
            <a:pPr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2</a:t>
            </a:r>
            <a:r>
              <a:rPr lang="zh-CN" altLang="en-US" sz="2100" b="1" dirty="0">
                <a:solidFill>
                  <a:schemeClr val="tx2">
                    <a:lumMod val="95000"/>
                    <a:lumOff val="5000"/>
                  </a:schemeClr>
                </a:solidFill>
                <a:latin typeface="Arial" panose="020B0604020202020204" pitchFamily="34" charset="0"/>
              </a:rPr>
              <a:t>）</a:t>
            </a:r>
            <a:r>
              <a:rPr lang="zh-CN" altLang="en-US" sz="2100" b="1" dirty="0">
                <a:solidFill>
                  <a:srgbClr val="D60093"/>
                </a:solidFill>
                <a:latin typeface="Arial" panose="020B0604020202020204" pitchFamily="34" charset="0"/>
              </a:rPr>
              <a:t>狭义的电子证据</a:t>
            </a:r>
            <a:r>
              <a:rPr lang="zh-CN" altLang="en-US" sz="2100" b="1" dirty="0">
                <a:solidFill>
                  <a:schemeClr val="tx2">
                    <a:lumMod val="95000"/>
                    <a:lumOff val="5000"/>
                  </a:schemeClr>
                </a:solidFill>
                <a:latin typeface="Arial" panose="020B0604020202020204" pitchFamily="34" charset="0"/>
              </a:rPr>
              <a:t>是数字化信息设备中存储、处理、传输、输出的数字化信息形式的证据。在概念中</a:t>
            </a:r>
            <a:r>
              <a:rPr lang="zh-CN" altLang="en-US" sz="2100" b="1" dirty="0">
                <a:solidFill>
                  <a:srgbClr val="0000FF"/>
                </a:solidFill>
                <a:latin typeface="Arial" panose="020B0604020202020204" pitchFamily="34" charset="0"/>
              </a:rPr>
              <a:t>突出“数字化”</a:t>
            </a:r>
            <a:r>
              <a:rPr lang="zh-CN" altLang="en-US" sz="2100" b="1" dirty="0">
                <a:solidFill>
                  <a:schemeClr val="tx2">
                    <a:lumMod val="95000"/>
                    <a:lumOff val="5000"/>
                  </a:schemeClr>
                </a:solidFill>
                <a:latin typeface="Arial" panose="020B0604020202020204" pitchFamily="34" charset="0"/>
              </a:rPr>
              <a:t>，这是由于数字化信息技术已经及广泛的应用领域，而模拟信息技术使用范围越来越小，局限于原始信息的采集等有限的应用领域。</a:t>
            </a:r>
            <a:endParaRPr lang="en-US" altLang="zh-CN" sz="2100" dirty="0">
              <a:solidFill>
                <a:schemeClr val="tx2"/>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内容占位符 13"/>
          <p:cNvSpPr>
            <a:spLocks noGrp="1" noChangeArrowheads="1"/>
          </p:cNvSpPr>
          <p:nvPr>
            <p:ph idx="4294967295"/>
          </p:nvPr>
        </p:nvSpPr>
        <p:spPr>
          <a:xfrm>
            <a:off x="419100" y="1185863"/>
            <a:ext cx="8040688" cy="930275"/>
          </a:xfrm>
        </p:spPr>
        <p:txBody>
          <a:bodyPr/>
          <a:lstStyle/>
          <a:p>
            <a:pPr eaLnBrk="1" hangingPunct="1">
              <a:buFont typeface="Wingdings" panose="05000000000000000000" pitchFamily="2" charset="2"/>
              <a:buNone/>
            </a:pPr>
            <a:r>
              <a:rPr lang="en-US" altLang="zh-CN" sz="2600" smtClean="0">
                <a:solidFill>
                  <a:srgbClr val="FF0000"/>
                </a:solidFill>
              </a:rPr>
              <a:t>6.4.4 </a:t>
            </a:r>
            <a:r>
              <a:rPr lang="zh-CN" altLang="en-US" sz="2600" smtClean="0">
                <a:solidFill>
                  <a:srgbClr val="FF0000"/>
                </a:solidFill>
              </a:rPr>
              <a:t>电子证据概述</a:t>
            </a:r>
            <a:endParaRPr lang="zh-CN" altLang="en-US" sz="2600" smtClean="0">
              <a:solidFill>
                <a:srgbClr val="FF0000"/>
              </a:solidFill>
            </a:endParaRPr>
          </a:p>
          <a:p>
            <a:pPr eaLnBrk="1" hangingPunct="1">
              <a:buFont typeface="Wingdings" panose="05000000000000000000" pitchFamily="2" charset="2"/>
              <a:buNone/>
            </a:pPr>
            <a:r>
              <a:rPr lang="en-US" altLang="zh-CN" smtClean="0">
                <a:solidFill>
                  <a:srgbClr val="CC0000"/>
                </a:solidFill>
              </a:rPr>
              <a:t>    2</a:t>
            </a:r>
            <a:r>
              <a:rPr lang="zh-CN" altLang="en-US" smtClean="0">
                <a:solidFill>
                  <a:srgbClr val="CC0000"/>
                </a:solidFill>
              </a:rPr>
              <a:t>．电子证据的特点</a:t>
            </a:r>
            <a:endParaRPr lang="en-US" altLang="zh-CN" smtClean="0">
              <a:solidFill>
                <a:srgbClr val="CC0000"/>
              </a:solidFill>
            </a:endParaRPr>
          </a:p>
        </p:txBody>
      </p:sp>
      <p:sp>
        <p:nvSpPr>
          <p:cNvPr id="19" name="圆角矩形 18"/>
          <p:cNvSpPr/>
          <p:nvPr/>
        </p:nvSpPr>
        <p:spPr bwMode="gray">
          <a:xfrm>
            <a:off x="539750" y="2116455"/>
            <a:ext cx="8064500" cy="32194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与传统证据一样，电子证据必须是</a:t>
            </a:r>
            <a:r>
              <a:rPr lang="zh-CN" altLang="en-US" sz="2100" b="1" dirty="0">
                <a:solidFill>
                  <a:srgbClr val="0000FF"/>
                </a:solidFill>
                <a:latin typeface="Arial" panose="020B0604020202020204" pitchFamily="34" charset="0"/>
              </a:rPr>
              <a:t>可信、准确、完整、符合法律法规的</a:t>
            </a:r>
            <a:r>
              <a:rPr lang="zh-CN" altLang="en-US" sz="2100" b="1" dirty="0">
                <a:solidFill>
                  <a:schemeClr val="tx2">
                    <a:lumMod val="95000"/>
                    <a:lumOff val="5000"/>
                  </a:schemeClr>
                </a:solidFill>
                <a:latin typeface="Arial" panose="020B0604020202020204" pitchFamily="34" charset="0"/>
              </a:rPr>
              <a:t>，是法庭所能够接受的。同时，电子证据与传统证据不同，又具有以下特点：</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1</a:t>
            </a:r>
            <a:r>
              <a:rPr lang="zh-CN" altLang="en-US" sz="2100" b="1" dirty="0">
                <a:solidFill>
                  <a:schemeClr val="tx2">
                    <a:lumMod val="95000"/>
                    <a:lumOff val="5000"/>
                  </a:schemeClr>
                </a:solidFill>
                <a:latin typeface="Arial" panose="020B0604020202020204" pitchFamily="34" charset="0"/>
              </a:rPr>
              <a:t>）依赖性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2</a:t>
            </a:r>
            <a:r>
              <a:rPr lang="zh-CN" altLang="en-US" sz="2100" b="1" dirty="0">
                <a:solidFill>
                  <a:schemeClr val="tx2">
                    <a:lumMod val="95000"/>
                    <a:lumOff val="5000"/>
                  </a:schemeClr>
                </a:solidFill>
                <a:latin typeface="Arial" panose="020B0604020202020204" pitchFamily="34" charset="0"/>
              </a:rPr>
              <a:t>）多样性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3</a:t>
            </a:r>
            <a:r>
              <a:rPr lang="zh-CN" altLang="en-US" sz="2100" b="1" dirty="0">
                <a:solidFill>
                  <a:schemeClr val="tx2">
                    <a:lumMod val="95000"/>
                    <a:lumOff val="5000"/>
                  </a:schemeClr>
                </a:solidFill>
                <a:latin typeface="Arial" panose="020B0604020202020204" pitchFamily="34" charset="0"/>
              </a:rPr>
              <a:t>）无形性</a:t>
            </a:r>
            <a:endParaRPr lang="en-US" altLang="zh-CN" sz="2100" b="1" dirty="0">
              <a:solidFill>
                <a:schemeClr val="tx2">
                  <a:lumMod val="95000"/>
                  <a:lumOff val="5000"/>
                </a:schemeClr>
              </a:solidFill>
              <a:latin typeface="Arial" panose="020B0604020202020204" pitchFamily="34" charset="0"/>
            </a:endParaRPr>
          </a:p>
          <a:p>
            <a:pPr lvl="1" algn="just">
              <a:lnSpc>
                <a:spcPct val="115000"/>
              </a:lnSpc>
              <a:spcBef>
                <a:spcPct val="25000"/>
              </a:spcBef>
              <a:defRPr/>
            </a:pPr>
            <a:r>
              <a:rPr lang="en-US" altLang="zh-CN" sz="2100" b="1" dirty="0">
                <a:solidFill>
                  <a:schemeClr val="tx2">
                    <a:lumMod val="95000"/>
                    <a:lumOff val="5000"/>
                  </a:schemeClr>
                </a:solidFill>
                <a:latin typeface="Arial" panose="020B0604020202020204" pitchFamily="34" charset="0"/>
              </a:rPr>
              <a:t>4</a:t>
            </a:r>
            <a:r>
              <a:rPr lang="zh-CN" altLang="en-US" sz="2100" b="1" dirty="0">
                <a:solidFill>
                  <a:schemeClr val="tx2">
                    <a:lumMod val="95000"/>
                    <a:lumOff val="5000"/>
                  </a:schemeClr>
                </a:solidFill>
                <a:latin typeface="Arial" panose="020B0604020202020204" pitchFamily="34" charset="0"/>
              </a:rPr>
              <a:t>）易破坏性与相对稳定性</a:t>
            </a:r>
            <a:endParaRPr lang="zh-CN" altLang="en-US"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3972" name="图片 7"/>
          <p:cNvPicPr>
            <a:picLocks noChangeAspect="1" noChangeArrowheads="1"/>
          </p:cNvPicPr>
          <p:nvPr/>
        </p:nvPicPr>
        <p:blipFill>
          <a:blip r:embed="rId1" cstate="print"/>
          <a:srcRect l="18781" t="5154" r="12358" b="9132"/>
          <a:stretch>
            <a:fillRect/>
          </a:stretch>
        </p:blipFill>
        <p:spPr bwMode="auto">
          <a:xfrm>
            <a:off x="5577840" y="3265488"/>
            <a:ext cx="2528888" cy="2070100"/>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220663" y="2116138"/>
            <a:ext cx="8280400" cy="43068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对于电子证据的分类，主要</a:t>
            </a:r>
            <a:r>
              <a:rPr lang="zh-CN" altLang="en-US" sz="2100" b="1" dirty="0">
                <a:solidFill>
                  <a:srgbClr val="0000FF"/>
                </a:solidFill>
                <a:latin typeface="Arial" panose="020B0604020202020204" pitchFamily="34" charset="0"/>
              </a:rPr>
              <a:t>以电子数据为主体</a:t>
            </a:r>
            <a:r>
              <a:rPr lang="zh-CN" altLang="en-US" sz="2100" b="1" dirty="0">
                <a:solidFill>
                  <a:schemeClr val="tx2">
                    <a:lumMod val="95000"/>
                    <a:lumOff val="5000"/>
                  </a:schemeClr>
                </a:solidFill>
                <a:latin typeface="Arial" panose="020B0604020202020204" pitchFamily="34" charset="0"/>
              </a:rPr>
              <a:t>按照不同的分类方法进行划分。</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收集措施</a:t>
            </a:r>
            <a:r>
              <a:rPr lang="zh-CN" altLang="en-US" sz="2100" b="1" dirty="0">
                <a:solidFill>
                  <a:schemeClr val="tx2">
                    <a:lumMod val="95000"/>
                    <a:lumOff val="5000"/>
                  </a:schemeClr>
                </a:solidFill>
                <a:latin typeface="Arial" panose="020B0604020202020204" pitchFamily="34" charset="0"/>
              </a:rPr>
              <a:t>：静态电子数据与动态电子数据；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电子数据生成的方式</a:t>
            </a:r>
            <a:r>
              <a:rPr lang="zh-CN" altLang="en-US" sz="2100" b="1" dirty="0">
                <a:solidFill>
                  <a:schemeClr val="tx2">
                    <a:lumMod val="95000"/>
                    <a:lumOff val="5000"/>
                  </a:schemeClr>
                </a:solidFill>
                <a:latin typeface="Arial" panose="020B0604020202020204" pitchFamily="34" charset="0"/>
              </a:rPr>
              <a:t>：电子生成数据、电子存储数据与电子交互数据；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电子数据的来源</a:t>
            </a:r>
            <a:r>
              <a:rPr lang="zh-CN" altLang="en-US" sz="2100" b="1" dirty="0">
                <a:solidFill>
                  <a:schemeClr val="tx2">
                    <a:lumMod val="95000"/>
                    <a:lumOff val="5000"/>
                  </a:schemeClr>
                </a:solidFill>
                <a:latin typeface="Arial" panose="020B0604020202020204" pitchFamily="34" charset="0"/>
              </a:rPr>
              <a:t>：存储介质数据、电磁辐射数据与线路电子数据；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电子数据是否加密</a:t>
            </a:r>
            <a:r>
              <a:rPr lang="zh-CN" altLang="en-US" sz="2100" b="1" dirty="0">
                <a:solidFill>
                  <a:schemeClr val="tx2">
                    <a:lumMod val="95000"/>
                    <a:lumOff val="5000"/>
                  </a:schemeClr>
                </a:solidFill>
                <a:latin typeface="Arial" panose="020B0604020202020204" pitchFamily="34" charset="0"/>
              </a:rPr>
              <a:t>：加密电子数据与非加密数据；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电子数据形成的环境</a:t>
            </a:r>
            <a:r>
              <a:rPr lang="zh-CN" altLang="en-US" sz="2100" b="1" dirty="0">
                <a:solidFill>
                  <a:schemeClr val="tx2">
                    <a:lumMod val="95000"/>
                    <a:lumOff val="5000"/>
                  </a:schemeClr>
                </a:solidFill>
                <a:latin typeface="Arial" panose="020B0604020202020204" pitchFamily="34" charset="0"/>
              </a:rPr>
              <a:t>：封闭电子数据与网络电子数据；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数据是否被删除、隐藏或隐写</a:t>
            </a:r>
            <a:r>
              <a:rPr lang="zh-CN" altLang="en-US" sz="2100" b="1" dirty="0">
                <a:solidFill>
                  <a:schemeClr val="tx2">
                    <a:lumMod val="95000"/>
                    <a:lumOff val="5000"/>
                  </a:schemeClr>
                </a:solidFill>
                <a:latin typeface="Arial" panose="020B0604020202020204" pitchFamily="34" charset="0"/>
              </a:rPr>
              <a:t>：显性数据与隐性数据；</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chemeClr val="tx2">
                    <a:lumMod val="95000"/>
                    <a:lumOff val="5000"/>
                  </a:schemeClr>
                </a:solidFill>
                <a:latin typeface="Arial" panose="020B0604020202020204" pitchFamily="34" charset="0"/>
              </a:rPr>
              <a:t>按照</a:t>
            </a:r>
            <a:r>
              <a:rPr lang="zh-CN" altLang="en-US" sz="2100" b="1" dirty="0">
                <a:solidFill>
                  <a:srgbClr val="D60093"/>
                </a:solidFill>
                <a:latin typeface="Arial" panose="020B0604020202020204" pitchFamily="34" charset="0"/>
              </a:rPr>
              <a:t>电子数据存在时间</a:t>
            </a:r>
            <a:r>
              <a:rPr lang="zh-CN" altLang="en-US" sz="2100" b="1" dirty="0">
                <a:solidFill>
                  <a:schemeClr val="tx2">
                    <a:lumMod val="95000"/>
                    <a:lumOff val="5000"/>
                  </a:schemeClr>
                </a:solidFill>
                <a:latin typeface="Arial" panose="020B0604020202020204" pitchFamily="34" charset="0"/>
              </a:rPr>
              <a:t>：易失性数据和非易失性数据等。</a:t>
            </a:r>
            <a:endParaRPr lang="zh-CN" altLang="en-US" sz="2100" b="1" dirty="0">
              <a:solidFill>
                <a:schemeClr val="tx2">
                  <a:lumMod val="95000"/>
                  <a:lumOff val="5000"/>
                </a:schemeClr>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4995" name="图片 2"/>
          <p:cNvPicPr>
            <a:picLocks noChangeAspect="1" noChangeArrowheads="1"/>
          </p:cNvPicPr>
          <p:nvPr/>
        </p:nvPicPr>
        <p:blipFill>
          <a:blip r:embed="rId1" cstate="print"/>
          <a:srcRect l="28273" t="18088" r="24471" b="5814"/>
          <a:stretch>
            <a:fillRect/>
          </a:stretch>
        </p:blipFill>
        <p:spPr bwMode="auto">
          <a:xfrm>
            <a:off x="6148388" y="706438"/>
            <a:ext cx="2352675" cy="1487487"/>
          </a:xfrm>
          <a:prstGeom prst="rect">
            <a:avLst/>
          </a:prstGeom>
          <a:noFill/>
          <a:ln w="9525">
            <a:noFill/>
            <a:miter lim="800000"/>
            <a:headEnd/>
            <a:tailEnd/>
          </a:ln>
        </p:spPr>
      </p:pic>
      <p:sp>
        <p:nvSpPr>
          <p:cNvPr id="9" name="内容占位符 13"/>
          <p:cNvSpPr txBox="1">
            <a:spLocks noChangeArrowheads="1"/>
          </p:cNvSpPr>
          <p:nvPr/>
        </p:nvSpPr>
        <p:spPr bwMode="auto">
          <a:xfrm>
            <a:off x="457200" y="1109663"/>
            <a:ext cx="8040688" cy="9302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buFont typeface="Wingdings" panose="05000000000000000000" pitchFamily="2" charset="2"/>
              <a:buNone/>
              <a:defRPr/>
            </a:pPr>
            <a:r>
              <a:rPr lang="en-US" altLang="zh-CN" sz="2600" kern="0" dirty="0">
                <a:solidFill>
                  <a:srgbClr val="FF0000"/>
                </a:solidFill>
              </a:rPr>
              <a:t>6.4.4 </a:t>
            </a:r>
            <a:r>
              <a:rPr lang="zh-CN" altLang="en-US" sz="2600" kern="0" dirty="0">
                <a:solidFill>
                  <a:srgbClr val="FF0000"/>
                </a:solidFill>
              </a:rPr>
              <a:t>电子证据概述</a:t>
            </a:r>
            <a:endParaRPr lang="zh-CN" altLang="en-US" sz="2600" kern="0" dirty="0">
              <a:solidFill>
                <a:srgbClr val="FF0000"/>
              </a:solidFill>
            </a:endParaRPr>
          </a:p>
          <a:p>
            <a:pPr eaLnBrk="1" hangingPunct="1">
              <a:buFont typeface="Wingdings" panose="05000000000000000000" pitchFamily="2" charset="2"/>
              <a:buNone/>
              <a:defRPr/>
            </a:pPr>
            <a:r>
              <a:rPr lang="en-US" altLang="zh-CN" kern="0" dirty="0">
                <a:solidFill>
                  <a:srgbClr val="CC0000"/>
                </a:solidFill>
              </a:rPr>
              <a:t>    3</a:t>
            </a:r>
            <a:r>
              <a:rPr lang="zh-CN" altLang="en-US" kern="0" dirty="0">
                <a:solidFill>
                  <a:srgbClr val="CC0000"/>
                </a:solidFill>
              </a:rPr>
              <a:t>．电子证据的分类</a:t>
            </a:r>
            <a:endParaRPr lang="en-US" altLang="zh-CN" kern="0" dirty="0">
              <a:solidFill>
                <a:srgbClr val="CC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36270" y="1786255"/>
            <a:ext cx="7833360" cy="280797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5000"/>
              </a:lnSpc>
              <a:spcBef>
                <a:spcPct val="25000"/>
              </a:spcBef>
              <a:defRPr/>
            </a:pPr>
            <a:r>
              <a:rPr lang="zh-CN" altLang="en-US" sz="2100" b="1" dirty="0">
                <a:solidFill>
                  <a:schemeClr val="tx2">
                    <a:lumMod val="95000"/>
                    <a:lumOff val="5000"/>
                  </a:schemeClr>
                </a:solidFill>
                <a:latin typeface="Arial" panose="020B0604020202020204" pitchFamily="34" charset="0"/>
              </a:rPr>
              <a:t>       电子数据取证技术</a:t>
            </a:r>
            <a:r>
              <a:rPr lang="zh-CN" altLang="en-US" sz="2100" b="1" dirty="0">
                <a:solidFill>
                  <a:srgbClr val="0000FF"/>
                </a:solidFill>
                <a:latin typeface="Arial" panose="020B0604020202020204" pitchFamily="34" charset="0"/>
              </a:rPr>
              <a:t>按照取证阶段的不同</a:t>
            </a:r>
            <a:r>
              <a:rPr lang="zh-CN" altLang="en-US" sz="2100" b="1" dirty="0">
                <a:solidFill>
                  <a:schemeClr val="tx2">
                    <a:lumMod val="95000"/>
                    <a:lumOff val="5000"/>
                  </a:schemeClr>
                </a:solidFill>
                <a:latin typeface="Arial" panose="020B0604020202020204" pitchFamily="34" charset="0"/>
              </a:rPr>
              <a:t>对其加以分类：</a:t>
            </a:r>
            <a:endParaRPr lang="en-US" altLang="zh-CN" sz="2100" b="1" dirty="0">
              <a:solidFill>
                <a:schemeClr val="tx2">
                  <a:lumMod val="95000"/>
                  <a:lumOff val="5000"/>
                </a:schemeClr>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电子证据发现技术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电子证据保全技术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电子证据收集技术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电子证据检验技术</a:t>
            </a:r>
            <a:endParaRPr lang="en-US" altLang="zh-CN" sz="2100" b="1" dirty="0">
              <a:solidFill>
                <a:srgbClr val="D60093"/>
              </a:solidFill>
              <a:latin typeface="Arial" panose="020B0604020202020204" pitchFamily="34" charset="0"/>
            </a:endParaRPr>
          </a:p>
          <a:p>
            <a:pPr marL="800100" lvl="1" indent="-342900" algn="just">
              <a:spcBef>
                <a:spcPct val="25000"/>
              </a:spcBef>
              <a:buFont typeface="Wingdings" panose="05000000000000000000" pitchFamily="2" charset="2"/>
              <a:buChar char="Ø"/>
              <a:defRPr/>
            </a:pPr>
            <a:r>
              <a:rPr lang="zh-CN" altLang="en-US" sz="2100" b="1" dirty="0">
                <a:solidFill>
                  <a:srgbClr val="D60093"/>
                </a:solidFill>
                <a:latin typeface="Arial" panose="020B0604020202020204" pitchFamily="34" charset="0"/>
              </a:rPr>
              <a:t>电子证据分析技术</a:t>
            </a:r>
            <a:endParaRPr lang="zh-CN" altLang="en-US" sz="2100" b="1" dirty="0">
              <a:solidFill>
                <a:srgbClr val="D60093"/>
              </a:solidFill>
              <a:latin typeface="Arial" panose="020B0604020202020204" pitchFamily="34" charset="0"/>
            </a:endParaRPr>
          </a:p>
        </p:txBody>
      </p:sp>
      <p:sp>
        <p:nvSpPr>
          <p:cNvPr id="7" name="Rectangle 2"/>
          <p:cNvSpPr txBox="1">
            <a:spLocks noChangeArrowheads="1"/>
          </p:cNvSpPr>
          <p:nvPr/>
        </p:nvSpPr>
        <p:spPr bwMode="white">
          <a:xfrm>
            <a:off x="457200" y="142875"/>
            <a:ext cx="8305800" cy="563563"/>
          </a:xfrm>
          <a:prstGeom prst="rect">
            <a:avLst/>
          </a:prstGeom>
          <a:no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3200" b="1" dirty="0">
                <a:solidFill>
                  <a:schemeClr val="bg1"/>
                </a:solidFill>
              </a:rPr>
              <a:t>6.4  </a:t>
            </a:r>
            <a:r>
              <a:rPr lang="zh-CN" altLang="zh-CN" sz="3200" kern="100" dirty="0">
                <a:solidFill>
                  <a:srgbClr val="FF0000"/>
                </a:solidFill>
                <a:ea typeface="Times New Roman" panose="02020603050405020304"/>
              </a:rPr>
              <a:t> </a:t>
            </a:r>
            <a:r>
              <a:rPr lang="zh-CN" altLang="zh-CN" sz="3200" kern="100" dirty="0">
                <a:solidFill>
                  <a:schemeClr val="bg1"/>
                </a:solidFill>
                <a:latin typeface="Times New Roman" panose="02020603050405020304"/>
                <a:ea typeface="黑体" panose="02010609060101010101" pitchFamily="49" charset="-122"/>
                <a:cs typeface="Times New Roman" panose="02020603050405020304"/>
              </a:rPr>
              <a:t>安全审计</a:t>
            </a:r>
            <a:r>
              <a:rPr lang="zh-CN" altLang="en-US" sz="3200" kern="100" dirty="0">
                <a:solidFill>
                  <a:schemeClr val="bg1"/>
                </a:solidFill>
                <a:latin typeface="Times New Roman" panose="02020603050405020304"/>
                <a:ea typeface="黑体" panose="02010609060101010101" pitchFamily="49" charset="-122"/>
                <a:cs typeface="Times New Roman" panose="02020603050405020304"/>
              </a:rPr>
              <a:t>与电子证据</a:t>
            </a:r>
            <a:endParaRPr lang="zh-CN" altLang="en-US" sz="3200" b="1" dirty="0">
              <a:solidFill>
                <a:schemeClr val="bg1"/>
              </a:solidFill>
            </a:endParaRPr>
          </a:p>
        </p:txBody>
      </p:sp>
      <p:pic>
        <p:nvPicPr>
          <p:cNvPr id="86019" name="图片 2"/>
          <p:cNvPicPr>
            <a:picLocks noChangeAspect="1" noChangeArrowheads="1"/>
          </p:cNvPicPr>
          <p:nvPr/>
        </p:nvPicPr>
        <p:blipFill>
          <a:blip r:embed="rId1" cstate="print"/>
          <a:srcRect l="28273" t="18088" r="24471" b="5814"/>
          <a:stretch>
            <a:fillRect/>
          </a:stretch>
        </p:blipFill>
        <p:spPr bwMode="auto">
          <a:xfrm>
            <a:off x="5611813" y="2565400"/>
            <a:ext cx="2376487" cy="1884363"/>
          </a:xfrm>
          <a:prstGeom prst="rect">
            <a:avLst/>
          </a:prstGeom>
          <a:noFill/>
          <a:ln w="9525">
            <a:noFill/>
            <a:miter lim="800000"/>
            <a:headEnd/>
            <a:tailEnd/>
          </a:ln>
        </p:spPr>
      </p:pic>
      <p:sp>
        <p:nvSpPr>
          <p:cNvPr id="9" name="内容占位符 13"/>
          <p:cNvSpPr txBox="1">
            <a:spLocks noChangeArrowheads="1"/>
          </p:cNvSpPr>
          <p:nvPr/>
        </p:nvSpPr>
        <p:spPr bwMode="auto">
          <a:xfrm>
            <a:off x="450850" y="1170623"/>
            <a:ext cx="5160963" cy="9302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buFont typeface="Wingdings" panose="05000000000000000000" pitchFamily="2" charset="2"/>
              <a:buNone/>
              <a:defRPr/>
            </a:pPr>
            <a:r>
              <a:rPr lang="en-US" altLang="zh-CN" sz="2600" kern="0" dirty="0">
                <a:solidFill>
                  <a:srgbClr val="FF0000"/>
                </a:solidFill>
              </a:rPr>
              <a:t>6.4.5 </a:t>
            </a:r>
            <a:r>
              <a:rPr lang="zh-CN" altLang="en-US" sz="2600" kern="0" dirty="0">
                <a:solidFill>
                  <a:srgbClr val="FF0000"/>
                </a:solidFill>
              </a:rPr>
              <a:t>电子数据取证技术</a:t>
            </a:r>
            <a:endParaRPr lang="en-US" altLang="zh-CN" sz="2600" kern="0" dirty="0">
              <a:solidFill>
                <a:srgbClr val="FF0000"/>
              </a:solidFill>
            </a:endParaRPr>
          </a:p>
        </p:txBody>
      </p:sp>
      <p:sp>
        <p:nvSpPr>
          <p:cNvPr id="86021" name="圆角矩形 18"/>
          <p:cNvSpPr>
            <a:spLocks noChangeArrowheads="1"/>
          </p:cNvSpPr>
          <p:nvPr/>
        </p:nvSpPr>
        <p:spPr bwMode="auto">
          <a:xfrm>
            <a:off x="695325" y="4681855"/>
            <a:ext cx="6292850" cy="1581150"/>
          </a:xfrm>
          <a:prstGeom prst="roundRect">
            <a:avLst>
              <a:gd name="adj" fmla="val 16667"/>
            </a:avLst>
          </a:prstGeom>
          <a:solidFill>
            <a:srgbClr val="FFFF66"/>
          </a:solidFill>
          <a:ln w="25400">
            <a:solidFill>
              <a:schemeClr val="tx1"/>
            </a:solidFill>
            <a:round/>
          </a:ln>
        </p:spPr>
        <p:txBody>
          <a:bodyPr anchor="ctr"/>
          <a:lstStyle/>
          <a:p>
            <a:r>
              <a:rPr lang="zh-CN" altLang="en-US" sz="2000" b="1">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000" b="1">
                <a:solidFill>
                  <a:srgbClr val="FF0000"/>
                </a:solidFill>
                <a:latin typeface="黑体" panose="02010609060101010101" pitchFamily="49" charset="-122"/>
                <a:ea typeface="黑体" panose="02010609060101010101" pitchFamily="49" charset="-122"/>
              </a:rPr>
              <a:t>讨论思考：</a:t>
            </a:r>
            <a:endParaRPr lang="en-US" altLang="zh-CN" sz="2000" b="1">
              <a:solidFill>
                <a:srgbClr val="FF0000"/>
              </a:solidFill>
              <a:latin typeface="黑体" panose="02010609060101010101" pitchFamily="49" charset="-122"/>
              <a:ea typeface="黑体" panose="02010609060101010101" pitchFamily="49" charset="-122"/>
            </a:endParaRPr>
          </a:p>
          <a:p>
            <a:r>
              <a:rPr lang="en-US" altLang="zh-CN" b="1"/>
              <a:t>1</a:t>
            </a:r>
            <a:r>
              <a:rPr lang="zh-CN" altLang="en-US" b="1"/>
              <a:t>）</a:t>
            </a:r>
            <a:r>
              <a:rPr lang="zh-CN" altLang="en-US" b="1">
                <a:solidFill>
                  <a:srgbClr val="0000FF"/>
                </a:solidFill>
                <a:latin typeface="楷体_GB2312" pitchFamily="49" charset="-122"/>
                <a:ea typeface="楷体_GB2312" pitchFamily="49" charset="-122"/>
              </a:rPr>
              <a:t>安全审计的概念、目的、类型和结构是什么？</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）系统日志分析的主要内容包括哪些？</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）安全审计跟踪主要考虑哪几个方面问题？</a:t>
            </a:r>
            <a:endParaRPr lang="zh-CN" altLang="en-US" b="1">
              <a:solidFill>
                <a:srgbClr val="0000FF"/>
              </a:solidFill>
              <a:latin typeface="楷体_GB2312" pitchFamily="49" charset="-122"/>
              <a:ea typeface="楷体_GB2312" pitchFamily="49" charset="-122"/>
            </a:endParaRPr>
          </a:p>
          <a:p>
            <a:r>
              <a:rPr lang="en-US" altLang="zh-CN" b="1">
                <a:solidFill>
                  <a:srgbClr val="0000FF"/>
                </a:solidFill>
                <a:latin typeface="楷体_GB2312" pitchFamily="49" charset="-122"/>
                <a:ea typeface="楷体_GB2312" pitchFamily="49" charset="-122"/>
              </a:rPr>
              <a:t>4</a:t>
            </a:r>
            <a:r>
              <a:rPr lang="zh-CN" altLang="en-US" b="1">
                <a:solidFill>
                  <a:srgbClr val="0000FF"/>
                </a:solidFill>
                <a:latin typeface="楷体_GB2312" pitchFamily="49" charset="-122"/>
                <a:ea typeface="楷体_GB2312" pitchFamily="49" charset="-122"/>
              </a:rPr>
              <a:t>）电子证据特点是什么？常用电子证据取证技术有哪些？</a:t>
            </a:r>
            <a:endParaRPr lang="zh-CN" altLang="en-US" b="1">
              <a:solidFill>
                <a:srgbClr val="0000FF"/>
              </a:solidFill>
              <a:latin typeface="楷体_GB2312" pitchFamily="49" charset="-122"/>
              <a:ea typeface="楷体_GB2312" pitchFamily="49" charset="-122"/>
            </a:endParaRPr>
          </a:p>
        </p:txBody>
      </p:sp>
      <p:pic>
        <p:nvPicPr>
          <p:cNvPr id="86022" name="Picture 7" descr="j0195384"/>
          <p:cNvPicPr>
            <a:picLocks noChangeAspect="1" noChangeArrowheads="1"/>
          </p:cNvPicPr>
          <p:nvPr/>
        </p:nvPicPr>
        <p:blipFill>
          <a:blip r:embed="rId2" cstate="print"/>
          <a:srcRect/>
          <a:stretch>
            <a:fillRect/>
          </a:stretch>
        </p:blipFill>
        <p:spPr bwMode="auto">
          <a:xfrm>
            <a:off x="7129463" y="4960938"/>
            <a:ext cx="1150937" cy="1176337"/>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内容占位符 13"/>
          <p:cNvSpPr>
            <a:spLocks noGrp="1" noChangeArrowheads="1"/>
          </p:cNvSpPr>
          <p:nvPr>
            <p:ph idx="4294967295"/>
          </p:nvPr>
        </p:nvSpPr>
        <p:spPr>
          <a:xfrm>
            <a:off x="459105" y="1265238"/>
            <a:ext cx="8153400" cy="647700"/>
          </a:xfrm>
        </p:spPr>
        <p:txBody>
          <a:bodyPr/>
          <a:lstStyle/>
          <a:p>
            <a:pPr eaLnBrk="1" hangingPunct="1">
              <a:spcAft>
                <a:spcPts val="600"/>
              </a:spcAft>
            </a:pPr>
            <a:r>
              <a:rPr lang="zh-CN" altLang="zh-CN" sz="2600" noProof="1" smtClean="0">
                <a:solidFill>
                  <a:srgbClr val="CC0000"/>
                </a:solidFill>
              </a:rPr>
              <a:t>6.5.1</a:t>
            </a:r>
            <a:r>
              <a:rPr lang="zh-CN" altLang="en-US" sz="2600" noProof="1" smtClean="0">
                <a:solidFill>
                  <a:srgbClr val="CC0000"/>
                </a:solidFill>
              </a:rPr>
              <a:t>实验目的</a:t>
            </a:r>
            <a:endParaRPr lang="zh-CN" altLang="en-US" sz="2600" noProof="1" smtClean="0">
              <a:solidFill>
                <a:srgbClr val="CC0000"/>
              </a:solidFill>
            </a:endParaRPr>
          </a:p>
          <a:p>
            <a:pPr eaLnBrk="1" hangingPunct="1">
              <a:spcAft>
                <a:spcPts val="600"/>
              </a:spcAft>
              <a:buFont typeface="Wingdings" panose="05000000000000000000" pitchFamily="2" charset="2"/>
              <a:buNone/>
            </a:pPr>
            <a:endParaRPr lang="zh-CN" altLang="en-US" sz="2600" noProof="1" smtClean="0">
              <a:solidFill>
                <a:srgbClr val="CC0000"/>
              </a:solidFill>
            </a:endParaRPr>
          </a:p>
          <a:p>
            <a:pPr>
              <a:buFont typeface="Wingdings" panose="05000000000000000000" pitchFamily="2" charset="2"/>
              <a:buNone/>
            </a:pPr>
            <a:r>
              <a:rPr lang="zh-CN" altLang="zh-CN" sz="2000" noProof="1" smtClean="0"/>
              <a:t>	</a:t>
            </a:r>
            <a:endParaRPr lang="zh-CN" altLang="en-US" sz="2400" noProof="1" smtClean="0"/>
          </a:p>
          <a:p>
            <a:endParaRPr lang="zh-CN" altLang="en-US" sz="2400" noProof="1" smtClean="0"/>
          </a:p>
          <a:p>
            <a:endParaRPr lang="zh-CN" altLang="en-US" sz="2400" noProof="1" smtClean="0"/>
          </a:p>
          <a:p>
            <a:pPr eaLnBrk="1" hangingPunct="1">
              <a:spcAft>
                <a:spcPts val="600"/>
              </a:spcAft>
            </a:pPr>
            <a:endParaRPr lang="zh-CN" altLang="en-US" sz="2600" noProof="1" smtClean="0">
              <a:solidFill>
                <a:srgbClr val="CC0000"/>
              </a:solidFill>
            </a:endParaRPr>
          </a:p>
          <a:p>
            <a:pPr>
              <a:buFont typeface="Wingdings" panose="05000000000000000000" pitchFamily="2" charset="2"/>
              <a:buNone/>
            </a:pPr>
            <a:endParaRPr lang="zh-CN" altLang="en-US" sz="2400" noProof="1" smtClean="0"/>
          </a:p>
          <a:p>
            <a:pPr>
              <a:buFont typeface="Wingdings" panose="05000000000000000000" pitchFamily="2" charset="2"/>
              <a:buNone/>
            </a:pPr>
            <a:r>
              <a:rPr lang="zh-CN" altLang="en-US" sz="1800" noProof="1" smtClean="0"/>
              <a:t>         </a:t>
            </a:r>
            <a:endParaRPr lang="zh-CN" altLang="en-US" sz="2400" noProof="1" smtClean="0"/>
          </a:p>
          <a:p>
            <a:pPr>
              <a:buFont typeface="Wingdings" panose="05000000000000000000" pitchFamily="2" charset="2"/>
              <a:buNone/>
            </a:pPr>
            <a:r>
              <a:rPr lang="zh-CN" altLang="en-US" sz="1800" noProof="1" smtClean="0"/>
              <a:t>        </a:t>
            </a:r>
            <a:endParaRPr lang="zh-CN" altLang="zh-CN" sz="1800" noProof="1" smtClean="0"/>
          </a:p>
        </p:txBody>
      </p:sp>
      <p:sp>
        <p:nvSpPr>
          <p:cNvPr id="87042"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6" name="圆角矩形 5"/>
          <p:cNvSpPr/>
          <p:nvPr/>
        </p:nvSpPr>
        <p:spPr bwMode="gray">
          <a:xfrm>
            <a:off x="488950" y="1844675"/>
            <a:ext cx="7994650" cy="2016125"/>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zh-CN" altLang="en-US" sz="2400" b="1" dirty="0">
                <a:solidFill>
                  <a:srgbClr val="C00000"/>
                </a:solidFill>
              </a:rPr>
              <a:t>实验目的</a:t>
            </a:r>
            <a:r>
              <a:rPr lang="zh-CN" altLang="en-US" sz="2400" b="1" dirty="0">
                <a:solidFill>
                  <a:schemeClr val="tx2"/>
                </a:solidFill>
              </a:rPr>
              <a:t>主要包括：</a:t>
            </a:r>
            <a:endParaRPr lang="en-US" altLang="zh-CN" sz="2400" b="1" dirty="0">
              <a:solidFill>
                <a:schemeClr val="tx2"/>
              </a:solidFill>
            </a:endParaRPr>
          </a:p>
          <a:p>
            <a:pPr indent="446405">
              <a:defRPr/>
            </a:pPr>
            <a:r>
              <a:rPr lang="en-US" altLang="zh-CN" sz="2400" b="1" dirty="0">
                <a:solidFill>
                  <a:schemeClr val="tx2"/>
                </a:solidFill>
              </a:rPr>
              <a:t>1</a:t>
            </a:r>
            <a:r>
              <a:rPr lang="zh-CN" altLang="zh-CN" sz="2400" b="1" dirty="0">
                <a:solidFill>
                  <a:schemeClr val="tx2"/>
                </a:solidFill>
              </a:rPr>
              <a:t>）</a:t>
            </a:r>
            <a:r>
              <a:rPr lang="zh-CN" altLang="en-US" sz="2400" b="1" dirty="0">
                <a:solidFill>
                  <a:schemeClr val="tx2"/>
                </a:solidFill>
              </a:rPr>
              <a:t>理解数字签名的原理，掌握</a:t>
            </a:r>
            <a:r>
              <a:rPr lang="en-US" altLang="zh-CN" sz="2400" b="1" dirty="0">
                <a:solidFill>
                  <a:schemeClr val="tx2"/>
                </a:solidFill>
              </a:rPr>
              <a:t>PDF</a:t>
            </a:r>
            <a:r>
              <a:rPr lang="zh-CN" altLang="en-US" sz="2400" b="1" dirty="0">
                <a:solidFill>
                  <a:schemeClr val="tx2"/>
                </a:solidFill>
              </a:rPr>
              <a:t>文档创建数字身份证书的方法。</a:t>
            </a:r>
            <a:endParaRPr lang="zh-CN" altLang="en-US" sz="2400" b="1" dirty="0">
              <a:solidFill>
                <a:schemeClr val="tx2"/>
              </a:solidFill>
            </a:endParaRPr>
          </a:p>
          <a:p>
            <a:pPr indent="446405">
              <a:defRPr/>
            </a:pPr>
            <a:r>
              <a:rPr lang="en-US" altLang="zh-CN" sz="2400" b="1" dirty="0">
                <a:solidFill>
                  <a:schemeClr val="tx2"/>
                </a:solidFill>
              </a:rPr>
              <a:t>2</a:t>
            </a:r>
            <a:r>
              <a:rPr lang="zh-CN" altLang="en-US" sz="2400" b="1" dirty="0">
                <a:solidFill>
                  <a:schemeClr val="tx2"/>
                </a:solidFill>
              </a:rPr>
              <a:t>）掌握利用数字身份证书给文档签名的方法。</a:t>
            </a:r>
            <a:endParaRPr lang="zh-CN" altLang="en-US" sz="2400" b="1" dirty="0">
              <a:solidFill>
                <a:schemeClr val="tx2"/>
              </a:solidFill>
            </a:endParaRPr>
          </a:p>
          <a:p>
            <a:pPr indent="446405">
              <a:defRPr/>
            </a:pPr>
            <a:r>
              <a:rPr lang="en-US" altLang="zh-CN" sz="2400" b="1" dirty="0">
                <a:solidFill>
                  <a:schemeClr val="tx2"/>
                </a:solidFill>
              </a:rPr>
              <a:t>3</a:t>
            </a:r>
            <a:r>
              <a:rPr lang="zh-CN" altLang="en-US" sz="2400" b="1" dirty="0">
                <a:solidFill>
                  <a:schemeClr val="tx2"/>
                </a:solidFill>
              </a:rPr>
              <a:t>）掌握利用数字签名对文档进行访问控制的方法。</a:t>
            </a:r>
            <a:endParaRPr lang="zh-CN" altLang="en-US" sz="2400" b="1" dirty="0">
              <a:solidFill>
                <a:schemeClr val="tx2"/>
              </a:solidFill>
            </a:endParaRPr>
          </a:p>
        </p:txBody>
      </p:sp>
      <p:sp>
        <p:nvSpPr>
          <p:cNvPr id="87044"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704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6.5 </a:t>
            </a:r>
            <a:r>
              <a:rPr lang="zh-CN" altLang="en-US" sz="3200" b="1">
                <a:solidFill>
                  <a:schemeClr val="bg1"/>
                </a:solidFill>
              </a:rPr>
              <a:t>实验</a:t>
            </a:r>
            <a:r>
              <a:rPr lang="en-US" altLang="zh-CN" sz="3200" b="1">
                <a:solidFill>
                  <a:schemeClr val="bg1"/>
                </a:solidFill>
              </a:rPr>
              <a:t>6</a:t>
            </a:r>
            <a:r>
              <a:rPr lang="zh-CN" altLang="en-US" sz="3200" b="1">
                <a:solidFill>
                  <a:schemeClr val="bg1"/>
                </a:solidFill>
              </a:rPr>
              <a:t>  数字签名与访问控制实验</a:t>
            </a:r>
            <a:endParaRPr lang="zh-CN" altLang="en-US" sz="3200" b="1">
              <a:solidFill>
                <a:schemeClr val="bg1"/>
              </a:solidFill>
            </a:endParaRPr>
          </a:p>
        </p:txBody>
      </p:sp>
      <p:sp>
        <p:nvSpPr>
          <p:cNvPr id="9" name="内容占位符 13"/>
          <p:cNvSpPr txBox="1"/>
          <p:nvPr/>
        </p:nvSpPr>
        <p:spPr bwMode="auto">
          <a:xfrm>
            <a:off x="458788" y="3870325"/>
            <a:ext cx="8153400" cy="260350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a:lstStyle>
          <a:p>
            <a:pPr eaLnBrk="1" hangingPunct="1">
              <a:spcAft>
                <a:spcPts val="600"/>
              </a:spcAft>
              <a:defRPr/>
            </a:pPr>
            <a:r>
              <a:rPr lang="en-US" altLang="zh-CN" sz="2600" kern="0" noProof="1">
                <a:solidFill>
                  <a:srgbClr val="CC0000"/>
                </a:solidFill>
              </a:rPr>
              <a:t>6.5.2</a:t>
            </a:r>
            <a:r>
              <a:rPr lang="zh-CN" altLang="en-US" sz="2600" kern="0" noProof="1">
                <a:solidFill>
                  <a:srgbClr val="CC0000"/>
                </a:solidFill>
              </a:rPr>
              <a:t>实验要求</a:t>
            </a:r>
            <a:endParaRPr lang="en-US" altLang="zh-CN" sz="2600" kern="0" noProof="1">
              <a:solidFill>
                <a:srgbClr val="CC0000"/>
              </a:solidFill>
            </a:endParaRPr>
          </a:p>
          <a:p>
            <a:pPr lvl="1" indent="446405" eaLnBrk="1" hangingPunct="1">
              <a:spcBef>
                <a:spcPct val="0"/>
              </a:spcBef>
              <a:defRPr/>
            </a:pPr>
            <a:r>
              <a:rPr lang="en-US" altLang="zh-CN" sz="2000" b="1" dirty="0">
                <a:sym typeface="+mn-ea"/>
              </a:rPr>
              <a:t>1. </a:t>
            </a:r>
            <a:r>
              <a:rPr lang="zh-CN" altLang="en-US" sz="2000" b="1" dirty="0">
                <a:sym typeface="+mn-ea"/>
              </a:rPr>
              <a:t>实验设备</a:t>
            </a:r>
            <a:endParaRPr lang="zh-CN" altLang="en-US" sz="2000" b="1" dirty="0">
              <a:sym typeface="+mn-ea"/>
            </a:endParaRPr>
          </a:p>
          <a:p>
            <a:pPr lvl="1" indent="0" eaLnBrk="1" hangingPunct="1">
              <a:spcBef>
                <a:spcPct val="0"/>
              </a:spcBef>
              <a:buFont typeface="Wingdings" panose="05000000000000000000" pitchFamily="2" charset="2"/>
              <a:buNone/>
              <a:defRPr/>
            </a:pPr>
            <a:r>
              <a:rPr lang="zh-CN" altLang="en-US" sz="2000" b="1" dirty="0">
                <a:sym typeface="+mn-ea"/>
              </a:rPr>
              <a:t>    本实验需要使用两台安装有</a:t>
            </a:r>
            <a:r>
              <a:rPr lang="en-US" altLang="zh-CN" sz="2000" b="1" dirty="0">
                <a:sym typeface="+mn-ea"/>
              </a:rPr>
              <a:t>Adobe </a:t>
            </a:r>
            <a:r>
              <a:rPr lang="en-US" altLang="zh-CN" sz="2000" b="1" dirty="0" err="1">
                <a:sym typeface="+mn-ea"/>
              </a:rPr>
              <a:t>AcrobatProfessional</a:t>
            </a:r>
            <a:r>
              <a:rPr lang="zh-CN" altLang="en-US" sz="2000" b="1" dirty="0">
                <a:sym typeface="+mn-ea"/>
              </a:rPr>
              <a:t>软件的联网计算机。</a:t>
            </a:r>
            <a:endParaRPr lang="zh-CN" altLang="en-US" sz="2000" b="1" dirty="0">
              <a:sym typeface="+mn-ea"/>
            </a:endParaRPr>
          </a:p>
          <a:p>
            <a:pPr lvl="1" indent="446405" eaLnBrk="1" hangingPunct="1">
              <a:spcBef>
                <a:spcPct val="0"/>
              </a:spcBef>
              <a:defRPr/>
            </a:pPr>
            <a:r>
              <a:rPr lang="en-US" altLang="zh-CN" sz="2400" b="1" dirty="0">
                <a:sym typeface="+mn-ea"/>
              </a:rPr>
              <a:t>2. </a:t>
            </a:r>
            <a:r>
              <a:rPr lang="zh-CN" altLang="en-US" sz="2400" b="1" dirty="0">
                <a:sym typeface="+mn-ea"/>
              </a:rPr>
              <a:t>注意事项</a:t>
            </a:r>
            <a:endParaRPr lang="zh-CN" altLang="en-US" sz="2400" b="1" dirty="0">
              <a:sym typeface="+mn-ea"/>
            </a:endParaRPr>
          </a:p>
          <a:p>
            <a:pPr lvl="2" indent="0" eaLnBrk="1" hangingPunct="1">
              <a:spcBef>
                <a:spcPct val="0"/>
              </a:spcBef>
              <a:buFont typeface="Wingdings" panose="05000000000000000000" pitchFamily="2" charset="2"/>
              <a:buNone/>
              <a:defRPr/>
            </a:pPr>
            <a:r>
              <a:rPr lang="en-US" altLang="zh-CN" sz="2000" b="1" dirty="0">
                <a:sym typeface="+mn-ea"/>
              </a:rPr>
              <a:t>1</a:t>
            </a:r>
            <a:r>
              <a:rPr lang="zh-CN" altLang="en-US" sz="2000" b="1" dirty="0">
                <a:sym typeface="+mn-ea"/>
              </a:rPr>
              <a:t>）预习准备。掌握数字签名的原理及过程，了解实验原理及操作步骤的含义。</a:t>
            </a:r>
            <a:endParaRPr lang="zh-CN" altLang="en-US" sz="2000" b="1" dirty="0">
              <a:sym typeface="+mn-ea"/>
            </a:endParaRPr>
          </a:p>
          <a:p>
            <a:pPr lvl="2" indent="0" eaLnBrk="1" hangingPunct="1">
              <a:spcBef>
                <a:spcPct val="0"/>
              </a:spcBef>
              <a:buFont typeface="Wingdings" panose="05000000000000000000" pitchFamily="2" charset="2"/>
              <a:buNone/>
              <a:defRPr/>
            </a:pPr>
            <a:r>
              <a:rPr lang="en-US" altLang="zh-CN" sz="2000" b="1" dirty="0">
                <a:sym typeface="+mn-ea"/>
              </a:rPr>
              <a:t>2</a:t>
            </a:r>
            <a:r>
              <a:rPr lang="zh-CN" altLang="en-US" sz="2000" b="1" dirty="0">
                <a:sym typeface="+mn-ea"/>
              </a:rPr>
              <a:t>）建议实验学时：</a:t>
            </a:r>
            <a:r>
              <a:rPr lang="en-US" altLang="zh-CN" sz="2000" b="1" dirty="0">
                <a:sym typeface="+mn-ea"/>
              </a:rPr>
              <a:t>2</a:t>
            </a:r>
            <a:r>
              <a:rPr lang="zh-CN" altLang="en-US" sz="2000" b="1" dirty="0">
                <a:sym typeface="+mn-ea"/>
              </a:rPr>
              <a:t>学时。 </a:t>
            </a:r>
            <a:endParaRPr lang="zh-CN" altLang="en-US" sz="2400" b="1" kern="0" noProof="1"/>
          </a:p>
          <a:p>
            <a:pPr>
              <a:buFont typeface="Wingdings" panose="05000000000000000000" pitchFamily="2" charset="2"/>
              <a:buNone/>
              <a:defRPr/>
            </a:pPr>
            <a:r>
              <a:rPr lang="zh-CN" altLang="en-US" sz="1800" kern="0" noProof="1"/>
              <a:t>        </a:t>
            </a:r>
            <a:endParaRPr lang="en-US" altLang="zh-CN" sz="1800" kern="0" noProof="1"/>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88066"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8067"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8068"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8806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57200" y="1600200"/>
            <a:ext cx="7994650" cy="1974850"/>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zh-CN" altLang="en-US" sz="2400" b="1" dirty="0">
                <a:solidFill>
                  <a:schemeClr val="tx2"/>
                </a:solidFill>
              </a:rPr>
              <a:t>利用</a:t>
            </a:r>
            <a:r>
              <a:rPr lang="en-US" altLang="zh-CN" sz="2400" b="1" dirty="0">
                <a:solidFill>
                  <a:schemeClr val="tx2"/>
                </a:solidFill>
              </a:rPr>
              <a:t>Adobe Acrobat Professional</a:t>
            </a:r>
            <a:r>
              <a:rPr lang="zh-CN" altLang="en-US" sz="2400" b="1" dirty="0">
                <a:solidFill>
                  <a:schemeClr val="tx2"/>
                </a:solidFill>
              </a:rPr>
              <a:t>软件自带的数字身份证书生成及数字签名等功能，能够在电子文件传递过程中识别双方身份，保证文件的安全性和真实性以及不可抵赖性，起到手写签名或者盖章同等作用的签名的电子技术手段。</a:t>
            </a:r>
            <a:endParaRPr lang="zh-CN" altLang="en-US" sz="2400" b="1" dirty="0">
              <a:solidFill>
                <a:schemeClr val="tx2"/>
              </a:solidFill>
            </a:endParaRPr>
          </a:p>
        </p:txBody>
      </p:sp>
      <p:pic>
        <p:nvPicPr>
          <p:cNvPr id="88071" name="图片 2"/>
          <p:cNvPicPr>
            <a:picLocks noChangeAspect="1" noChangeArrowheads="1"/>
          </p:cNvPicPr>
          <p:nvPr/>
        </p:nvPicPr>
        <p:blipFill>
          <a:blip r:embed="rId1" cstate="print"/>
          <a:srcRect/>
          <a:stretch>
            <a:fillRect/>
          </a:stretch>
        </p:blipFill>
        <p:spPr bwMode="auto">
          <a:xfrm>
            <a:off x="2362200" y="3576638"/>
            <a:ext cx="4511675" cy="3128962"/>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89090"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9091"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89092"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89093"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57200" y="1630363"/>
            <a:ext cx="7994650" cy="2028825"/>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1</a:t>
            </a:r>
            <a:r>
              <a:rPr lang="zh-CN" altLang="en-US" sz="2000" b="1" dirty="0">
                <a:solidFill>
                  <a:schemeClr val="tx2"/>
                </a:solidFill>
              </a:rPr>
              <a:t>）打开</a:t>
            </a:r>
            <a:r>
              <a:rPr lang="en-US" altLang="zh-CN" sz="2000" b="1" dirty="0">
                <a:solidFill>
                  <a:schemeClr val="tx2"/>
                </a:solidFill>
              </a:rPr>
              <a:t>Adobe Acrobat Professional 10.1.0</a:t>
            </a:r>
            <a:r>
              <a:rPr lang="zh-CN" altLang="en-US" sz="2000" b="1" dirty="0">
                <a:solidFill>
                  <a:schemeClr val="tx2"/>
                </a:solidFill>
              </a:rPr>
              <a:t>，选择“文件”选项卡中“属性”按钮，打开“文档属性”对话框，选择“安全性”选项卡中安全性方法为“证书安全性” 。在打开的“证书安全性设置”对话框中输入证书安全性策略的一般信息，如“策略名称”及“加密算法” 。</a:t>
            </a:r>
            <a:endParaRPr lang="zh-CN" altLang="en-US" sz="2000" b="1" dirty="0">
              <a:solidFill>
                <a:schemeClr val="tx2"/>
              </a:solidFill>
            </a:endParaRPr>
          </a:p>
        </p:txBody>
      </p:sp>
      <p:pic>
        <p:nvPicPr>
          <p:cNvPr id="89095" name="图片 9"/>
          <p:cNvPicPr>
            <a:picLocks noChangeAspect="1" noChangeArrowheads="1"/>
          </p:cNvPicPr>
          <p:nvPr/>
        </p:nvPicPr>
        <p:blipFill>
          <a:blip r:embed="rId1" cstate="print"/>
          <a:srcRect r="620" b="1279"/>
          <a:stretch>
            <a:fillRect/>
          </a:stretch>
        </p:blipFill>
        <p:spPr bwMode="auto">
          <a:xfrm>
            <a:off x="755650" y="3714750"/>
            <a:ext cx="3652838" cy="2738438"/>
          </a:xfrm>
          <a:prstGeom prst="rect">
            <a:avLst/>
          </a:prstGeom>
          <a:noFill/>
          <a:ln w="9525">
            <a:noFill/>
            <a:miter lim="800000"/>
            <a:headEnd/>
            <a:tailEnd/>
          </a:ln>
        </p:spPr>
      </p:pic>
      <p:pic>
        <p:nvPicPr>
          <p:cNvPr id="89096" name="图片 10"/>
          <p:cNvPicPr>
            <a:picLocks noChangeAspect="1" noChangeArrowheads="1"/>
          </p:cNvPicPr>
          <p:nvPr/>
        </p:nvPicPr>
        <p:blipFill>
          <a:blip r:embed="rId2" cstate="print"/>
          <a:srcRect b="854"/>
          <a:stretch>
            <a:fillRect/>
          </a:stretch>
        </p:blipFill>
        <p:spPr bwMode="auto">
          <a:xfrm>
            <a:off x="4492625" y="3714750"/>
            <a:ext cx="3679825" cy="2738438"/>
          </a:xfrm>
          <a:prstGeom prst="rect">
            <a:avLst/>
          </a:prstGeom>
          <a:noFill/>
          <a:ln w="9525">
            <a:noFill/>
            <a:miter lim="800000"/>
            <a:headEnd/>
            <a:tailEnd/>
          </a:ln>
        </p:spPr>
      </p:pic>
      <p:sp>
        <p:nvSpPr>
          <p:cNvPr id="2" name="矩形 1"/>
          <p:cNvSpPr/>
          <p:nvPr/>
        </p:nvSpPr>
        <p:spPr>
          <a:xfrm>
            <a:off x="1119188" y="6335713"/>
            <a:ext cx="6981825" cy="360362"/>
          </a:xfrm>
          <a:prstGeom prst="rect">
            <a:avLst/>
          </a:prstGeom>
        </p:spPr>
        <p:txBody>
          <a:bodyPr>
            <a:spAutoFit/>
          </a:bodyPr>
          <a:lstStyle/>
          <a:p>
            <a:pPr algn="ctr" eaLnBrk="0" hangingPunct="0">
              <a:lnSpc>
                <a:spcPct val="120000"/>
              </a:lnSpc>
              <a:spcBef>
                <a:spcPts val="240"/>
              </a:spcBef>
              <a:spcAft>
                <a:spcPts val="240"/>
              </a:spcAft>
              <a:defRPr/>
            </a:pPr>
            <a:r>
              <a:rPr lang="zh-CN" altLang="zh-CN" sz="1600" b="1" kern="0" dirty="0">
                <a:solidFill>
                  <a:srgbClr val="0000FF"/>
                </a:solidFill>
                <a:latin typeface="Times New Roman" panose="02020603050405020304" pitchFamily="18" charset="0"/>
              </a:rPr>
              <a:t>设置“证书安全性”</a:t>
            </a:r>
            <a:r>
              <a:rPr lang="en-US" altLang="zh-CN" sz="1600" b="1" kern="0" dirty="0">
                <a:solidFill>
                  <a:srgbClr val="0000FF"/>
                </a:solidFill>
                <a:latin typeface="Times New Roman" panose="02020603050405020304" pitchFamily="18" charset="0"/>
              </a:rPr>
              <a:t>                          </a:t>
            </a:r>
            <a:r>
              <a:rPr lang="zh-CN" altLang="zh-CN" sz="1600" b="1" kern="0" dirty="0">
                <a:solidFill>
                  <a:srgbClr val="0000FF"/>
                </a:solidFill>
                <a:latin typeface="Times New Roman" panose="02020603050405020304" pitchFamily="18" charset="0"/>
              </a:rPr>
              <a:t>设置“证书安全性策略名称”</a:t>
            </a:r>
            <a:endParaRPr lang="zh-CN" altLang="zh-CN" sz="2000" b="1" kern="100" dirty="0">
              <a:solidFill>
                <a:srgbClr val="0000FF"/>
              </a:solidFill>
              <a:latin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0114"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0115"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0116"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0117"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192246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2</a:t>
            </a:r>
            <a:r>
              <a:rPr lang="zh-CN" altLang="en-US" sz="2000" b="1" dirty="0">
                <a:solidFill>
                  <a:schemeClr val="tx2"/>
                </a:solidFill>
              </a:rPr>
              <a:t>）在“文档安全性</a:t>
            </a:r>
            <a:r>
              <a:rPr lang="en-US" altLang="zh-CN" sz="2000" b="1" dirty="0">
                <a:solidFill>
                  <a:schemeClr val="tx2"/>
                </a:solidFill>
              </a:rPr>
              <a:t>-</a:t>
            </a:r>
            <a:r>
              <a:rPr lang="zh-CN" altLang="en-US" sz="2000" b="1" dirty="0">
                <a:solidFill>
                  <a:schemeClr val="tx2"/>
                </a:solidFill>
              </a:rPr>
              <a:t>选择数字身份证”对话框中，选择“添加数字身份证</a:t>
            </a:r>
            <a:r>
              <a:rPr lang="en-US" altLang="zh-CN" sz="2000" b="1" dirty="0">
                <a:solidFill>
                  <a:schemeClr val="tx2"/>
                </a:solidFill>
              </a:rPr>
              <a:t>(A)”</a:t>
            </a:r>
            <a:r>
              <a:rPr lang="zh-CN" altLang="en-US" sz="2000" b="1" dirty="0">
                <a:solidFill>
                  <a:schemeClr val="tx2"/>
                </a:solidFill>
              </a:rPr>
              <a:t>，要创建新的证书，需在“数字身份选定时段”单选框中选择“下次询问我要使用哪个数字身份证（</a:t>
            </a:r>
            <a:r>
              <a:rPr lang="en-US" altLang="zh-CN" sz="2000" b="1" dirty="0">
                <a:solidFill>
                  <a:schemeClr val="tx2"/>
                </a:solidFill>
              </a:rPr>
              <a:t>N</a:t>
            </a:r>
            <a:r>
              <a:rPr lang="zh-CN" altLang="en-US" sz="2000" b="1" dirty="0">
                <a:solidFill>
                  <a:schemeClr val="tx2"/>
                </a:solidFill>
              </a:rPr>
              <a:t>）”，点击“确定” 。在打开的“添加数字身份证”对话框中选择“我要立即创建的新数字身份证”。</a:t>
            </a:r>
            <a:endParaRPr lang="zh-CN" altLang="en-US" sz="2000" b="1" dirty="0">
              <a:solidFill>
                <a:schemeClr val="tx2"/>
              </a:solidFill>
            </a:endParaRPr>
          </a:p>
        </p:txBody>
      </p:sp>
      <p:sp>
        <p:nvSpPr>
          <p:cNvPr id="2" name="矩形 1"/>
          <p:cNvSpPr/>
          <p:nvPr/>
        </p:nvSpPr>
        <p:spPr>
          <a:xfrm>
            <a:off x="1042988" y="6416675"/>
            <a:ext cx="6983412" cy="360363"/>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设置“证书安全性”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设置“证书安全性策略名称”</a:t>
            </a:r>
            <a:endParaRPr lang="zh-CN" altLang="zh-CN" sz="2000" b="1" kern="100" dirty="0">
              <a:solidFill>
                <a:srgbClr val="0000FF"/>
              </a:solidFill>
              <a:latin typeface="Times New Roman" panose="02020603050405020304" pitchFamily="18" charset="0"/>
            </a:endParaRPr>
          </a:p>
        </p:txBody>
      </p:sp>
      <p:pic>
        <p:nvPicPr>
          <p:cNvPr id="90120" name="图片 11"/>
          <p:cNvPicPr>
            <a:picLocks noChangeAspect="1" noChangeArrowheads="1"/>
          </p:cNvPicPr>
          <p:nvPr/>
        </p:nvPicPr>
        <p:blipFill>
          <a:blip r:embed="rId1" cstate="print"/>
          <a:srcRect/>
          <a:stretch>
            <a:fillRect/>
          </a:stretch>
        </p:blipFill>
        <p:spPr bwMode="auto">
          <a:xfrm>
            <a:off x="457200" y="3698875"/>
            <a:ext cx="3590925" cy="2754313"/>
          </a:xfrm>
          <a:prstGeom prst="rect">
            <a:avLst/>
          </a:prstGeom>
          <a:noFill/>
          <a:ln w="9525">
            <a:noFill/>
            <a:miter lim="800000"/>
            <a:headEnd/>
            <a:tailEnd/>
          </a:ln>
        </p:spPr>
      </p:pic>
      <p:pic>
        <p:nvPicPr>
          <p:cNvPr id="90121" name="图片 12"/>
          <p:cNvPicPr>
            <a:picLocks noChangeAspect="1" noChangeArrowheads="1"/>
          </p:cNvPicPr>
          <p:nvPr/>
        </p:nvPicPr>
        <p:blipFill>
          <a:blip r:embed="rId2" cstate="print"/>
          <a:srcRect/>
          <a:stretch>
            <a:fillRect/>
          </a:stretch>
        </p:blipFill>
        <p:spPr bwMode="auto">
          <a:xfrm>
            <a:off x="4200525" y="3698875"/>
            <a:ext cx="3660775" cy="2754313"/>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1138"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1139"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1140"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1141"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10398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3</a:t>
            </a:r>
            <a:r>
              <a:rPr lang="zh-CN" altLang="en-US" sz="2000" b="1" dirty="0">
                <a:solidFill>
                  <a:schemeClr val="tx2"/>
                </a:solidFill>
              </a:rPr>
              <a:t>）选择签名数字身份证的存储位置；填写数字身份证信息。</a:t>
            </a:r>
            <a:endParaRPr lang="zh-CN" altLang="en-US" sz="2000" b="1" dirty="0">
              <a:solidFill>
                <a:schemeClr val="tx2"/>
              </a:solidFill>
            </a:endParaRPr>
          </a:p>
        </p:txBody>
      </p:sp>
      <p:sp>
        <p:nvSpPr>
          <p:cNvPr id="2" name="矩形 1"/>
          <p:cNvSpPr/>
          <p:nvPr/>
        </p:nvSpPr>
        <p:spPr>
          <a:xfrm>
            <a:off x="827088" y="6200775"/>
            <a:ext cx="6983412" cy="358775"/>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设置证书存储位置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设置证书的身份信息  </a:t>
            </a:r>
            <a:endParaRPr lang="zh-CN" altLang="zh-CN" sz="2000" b="1" kern="100" dirty="0">
              <a:solidFill>
                <a:srgbClr val="0000FF"/>
              </a:solidFill>
              <a:latin typeface="Times New Roman" panose="02020603050405020304" pitchFamily="18" charset="0"/>
            </a:endParaRPr>
          </a:p>
        </p:txBody>
      </p:sp>
      <p:pic>
        <p:nvPicPr>
          <p:cNvPr id="91144" name="图片 10"/>
          <p:cNvPicPr>
            <a:picLocks noChangeAspect="1" noChangeArrowheads="1"/>
          </p:cNvPicPr>
          <p:nvPr/>
        </p:nvPicPr>
        <p:blipFill>
          <a:blip r:embed="rId1" cstate="print"/>
          <a:srcRect/>
          <a:stretch>
            <a:fillRect/>
          </a:stretch>
        </p:blipFill>
        <p:spPr bwMode="auto">
          <a:xfrm>
            <a:off x="457200" y="2862263"/>
            <a:ext cx="3994150" cy="3216275"/>
          </a:xfrm>
          <a:prstGeom prst="rect">
            <a:avLst/>
          </a:prstGeom>
          <a:noFill/>
          <a:ln w="9525">
            <a:noFill/>
            <a:miter lim="800000"/>
            <a:headEnd/>
            <a:tailEnd/>
          </a:ln>
        </p:spPr>
      </p:pic>
      <p:pic>
        <p:nvPicPr>
          <p:cNvPr id="91145" name="图片 13"/>
          <p:cNvPicPr>
            <a:picLocks noChangeAspect="1" noChangeArrowheads="1"/>
          </p:cNvPicPr>
          <p:nvPr/>
        </p:nvPicPr>
        <p:blipFill>
          <a:blip r:embed="rId2" cstate="print"/>
          <a:srcRect/>
          <a:stretch>
            <a:fillRect/>
          </a:stretch>
        </p:blipFill>
        <p:spPr bwMode="auto">
          <a:xfrm>
            <a:off x="4513263" y="2860675"/>
            <a:ext cx="3816350" cy="3227388"/>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2162"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2163"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2164"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216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7994650" cy="93186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4</a:t>
            </a:r>
            <a:r>
              <a:rPr lang="zh-CN" altLang="en-US" sz="2000" b="1" dirty="0">
                <a:solidFill>
                  <a:schemeClr val="tx2"/>
                </a:solidFill>
              </a:rPr>
              <a:t>）设置数字身份证书的使用口令；设置证书的存储位置。</a:t>
            </a:r>
            <a:endParaRPr lang="zh-CN" altLang="en-US" sz="2000" b="1" dirty="0">
              <a:solidFill>
                <a:schemeClr val="tx2"/>
              </a:solidFill>
            </a:endParaRPr>
          </a:p>
        </p:txBody>
      </p:sp>
      <p:sp>
        <p:nvSpPr>
          <p:cNvPr id="2" name="矩形 1"/>
          <p:cNvSpPr/>
          <p:nvPr/>
        </p:nvSpPr>
        <p:spPr>
          <a:xfrm>
            <a:off x="806450" y="5927725"/>
            <a:ext cx="6981825"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设置签名及解密口令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设置证书存放位置及名称 </a:t>
            </a:r>
            <a:endParaRPr lang="zh-CN" altLang="zh-CN" sz="2000" b="1" kern="100" dirty="0">
              <a:solidFill>
                <a:srgbClr val="0000FF"/>
              </a:solidFill>
              <a:latin typeface="Times New Roman" panose="02020603050405020304" pitchFamily="18" charset="0"/>
            </a:endParaRPr>
          </a:p>
        </p:txBody>
      </p:sp>
      <p:pic>
        <p:nvPicPr>
          <p:cNvPr id="92168" name="图片 11"/>
          <p:cNvPicPr>
            <a:picLocks noChangeAspect="1" noChangeArrowheads="1"/>
          </p:cNvPicPr>
          <p:nvPr/>
        </p:nvPicPr>
        <p:blipFill>
          <a:blip r:embed="rId1" cstate="print"/>
          <a:srcRect/>
          <a:stretch>
            <a:fillRect/>
          </a:stretch>
        </p:blipFill>
        <p:spPr bwMode="auto">
          <a:xfrm>
            <a:off x="396875" y="2689225"/>
            <a:ext cx="3670300" cy="3073400"/>
          </a:xfrm>
          <a:prstGeom prst="rect">
            <a:avLst/>
          </a:prstGeom>
          <a:noFill/>
          <a:ln w="9525">
            <a:noFill/>
            <a:miter lim="800000"/>
            <a:headEnd/>
            <a:tailEnd/>
          </a:ln>
        </p:spPr>
      </p:pic>
      <p:pic>
        <p:nvPicPr>
          <p:cNvPr id="92169" name="图片 12"/>
          <p:cNvPicPr>
            <a:picLocks noChangeAspect="1" noChangeArrowheads="1"/>
          </p:cNvPicPr>
          <p:nvPr/>
        </p:nvPicPr>
        <p:blipFill>
          <a:blip r:embed="rId2" cstate="print"/>
          <a:srcRect l="774" b="404"/>
          <a:stretch>
            <a:fillRect/>
          </a:stretch>
        </p:blipFill>
        <p:spPr bwMode="auto">
          <a:xfrm>
            <a:off x="4133850" y="2690813"/>
            <a:ext cx="4138613" cy="3071812"/>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3186"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3187"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3188"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318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395288" y="1612900"/>
            <a:ext cx="7994650" cy="1449388"/>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1. </a:t>
            </a:r>
            <a:r>
              <a:rPr lang="zh-CN" altLang="en-US" sz="2400" b="1" dirty="0">
                <a:solidFill>
                  <a:srgbClr val="C00000"/>
                </a:solidFill>
              </a:rPr>
              <a:t>创建数字身份证书</a:t>
            </a:r>
            <a:endParaRPr lang="zh-CN" altLang="en-US" sz="2400" b="1" dirty="0">
              <a:solidFill>
                <a:srgbClr val="C00000"/>
              </a:solidFill>
            </a:endParaRPr>
          </a:p>
          <a:p>
            <a:pPr lvl="1">
              <a:defRPr/>
            </a:pPr>
            <a:r>
              <a:rPr lang="en-US" altLang="zh-CN" sz="2000" b="1" dirty="0">
                <a:solidFill>
                  <a:schemeClr val="tx2"/>
                </a:solidFill>
              </a:rPr>
              <a:t>    5</a:t>
            </a:r>
            <a:r>
              <a:rPr lang="zh-CN" altLang="en-US" sz="2000" b="1" dirty="0">
                <a:solidFill>
                  <a:schemeClr val="tx2"/>
                </a:solidFill>
              </a:rPr>
              <a:t>）选择新生成的数字身份证书并设置其选定时限；设置证书许可的收件人信息。点击“下一步”确定数字签名证书的完成，最后生成扩展名为 </a:t>
            </a:r>
            <a:r>
              <a:rPr lang="en-US" altLang="zh-CN" sz="2000" b="1" dirty="0">
                <a:solidFill>
                  <a:schemeClr val="tx2"/>
                </a:solidFill>
              </a:rPr>
              <a:t>.</a:t>
            </a:r>
            <a:r>
              <a:rPr lang="en-US" altLang="zh-CN" sz="2000" b="1" dirty="0" err="1">
                <a:solidFill>
                  <a:schemeClr val="tx2"/>
                </a:solidFill>
              </a:rPr>
              <a:t>pfx</a:t>
            </a:r>
            <a:r>
              <a:rPr lang="en-US" altLang="zh-CN" sz="2000" b="1" dirty="0">
                <a:solidFill>
                  <a:schemeClr val="tx2"/>
                </a:solidFill>
              </a:rPr>
              <a:t> </a:t>
            </a:r>
            <a:r>
              <a:rPr lang="zh-CN" altLang="en-US" sz="2000" b="1" dirty="0">
                <a:solidFill>
                  <a:schemeClr val="tx2"/>
                </a:solidFill>
              </a:rPr>
              <a:t>的数字签名文件。</a:t>
            </a:r>
            <a:endParaRPr lang="zh-CN" altLang="en-US" sz="2000" b="1" dirty="0">
              <a:solidFill>
                <a:schemeClr val="tx2"/>
              </a:solidFill>
            </a:endParaRPr>
          </a:p>
        </p:txBody>
      </p:sp>
      <p:sp>
        <p:nvSpPr>
          <p:cNvPr id="2" name="矩形 1"/>
          <p:cNvSpPr/>
          <p:nvPr/>
        </p:nvSpPr>
        <p:spPr>
          <a:xfrm>
            <a:off x="639763" y="5927725"/>
            <a:ext cx="6981825"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选择新生成的数字证书                                        设置证书许可收件人</a:t>
            </a:r>
            <a:endParaRPr lang="zh-CN" altLang="zh-CN" sz="2000" b="1" kern="100" dirty="0">
              <a:solidFill>
                <a:srgbClr val="0000FF"/>
              </a:solidFill>
              <a:latin typeface="Times New Roman" panose="02020603050405020304" pitchFamily="18" charset="0"/>
            </a:endParaRPr>
          </a:p>
        </p:txBody>
      </p:sp>
      <p:pic>
        <p:nvPicPr>
          <p:cNvPr id="93192" name="图片 10"/>
          <p:cNvPicPr>
            <a:picLocks noChangeAspect="1" noChangeArrowheads="1"/>
          </p:cNvPicPr>
          <p:nvPr/>
        </p:nvPicPr>
        <p:blipFill>
          <a:blip r:embed="rId1" cstate="print"/>
          <a:srcRect l="20575" t="8305" r="20502" b="13124"/>
          <a:stretch>
            <a:fillRect/>
          </a:stretch>
        </p:blipFill>
        <p:spPr bwMode="auto">
          <a:xfrm>
            <a:off x="639763" y="3122613"/>
            <a:ext cx="3497262" cy="2805112"/>
          </a:xfrm>
          <a:prstGeom prst="rect">
            <a:avLst/>
          </a:prstGeom>
          <a:noFill/>
          <a:ln w="9525">
            <a:noFill/>
            <a:miter lim="800000"/>
            <a:headEnd/>
            <a:tailEnd/>
          </a:ln>
        </p:spPr>
      </p:pic>
      <p:pic>
        <p:nvPicPr>
          <p:cNvPr id="93193" name="图片 13"/>
          <p:cNvPicPr>
            <a:picLocks noChangeAspect="1" noChangeArrowheads="1"/>
          </p:cNvPicPr>
          <p:nvPr/>
        </p:nvPicPr>
        <p:blipFill>
          <a:blip r:embed="rId2" cstate="print"/>
          <a:srcRect l="20392" t="8305" r="20413" b="13283"/>
          <a:stretch>
            <a:fillRect/>
          </a:stretch>
        </p:blipFill>
        <p:spPr bwMode="auto">
          <a:xfrm>
            <a:off x="4273550" y="3122613"/>
            <a:ext cx="3663950" cy="2805112"/>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4210"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4211"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4212"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4213"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376487"/>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2.</a:t>
            </a:r>
            <a:r>
              <a:rPr lang="zh-CN" altLang="en-US" sz="2400" b="1" dirty="0">
                <a:solidFill>
                  <a:srgbClr val="C00000"/>
                </a:solidFill>
              </a:rPr>
              <a:t>文档签名</a:t>
            </a:r>
            <a:endParaRPr lang="zh-CN" altLang="en-US" sz="2400" b="1" dirty="0">
              <a:solidFill>
                <a:srgbClr val="C00000"/>
              </a:solidFill>
            </a:endParaRPr>
          </a:p>
          <a:p>
            <a:pPr lvl="1" algn="just">
              <a:defRPr/>
            </a:pPr>
            <a:r>
              <a:rPr lang="en-US" altLang="zh-CN" sz="2000" b="1" dirty="0">
                <a:solidFill>
                  <a:schemeClr val="tx2"/>
                </a:solidFill>
              </a:rPr>
              <a:t>    Adobe Acrobat Professional</a:t>
            </a:r>
            <a:r>
              <a:rPr lang="zh-CN" altLang="en-US" sz="2000" b="1" dirty="0">
                <a:solidFill>
                  <a:schemeClr val="tx2"/>
                </a:solidFill>
              </a:rPr>
              <a:t>提供个性化文档签名方式，在“工具”选项卡的“签名和验证”中选择“签名文档”，会在打开的</a:t>
            </a:r>
            <a:r>
              <a:rPr lang="en-US" altLang="zh-CN" sz="2000" b="1" dirty="0">
                <a:solidFill>
                  <a:schemeClr val="tx2"/>
                </a:solidFill>
              </a:rPr>
              <a:t>PDF</a:t>
            </a:r>
            <a:r>
              <a:rPr lang="zh-CN" altLang="en-US" sz="2000" b="1" dirty="0">
                <a:solidFill>
                  <a:schemeClr val="tx2"/>
                </a:solidFill>
              </a:rPr>
              <a:t>文档上出现“签名区”及“签名文档”对话框，在“签名为”下拉文本框中选择所需签名的数字证书并输入对应的口令，在“外观”区选择签名的外观及文字信息，即可实现文档的数字签名。这里也可以采用自己的手写签名图片等个性化设置。</a:t>
            </a:r>
            <a:endParaRPr lang="zh-CN" altLang="en-US" sz="2000" b="1" dirty="0">
              <a:solidFill>
                <a:schemeClr val="tx2"/>
              </a:solidFill>
            </a:endParaRPr>
          </a:p>
        </p:txBody>
      </p:sp>
      <p:sp>
        <p:nvSpPr>
          <p:cNvPr id="2" name="矩形 1"/>
          <p:cNvSpPr/>
          <p:nvPr/>
        </p:nvSpPr>
        <p:spPr>
          <a:xfrm>
            <a:off x="457200" y="6218238"/>
            <a:ext cx="7739063" cy="360362"/>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用证书设置</a:t>
            </a:r>
            <a:r>
              <a:rPr lang="en-US" altLang="zh-CN" sz="1600" b="1" kern="0" dirty="0">
                <a:solidFill>
                  <a:srgbClr val="0000FF"/>
                </a:solidFill>
                <a:latin typeface="Times New Roman" panose="02020603050405020304" pitchFamily="18" charset="0"/>
              </a:rPr>
              <a:t>PDF</a:t>
            </a:r>
            <a:r>
              <a:rPr lang="zh-CN" altLang="en-US" sz="1600" b="1" kern="0" dirty="0">
                <a:solidFill>
                  <a:srgbClr val="0000FF"/>
                </a:solidFill>
                <a:latin typeface="Times New Roman" panose="02020603050405020304" pitchFamily="18" charset="0"/>
              </a:rPr>
              <a:t>文档的数字签名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已签好的</a:t>
            </a:r>
            <a:r>
              <a:rPr lang="en-US" altLang="zh-CN" sz="1600" b="1" kern="0" dirty="0">
                <a:solidFill>
                  <a:srgbClr val="0000FF"/>
                </a:solidFill>
                <a:latin typeface="Times New Roman" panose="02020603050405020304" pitchFamily="18" charset="0"/>
              </a:rPr>
              <a:t>PDF</a:t>
            </a:r>
            <a:r>
              <a:rPr lang="zh-CN" altLang="en-US" sz="1600" b="1" kern="0" dirty="0">
                <a:solidFill>
                  <a:srgbClr val="0000FF"/>
                </a:solidFill>
                <a:latin typeface="Times New Roman" panose="02020603050405020304" pitchFamily="18" charset="0"/>
              </a:rPr>
              <a:t>文档的数字签名</a:t>
            </a:r>
            <a:endParaRPr lang="zh-CN" altLang="zh-CN" sz="2000" b="1" kern="100" dirty="0">
              <a:solidFill>
                <a:srgbClr val="0000FF"/>
              </a:solidFill>
              <a:latin typeface="Times New Roman" panose="02020603050405020304" pitchFamily="18" charset="0"/>
            </a:endParaRPr>
          </a:p>
        </p:txBody>
      </p:sp>
      <p:pic>
        <p:nvPicPr>
          <p:cNvPr id="94216" name="图片 11"/>
          <p:cNvPicPr>
            <a:picLocks noChangeAspect="1" noChangeArrowheads="1"/>
          </p:cNvPicPr>
          <p:nvPr/>
        </p:nvPicPr>
        <p:blipFill>
          <a:blip r:embed="rId1" cstate="print"/>
          <a:srcRect l="37004" t="9085" r="-180" b="4482"/>
          <a:stretch>
            <a:fillRect/>
          </a:stretch>
        </p:blipFill>
        <p:spPr bwMode="auto">
          <a:xfrm>
            <a:off x="971550" y="4132263"/>
            <a:ext cx="2808288" cy="2033587"/>
          </a:xfrm>
          <a:prstGeom prst="rect">
            <a:avLst/>
          </a:prstGeom>
          <a:noFill/>
          <a:ln w="9525">
            <a:noFill/>
            <a:miter lim="800000"/>
            <a:headEnd/>
            <a:tailEnd/>
          </a:ln>
        </p:spPr>
      </p:pic>
      <p:pic>
        <p:nvPicPr>
          <p:cNvPr id="94217" name="图片 12"/>
          <p:cNvPicPr>
            <a:picLocks noChangeAspect="1" noChangeArrowheads="1"/>
          </p:cNvPicPr>
          <p:nvPr/>
        </p:nvPicPr>
        <p:blipFill>
          <a:blip r:embed="rId2" cstate="print"/>
          <a:srcRect l="1781" b="9161"/>
          <a:stretch>
            <a:fillRect/>
          </a:stretch>
        </p:blipFill>
        <p:spPr bwMode="auto">
          <a:xfrm>
            <a:off x="4829175" y="4151313"/>
            <a:ext cx="3198813" cy="2014537"/>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5234"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5235"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5236"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5237"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3.</a:t>
            </a:r>
            <a:r>
              <a:rPr lang="zh-CN" altLang="en-US" sz="2400" b="1" dirty="0">
                <a:solidFill>
                  <a:srgbClr val="C00000"/>
                </a:solidFill>
              </a:rPr>
              <a:t>发送签名文件及授权</a:t>
            </a:r>
            <a:endParaRPr lang="zh-CN" altLang="en-US" sz="2400" b="1" dirty="0">
              <a:solidFill>
                <a:srgbClr val="C00000"/>
              </a:solidFill>
            </a:endParaRPr>
          </a:p>
          <a:p>
            <a:pPr lvl="1" algn="just">
              <a:defRPr/>
            </a:pPr>
            <a:r>
              <a:rPr lang="en-US" altLang="zh-CN" sz="2000" b="1" dirty="0">
                <a:solidFill>
                  <a:schemeClr val="tx2"/>
                </a:solidFill>
              </a:rPr>
              <a:t>    1</a:t>
            </a:r>
            <a:r>
              <a:rPr lang="zh-CN" altLang="en-US" sz="2000" b="1" dirty="0">
                <a:solidFill>
                  <a:schemeClr val="tx2"/>
                </a:solidFill>
              </a:rPr>
              <a:t>）第一次发送已签名的文件给客户，需要同时传送自己的授权证书。在已实现数字签名的文档上，点击签名信息，则弹出的“签名验证状态”对话框中，点击“签名属性”按钮，弹出“签名属性”对话框，可显示文档的签名信息、签名者、时间及法律声明等信息。</a:t>
            </a:r>
            <a:endParaRPr lang="zh-CN" altLang="en-US" sz="2000" b="1" dirty="0">
              <a:solidFill>
                <a:schemeClr val="tx2"/>
              </a:solidFill>
            </a:endParaRPr>
          </a:p>
        </p:txBody>
      </p:sp>
      <p:pic>
        <p:nvPicPr>
          <p:cNvPr id="95239" name="图片 10"/>
          <p:cNvPicPr>
            <a:picLocks noChangeAspect="1" noChangeArrowheads="1"/>
          </p:cNvPicPr>
          <p:nvPr/>
        </p:nvPicPr>
        <p:blipFill>
          <a:blip r:embed="rId1" cstate="print"/>
          <a:srcRect l="471" t="21951" r="30928" b="17131"/>
          <a:stretch>
            <a:fillRect/>
          </a:stretch>
        </p:blipFill>
        <p:spPr bwMode="auto">
          <a:xfrm>
            <a:off x="827088" y="4289425"/>
            <a:ext cx="3384550" cy="2097088"/>
          </a:xfrm>
          <a:prstGeom prst="rect">
            <a:avLst/>
          </a:prstGeom>
          <a:noFill/>
          <a:ln w="9525">
            <a:noFill/>
            <a:miter lim="800000"/>
            <a:headEnd/>
            <a:tailEnd/>
          </a:ln>
        </p:spPr>
      </p:pic>
      <p:pic>
        <p:nvPicPr>
          <p:cNvPr id="95240" name="图片 13"/>
          <p:cNvPicPr>
            <a:picLocks noChangeAspect="1" noChangeArrowheads="1"/>
          </p:cNvPicPr>
          <p:nvPr/>
        </p:nvPicPr>
        <p:blipFill>
          <a:blip r:embed="rId2" cstate="print"/>
          <a:srcRect l="30817" t="6056" r="30714" b="10812"/>
          <a:stretch>
            <a:fillRect/>
          </a:stretch>
        </p:blipFill>
        <p:spPr bwMode="auto">
          <a:xfrm>
            <a:off x="5229225" y="3933825"/>
            <a:ext cx="2490788" cy="2689225"/>
          </a:xfrm>
          <a:prstGeom prst="rect">
            <a:avLst/>
          </a:prstGeom>
          <a:noFill/>
          <a:ln w="9525">
            <a:noFill/>
            <a:miter lim="800000"/>
            <a:headEnd/>
            <a:tailEnd/>
          </a:ln>
        </p:spPr>
      </p:pic>
      <p:sp>
        <p:nvSpPr>
          <p:cNvPr id="2" name="矩形 1"/>
          <p:cNvSpPr/>
          <p:nvPr/>
        </p:nvSpPr>
        <p:spPr>
          <a:xfrm>
            <a:off x="457200" y="6499225"/>
            <a:ext cx="7739063" cy="358775"/>
          </a:xfrm>
          <a:prstGeom prst="rect">
            <a:avLst/>
          </a:prstGeom>
        </p:spPr>
        <p:txBody>
          <a:bodyPr>
            <a:spAutoFit/>
          </a:bodyPr>
          <a:lstStyle/>
          <a:p>
            <a:pPr algn="ctr" eaLnBrk="0" hangingPunct="0">
              <a:lnSpc>
                <a:spcPct val="120000"/>
              </a:lnSpc>
              <a:spcBef>
                <a:spcPts val="240"/>
              </a:spcBef>
              <a:spcAft>
                <a:spcPts val="240"/>
              </a:spcAft>
              <a:defRPr/>
            </a:pP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文档的签名验证状态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文档的签名属性</a:t>
            </a:r>
            <a:endParaRPr lang="zh-CN" altLang="zh-CN" sz="2000" b="1" kern="100" dirty="0">
              <a:solidFill>
                <a:srgbClr val="0000FF"/>
              </a:solidFill>
              <a:latin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6258"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6259"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6260"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6261"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3.</a:t>
            </a:r>
            <a:r>
              <a:rPr lang="zh-CN" altLang="en-US" sz="2400" b="1" dirty="0">
                <a:solidFill>
                  <a:srgbClr val="C00000"/>
                </a:solidFill>
              </a:rPr>
              <a:t>发送签名文件及授权</a:t>
            </a:r>
            <a:endParaRPr lang="zh-CN" altLang="en-US" sz="2400" b="1" dirty="0">
              <a:solidFill>
                <a:srgbClr val="C00000"/>
              </a:solidFill>
            </a:endParaRPr>
          </a:p>
          <a:p>
            <a:pPr lvl="1" algn="just">
              <a:defRPr/>
            </a:pPr>
            <a:r>
              <a:rPr lang="en-US" altLang="zh-CN" sz="2000" b="1" dirty="0">
                <a:solidFill>
                  <a:schemeClr val="tx2"/>
                </a:solidFill>
              </a:rPr>
              <a:t>    2</a:t>
            </a:r>
            <a:r>
              <a:rPr lang="zh-CN" altLang="en-US" sz="2000" b="1" dirty="0">
                <a:solidFill>
                  <a:schemeClr val="tx2"/>
                </a:solidFill>
              </a:rPr>
              <a:t>）点击“签名属性”对话框中“小结”选项卡中的“显示证书”按钮，弹出 “证书查看程序”对话框，点击“导出”按钮，将生成的</a:t>
            </a:r>
            <a:r>
              <a:rPr lang="en-US" altLang="zh-CN" sz="2000" b="1" dirty="0">
                <a:solidFill>
                  <a:schemeClr val="tx2"/>
                </a:solidFill>
              </a:rPr>
              <a:t>CertExchange1.fdf </a:t>
            </a:r>
            <a:r>
              <a:rPr lang="zh-CN" altLang="en-US" sz="2000" b="1" dirty="0">
                <a:solidFill>
                  <a:schemeClr val="tx2"/>
                </a:solidFill>
              </a:rPr>
              <a:t>证书数据文件保存。</a:t>
            </a:r>
            <a:endParaRPr lang="zh-CN" altLang="en-US" sz="2000" b="1" dirty="0">
              <a:solidFill>
                <a:schemeClr val="tx2"/>
              </a:solidFill>
            </a:endParaRPr>
          </a:p>
          <a:p>
            <a:pPr lvl="1" algn="just">
              <a:defRPr/>
            </a:pPr>
            <a:r>
              <a:rPr lang="en-US" altLang="zh-CN" sz="2000" b="1" dirty="0">
                <a:solidFill>
                  <a:schemeClr val="tx2"/>
                </a:solidFill>
              </a:rPr>
              <a:t>    3</a:t>
            </a:r>
            <a:r>
              <a:rPr lang="zh-CN" altLang="en-US" sz="2000" b="1" dirty="0">
                <a:solidFill>
                  <a:schemeClr val="tx2"/>
                </a:solidFill>
              </a:rPr>
              <a:t>）将导出的数字身份证证书及已签名文件，发送给需要的客户（此数字身份证证书无签名及加密权限）。</a:t>
            </a:r>
            <a:endParaRPr lang="zh-CN" altLang="en-US" sz="2000" b="1" dirty="0">
              <a:solidFill>
                <a:schemeClr val="tx2"/>
              </a:solidFill>
            </a:endParaRPr>
          </a:p>
        </p:txBody>
      </p:sp>
      <p:sp>
        <p:nvSpPr>
          <p:cNvPr id="2" name="矩形 1"/>
          <p:cNvSpPr/>
          <p:nvPr/>
        </p:nvSpPr>
        <p:spPr>
          <a:xfrm>
            <a:off x="457200" y="6499225"/>
            <a:ext cx="7739063"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文档证书查看</a:t>
            </a:r>
            <a:endParaRPr lang="zh-CN" altLang="zh-CN" sz="2000" b="1" kern="100" dirty="0">
              <a:solidFill>
                <a:srgbClr val="0000FF"/>
              </a:solidFill>
              <a:latin typeface="Times New Roman" panose="02020603050405020304" pitchFamily="18" charset="0"/>
            </a:endParaRPr>
          </a:p>
        </p:txBody>
      </p:sp>
      <p:pic>
        <p:nvPicPr>
          <p:cNvPr id="96264" name="图片 14"/>
          <p:cNvPicPr>
            <a:picLocks noChangeAspect="1" noChangeArrowheads="1"/>
          </p:cNvPicPr>
          <p:nvPr/>
        </p:nvPicPr>
        <p:blipFill>
          <a:blip r:embed="rId1" cstate="print"/>
          <a:srcRect l="30814" t="6882" r="30792" b="11502"/>
          <a:stretch>
            <a:fillRect/>
          </a:stretch>
        </p:blipFill>
        <p:spPr bwMode="auto">
          <a:xfrm>
            <a:off x="3167063" y="3836988"/>
            <a:ext cx="2341562" cy="2808287"/>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内容占位符 13"/>
          <p:cNvSpPr>
            <a:spLocks noGrp="1" noChangeArrowheads="1"/>
          </p:cNvSpPr>
          <p:nvPr>
            <p:ph idx="4294967295"/>
          </p:nvPr>
        </p:nvSpPr>
        <p:spPr>
          <a:xfrm>
            <a:off x="395288" y="1125538"/>
            <a:ext cx="8153400" cy="2808287"/>
          </a:xfrm>
        </p:spPr>
        <p:txBody>
          <a:bodyPr/>
          <a:lstStyle/>
          <a:p>
            <a:r>
              <a:rPr lang="en-US" altLang="zh-CN" sz="2800" smtClean="0">
                <a:solidFill>
                  <a:srgbClr val="C00000"/>
                </a:solidFill>
              </a:rPr>
              <a:t>6.5.3 </a:t>
            </a:r>
            <a:r>
              <a:rPr lang="zh-CN" altLang="zh-CN" sz="2800" smtClean="0">
                <a:solidFill>
                  <a:srgbClr val="C00000"/>
                </a:solidFill>
              </a:rPr>
              <a:t>实验内容及步骤</a:t>
            </a:r>
            <a:endParaRPr lang="zh-CN" altLang="zh-CN" sz="2800" smtClean="0">
              <a:solidFill>
                <a:srgbClr val="C00000"/>
              </a:solidFill>
            </a:endParaRPr>
          </a:p>
        </p:txBody>
      </p:sp>
      <p:sp>
        <p:nvSpPr>
          <p:cNvPr id="97282" name="Rectangle 2"/>
          <p:cNvSpPr txBox="1">
            <a:spLocks noChangeArrowheads="1"/>
          </p:cNvSpPr>
          <p:nvPr/>
        </p:nvSpPr>
        <p:spPr bwMode="auto">
          <a:xfrm>
            <a:off x="611188" y="176213"/>
            <a:ext cx="8305800" cy="561975"/>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97283" name="Rectangle 2"/>
          <p:cNvSpPr>
            <a:spLocks noChangeArrowheads="1"/>
          </p:cNvSpPr>
          <p:nvPr/>
        </p:nvSpPr>
        <p:spPr bwMode="auto">
          <a:xfrm>
            <a:off x="0" y="0"/>
            <a:ext cx="9144000" cy="0"/>
          </a:xfrm>
          <a:prstGeom prst="rect">
            <a:avLst/>
          </a:prstGeom>
          <a:noFill/>
          <a:ln w="9525">
            <a:noFill/>
            <a:miter lim="800000"/>
          </a:ln>
        </p:spPr>
        <p:txBody>
          <a:bodyPr wrap="none" anchor="ctr">
            <a:spAutoFit/>
          </a:bodyPr>
          <a:lstStyle/>
          <a:p>
            <a:pPr algn="ctr"/>
            <a:endParaRPr lang="zh-CN" altLang="en-US"/>
          </a:p>
        </p:txBody>
      </p:sp>
      <p:sp>
        <p:nvSpPr>
          <p:cNvPr id="97284" name="Rectangle 2"/>
          <p:cNvSpPr>
            <a:spLocks noChangeArrowheads="1"/>
          </p:cNvSpPr>
          <p:nvPr/>
        </p:nvSpPr>
        <p:spPr bwMode="auto">
          <a:xfrm>
            <a:off x="0" y="0"/>
            <a:ext cx="9144000" cy="457200"/>
          </a:xfrm>
          <a:prstGeom prst="rect">
            <a:avLst/>
          </a:prstGeom>
          <a:noFill/>
          <a:ln w="9525">
            <a:noFill/>
            <a:miter lim="800000"/>
          </a:ln>
        </p:spPr>
        <p:txBody>
          <a:bodyPr wrap="none" anchor="ctr">
            <a:spAutoFit/>
          </a:bodyPr>
          <a:lstStyle/>
          <a:p>
            <a:pPr algn="ctr"/>
            <a:endParaRPr lang="zh-CN" altLang="en-US"/>
          </a:p>
        </p:txBody>
      </p:sp>
      <p:sp>
        <p:nvSpPr>
          <p:cNvPr id="9728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3200" b="1">
                <a:solidFill>
                  <a:schemeClr val="bg1"/>
                </a:solidFill>
                <a:latin typeface="Verdana" panose="020B0604030504040204" pitchFamily="34" charset="0"/>
              </a:rPr>
              <a:t>6.5</a:t>
            </a:r>
            <a:r>
              <a:rPr lang="zh-CN" altLang="zh-CN" sz="3200" b="1">
                <a:solidFill>
                  <a:schemeClr val="bg1"/>
                </a:solidFill>
                <a:latin typeface="Verdana" panose="020B0604030504040204" pitchFamily="34" charset="0"/>
              </a:rPr>
              <a:t>实验六 申请网银用户的身份认证</a:t>
            </a:r>
            <a:endParaRPr lang="zh-CN" altLang="en-US" sz="3200" b="1">
              <a:solidFill>
                <a:schemeClr val="bg1"/>
              </a:solidFill>
              <a:latin typeface="Verdana" panose="020B0604030504040204" pitchFamily="34" charset="0"/>
            </a:endParaRPr>
          </a:p>
        </p:txBody>
      </p:sp>
      <p:sp>
        <p:nvSpPr>
          <p:cNvPr id="9" name="圆角矩形 5"/>
          <p:cNvSpPr/>
          <p:nvPr/>
        </p:nvSpPr>
        <p:spPr bwMode="gray">
          <a:xfrm>
            <a:off x="423863" y="1700213"/>
            <a:ext cx="8153400" cy="2233612"/>
          </a:xfrm>
          <a:prstGeom prst="roundRect">
            <a:avLst/>
          </a:prstGeom>
          <a:ln w="28575"/>
        </p:spPr>
        <p:style>
          <a:lnRef idx="2">
            <a:schemeClr val="accent1"/>
          </a:lnRef>
          <a:fillRef idx="1">
            <a:schemeClr val="lt1"/>
          </a:fillRef>
          <a:effectRef idx="0">
            <a:schemeClr val="accent1"/>
          </a:effectRef>
          <a:fontRef idx="minor">
            <a:schemeClr val="dk1"/>
          </a:fontRef>
        </p:style>
        <p:txBody>
          <a:bodyPr anchor="ctr"/>
          <a:lstStyle/>
          <a:p>
            <a:pPr indent="446405">
              <a:defRPr/>
            </a:pPr>
            <a:r>
              <a:rPr lang="en-US" altLang="zh-CN" sz="2400" b="1" dirty="0">
                <a:solidFill>
                  <a:srgbClr val="C00000"/>
                </a:solidFill>
              </a:rPr>
              <a:t>4. </a:t>
            </a:r>
            <a:r>
              <a:rPr lang="zh-CN" altLang="en-US" sz="2400" b="1" dirty="0">
                <a:solidFill>
                  <a:srgbClr val="C00000"/>
                </a:solidFill>
              </a:rPr>
              <a:t>接收导入授权证书</a:t>
            </a:r>
            <a:endParaRPr lang="en-US" altLang="zh-CN" sz="2400" b="1" dirty="0">
              <a:solidFill>
                <a:srgbClr val="C00000"/>
              </a:solidFill>
            </a:endParaRPr>
          </a:p>
          <a:p>
            <a:pPr indent="446405">
              <a:defRPr/>
            </a:pPr>
            <a:r>
              <a:rPr lang="en-US" altLang="zh-CN" sz="2000" b="1" dirty="0">
                <a:solidFill>
                  <a:schemeClr val="tx2"/>
                </a:solidFill>
              </a:rPr>
              <a:t>1</a:t>
            </a:r>
            <a:r>
              <a:rPr lang="zh-CN" altLang="en-US" sz="2000" b="1" dirty="0">
                <a:solidFill>
                  <a:schemeClr val="tx2"/>
                </a:solidFill>
              </a:rPr>
              <a:t>）对方接收到数字身份证书时，直接运行，选择“设置联系人信任” 。            </a:t>
            </a:r>
            <a:endParaRPr lang="zh-CN" altLang="en-US" sz="2000" b="1" dirty="0">
              <a:solidFill>
                <a:schemeClr val="tx2"/>
              </a:solidFill>
            </a:endParaRPr>
          </a:p>
          <a:p>
            <a:pPr indent="446405">
              <a:defRPr/>
            </a:pPr>
            <a:r>
              <a:rPr lang="en-US" altLang="zh-CN" sz="2000" b="1" dirty="0">
                <a:solidFill>
                  <a:schemeClr val="tx2"/>
                </a:solidFill>
              </a:rPr>
              <a:t>2</a:t>
            </a:r>
            <a:r>
              <a:rPr lang="zh-CN" altLang="en-US" sz="2000" b="1" dirty="0">
                <a:solidFill>
                  <a:schemeClr val="tx2"/>
                </a:solidFill>
              </a:rPr>
              <a:t>）在弹出的“导入联系人设置”对话框中，选择“将本证书用作可信任根”，添加到验证者的可信任身份列表中，并输入相关信息则提示导入成功。此时，接收方拥有了对文档的访问权限。</a:t>
            </a:r>
            <a:endParaRPr lang="zh-CN" altLang="en-US" sz="2000" b="1" dirty="0">
              <a:solidFill>
                <a:schemeClr val="tx2"/>
              </a:solidFill>
            </a:endParaRPr>
          </a:p>
        </p:txBody>
      </p:sp>
      <p:sp>
        <p:nvSpPr>
          <p:cNvPr id="2" name="矩形 1"/>
          <p:cNvSpPr/>
          <p:nvPr/>
        </p:nvSpPr>
        <p:spPr>
          <a:xfrm>
            <a:off x="250825" y="6440488"/>
            <a:ext cx="7739063" cy="358775"/>
          </a:xfrm>
          <a:prstGeom prst="rect">
            <a:avLst/>
          </a:prstGeom>
        </p:spPr>
        <p:txBody>
          <a:bodyPr>
            <a:spAutoFit/>
          </a:bodyPr>
          <a:lstStyle/>
          <a:p>
            <a:pPr algn="ctr" eaLnBrk="0" hangingPunct="0">
              <a:lnSpc>
                <a:spcPct val="120000"/>
              </a:lnSpc>
              <a:spcBef>
                <a:spcPts val="240"/>
              </a:spcBef>
              <a:spcAft>
                <a:spcPts val="240"/>
              </a:spcAft>
              <a:defRPr/>
            </a:pPr>
            <a:r>
              <a:rPr lang="zh-CN" altLang="en-US" sz="1600" b="1" kern="0" dirty="0">
                <a:solidFill>
                  <a:srgbClr val="0000FF"/>
                </a:solidFill>
                <a:latin typeface="Times New Roman" panose="02020603050405020304" pitchFamily="18" charset="0"/>
              </a:rPr>
              <a:t> </a:t>
            </a:r>
            <a:r>
              <a:rPr lang="en-US" altLang="zh-CN" sz="1600" b="1" kern="0" dirty="0">
                <a:solidFill>
                  <a:srgbClr val="0000FF"/>
                </a:solidFill>
                <a:latin typeface="Times New Roman" panose="02020603050405020304" pitchFamily="18" charset="0"/>
              </a:rPr>
              <a:t> </a:t>
            </a:r>
            <a:r>
              <a:rPr lang="zh-CN" altLang="en-US" sz="1600" b="1" kern="0" dirty="0">
                <a:solidFill>
                  <a:srgbClr val="0000FF"/>
                </a:solidFill>
                <a:latin typeface="Times New Roman" panose="02020603050405020304" pitchFamily="18" charset="0"/>
              </a:rPr>
              <a:t>导入授权证书                                          文档的签名属性</a:t>
            </a:r>
            <a:endParaRPr lang="zh-CN" altLang="zh-CN" sz="2000" b="1" kern="100" dirty="0">
              <a:solidFill>
                <a:srgbClr val="0000FF"/>
              </a:solidFill>
              <a:latin typeface="Times New Roman" panose="02020603050405020304" pitchFamily="18" charset="0"/>
            </a:endParaRPr>
          </a:p>
        </p:txBody>
      </p:sp>
      <p:pic>
        <p:nvPicPr>
          <p:cNvPr id="97288" name="图片 15"/>
          <p:cNvPicPr>
            <a:picLocks noChangeAspect="1" noChangeArrowheads="1"/>
          </p:cNvPicPr>
          <p:nvPr/>
        </p:nvPicPr>
        <p:blipFill>
          <a:blip r:embed="rId1" cstate="print"/>
          <a:srcRect l="31956" t="25578" r="31522" b="30930"/>
          <a:stretch>
            <a:fillRect/>
          </a:stretch>
        </p:blipFill>
        <p:spPr bwMode="auto">
          <a:xfrm>
            <a:off x="755650" y="3997325"/>
            <a:ext cx="3240088" cy="2455863"/>
          </a:xfrm>
          <a:prstGeom prst="rect">
            <a:avLst/>
          </a:prstGeom>
          <a:noFill/>
          <a:ln w="9525">
            <a:noFill/>
            <a:miter lim="800000"/>
            <a:headEnd/>
            <a:tailEnd/>
          </a:ln>
        </p:spPr>
      </p:pic>
      <p:pic>
        <p:nvPicPr>
          <p:cNvPr id="97289" name="图片 16"/>
          <p:cNvPicPr>
            <a:picLocks noChangeAspect="1" noChangeArrowheads="1"/>
          </p:cNvPicPr>
          <p:nvPr/>
        </p:nvPicPr>
        <p:blipFill>
          <a:blip r:embed="rId2" cstate="print"/>
          <a:srcRect l="30716" t="7133" r="30968" b="11702"/>
          <a:stretch>
            <a:fillRect/>
          </a:stretch>
        </p:blipFill>
        <p:spPr bwMode="auto">
          <a:xfrm>
            <a:off x="4764088" y="4032250"/>
            <a:ext cx="1895475" cy="2384425"/>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6.6 </a:t>
            </a:r>
            <a:r>
              <a:rPr lang="zh-CN" altLang="en-US" sz="3200" b="1">
                <a:solidFill>
                  <a:schemeClr val="bg1"/>
                </a:solidFill>
              </a:rPr>
              <a:t>本章小结</a:t>
            </a:r>
            <a:endParaRPr lang="zh-CN" altLang="en-US" sz="3200" b="1">
              <a:solidFill>
                <a:schemeClr val="bg1"/>
              </a:solidFill>
            </a:endParaRPr>
          </a:p>
        </p:txBody>
      </p:sp>
      <p:sp>
        <p:nvSpPr>
          <p:cNvPr id="14" name="内容占位符 13"/>
          <p:cNvSpPr>
            <a:spLocks noGrp="1"/>
          </p:cNvSpPr>
          <p:nvPr>
            <p:ph idx="4294967295"/>
          </p:nvPr>
        </p:nvSpPr>
        <p:spPr>
          <a:xfrm>
            <a:off x="3744913" y="1196975"/>
            <a:ext cx="3216275" cy="587375"/>
          </a:xfrm>
        </p:spPr>
        <p:txBody>
          <a:bodyPr/>
          <a:lstStyle/>
          <a:p>
            <a:pPr eaLnBrk="1" hangingPunct="1">
              <a:buFont typeface="Wingdings" panose="05000000000000000000" pitchFamily="2" charset="2"/>
              <a:buNone/>
              <a:defRPr/>
            </a:pPr>
            <a:r>
              <a:rPr lang="zh-CN" altLang="en-US" sz="2800" dirty="0">
                <a:solidFill>
                  <a:srgbClr val="FF0000"/>
                </a:solidFill>
                <a:effectLst>
                  <a:outerShdw blurRad="38100" dist="38100" dir="2700000" algn="tl">
                    <a:srgbClr val="C0C0C0"/>
                  </a:outerShdw>
                </a:effectLst>
              </a:rPr>
              <a:t>本章小结</a:t>
            </a:r>
            <a:r>
              <a:rPr lang="zh-CN" altLang="en-US" sz="2800" dirty="0">
                <a:effectLst>
                  <a:outerShdw blurRad="38100" dist="38100" dir="2700000" algn="tl">
                    <a:srgbClr val="C0C0C0"/>
                  </a:outerShdw>
                </a:effectLst>
              </a:rPr>
              <a:t> </a:t>
            </a:r>
            <a:endParaRPr lang="en-US" altLang="zh-CN" sz="2800" dirty="0">
              <a:effectLst>
                <a:outerShdw blurRad="38100" dist="38100" dir="2700000" algn="tl">
                  <a:srgbClr val="C0C0C0"/>
                </a:outerShdw>
              </a:effectLst>
            </a:endParaRPr>
          </a:p>
        </p:txBody>
      </p:sp>
      <p:sp>
        <p:nvSpPr>
          <p:cNvPr id="19" name="圆角矩形 18"/>
          <p:cNvSpPr/>
          <p:nvPr/>
        </p:nvSpPr>
        <p:spPr bwMode="gray">
          <a:xfrm>
            <a:off x="971550" y="1844675"/>
            <a:ext cx="7489825" cy="43926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a:lnSpc>
                <a:spcPct val="110000"/>
              </a:lnSpc>
              <a:spcBef>
                <a:spcPct val="35000"/>
              </a:spcBef>
              <a:buFont typeface="Arial" panose="020B0604020202020204" pitchFamily="34" charset="0"/>
              <a:buNone/>
              <a:defRPr/>
            </a:pPr>
            <a:r>
              <a:rPr lang="zh-CN" altLang="en-US" sz="2100" b="1" dirty="0">
                <a:solidFill>
                  <a:srgbClr val="0000FF"/>
                </a:solidFill>
                <a:latin typeface="仿宋_GB2312" panose="02010609030101010101" pitchFamily="49" charset="-122"/>
                <a:ea typeface="仿宋_GB2312" panose="02010609030101010101" pitchFamily="49" charset="-122"/>
              </a:rPr>
              <a:t>    身份认证和访问控制</a:t>
            </a:r>
            <a:r>
              <a:rPr lang="zh-CN" altLang="en-US" sz="2100" b="1" dirty="0">
                <a:solidFill>
                  <a:schemeClr val="tx2"/>
                </a:solidFill>
                <a:latin typeface="仿宋_GB2312" panose="02010609030101010101" pitchFamily="49" charset="-122"/>
                <a:ea typeface="仿宋_GB2312" panose="02010609030101010101" pitchFamily="49" charset="-122"/>
              </a:rPr>
              <a:t>是网络安全的重要技术，也是网络安全登入的首要保障。本章概述了</a:t>
            </a:r>
            <a:r>
              <a:rPr lang="zh-CN" altLang="en-US" sz="2100" b="1" dirty="0">
                <a:solidFill>
                  <a:srgbClr val="D60093"/>
                </a:solidFill>
                <a:latin typeface="仿宋_GB2312" panose="02010609030101010101" pitchFamily="49" charset="-122"/>
                <a:ea typeface="仿宋_GB2312" panose="02010609030101010101" pitchFamily="49" charset="-122"/>
              </a:rPr>
              <a:t>身份认证</a:t>
            </a:r>
            <a:r>
              <a:rPr lang="zh-CN" altLang="en-US" sz="2100" b="1" dirty="0">
                <a:solidFill>
                  <a:schemeClr val="tx2"/>
                </a:solidFill>
                <a:latin typeface="仿宋_GB2312" panose="02010609030101010101" pitchFamily="49" charset="-122"/>
                <a:ea typeface="仿宋_GB2312" panose="02010609030101010101" pitchFamily="49" charset="-122"/>
              </a:rPr>
              <a:t>概念、作用、身份认证常用方式及身份认证机制。主要介绍了双因素安全令牌及认证系统、用户登入认证、认证授权管理。介绍了</a:t>
            </a:r>
            <a:r>
              <a:rPr lang="zh-CN" altLang="en-US" sz="2100" b="1" dirty="0">
                <a:solidFill>
                  <a:srgbClr val="D60093"/>
                </a:solidFill>
                <a:latin typeface="仿宋_GB2312" panose="02010609030101010101" pitchFamily="49" charset="-122"/>
                <a:ea typeface="仿宋_GB2312" panose="02010609030101010101" pitchFamily="49" charset="-122"/>
              </a:rPr>
              <a:t>数字签名</a:t>
            </a:r>
            <a:r>
              <a:rPr lang="zh-CN" altLang="en-US" sz="2100" b="1" dirty="0">
                <a:solidFill>
                  <a:schemeClr val="tx2"/>
                </a:solidFill>
                <a:latin typeface="仿宋_GB2312" panose="02010609030101010101" pitchFamily="49" charset="-122"/>
                <a:ea typeface="仿宋_GB2312" panose="02010609030101010101" pitchFamily="49" charset="-122"/>
              </a:rPr>
              <a:t>的概念、功能、种类、原理、应用、技术实现方法和过程。另外，介绍了</a:t>
            </a:r>
            <a:r>
              <a:rPr lang="zh-CN" altLang="en-US" sz="2100" b="1" dirty="0">
                <a:solidFill>
                  <a:srgbClr val="D60093"/>
                </a:solidFill>
                <a:latin typeface="仿宋_GB2312" panose="02010609030101010101" pitchFamily="49" charset="-122"/>
                <a:ea typeface="仿宋_GB2312" panose="02010609030101010101" pitchFamily="49" charset="-122"/>
              </a:rPr>
              <a:t>访问控制</a:t>
            </a:r>
            <a:r>
              <a:rPr lang="zh-CN" altLang="en-US" sz="2100" b="1" dirty="0">
                <a:solidFill>
                  <a:schemeClr val="tx2"/>
                </a:solidFill>
                <a:latin typeface="仿宋_GB2312" panose="02010609030101010101" pitchFamily="49" charset="-122"/>
                <a:ea typeface="仿宋_GB2312" panose="02010609030101010101" pitchFamily="49" charset="-122"/>
              </a:rPr>
              <a:t>的概念、模型、安全机制、安全策略、认证服务与访问控制系统、准入控制技术等。其次，介绍了</a:t>
            </a:r>
            <a:r>
              <a:rPr lang="zh-CN" altLang="en-US" sz="2100" b="1" dirty="0">
                <a:solidFill>
                  <a:srgbClr val="D60093"/>
                </a:solidFill>
                <a:latin typeface="仿宋_GB2312" panose="02010609030101010101" pitchFamily="49" charset="-122"/>
                <a:ea typeface="仿宋_GB2312" panose="02010609030101010101" pitchFamily="49" charset="-122"/>
              </a:rPr>
              <a:t>安全审计</a:t>
            </a:r>
            <a:r>
              <a:rPr lang="zh-CN" altLang="en-US" sz="2100" b="1" dirty="0">
                <a:solidFill>
                  <a:schemeClr val="tx2"/>
                </a:solidFill>
                <a:latin typeface="仿宋_GB2312" panose="02010609030101010101" pitchFamily="49" charset="-122"/>
                <a:ea typeface="仿宋_GB2312" panose="02010609030101010101" pitchFamily="49" charset="-122"/>
              </a:rPr>
              <a:t>概念、系统日志审计、审计跟踪与实施。介绍了</a:t>
            </a:r>
            <a:r>
              <a:rPr lang="zh-CN" altLang="en-US" sz="2100" b="1" dirty="0">
                <a:solidFill>
                  <a:srgbClr val="D60093"/>
                </a:solidFill>
                <a:latin typeface="仿宋_GB2312" panose="02010609030101010101" pitchFamily="49" charset="-122"/>
                <a:ea typeface="仿宋_GB2312" panose="02010609030101010101" pitchFamily="49" charset="-122"/>
              </a:rPr>
              <a:t>电子证据</a:t>
            </a:r>
            <a:r>
              <a:rPr lang="zh-CN" altLang="en-US" sz="2100" b="1" dirty="0">
                <a:solidFill>
                  <a:schemeClr val="tx2"/>
                </a:solidFill>
                <a:latin typeface="仿宋_GB2312" panose="02010609030101010101" pitchFamily="49" charset="-122"/>
                <a:ea typeface="仿宋_GB2312" panose="02010609030101010101" pitchFamily="49" charset="-122"/>
              </a:rPr>
              <a:t>的概念、电子数据证据取证的基本技术等内容。最后，通过</a:t>
            </a:r>
            <a:r>
              <a:rPr lang="en-US" altLang="zh-CN" sz="2100" b="1" dirty="0">
                <a:solidFill>
                  <a:schemeClr val="tx2"/>
                </a:solidFill>
                <a:latin typeface="仿宋_GB2312" panose="02010609030101010101" pitchFamily="49" charset="-122"/>
                <a:ea typeface="仿宋_GB2312" panose="02010609030101010101" pitchFamily="49" charset="-122"/>
              </a:rPr>
              <a:t>PDF</a:t>
            </a:r>
            <a:r>
              <a:rPr lang="zh-CN" altLang="en-US" sz="2100" b="1" dirty="0">
                <a:solidFill>
                  <a:schemeClr val="tx2"/>
                </a:solidFill>
                <a:latin typeface="仿宋_GB2312" panose="02010609030101010101" pitchFamily="49" charset="-122"/>
                <a:ea typeface="仿宋_GB2312" panose="02010609030101010101" pitchFamily="49" charset="-122"/>
              </a:rPr>
              <a:t>文档的</a:t>
            </a:r>
            <a:r>
              <a:rPr lang="zh-CN" altLang="en-US" sz="2100" b="1" dirty="0">
                <a:solidFill>
                  <a:srgbClr val="D60093"/>
                </a:solidFill>
                <a:latin typeface="仿宋_GB2312" panose="02010609030101010101" pitchFamily="49" charset="-122"/>
                <a:ea typeface="仿宋_GB2312" panose="02010609030101010101" pitchFamily="49" charset="-122"/>
              </a:rPr>
              <a:t>数字签名与访问控制实验</a:t>
            </a:r>
            <a:r>
              <a:rPr lang="zh-CN" altLang="en-US" sz="2100" b="1" dirty="0">
                <a:solidFill>
                  <a:schemeClr val="tx2"/>
                </a:solidFill>
                <a:latin typeface="仿宋_GB2312" panose="02010609030101010101" pitchFamily="49" charset="-122"/>
                <a:ea typeface="仿宋_GB2312" panose="02010609030101010101" pitchFamily="49" charset="-122"/>
              </a:rPr>
              <a:t>，可促进对身份认证、数字签名及访问控制理论的理解，并与实践结合达到学以致用、融会贯通的目的。</a:t>
            </a:r>
            <a:endParaRPr lang="en-US" altLang="zh-CN" sz="2100" b="1" dirty="0">
              <a:solidFill>
                <a:schemeClr val="tx2"/>
              </a:solidFill>
              <a:latin typeface="仿宋_GB2312" panose="02010609030101010101" pitchFamily="49" charset="-122"/>
              <a:ea typeface="仿宋_GB2312" panose="02010609030101010101" pitchFamily="49" charset="-122"/>
            </a:endParaRPr>
          </a:p>
        </p:txBody>
      </p:sp>
      <p:sp>
        <p:nvSpPr>
          <p:cNvPr id="98308" name="内容占位符 13"/>
          <p:cNvSpPr>
            <a:spLocks noChangeArrowheads="1"/>
          </p:cNvSpPr>
          <p:nvPr/>
        </p:nvSpPr>
        <p:spPr bwMode="auto">
          <a:xfrm>
            <a:off x="395288" y="1196975"/>
            <a:ext cx="8153400" cy="503238"/>
          </a:xfrm>
          <a:prstGeom prst="rect">
            <a:avLst/>
          </a:prstGeom>
          <a:noFill/>
          <a:ln w="9525">
            <a:noFill/>
            <a:miter lim="800000"/>
          </a:ln>
        </p:spPr>
        <p:txBody>
          <a:bodyPr/>
          <a:lstStyle/>
          <a:p>
            <a:pPr marL="342900" indent="-342900">
              <a:spcBef>
                <a:spcPct val="20000"/>
              </a:spcBef>
              <a:spcAft>
                <a:spcPts val="600"/>
              </a:spcAft>
              <a:buClr>
                <a:schemeClr val="hlink"/>
              </a:buClr>
            </a:pPr>
            <a:endParaRPr lang="zh-CN" altLang="en-US" sz="2600" b="1">
              <a:solidFill>
                <a:srgbClr val="CC0000"/>
              </a:solidFill>
              <a:latin typeface="宋体" panose="02010600030101010101" pitchFamily="2" charset="-122"/>
            </a:endParaRPr>
          </a:p>
          <a:p>
            <a:pPr marL="342900" indent="-342900">
              <a:spcBef>
                <a:spcPct val="20000"/>
              </a:spcBef>
              <a:buClr>
                <a:schemeClr val="hlink"/>
              </a:buClr>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endParaRPr lang="en-US" altLang="zh-CN" b="1">
              <a:solidFill>
                <a:srgbClr val="0000CC"/>
              </a:solidFill>
              <a:latin typeface="Times New Roman" panose="02020603050405020304" pitchFamily="18" charset="0"/>
            </a:endParaRPr>
          </a:p>
          <a:p>
            <a:pPr marL="342900" indent="-342900">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pPr>
            <a:endParaRPr lang="en-US" altLang="zh-CN" b="1">
              <a:solidFill>
                <a:schemeClr val="tx2"/>
              </a:solidFill>
              <a:latin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8641.842519685038,&quot;width&quot;:12133.631496062992}"/>
</p:tagLst>
</file>

<file path=ppt/tags/tag2.xml><?xml version="1.0" encoding="utf-8"?>
<p:tagLst xmlns:p="http://schemas.openxmlformats.org/presentationml/2006/main">
  <p:tag name="KSO_WM_UNIT_PLACING_PICTURE_USER_VIEWPORT" val="{&quot;height&quot;:4150,&quot;width&quot;:9510}"/>
</p:tagLst>
</file>

<file path=ppt/tags/tag3.xml><?xml version="1.0" encoding="utf-8"?>
<p:tagLst xmlns:p="http://schemas.openxmlformats.org/presentationml/2006/main">
  <p:tag name="KSO_WPP_MARK_KEY" val="643f5870-a94c-4e55-babc-717fa0e5078b"/>
  <p:tag name="COMMONDATA" val="eyJoZGlkIjoiYTkyNzU5YmZhNjU4MzM5ZTNjNzVhNGQwZGQwZWI1YzYifQ=="/>
</p:tagLst>
</file>

<file path=ppt/theme/theme1.xml><?xml version="1.0" encoding="utf-8"?>
<a:theme xmlns:a="http://schemas.openxmlformats.org/drawingml/2006/main" name="Ch6 身份认证与访问控制">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1_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1_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Ch6 身份认证与访问控制</Template>
  <TotalTime>0</TotalTime>
  <Words>23497</Words>
  <Application>WPS 演示</Application>
  <PresentationFormat>全屏显示(4:3)</PresentationFormat>
  <Paragraphs>1390</Paragraphs>
  <Slides>108</Slides>
  <Notes>6</Notes>
  <HiddenSlides>4</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5</vt:i4>
      </vt:variant>
      <vt:variant>
        <vt:lpstr>幻灯片标题</vt:lpstr>
      </vt:variant>
      <vt:variant>
        <vt:i4>108</vt:i4>
      </vt:variant>
    </vt:vector>
  </HeadingPairs>
  <TitlesOfParts>
    <vt:vector size="132" baseType="lpstr">
      <vt:lpstr>Arial</vt:lpstr>
      <vt:lpstr>宋体</vt:lpstr>
      <vt:lpstr>Wingdings</vt:lpstr>
      <vt:lpstr>Verdana</vt:lpstr>
      <vt:lpstr>微软雅黑</vt:lpstr>
      <vt:lpstr>黑体</vt:lpstr>
      <vt:lpstr>Times New Roman</vt:lpstr>
      <vt:lpstr>Arial Black</vt:lpstr>
      <vt:lpstr>楷体</vt:lpstr>
      <vt:lpstr>Calibri</vt:lpstr>
      <vt:lpstr>Arial Unicode MS</vt:lpstr>
      <vt:lpstr>楷体_GB2312</vt:lpstr>
      <vt:lpstr>新宋体</vt:lpstr>
      <vt:lpstr>Times New Roman</vt:lpstr>
      <vt:lpstr>仿宋_GB2312</vt:lpstr>
      <vt:lpstr>仿宋</vt:lpstr>
      <vt:lpstr>Ch6 身份认证与访问控制</vt:lpstr>
      <vt:lpstr>2_Default Design</vt:lpstr>
      <vt:lpstr>1_Default Design</vt:lpstr>
      <vt:lpstr>PBrush</vt:lpstr>
      <vt:lpstr>PBrush</vt:lpstr>
      <vt:lpstr>PBrush</vt:lpstr>
      <vt:lpstr>PBrush</vt:lpstr>
      <vt:lpstr>PBrush</vt:lpstr>
      <vt:lpstr>PowerPoint 演示文稿</vt:lpstr>
      <vt:lpstr>PowerPoint 演示文稿</vt:lpstr>
      <vt:lpstr>目    录</vt:lpstr>
      <vt:lpstr>教 学 目 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Stronger Dady</cp:lastModifiedBy>
  <cp:revision>102</cp:revision>
  <dcterms:created xsi:type="dcterms:W3CDTF">2020-07-17T07:03:00Z</dcterms:created>
  <dcterms:modified xsi:type="dcterms:W3CDTF">2022-11-14T14:06:22Z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C4237476C7354CF3B7629BD5DDB60757</vt:lpwstr>
  </property>
</Properties>
</file>